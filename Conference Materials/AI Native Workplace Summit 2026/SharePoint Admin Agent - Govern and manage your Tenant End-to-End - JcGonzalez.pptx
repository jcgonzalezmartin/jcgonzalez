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1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8"/>
  </p:notesMasterIdLst>
  <p:handoutMasterIdLst>
    <p:handoutMasterId r:id="rId39"/>
  </p:handoutMasterIdLst>
  <p:sldIdLst>
    <p:sldId id="261" r:id="rId5"/>
    <p:sldId id="411" r:id="rId6"/>
    <p:sldId id="408" r:id="rId7"/>
    <p:sldId id="413" r:id="rId8"/>
    <p:sldId id="417" r:id="rId9"/>
    <p:sldId id="421" r:id="rId10"/>
    <p:sldId id="422" r:id="rId11"/>
    <p:sldId id="423" r:id="rId12"/>
    <p:sldId id="424" r:id="rId13"/>
    <p:sldId id="448" r:id="rId14"/>
    <p:sldId id="425" r:id="rId15"/>
    <p:sldId id="427" r:id="rId16"/>
    <p:sldId id="414" r:id="rId17"/>
    <p:sldId id="430" r:id="rId18"/>
    <p:sldId id="429" r:id="rId19"/>
    <p:sldId id="432" r:id="rId20"/>
    <p:sldId id="431" r:id="rId21"/>
    <p:sldId id="433" r:id="rId22"/>
    <p:sldId id="446" r:id="rId23"/>
    <p:sldId id="434" r:id="rId24"/>
    <p:sldId id="428" r:id="rId25"/>
    <p:sldId id="440" r:id="rId26"/>
    <p:sldId id="436" r:id="rId27"/>
    <p:sldId id="441" r:id="rId28"/>
    <p:sldId id="437" r:id="rId29"/>
    <p:sldId id="438" r:id="rId30"/>
    <p:sldId id="435" r:id="rId31"/>
    <p:sldId id="442" r:id="rId32"/>
    <p:sldId id="443" r:id="rId33"/>
    <p:sldId id="444" r:id="rId34"/>
    <p:sldId id="447" r:id="rId35"/>
    <p:sldId id="412" r:id="rId36"/>
    <p:sldId id="40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D6C"/>
    <a:srgbClr val="011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9" autoAdjust="0"/>
    <p:restoredTop sz="81520" autoAdjust="0"/>
  </p:normalViewPr>
  <p:slideViewPr>
    <p:cSldViewPr snapToGrid="0">
      <p:cViewPr varScale="1">
        <p:scale>
          <a:sx n="82" d="100"/>
          <a:sy n="82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008" y="18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75C58A-5C00-2B14-FE06-53FCEA390E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8EC06-C3B0-1088-2C7D-9840FA2A2A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C29A3-E228-4D6B-8776-94F471F7AC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BEDB1-2CEE-98FC-2A78-2BA5CB42B2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9F6E5-B4CB-2535-A72F-B73D14219D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23FA8-4314-49F9-BE5F-701970FD3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16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3F875-92E2-497D-B7FB-3F4C71ADC20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C9B8-4D37-47F1-8FAB-3BB10AAC3C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78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SharePoint Admin Agent: Govern and manage your Tenant End-to-End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77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622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CD01-80F8-002D-409C-A9CE2824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B6A2F-C372-E772-F485-6C05756E3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1E14F-97B5-D212-2907-E2D5EDD64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9090A-4B67-7427-D5FA-55E778C89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95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AAEF-BB0C-CBE5-2010-858F6434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F43EB-177F-71B2-B526-2E903A4CE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FC062-0B34-3DE7-6623-B9A79643B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3C9A3-95D1-4281-5117-3E3448453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120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45B5-24E8-ABAF-AE62-2D1CD077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3E02B-3233-600A-5FAD-918193BB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4228E-2164-0AFB-8BBB-7095BF5D7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1414F-D6AC-DEB4-DA01-8B45B56E6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45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FAFF-5839-8567-E57F-38336E44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8CD51-F2A6-B61E-A06E-BC51E20C0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3984A-FD46-15BF-8FF7-C92996ECB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E857-551B-9E99-7CE5-AB32CFDA4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6620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8E01-64BF-78BA-D3B3-A486911E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8A8AF-9A6A-98E3-27D1-341797BAE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9D1B6-AC02-D070-8ED2-F318F9FB9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75E15-1824-1518-37BE-744EF14F3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686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9ED9-9223-C4CC-3CA3-87547A28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055B5-929B-8254-6F8B-13938030D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CD098-6F66-2461-C562-BE49473C7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05C0F-1E15-4FA4-DDC3-1175A9E34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984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761B-DF28-2A0B-7EC2-5515498F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CAE32-B4B3-B8E2-6D0E-55BA38CBB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E4450-9B8F-E853-E6D4-9A7C8E71B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19B68-1100-D99E-0CCA-7B7E6418A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462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Accessing the SharePoint Admin Agent from Microsoft 365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256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B8C4-427D-322D-478D-57271294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33156-3411-F97E-1745-46A1B7E7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8088A-E648-859A-BBFB-AA733CE38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62B21-9567-96FF-F927-4043BB5B3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699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98049-55C5-4088-BDE1-2E583869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2CB62-478B-1232-2436-C19AD1B7E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8ABF6-6097-BF60-7BA4-B0E7852C6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41A1A-D0D2-C751-5F87-1B6D16B7B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968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Prerequisites: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Licensing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Roles that can use the SharePoint Admin Agent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The other surface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853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0E88-532C-AEEE-8699-392D3276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713C8-E8C9-5965-ECFC-94B38431C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D9FAF-C962-26C7-4110-839D50BAB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65F5-8D0A-14DB-0137-4087F2C98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580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A92A-3F07-5783-0C02-C859738D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09AC3-F0DA-C82C-73CD-A593EF89F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339ED-3F88-9363-CEE9-98D38A5A8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512F-0FAF-B36A-F9E8-414617D92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367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1E9F4-D9B6-80F0-A9AB-6FE53685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0E0D3-DB43-1A89-0518-E7ABB0815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3EB4A-D8F5-8A8D-89E9-48D8E1379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9B457-5B3C-4A20-C089-0C366539B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385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0E5A-51DC-DFE9-6DA7-AA03B594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CB8CB-F754-6C14-7881-5F6911230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5D305-AE25-E4CB-0D36-8C8F30B6E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0D602-3EAB-9217-185E-1EAA26828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815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E3D6-8E98-1FDC-843F-D279E6B2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66EE5-5173-CBA0-D92A-EF54DEB27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BF46-AE5B-25AE-BFA4-F3A1D51D9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7E943-29B7-AFA3-B6CB-96296B224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617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DE1E-F289-C089-0F98-A5A86E23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69794-BD3C-94F8-A17D-D40814913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5FFBC-2B40-A5BA-6690-BF851EC75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E5832-A10F-0B0D-361C-BA091AB59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022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80F4-0AFF-18ED-FC94-88759598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5FC09-FAE8-F2B6-1718-718E100E6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46E63-B1E3-BD79-0D0E-DEFDA266B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0F4A1-CF44-F690-D655-6571DE13C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952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1C9A-C314-FD79-B7F7-DEA9A9CE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1DF58-000D-94CC-F1BB-6FF8F0A0A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E9BB5-D27A-BDA8-FE4F-FC6AE7791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D012-8933-CA02-BFD7-121163CBE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941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5730-8B01-67E8-277E-0E781C80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9FD8E-C9FF-04A3-5690-E36DE787C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0164D-2D02-8DDC-B6CB-CD87F3534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200" dirty="0"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Tenant overview, oversharing, lifecycle cleanup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Takeaways: </a:t>
            </a:r>
            <a:r>
              <a:rPr lang="en-US" sz="12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1E280-E90C-3C5C-4772-62EAEF4F0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8960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757EE-2A1A-5EF4-4CC3-9FB765FE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518EB-B23B-3EE2-C9BA-4D73253A9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B9F3C-8CCA-10ED-F147-61488F85A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0116F-D7B4-9249-7230-850DDB0E7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705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5A5A-DE61-A08D-6417-5A0F25C5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6F92F-3D12-6F48-5027-26FDF01E4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B997-3840-3793-5631-B522EAF97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9A254-DD57-CAFF-3698-6A96157B2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377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92C2-1061-F4B8-40E7-5FCEB593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10235-8284-06E4-432E-05CE0554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D7CDE-510D-9E84-771A-CCE18EB14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397BC-5AEB-A9D4-F692-522822554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8C9B8-4D37-47F1-8FAB-3BB10AAC3CBF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293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F5FB61-0438-ED5E-CB94-7532344854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666E-501B-28BA-F177-D1710A00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92E0-E6BF-0615-47ED-325618ED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63A16-CB44-56A0-4307-3207C6FD7B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9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6575-DE06-8484-C8EE-DF02E20E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6F112-785D-A3D3-8A08-FF0F3BAA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1DF61-9DAB-6FD4-7F00-D898AAEAF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4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51CE-FF07-3CEE-D42C-01026AB0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EB36-763C-8668-2FDF-A36DC93AA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DAF29-8E29-0DCE-851E-90384A8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DBDA0-FBCB-4DF3-029E-F0D2E8C70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1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35E3-10AA-094F-2C10-584747D6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DAA9D-DD9D-B3B2-ABAE-6F6203AE4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B4359-63B5-F5AF-2513-687ABD5D0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548CE-709D-342A-211F-77A12D5A6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35EC5-CA97-DA98-E776-D106EFE05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D694B-2B93-C0D4-AA98-25C98407AE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8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A627-FC84-0136-1E7E-CF0D34ED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D28451-D2A6-4809-F2A1-F4AA413FD2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1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A53AEA-BD33-0413-DF93-DFEFC6A71E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6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93F4-60D4-88BA-6916-66FBBDFE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527B8-EF1F-5AAB-4127-4A6FA8B1E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4BC46-9002-7142-340A-DC2E79D5B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6C516-D7D2-9876-44FE-B24E93522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9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3DF2-DE70-0E0D-9094-14E8C037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9C1FA-88A3-7F63-2554-8C4E421D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C6A23-6AB1-882F-E758-8E94C6381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C94B6-B71D-5178-B2FC-F2BD067A1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0EB6-1516-D867-0254-E5D569B3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152A8-D47E-DA9D-9B8B-79351C0A1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22E11-F38A-C7F9-7DCD-DB1C8084B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8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2A2B7-30AF-B4CA-02A4-8CE2EE623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D50D5-F1C3-3EFC-7751-C2AA4AA43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93DB1-B427-133E-79D8-C1FAB02CEE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0505" y="5883442"/>
            <a:ext cx="923290" cy="9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6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AA6EF4-89BD-AD5D-A304-3DD609C10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8263" y="1505826"/>
            <a:ext cx="3182680" cy="3111390"/>
          </a:xfrm>
          <a:prstGeom prst="rect">
            <a:avLst/>
          </a:prstGeom>
          <a:solidFill>
            <a:srgbClr val="152D6C"/>
          </a:solidFill>
          <a:ln>
            <a:solidFill>
              <a:srgbClr val="152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47CECC7-FB9C-01EF-2EAB-C7F6EBFCDEDE}"/>
              </a:ext>
            </a:extLst>
          </p:cNvPr>
          <p:cNvSpPr txBox="1">
            <a:spLocks/>
          </p:cNvSpPr>
          <p:nvPr userDrawn="1"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4000" b="1" dirty="0">
                <a:solidFill>
                  <a:schemeClr val="bg1"/>
                </a:solidFill>
                <a:latin typeface="Aptos"/>
                <a:ea typeface="+mn-ea"/>
                <a:cs typeface="Segoe UI Semibold"/>
              </a:rPr>
              <a:t>Rate my session &amp; Calls to Action</a:t>
            </a:r>
            <a:endParaRPr lang="en-GB" sz="1600" b="1" dirty="0">
              <a:solidFill>
                <a:schemeClr val="bg1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1DFD1-6B5B-2153-86CD-AD8E8BEEA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9072" y="1508847"/>
            <a:ext cx="1990194" cy="3108368"/>
          </a:xfrm>
          <a:prstGeom prst="rect">
            <a:avLst/>
          </a:prstGeom>
          <a:solidFill>
            <a:srgbClr val="152D6C"/>
          </a:solidFill>
          <a:ln>
            <a:solidFill>
              <a:srgbClr val="152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7B5765-24AB-C849-B9BC-30F6E7E0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45080" y="1510069"/>
            <a:ext cx="2275578" cy="3100706"/>
          </a:xfrm>
          <a:prstGeom prst="rect">
            <a:avLst/>
          </a:prstGeom>
          <a:solidFill>
            <a:srgbClr val="152D6C"/>
          </a:solidFill>
          <a:ln>
            <a:solidFill>
              <a:srgbClr val="152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2319E-FEA8-8AD0-685F-3FF8F118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9867" y="1505765"/>
            <a:ext cx="2338744" cy="3106200"/>
          </a:xfrm>
          <a:prstGeom prst="rect">
            <a:avLst/>
          </a:prstGeom>
          <a:solidFill>
            <a:srgbClr val="152D6C"/>
          </a:solidFill>
          <a:ln>
            <a:solidFill>
              <a:srgbClr val="152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54F6DA8-7FF9-0B09-5DD9-74E1C462C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3033" y="1573919"/>
            <a:ext cx="667275" cy="6672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ABC1E7-4B6D-9F11-FE1F-C50018155868}"/>
              </a:ext>
            </a:extLst>
          </p:cNvPr>
          <p:cNvSpPr/>
          <p:nvPr userDrawn="1"/>
        </p:nvSpPr>
        <p:spPr>
          <a:xfrm>
            <a:off x="3879072" y="2344020"/>
            <a:ext cx="1132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Rate this session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7A7154-2BEC-EAC3-2F52-93AB59DD9278}"/>
              </a:ext>
            </a:extLst>
          </p:cNvPr>
          <p:cNvSpPr/>
          <p:nvPr userDrawn="1"/>
        </p:nvSpPr>
        <p:spPr>
          <a:xfrm>
            <a:off x="6145096" y="2319093"/>
            <a:ext cx="207556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Attend more sessions and join the closing keynote in room 1 </a:t>
            </a:r>
            <a:br>
              <a:rPr lang="en-GB" sz="16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</a:br>
            <a:r>
              <a:rPr lang="en-GB" sz="16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at 21.00 CEST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64A4C28-D930-6303-A21F-DD680DC03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4501" y="1450193"/>
            <a:ext cx="914400" cy="914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2E00BA8-933A-C247-15DB-6039ACE2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6227" y="1525768"/>
            <a:ext cx="746561" cy="74656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542C94-5282-35EE-1F89-FB1549BF13C3}"/>
              </a:ext>
            </a:extLst>
          </p:cNvPr>
          <p:cNvSpPr/>
          <p:nvPr userDrawn="1"/>
        </p:nvSpPr>
        <p:spPr>
          <a:xfrm>
            <a:off x="8291668" y="2275539"/>
            <a:ext cx="2146712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600" b="1">
                <a:solidFill>
                  <a:srgbClr val="FFFFFF"/>
                </a:solidFill>
                <a:latin typeface="Aptos"/>
                <a:cs typeface="Segoe UI Semibold"/>
              </a:rPr>
              <a:t>Show your love on social using #AiNativeWorkplace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BE1F53-858E-72C0-667C-D504CF2A7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973033" y="3603933"/>
            <a:ext cx="45719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>
                <a:solidFill>
                  <a:schemeClr val="bg1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1BFB76-822D-08DB-AC80-EC9CE84F3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144384" y="3559514"/>
            <a:ext cx="558602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>
                <a:solidFill>
                  <a:schemeClr val="bg1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6FCDE-6D4C-72D2-BF7B-ACBADAECA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432862" y="3559716"/>
            <a:ext cx="712468" cy="1100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>
                <a:solidFill>
                  <a:schemeClr val="bg1"/>
                </a:solidFill>
                <a:latin typeface="Segoe UI Semibold"/>
                <a:cs typeface="Segoe UI Semibold"/>
              </a:rPr>
              <a:t>3</a:t>
            </a:r>
          </a:p>
        </p:txBody>
      </p:sp>
      <p:pic>
        <p:nvPicPr>
          <p:cNvPr id="18" name="Picture 17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AAC72837-34F3-279C-ACD0-55D7184BD2E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0535" y="1610459"/>
            <a:ext cx="2845778" cy="28750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773C4B-B839-9888-F4BB-FB9E5B14E8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854367" y="3603933"/>
            <a:ext cx="3337633" cy="3353452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E85000-39D5-D1FC-AFC9-4684CA4827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72113" y="4905375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309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E79034-4CCB-D80F-8C63-8B21AA0597CB}"/>
              </a:ext>
            </a:extLst>
          </p:cNvPr>
          <p:cNvSpPr txBox="1">
            <a:spLocks/>
          </p:cNvSpPr>
          <p:nvPr userDrawn="1"/>
        </p:nvSpPr>
        <p:spPr>
          <a:xfrm>
            <a:off x="650804" y="1801511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  <a:latin typeface="Aptos"/>
                <a:cs typeface="Segoe UI Semibold"/>
              </a:rPr>
              <a:t>#AINativeWorkplace 2026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DCF891-F5B8-5046-2807-DBCB028746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4567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5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96A948C7-5577-392D-5894-04F594A26AF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5600" y="6349020"/>
            <a:ext cx="1975974" cy="42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5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8.gif"/><Relationship Id="rId7" Type="http://schemas.openxmlformats.org/officeDocument/2006/relationships/hyperlink" Target="https://jcgonzalezmartin.wordpress.com/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@jcgonzalezmartin" TargetMode="External"/><Relationship Id="rId11" Type="http://schemas.openxmlformats.org/officeDocument/2006/relationships/image" Target="../media/image12.png"/><Relationship Id="rId5" Type="http://schemas.openxmlformats.org/officeDocument/2006/relationships/hyperlink" Target="https://nl.linkedin.com/in/juagon" TargetMode="External"/><Relationship Id="rId10" Type="http://schemas.openxmlformats.org/officeDocument/2006/relationships/image" Target="../media/image11.png"/><Relationship Id="rId4" Type="http://schemas.openxmlformats.org/officeDocument/2006/relationships/hyperlink" Target="mailto:jcgonzalezmartin1978@hotmail.com" TargetMode="External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o365itpros.gumroad.com/l/O365IT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opilotbuzz.com/feedback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F3EB12A2-58A3-F111-6871-875EC19C2E2C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6417163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SharePoint Admin Agent: </a:t>
            </a:r>
          </a:p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Govern and manage your Tenant </a:t>
            </a:r>
          </a:p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End-to-End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D6629783-DBF5-A2DF-63CE-C22FC9964E08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FFFFFF"/>
                </a:solidFill>
                <a:latin typeface="Aptos"/>
                <a:cs typeface="Segoe UI Semibold"/>
              </a:rPr>
              <a:t>Juan Carlos Gonzalez</a:t>
            </a:r>
          </a:p>
          <a:p>
            <a:r>
              <a:rPr lang="en-GB" sz="2000" dirty="0">
                <a:solidFill>
                  <a:srgbClr val="FFFFFF"/>
                </a:solidFill>
                <a:latin typeface="Aptos"/>
                <a:cs typeface="Segoe UI Semibold"/>
              </a:rPr>
              <a:t>Microsoft 365 &amp; Microsoft 365 Copilot MVP</a:t>
            </a:r>
            <a:endParaRPr lang="en-US" sz="2400" dirty="0">
              <a:solidFill>
                <a:srgbClr val="FFFFFF"/>
              </a:solidFill>
              <a:latin typeface="Aptos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0731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14">
            <a:extLst>
              <a:ext uri="{FF2B5EF4-FFF2-40B4-BE49-F238E27FC236}">
                <a16:creationId xmlns:a16="http://schemas.microsoft.com/office/drawing/2014/main" id="{7DCD71EE-B807-01BB-281E-B8C8374F7D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" r="907"/>
          <a:stretch/>
        </p:blipFill>
        <p:spPr>
          <a:xfrm>
            <a:off x="774677" y="1200700"/>
            <a:ext cx="2756627" cy="27888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 descr="A black and white logo  AI-generated content may be incorrect.">
            <a:extLst>
              <a:ext uri="{FF2B5EF4-FFF2-40B4-BE49-F238E27FC236}">
                <a16:creationId xmlns:a16="http://schemas.microsoft.com/office/drawing/2014/main" id="{D1EBAF68-4D0F-7389-7DE7-B177660E0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09" y="4387779"/>
            <a:ext cx="1950761" cy="752492"/>
          </a:xfrm>
          <a:prstGeom prst="rect">
            <a:avLst/>
          </a:prstGeom>
        </p:spPr>
      </p:pic>
      <p:sp>
        <p:nvSpPr>
          <p:cNvPr id="23" name="TextBox 33">
            <a:extLst>
              <a:ext uri="{FF2B5EF4-FFF2-40B4-BE49-F238E27FC236}">
                <a16:creationId xmlns:a16="http://schemas.microsoft.com/office/drawing/2014/main" id="{F4D13E9A-A260-DCD1-6769-2A4F50D66F8F}"/>
              </a:ext>
            </a:extLst>
          </p:cNvPr>
          <p:cNvSpPr txBox="1"/>
          <p:nvPr/>
        </p:nvSpPr>
        <p:spPr>
          <a:xfrm>
            <a:off x="5638527" y="2839530"/>
            <a:ext cx="3761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ulim Park Light" panose="020B0604020202020204" charset="0"/>
                <a:ea typeface="+mn-ea"/>
                <a:cs typeface="Segoe UI Semibold" panose="020B0702040204020203" pitchFamily="34" charset="0"/>
              </a:rPr>
              <a:t>@jcgm1978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91483B98-DA00-B428-B09F-69C34D0B9641}"/>
              </a:ext>
            </a:extLst>
          </p:cNvPr>
          <p:cNvSpPr txBox="1"/>
          <p:nvPr/>
        </p:nvSpPr>
        <p:spPr>
          <a:xfrm>
            <a:off x="5638527" y="3522562"/>
            <a:ext cx="3465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ulim Park Light" panose="020B0604020202020204" charset="0"/>
                <a:ea typeface="+mn-ea"/>
                <a:cs typeface="Segoe UI Semibold" panose="020B07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jcgonzalezmartin1978@hotmail.com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ulim Park Light" panose="020B0604020202020204" charset="0"/>
                <a:ea typeface="+mn-ea"/>
                <a:cs typeface="Segoe UI Semibold" panose="020B0702040204020203" pitchFamily="34" charset="0"/>
              </a:rPr>
              <a:t>   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ulim Park Light" panose="020B060402020202020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96756172-A940-3118-F595-66497B454AE6}"/>
              </a:ext>
            </a:extLst>
          </p:cNvPr>
          <p:cNvSpPr txBox="1"/>
          <p:nvPr/>
        </p:nvSpPr>
        <p:spPr>
          <a:xfrm>
            <a:off x="5638527" y="4218337"/>
            <a:ext cx="3092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ulim Park Light" panose="020B0604020202020204" charset="0"/>
                <a:ea typeface="+mn-ea"/>
                <a:cs typeface="Segoe UI Semibold" panose="020B07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https://nl.linkedin.com/in/juagon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ulim Park Light" panose="020B0604020202020204" charset="0"/>
                <a:ea typeface="+mn-ea"/>
                <a:cs typeface="Segoe UI Semibold" panose="020B0702040204020203" pitchFamily="34" charset="0"/>
              </a:rPr>
              <a:t> 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A048DDAA-4A6D-8F4C-4B7D-441D0CA966B5}"/>
              </a:ext>
            </a:extLst>
          </p:cNvPr>
          <p:cNvSpPr txBox="1"/>
          <p:nvPr/>
        </p:nvSpPr>
        <p:spPr>
          <a:xfrm>
            <a:off x="5638527" y="4914112"/>
            <a:ext cx="4360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Kulim Park Light" panose="020B0604020202020204" charset="0"/>
                <a:cs typeface="Segoe UI Semibold" panose="020B07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https://www.youtube.com/@jcgonzalezmartin</a:t>
            </a:r>
            <a:r>
              <a:rPr lang="en-US" sz="1600" b="1" dirty="0">
                <a:solidFill>
                  <a:srgbClr val="FFFFFF"/>
                </a:solidFill>
                <a:latin typeface="Kulim Park Light" panose="020B0604020202020204" charset="0"/>
                <a:cs typeface="Segoe UI Semibold" panose="020B0702040204020203" pitchFamily="34" charset="0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1FD4C4-9E63-4849-1471-BB09A713340C}"/>
              </a:ext>
            </a:extLst>
          </p:cNvPr>
          <p:cNvSpPr txBox="1"/>
          <p:nvPr/>
        </p:nvSpPr>
        <p:spPr>
          <a:xfrm>
            <a:off x="5638527" y="5609887"/>
            <a:ext cx="5301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srgbClr val="FFFFFF"/>
                </a:solidFill>
                <a:latin typeface="Kulim Park Light" panose="020B0604020202020204" charset="0"/>
                <a:cs typeface="Segoe UI Semibold" panose="020B07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https://jcgonzalezmartin.wordpress.com/</a:t>
            </a:r>
            <a:r>
              <a:rPr lang="en-US" sz="1600" b="1" dirty="0">
                <a:solidFill>
                  <a:srgbClr val="FFFFFF"/>
                </a:solidFill>
                <a:latin typeface="Kulim Park Light" panose="020B0604020202020204" charset="0"/>
                <a:cs typeface="Segoe UI Semibold" panose="020B0702040204020203" pitchFamily="34" charset="0"/>
              </a:rPr>
              <a:t> 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329440-1966-8444-4202-30839901B8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8340" y="3332650"/>
            <a:ext cx="640080" cy="64008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AF1223B-2A02-3E52-F36D-CC6DA6EA92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4397" y="2675587"/>
            <a:ext cx="640080" cy="6400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181342-CB5E-B2DB-1CBA-41139662F4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8340" y="4062128"/>
            <a:ext cx="640080" cy="6400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853330B-0B4C-7C79-3AE5-35BF51D9E9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4397" y="5480644"/>
            <a:ext cx="640080" cy="640080"/>
          </a:xfrm>
          <a:prstGeom prst="rect">
            <a:avLst/>
          </a:prstGeom>
        </p:spPr>
      </p:pic>
      <p:pic>
        <p:nvPicPr>
          <p:cNvPr id="41" name="Imagen 11">
            <a:extLst>
              <a:ext uri="{FF2B5EF4-FFF2-40B4-BE49-F238E27FC236}">
                <a16:creationId xmlns:a16="http://schemas.microsoft.com/office/drawing/2014/main" id="{CDA49180-EFFA-A6B4-0701-7E08B810018F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6583" y="1380479"/>
            <a:ext cx="728752" cy="728752"/>
          </a:xfrm>
          <a:prstGeom prst="rect">
            <a:avLst/>
          </a:prstGeom>
        </p:spPr>
      </p:pic>
      <p:pic>
        <p:nvPicPr>
          <p:cNvPr id="43" name="Imagen 12">
            <a:extLst>
              <a:ext uri="{FF2B5EF4-FFF2-40B4-BE49-F238E27FC236}">
                <a16:creationId xmlns:a16="http://schemas.microsoft.com/office/drawing/2014/main" id="{DBC29109-F091-37B5-512A-2F5CFD342D78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8700" y="1241491"/>
            <a:ext cx="615377" cy="9743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C44FEE4-E4A2-0C21-5F93-28E862E158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4397" y="4784358"/>
            <a:ext cx="640080" cy="640080"/>
          </a:xfrm>
          <a:prstGeom prst="rect">
            <a:avLst/>
          </a:prstGeom>
        </p:spPr>
      </p:pic>
      <p:sp>
        <p:nvSpPr>
          <p:cNvPr id="47" name="Marcador de texto 11">
            <a:extLst>
              <a:ext uri="{FF2B5EF4-FFF2-40B4-BE49-F238E27FC236}">
                <a16:creationId xmlns:a16="http://schemas.microsoft.com/office/drawing/2014/main" id="{C091DC23-F1F7-D8A7-67EC-029591CD8301}"/>
              </a:ext>
            </a:extLst>
          </p:cNvPr>
          <p:cNvSpPr txBox="1">
            <a:spLocks/>
          </p:cNvSpPr>
          <p:nvPr/>
        </p:nvSpPr>
        <p:spPr>
          <a:xfrm>
            <a:off x="4745141" y="1114914"/>
            <a:ext cx="4643438" cy="645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3600" dirty="0">
                <a:solidFill>
                  <a:schemeClr val="bg1"/>
                </a:solidFill>
                <a:latin typeface="Aptos" panose="020B0004020202020204" pitchFamily="34" charset="0"/>
              </a:rPr>
              <a:t>Juan Carlos González</a:t>
            </a:r>
          </a:p>
        </p:txBody>
      </p:sp>
      <p:sp>
        <p:nvSpPr>
          <p:cNvPr id="49" name="Marcador de texto 12">
            <a:extLst>
              <a:ext uri="{FF2B5EF4-FFF2-40B4-BE49-F238E27FC236}">
                <a16:creationId xmlns:a16="http://schemas.microsoft.com/office/drawing/2014/main" id="{7711CAEC-55C6-0C16-4A84-636D036897F5}"/>
              </a:ext>
            </a:extLst>
          </p:cNvPr>
          <p:cNvSpPr txBox="1">
            <a:spLocks/>
          </p:cNvSpPr>
          <p:nvPr/>
        </p:nvSpPr>
        <p:spPr>
          <a:xfrm>
            <a:off x="4745140" y="1873739"/>
            <a:ext cx="5483742" cy="645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200" dirty="0">
                <a:solidFill>
                  <a:schemeClr val="bg1"/>
                </a:solidFill>
                <a:latin typeface="Aptos" panose="020B0004020202020204" pitchFamily="34" charset="0"/>
              </a:rPr>
              <a:t>Microsoft 365 &amp; Microsoft 365 </a:t>
            </a:r>
            <a:r>
              <a:rPr lang="es-ES" sz="2200" dirty="0" err="1">
                <a:solidFill>
                  <a:schemeClr val="bg1"/>
                </a:solidFill>
                <a:latin typeface="Aptos" panose="020B0004020202020204" pitchFamily="34" charset="0"/>
              </a:rPr>
              <a:t>Copilot</a:t>
            </a:r>
            <a:r>
              <a:rPr lang="es-ES" sz="2200" dirty="0">
                <a:solidFill>
                  <a:schemeClr val="bg1"/>
                </a:solidFill>
                <a:latin typeface="Aptos" panose="020B0004020202020204" pitchFamily="34" charset="0"/>
              </a:rPr>
              <a:t> MVP  | Microsoft 365 SME &amp; </a:t>
            </a:r>
            <a:r>
              <a:rPr lang="es-ES" sz="2200" dirty="0" err="1">
                <a:solidFill>
                  <a:schemeClr val="bg1"/>
                </a:solidFill>
                <a:latin typeface="Aptos" panose="020B0004020202020204" pitchFamily="34" charset="0"/>
              </a:rPr>
              <a:t>Delivery</a:t>
            </a:r>
            <a:r>
              <a:rPr lang="es-ES" sz="2200" dirty="0">
                <a:solidFill>
                  <a:schemeClr val="bg1"/>
                </a:solidFill>
                <a:latin typeface="Aptos" panose="020B0004020202020204" pitchFamily="34" charset="0"/>
              </a:rPr>
              <a:t> Manager</a:t>
            </a:r>
          </a:p>
        </p:txBody>
      </p:sp>
    </p:spTree>
    <p:extLst>
      <p:ext uri="{BB962C8B-B14F-4D97-AF65-F5344CB8AC3E}">
        <p14:creationId xmlns:p14="http://schemas.microsoft.com/office/powerpoint/2010/main" val="231927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96504C7-7C8E-373F-8224-F7EAA15D1CF5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Session promise</a:t>
            </a:r>
          </a:p>
          <a:p>
            <a:endParaRPr lang="en-US" sz="2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2A788A6F-D5C2-D0BA-7A1A-AECC8E18EBA7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From PowerShell reports to governance decisions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CE9774BE-5EF8-AA82-082B-6A35C72D6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5181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" name="Card accent">
            <a:extLst>
              <a:ext uri="{FF2B5EF4-FFF2-40B4-BE49-F238E27FC236}">
                <a16:creationId xmlns:a16="http://schemas.microsoft.com/office/drawing/2014/main" id="{F01877BC-0436-739B-3350-54BE3CB6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73152" cy="1828800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5579AC8-BDF8-C3E2-5EEF-F95393118DF7}"/>
              </a:ext>
            </a:extLst>
          </p:cNvPr>
          <p:cNvSpPr/>
          <p:nvPr/>
        </p:nvSpPr>
        <p:spPr>
          <a:xfrm>
            <a:off x="1036320" y="23164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kern="0" spc="200" dirty="0">
                <a:solidFill>
                  <a:srgbClr val="7A848F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1533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D0B5D1E-1C89-BF50-0641-2A4A093AF45A}"/>
              </a:ext>
            </a:extLst>
          </p:cNvPr>
          <p:cNvSpPr/>
          <p:nvPr/>
        </p:nvSpPr>
        <p:spPr>
          <a:xfrm>
            <a:off x="1036320" y="274320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Hours of tenant reviews and custom PowerShell reports / Third party tools just to see where governance stood.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2" name="Card background">
            <a:extLst>
              <a:ext uri="{FF2B5EF4-FFF2-40B4-BE49-F238E27FC236}">
                <a16:creationId xmlns:a16="http://schemas.microsoft.com/office/drawing/2014/main" id="{33A80082-1BBF-D816-9DDA-66E86BA10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5181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4" name="Card accent">
            <a:extLst>
              <a:ext uri="{FF2B5EF4-FFF2-40B4-BE49-F238E27FC236}">
                <a16:creationId xmlns:a16="http://schemas.microsoft.com/office/drawing/2014/main" id="{43CB5F20-5BCB-BA42-5153-1ED214D0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73152" cy="1828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30FED60-65C0-5B61-29FE-18C4C5697F66}"/>
              </a:ext>
            </a:extLst>
          </p:cNvPr>
          <p:cNvSpPr/>
          <p:nvPr/>
        </p:nvSpPr>
        <p:spPr>
          <a:xfrm>
            <a:off x="6583680" y="23164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kern="0" spc="200" dirty="0">
                <a:solidFill>
                  <a:srgbClr val="0F6CB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533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60F40C4-729B-1ABF-A0B5-F0237802F506}"/>
              </a:ext>
            </a:extLst>
          </p:cNvPr>
          <p:cNvSpPr/>
          <p:nvPr/>
        </p:nvSpPr>
        <p:spPr>
          <a:xfrm>
            <a:off x="6583680" y="274320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agent runs the analysis. You focus on decisions, fast configuration changes and more control.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2" name="Quote panel">
            <a:extLst>
              <a:ext uri="{FF2B5EF4-FFF2-40B4-BE49-F238E27FC236}">
                <a16:creationId xmlns:a16="http://schemas.microsoft.com/office/drawing/2014/main" id="{ED49C04C-77E7-77CC-27C4-EADA42EF3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67200"/>
            <a:ext cx="10728960" cy="146304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297BBF3E-7ED2-B2CA-97F8-819445D6B43C}"/>
              </a:ext>
            </a:extLst>
          </p:cNvPr>
          <p:cNvSpPr/>
          <p:nvPr/>
        </p:nvSpPr>
        <p:spPr>
          <a:xfrm>
            <a:off x="1219200" y="4511040"/>
            <a:ext cx="9753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Built on SharePoint Advanced Management, the </a:t>
            </a:r>
            <a:r>
              <a:rPr lang="en-US" sz="1867" b="1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agent turns natural language into tenant-wide analysis and guided remediation</a:t>
            </a:r>
            <a:r>
              <a:rPr lang="en-US" sz="1867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,</a:t>
            </a:r>
            <a:r>
              <a:rPr lang="en-US" sz="1867" b="1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67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across active and inactive sites, storage, permissions and applied configuration.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4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BF5F5-AB67-9DC4-241D-E3B65E51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CCDBC23-67C2-9BDF-906C-680230B5E0A3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What we will cover</a:t>
            </a:r>
          </a:p>
          <a:p>
            <a:endParaRPr lang="en-US" sz="2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29CA560B-4537-82C6-E3FA-39A87064AFAC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Agenda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9905B49C-D2E3-150A-A39A-072885E8B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48256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" name="Card accent">
            <a:extLst>
              <a:ext uri="{FF2B5EF4-FFF2-40B4-BE49-F238E27FC236}">
                <a16:creationId xmlns:a16="http://schemas.microsoft.com/office/drawing/2014/main" id="{B5B029A9-6778-210C-E7F6-5B809CB41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48256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1859EC8-8010-932B-8184-F3287D269FEF}"/>
              </a:ext>
            </a:extLst>
          </p:cNvPr>
          <p:cNvSpPr/>
          <p:nvPr/>
        </p:nvSpPr>
        <p:spPr>
          <a:xfrm>
            <a:off x="999744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EAAFCB2-F9CF-4BEF-04DE-C047F724A263}"/>
              </a:ext>
            </a:extLst>
          </p:cNvPr>
          <p:cNvSpPr/>
          <p:nvPr/>
        </p:nvSpPr>
        <p:spPr>
          <a:xfrm>
            <a:off x="1767840" y="2218944"/>
            <a:ext cx="396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governance problem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85F235-511F-BBED-B068-5300996EF569}"/>
              </a:ext>
            </a:extLst>
          </p:cNvPr>
          <p:cNvSpPr/>
          <p:nvPr/>
        </p:nvSpPr>
        <p:spPr>
          <a:xfrm>
            <a:off x="1767840" y="2609088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Why classic admin reporting in SharePoint stopped scaling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Card background">
            <a:extLst>
              <a:ext uri="{FF2B5EF4-FFF2-40B4-BE49-F238E27FC236}">
                <a16:creationId xmlns:a16="http://schemas.microsoft.com/office/drawing/2014/main" id="{136F733F-CCDA-4F19-E8D0-B2C7014BC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48256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6" name="Card accent">
            <a:extLst>
              <a:ext uri="{FF2B5EF4-FFF2-40B4-BE49-F238E27FC236}">
                <a16:creationId xmlns:a16="http://schemas.microsoft.com/office/drawing/2014/main" id="{52D29D4E-1230-269A-764F-C67BCDD2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48256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B3756E0-E248-3929-C68C-CA200BC2102B}"/>
              </a:ext>
            </a:extLst>
          </p:cNvPr>
          <p:cNvSpPr/>
          <p:nvPr/>
        </p:nvSpPr>
        <p:spPr>
          <a:xfrm>
            <a:off x="6547104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336AF67D-2229-AA7C-58FA-C71FCB2BE379}"/>
              </a:ext>
            </a:extLst>
          </p:cNvPr>
          <p:cNvSpPr/>
          <p:nvPr/>
        </p:nvSpPr>
        <p:spPr>
          <a:xfrm>
            <a:off x="7315200" y="2218944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the SharePoint Admin agent is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FD3EAF0F-9629-446D-1FE2-9759EE7B3162}"/>
              </a:ext>
            </a:extLst>
          </p:cNvPr>
          <p:cNvSpPr/>
          <p:nvPr/>
        </p:nvSpPr>
        <p:spPr>
          <a:xfrm>
            <a:off x="7315200" y="2609088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skills on top of SharePoint Advanced Management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6" name="Card background">
            <a:extLst>
              <a:ext uri="{FF2B5EF4-FFF2-40B4-BE49-F238E27FC236}">
                <a16:creationId xmlns:a16="http://schemas.microsoft.com/office/drawing/2014/main" id="{E6694A50-23A9-4F2E-EBFE-496D8719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62528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8" name="Card accent">
            <a:extLst>
              <a:ext uri="{FF2B5EF4-FFF2-40B4-BE49-F238E27FC236}">
                <a16:creationId xmlns:a16="http://schemas.microsoft.com/office/drawing/2014/main" id="{B887E99A-77C3-C7BB-3B48-0B22D1FA5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62528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486098F2-9E8E-FD51-9CC2-6E25C88AD9E3}"/>
              </a:ext>
            </a:extLst>
          </p:cNvPr>
          <p:cNvSpPr/>
          <p:nvPr/>
        </p:nvSpPr>
        <p:spPr>
          <a:xfrm>
            <a:off x="999744" y="3681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ED36950E-B7C3-35C1-CAA9-03BA3E5C4EF4}"/>
              </a:ext>
            </a:extLst>
          </p:cNvPr>
          <p:cNvSpPr/>
          <p:nvPr/>
        </p:nvSpPr>
        <p:spPr>
          <a:xfrm>
            <a:off x="1767840" y="3633216"/>
            <a:ext cx="396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Prerequisites &amp; licensing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78E670F1-28E7-DAAB-96EA-230A421AC910}"/>
              </a:ext>
            </a:extLst>
          </p:cNvPr>
          <p:cNvSpPr/>
          <p:nvPr/>
        </p:nvSpPr>
        <p:spPr>
          <a:xfrm>
            <a:off x="1767840" y="4023360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SAM, roles, and where to open the agent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Card background">
            <a:extLst>
              <a:ext uri="{FF2B5EF4-FFF2-40B4-BE49-F238E27FC236}">
                <a16:creationId xmlns:a16="http://schemas.microsoft.com/office/drawing/2014/main" id="{80D65D18-698B-DC41-C2BD-801CB26E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3462528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8" name="Card accent">
            <a:extLst>
              <a:ext uri="{FF2B5EF4-FFF2-40B4-BE49-F238E27FC236}">
                <a16:creationId xmlns:a16="http://schemas.microsoft.com/office/drawing/2014/main" id="{158597F0-47EF-8905-7BC9-697B22A4F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3462528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6087BC6E-FA8E-70AB-660B-3DE9D66E2241}"/>
              </a:ext>
            </a:extLst>
          </p:cNvPr>
          <p:cNvSpPr/>
          <p:nvPr/>
        </p:nvSpPr>
        <p:spPr>
          <a:xfrm>
            <a:off x="6547104" y="3681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39207261-CEEC-C662-4B5D-5500E84A4870}"/>
              </a:ext>
            </a:extLst>
          </p:cNvPr>
          <p:cNvSpPr/>
          <p:nvPr/>
        </p:nvSpPr>
        <p:spPr>
          <a:xfrm>
            <a:off x="7315200" y="3633216"/>
            <a:ext cx="396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admin skills, one by one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B5CDDE5A-E217-5D96-ADC1-B5B6335A29CE}"/>
              </a:ext>
            </a:extLst>
          </p:cNvPr>
          <p:cNvSpPr/>
          <p:nvPr/>
        </p:nvSpPr>
        <p:spPr>
          <a:xfrm>
            <a:off x="7315200" y="4023360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Search, storage, lifecycle, permissions, Q&amp;A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6" name="Card background">
            <a:extLst>
              <a:ext uri="{FF2B5EF4-FFF2-40B4-BE49-F238E27FC236}">
                <a16:creationId xmlns:a16="http://schemas.microsoft.com/office/drawing/2014/main" id="{7DDD32B8-EC48-BEB2-6035-DD7C9B1F2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76800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8" name="Card accent">
            <a:extLst>
              <a:ext uri="{FF2B5EF4-FFF2-40B4-BE49-F238E27FC236}">
                <a16:creationId xmlns:a16="http://schemas.microsoft.com/office/drawing/2014/main" id="{BB47A5B5-C270-B0F8-BBCA-354E5ECB7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76800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7D887C95-844E-8ABB-2917-3D47C29896BE}"/>
              </a:ext>
            </a:extLst>
          </p:cNvPr>
          <p:cNvSpPr/>
          <p:nvPr/>
        </p:nvSpPr>
        <p:spPr>
          <a:xfrm>
            <a:off x="999744" y="50962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05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CD024CBB-B716-2E87-A768-26C1E09552FB}"/>
              </a:ext>
            </a:extLst>
          </p:cNvPr>
          <p:cNvSpPr/>
          <p:nvPr/>
        </p:nvSpPr>
        <p:spPr>
          <a:xfrm>
            <a:off x="1767840" y="5047488"/>
            <a:ext cx="396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Demos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F83A28F6-75C7-3A44-C06D-8EF9FBAAEC32}"/>
              </a:ext>
            </a:extLst>
          </p:cNvPr>
          <p:cNvSpPr/>
          <p:nvPr/>
        </p:nvSpPr>
        <p:spPr>
          <a:xfrm>
            <a:off x="1767840" y="5437632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Admin Agent availability, Tenant overview, oversharing, lifecycle cleanup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Card background">
            <a:extLst>
              <a:ext uri="{FF2B5EF4-FFF2-40B4-BE49-F238E27FC236}">
                <a16:creationId xmlns:a16="http://schemas.microsoft.com/office/drawing/2014/main" id="{223018AA-E0C8-1314-E68D-D128FACC6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4876800"/>
            <a:ext cx="5181600" cy="1194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8" name="Card accent">
            <a:extLst>
              <a:ext uri="{FF2B5EF4-FFF2-40B4-BE49-F238E27FC236}">
                <a16:creationId xmlns:a16="http://schemas.microsoft.com/office/drawing/2014/main" id="{537F7AE3-3804-264B-A990-E0AE2192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4876800"/>
            <a:ext cx="73152" cy="119481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14207719-691D-DCC7-6989-E40D41634168}"/>
              </a:ext>
            </a:extLst>
          </p:cNvPr>
          <p:cNvSpPr/>
          <p:nvPr/>
        </p:nvSpPr>
        <p:spPr>
          <a:xfrm>
            <a:off x="6547104" y="50962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06</a:t>
            </a:r>
            <a:endParaRPr lang="en-US" sz="26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F9A928A5-703C-9317-6E3E-D709B4D08AE9}"/>
              </a:ext>
            </a:extLst>
          </p:cNvPr>
          <p:cNvSpPr/>
          <p:nvPr/>
        </p:nvSpPr>
        <p:spPr>
          <a:xfrm>
            <a:off x="7315200" y="5047488"/>
            <a:ext cx="3962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Key Ideas &amp; Takeaways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66A5C229-E8EA-9820-CCCC-71480B00845B}"/>
              </a:ext>
            </a:extLst>
          </p:cNvPr>
          <p:cNvSpPr/>
          <p:nvPr/>
        </p:nvSpPr>
        <p:spPr>
          <a:xfrm>
            <a:off x="7315200" y="5437632"/>
            <a:ext cx="396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Benefits, limits, risks and more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2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5CE5E-6162-8707-0B35-B11A45F1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DBBC21C5-97AD-9DEE-40E1-16EF960C6D52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6417163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The governance problem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BE7403E9-16A0-0BBF-2228-131D8E330371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/>
              </a:rPr>
              <a:t>Many tenants accumulate sites faster than administrators can review them</a:t>
            </a:r>
          </a:p>
        </p:txBody>
      </p:sp>
    </p:spTree>
    <p:extLst>
      <p:ext uri="{BB962C8B-B14F-4D97-AF65-F5344CB8AC3E}">
        <p14:creationId xmlns:p14="http://schemas.microsoft.com/office/powerpoint/2010/main" val="274456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38D05-8BBB-4F19-BDF2-BA1A230D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B2C40D0-F512-256E-45A6-D76C663A6736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The old way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BC1D97C7-1492-6B1D-560E-B0799A4A605A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Where administrators used to spend their time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2" name="Tile 1">
            <a:extLst>
              <a:ext uri="{FF2B5EF4-FFF2-40B4-BE49-F238E27FC236}">
                <a16:creationId xmlns:a16="http://schemas.microsoft.com/office/drawing/2014/main" id="{4A79F2B0-402D-BBE1-5461-521506DCF934}"/>
              </a:ext>
            </a:extLst>
          </p:cNvPr>
          <p:cNvSpPr txBox="1"/>
          <p:nvPr/>
        </p:nvSpPr>
        <p:spPr>
          <a:xfrm>
            <a:off x="815788" y="2099154"/>
            <a:ext cx="1912640" cy="3360351"/>
          </a:xfrm>
          <a:prstGeom prst="roundRect">
            <a:avLst/>
          </a:prstGeom>
          <a:solidFill>
            <a:srgbClr val="FFFFFF"/>
          </a:solidFill>
          <a:ln w="12700" cap="rnd">
            <a:solidFill>
              <a:srgbClr val="E2E5EA"/>
            </a:solidFill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3" name="Top accent 1">
            <a:extLst>
              <a:ext uri="{FF2B5EF4-FFF2-40B4-BE49-F238E27FC236}">
                <a16:creationId xmlns:a16="http://schemas.microsoft.com/office/drawing/2014/main" id="{5B94E984-7114-C6F1-1F0B-EECFC470C482}"/>
              </a:ext>
            </a:extLst>
          </p:cNvPr>
          <p:cNvSpPr txBox="1"/>
          <p:nvPr/>
        </p:nvSpPr>
        <p:spPr>
          <a:xfrm>
            <a:off x="1512108" y="2099155"/>
            <a:ext cx="520000" cy="5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grpSp>
        <p:nvGrpSpPr>
          <p:cNvPr id="5" name="Icon 1">
            <a:extLst>
              <a:ext uri="{FF2B5EF4-FFF2-40B4-BE49-F238E27FC236}">
                <a16:creationId xmlns:a16="http://schemas.microsoft.com/office/drawing/2014/main" id="{8917CA6A-7770-8234-E05B-2DF2629AECEE}"/>
              </a:ext>
            </a:extLst>
          </p:cNvPr>
          <p:cNvGrpSpPr/>
          <p:nvPr/>
        </p:nvGrpSpPr>
        <p:grpSpPr>
          <a:xfrm>
            <a:off x="1392108" y="2449155"/>
            <a:ext cx="760000" cy="760000"/>
            <a:chOff x="0" y="0"/>
            <a:chExt cx="400000" cy="400000"/>
          </a:xfrm>
        </p:grpSpPr>
        <p:sp>
          <p:nvSpPr>
            <p:cNvPr id="6" name="Icon disc">
              <a:extLst>
                <a:ext uri="{FF2B5EF4-FFF2-40B4-BE49-F238E27FC236}">
                  <a16:creationId xmlns:a16="http://schemas.microsoft.com/office/drawing/2014/main" id="{7201A3D9-27E3-9262-3435-BE176261D202}"/>
                </a:ext>
              </a:extLst>
            </p:cNvPr>
            <p:cNvSpPr txBox="1"/>
            <p:nvPr/>
          </p:nvSpPr>
          <p:spPr>
            <a:xfrm>
              <a:off x="0" y="0"/>
              <a:ext cx="400000" cy="4000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7" name="Console">
              <a:extLst>
                <a:ext uri="{FF2B5EF4-FFF2-40B4-BE49-F238E27FC236}">
                  <a16:creationId xmlns:a16="http://schemas.microsoft.com/office/drawing/2014/main" id="{85908F34-6D4B-9228-139D-7D26D52721B3}"/>
                </a:ext>
              </a:extLst>
            </p:cNvPr>
            <p:cNvSpPr txBox="1"/>
            <p:nvPr/>
          </p:nvSpPr>
          <p:spPr>
            <a:xfrm>
              <a:off x="95000" y="115000"/>
              <a:ext cx="210000" cy="170000"/>
            </a:xfrm>
            <a:prstGeom prst="roundRect">
              <a:avLst/>
            </a:prstGeom>
            <a:noFill/>
            <a:ln w="12700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8" name="Caret">
              <a:extLst>
                <a:ext uri="{FF2B5EF4-FFF2-40B4-BE49-F238E27FC236}">
                  <a16:creationId xmlns:a16="http://schemas.microsoft.com/office/drawing/2014/main" id="{2C1CDA5D-6252-9809-54AF-1730F0777566}"/>
                </a:ext>
              </a:extLst>
            </p:cNvPr>
            <p:cNvSpPr txBox="1"/>
            <p:nvPr/>
          </p:nvSpPr>
          <p:spPr>
            <a:xfrm rot="5400000">
              <a:off x="135000" y="165000"/>
              <a:ext cx="55000" cy="55000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9" name="Underscore">
              <a:extLst>
                <a:ext uri="{FF2B5EF4-FFF2-40B4-BE49-F238E27FC236}">
                  <a16:creationId xmlns:a16="http://schemas.microsoft.com/office/drawing/2014/main" id="{317F5E32-009D-056C-6C88-7ACCD2162CD4}"/>
                </a:ext>
              </a:extLst>
            </p:cNvPr>
            <p:cNvSpPr txBox="1"/>
            <p:nvPr/>
          </p:nvSpPr>
          <p:spPr>
            <a:xfrm>
              <a:off x="210000" y="225000"/>
              <a:ext cx="70000" cy="1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10" name="Label 1">
            <a:extLst>
              <a:ext uri="{FF2B5EF4-FFF2-40B4-BE49-F238E27FC236}">
                <a16:creationId xmlns:a16="http://schemas.microsoft.com/office/drawing/2014/main" id="{6F77FA2D-E848-5AD9-25CF-D09FD914034F}"/>
              </a:ext>
            </a:extLst>
          </p:cNvPr>
          <p:cNvSpPr txBox="1"/>
          <p:nvPr/>
        </p:nvSpPr>
        <p:spPr>
          <a:xfrm>
            <a:off x="815788" y="3299155"/>
            <a:ext cx="179264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/>
            <a:r>
              <a:rPr lang="en-US" b="1" dirty="0">
                <a:solidFill>
                  <a:srgbClr val="44546A"/>
                </a:solidFill>
                <a:latin typeface="Aptos" panose="020B0004020202020204" pitchFamily="34" charset="0"/>
              </a:rPr>
              <a:t>Manual reporting</a:t>
            </a:r>
          </a:p>
        </p:txBody>
      </p:sp>
      <p:sp>
        <p:nvSpPr>
          <p:cNvPr id="11" name="Body 1">
            <a:extLst>
              <a:ext uri="{FF2B5EF4-FFF2-40B4-BE49-F238E27FC236}">
                <a16:creationId xmlns:a16="http://schemas.microsoft.com/office/drawing/2014/main" id="{ABC71E98-A3DF-8D39-CCB8-3338B129725C}"/>
              </a:ext>
            </a:extLst>
          </p:cNvPr>
          <p:cNvSpPr txBox="1"/>
          <p:nvPr/>
        </p:nvSpPr>
        <p:spPr>
          <a:xfrm>
            <a:off x="955788" y="3882945"/>
            <a:ext cx="163264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 fontScale="92500"/>
          </a:bodyPr>
          <a:lstStyle/>
          <a:p>
            <a:pPr algn="ctr"/>
            <a:r>
              <a:rPr lang="en-US" sz="1600" b="0" dirty="0">
                <a:solidFill>
                  <a:srgbClr val="5A6779"/>
                </a:solidFill>
                <a:latin typeface="Aptos" panose="020B0004020202020204" pitchFamily="34" charset="0"/>
              </a:rPr>
              <a:t>Custom PowerShell reports for site inventory, activity, storage and more</a:t>
            </a:r>
          </a:p>
        </p:txBody>
      </p:sp>
      <p:sp>
        <p:nvSpPr>
          <p:cNvPr id="12" name="Tile 2">
            <a:extLst>
              <a:ext uri="{FF2B5EF4-FFF2-40B4-BE49-F238E27FC236}">
                <a16:creationId xmlns:a16="http://schemas.microsoft.com/office/drawing/2014/main" id="{1341E62F-2D66-4D7A-BA6A-87B8FB304B84}"/>
              </a:ext>
            </a:extLst>
          </p:cNvPr>
          <p:cNvSpPr txBox="1"/>
          <p:nvPr/>
        </p:nvSpPr>
        <p:spPr>
          <a:xfrm>
            <a:off x="2928428" y="2099155"/>
            <a:ext cx="1912640" cy="3360350"/>
          </a:xfrm>
          <a:prstGeom prst="roundRect">
            <a:avLst/>
          </a:prstGeom>
          <a:solidFill>
            <a:srgbClr val="FFFFFF"/>
          </a:solidFill>
          <a:ln w="12700" cap="rnd">
            <a:solidFill>
              <a:srgbClr val="E2E5EA"/>
            </a:solidFill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13" name="Top accent 2">
            <a:extLst>
              <a:ext uri="{FF2B5EF4-FFF2-40B4-BE49-F238E27FC236}">
                <a16:creationId xmlns:a16="http://schemas.microsoft.com/office/drawing/2014/main" id="{5B2075F7-2919-149C-1C99-5ACE6B5140AE}"/>
              </a:ext>
            </a:extLst>
          </p:cNvPr>
          <p:cNvSpPr txBox="1"/>
          <p:nvPr/>
        </p:nvSpPr>
        <p:spPr>
          <a:xfrm>
            <a:off x="3624748" y="2099155"/>
            <a:ext cx="520000" cy="5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grpSp>
        <p:nvGrpSpPr>
          <p:cNvPr id="14" name="Icon 2">
            <a:extLst>
              <a:ext uri="{FF2B5EF4-FFF2-40B4-BE49-F238E27FC236}">
                <a16:creationId xmlns:a16="http://schemas.microsoft.com/office/drawing/2014/main" id="{9395F3F8-06EF-2A8B-47F9-31F75F5B718B}"/>
              </a:ext>
            </a:extLst>
          </p:cNvPr>
          <p:cNvGrpSpPr/>
          <p:nvPr/>
        </p:nvGrpSpPr>
        <p:grpSpPr>
          <a:xfrm>
            <a:off x="3504748" y="2449155"/>
            <a:ext cx="760000" cy="760000"/>
            <a:chOff x="0" y="0"/>
            <a:chExt cx="400000" cy="400000"/>
          </a:xfrm>
        </p:grpSpPr>
        <p:sp>
          <p:nvSpPr>
            <p:cNvPr id="15" name="Icon disc">
              <a:extLst>
                <a:ext uri="{FF2B5EF4-FFF2-40B4-BE49-F238E27FC236}">
                  <a16:creationId xmlns:a16="http://schemas.microsoft.com/office/drawing/2014/main" id="{0916CABE-EDA7-CF85-9568-FBF98E578352}"/>
                </a:ext>
              </a:extLst>
            </p:cNvPr>
            <p:cNvSpPr txBox="1"/>
            <p:nvPr/>
          </p:nvSpPr>
          <p:spPr>
            <a:xfrm>
              <a:off x="0" y="0"/>
              <a:ext cx="400000" cy="4000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6" name="Key bow">
              <a:extLst>
                <a:ext uri="{FF2B5EF4-FFF2-40B4-BE49-F238E27FC236}">
                  <a16:creationId xmlns:a16="http://schemas.microsoft.com/office/drawing/2014/main" id="{7C4F7521-6CA3-4488-71D1-3FB01FB858A1}"/>
                </a:ext>
              </a:extLst>
            </p:cNvPr>
            <p:cNvSpPr txBox="1"/>
            <p:nvPr/>
          </p:nvSpPr>
          <p:spPr>
            <a:xfrm>
              <a:off x="95000" y="140000"/>
              <a:ext cx="100000" cy="100000"/>
            </a:xfrm>
            <a:prstGeom prst="ellipse">
              <a:avLst/>
            </a:prstGeom>
            <a:noFill/>
            <a:ln w="15875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7" name="Key shaft">
              <a:extLst>
                <a:ext uri="{FF2B5EF4-FFF2-40B4-BE49-F238E27FC236}">
                  <a16:creationId xmlns:a16="http://schemas.microsoft.com/office/drawing/2014/main" id="{5473A045-2D7B-A29B-946C-108A08B460B0}"/>
                </a:ext>
              </a:extLst>
            </p:cNvPr>
            <p:cNvSpPr txBox="1"/>
            <p:nvPr/>
          </p:nvSpPr>
          <p:spPr>
            <a:xfrm>
              <a:off x="188000" y="180000"/>
              <a:ext cx="120000" cy="2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18" name="Key tooth">
              <a:extLst>
                <a:ext uri="{FF2B5EF4-FFF2-40B4-BE49-F238E27FC236}">
                  <a16:creationId xmlns:a16="http://schemas.microsoft.com/office/drawing/2014/main" id="{B26C6EBD-F476-55FF-2F29-4D9BB4DB9C69}"/>
                </a:ext>
              </a:extLst>
            </p:cNvPr>
            <p:cNvSpPr txBox="1"/>
            <p:nvPr/>
          </p:nvSpPr>
          <p:spPr>
            <a:xfrm>
              <a:off x="270000" y="200000"/>
              <a:ext cx="18000" cy="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20" name="Label 2">
            <a:extLst>
              <a:ext uri="{FF2B5EF4-FFF2-40B4-BE49-F238E27FC236}">
                <a16:creationId xmlns:a16="http://schemas.microsoft.com/office/drawing/2014/main" id="{4182C091-2BC8-B172-5E12-051E6C83CF78}"/>
              </a:ext>
            </a:extLst>
          </p:cNvPr>
          <p:cNvSpPr txBox="1"/>
          <p:nvPr/>
        </p:nvSpPr>
        <p:spPr>
          <a:xfrm>
            <a:off x="3048428" y="3299155"/>
            <a:ext cx="167264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/>
            <a:r>
              <a:rPr lang="en-US" b="1" dirty="0">
                <a:solidFill>
                  <a:srgbClr val="44546A"/>
                </a:solidFill>
                <a:latin typeface="Aptos" panose="020B0004020202020204" pitchFamily="34" charset="0"/>
              </a:rPr>
              <a:t>Scattered audits</a:t>
            </a:r>
          </a:p>
        </p:txBody>
      </p:sp>
      <p:sp>
        <p:nvSpPr>
          <p:cNvPr id="21" name="Body 2">
            <a:extLst>
              <a:ext uri="{FF2B5EF4-FFF2-40B4-BE49-F238E27FC236}">
                <a16:creationId xmlns:a16="http://schemas.microsoft.com/office/drawing/2014/main" id="{97E698C6-E96A-3F2B-C5C8-14CE52B0DFC7}"/>
              </a:ext>
            </a:extLst>
          </p:cNvPr>
          <p:cNvSpPr txBox="1"/>
          <p:nvPr/>
        </p:nvSpPr>
        <p:spPr>
          <a:xfrm>
            <a:off x="3068428" y="3882945"/>
            <a:ext cx="163264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/>
            <a:r>
              <a:rPr lang="en-US" sz="1600" b="0" dirty="0">
                <a:solidFill>
                  <a:srgbClr val="5A6779"/>
                </a:solidFill>
                <a:latin typeface="Aptos" panose="020B0004020202020204" pitchFamily="34" charset="0"/>
              </a:rPr>
              <a:t>Permission audits stitched together from several admin portals</a:t>
            </a:r>
          </a:p>
        </p:txBody>
      </p:sp>
      <p:sp>
        <p:nvSpPr>
          <p:cNvPr id="22" name="Tile 3">
            <a:extLst>
              <a:ext uri="{FF2B5EF4-FFF2-40B4-BE49-F238E27FC236}">
                <a16:creationId xmlns:a16="http://schemas.microsoft.com/office/drawing/2014/main" id="{D008A7E9-3B43-D93B-23B9-9ABEA74A30FE}"/>
              </a:ext>
            </a:extLst>
          </p:cNvPr>
          <p:cNvSpPr txBox="1"/>
          <p:nvPr/>
        </p:nvSpPr>
        <p:spPr>
          <a:xfrm>
            <a:off x="5041068" y="2099155"/>
            <a:ext cx="1912640" cy="3360350"/>
          </a:xfrm>
          <a:prstGeom prst="roundRect">
            <a:avLst/>
          </a:prstGeom>
          <a:solidFill>
            <a:srgbClr val="FFFFFF"/>
          </a:solidFill>
          <a:ln w="12700" cap="rnd">
            <a:solidFill>
              <a:srgbClr val="E2E5EA"/>
            </a:solidFill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23" name="Top accent 3">
            <a:extLst>
              <a:ext uri="{FF2B5EF4-FFF2-40B4-BE49-F238E27FC236}">
                <a16:creationId xmlns:a16="http://schemas.microsoft.com/office/drawing/2014/main" id="{295C3AA2-6668-60D6-168F-C5AEFBF9CB26}"/>
              </a:ext>
            </a:extLst>
          </p:cNvPr>
          <p:cNvSpPr txBox="1"/>
          <p:nvPr/>
        </p:nvSpPr>
        <p:spPr>
          <a:xfrm>
            <a:off x="5737388" y="2099155"/>
            <a:ext cx="520000" cy="5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grpSp>
        <p:nvGrpSpPr>
          <p:cNvPr id="24" name="Icon 3">
            <a:extLst>
              <a:ext uri="{FF2B5EF4-FFF2-40B4-BE49-F238E27FC236}">
                <a16:creationId xmlns:a16="http://schemas.microsoft.com/office/drawing/2014/main" id="{B516B7EE-90D4-2083-46C3-437DC81E6AEF}"/>
              </a:ext>
            </a:extLst>
          </p:cNvPr>
          <p:cNvGrpSpPr/>
          <p:nvPr/>
        </p:nvGrpSpPr>
        <p:grpSpPr>
          <a:xfrm>
            <a:off x="5617388" y="2449155"/>
            <a:ext cx="760000" cy="760000"/>
            <a:chOff x="0" y="0"/>
            <a:chExt cx="400000" cy="400000"/>
          </a:xfrm>
        </p:grpSpPr>
        <p:sp>
          <p:nvSpPr>
            <p:cNvPr id="25" name="Icon disc">
              <a:extLst>
                <a:ext uri="{FF2B5EF4-FFF2-40B4-BE49-F238E27FC236}">
                  <a16:creationId xmlns:a16="http://schemas.microsoft.com/office/drawing/2014/main" id="{11473DA7-4D92-39D3-11EF-FA9BD4627032}"/>
                </a:ext>
              </a:extLst>
            </p:cNvPr>
            <p:cNvSpPr txBox="1"/>
            <p:nvPr/>
          </p:nvSpPr>
          <p:spPr>
            <a:xfrm>
              <a:off x="0" y="0"/>
              <a:ext cx="400000" cy="4000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6" name="Clock face">
              <a:extLst>
                <a:ext uri="{FF2B5EF4-FFF2-40B4-BE49-F238E27FC236}">
                  <a16:creationId xmlns:a16="http://schemas.microsoft.com/office/drawing/2014/main" id="{3322D322-3CB9-9964-6A13-69F32BF2376E}"/>
                </a:ext>
              </a:extLst>
            </p:cNvPr>
            <p:cNvSpPr txBox="1"/>
            <p:nvPr/>
          </p:nvSpPr>
          <p:spPr>
            <a:xfrm>
              <a:off x="105000" y="105000"/>
              <a:ext cx="190000" cy="190000"/>
            </a:xfrm>
            <a:prstGeom prst="ellipse">
              <a:avLst/>
            </a:prstGeom>
            <a:noFill/>
            <a:ln w="15875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7" name="Hour hand">
              <a:extLst>
                <a:ext uri="{FF2B5EF4-FFF2-40B4-BE49-F238E27FC236}">
                  <a16:creationId xmlns:a16="http://schemas.microsoft.com/office/drawing/2014/main" id="{1BC041D9-CEE4-33E5-AA1D-3570E8471847}"/>
                </a:ext>
              </a:extLst>
            </p:cNvPr>
            <p:cNvSpPr txBox="1"/>
            <p:nvPr/>
          </p:nvSpPr>
          <p:spPr>
            <a:xfrm>
              <a:off x="192000" y="140000"/>
              <a:ext cx="16000" cy="6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8" name="Minute hand">
              <a:extLst>
                <a:ext uri="{FF2B5EF4-FFF2-40B4-BE49-F238E27FC236}">
                  <a16:creationId xmlns:a16="http://schemas.microsoft.com/office/drawing/2014/main" id="{3F86A475-2645-8524-B9C1-0A1E0D4832D2}"/>
                </a:ext>
              </a:extLst>
            </p:cNvPr>
            <p:cNvSpPr txBox="1"/>
            <p:nvPr/>
          </p:nvSpPr>
          <p:spPr>
            <a:xfrm>
              <a:off x="196000" y="190000"/>
              <a:ext cx="64000" cy="1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29" name="Label 3">
            <a:extLst>
              <a:ext uri="{FF2B5EF4-FFF2-40B4-BE49-F238E27FC236}">
                <a16:creationId xmlns:a16="http://schemas.microsoft.com/office/drawing/2014/main" id="{700DDD98-5FCF-C402-9B71-251FD847C75B}"/>
              </a:ext>
            </a:extLst>
          </p:cNvPr>
          <p:cNvSpPr txBox="1"/>
          <p:nvPr/>
        </p:nvSpPr>
        <p:spPr>
          <a:xfrm>
            <a:off x="5161068" y="3299155"/>
            <a:ext cx="167264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/>
          </a:bodyPr>
          <a:lstStyle/>
          <a:p>
            <a:pPr algn="ctr"/>
            <a:r>
              <a:rPr lang="en-US" b="1" dirty="0">
                <a:solidFill>
                  <a:srgbClr val="44546A"/>
                </a:solidFill>
                <a:latin typeface="Aptos" panose="020B0004020202020204" pitchFamily="34" charset="0"/>
              </a:rPr>
              <a:t>Stale on arrival</a:t>
            </a:r>
          </a:p>
        </p:txBody>
      </p:sp>
      <p:sp>
        <p:nvSpPr>
          <p:cNvPr id="30" name="Body 3">
            <a:extLst>
              <a:ext uri="{FF2B5EF4-FFF2-40B4-BE49-F238E27FC236}">
                <a16:creationId xmlns:a16="http://schemas.microsoft.com/office/drawing/2014/main" id="{73584A90-E2B7-E9AF-19B1-C85594EBC46F}"/>
              </a:ext>
            </a:extLst>
          </p:cNvPr>
          <p:cNvSpPr txBox="1"/>
          <p:nvPr/>
        </p:nvSpPr>
        <p:spPr>
          <a:xfrm>
            <a:off x="5181068" y="3882945"/>
            <a:ext cx="163264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/>
          </a:bodyPr>
          <a:lstStyle/>
          <a:p>
            <a:pPr algn="ctr"/>
            <a:r>
              <a:rPr lang="en-US" sz="1600" b="0" dirty="0">
                <a:solidFill>
                  <a:srgbClr val="5A6779"/>
                </a:solidFill>
                <a:latin typeface="Aptos" panose="020B0004020202020204" pitchFamily="34" charset="0"/>
              </a:rPr>
              <a:t>Reports that took hours to run, and were stale on arrival</a:t>
            </a:r>
          </a:p>
        </p:txBody>
      </p:sp>
      <p:sp>
        <p:nvSpPr>
          <p:cNvPr id="31" name="Tile 4">
            <a:extLst>
              <a:ext uri="{FF2B5EF4-FFF2-40B4-BE49-F238E27FC236}">
                <a16:creationId xmlns:a16="http://schemas.microsoft.com/office/drawing/2014/main" id="{1747B15A-D1EE-3925-8B12-7BD8C341349A}"/>
              </a:ext>
            </a:extLst>
          </p:cNvPr>
          <p:cNvSpPr txBox="1"/>
          <p:nvPr/>
        </p:nvSpPr>
        <p:spPr>
          <a:xfrm>
            <a:off x="7153708" y="2099155"/>
            <a:ext cx="1912640" cy="3360350"/>
          </a:xfrm>
          <a:prstGeom prst="roundRect">
            <a:avLst/>
          </a:prstGeom>
          <a:solidFill>
            <a:srgbClr val="FFFFFF"/>
          </a:solidFill>
          <a:ln w="12700" cap="rnd">
            <a:solidFill>
              <a:srgbClr val="E2E5EA"/>
            </a:solidFill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32" name="Top accent 4">
            <a:extLst>
              <a:ext uri="{FF2B5EF4-FFF2-40B4-BE49-F238E27FC236}">
                <a16:creationId xmlns:a16="http://schemas.microsoft.com/office/drawing/2014/main" id="{C0BE1F17-F577-DB1B-9C82-D0272D6A64DC}"/>
              </a:ext>
            </a:extLst>
          </p:cNvPr>
          <p:cNvSpPr txBox="1"/>
          <p:nvPr/>
        </p:nvSpPr>
        <p:spPr>
          <a:xfrm>
            <a:off x="7850028" y="2099155"/>
            <a:ext cx="520000" cy="5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grpSp>
        <p:nvGrpSpPr>
          <p:cNvPr id="33" name="Icon 4">
            <a:extLst>
              <a:ext uri="{FF2B5EF4-FFF2-40B4-BE49-F238E27FC236}">
                <a16:creationId xmlns:a16="http://schemas.microsoft.com/office/drawing/2014/main" id="{78608CC9-75BB-C6A9-B543-5587CF43438E}"/>
              </a:ext>
            </a:extLst>
          </p:cNvPr>
          <p:cNvGrpSpPr/>
          <p:nvPr/>
        </p:nvGrpSpPr>
        <p:grpSpPr>
          <a:xfrm>
            <a:off x="7730028" y="2449155"/>
            <a:ext cx="760000" cy="760000"/>
            <a:chOff x="0" y="0"/>
            <a:chExt cx="400000" cy="400000"/>
          </a:xfrm>
        </p:grpSpPr>
        <p:sp>
          <p:nvSpPr>
            <p:cNvPr id="34" name="Icon disc">
              <a:extLst>
                <a:ext uri="{FF2B5EF4-FFF2-40B4-BE49-F238E27FC236}">
                  <a16:creationId xmlns:a16="http://schemas.microsoft.com/office/drawing/2014/main" id="{CA81567A-F28F-35F2-E458-B00FA1DBA3C9}"/>
                </a:ext>
              </a:extLst>
            </p:cNvPr>
            <p:cNvSpPr txBox="1"/>
            <p:nvPr/>
          </p:nvSpPr>
          <p:spPr>
            <a:xfrm>
              <a:off x="0" y="0"/>
              <a:ext cx="400000" cy="4000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35" name="Alert triangle">
              <a:extLst>
                <a:ext uri="{FF2B5EF4-FFF2-40B4-BE49-F238E27FC236}">
                  <a16:creationId xmlns:a16="http://schemas.microsoft.com/office/drawing/2014/main" id="{419ED9EE-AEE1-0696-0DE7-8501B576F66B}"/>
                </a:ext>
              </a:extLst>
            </p:cNvPr>
            <p:cNvSpPr txBox="1"/>
            <p:nvPr/>
          </p:nvSpPr>
          <p:spPr>
            <a:xfrm>
              <a:off x="100000" y="110000"/>
              <a:ext cx="200000" cy="180000"/>
            </a:xfrm>
            <a:prstGeom prst="triangle">
              <a:avLst/>
            </a:prstGeom>
            <a:noFill/>
            <a:ln w="15875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36" name="Bang stem">
              <a:extLst>
                <a:ext uri="{FF2B5EF4-FFF2-40B4-BE49-F238E27FC236}">
                  <a16:creationId xmlns:a16="http://schemas.microsoft.com/office/drawing/2014/main" id="{15BEF644-A674-8B97-EA37-113BFF8A3E98}"/>
                </a:ext>
              </a:extLst>
            </p:cNvPr>
            <p:cNvSpPr txBox="1"/>
            <p:nvPr/>
          </p:nvSpPr>
          <p:spPr>
            <a:xfrm>
              <a:off x="190000" y="168000"/>
              <a:ext cx="20000" cy="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37" name="Bang dot">
              <a:extLst>
                <a:ext uri="{FF2B5EF4-FFF2-40B4-BE49-F238E27FC236}">
                  <a16:creationId xmlns:a16="http://schemas.microsoft.com/office/drawing/2014/main" id="{01E40556-2B67-5984-8CC0-33ACE26F07EC}"/>
                </a:ext>
              </a:extLst>
            </p:cNvPr>
            <p:cNvSpPr txBox="1"/>
            <p:nvPr/>
          </p:nvSpPr>
          <p:spPr>
            <a:xfrm>
              <a:off x="190000" y="242000"/>
              <a:ext cx="20000" cy="2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38" name="Label 4">
            <a:extLst>
              <a:ext uri="{FF2B5EF4-FFF2-40B4-BE49-F238E27FC236}">
                <a16:creationId xmlns:a16="http://schemas.microsoft.com/office/drawing/2014/main" id="{AA468155-42EE-D4B4-87DE-F9902595731B}"/>
              </a:ext>
            </a:extLst>
          </p:cNvPr>
          <p:cNvSpPr txBox="1"/>
          <p:nvPr/>
        </p:nvSpPr>
        <p:spPr>
          <a:xfrm>
            <a:off x="7273708" y="3299155"/>
            <a:ext cx="167264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/>
            <a:r>
              <a:rPr lang="en-US" b="1" dirty="0">
                <a:solidFill>
                  <a:srgbClr val="44546A"/>
                </a:solidFill>
                <a:latin typeface="Aptos" panose="020B0004020202020204" pitchFamily="34" charset="0"/>
              </a:rPr>
              <a:t>Hidden oversharing</a:t>
            </a:r>
          </a:p>
        </p:txBody>
      </p:sp>
      <p:sp>
        <p:nvSpPr>
          <p:cNvPr id="39" name="Body 4">
            <a:extLst>
              <a:ext uri="{FF2B5EF4-FFF2-40B4-BE49-F238E27FC236}">
                <a16:creationId xmlns:a16="http://schemas.microsoft.com/office/drawing/2014/main" id="{9422B7CE-B03B-8815-538C-061B770D6899}"/>
              </a:ext>
            </a:extLst>
          </p:cNvPr>
          <p:cNvSpPr txBox="1"/>
          <p:nvPr/>
        </p:nvSpPr>
        <p:spPr>
          <a:xfrm>
            <a:off x="7293708" y="3882945"/>
            <a:ext cx="163264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/>
            <a:r>
              <a:rPr lang="en-US" sz="1600" b="0" dirty="0">
                <a:solidFill>
                  <a:srgbClr val="5A6779"/>
                </a:solidFill>
                <a:latin typeface="Aptos" panose="020B0004020202020204" pitchFamily="34" charset="0"/>
              </a:rPr>
              <a:t>Ownerless sites and ‘Everyone except external users’ left undetected</a:t>
            </a:r>
          </a:p>
        </p:txBody>
      </p:sp>
      <p:sp>
        <p:nvSpPr>
          <p:cNvPr id="40" name="Tile 5">
            <a:extLst>
              <a:ext uri="{FF2B5EF4-FFF2-40B4-BE49-F238E27FC236}">
                <a16:creationId xmlns:a16="http://schemas.microsoft.com/office/drawing/2014/main" id="{A65D0C87-9B51-37B2-700D-705DEEE8687C}"/>
              </a:ext>
            </a:extLst>
          </p:cNvPr>
          <p:cNvSpPr txBox="1"/>
          <p:nvPr/>
        </p:nvSpPr>
        <p:spPr>
          <a:xfrm>
            <a:off x="9266348" y="2099155"/>
            <a:ext cx="1912640" cy="3360350"/>
          </a:xfrm>
          <a:prstGeom prst="roundRect">
            <a:avLst/>
          </a:prstGeom>
          <a:solidFill>
            <a:srgbClr val="FFFFFF"/>
          </a:solidFill>
          <a:ln w="12700" cap="rnd">
            <a:solidFill>
              <a:srgbClr val="E2E5EA"/>
            </a:solidFill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41" name="Top accent 5">
            <a:extLst>
              <a:ext uri="{FF2B5EF4-FFF2-40B4-BE49-F238E27FC236}">
                <a16:creationId xmlns:a16="http://schemas.microsoft.com/office/drawing/2014/main" id="{56E8FFF7-44E2-4B06-97FC-035FB01F511A}"/>
              </a:ext>
            </a:extLst>
          </p:cNvPr>
          <p:cNvSpPr txBox="1"/>
          <p:nvPr/>
        </p:nvSpPr>
        <p:spPr>
          <a:xfrm>
            <a:off x="9962668" y="2099155"/>
            <a:ext cx="520000" cy="5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>
              <a:latin typeface="Aptos" panose="020B0004020202020204" pitchFamily="34" charset="0"/>
            </a:endParaRPr>
          </a:p>
        </p:txBody>
      </p:sp>
      <p:grpSp>
        <p:nvGrpSpPr>
          <p:cNvPr id="42" name="Icon 5">
            <a:extLst>
              <a:ext uri="{FF2B5EF4-FFF2-40B4-BE49-F238E27FC236}">
                <a16:creationId xmlns:a16="http://schemas.microsoft.com/office/drawing/2014/main" id="{7D15BC9E-6B76-D105-F0C0-A4115D1C513C}"/>
              </a:ext>
            </a:extLst>
          </p:cNvPr>
          <p:cNvGrpSpPr/>
          <p:nvPr/>
        </p:nvGrpSpPr>
        <p:grpSpPr>
          <a:xfrm>
            <a:off x="9842668" y="2449155"/>
            <a:ext cx="760000" cy="760000"/>
            <a:chOff x="0" y="0"/>
            <a:chExt cx="400000" cy="400000"/>
          </a:xfrm>
        </p:grpSpPr>
        <p:sp>
          <p:nvSpPr>
            <p:cNvPr id="43" name="Icon disc">
              <a:extLst>
                <a:ext uri="{FF2B5EF4-FFF2-40B4-BE49-F238E27FC236}">
                  <a16:creationId xmlns:a16="http://schemas.microsoft.com/office/drawing/2014/main" id="{97946799-5E50-56D8-9184-F425098CB5C3}"/>
                </a:ext>
              </a:extLst>
            </p:cNvPr>
            <p:cNvSpPr txBox="1"/>
            <p:nvPr/>
          </p:nvSpPr>
          <p:spPr>
            <a:xfrm>
              <a:off x="0" y="0"/>
              <a:ext cx="400000" cy="400000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44" name="Target outer">
              <a:extLst>
                <a:ext uri="{FF2B5EF4-FFF2-40B4-BE49-F238E27FC236}">
                  <a16:creationId xmlns:a16="http://schemas.microsoft.com/office/drawing/2014/main" id="{06B7F941-37D5-A976-0E9F-B437A25F72EE}"/>
                </a:ext>
              </a:extLst>
            </p:cNvPr>
            <p:cNvSpPr txBox="1"/>
            <p:nvPr/>
          </p:nvSpPr>
          <p:spPr>
            <a:xfrm>
              <a:off x="100000" y="100000"/>
              <a:ext cx="200000" cy="200000"/>
            </a:xfrm>
            <a:prstGeom prst="ellipse">
              <a:avLst/>
            </a:prstGeom>
            <a:noFill/>
            <a:ln w="15875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45" name="Target inner">
              <a:extLst>
                <a:ext uri="{FF2B5EF4-FFF2-40B4-BE49-F238E27FC236}">
                  <a16:creationId xmlns:a16="http://schemas.microsoft.com/office/drawing/2014/main" id="{A6FA9570-0A51-3CC3-2DB9-342792923593}"/>
                </a:ext>
              </a:extLst>
            </p:cNvPr>
            <p:cNvSpPr txBox="1"/>
            <p:nvPr/>
          </p:nvSpPr>
          <p:spPr>
            <a:xfrm>
              <a:off x="148000" y="148000"/>
              <a:ext cx="104000" cy="104000"/>
            </a:xfrm>
            <a:prstGeom prst="ellipse">
              <a:avLst/>
            </a:prstGeom>
            <a:noFill/>
            <a:ln w="15875" cap="rnd">
              <a:solidFill>
                <a:srgbClr val="FFFFFF"/>
              </a:solidFill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46" name="Target dot">
              <a:extLst>
                <a:ext uri="{FF2B5EF4-FFF2-40B4-BE49-F238E27FC236}">
                  <a16:creationId xmlns:a16="http://schemas.microsoft.com/office/drawing/2014/main" id="{7E4A5F64-8AA6-6C37-7883-A13B40AD13DA}"/>
                </a:ext>
              </a:extLst>
            </p:cNvPr>
            <p:cNvSpPr txBox="1"/>
            <p:nvPr/>
          </p:nvSpPr>
          <p:spPr>
            <a:xfrm>
              <a:off x="183000" y="183000"/>
              <a:ext cx="34000" cy="3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47" name="Label 5">
            <a:extLst>
              <a:ext uri="{FF2B5EF4-FFF2-40B4-BE49-F238E27FC236}">
                <a16:creationId xmlns:a16="http://schemas.microsoft.com/office/drawing/2014/main" id="{C4F77513-2A0D-81AA-A2CD-B51DA4607E59}"/>
              </a:ext>
            </a:extLst>
          </p:cNvPr>
          <p:cNvSpPr txBox="1"/>
          <p:nvPr/>
        </p:nvSpPr>
        <p:spPr>
          <a:xfrm>
            <a:off x="9386348" y="3299155"/>
            <a:ext cx="1672640" cy="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 lnSpcReduction="10000"/>
          </a:bodyPr>
          <a:lstStyle/>
          <a:p>
            <a:pPr algn="ctr"/>
            <a:r>
              <a:rPr lang="en-US" b="1" dirty="0">
                <a:solidFill>
                  <a:srgbClr val="44546A"/>
                </a:solidFill>
                <a:latin typeface="Aptos" panose="020B0004020202020204" pitchFamily="34" charset="0"/>
              </a:rPr>
              <a:t>No time to decide</a:t>
            </a:r>
          </a:p>
        </p:txBody>
      </p:sp>
      <p:sp>
        <p:nvSpPr>
          <p:cNvPr id="48" name="Body 5">
            <a:extLst>
              <a:ext uri="{FF2B5EF4-FFF2-40B4-BE49-F238E27FC236}">
                <a16:creationId xmlns:a16="http://schemas.microsoft.com/office/drawing/2014/main" id="{4B6DEAD1-3508-D23A-2F2A-2A333D44D7B2}"/>
              </a:ext>
            </a:extLst>
          </p:cNvPr>
          <p:cNvSpPr txBox="1"/>
          <p:nvPr/>
        </p:nvSpPr>
        <p:spPr>
          <a:xfrm>
            <a:off x="9406348" y="3882945"/>
            <a:ext cx="163264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/>
          </a:bodyPr>
          <a:lstStyle/>
          <a:p>
            <a:pPr algn="ctr"/>
            <a:r>
              <a:rPr lang="en-US" sz="1600" b="0" dirty="0">
                <a:solidFill>
                  <a:srgbClr val="5A6779"/>
                </a:solidFill>
                <a:latin typeface="Aptos" panose="020B0004020202020204" pitchFamily="34" charset="0"/>
              </a:rPr>
              <a:t>Little time left for the actual governance decisions</a:t>
            </a:r>
          </a:p>
        </p:txBody>
      </p:sp>
    </p:spTree>
    <p:extLst>
      <p:ext uri="{BB962C8B-B14F-4D97-AF65-F5344CB8AC3E}">
        <p14:creationId xmlns:p14="http://schemas.microsoft.com/office/powerpoint/2010/main" val="224057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71258-423F-3C94-2B17-D806F7F9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4FFB6E1-E2C7-7CF8-DFE8-7C22C1B9CC78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Why it matters now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69312972-AA9D-E1E0-79E7-26B344F8EFE4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What ungoverned content costs you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50" name="Card background">
            <a:extLst>
              <a:ext uri="{FF2B5EF4-FFF2-40B4-BE49-F238E27FC236}">
                <a16:creationId xmlns:a16="http://schemas.microsoft.com/office/drawing/2014/main" id="{473C4A89-76AD-7D6C-3E2D-2AF7B77CF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133600"/>
            <a:ext cx="2499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2" name="Card accent">
            <a:extLst>
              <a:ext uri="{FF2B5EF4-FFF2-40B4-BE49-F238E27FC236}">
                <a16:creationId xmlns:a16="http://schemas.microsoft.com/office/drawing/2014/main" id="{51F90F6B-8BAB-1684-1B72-5E3A6D64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133600"/>
            <a:ext cx="73152" cy="310896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8B625464-E27E-48D1-7575-7816A955528B}"/>
              </a:ext>
            </a:extLst>
          </p:cNvPr>
          <p:cNvSpPr/>
          <p:nvPr/>
        </p:nvSpPr>
        <p:spPr>
          <a:xfrm>
            <a:off x="1024128" y="24140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000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Content sprawl</a:t>
            </a:r>
            <a:endParaRPr lang="en-US" sz="20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E30C0785-E96D-3117-8B34-41DC36266A6E}"/>
              </a:ext>
            </a:extLst>
          </p:cNvPr>
          <p:cNvSpPr/>
          <p:nvPr/>
        </p:nvSpPr>
        <p:spPr>
          <a:xfrm>
            <a:off x="1024128" y="3194304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Sites outlive the projects that created them and quietly consume storage.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8" name="Card background">
            <a:extLst>
              <a:ext uri="{FF2B5EF4-FFF2-40B4-BE49-F238E27FC236}">
                <a16:creationId xmlns:a16="http://schemas.microsoft.com/office/drawing/2014/main" id="{FDE5BFF1-E8E8-AD68-04D9-58F1789F2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2528" y="2133600"/>
            <a:ext cx="2499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0" name="Card accent">
            <a:extLst>
              <a:ext uri="{FF2B5EF4-FFF2-40B4-BE49-F238E27FC236}">
                <a16:creationId xmlns:a16="http://schemas.microsoft.com/office/drawing/2014/main" id="{3DB8C85F-5153-AF3E-8E8A-4AEDC033D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2528" y="2133600"/>
            <a:ext cx="73152" cy="310896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D81246C5-F4D1-CECE-18B4-C7A8C83B7B30}"/>
              </a:ext>
            </a:extLst>
          </p:cNvPr>
          <p:cNvSpPr/>
          <p:nvPr/>
        </p:nvSpPr>
        <p:spPr>
          <a:xfrm>
            <a:off x="3755136" y="24140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000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Oversharing</a:t>
            </a:r>
            <a:endParaRPr lang="en-US" sz="20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BFE10DE5-A030-588D-FCEE-18C127B735D7}"/>
              </a:ext>
            </a:extLst>
          </p:cNvPr>
          <p:cNvSpPr/>
          <p:nvPr/>
        </p:nvSpPr>
        <p:spPr>
          <a:xfrm>
            <a:off x="3755136" y="3194304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Broad access groups expose content through Search, and now through Copilot.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6" name="Card background">
            <a:extLst>
              <a:ext uri="{FF2B5EF4-FFF2-40B4-BE49-F238E27FC236}">
                <a16:creationId xmlns:a16="http://schemas.microsoft.com/office/drawing/2014/main" id="{7423F41C-207D-6F92-19D4-A0550EB39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3536" y="2133600"/>
            <a:ext cx="2499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8" name="Card accent">
            <a:extLst>
              <a:ext uri="{FF2B5EF4-FFF2-40B4-BE49-F238E27FC236}">
                <a16:creationId xmlns:a16="http://schemas.microsoft.com/office/drawing/2014/main" id="{1AD2CC0A-E7EF-15A4-7D0D-21433BA86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3536" y="2133600"/>
            <a:ext cx="73152" cy="3108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27BA8277-112D-E093-2448-F17C7C20D15E}"/>
              </a:ext>
            </a:extLst>
          </p:cNvPr>
          <p:cNvSpPr/>
          <p:nvPr/>
        </p:nvSpPr>
        <p:spPr>
          <a:xfrm>
            <a:off x="6486144" y="24140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000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Ownerless sites</a:t>
            </a:r>
            <a:endParaRPr lang="en-US" sz="20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57623BEF-2236-9856-B145-A317CA3E5A0F}"/>
              </a:ext>
            </a:extLst>
          </p:cNvPr>
          <p:cNvSpPr/>
          <p:nvPr/>
        </p:nvSpPr>
        <p:spPr>
          <a:xfrm>
            <a:off x="6486144" y="3194304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Owners leave; nobody is accountable for permissions or lifecycle.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4" name="Card background">
            <a:extLst>
              <a:ext uri="{FF2B5EF4-FFF2-40B4-BE49-F238E27FC236}">
                <a16:creationId xmlns:a16="http://schemas.microsoft.com/office/drawing/2014/main" id="{B9C59371-04F9-2463-6BF0-BDB6AF6D4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4544" y="2133600"/>
            <a:ext cx="2499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6" name="Card accent">
            <a:extLst>
              <a:ext uri="{FF2B5EF4-FFF2-40B4-BE49-F238E27FC236}">
                <a16:creationId xmlns:a16="http://schemas.microsoft.com/office/drawing/2014/main" id="{AFC787DE-E6D0-7574-1390-66C46D746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4544" y="2133600"/>
            <a:ext cx="73152" cy="3108960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A1C5CCC1-99D6-CE01-61C9-7D32B3803EA5}"/>
              </a:ext>
            </a:extLst>
          </p:cNvPr>
          <p:cNvSpPr/>
          <p:nvPr/>
        </p:nvSpPr>
        <p:spPr>
          <a:xfrm>
            <a:off x="9217152" y="24140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000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risks</a:t>
            </a:r>
            <a:endParaRPr lang="en-US" sz="20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4140C129-4B46-A159-FB5C-609AC1A1C22E}"/>
              </a:ext>
            </a:extLst>
          </p:cNvPr>
          <p:cNvSpPr/>
          <p:nvPr/>
        </p:nvSpPr>
        <p:spPr>
          <a:xfrm>
            <a:off x="9217152" y="3194304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AI expands reach of whatever is already overshared.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3CCD7DA0-671C-25B2-2E70-B7BB219BE1BC}"/>
              </a:ext>
            </a:extLst>
          </p:cNvPr>
          <p:cNvSpPr/>
          <p:nvPr/>
        </p:nvSpPr>
        <p:spPr>
          <a:xfrm>
            <a:off x="731520" y="55473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Governance stopped being a reporting exercise, it became a prerequisite for safe AI adoption.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6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A58C5-6F26-70F0-8158-E84AF89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21BCAB1C-41CD-FC67-D077-2AF31AA4CCFD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5581199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What the SharePoint Admin </a:t>
            </a:r>
          </a:p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agent is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593F2CB5-C171-D056-1423-A5DC06492751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/>
              </a:rPr>
              <a:t>An AI-powered governance experience for SharePoint Online and OneDrive for Business</a:t>
            </a:r>
          </a:p>
        </p:txBody>
      </p:sp>
    </p:spTree>
    <p:extLst>
      <p:ext uri="{BB962C8B-B14F-4D97-AF65-F5344CB8AC3E}">
        <p14:creationId xmlns:p14="http://schemas.microsoft.com/office/powerpoint/2010/main" val="329478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E4C7D-2527-5A9D-0DBB-BCE357BE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7258015-1D9D-69D9-6CB8-B4CB02D89ACA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Definition of the SharePoint Admin agent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2C46BF88-1B9F-F066-4505-1656BF4C18E3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An AI governance assistant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481D60C-D48E-990F-7318-7E3ADA7D031B}"/>
              </a:ext>
            </a:extLst>
          </p:cNvPr>
          <p:cNvSpPr/>
          <p:nvPr/>
        </p:nvSpPr>
        <p:spPr>
          <a:xfrm>
            <a:off x="731520" y="2048256"/>
            <a:ext cx="60960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SharePoint Admin Agent helps administrators assess and remediate content-related risks across SharePoint and OneDrive for Business. Instead of running reports manually, you use natural language to investigate tenant-level conditions and take guided remediation actions.</a:t>
            </a:r>
            <a:endParaRPr lang="en-US" sz="18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Card background">
            <a:extLst>
              <a:ext uri="{FF2B5EF4-FFF2-40B4-BE49-F238E27FC236}">
                <a16:creationId xmlns:a16="http://schemas.microsoft.com/office/drawing/2014/main" id="{AA15CA42-B552-0E49-F017-30492B52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35424"/>
            <a:ext cx="6096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1" name="Card accent">
            <a:extLst>
              <a:ext uri="{FF2B5EF4-FFF2-40B4-BE49-F238E27FC236}">
                <a16:creationId xmlns:a16="http://schemas.microsoft.com/office/drawing/2014/main" id="{059496DE-8F82-C127-7FCF-C68038A4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35424"/>
            <a:ext cx="73152" cy="12801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37A3327-87DD-E831-F5C2-600BB74AB204}"/>
              </a:ext>
            </a:extLst>
          </p:cNvPr>
          <p:cNvSpPr/>
          <p:nvPr/>
        </p:nvSpPr>
        <p:spPr>
          <a:xfrm>
            <a:off x="1036320" y="4754880"/>
            <a:ext cx="55473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Assessment → insights → remediation, in one conversational loop.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pic>
        <p:nvPicPr>
          <p:cNvPr id="80" name="AI governance concept image" descr="Abstract illustration of an AI assistant connected to SharePoint content, permissions and site panels in an assessment to remediation loop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2254317"/>
            <a:ext cx="4400000" cy="3354877"/>
          </a:xfrm>
          <a:prstGeom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331594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3B586-ECE5-121C-F7D8-E4149AFE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6">
            <a:extLst>
              <a:ext uri="{FF2B5EF4-FFF2-40B4-BE49-F238E27FC236}">
                <a16:creationId xmlns:a16="http://schemas.microsoft.com/office/drawing/2014/main" id="{B750DAD2-EB0B-EF1C-DF35-8B9B6D032552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SharePoint Admin Agent &amp; SAM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5" name="Slide Number Placeholder 7">
            <a:extLst>
              <a:ext uri="{FF2B5EF4-FFF2-40B4-BE49-F238E27FC236}">
                <a16:creationId xmlns:a16="http://schemas.microsoft.com/office/drawing/2014/main" id="{97836DBD-1F8B-EFB2-D97C-ABDED67F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47651" y="7073991"/>
            <a:ext cx="461784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C410EDA-9B27-4D0B-833D-3D69C8BB707D}" type="slidenum">
              <a:rPr lang="en-US" smtClean="0">
                <a:solidFill>
                  <a:srgbClr val="F4F3F5"/>
                </a:solidFill>
                <a:latin typeface="Segoe UI"/>
              </a:rPr>
              <a:pPr/>
              <a:t>10</a:t>
            </a:fld>
            <a:endParaRPr lang="en-US">
              <a:solidFill>
                <a:srgbClr val="F4F3F5"/>
              </a:solidFill>
              <a:latin typeface="Segoe U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2209800-6D68-CA45-0C1C-0B89879F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035" t="10309" r="-42229" b="62340"/>
          <a:stretch>
            <a:fillRect/>
          </a:stretch>
        </p:blipFill>
        <p:spPr>
          <a:xfrm flipH="1">
            <a:off x="2825145" y="4286118"/>
            <a:ext cx="8722506" cy="2532669"/>
          </a:xfrm>
          <a:custGeom>
            <a:avLst/>
            <a:gdLst>
              <a:gd name="connsiteX0" fmla="*/ 8722506 w 8722506"/>
              <a:gd name="connsiteY0" fmla="*/ 0 h 2532669"/>
              <a:gd name="connsiteX1" fmla="*/ 0 w 8722506"/>
              <a:gd name="connsiteY1" fmla="*/ 0 h 2532669"/>
              <a:gd name="connsiteX2" fmla="*/ 0 w 8722506"/>
              <a:gd name="connsiteY2" fmla="*/ 2410821 h 2532669"/>
              <a:gd name="connsiteX3" fmla="*/ 121848 w 8722506"/>
              <a:gd name="connsiteY3" fmla="*/ 2532669 h 2532669"/>
              <a:gd name="connsiteX4" fmla="*/ 8722506 w 8722506"/>
              <a:gd name="connsiteY4" fmla="*/ 2532669 h 253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506" h="2532669">
                <a:moveTo>
                  <a:pt x="8722506" y="0"/>
                </a:moveTo>
                <a:lnTo>
                  <a:pt x="0" y="0"/>
                </a:lnTo>
                <a:lnTo>
                  <a:pt x="0" y="2410821"/>
                </a:lnTo>
                <a:cubicBezTo>
                  <a:pt x="0" y="2478116"/>
                  <a:pt x="54553" y="2532669"/>
                  <a:pt x="121848" y="2532669"/>
                </a:cubicBezTo>
                <a:lnTo>
                  <a:pt x="8722506" y="2532669"/>
                </a:lnTo>
                <a:close/>
              </a:path>
            </a:pathLst>
          </a:cu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B0C3C38-9A24-A005-4D67-4FB82E77C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30869" y="1257550"/>
            <a:ext cx="11116782" cy="5445467"/>
          </a:xfrm>
          <a:prstGeom prst="roundRect">
            <a:avLst>
              <a:gd name="adj" fmla="val 2161"/>
            </a:avLst>
          </a:prstGeom>
          <a:solidFill>
            <a:srgbClr val="FFFFFF">
              <a:alpha val="64000"/>
            </a:srgbClr>
          </a:solidFill>
          <a:ln w="6350" cap="flat" cmpd="sng" algn="ctr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prstDash val="solid"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E128DC-DA43-0029-7423-2D2F87CFF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3749" y="6547977"/>
            <a:ext cx="10754200" cy="0"/>
          </a:xfrm>
          <a:prstGeom prst="line">
            <a:avLst/>
          </a:prstGeom>
          <a:noFill/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oval" w="sm" len="sm"/>
            <a:tailEnd type="oval" w="sm" len="sm"/>
          </a:ln>
          <a:effectLst/>
        </p:spPr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E64F56E-D09D-866D-1F07-CDB13F0D015A}"/>
              </a:ext>
            </a:extLst>
          </p:cNvPr>
          <p:cNvSpPr>
            <a:spLocks/>
          </p:cNvSpPr>
          <p:nvPr/>
        </p:nvSpPr>
        <p:spPr bwMode="auto">
          <a:xfrm>
            <a:off x="613749" y="1051912"/>
            <a:ext cx="3461189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53000">
                <a:srgbClr val="8661C5"/>
              </a:gs>
              <a:gs pos="100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Reduce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sprawl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A773209-DAAD-1B05-82C7-155C9A1B53AF}"/>
              </a:ext>
            </a:extLst>
          </p:cNvPr>
          <p:cNvSpPr>
            <a:spLocks/>
          </p:cNvSpPr>
          <p:nvPr/>
        </p:nvSpPr>
        <p:spPr bwMode="auto">
          <a:xfrm>
            <a:off x="4257818" y="1051912"/>
            <a:ext cx="3461189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53000">
                <a:srgbClr val="8661C5"/>
              </a:gs>
              <a:gs pos="100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Control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oversharing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8D1E8E7-99AF-F483-8C56-8910F937D787}"/>
              </a:ext>
            </a:extLst>
          </p:cNvPr>
          <p:cNvSpPr>
            <a:spLocks/>
          </p:cNvSpPr>
          <p:nvPr/>
        </p:nvSpPr>
        <p:spPr bwMode="auto">
          <a:xfrm>
            <a:off x="7901887" y="1051912"/>
            <a:ext cx="3461189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53000">
                <a:srgbClr val="8661C5"/>
              </a:gs>
              <a:gs pos="100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Manage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lifecycle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0C9F03E-9CDC-0546-ACF1-F5725249EB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613749" y="1651885"/>
            <a:ext cx="10754200" cy="358861"/>
          </a:xfrm>
          <a:prstGeom prst="roundRect">
            <a:avLst>
              <a:gd name="adj" fmla="val 14521"/>
            </a:avLst>
          </a:prstGeom>
          <a:solidFill>
            <a:srgbClr val="DCEDFB"/>
          </a:solidFill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SharePoint Admin Agent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F7E23A6-58F7-C72E-FCC8-711A8EAED5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613749" y="2128525"/>
            <a:ext cx="10754200" cy="358861"/>
          </a:xfrm>
          <a:prstGeom prst="roundRect">
            <a:avLst>
              <a:gd name="adj" fmla="val 14521"/>
            </a:avLst>
          </a:prstGeom>
          <a:solidFill>
            <a:srgbClr val="DCEDFB"/>
          </a:solidFill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Content Management Assessment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5E14090-40CC-EA10-1054-B95BBAEA1B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613749" y="2605165"/>
            <a:ext cx="3493293" cy="358861"/>
          </a:xfrm>
          <a:prstGeom prst="roundRect">
            <a:avLst>
              <a:gd name="adj" fmla="val 1452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Inactive Site policy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68EFF41-F4A6-8ACB-0C93-7F0247D1B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613749" y="3081805"/>
            <a:ext cx="3493293" cy="1598789"/>
          </a:xfrm>
          <a:prstGeom prst="roundRect">
            <a:avLst>
              <a:gd name="adj" fmla="val 2918"/>
            </a:avLst>
          </a:prstGeom>
          <a:solidFill>
            <a:srgbClr val="DCEDFB"/>
          </a:solidFill>
          <a:ln w="6350" cap="flat" cmpd="sng" algn="ctr">
            <a:solidFill>
              <a:srgbClr val="C03BC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Storage Management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831F43F-EB12-3D87-5ABF-D7B7563604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613749" y="4798372"/>
            <a:ext cx="3493293" cy="1543189"/>
          </a:xfrm>
          <a:prstGeom prst="roundRect">
            <a:avLst>
              <a:gd name="adj" fmla="val 3023"/>
            </a:avLst>
          </a:prstGeom>
          <a:solidFill>
            <a:srgbClr val="F4F3F5"/>
          </a:solidFill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AI Driven Semantic Site Matching 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(Licensing TBD)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1AC97AC-592F-B725-679C-382BD4716A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2" y="2605165"/>
            <a:ext cx="3493293" cy="338328"/>
          </a:xfrm>
          <a:prstGeom prst="roundRect">
            <a:avLst>
              <a:gd name="adj" fmla="val 14521"/>
            </a:avLst>
          </a:prstGeom>
          <a:solidFill>
            <a:srgbClr val="0078D4">
              <a:lumMod val="20000"/>
              <a:lumOff val="80000"/>
              <a:alpha val="50000"/>
            </a:srgbClr>
          </a:solidFill>
          <a:ln w="9525" cap="flat" cmpd="sng" algn="ctr">
            <a:solidFill>
              <a:srgbClr val="0078D4">
                <a:lumMod val="20000"/>
                <a:lumOff val="80000"/>
                <a:alpha val="51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Agent Insights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50BDCEF-F80C-648D-6978-56B71BFDC3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2" y="3073974"/>
            <a:ext cx="3493293" cy="356616"/>
          </a:xfrm>
          <a:prstGeom prst="roundRect">
            <a:avLst>
              <a:gd name="adj" fmla="val 13081"/>
            </a:avLst>
          </a:prstGeom>
          <a:solidFill>
            <a:srgbClr val="F4F3F5"/>
          </a:solidFill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Delegated Restricted Content Discovery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67DF7B0-12B5-1FE9-7657-2892673A2C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3" y="3561071"/>
            <a:ext cx="3493293" cy="832104"/>
          </a:xfrm>
          <a:prstGeom prst="roundRect">
            <a:avLst>
              <a:gd name="adj" fmla="val 5606"/>
            </a:avLst>
          </a:prstGeom>
          <a:solidFill>
            <a:srgbClr val="F4F3F5">
              <a:alpha val="99000"/>
            </a:srgbClr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Data Access Governance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Sites/files permissioned to “specific user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”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Permission state report (Sites, ODBs, Files)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Everyone Except External Users insights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556BD8A-95D6-847C-C96D-4B0D10722E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4" y="4523656"/>
            <a:ext cx="3493293" cy="356616"/>
          </a:xfrm>
          <a:prstGeom prst="roundRect">
            <a:avLst>
              <a:gd name="adj" fmla="val 1308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Restricted Content Discovery (RCD)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and Sites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C3B2271-733F-7050-0BC4-DD141A47FA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5" y="5010753"/>
            <a:ext cx="3493293" cy="356616"/>
          </a:xfrm>
          <a:prstGeom prst="roundRect">
            <a:avLst>
              <a:gd name="adj" fmla="val 1308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Restricted access control (RAC)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Sites, OneDrive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CE6DC71-4BF4-7C5D-13F9-2FE34B026E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6" y="5497850"/>
            <a:ext cx="3493293" cy="356616"/>
          </a:xfrm>
          <a:prstGeom prst="roundRect">
            <a:avLst>
              <a:gd name="adj" fmla="val 1308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Block download policies 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Sites, Files, Teams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BF5C752-0938-AA74-D2E4-72F29216C1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4244207" y="5984946"/>
            <a:ext cx="3493293" cy="356616"/>
          </a:xfrm>
          <a:prstGeom prst="roundRect">
            <a:avLst>
              <a:gd name="adj" fmla="val 13081"/>
            </a:avLst>
          </a:prstGeom>
          <a:solidFill>
            <a:srgbClr val="F4F3F5"/>
          </a:solidFill>
          <a:ln w="6350" cap="flat" cmpd="sng" algn="ctr">
            <a:solidFill>
              <a:srgbClr val="C03BC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Enterprise application insights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AA8FC55-38D0-3D2A-1248-E648752BFD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2605165"/>
            <a:ext cx="3493293" cy="358861"/>
          </a:xfrm>
          <a:prstGeom prst="roundRect">
            <a:avLst>
              <a:gd name="adj" fmla="val 14521"/>
            </a:avLst>
          </a:prstGeom>
          <a:solidFill>
            <a:srgbClr val="F4F3F5"/>
          </a:solidFill>
          <a:ln w="6350" cap="flat" cmpd="sng" algn="ctr">
            <a:solidFill>
              <a:srgbClr val="0078D4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Catalog Management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D917269-CD1D-3DBB-F22F-B716FF7C14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3093433"/>
            <a:ext cx="3493293" cy="1073655"/>
          </a:xfrm>
          <a:prstGeom prst="roundRect">
            <a:avLst>
              <a:gd name="adj" fmla="val 4854"/>
            </a:avLst>
          </a:prstGeom>
          <a:solidFill>
            <a:srgbClr val="F4F3F5">
              <a:alpha val="99000"/>
            </a:srgbClr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Site Lifecycle Policies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Site Attestation Policy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Customizable Email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Target policy on specific sites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Site Ownership Policy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1F658B2-644D-D99F-438A-76723741F5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4296495"/>
            <a:ext cx="3493293" cy="387975"/>
          </a:xfrm>
          <a:prstGeom prst="roundRect">
            <a:avLst>
              <a:gd name="adj" fmla="val 1343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Site Access Review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4B81AF9-0239-C407-C41F-6D128B1CFA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4813877"/>
            <a:ext cx="3493293" cy="387975"/>
          </a:xfrm>
          <a:prstGeom prst="roundRect">
            <a:avLst>
              <a:gd name="adj" fmla="val 1343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Recent Admin Actions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EB33D4B-0D8A-708B-4CDD-26D7E80016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5331259"/>
            <a:ext cx="3493293" cy="387975"/>
          </a:xfrm>
          <a:prstGeom prst="roundRect">
            <a:avLst>
              <a:gd name="adj" fmla="val 13431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Change history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C321EFA-2DE4-A7EC-9AC7-52D1F60962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7874656" y="5848643"/>
            <a:ext cx="3493293" cy="492919"/>
          </a:xfrm>
          <a:prstGeom prst="roundRect">
            <a:avLst>
              <a:gd name="adj" fmla="val 10572"/>
            </a:avLst>
          </a:prstGeom>
          <a:solidFill>
            <a:srgbClr val="F4F3F5"/>
          </a:solidFill>
          <a:ln w="6350" cap="flat" cmpd="sng" algn="ctr">
            <a:solidFill>
              <a:srgbClr val="8C8279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Extend SharePoint Permission 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with Sensitivity labels</a:t>
            </a:r>
          </a:p>
        </p:txBody>
      </p:sp>
      <p:sp>
        <p:nvSpPr>
          <p:cNvPr id="61" name="Rectangle: Rounded Corners 43">
            <a:extLst>
              <a:ext uri="{FF2B5EF4-FFF2-40B4-BE49-F238E27FC236}">
                <a16:creationId xmlns:a16="http://schemas.microsoft.com/office/drawing/2014/main" id="{EE0DAA87-8AFD-2E98-6ACC-E480E428F9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3946148" y="6452965"/>
            <a:ext cx="4089402" cy="190024"/>
          </a:xfrm>
          <a:prstGeom prst="rect">
            <a:avLst/>
          </a:prstGeom>
          <a:solidFill>
            <a:srgbClr val="F5F5F6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 w="3175">
                  <a:noFill/>
                </a:ln>
                <a:solidFill>
                  <a:srgbClr val="0078D4">
                    <a:lumMod val="75000"/>
                  </a:srgbClr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Copilot integration in SharePoint Admin Center + SAM</a:t>
            </a:r>
          </a:p>
        </p:txBody>
      </p:sp>
    </p:spTree>
    <p:extLst>
      <p:ext uri="{BB962C8B-B14F-4D97-AF65-F5344CB8AC3E}">
        <p14:creationId xmlns:p14="http://schemas.microsoft.com/office/powerpoint/2010/main" val="96590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08D62-A079-9F49-1CEC-4542A757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BEE18F9-4A43-7AEB-D5CA-0CF767E995E4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SharePoint Admin Agent building blocks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9F45DFC2-6ECB-6863-B465-60ED721DFB6D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How the pieces fit together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44" name="Layer band">
            <a:extLst>
              <a:ext uri="{FF2B5EF4-FFF2-40B4-BE49-F238E27FC236}">
                <a16:creationId xmlns:a16="http://schemas.microsoft.com/office/drawing/2014/main" id="{6DAE5395-160F-7D13-BFBC-E7145C9E7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1777876"/>
            <a:ext cx="6467237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6" name="Layer accent">
            <a:extLst>
              <a:ext uri="{FF2B5EF4-FFF2-40B4-BE49-F238E27FC236}">
                <a16:creationId xmlns:a16="http://schemas.microsoft.com/office/drawing/2014/main" id="{9B555AE1-BE29-3318-1978-A08F4B240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1777876"/>
            <a:ext cx="97536" cy="877824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C4C55D94-7D21-2E02-E8B8-3B62BD92A18E}"/>
              </a:ext>
            </a:extLst>
          </p:cNvPr>
          <p:cNvSpPr/>
          <p:nvPr/>
        </p:nvSpPr>
        <p:spPr>
          <a:xfrm>
            <a:off x="890994" y="1851028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You ask in natural language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8A355D78-8151-ABB4-5B96-12A4D349354B}"/>
              </a:ext>
            </a:extLst>
          </p:cNvPr>
          <p:cNvSpPr/>
          <p:nvPr/>
        </p:nvSpPr>
        <p:spPr>
          <a:xfrm>
            <a:off x="890994" y="2228980"/>
            <a:ext cx="6101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app · SharePoint admin center · Microsoft Teams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2" name="Layer band">
            <a:extLst>
              <a:ext uri="{FF2B5EF4-FFF2-40B4-BE49-F238E27FC236}">
                <a16:creationId xmlns:a16="http://schemas.microsoft.com/office/drawing/2014/main" id="{EC5D06A3-9A1E-91B9-1A19-B2E5DB4B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2777620"/>
            <a:ext cx="6467237" cy="877824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4" name="Layer accent">
            <a:extLst>
              <a:ext uri="{FF2B5EF4-FFF2-40B4-BE49-F238E27FC236}">
                <a16:creationId xmlns:a16="http://schemas.microsoft.com/office/drawing/2014/main" id="{1C4B5C21-5E92-EDBC-01B0-499AE7E1F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2777620"/>
            <a:ext cx="97536" cy="8778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09BD111D-023C-8D31-83DD-B78D47C4B24D}"/>
              </a:ext>
            </a:extLst>
          </p:cNvPr>
          <p:cNvSpPr/>
          <p:nvPr/>
        </p:nvSpPr>
        <p:spPr>
          <a:xfrm>
            <a:off x="890994" y="2850772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SharePoint Admin Agent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C2BA062E-29A4-6ACC-553B-F6A4DA8A2D94}"/>
              </a:ext>
            </a:extLst>
          </p:cNvPr>
          <p:cNvSpPr/>
          <p:nvPr/>
        </p:nvSpPr>
        <p:spPr>
          <a:xfrm>
            <a:off x="890994" y="3228724"/>
            <a:ext cx="6101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Admin skills interpret the question and run the analysis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0" name="Layer band">
            <a:extLst>
              <a:ext uri="{FF2B5EF4-FFF2-40B4-BE49-F238E27FC236}">
                <a16:creationId xmlns:a16="http://schemas.microsoft.com/office/drawing/2014/main" id="{C358FD4B-864C-569F-E772-5950CBA22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3777364"/>
            <a:ext cx="6467237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2" name="Layer accent">
            <a:extLst>
              <a:ext uri="{FF2B5EF4-FFF2-40B4-BE49-F238E27FC236}">
                <a16:creationId xmlns:a16="http://schemas.microsoft.com/office/drawing/2014/main" id="{AD9666EB-4F5B-7492-C158-D1DC55AF8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3777364"/>
            <a:ext cx="97536" cy="877824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7590A7AD-5FE5-E4A3-B39A-146135D7EFAA}"/>
              </a:ext>
            </a:extLst>
          </p:cNvPr>
          <p:cNvSpPr/>
          <p:nvPr/>
        </p:nvSpPr>
        <p:spPr>
          <a:xfrm>
            <a:off x="890994" y="385051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SharePoint Advanced Management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31AF6458-E25D-61DD-AF61-2A96B16D0F95}"/>
              </a:ext>
            </a:extLst>
          </p:cNvPr>
          <p:cNvSpPr/>
          <p:nvPr/>
        </p:nvSpPr>
        <p:spPr>
          <a:xfrm>
            <a:off x="890994" y="4228468"/>
            <a:ext cx="6101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Governance signals &amp; data: activity, storage, permissions, policies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8" name="Layer band">
            <a:extLst>
              <a:ext uri="{FF2B5EF4-FFF2-40B4-BE49-F238E27FC236}">
                <a16:creationId xmlns:a16="http://schemas.microsoft.com/office/drawing/2014/main" id="{E5F30514-9607-5F2D-02FB-BD61E198F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4777108"/>
            <a:ext cx="6467237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0" name="Layer accent">
            <a:extLst>
              <a:ext uri="{FF2B5EF4-FFF2-40B4-BE49-F238E27FC236}">
                <a16:creationId xmlns:a16="http://schemas.microsoft.com/office/drawing/2014/main" id="{6EEDF490-10D8-4935-7F32-314B63F12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234" y="4777108"/>
            <a:ext cx="97536" cy="877824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592EC060-03E9-1203-884A-10C31AFE574C}"/>
              </a:ext>
            </a:extLst>
          </p:cNvPr>
          <p:cNvSpPr/>
          <p:nvPr/>
        </p:nvSpPr>
        <p:spPr>
          <a:xfrm>
            <a:off x="890994" y="48502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SharePoint &amp; OneDrive tenant</a:t>
            </a:r>
            <a:endParaRPr lang="en-US" sz="1867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875E39C1-C07C-27E9-E2F9-A387C7745F55}"/>
              </a:ext>
            </a:extLst>
          </p:cNvPr>
          <p:cNvSpPr/>
          <p:nvPr/>
        </p:nvSpPr>
        <p:spPr>
          <a:xfrm>
            <a:off x="890994" y="5228212"/>
            <a:ext cx="6101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Sites, content, configuration and access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CE27FE17-AD33-F260-9703-41F4ADB80D9B}"/>
              </a:ext>
            </a:extLst>
          </p:cNvPr>
          <p:cNvSpPr/>
          <p:nvPr/>
        </p:nvSpPr>
        <p:spPr>
          <a:xfrm>
            <a:off x="525234" y="5850004"/>
            <a:ext cx="6467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No PowerShell required, but the agent only sees what SAM is licensed and configured to collect.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90" name="Building blocks concept image" descr="Abstract illustration of a layered cloud governance stack: a conversation layer above agent and governance-signal layers, over a base of SharePoint sites and conten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945" y="1586036"/>
            <a:ext cx="2764765" cy="4446848"/>
          </a:xfrm>
          <a:prstGeom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49869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5036D-AAF2-4532-9170-0E2E4838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pilot Content Block" title="Copilot Content Block">
                <a:extLst>
                  <a:ext uri="{FF2B5EF4-FFF2-40B4-BE49-F238E27FC236}">
                    <a16:creationId xmlns:a16="http://schemas.microsoft.com/office/drawing/2014/main" id="{2F05DA53-AD63-4C0F-AC35-E99FD572746B}"/>
                  </a:ext>
                </a:extLst>
              </p:cNvPr>
              <p:cNvGraphicFramePr>
                <a:graphicFrameLocks noGrp="1" noChangeAspect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378482493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pilot Content Block" title="Copilot Content Block">
                <a:extLst>
                  <a:ext uri="{FF2B5EF4-FFF2-40B4-BE49-F238E27FC236}">
                    <a16:creationId xmlns:a16="http://schemas.microsoft.com/office/drawing/2014/main" id="{2F05DA53-AD63-4C0F-AC35-E99FD57274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639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2">
            <a:extLst>
              <a:ext uri="{FF2B5EF4-FFF2-40B4-BE49-F238E27FC236}">
                <a16:creationId xmlns:a16="http://schemas.microsoft.com/office/drawing/2014/main" id="{9364FB42-CCBF-4BE0-65AC-F68DB3B680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b="6950"/>
          <a:stretch/>
        </p:blipFill>
        <p:spPr>
          <a:xfrm>
            <a:off x="7471299" y="162051"/>
            <a:ext cx="2901552" cy="2904591"/>
          </a:xfrm>
          <a:prstGeom prst="rect">
            <a:avLst/>
          </a:prstGeom>
        </p:spPr>
      </p:pic>
      <p:pic>
        <p:nvPicPr>
          <p:cNvPr id="7" name="Picture 18" descr="Minion clipart transparent background, Minion transparent background  Transparent FREE for download on WebStockReview 2021">
            <a:extLst>
              <a:ext uri="{FF2B5EF4-FFF2-40B4-BE49-F238E27FC236}">
                <a16:creationId xmlns:a16="http://schemas.microsoft.com/office/drawing/2014/main" id="{A47FD084-F0CF-7B28-CC1F-58B8960BD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62051"/>
            <a:ext cx="5057590" cy="59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33BB4174-A8C0-25CA-9E96-2215AC8A7608}"/>
              </a:ext>
            </a:extLst>
          </p:cNvPr>
          <p:cNvSpPr txBox="1">
            <a:spLocks/>
          </p:cNvSpPr>
          <p:nvPr/>
        </p:nvSpPr>
        <p:spPr>
          <a:xfrm>
            <a:off x="5675087" y="3360184"/>
            <a:ext cx="6516914" cy="1661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Demo #1</a:t>
            </a:r>
            <a:r>
              <a:rPr lang="en-US" sz="4000" noProof="0" dirty="0">
                <a:solidFill>
                  <a:schemeClr val="bg1"/>
                </a:solidFill>
                <a:latin typeface="Aptos" panose="020B0004020202020204" pitchFamily="34" charset="0"/>
              </a:rPr>
              <a:t>: A first look to the SharePoint Admin Agent</a:t>
            </a:r>
          </a:p>
        </p:txBody>
      </p:sp>
    </p:spTree>
    <p:extLst>
      <p:ext uri="{BB962C8B-B14F-4D97-AF65-F5344CB8AC3E}">
        <p14:creationId xmlns:p14="http://schemas.microsoft.com/office/powerpoint/2010/main" val="2871663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FEA99-F3E2-2CFB-C2C3-4A4F6E57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3E554FBF-CDFB-AD23-878C-CDF455479F05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5581199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Prerequisites &amp; licensing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966BFCD1-237B-ECD4-AE37-7D659B667CD4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/>
              </a:rPr>
              <a:t>SAM, roles, and where to “find” the agent</a:t>
            </a:r>
          </a:p>
        </p:txBody>
      </p:sp>
    </p:spTree>
    <p:extLst>
      <p:ext uri="{BB962C8B-B14F-4D97-AF65-F5344CB8AC3E}">
        <p14:creationId xmlns:p14="http://schemas.microsoft.com/office/powerpoint/2010/main" val="1187050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B0B3E-979C-34B1-F2FF-0454DF79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5154B35-51EB-A2F8-8434-F4F22A3BB668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What you need before start with the SharePoint Admin Agent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57693C66-7BC2-E757-18B8-B14EDF349FAA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Prerequisites and licensing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B53758BD-916C-9753-506E-53C14A3E4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97024"/>
            <a:ext cx="3413760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" name="Card accent">
            <a:extLst>
              <a:ext uri="{FF2B5EF4-FFF2-40B4-BE49-F238E27FC236}">
                <a16:creationId xmlns:a16="http://schemas.microsoft.com/office/drawing/2014/main" id="{C1E7828F-2EA5-D2EF-5FB4-F32A6DA78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97024"/>
            <a:ext cx="73152" cy="3352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5A1EA8C-01E8-A85F-2190-27DC5C71DC9F}"/>
              </a:ext>
            </a:extLst>
          </p:cNvPr>
          <p:cNvSpPr/>
          <p:nvPr/>
        </p:nvSpPr>
        <p:spPr>
          <a:xfrm>
            <a:off x="1024128" y="2340864"/>
            <a:ext cx="28651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933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Base subscription</a:t>
            </a:r>
            <a:endParaRPr lang="en-US" sz="1933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D024B48-7E62-E695-928C-8F5FA3B996AC}"/>
              </a:ext>
            </a:extLst>
          </p:cNvPr>
          <p:cNvSpPr/>
          <p:nvPr/>
        </p:nvSpPr>
        <p:spPr>
          <a:xfrm>
            <a:off x="975360" y="3121152"/>
            <a:ext cx="298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Office 365 E3, E5 or A5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Microsoft 365 E1, E3, E5 or A5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Business plans per Microsoft Learn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Card background">
            <a:extLst>
              <a:ext uri="{FF2B5EF4-FFF2-40B4-BE49-F238E27FC236}">
                <a16:creationId xmlns:a16="http://schemas.microsoft.com/office/drawing/2014/main" id="{65633687-EAED-2ABD-1D17-4DD0735A0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97024"/>
            <a:ext cx="3413760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4" name="Card accent">
            <a:extLst>
              <a:ext uri="{FF2B5EF4-FFF2-40B4-BE49-F238E27FC236}">
                <a16:creationId xmlns:a16="http://schemas.microsoft.com/office/drawing/2014/main" id="{00EAEC17-D3DA-0CEF-23A6-0991FA32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97024"/>
            <a:ext cx="73152" cy="33528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321EA5D-C13C-2FBB-957C-4E43F616862B}"/>
              </a:ext>
            </a:extLst>
          </p:cNvPr>
          <p:cNvSpPr/>
          <p:nvPr/>
        </p:nvSpPr>
        <p:spPr>
          <a:xfrm>
            <a:off x="4681728" y="2340864"/>
            <a:ext cx="28651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933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SharePoint Advanced Management</a:t>
            </a:r>
            <a:endParaRPr lang="en-US" sz="1933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F98C773-8D4D-DF38-16AA-C858EF38E35C}"/>
              </a:ext>
            </a:extLst>
          </p:cNvPr>
          <p:cNvSpPr/>
          <p:nvPr/>
        </p:nvSpPr>
        <p:spPr>
          <a:xfrm>
            <a:off x="4632960" y="3121152"/>
            <a:ext cx="298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 is required for the agent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Included with Microsoft 365 Copilot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Otherwise, a paid add-on per user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Card background">
            <a:extLst>
              <a:ext uri="{FF2B5EF4-FFF2-40B4-BE49-F238E27FC236}">
                <a16:creationId xmlns:a16="http://schemas.microsoft.com/office/drawing/2014/main" id="{88ACEC57-AD0F-4A9C-5AC1-7617A2A13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97024"/>
            <a:ext cx="3413760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3" name="Card accent">
            <a:extLst>
              <a:ext uri="{FF2B5EF4-FFF2-40B4-BE49-F238E27FC236}">
                <a16:creationId xmlns:a16="http://schemas.microsoft.com/office/drawing/2014/main" id="{F0394989-7DB5-4F03-F1DD-0596DA961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97024"/>
            <a:ext cx="73152" cy="3352800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7C2A1F53-4FEC-4898-E7BD-1ACAC72F6BDB}"/>
              </a:ext>
            </a:extLst>
          </p:cNvPr>
          <p:cNvSpPr/>
          <p:nvPr/>
        </p:nvSpPr>
        <p:spPr>
          <a:xfrm>
            <a:off x="8339328" y="2340864"/>
            <a:ext cx="28651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933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Role and access</a:t>
            </a:r>
            <a:endParaRPr lang="en-US" sz="1933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F5C385B-6A12-9B9F-073D-819176523E09}"/>
              </a:ext>
            </a:extLst>
          </p:cNvPr>
          <p:cNvSpPr/>
          <p:nvPr/>
        </p:nvSpPr>
        <p:spPr>
          <a:xfrm>
            <a:off x="8290560" y="3121152"/>
            <a:ext cx="298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SharePoint Advanced Management Administrator role in Microsoft Entra ID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Open from the Copilot app, SharePoint admin center or Teams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37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F535-43E9-4A91-3E39-D924F22F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2">
            <a:extLst>
              <a:ext uri="{FF2B5EF4-FFF2-40B4-BE49-F238E27FC236}">
                <a16:creationId xmlns:a16="http://schemas.microsoft.com/office/drawing/2014/main" id="{ACD50805-922B-7D4C-DF1B-9D9BA9BBEF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b="6950"/>
          <a:stretch/>
        </p:blipFill>
        <p:spPr>
          <a:xfrm>
            <a:off x="7471299" y="162051"/>
            <a:ext cx="2901552" cy="2904591"/>
          </a:xfrm>
          <a:prstGeom prst="rect">
            <a:avLst/>
          </a:prstGeom>
        </p:spPr>
      </p:pic>
      <p:pic>
        <p:nvPicPr>
          <p:cNvPr id="7" name="Picture 18" descr="Minion clipart transparent background, Minion transparent background  Transparent FREE for download on WebStockReview 2021">
            <a:extLst>
              <a:ext uri="{FF2B5EF4-FFF2-40B4-BE49-F238E27FC236}">
                <a16:creationId xmlns:a16="http://schemas.microsoft.com/office/drawing/2014/main" id="{4AFA3792-60E0-E958-039F-CFC19717D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62051"/>
            <a:ext cx="5057590" cy="59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33615C68-5B9C-9254-DC9B-362747D004EA}"/>
              </a:ext>
            </a:extLst>
          </p:cNvPr>
          <p:cNvSpPr txBox="1">
            <a:spLocks/>
          </p:cNvSpPr>
          <p:nvPr/>
        </p:nvSpPr>
        <p:spPr>
          <a:xfrm>
            <a:off x="5675087" y="3360184"/>
            <a:ext cx="6516914" cy="1661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Demo #2</a:t>
            </a:r>
            <a:r>
              <a:rPr lang="en-US" sz="4000" noProof="0" dirty="0">
                <a:solidFill>
                  <a:schemeClr val="bg1"/>
                </a:solidFill>
                <a:latin typeface="Aptos" panose="020B0004020202020204" pitchFamily="34" charset="0"/>
              </a:rPr>
              <a:t>: SharePoint Admin Agent prerequisites &amp; Access options</a:t>
            </a:r>
          </a:p>
        </p:txBody>
      </p:sp>
    </p:spTree>
    <p:extLst>
      <p:ext uri="{BB962C8B-B14F-4D97-AF65-F5344CB8AC3E}">
        <p14:creationId xmlns:p14="http://schemas.microsoft.com/office/powerpoint/2010/main" val="86563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AD618-E46C-FEBF-B090-80710632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1CAAAFA5-B8CA-C830-8BFD-9CBF50AE32C9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5581199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The admin skills, one by one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74605520-5B9B-9CA5-D2FE-8BBA9E1B348C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/>
              </a:rPr>
              <a:t>Six Copilot skills that cover discovery, storage, lifecycle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342351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760B1-A1BC-0A62-9070-57D9BC79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41B2333-5290-C7A0-533D-F0F614ED54DF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Skills Map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D6D5DCBE-0C79-C31C-D6FD-BCDA0FF8A69A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The skills at a glance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9" name="Card background">
            <a:extLst>
              <a:ext uri="{FF2B5EF4-FFF2-40B4-BE49-F238E27FC236}">
                <a16:creationId xmlns:a16="http://schemas.microsoft.com/office/drawing/2014/main" id="{9CF0AF2F-C133-CFC9-0BEA-916FA2DEB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3" name="Card accent">
            <a:extLst>
              <a:ext uri="{FF2B5EF4-FFF2-40B4-BE49-F238E27FC236}">
                <a16:creationId xmlns:a16="http://schemas.microsoft.com/office/drawing/2014/main" id="{484BC705-ABBF-BDD3-B826-EA624FBFC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73152" cy="1731264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270F00B-0395-4AE5-0C76-AE7D55E20CEC}"/>
              </a:ext>
            </a:extLst>
          </p:cNvPr>
          <p:cNvSpPr/>
          <p:nvPr/>
        </p:nvSpPr>
        <p:spPr>
          <a:xfrm>
            <a:off x="1024128" y="2267712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Contextual Q&amp;A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0822627-FAFE-2845-723A-8EF1DA905362}"/>
              </a:ext>
            </a:extLst>
          </p:cNvPr>
          <p:cNvSpPr/>
          <p:nvPr/>
        </p:nvSpPr>
        <p:spPr>
          <a:xfrm>
            <a:off x="1024128" y="2901696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How-to and conceptual answers grounded in Microsoft Learn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6" name="Card background">
            <a:extLst>
              <a:ext uri="{FF2B5EF4-FFF2-40B4-BE49-F238E27FC236}">
                <a16:creationId xmlns:a16="http://schemas.microsoft.com/office/drawing/2014/main" id="{91471427-7A4B-B74D-E8D7-0B239177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72640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9" name="Card accent">
            <a:extLst>
              <a:ext uri="{FF2B5EF4-FFF2-40B4-BE49-F238E27FC236}">
                <a16:creationId xmlns:a16="http://schemas.microsoft.com/office/drawing/2014/main" id="{BC316588-4EC9-8044-B2C7-3A1BAFD10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72640"/>
            <a:ext cx="73152" cy="17312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9442435-CC7D-FF2F-F108-DE66F509315E}"/>
              </a:ext>
            </a:extLst>
          </p:cNvPr>
          <p:cNvSpPr/>
          <p:nvPr/>
        </p:nvSpPr>
        <p:spPr>
          <a:xfrm>
            <a:off x="4681728" y="2267712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Multi-variable site search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E52D57D-7675-7F20-12C4-319E52290553}"/>
              </a:ext>
            </a:extLst>
          </p:cNvPr>
          <p:cNvSpPr/>
          <p:nvPr/>
        </p:nvSpPr>
        <p:spPr>
          <a:xfrm>
            <a:off x="4681728" y="2901696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Combine owner, activity, storage, sensitivity and sharing filters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5" name="Card background">
            <a:extLst>
              <a:ext uri="{FF2B5EF4-FFF2-40B4-BE49-F238E27FC236}">
                <a16:creationId xmlns:a16="http://schemas.microsoft.com/office/drawing/2014/main" id="{AD243CB5-C036-FC48-7FEA-AA4488894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72640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7" name="Card accent">
            <a:extLst>
              <a:ext uri="{FF2B5EF4-FFF2-40B4-BE49-F238E27FC236}">
                <a16:creationId xmlns:a16="http://schemas.microsoft.com/office/drawing/2014/main" id="{D5AB3159-CCFE-736B-1C48-AB139B75B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72640"/>
            <a:ext cx="73152" cy="1731264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A2F44AF7-C860-9F0A-5C18-E63C8C2607A4}"/>
              </a:ext>
            </a:extLst>
          </p:cNvPr>
          <p:cNvSpPr/>
          <p:nvPr/>
        </p:nvSpPr>
        <p:spPr>
          <a:xfrm>
            <a:off x="8339328" y="2267712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Admin centre recap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76CAA08-B47F-076B-64C9-579A81E8E0DD}"/>
              </a:ext>
            </a:extLst>
          </p:cNvPr>
          <p:cNvSpPr/>
          <p:nvPr/>
        </p:nvSpPr>
        <p:spPr>
          <a:xfrm>
            <a:off x="8339328" y="2901696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Service health, message centre and Copilot usage in one summary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3" name="Card background">
            <a:extLst>
              <a:ext uri="{FF2B5EF4-FFF2-40B4-BE49-F238E27FC236}">
                <a16:creationId xmlns:a16="http://schemas.microsoft.com/office/drawing/2014/main" id="{6EDB4039-6B27-144A-FBAF-83401AFF5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047744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5" name="Card accent">
            <a:extLst>
              <a:ext uri="{FF2B5EF4-FFF2-40B4-BE49-F238E27FC236}">
                <a16:creationId xmlns:a16="http://schemas.microsoft.com/office/drawing/2014/main" id="{B807A42B-1587-8BA4-6D3A-7BA3001BE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047744"/>
            <a:ext cx="73152" cy="1731264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9B7238C0-DC92-36AD-F1EA-D418EA09F8AD}"/>
              </a:ext>
            </a:extLst>
          </p:cNvPr>
          <p:cNvSpPr/>
          <p:nvPr/>
        </p:nvSpPr>
        <p:spPr>
          <a:xfrm>
            <a:off x="1024128" y="4242816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4D82A2BB-9765-2C3A-7680-FE5B4A0CB5FC}"/>
              </a:ext>
            </a:extLst>
          </p:cNvPr>
          <p:cNvSpPr/>
          <p:nvPr/>
        </p:nvSpPr>
        <p:spPr>
          <a:xfrm>
            <a:off x="1024128" y="4876800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Consumption, outliers, growth trends and cleanup opportunities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1" name="Card background">
            <a:extLst>
              <a:ext uri="{FF2B5EF4-FFF2-40B4-BE49-F238E27FC236}">
                <a16:creationId xmlns:a16="http://schemas.microsoft.com/office/drawing/2014/main" id="{2A670440-A441-2019-D867-A555E15DC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4047744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3" name="Card accent">
            <a:extLst>
              <a:ext uri="{FF2B5EF4-FFF2-40B4-BE49-F238E27FC236}">
                <a16:creationId xmlns:a16="http://schemas.microsoft.com/office/drawing/2014/main" id="{16A9EA63-EB41-A552-F664-B98C22AA6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4047744"/>
            <a:ext cx="73152" cy="17312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9E986F5F-6122-9B1B-9182-45143ACA9563}"/>
              </a:ext>
            </a:extLst>
          </p:cNvPr>
          <p:cNvSpPr/>
          <p:nvPr/>
        </p:nvSpPr>
        <p:spPr>
          <a:xfrm>
            <a:off x="4681728" y="4242816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Lifecycle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49793292-8E02-594A-B1AC-68415481D6F2}"/>
              </a:ext>
            </a:extLst>
          </p:cNvPr>
          <p:cNvSpPr/>
          <p:nvPr/>
        </p:nvSpPr>
        <p:spPr>
          <a:xfrm>
            <a:off x="4681728" y="4876800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Inactive sites, ownerless sites, archival and retention signals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9" name="Card background">
            <a:extLst>
              <a:ext uri="{FF2B5EF4-FFF2-40B4-BE49-F238E27FC236}">
                <a16:creationId xmlns:a16="http://schemas.microsoft.com/office/drawing/2014/main" id="{4ECE80A3-4010-2EE1-83AF-F553EFCF7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4047744"/>
            <a:ext cx="341376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1" name="Card accent">
            <a:extLst>
              <a:ext uri="{FF2B5EF4-FFF2-40B4-BE49-F238E27FC236}">
                <a16:creationId xmlns:a16="http://schemas.microsoft.com/office/drawing/2014/main" id="{3782FA62-345B-4BF3-03C7-98C8D50EF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4047744"/>
            <a:ext cx="73152" cy="1731264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9D6BE6DC-C106-0EE1-D1C7-070F4E262844}"/>
              </a:ext>
            </a:extLst>
          </p:cNvPr>
          <p:cNvSpPr/>
          <p:nvPr/>
        </p:nvSpPr>
        <p:spPr>
          <a:xfrm>
            <a:off x="8339328" y="4242816"/>
            <a:ext cx="286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Permissions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3D10FA9A-1AD6-F2A7-9616-DD89563534AC}"/>
              </a:ext>
            </a:extLst>
          </p:cNvPr>
          <p:cNvSpPr/>
          <p:nvPr/>
        </p:nvSpPr>
        <p:spPr>
          <a:xfrm>
            <a:off x="8339328" y="4876800"/>
            <a:ext cx="286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Broad access groups, oversharing and policy inconsistencies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4936C616-F0BF-08C2-6F27-CF99CA5163AB}"/>
              </a:ext>
            </a:extLst>
          </p:cNvPr>
          <p:cNvSpPr/>
          <p:nvPr/>
        </p:nvSpPr>
        <p:spPr>
          <a:xfrm>
            <a:off x="731520" y="5876544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Copilot does not make configuration changes on your behalf; you stay in control of every action.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60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96F1-2920-3DF4-1B09-AA7B42EC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7224352-6B57-B089-BE10-E865A51BDCA2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Examples of prompts based on the available skills</a:t>
            </a:r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16F2E6A1-D237-96F4-F386-1635BF572ACD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Prompt starter pack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Prompt chip">
            <a:extLst>
              <a:ext uri="{FF2B5EF4-FFF2-40B4-BE49-F238E27FC236}">
                <a16:creationId xmlns:a16="http://schemas.microsoft.com/office/drawing/2014/main" id="{8A064C43-5C38-2826-8770-B3EBCE767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Prompt accent">
            <a:extLst>
              <a:ext uri="{FF2B5EF4-FFF2-40B4-BE49-F238E27FC236}">
                <a16:creationId xmlns:a16="http://schemas.microsoft.com/office/drawing/2014/main" id="{59E472DE-66C7-0043-FB82-2BD9398CD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881A6ED-93F4-518C-9B8C-3D9FF898B8C3}"/>
              </a:ext>
            </a:extLst>
          </p:cNvPr>
          <p:cNvSpPr/>
          <p:nvPr/>
        </p:nvSpPr>
        <p:spPr>
          <a:xfrm>
            <a:off x="1024128" y="2072640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"Show me how content is distributed across my tenant"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1" name="Prompt chip">
            <a:extLst>
              <a:ext uri="{FF2B5EF4-FFF2-40B4-BE49-F238E27FC236}">
                <a16:creationId xmlns:a16="http://schemas.microsoft.com/office/drawing/2014/main" id="{1BB7CC72-4879-21D0-4FEF-C6BB83E2B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Prompt accent">
            <a:extLst>
              <a:ext uri="{FF2B5EF4-FFF2-40B4-BE49-F238E27FC236}">
                <a16:creationId xmlns:a16="http://schemas.microsoft.com/office/drawing/2014/main" id="{E318936F-5254-3A5A-DB54-0D6213148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0BAC011-DE27-F8D1-8C41-6ED87D5BE473}"/>
              </a:ext>
            </a:extLst>
          </p:cNvPr>
          <p:cNvSpPr/>
          <p:nvPr/>
        </p:nvSpPr>
        <p:spPr>
          <a:xfrm>
            <a:off x="6571488" y="2072640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"Which sites are overshared and what are their risk levels?"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0" name="Prompt chip">
            <a:extLst>
              <a:ext uri="{FF2B5EF4-FFF2-40B4-BE49-F238E27FC236}">
                <a16:creationId xmlns:a16="http://schemas.microsoft.com/office/drawing/2014/main" id="{AC9AC02D-C86B-F583-F25C-9CC9B79E8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364992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Prompt accent">
            <a:extLst>
              <a:ext uri="{FF2B5EF4-FFF2-40B4-BE49-F238E27FC236}">
                <a16:creationId xmlns:a16="http://schemas.microsoft.com/office/drawing/2014/main" id="{8BA9C0BE-6968-B473-8662-E805E00AF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364992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982A4C8-95BD-ADE8-7BA3-66F73173E7A8}"/>
              </a:ext>
            </a:extLst>
          </p:cNvPr>
          <p:cNvSpPr/>
          <p:nvPr/>
        </p:nvSpPr>
        <p:spPr>
          <a:xfrm>
            <a:off x="1024128" y="3364992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"Identify sites with low activity by department"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8" name="Prompt chip">
            <a:extLst>
              <a:ext uri="{FF2B5EF4-FFF2-40B4-BE49-F238E27FC236}">
                <a16:creationId xmlns:a16="http://schemas.microsoft.com/office/drawing/2014/main" id="{EE838CC6-0051-128D-09CA-2D1DCE6F1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3364992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Prompt accent">
            <a:extLst>
              <a:ext uri="{FF2B5EF4-FFF2-40B4-BE49-F238E27FC236}">
                <a16:creationId xmlns:a16="http://schemas.microsoft.com/office/drawing/2014/main" id="{31BDAE49-D6B1-CF43-033E-1A894358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3364992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ECD3FDD6-0D69-B43A-E568-172DB8E10DA0}"/>
              </a:ext>
            </a:extLst>
          </p:cNvPr>
          <p:cNvSpPr/>
          <p:nvPr/>
        </p:nvSpPr>
        <p:spPr>
          <a:xfrm>
            <a:off x="6571488" y="3364992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"Find inactive sites larger than 100 GB with external sharing enabled"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0" name="Prompt chip">
            <a:extLst>
              <a:ext uri="{FF2B5EF4-FFF2-40B4-BE49-F238E27FC236}">
                <a16:creationId xmlns:a16="http://schemas.microsoft.com/office/drawing/2014/main" id="{293BB4A1-B330-B3AD-6B2D-18602B40A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57344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Prompt accent">
            <a:extLst>
              <a:ext uri="{FF2B5EF4-FFF2-40B4-BE49-F238E27FC236}">
                <a16:creationId xmlns:a16="http://schemas.microsoft.com/office/drawing/2014/main" id="{0D58BBBF-D0CB-0060-378F-B1F40FE0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57344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B8F51ACF-FA6E-71BD-F483-06962AA2B827}"/>
              </a:ext>
            </a:extLst>
          </p:cNvPr>
          <p:cNvSpPr/>
          <p:nvPr/>
        </p:nvSpPr>
        <p:spPr>
          <a:xfrm>
            <a:off x="1024128" y="4657344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strike="sngStrike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"Show me the top 10 agents accessing SharePoint and OneDrive content"</a:t>
            </a:r>
            <a:endParaRPr lang="en-US" sz="1600" strike="sngStrike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52" name="Prompt chip">
            <a:extLst>
              <a:ext uri="{FF2B5EF4-FFF2-40B4-BE49-F238E27FC236}">
                <a16:creationId xmlns:a16="http://schemas.microsoft.com/office/drawing/2014/main" id="{3AD6B005-54FF-38E8-FC8F-F4EBBA97A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4657344"/>
            <a:ext cx="5181600" cy="1072896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Prompt accent">
            <a:extLst>
              <a:ext uri="{FF2B5EF4-FFF2-40B4-BE49-F238E27FC236}">
                <a16:creationId xmlns:a16="http://schemas.microsoft.com/office/drawing/2014/main" id="{9E69B792-D2D8-EEEB-98AD-68AADAFD3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4657344"/>
            <a:ext cx="73152" cy="1072896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A74C2C76-3D43-8996-BAAC-9DF2FE544A02}"/>
              </a:ext>
            </a:extLst>
          </p:cNvPr>
          <p:cNvSpPr/>
          <p:nvPr/>
        </p:nvSpPr>
        <p:spPr>
          <a:xfrm>
            <a:off x="6571488" y="4657344"/>
            <a:ext cx="46329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"What recovery options are available for my sites?"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82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DF0ED-F915-45D3-2F25-53212C589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2FF96C0-3843-10D3-7469-BA41C20C5D72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Skills – Context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19A22012-BEE5-D373-8EFB-4661439F87EB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Contextual Q&amp;A and admin </a:t>
            </a:r>
            <a:r>
              <a:rPr lang="en-US" sz="4000" b="1" dirty="0" err="1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centre</a:t>
            </a: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 recap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5" name="Card background">
            <a:extLst>
              <a:ext uri="{FF2B5EF4-FFF2-40B4-BE49-F238E27FC236}">
                <a16:creationId xmlns:a16="http://schemas.microsoft.com/office/drawing/2014/main" id="{AE2A0CF4-56D8-380C-7A09-63BA67B53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5181600" cy="359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9998A494-4200-BFBF-C317-FE7FF0122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73152" cy="359664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F72E3DF-4777-D925-7711-8D9DBA33DDB0}"/>
              </a:ext>
            </a:extLst>
          </p:cNvPr>
          <p:cNvSpPr/>
          <p:nvPr/>
        </p:nvSpPr>
        <p:spPr>
          <a:xfrm>
            <a:off x="1036320" y="2340864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Q&amp;A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F3516A4-CFCD-18D5-BC9D-432E4EE24454}"/>
              </a:ext>
            </a:extLst>
          </p:cNvPr>
          <p:cNvSpPr/>
          <p:nvPr/>
        </p:nvSpPr>
        <p:spPr>
          <a:xfrm>
            <a:off x="975360" y="2877312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 how-to and conceptual questions inside the admin centre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grounded in Microsoft Learn documentation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the round trip to external documentation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validate recommendations before tenant-wide changes</a:t>
            </a:r>
            <a:endParaRPr lang="en-US" sz="1600" dirty="0"/>
          </a:p>
        </p:txBody>
      </p:sp>
      <p:sp>
        <p:nvSpPr>
          <p:cNvPr id="18" name="Card background">
            <a:extLst>
              <a:ext uri="{FF2B5EF4-FFF2-40B4-BE49-F238E27FC236}">
                <a16:creationId xmlns:a16="http://schemas.microsoft.com/office/drawing/2014/main" id="{526AEBDB-B1F5-65C1-1F43-72FB0F007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5181600" cy="359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Card accent">
            <a:extLst>
              <a:ext uri="{FF2B5EF4-FFF2-40B4-BE49-F238E27FC236}">
                <a16:creationId xmlns:a16="http://schemas.microsoft.com/office/drawing/2014/main" id="{5A82C091-9AF3-5A93-D0A9-43D71E1FE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2072640"/>
            <a:ext cx="73152" cy="3596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22B9338-52EA-6C74-D14D-7B2E758BA9AC}"/>
              </a:ext>
            </a:extLst>
          </p:cNvPr>
          <p:cNvSpPr/>
          <p:nvPr/>
        </p:nvSpPr>
        <p:spPr>
          <a:xfrm>
            <a:off x="6583680" y="2340864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 across the admin centre</a:t>
            </a:r>
            <a:endParaRPr lang="en-US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53350D67-02D0-8729-81AF-881144A69A65}"/>
              </a:ext>
            </a:extLst>
          </p:cNvPr>
          <p:cNvSpPr/>
          <p:nvPr/>
        </p:nvSpPr>
        <p:spPr>
          <a:xfrm>
            <a:off x="6522720" y="2877312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health advisories, incidents and planned maintenance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centre announcements and feature roadmap items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adoption and usage insights</a:t>
            </a:r>
            <a:endParaRPr lang="en-US" sz="16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tenant status view instead of several portals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45660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D546-FF8B-1227-1A3E-AA68CFD0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2">
            <a:extLst>
              <a:ext uri="{FF2B5EF4-FFF2-40B4-BE49-F238E27FC236}">
                <a16:creationId xmlns:a16="http://schemas.microsoft.com/office/drawing/2014/main" id="{A395649C-E3E9-EE6B-23C9-526C411E2F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b="6950"/>
          <a:stretch/>
        </p:blipFill>
        <p:spPr>
          <a:xfrm>
            <a:off x="7471299" y="162051"/>
            <a:ext cx="2901552" cy="2904591"/>
          </a:xfrm>
          <a:prstGeom prst="rect">
            <a:avLst/>
          </a:prstGeom>
        </p:spPr>
      </p:pic>
      <p:pic>
        <p:nvPicPr>
          <p:cNvPr id="7" name="Picture 18" descr="Minion clipart transparent background, Minion transparent background  Transparent FREE for download on WebStockReview 2021">
            <a:extLst>
              <a:ext uri="{FF2B5EF4-FFF2-40B4-BE49-F238E27FC236}">
                <a16:creationId xmlns:a16="http://schemas.microsoft.com/office/drawing/2014/main" id="{0CAD79DF-E101-F38B-BE0A-19DF4EF7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62051"/>
            <a:ext cx="5057590" cy="59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687890F-5557-C2F2-BFCE-EE4730A67745}"/>
              </a:ext>
            </a:extLst>
          </p:cNvPr>
          <p:cNvSpPr txBox="1">
            <a:spLocks/>
          </p:cNvSpPr>
          <p:nvPr/>
        </p:nvSpPr>
        <p:spPr>
          <a:xfrm>
            <a:off x="5675087" y="3360184"/>
            <a:ext cx="6516914" cy="1661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Demo #3</a:t>
            </a:r>
            <a:r>
              <a:rPr lang="en-US" sz="4000" noProof="0" dirty="0">
                <a:solidFill>
                  <a:schemeClr val="bg1"/>
                </a:solidFill>
                <a:latin typeface="Aptos" panose="020B0004020202020204" pitchFamily="34" charset="0"/>
              </a:rPr>
              <a:t>: Contextual Q&amp;A Recap across the Admin Center</a:t>
            </a:r>
          </a:p>
        </p:txBody>
      </p:sp>
    </p:spTree>
    <p:extLst>
      <p:ext uri="{BB962C8B-B14F-4D97-AF65-F5344CB8AC3E}">
        <p14:creationId xmlns:p14="http://schemas.microsoft.com/office/powerpoint/2010/main" val="64907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79EE3-851B-40A5-C2F6-60BA062BF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FA4D501-5BEC-6B72-6350-9D1BF7FD28E8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Skills – Discovery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B44A1C03-33E4-C1AB-A160-5681FF6C6C6E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Multi-variable site search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1D487179-1073-117D-70B4-3AA5F800AA31}"/>
              </a:ext>
            </a:extLst>
          </p:cNvPr>
          <p:cNvSpPr/>
          <p:nvPr/>
        </p:nvSpPr>
        <p:spPr>
          <a:xfrm>
            <a:off x="731520" y="2023872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Complex, multi-criteria sites queries across the tenant, expressed as a sentence instead of a script.</a:t>
            </a:r>
            <a:endParaRPr lang="en-US" sz="18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Card background">
            <a:extLst>
              <a:ext uri="{FF2B5EF4-FFF2-40B4-BE49-F238E27FC236}">
                <a16:creationId xmlns:a16="http://schemas.microsoft.com/office/drawing/2014/main" id="{03812D58-6E01-A700-F39A-23303C41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627888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Card accent">
            <a:extLst>
              <a:ext uri="{FF2B5EF4-FFF2-40B4-BE49-F238E27FC236}">
                <a16:creationId xmlns:a16="http://schemas.microsoft.com/office/drawing/2014/main" id="{23B6A05F-81B1-CFB7-3CB1-05667730A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73152" cy="304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267871-F7D4-C892-06AA-C41CADF30E67}"/>
              </a:ext>
            </a:extLst>
          </p:cNvPr>
          <p:cNvSpPr/>
          <p:nvPr/>
        </p:nvSpPr>
        <p:spPr>
          <a:xfrm>
            <a:off x="1036320" y="316992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kern="0" spc="160" dirty="0">
                <a:solidFill>
                  <a:srgbClr val="0F6CB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IT GIVES YOU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7279450-49A7-866E-68D8-93D5DBF8E946}"/>
              </a:ext>
            </a:extLst>
          </p:cNvPr>
          <p:cNvSpPr/>
          <p:nvPr/>
        </p:nvSpPr>
        <p:spPr>
          <a:xfrm>
            <a:off x="975360" y="3560064"/>
            <a:ext cx="585216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Combine site owner, last activity date, storage, sensitivity and sharing configuration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Natural language is translated into executable search conditions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Built for audits and for shortlisting cleanup or review candidates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6" name="Card background">
            <a:extLst>
              <a:ext uri="{FF2B5EF4-FFF2-40B4-BE49-F238E27FC236}">
                <a16:creationId xmlns:a16="http://schemas.microsoft.com/office/drawing/2014/main" id="{9EB2C033-0467-4C6E-CCEC-2F57BDBA7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408432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0" name="Card accent">
            <a:extLst>
              <a:ext uri="{FF2B5EF4-FFF2-40B4-BE49-F238E27FC236}">
                <a16:creationId xmlns:a16="http://schemas.microsoft.com/office/drawing/2014/main" id="{E2343121-91E8-0830-0EE4-DD0F39577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73152" cy="3048000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E1DFE11-725B-325D-576F-4E7B6EB68EC5}"/>
              </a:ext>
            </a:extLst>
          </p:cNvPr>
          <p:cNvSpPr/>
          <p:nvPr/>
        </p:nvSpPr>
        <p:spPr>
          <a:xfrm>
            <a:off x="7680960" y="316992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kern="0" spc="160" dirty="0">
                <a:solidFill>
                  <a:srgbClr val="7A848F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TRY ASKING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58492D4-EDC6-3E3B-BF42-DE469919BA46}"/>
              </a:ext>
            </a:extLst>
          </p:cNvPr>
          <p:cNvSpPr/>
          <p:nvPr/>
        </p:nvSpPr>
        <p:spPr>
          <a:xfrm>
            <a:off x="7680960" y="3560064"/>
            <a:ext cx="353568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spcAft>
                <a:spcPts val="1067"/>
              </a:spcAft>
            </a:pPr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"Find inactive sites larger than 100 GB with external sharing enabled"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defTabSz="1219170">
              <a:spcAft>
                <a:spcPts val="1067"/>
              </a:spcAft>
            </a:pPr>
            <a:r>
              <a:rPr lang="en-US" sz="16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"Show sites without an owner created from the Team site template"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961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A1B8F-92C2-8092-A538-4CD7EFA7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6FDFACB-5AB1-3F67-ED12-470E19D0D13B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 – Storage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0B860A82-0C8E-9659-2177-C34B361290FF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Storage: understand and </a:t>
            </a:r>
            <a:r>
              <a:rPr lang="en-US" sz="4000" b="1" dirty="0" err="1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optimise</a:t>
            </a: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 consumption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CF10396-6C98-CFA9-9EB4-683BDB7849FF}"/>
              </a:ext>
            </a:extLst>
          </p:cNvPr>
          <p:cNvSpPr/>
          <p:nvPr/>
        </p:nvSpPr>
        <p:spPr>
          <a:xfrm>
            <a:off x="731520" y="2023872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Where your tenant storage actually goes, and what you can safely reclaim.</a:t>
            </a:r>
            <a:endParaRPr lang="en-US" sz="18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4" name="Card background">
            <a:extLst>
              <a:ext uri="{FF2B5EF4-FFF2-40B4-BE49-F238E27FC236}">
                <a16:creationId xmlns:a16="http://schemas.microsoft.com/office/drawing/2014/main" id="{65A37F38-A666-5FFA-70BE-4D39D81A8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627888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6" name="Card accent">
            <a:extLst>
              <a:ext uri="{FF2B5EF4-FFF2-40B4-BE49-F238E27FC236}">
                <a16:creationId xmlns:a16="http://schemas.microsoft.com/office/drawing/2014/main" id="{4C31A743-A9ED-A7B5-8C53-6684101DF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73152" cy="304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209D6E2-64AC-E394-E525-7AEFA7EA69A2}"/>
              </a:ext>
            </a:extLst>
          </p:cNvPr>
          <p:cNvSpPr/>
          <p:nvPr/>
        </p:nvSpPr>
        <p:spPr>
          <a:xfrm>
            <a:off x="1036320" y="316992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kern="0" spc="160" dirty="0">
                <a:solidFill>
                  <a:srgbClr val="0E7C86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IT GIVES YOU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6B3BC5D1-0DB3-7134-91A9-2D48BD02A909}"/>
              </a:ext>
            </a:extLst>
          </p:cNvPr>
          <p:cNvSpPr/>
          <p:nvPr/>
        </p:nvSpPr>
        <p:spPr>
          <a:xfrm>
            <a:off x="975360" y="3560064"/>
            <a:ext cx="585216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Total available storage plus the sites consuming a disproportionate share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Growth trends and anomalies, not just a point-in-time number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Cleanup opportunities: redundant and stale content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Guidance on storage limits and additional capacity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2" name="Card background">
            <a:extLst>
              <a:ext uri="{FF2B5EF4-FFF2-40B4-BE49-F238E27FC236}">
                <a16:creationId xmlns:a16="http://schemas.microsoft.com/office/drawing/2014/main" id="{E3DCABE5-BF3C-EEA4-1E98-3B8D1C829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408432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4" name="Card accent">
            <a:extLst>
              <a:ext uri="{FF2B5EF4-FFF2-40B4-BE49-F238E27FC236}">
                <a16:creationId xmlns:a16="http://schemas.microsoft.com/office/drawing/2014/main" id="{3261F3AD-157F-D957-4E4F-DAD473F8F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73152" cy="3048000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AE58B501-78F7-CEA2-B55F-87B5AB18655D}"/>
              </a:ext>
            </a:extLst>
          </p:cNvPr>
          <p:cNvSpPr/>
          <p:nvPr/>
        </p:nvSpPr>
        <p:spPr>
          <a:xfrm>
            <a:off x="7680960" y="316992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kern="0" spc="160" dirty="0">
                <a:solidFill>
                  <a:srgbClr val="7A848F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TRY ASKING</a:t>
            </a:r>
            <a:endParaRPr lang="en-US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C018595E-0814-E37D-AFB9-887839EA1F8F}"/>
              </a:ext>
            </a:extLst>
          </p:cNvPr>
          <p:cNvSpPr/>
          <p:nvPr/>
        </p:nvSpPr>
        <p:spPr>
          <a:xfrm>
            <a:off x="7680960" y="3560064"/>
            <a:ext cx="353568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"Show me how content is distributed across my tenant"</a:t>
            </a:r>
            <a:endParaRPr lang="en-US" sz="1400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defTabSz="1219170"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"Which sites grew fastest in the last 90 days?"</a:t>
            </a:r>
            <a:endParaRPr lang="en-US" sz="14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81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1B7EA-464E-3AF9-F2A3-F3A4235E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2">
            <a:extLst>
              <a:ext uri="{FF2B5EF4-FFF2-40B4-BE49-F238E27FC236}">
                <a16:creationId xmlns:a16="http://schemas.microsoft.com/office/drawing/2014/main" id="{78497752-99F9-075D-5845-1E4C6061EB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b="6950"/>
          <a:stretch/>
        </p:blipFill>
        <p:spPr>
          <a:xfrm>
            <a:off x="7471299" y="162051"/>
            <a:ext cx="2901552" cy="2904591"/>
          </a:xfrm>
          <a:prstGeom prst="rect">
            <a:avLst/>
          </a:prstGeom>
        </p:spPr>
      </p:pic>
      <p:pic>
        <p:nvPicPr>
          <p:cNvPr id="7" name="Picture 18" descr="Minion clipart transparent background, Minion transparent background  Transparent FREE for download on WebStockReview 2021">
            <a:extLst>
              <a:ext uri="{FF2B5EF4-FFF2-40B4-BE49-F238E27FC236}">
                <a16:creationId xmlns:a16="http://schemas.microsoft.com/office/drawing/2014/main" id="{8C584900-608B-319D-4696-484EF6635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62051"/>
            <a:ext cx="5057590" cy="59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8BEBD79-3250-099E-BB50-A288671CF16B}"/>
              </a:ext>
            </a:extLst>
          </p:cNvPr>
          <p:cNvSpPr txBox="1">
            <a:spLocks/>
          </p:cNvSpPr>
          <p:nvPr/>
        </p:nvSpPr>
        <p:spPr>
          <a:xfrm>
            <a:off x="5675087" y="3360184"/>
            <a:ext cx="6516914" cy="1661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Demo #4</a:t>
            </a:r>
            <a:r>
              <a:rPr lang="en-US" sz="4000" noProof="0" dirty="0">
                <a:solidFill>
                  <a:schemeClr val="bg1"/>
                </a:solidFill>
                <a:latin typeface="Aptos" panose="020B0004020202020204" pitchFamily="34" charset="0"/>
              </a:rPr>
              <a:t>: Multi-variable site search + Storage skills</a:t>
            </a:r>
          </a:p>
        </p:txBody>
      </p:sp>
    </p:spTree>
    <p:extLst>
      <p:ext uri="{BB962C8B-B14F-4D97-AF65-F5344CB8AC3E}">
        <p14:creationId xmlns:p14="http://schemas.microsoft.com/office/powerpoint/2010/main" val="2769752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8B6B4-F6F7-650E-20DA-AF289AFB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DCF4F9-15BD-454A-8DE6-1B22B81BC608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 – Lifecycle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B91E1CDD-D9EB-E09E-F198-B5DF66C6D37F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Lifecycle: active and inactive sites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D987E71-38DD-C0E5-4C61-D798326ED540}"/>
              </a:ext>
            </a:extLst>
          </p:cNvPr>
          <p:cNvSpPr/>
          <p:nvPr/>
        </p:nvSpPr>
        <p:spPr>
          <a:xfrm>
            <a:off x="731520" y="2023872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Site lifecycle management policies in SAM, surfaced conversationally.</a:t>
            </a:r>
            <a:endParaRPr lang="en-US" sz="18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5" name="Card background">
            <a:extLst>
              <a:ext uri="{FF2B5EF4-FFF2-40B4-BE49-F238E27FC236}">
                <a16:creationId xmlns:a16="http://schemas.microsoft.com/office/drawing/2014/main" id="{B0EFAF59-F92C-6D9F-AE1E-5D27FAA6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627888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Card accent">
            <a:extLst>
              <a:ext uri="{FF2B5EF4-FFF2-40B4-BE49-F238E27FC236}">
                <a16:creationId xmlns:a16="http://schemas.microsoft.com/office/drawing/2014/main" id="{3F8EB863-2DB1-F8DF-B6FE-77D58B74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73152" cy="3048000"/>
          </a:xfrm>
          <a:prstGeom prst="rect">
            <a:avLst/>
          </a:prstGeom>
          <a:solidFill>
            <a:srgbClr val="0B2C4D"/>
          </a:solidFill>
          <a:ln w="12700">
            <a:solidFill>
              <a:srgbClr val="0B2C4D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D911894-BCCB-B183-2084-2F8FDE838FFA}"/>
              </a:ext>
            </a:extLst>
          </p:cNvPr>
          <p:cNvSpPr/>
          <p:nvPr/>
        </p:nvSpPr>
        <p:spPr>
          <a:xfrm>
            <a:off x="1036320" y="316992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160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IT GIVES YOU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5CD4570-479A-CDE5-3148-78611C8CB7AE}"/>
              </a:ext>
            </a:extLst>
          </p:cNvPr>
          <p:cNvSpPr/>
          <p:nvPr/>
        </p:nvSpPr>
        <p:spPr>
          <a:xfrm>
            <a:off x="975360" y="3560064"/>
            <a:ext cx="585216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Sites with no recent user activity, and sites with no assigned owner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Sites created from templates with different retention expectations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Feeds inactive sites, ownership and attestation policies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Policies notify and enforce, they never delete sites directly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5" name="Card background">
            <a:extLst>
              <a:ext uri="{FF2B5EF4-FFF2-40B4-BE49-F238E27FC236}">
                <a16:creationId xmlns:a16="http://schemas.microsoft.com/office/drawing/2014/main" id="{DFE219CB-0794-DF15-5AC2-E1600881E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408432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9" name="Card accent">
            <a:extLst>
              <a:ext uri="{FF2B5EF4-FFF2-40B4-BE49-F238E27FC236}">
                <a16:creationId xmlns:a16="http://schemas.microsoft.com/office/drawing/2014/main" id="{64DD85E4-FED5-F114-C227-8DB66482D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73152" cy="3048000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CDB838A-9AB6-DA81-808A-9112885476B2}"/>
              </a:ext>
            </a:extLst>
          </p:cNvPr>
          <p:cNvSpPr/>
          <p:nvPr/>
        </p:nvSpPr>
        <p:spPr>
          <a:xfrm>
            <a:off x="7680960" y="316992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160" dirty="0">
                <a:solidFill>
                  <a:srgbClr val="7A848F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TRY ASKING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91CE4493-1B8B-B14B-7BFA-ACC7AAECAF70}"/>
              </a:ext>
            </a:extLst>
          </p:cNvPr>
          <p:cNvSpPr/>
          <p:nvPr/>
        </p:nvSpPr>
        <p:spPr>
          <a:xfrm>
            <a:off x="7680960" y="3560064"/>
            <a:ext cx="353568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"Identify sites with low activity by department"</a:t>
            </a:r>
            <a:endParaRPr lang="en-US" sz="1400" dirty="0">
              <a:latin typeface="Aptos" panose="020B0004020202020204" pitchFamily="34" charset="0"/>
            </a:endParaRPr>
          </a:p>
          <a:p>
            <a:pPr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"Which sites are candidates for archive this quarter?"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488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CE65B-4551-5F92-0B94-0D926D44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41E07B2-3DAE-23AD-2A1F-E916A29E26A3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Skill –  Permissions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CFBEDDE5-9934-FCC9-E1B1-BECA872C35D7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Permissions and oversharing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708F7160-94C4-236B-D12B-98813BFCCF1C}"/>
              </a:ext>
            </a:extLst>
          </p:cNvPr>
          <p:cNvSpPr/>
          <p:nvPr/>
        </p:nvSpPr>
        <p:spPr>
          <a:xfrm>
            <a:off x="731520" y="2023872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skill most teams adopt first, and the one with the clearest risk reduction.</a:t>
            </a:r>
            <a:endParaRPr lang="en-US" sz="18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Card background">
            <a:extLst>
              <a:ext uri="{FF2B5EF4-FFF2-40B4-BE49-F238E27FC236}">
                <a16:creationId xmlns:a16="http://schemas.microsoft.com/office/drawing/2014/main" id="{5B838419-C31A-DCA7-EACA-388B73942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627888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Card accent">
            <a:extLst>
              <a:ext uri="{FF2B5EF4-FFF2-40B4-BE49-F238E27FC236}">
                <a16:creationId xmlns:a16="http://schemas.microsoft.com/office/drawing/2014/main" id="{B8BBE943-F4CE-4D34-83DD-CDE3B0425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926080"/>
            <a:ext cx="73152" cy="304800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93E8D5C-FAB5-AD65-1E62-F8AF4B8537AD}"/>
              </a:ext>
            </a:extLst>
          </p:cNvPr>
          <p:cNvSpPr/>
          <p:nvPr/>
        </p:nvSpPr>
        <p:spPr>
          <a:xfrm>
            <a:off x="1036320" y="316992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160" dirty="0">
                <a:solidFill>
                  <a:srgbClr val="B26A00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WHAT IT GIVES YOU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6BD0AF-0079-5E3E-5088-9D3D8AD83B2F}"/>
              </a:ext>
            </a:extLst>
          </p:cNvPr>
          <p:cNvSpPr/>
          <p:nvPr/>
        </p:nvSpPr>
        <p:spPr>
          <a:xfrm>
            <a:off x="975360" y="3560064"/>
            <a:ext cx="585216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Detects sites granting broad access groups such as 'Everyone except external users'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Finds inconsistencies between sharing policy and real access patterns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Reports risk levels and recommends remediation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Supports least-privilege reviews and access governance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Card background">
            <a:extLst>
              <a:ext uri="{FF2B5EF4-FFF2-40B4-BE49-F238E27FC236}">
                <a16:creationId xmlns:a16="http://schemas.microsoft.com/office/drawing/2014/main" id="{73A19C97-EB90-D030-7DE9-356B8F5E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408432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Card accent">
            <a:extLst>
              <a:ext uri="{FF2B5EF4-FFF2-40B4-BE49-F238E27FC236}">
                <a16:creationId xmlns:a16="http://schemas.microsoft.com/office/drawing/2014/main" id="{BC2FB161-E886-7CDA-AEEB-EBBCA668C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6160" y="2926080"/>
            <a:ext cx="73152" cy="3048000"/>
          </a:xfrm>
          <a:prstGeom prst="rect">
            <a:avLst/>
          </a:prstGeom>
          <a:solidFill>
            <a:srgbClr val="7A848F"/>
          </a:solidFill>
          <a:ln w="12700">
            <a:solidFill>
              <a:srgbClr val="7A848F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2E470B2-90EF-B3EC-6DD4-4A222665C8B5}"/>
              </a:ext>
            </a:extLst>
          </p:cNvPr>
          <p:cNvSpPr/>
          <p:nvPr/>
        </p:nvSpPr>
        <p:spPr>
          <a:xfrm>
            <a:off x="7680960" y="316992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160" dirty="0">
                <a:solidFill>
                  <a:srgbClr val="7A848F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TRY ASKING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F33CDC38-342F-3C26-7B1A-ECF3B53C74F9}"/>
              </a:ext>
            </a:extLst>
          </p:cNvPr>
          <p:cNvSpPr/>
          <p:nvPr/>
        </p:nvSpPr>
        <p:spPr>
          <a:xfrm>
            <a:off x="7680960" y="3560064"/>
            <a:ext cx="3535680" cy="22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"Which sites are overshared and what are their risk levels?"</a:t>
            </a:r>
            <a:endParaRPr lang="en-US" sz="1400" dirty="0">
              <a:latin typeface="Aptos" panose="020B0004020202020204" pitchFamily="34" charset="0"/>
            </a:endParaRPr>
          </a:p>
          <a:p>
            <a:pPr>
              <a:spcAft>
                <a:spcPts val="1067"/>
              </a:spcAft>
            </a:pPr>
            <a:r>
              <a:rPr lang="en-US" sz="1400" i="1" dirty="0">
                <a:solidFill>
                  <a:srgbClr val="0B2C4D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"Show me the top 10 agents accessing SharePoint and OneDrive content"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48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8915-895D-2BBF-C9D4-9B47C503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2">
            <a:extLst>
              <a:ext uri="{FF2B5EF4-FFF2-40B4-BE49-F238E27FC236}">
                <a16:creationId xmlns:a16="http://schemas.microsoft.com/office/drawing/2014/main" id="{DDDB9BD6-E7D7-5558-92B8-43569DB096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b="6950"/>
          <a:stretch/>
        </p:blipFill>
        <p:spPr>
          <a:xfrm>
            <a:off x="7471299" y="162051"/>
            <a:ext cx="2901552" cy="2904591"/>
          </a:xfrm>
          <a:prstGeom prst="rect">
            <a:avLst/>
          </a:prstGeom>
        </p:spPr>
      </p:pic>
      <p:pic>
        <p:nvPicPr>
          <p:cNvPr id="7" name="Picture 18" descr="Minion clipart transparent background, Minion transparent background  Transparent FREE for download on WebStockReview 2021">
            <a:extLst>
              <a:ext uri="{FF2B5EF4-FFF2-40B4-BE49-F238E27FC236}">
                <a16:creationId xmlns:a16="http://schemas.microsoft.com/office/drawing/2014/main" id="{4197B0E9-3F5D-CC5C-9AEA-70569EA34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62051"/>
            <a:ext cx="5057590" cy="59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196E1969-019C-7FA7-8C60-E44F05119F98}"/>
              </a:ext>
            </a:extLst>
          </p:cNvPr>
          <p:cNvSpPr txBox="1">
            <a:spLocks/>
          </p:cNvSpPr>
          <p:nvPr/>
        </p:nvSpPr>
        <p:spPr>
          <a:xfrm>
            <a:off x="5675087" y="3360184"/>
            <a:ext cx="6516914" cy="1661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Demo #5</a:t>
            </a:r>
            <a:r>
              <a:rPr lang="en-US" sz="4000" noProof="0" dirty="0">
                <a:solidFill>
                  <a:schemeClr val="bg1"/>
                </a:solidFill>
                <a:latin typeface="Aptos" panose="020B0004020202020204" pitchFamily="34" charset="0"/>
              </a:rPr>
              <a:t>: Lifecycle + Permissions skills</a:t>
            </a:r>
          </a:p>
        </p:txBody>
      </p:sp>
    </p:spTree>
    <p:extLst>
      <p:ext uri="{BB962C8B-B14F-4D97-AF65-F5344CB8AC3E}">
        <p14:creationId xmlns:p14="http://schemas.microsoft.com/office/powerpoint/2010/main" val="1884485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5A44A-A252-3503-B702-A9AF3EC8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6">
            <a:extLst>
              <a:ext uri="{FF2B5EF4-FFF2-40B4-BE49-F238E27FC236}">
                <a16:creationId xmlns:a16="http://schemas.microsoft.com/office/drawing/2014/main" id="{88D9EE27-40EF-4F1B-46A1-23681A923261}"/>
              </a:ext>
            </a:extLst>
          </p:cNvPr>
          <p:cNvSpPr txBox="1">
            <a:spLocks/>
          </p:cNvSpPr>
          <p:nvPr/>
        </p:nvSpPr>
        <p:spPr>
          <a:xfrm>
            <a:off x="577554" y="2456798"/>
            <a:ext cx="5581199" cy="140830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Adopting it well</a:t>
            </a:r>
            <a:endParaRPr lang="en-GB" sz="3200" b="1" dirty="0">
              <a:solidFill>
                <a:srgbClr val="FFFFFF"/>
              </a:solidFill>
              <a:latin typeface="Aptos"/>
              <a:ea typeface="Calibri Light" panose="020F0302020204030204"/>
              <a:cs typeface="Segoe UI Semibold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690D90EB-AACD-D410-A34A-09112FD3CF3C}"/>
              </a:ext>
            </a:extLst>
          </p:cNvPr>
          <p:cNvSpPr txBox="1">
            <a:spLocks/>
          </p:cNvSpPr>
          <p:nvPr/>
        </p:nvSpPr>
        <p:spPr>
          <a:xfrm>
            <a:off x="658876" y="4269693"/>
            <a:ext cx="565668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/>
              </a:rPr>
              <a:t>Benefits, honest limitations, and a 90-day plan.</a:t>
            </a:r>
          </a:p>
        </p:txBody>
      </p:sp>
    </p:spTree>
    <p:extLst>
      <p:ext uri="{BB962C8B-B14F-4D97-AF65-F5344CB8AC3E}">
        <p14:creationId xmlns:p14="http://schemas.microsoft.com/office/powerpoint/2010/main" val="706497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63414-B73D-7738-54CD-76D99B68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AA1F146-95D0-1A31-AD70-A33F6E815C4D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An honest view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040F20D6-5307-4B63-64B4-40CCEB385E69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Benefits and limitations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60B5C7F-E25D-F35E-6FBB-E3B12C6A91E7}"/>
              </a:ext>
            </a:extLst>
          </p:cNvPr>
          <p:cNvSpPr/>
          <p:nvPr/>
        </p:nvSpPr>
        <p:spPr>
          <a:xfrm>
            <a:off x="642057" y="6031217"/>
            <a:ext cx="10728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An AI governance assistant, powerful, but only as good as the governance model behind it.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6" name="Shape 4">
            <a:extLst>
              <a:ext uri="{FF2B5EF4-FFF2-40B4-BE49-F238E27FC236}">
                <a16:creationId xmlns:a16="http://schemas.microsoft.com/office/drawing/2014/main" id="{7116F2A7-C19E-DA2D-B79F-57110B88F7B5}"/>
              </a:ext>
            </a:extLst>
          </p:cNvPr>
          <p:cNvSpPr/>
          <p:nvPr/>
        </p:nvSpPr>
        <p:spPr>
          <a:xfrm>
            <a:off x="413457" y="1690865"/>
            <a:ext cx="5376672" cy="4297680"/>
          </a:xfrm>
          <a:prstGeom prst="roundRect">
            <a:avLst>
              <a:gd name="adj" fmla="val 1702"/>
            </a:avLst>
          </a:prstGeom>
          <a:solidFill>
            <a:srgbClr val="F1FAF6"/>
          </a:solidFill>
          <a:ln w="15240">
            <a:solidFill>
              <a:srgbClr val="BFE6D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8" name="Shape 5">
            <a:extLst>
              <a:ext uri="{FF2B5EF4-FFF2-40B4-BE49-F238E27FC236}">
                <a16:creationId xmlns:a16="http://schemas.microsoft.com/office/drawing/2014/main" id="{54C96917-6205-782B-CA01-9A5153797A0F}"/>
              </a:ext>
            </a:extLst>
          </p:cNvPr>
          <p:cNvSpPr/>
          <p:nvPr/>
        </p:nvSpPr>
        <p:spPr>
          <a:xfrm>
            <a:off x="6165033" y="1690865"/>
            <a:ext cx="5376672" cy="4297680"/>
          </a:xfrm>
          <a:prstGeom prst="roundRect">
            <a:avLst>
              <a:gd name="adj" fmla="val 1702"/>
            </a:avLst>
          </a:prstGeom>
          <a:solidFill>
            <a:srgbClr val="FFF8F1"/>
          </a:solidFill>
          <a:ln w="15240">
            <a:solidFill>
              <a:srgbClr val="F3D6B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0" name="Shape 6">
            <a:extLst>
              <a:ext uri="{FF2B5EF4-FFF2-40B4-BE49-F238E27FC236}">
                <a16:creationId xmlns:a16="http://schemas.microsoft.com/office/drawing/2014/main" id="{094C21EA-96E1-1B63-05E6-878CC7D1DED8}"/>
              </a:ext>
            </a:extLst>
          </p:cNvPr>
          <p:cNvSpPr/>
          <p:nvPr/>
        </p:nvSpPr>
        <p:spPr>
          <a:xfrm>
            <a:off x="642057" y="1928609"/>
            <a:ext cx="4919472" cy="530352"/>
          </a:xfrm>
          <a:prstGeom prst="roundRect">
            <a:avLst>
              <a:gd name="adj" fmla="val 10345"/>
            </a:avLst>
          </a:prstGeom>
          <a:solidFill>
            <a:srgbClr val="128A6A"/>
          </a:solidFill>
          <a:ln w="12700">
            <a:solidFill>
              <a:srgbClr val="128A6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32" name="Image 1" descr="preencoded.png">
            <a:extLst>
              <a:ext uri="{FF2B5EF4-FFF2-40B4-BE49-F238E27FC236}">
                <a16:creationId xmlns:a16="http://schemas.microsoft.com/office/drawing/2014/main" id="{FFCABF3C-EDDD-F54F-D3B9-58BB77F5F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657" y="2084057"/>
            <a:ext cx="219456" cy="219456"/>
          </a:xfrm>
          <a:prstGeom prst="rect">
            <a:avLst/>
          </a:prstGeom>
        </p:spPr>
      </p:pic>
      <p:sp>
        <p:nvSpPr>
          <p:cNvPr id="234" name="Text 7">
            <a:extLst>
              <a:ext uri="{FF2B5EF4-FFF2-40B4-BE49-F238E27FC236}">
                <a16:creationId xmlns:a16="http://schemas.microsoft.com/office/drawing/2014/main" id="{40CD39C3-66E9-1B26-7A75-959633466279}"/>
              </a:ext>
            </a:extLst>
          </p:cNvPr>
          <p:cNvSpPr/>
          <p:nvPr/>
        </p:nvSpPr>
        <p:spPr>
          <a:xfrm>
            <a:off x="1227273" y="198347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kern="0" spc="70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KEY BENEFITS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6" name="Shape 8">
            <a:extLst>
              <a:ext uri="{FF2B5EF4-FFF2-40B4-BE49-F238E27FC236}">
                <a16:creationId xmlns:a16="http://schemas.microsoft.com/office/drawing/2014/main" id="{5AC8D792-3F15-A1EB-6601-9BB716E4C62F}"/>
              </a:ext>
            </a:extLst>
          </p:cNvPr>
          <p:cNvSpPr/>
          <p:nvPr/>
        </p:nvSpPr>
        <p:spPr>
          <a:xfrm>
            <a:off x="6393633" y="1928609"/>
            <a:ext cx="4919472" cy="530352"/>
          </a:xfrm>
          <a:prstGeom prst="roundRect">
            <a:avLst>
              <a:gd name="adj" fmla="val 1034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38" name="Image 2" descr="preencoded.png">
            <a:extLst>
              <a:ext uri="{FF2B5EF4-FFF2-40B4-BE49-F238E27FC236}">
                <a16:creationId xmlns:a16="http://schemas.microsoft.com/office/drawing/2014/main" id="{EF8CE7C0-1D4E-324E-B977-1D9F04F2C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233" y="2084057"/>
            <a:ext cx="219456" cy="219456"/>
          </a:xfrm>
          <a:prstGeom prst="rect">
            <a:avLst/>
          </a:prstGeom>
        </p:spPr>
      </p:pic>
      <p:sp>
        <p:nvSpPr>
          <p:cNvPr id="240" name="Text 9">
            <a:extLst>
              <a:ext uri="{FF2B5EF4-FFF2-40B4-BE49-F238E27FC236}">
                <a16:creationId xmlns:a16="http://schemas.microsoft.com/office/drawing/2014/main" id="{CE8A0DF5-570E-FB35-ECE9-E9F0490B215C}"/>
              </a:ext>
            </a:extLst>
          </p:cNvPr>
          <p:cNvSpPr/>
          <p:nvPr/>
        </p:nvSpPr>
        <p:spPr>
          <a:xfrm>
            <a:off x="6978849" y="19834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kern="0" spc="70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KEY LIMITATIONS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2" name="Shape 10">
            <a:extLst>
              <a:ext uri="{FF2B5EF4-FFF2-40B4-BE49-F238E27FC236}">
                <a16:creationId xmlns:a16="http://schemas.microsoft.com/office/drawing/2014/main" id="{C99B0598-CC40-1C57-C0C8-8A87F1A8B67F}"/>
              </a:ext>
            </a:extLst>
          </p:cNvPr>
          <p:cNvSpPr/>
          <p:nvPr/>
        </p:nvSpPr>
        <p:spPr>
          <a:xfrm>
            <a:off x="715209" y="2742425"/>
            <a:ext cx="438912" cy="438912"/>
          </a:xfrm>
          <a:prstGeom prst="ellipse">
            <a:avLst/>
          </a:prstGeom>
          <a:solidFill>
            <a:srgbClr val="128A6A">
              <a:alpha val="16000"/>
            </a:srgbClr>
          </a:solidFill>
          <a:ln w="12700">
            <a:solidFill>
              <a:srgbClr val="128A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44" name="Image 3" descr="preencoded.png">
            <a:extLst>
              <a:ext uri="{FF2B5EF4-FFF2-40B4-BE49-F238E27FC236}">
                <a16:creationId xmlns:a16="http://schemas.microsoft.com/office/drawing/2014/main" id="{F6DC18FC-1D7C-536A-9620-0385EA418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081" y="2861297"/>
            <a:ext cx="201168" cy="201168"/>
          </a:xfrm>
          <a:prstGeom prst="rect">
            <a:avLst/>
          </a:prstGeom>
        </p:spPr>
      </p:pic>
      <p:sp>
        <p:nvSpPr>
          <p:cNvPr id="246" name="Text 11">
            <a:extLst>
              <a:ext uri="{FF2B5EF4-FFF2-40B4-BE49-F238E27FC236}">
                <a16:creationId xmlns:a16="http://schemas.microsoft.com/office/drawing/2014/main" id="{EC41C8CD-CDC6-DF69-5A93-4743E5B4428B}"/>
              </a:ext>
            </a:extLst>
          </p:cNvPr>
          <p:cNvSpPr/>
          <p:nvPr/>
        </p:nvSpPr>
        <p:spPr>
          <a:xfrm>
            <a:off x="1318713" y="269670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Faster governance insights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48" name="Text 12">
            <a:extLst>
              <a:ext uri="{FF2B5EF4-FFF2-40B4-BE49-F238E27FC236}">
                <a16:creationId xmlns:a16="http://schemas.microsoft.com/office/drawing/2014/main" id="{C0001459-B3B3-BEF4-6D83-D60CC83958E6}"/>
              </a:ext>
            </a:extLst>
          </p:cNvPr>
          <p:cNvSpPr/>
          <p:nvPr/>
        </p:nvSpPr>
        <p:spPr>
          <a:xfrm>
            <a:off x="1318713" y="292530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Natural-language analysis reduces manual reporting and investigation.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0" name="Shape 13">
            <a:extLst>
              <a:ext uri="{FF2B5EF4-FFF2-40B4-BE49-F238E27FC236}">
                <a16:creationId xmlns:a16="http://schemas.microsoft.com/office/drawing/2014/main" id="{91A79214-260F-B475-401C-7809402D3364}"/>
              </a:ext>
            </a:extLst>
          </p:cNvPr>
          <p:cNvSpPr/>
          <p:nvPr/>
        </p:nvSpPr>
        <p:spPr>
          <a:xfrm>
            <a:off x="715209" y="3382505"/>
            <a:ext cx="438912" cy="438912"/>
          </a:xfrm>
          <a:prstGeom prst="ellipse">
            <a:avLst/>
          </a:prstGeom>
          <a:solidFill>
            <a:srgbClr val="128A6A">
              <a:alpha val="16000"/>
            </a:srgbClr>
          </a:solidFill>
          <a:ln w="12700">
            <a:solidFill>
              <a:srgbClr val="128A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52" name="Image 4" descr="preencoded.png">
            <a:extLst>
              <a:ext uri="{FF2B5EF4-FFF2-40B4-BE49-F238E27FC236}">
                <a16:creationId xmlns:a16="http://schemas.microsoft.com/office/drawing/2014/main" id="{ECB199D8-6227-A56F-7D1C-EDEAC3FE9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081" y="3501377"/>
            <a:ext cx="201168" cy="201168"/>
          </a:xfrm>
          <a:prstGeom prst="rect">
            <a:avLst/>
          </a:prstGeom>
        </p:spPr>
      </p:pic>
      <p:sp>
        <p:nvSpPr>
          <p:cNvPr id="254" name="Text 14">
            <a:extLst>
              <a:ext uri="{FF2B5EF4-FFF2-40B4-BE49-F238E27FC236}">
                <a16:creationId xmlns:a16="http://schemas.microsoft.com/office/drawing/2014/main" id="{7E0A290D-3215-82F4-5681-866928092473}"/>
              </a:ext>
            </a:extLst>
          </p:cNvPr>
          <p:cNvSpPr/>
          <p:nvPr/>
        </p:nvSpPr>
        <p:spPr>
          <a:xfrm>
            <a:off x="1318713" y="333678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Reduced exposure risk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6" name="Text 15">
            <a:extLst>
              <a:ext uri="{FF2B5EF4-FFF2-40B4-BE49-F238E27FC236}">
                <a16:creationId xmlns:a16="http://schemas.microsoft.com/office/drawing/2014/main" id="{32F3B9C4-2D05-1BA4-8140-46915AFA3BBE}"/>
              </a:ext>
            </a:extLst>
          </p:cNvPr>
          <p:cNvSpPr/>
          <p:nvPr/>
        </p:nvSpPr>
        <p:spPr>
          <a:xfrm>
            <a:off x="1318713" y="356538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Surfaces oversharing, excessive access and risky content conditions.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8" name="Shape 16">
            <a:extLst>
              <a:ext uri="{FF2B5EF4-FFF2-40B4-BE49-F238E27FC236}">
                <a16:creationId xmlns:a16="http://schemas.microsoft.com/office/drawing/2014/main" id="{0B154557-2534-84EB-2E05-64424E04FDD0}"/>
              </a:ext>
            </a:extLst>
          </p:cNvPr>
          <p:cNvSpPr/>
          <p:nvPr/>
        </p:nvSpPr>
        <p:spPr>
          <a:xfrm>
            <a:off x="715209" y="4022585"/>
            <a:ext cx="438912" cy="438912"/>
          </a:xfrm>
          <a:prstGeom prst="ellipse">
            <a:avLst/>
          </a:prstGeom>
          <a:solidFill>
            <a:srgbClr val="128A6A">
              <a:alpha val="16000"/>
            </a:srgbClr>
          </a:solidFill>
          <a:ln w="12700">
            <a:solidFill>
              <a:srgbClr val="128A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60" name="Image 5" descr="preencoded.png">
            <a:extLst>
              <a:ext uri="{FF2B5EF4-FFF2-40B4-BE49-F238E27FC236}">
                <a16:creationId xmlns:a16="http://schemas.microsoft.com/office/drawing/2014/main" id="{8B57CF6B-7B77-F18D-6558-7F824077C3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081" y="4141457"/>
            <a:ext cx="201168" cy="201168"/>
          </a:xfrm>
          <a:prstGeom prst="rect">
            <a:avLst/>
          </a:prstGeom>
        </p:spPr>
      </p:pic>
      <p:sp>
        <p:nvSpPr>
          <p:cNvPr id="262" name="Text 17">
            <a:extLst>
              <a:ext uri="{FF2B5EF4-FFF2-40B4-BE49-F238E27FC236}">
                <a16:creationId xmlns:a16="http://schemas.microsoft.com/office/drawing/2014/main" id="{9BACB7C9-D6F7-D580-D393-61521390653F}"/>
              </a:ext>
            </a:extLst>
          </p:cNvPr>
          <p:cNvSpPr/>
          <p:nvPr/>
        </p:nvSpPr>
        <p:spPr>
          <a:xfrm>
            <a:off x="1318713" y="397686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Improved Copilot readiness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4" name="Text 18">
            <a:extLst>
              <a:ext uri="{FF2B5EF4-FFF2-40B4-BE49-F238E27FC236}">
                <a16:creationId xmlns:a16="http://schemas.microsoft.com/office/drawing/2014/main" id="{67B74F69-5163-1232-62E9-A4C0D456CC90}"/>
              </a:ext>
            </a:extLst>
          </p:cNvPr>
          <p:cNvSpPr/>
          <p:nvPr/>
        </p:nvSpPr>
        <p:spPr>
          <a:xfrm>
            <a:off x="1318713" y="420546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Helps make enterprise content more secure, relevant and governed.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6" name="Shape 19">
            <a:extLst>
              <a:ext uri="{FF2B5EF4-FFF2-40B4-BE49-F238E27FC236}">
                <a16:creationId xmlns:a16="http://schemas.microsoft.com/office/drawing/2014/main" id="{6C922D27-8CAA-E59A-58AF-37CCE8CAF21C}"/>
              </a:ext>
            </a:extLst>
          </p:cNvPr>
          <p:cNvSpPr/>
          <p:nvPr/>
        </p:nvSpPr>
        <p:spPr>
          <a:xfrm>
            <a:off x="715209" y="4662665"/>
            <a:ext cx="438912" cy="438912"/>
          </a:xfrm>
          <a:prstGeom prst="ellipse">
            <a:avLst/>
          </a:prstGeom>
          <a:solidFill>
            <a:srgbClr val="128A6A">
              <a:alpha val="16000"/>
            </a:srgbClr>
          </a:solidFill>
          <a:ln w="12700">
            <a:solidFill>
              <a:srgbClr val="128A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68" name="Image 6" descr="preencoded.png">
            <a:extLst>
              <a:ext uri="{FF2B5EF4-FFF2-40B4-BE49-F238E27FC236}">
                <a16:creationId xmlns:a16="http://schemas.microsoft.com/office/drawing/2014/main" id="{BB991EB5-9A6C-0025-4C6F-C6176B312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081" y="4781537"/>
            <a:ext cx="201168" cy="201168"/>
          </a:xfrm>
          <a:prstGeom prst="rect">
            <a:avLst/>
          </a:prstGeom>
        </p:spPr>
      </p:pic>
      <p:sp>
        <p:nvSpPr>
          <p:cNvPr id="270" name="Text 20">
            <a:extLst>
              <a:ext uri="{FF2B5EF4-FFF2-40B4-BE49-F238E27FC236}">
                <a16:creationId xmlns:a16="http://schemas.microsoft.com/office/drawing/2014/main" id="{36176A5B-E9CA-2401-2B4B-807AD2E0F67F}"/>
              </a:ext>
            </a:extLst>
          </p:cNvPr>
          <p:cNvSpPr/>
          <p:nvPr/>
        </p:nvSpPr>
        <p:spPr>
          <a:xfrm>
            <a:off x="1318713" y="461694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Better lifecycle control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72" name="Text 21">
            <a:extLst>
              <a:ext uri="{FF2B5EF4-FFF2-40B4-BE49-F238E27FC236}">
                <a16:creationId xmlns:a16="http://schemas.microsoft.com/office/drawing/2014/main" id="{B1B871A8-EB0B-0A2C-A1B1-0355C6C41078}"/>
              </a:ext>
            </a:extLst>
          </p:cNvPr>
          <p:cNvSpPr/>
          <p:nvPr/>
        </p:nvSpPr>
        <p:spPr>
          <a:xfrm>
            <a:off x="1318713" y="484554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Supports ownership, attestation, inactive-site review and archiving.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74" name="Shape 22">
            <a:extLst>
              <a:ext uri="{FF2B5EF4-FFF2-40B4-BE49-F238E27FC236}">
                <a16:creationId xmlns:a16="http://schemas.microsoft.com/office/drawing/2014/main" id="{11957192-FC10-1BD5-EFA9-4E29326BD386}"/>
              </a:ext>
            </a:extLst>
          </p:cNvPr>
          <p:cNvSpPr/>
          <p:nvPr/>
        </p:nvSpPr>
        <p:spPr>
          <a:xfrm>
            <a:off x="715209" y="5302745"/>
            <a:ext cx="438912" cy="438912"/>
          </a:xfrm>
          <a:prstGeom prst="ellipse">
            <a:avLst/>
          </a:prstGeom>
          <a:solidFill>
            <a:srgbClr val="128A6A">
              <a:alpha val="16000"/>
            </a:srgbClr>
          </a:solidFill>
          <a:ln w="12700">
            <a:solidFill>
              <a:srgbClr val="128A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76" name="Image 7" descr="preencoded.png">
            <a:extLst>
              <a:ext uri="{FF2B5EF4-FFF2-40B4-BE49-F238E27FC236}">
                <a16:creationId xmlns:a16="http://schemas.microsoft.com/office/drawing/2014/main" id="{EDFDB936-1E5E-E706-AB58-7394DCB63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081" y="5421617"/>
            <a:ext cx="201168" cy="201168"/>
          </a:xfrm>
          <a:prstGeom prst="rect">
            <a:avLst/>
          </a:prstGeom>
        </p:spPr>
      </p:pic>
      <p:sp>
        <p:nvSpPr>
          <p:cNvPr id="278" name="Text 23">
            <a:extLst>
              <a:ext uri="{FF2B5EF4-FFF2-40B4-BE49-F238E27FC236}">
                <a16:creationId xmlns:a16="http://schemas.microsoft.com/office/drawing/2014/main" id="{C026FD5E-7F66-AE4E-B6CA-AFE33A3515AE}"/>
              </a:ext>
            </a:extLst>
          </p:cNvPr>
          <p:cNvSpPr/>
          <p:nvPr/>
        </p:nvSpPr>
        <p:spPr>
          <a:xfrm>
            <a:off x="1318713" y="525702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Greater admin efficiency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0" name="Text 24">
            <a:extLst>
              <a:ext uri="{FF2B5EF4-FFF2-40B4-BE49-F238E27FC236}">
                <a16:creationId xmlns:a16="http://schemas.microsoft.com/office/drawing/2014/main" id="{41D3208E-E897-0743-E47B-943A4AB1CD2D}"/>
              </a:ext>
            </a:extLst>
          </p:cNvPr>
          <p:cNvSpPr/>
          <p:nvPr/>
        </p:nvSpPr>
        <p:spPr>
          <a:xfrm>
            <a:off x="1318713" y="548562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Accelerates the path from tenant assessment to recommended action.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2" name="Shape 25">
            <a:extLst>
              <a:ext uri="{FF2B5EF4-FFF2-40B4-BE49-F238E27FC236}">
                <a16:creationId xmlns:a16="http://schemas.microsoft.com/office/drawing/2014/main" id="{3B792ED2-440C-9A34-AB71-648D1524A89A}"/>
              </a:ext>
            </a:extLst>
          </p:cNvPr>
          <p:cNvSpPr/>
          <p:nvPr/>
        </p:nvSpPr>
        <p:spPr>
          <a:xfrm>
            <a:off x="6466785" y="2742425"/>
            <a:ext cx="438912" cy="438912"/>
          </a:xfrm>
          <a:prstGeom prst="ellipse">
            <a:avLst/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84" name="Image 8" descr="preencoded.png">
            <a:extLst>
              <a:ext uri="{FF2B5EF4-FFF2-40B4-BE49-F238E27FC236}">
                <a16:creationId xmlns:a16="http://schemas.microsoft.com/office/drawing/2014/main" id="{3CB8FB5B-5105-3632-1013-093899389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5657" y="2861297"/>
            <a:ext cx="201168" cy="201168"/>
          </a:xfrm>
          <a:prstGeom prst="rect">
            <a:avLst/>
          </a:prstGeom>
        </p:spPr>
      </p:pic>
      <p:sp>
        <p:nvSpPr>
          <p:cNvPr id="286" name="Text 26">
            <a:extLst>
              <a:ext uri="{FF2B5EF4-FFF2-40B4-BE49-F238E27FC236}">
                <a16:creationId xmlns:a16="http://schemas.microsoft.com/office/drawing/2014/main" id="{B836495C-848E-364D-141C-23DCB0C3D3B0}"/>
              </a:ext>
            </a:extLst>
          </p:cNvPr>
          <p:cNvSpPr/>
          <p:nvPr/>
        </p:nvSpPr>
        <p:spPr>
          <a:xfrm>
            <a:off x="7070289" y="269670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SAM licensing required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8" name="Text 27">
            <a:extLst>
              <a:ext uri="{FF2B5EF4-FFF2-40B4-BE49-F238E27FC236}">
                <a16:creationId xmlns:a16="http://schemas.microsoft.com/office/drawing/2014/main" id="{0196204B-C1D5-7D61-3DF0-28657B4F8713}"/>
              </a:ext>
            </a:extLst>
          </p:cNvPr>
          <p:cNvSpPr/>
          <p:nvPr/>
        </p:nvSpPr>
        <p:spPr>
          <a:xfrm>
            <a:off x="7070289" y="292530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SharePoint Advanced Management is a prerequisite for use.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0" name="Shape 28">
            <a:extLst>
              <a:ext uri="{FF2B5EF4-FFF2-40B4-BE49-F238E27FC236}">
                <a16:creationId xmlns:a16="http://schemas.microsoft.com/office/drawing/2014/main" id="{08687A13-71AB-2A86-C2BF-C287C434BBBF}"/>
              </a:ext>
            </a:extLst>
          </p:cNvPr>
          <p:cNvSpPr/>
          <p:nvPr/>
        </p:nvSpPr>
        <p:spPr>
          <a:xfrm>
            <a:off x="6466785" y="3382505"/>
            <a:ext cx="438912" cy="438912"/>
          </a:xfrm>
          <a:prstGeom prst="ellipse">
            <a:avLst/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92" name="Image 9" descr="preencoded.png">
            <a:extLst>
              <a:ext uri="{FF2B5EF4-FFF2-40B4-BE49-F238E27FC236}">
                <a16:creationId xmlns:a16="http://schemas.microsoft.com/office/drawing/2014/main" id="{37B55050-FD26-F901-F360-142EA08C7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85657" y="3501377"/>
            <a:ext cx="201168" cy="201168"/>
          </a:xfrm>
          <a:prstGeom prst="rect">
            <a:avLst/>
          </a:prstGeom>
        </p:spPr>
      </p:pic>
      <p:sp>
        <p:nvSpPr>
          <p:cNvPr id="294" name="Text 29">
            <a:extLst>
              <a:ext uri="{FF2B5EF4-FFF2-40B4-BE49-F238E27FC236}">
                <a16:creationId xmlns:a16="http://schemas.microsoft.com/office/drawing/2014/main" id="{B5A07433-4902-78E4-1D8A-F13C8CA014C9}"/>
              </a:ext>
            </a:extLst>
          </p:cNvPr>
          <p:cNvSpPr/>
          <p:nvPr/>
        </p:nvSpPr>
        <p:spPr>
          <a:xfrm>
            <a:off x="7070289" y="333678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Privileged role required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96" name="Text 30">
            <a:extLst>
              <a:ext uri="{FF2B5EF4-FFF2-40B4-BE49-F238E27FC236}">
                <a16:creationId xmlns:a16="http://schemas.microsoft.com/office/drawing/2014/main" id="{8436ECAB-868E-1370-B82A-E6C61537ED4D}"/>
              </a:ext>
            </a:extLst>
          </p:cNvPr>
          <p:cNvSpPr/>
          <p:nvPr/>
        </p:nvSpPr>
        <p:spPr>
          <a:xfrm>
            <a:off x="7070289" y="356538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Access is limited to the SAM Administrator role in Microsoft Entra ID.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8" name="Shape 31">
            <a:extLst>
              <a:ext uri="{FF2B5EF4-FFF2-40B4-BE49-F238E27FC236}">
                <a16:creationId xmlns:a16="http://schemas.microsoft.com/office/drawing/2014/main" id="{31FBE821-2959-DC31-20AD-517611CD3D4A}"/>
              </a:ext>
            </a:extLst>
          </p:cNvPr>
          <p:cNvSpPr/>
          <p:nvPr/>
        </p:nvSpPr>
        <p:spPr>
          <a:xfrm>
            <a:off x="6466785" y="4022585"/>
            <a:ext cx="438912" cy="438912"/>
          </a:xfrm>
          <a:prstGeom prst="ellipse">
            <a:avLst/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00" name="Image 10" descr="preencoded.png">
            <a:extLst>
              <a:ext uri="{FF2B5EF4-FFF2-40B4-BE49-F238E27FC236}">
                <a16:creationId xmlns:a16="http://schemas.microsoft.com/office/drawing/2014/main" id="{48AEE03E-58AE-1460-4DD2-4BE2CC61D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5657" y="4141457"/>
            <a:ext cx="201168" cy="201168"/>
          </a:xfrm>
          <a:prstGeom prst="rect">
            <a:avLst/>
          </a:prstGeom>
        </p:spPr>
      </p:pic>
      <p:sp>
        <p:nvSpPr>
          <p:cNvPr id="302" name="Text 32">
            <a:extLst>
              <a:ext uri="{FF2B5EF4-FFF2-40B4-BE49-F238E27FC236}">
                <a16:creationId xmlns:a16="http://schemas.microsoft.com/office/drawing/2014/main" id="{B1DB5F15-0830-68FE-1A2C-0FB73F5A5A95}"/>
              </a:ext>
            </a:extLst>
          </p:cNvPr>
          <p:cNvSpPr/>
          <p:nvPr/>
        </p:nvSpPr>
        <p:spPr>
          <a:xfrm>
            <a:off x="7070289" y="397686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Human oversight remains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4" name="Text 33">
            <a:extLst>
              <a:ext uri="{FF2B5EF4-FFF2-40B4-BE49-F238E27FC236}">
                <a16:creationId xmlns:a16="http://schemas.microsoft.com/office/drawing/2014/main" id="{48AC4581-3411-A028-8330-F9A4D85ACEA2}"/>
              </a:ext>
            </a:extLst>
          </p:cNvPr>
          <p:cNvSpPr/>
          <p:nvPr/>
        </p:nvSpPr>
        <p:spPr>
          <a:xfrm>
            <a:off x="7070289" y="420546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Administrators must validate findings and approve remediation decisions.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6" name="Shape 34">
            <a:extLst>
              <a:ext uri="{FF2B5EF4-FFF2-40B4-BE49-F238E27FC236}">
                <a16:creationId xmlns:a16="http://schemas.microsoft.com/office/drawing/2014/main" id="{7150BF01-BC58-22E7-4496-73F14AEA8DDF}"/>
              </a:ext>
            </a:extLst>
          </p:cNvPr>
          <p:cNvSpPr/>
          <p:nvPr/>
        </p:nvSpPr>
        <p:spPr>
          <a:xfrm>
            <a:off x="6466785" y="4662665"/>
            <a:ext cx="438912" cy="438912"/>
          </a:xfrm>
          <a:prstGeom prst="ellipse">
            <a:avLst/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08" name="Image 11" descr="preencoded.png">
            <a:extLst>
              <a:ext uri="{FF2B5EF4-FFF2-40B4-BE49-F238E27FC236}">
                <a16:creationId xmlns:a16="http://schemas.microsoft.com/office/drawing/2014/main" id="{3046F022-9103-0E33-0C2C-2EDD28D02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85657" y="4781537"/>
            <a:ext cx="201168" cy="201168"/>
          </a:xfrm>
          <a:prstGeom prst="rect">
            <a:avLst/>
          </a:prstGeom>
        </p:spPr>
      </p:pic>
      <p:sp>
        <p:nvSpPr>
          <p:cNvPr id="310" name="Text 35">
            <a:extLst>
              <a:ext uri="{FF2B5EF4-FFF2-40B4-BE49-F238E27FC236}">
                <a16:creationId xmlns:a16="http://schemas.microsoft.com/office/drawing/2014/main" id="{B7C2B1BA-D107-7A7D-3414-55C06522EAD4}"/>
              </a:ext>
            </a:extLst>
          </p:cNvPr>
          <p:cNvSpPr/>
          <p:nvPr/>
        </p:nvSpPr>
        <p:spPr>
          <a:xfrm>
            <a:off x="7070289" y="461694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Focused workload scope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2" name="Text 36">
            <a:extLst>
              <a:ext uri="{FF2B5EF4-FFF2-40B4-BE49-F238E27FC236}">
                <a16:creationId xmlns:a16="http://schemas.microsoft.com/office/drawing/2014/main" id="{142D4F9A-648E-BF90-7D8C-DCC4561F0C4B}"/>
              </a:ext>
            </a:extLst>
          </p:cNvPr>
          <p:cNvSpPr/>
          <p:nvPr/>
        </p:nvSpPr>
        <p:spPr>
          <a:xfrm>
            <a:off x="7070289" y="484554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The experience targets SharePoint and OneDrive content governance.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4" name="Shape 37">
            <a:extLst>
              <a:ext uri="{FF2B5EF4-FFF2-40B4-BE49-F238E27FC236}">
                <a16:creationId xmlns:a16="http://schemas.microsoft.com/office/drawing/2014/main" id="{6B3C548D-E986-45D1-08D4-0517560082B5}"/>
              </a:ext>
            </a:extLst>
          </p:cNvPr>
          <p:cNvSpPr/>
          <p:nvPr/>
        </p:nvSpPr>
        <p:spPr>
          <a:xfrm>
            <a:off x="6466785" y="5302745"/>
            <a:ext cx="438912" cy="438912"/>
          </a:xfrm>
          <a:prstGeom prst="ellipse">
            <a:avLst/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16" name="Image 12" descr="preencoded.png">
            <a:extLst>
              <a:ext uri="{FF2B5EF4-FFF2-40B4-BE49-F238E27FC236}">
                <a16:creationId xmlns:a16="http://schemas.microsoft.com/office/drawing/2014/main" id="{25084E4C-7A09-2D2B-5995-46924E86C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85657" y="5421617"/>
            <a:ext cx="201168" cy="201168"/>
          </a:xfrm>
          <a:prstGeom prst="rect">
            <a:avLst/>
          </a:prstGeom>
        </p:spPr>
      </p:pic>
      <p:sp>
        <p:nvSpPr>
          <p:cNvPr id="318" name="Text 38">
            <a:extLst>
              <a:ext uri="{FF2B5EF4-FFF2-40B4-BE49-F238E27FC236}">
                <a16:creationId xmlns:a16="http://schemas.microsoft.com/office/drawing/2014/main" id="{506AE751-30C4-1379-58BC-D4397CAAE02A}"/>
              </a:ext>
            </a:extLst>
          </p:cNvPr>
          <p:cNvSpPr/>
          <p:nvPr/>
        </p:nvSpPr>
        <p:spPr>
          <a:xfrm>
            <a:off x="7070289" y="525702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Not fully autonomous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20" name="Text 39">
            <a:extLst>
              <a:ext uri="{FF2B5EF4-FFF2-40B4-BE49-F238E27FC236}">
                <a16:creationId xmlns:a16="http://schemas.microsoft.com/office/drawing/2014/main" id="{B5982305-EEF6-64BF-0EF4-6CF610A3CD50}"/>
              </a:ext>
            </a:extLst>
          </p:cNvPr>
          <p:cNvSpPr/>
          <p:nvPr/>
        </p:nvSpPr>
        <p:spPr>
          <a:xfrm>
            <a:off x="7070289" y="5485625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It identifies and guides, but governance processes still drive execution.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2" name="Shape 40">
            <a:extLst>
              <a:ext uri="{FF2B5EF4-FFF2-40B4-BE49-F238E27FC236}">
                <a16:creationId xmlns:a16="http://schemas.microsoft.com/office/drawing/2014/main" id="{3F805855-5665-F8CE-07D6-78A715E3FC22}"/>
              </a:ext>
            </a:extLst>
          </p:cNvPr>
          <p:cNvSpPr/>
          <p:nvPr/>
        </p:nvSpPr>
        <p:spPr>
          <a:xfrm>
            <a:off x="5808417" y="3501377"/>
            <a:ext cx="338328" cy="338328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4" name="Text 41">
            <a:extLst>
              <a:ext uri="{FF2B5EF4-FFF2-40B4-BE49-F238E27FC236}">
                <a16:creationId xmlns:a16="http://schemas.microsoft.com/office/drawing/2014/main" id="{1E8B42BC-FE3C-C7AC-D1DE-7EB02AD80534}"/>
              </a:ext>
            </a:extLst>
          </p:cNvPr>
          <p:cNvSpPr/>
          <p:nvPr/>
        </p:nvSpPr>
        <p:spPr>
          <a:xfrm>
            <a:off x="5840421" y="3560813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VS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923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0977C-C413-EDCC-83BD-5BDB261C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F83E02A-38BD-0186-C2C7-C34381739E08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Plan for these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8D388746-EC91-71DC-ADF7-3B6F8F619EE3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Risks and implementation considerations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6" name="Card background">
            <a:extLst>
              <a:ext uri="{FF2B5EF4-FFF2-40B4-BE49-F238E27FC236}">
                <a16:creationId xmlns:a16="http://schemas.microsoft.com/office/drawing/2014/main" id="{B9BE724C-7D04-D9A6-5FFF-415A79356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97024"/>
            <a:ext cx="3413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Card accent">
            <a:extLst>
              <a:ext uri="{FF2B5EF4-FFF2-40B4-BE49-F238E27FC236}">
                <a16:creationId xmlns:a16="http://schemas.microsoft.com/office/drawing/2014/main" id="{A243F03A-89A8-5708-9737-582D94A00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97024"/>
            <a:ext cx="73152" cy="365760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C1CFE3F-7AC9-C194-B041-83BAA9EC4145}"/>
              </a:ext>
            </a:extLst>
          </p:cNvPr>
          <p:cNvSpPr/>
          <p:nvPr/>
        </p:nvSpPr>
        <p:spPr>
          <a:xfrm>
            <a:off x="1024128" y="23408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Risks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70EE11F-DDA4-5635-A7C3-7EFC841F457F}"/>
              </a:ext>
            </a:extLst>
          </p:cNvPr>
          <p:cNvSpPr/>
          <p:nvPr/>
        </p:nvSpPr>
        <p:spPr>
          <a:xfrm>
            <a:off x="975360" y="2852928"/>
            <a:ext cx="298704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Identified risk persists until remediation is done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Low governance maturity weakens recommendations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 false sense of readiness, not a substitute for a security programme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Card background">
            <a:extLst>
              <a:ext uri="{FF2B5EF4-FFF2-40B4-BE49-F238E27FC236}">
                <a16:creationId xmlns:a16="http://schemas.microsoft.com/office/drawing/2014/main" id="{555AC634-51A1-6255-AB53-98E4CFD1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97024"/>
            <a:ext cx="3413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Card accent">
            <a:extLst>
              <a:ext uri="{FF2B5EF4-FFF2-40B4-BE49-F238E27FC236}">
                <a16:creationId xmlns:a16="http://schemas.microsoft.com/office/drawing/2014/main" id="{634771C5-C530-3491-47F3-6C4C41326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097024"/>
            <a:ext cx="73152" cy="36576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DD4D598-9F32-61E2-301A-C11D7989DDF1}"/>
              </a:ext>
            </a:extLst>
          </p:cNvPr>
          <p:cNvSpPr/>
          <p:nvPr/>
        </p:nvSpPr>
        <p:spPr>
          <a:xfrm>
            <a:off x="4681728" y="23408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Considerations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23A2CBD-B92A-0D52-2C61-3320ED0B882E}"/>
              </a:ext>
            </a:extLst>
          </p:cNvPr>
          <p:cNvSpPr/>
          <p:nvPr/>
        </p:nvSpPr>
        <p:spPr>
          <a:xfrm>
            <a:off x="4632960" y="2852928"/>
            <a:ext cx="298704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Establish governance ownership and escalation paths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Start with oversharing, inactive sites and Copilot readiness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Align findings with access reviews and retention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Card background">
            <a:extLst>
              <a:ext uri="{FF2B5EF4-FFF2-40B4-BE49-F238E27FC236}">
                <a16:creationId xmlns:a16="http://schemas.microsoft.com/office/drawing/2014/main" id="{B6FF7B2C-FDE8-1A6B-E061-824E347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97024"/>
            <a:ext cx="3413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Card accent">
            <a:extLst>
              <a:ext uri="{FF2B5EF4-FFF2-40B4-BE49-F238E27FC236}">
                <a16:creationId xmlns:a16="http://schemas.microsoft.com/office/drawing/2014/main" id="{F79223E2-7F96-9364-E6B4-37A994E10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097024"/>
            <a:ext cx="73152" cy="3657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7EFBFDC-263A-3E6A-246F-33BD3394BEF7}"/>
              </a:ext>
            </a:extLst>
          </p:cNvPr>
          <p:cNvSpPr/>
          <p:nvPr/>
        </p:nvSpPr>
        <p:spPr>
          <a:xfrm>
            <a:off x="8339328" y="23408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Success metrics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7A3DA4-B19A-9E91-D888-6A793675F0EB}"/>
              </a:ext>
            </a:extLst>
          </p:cNvPr>
          <p:cNvSpPr/>
          <p:nvPr/>
        </p:nvSpPr>
        <p:spPr>
          <a:xfrm>
            <a:off x="8290560" y="2852928"/>
            <a:ext cx="298704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Oversharing remediation rate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Inactive sites archived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Reduction in excessive permissions</a:t>
            </a:r>
            <a:endParaRPr lang="en-US" sz="1600" dirty="0">
              <a:latin typeface="Aptos" panose="020B0004020202020204" pitchFamily="34" charset="0"/>
            </a:endParaRPr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Time from detection to remediation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E2DBBEB-2527-CDA3-4ED6-216C4410B3A5}"/>
              </a:ext>
            </a:extLst>
          </p:cNvPr>
          <p:cNvSpPr/>
          <p:nvPr/>
        </p:nvSpPr>
        <p:spPr>
          <a:xfrm>
            <a:off x="731520" y="5900928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Use the agent inside recurring governance </a:t>
            </a:r>
            <a:r>
              <a:rPr lang="en-US" i="1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reviews, not </a:t>
            </a:r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as a one-off assessment.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89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A59CF-EF62-46F3-EAE7-5F770975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4DE6658-04E2-8C7D-7D4A-0BACDC64638B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At least three things to remember</a:t>
            </a:r>
          </a:p>
          <a:p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E9C82BD9-F6DE-26B2-47CB-48DDC198A7AA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Key takeaways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7" name="Card background">
            <a:extLst>
              <a:ext uri="{FF2B5EF4-FFF2-40B4-BE49-F238E27FC236}">
                <a16:creationId xmlns:a16="http://schemas.microsoft.com/office/drawing/2014/main" id="{D82D0E3F-2116-DCC7-6EF3-80E61C03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107289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Card accent">
            <a:extLst>
              <a:ext uri="{FF2B5EF4-FFF2-40B4-BE49-F238E27FC236}">
                <a16:creationId xmlns:a16="http://schemas.microsoft.com/office/drawing/2014/main" id="{404A510C-430C-630C-8B09-CBFE0634D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072640"/>
            <a:ext cx="73152" cy="12192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9D7A7D8-0C5C-FDBD-FC71-E3287CD751B7}"/>
              </a:ext>
            </a:extLst>
          </p:cNvPr>
          <p:cNvSpPr/>
          <p:nvPr/>
        </p:nvSpPr>
        <p:spPr>
          <a:xfrm>
            <a:off x="1036320" y="231648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E0BB367-027B-0E97-637D-656F8CB9BD42}"/>
              </a:ext>
            </a:extLst>
          </p:cNvPr>
          <p:cNvSpPr/>
          <p:nvPr/>
        </p:nvSpPr>
        <p:spPr>
          <a:xfrm>
            <a:off x="1767840" y="2243328"/>
            <a:ext cx="9265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Governance became conversational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7580769-20EF-3483-5547-EA980DD6F6FD}"/>
              </a:ext>
            </a:extLst>
          </p:cNvPr>
          <p:cNvSpPr/>
          <p:nvPr/>
        </p:nvSpPr>
        <p:spPr>
          <a:xfrm>
            <a:off x="1767840" y="2633472"/>
            <a:ext cx="926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analysis you used to script is now a question. Your time moves to decisions and configuration changes.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Card background">
            <a:extLst>
              <a:ext uri="{FF2B5EF4-FFF2-40B4-BE49-F238E27FC236}">
                <a16:creationId xmlns:a16="http://schemas.microsoft.com/office/drawing/2014/main" id="{1C45A744-34BD-2F4F-6143-9543F53C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74720"/>
            <a:ext cx="107289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Card accent">
            <a:extLst>
              <a:ext uri="{FF2B5EF4-FFF2-40B4-BE49-F238E27FC236}">
                <a16:creationId xmlns:a16="http://schemas.microsoft.com/office/drawing/2014/main" id="{691579A9-66F9-0658-29E7-217DD56D5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74720"/>
            <a:ext cx="73152" cy="12192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76D9610-36A3-70A4-C5C0-BEB2FCCC7C2A}"/>
              </a:ext>
            </a:extLst>
          </p:cNvPr>
          <p:cNvSpPr/>
          <p:nvPr/>
        </p:nvSpPr>
        <p:spPr>
          <a:xfrm>
            <a:off x="1036320" y="371856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4C4BDBD-3254-7961-9B8F-6F104D6B11BB}"/>
              </a:ext>
            </a:extLst>
          </p:cNvPr>
          <p:cNvSpPr/>
          <p:nvPr/>
        </p:nvSpPr>
        <p:spPr>
          <a:xfrm>
            <a:off x="1767840" y="3645408"/>
            <a:ext cx="9265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SAM is the foundation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CF159C78-0EC3-0D04-657E-D4ABC99395BF}"/>
              </a:ext>
            </a:extLst>
          </p:cNvPr>
          <p:cNvSpPr/>
          <p:nvPr/>
        </p:nvSpPr>
        <p:spPr>
          <a:xfrm>
            <a:off x="1767840" y="4035552"/>
            <a:ext cx="926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agent is only as capable as the SharePoint Advanced Management data and policies underneath it.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Card background">
            <a:extLst>
              <a:ext uri="{FF2B5EF4-FFF2-40B4-BE49-F238E27FC236}">
                <a16:creationId xmlns:a16="http://schemas.microsoft.com/office/drawing/2014/main" id="{5652CF07-C935-70AA-0924-B7A3DD98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76800"/>
            <a:ext cx="107289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B2C4D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Card accent">
            <a:extLst>
              <a:ext uri="{FF2B5EF4-FFF2-40B4-BE49-F238E27FC236}">
                <a16:creationId xmlns:a16="http://schemas.microsoft.com/office/drawing/2014/main" id="{594643AB-1F7C-350E-9E75-5F638526D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76800"/>
            <a:ext cx="73152" cy="12192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856D7D7-D3E2-6BD4-7EC2-9D448CDC1111}"/>
              </a:ext>
            </a:extLst>
          </p:cNvPr>
          <p:cNvSpPr/>
          <p:nvPr/>
        </p:nvSpPr>
        <p:spPr>
          <a:xfrm>
            <a:off x="1036320" y="512064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6CBD"/>
                </a:solidFill>
                <a:latin typeface="Aptos" panose="020B0004020202020204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CB51FC6A-35E1-4E34-1829-37302F2AFA1F}"/>
              </a:ext>
            </a:extLst>
          </p:cNvPr>
          <p:cNvSpPr/>
          <p:nvPr/>
        </p:nvSpPr>
        <p:spPr>
          <a:xfrm>
            <a:off x="1767840" y="5047488"/>
            <a:ext cx="9265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1D21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You are still the administrator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3CCE38EE-96E2-F4F1-A2A4-38174B5A5648}"/>
              </a:ext>
            </a:extLst>
          </p:cNvPr>
          <p:cNvSpPr/>
          <p:nvPr/>
        </p:nvSpPr>
        <p:spPr>
          <a:xfrm>
            <a:off x="1767840" y="5437632"/>
            <a:ext cx="926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44C55"/>
                </a:solidFill>
                <a:latin typeface="Aptos" panose="020B0004020202020204" pitchFamily="34" charset="0"/>
                <a:ea typeface="Segoe UI" pitchFamily="34" charset="-122"/>
                <a:cs typeface="Segoe UI" pitchFamily="34" charset="-120"/>
              </a:rPr>
              <a:t>The agent finds, prioritises and recommends. Approving and acting remains a human responsibility.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78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25B9F-658C-E078-CA68-3DA51851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C5F9128-0F75-AF7E-5A81-C5E3E9BE08E4}"/>
              </a:ext>
            </a:extLst>
          </p:cNvPr>
          <p:cNvSpPr txBox="1">
            <a:spLocks/>
          </p:cNvSpPr>
          <p:nvPr/>
        </p:nvSpPr>
        <p:spPr>
          <a:xfrm>
            <a:off x="525234" y="1334478"/>
            <a:ext cx="914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  <a:latin typeface="Aptos"/>
                <a:cs typeface="Segoe UI Semibold" panose="020B0702040204020203" pitchFamily="34" charset="0"/>
              </a:rPr>
              <a:t>The best way to stay up to date with Microsoft 365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417B2AB-E2DD-1E5D-9383-9E3412ACBF13}"/>
              </a:ext>
            </a:extLst>
          </p:cNvPr>
          <p:cNvSpPr txBox="1">
            <a:spLocks/>
          </p:cNvSpPr>
          <p:nvPr/>
        </p:nvSpPr>
        <p:spPr>
          <a:xfrm>
            <a:off x="525234" y="2076025"/>
            <a:ext cx="6030549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hlinkClick r:id="rId2"/>
              </a:rPr>
              <a:t>Microsoft 365 for IT Pros (2027 Edition). The Ultimate Guide to Managing Microsoft 365.</a:t>
            </a:r>
            <a:endParaRPr lang="en-US" sz="1800" dirty="0">
              <a:solidFill>
                <a:srgbClr val="FFFFFF"/>
              </a:solidFill>
              <a:latin typeface="Aptos"/>
              <a:cs typeface="Segoe UI Semibold" panose="020B0702040204020203" pitchFamily="34" charset="0"/>
            </a:endParaRPr>
          </a:p>
          <a:p>
            <a:endParaRPr lang="en-US" sz="20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A77E2729-3544-3E9A-F8CE-C252F6A46CCE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4000" b="1" dirty="0">
                <a:solidFill>
                  <a:srgbClr val="FFFFFF"/>
                </a:solidFill>
                <a:latin typeface="Aptos"/>
                <a:ea typeface="+mn-ea"/>
                <a:cs typeface="Segoe UI Semibold"/>
              </a:rPr>
              <a:t>Microsoft 365 for IT Pros</a:t>
            </a:r>
            <a:endParaRPr lang="en-GB" sz="1600" b="1" dirty="0">
              <a:solidFill>
                <a:srgbClr val="FFFFFF"/>
              </a:solidFill>
              <a:latin typeface="Aptos"/>
              <a:ea typeface="+mn-ea"/>
              <a:cs typeface="Segoe UI Semibold"/>
            </a:endParaRPr>
          </a:p>
        </p:txBody>
      </p:sp>
      <p:pic>
        <p:nvPicPr>
          <p:cNvPr id="3" name="Picture 2" descr="Microsoft 365 for IT Pros (2027 Edition). The Ultimate Guide to Managing Microsoft 365.">
            <a:extLst>
              <a:ext uri="{FF2B5EF4-FFF2-40B4-BE49-F238E27FC236}">
                <a16:creationId xmlns:a16="http://schemas.microsoft.com/office/drawing/2014/main" id="{FD1B2DD3-FF97-DA5F-E367-E234ADDEC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799" y="562956"/>
            <a:ext cx="3974711" cy="5620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6917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30BD8CB-AA06-3CE5-45B7-62D1161F28DF}"/>
              </a:ext>
            </a:extLst>
          </p:cNvPr>
          <p:cNvSpPr txBox="1">
            <a:spLocks/>
          </p:cNvSpPr>
          <p:nvPr/>
        </p:nvSpPr>
        <p:spPr>
          <a:xfrm>
            <a:off x="413457" y="281072"/>
            <a:ext cx="8633561" cy="9658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89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4000" b="1" dirty="0">
                <a:solidFill>
                  <a:schemeClr val="bg1"/>
                </a:solidFill>
                <a:latin typeface="Aptos"/>
                <a:ea typeface="+mn-ea"/>
                <a:cs typeface="Segoe UI Semibold"/>
              </a:rPr>
              <a:t>Rate my session &amp; Calls to Action</a:t>
            </a:r>
            <a:endParaRPr lang="en-GB" sz="1600" b="1" dirty="0">
              <a:solidFill>
                <a:schemeClr val="bg1"/>
              </a:solidFill>
              <a:latin typeface="Aptos"/>
              <a:ea typeface="+mn-ea"/>
              <a:cs typeface="Segoe UI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F3BE9E-7AC2-CB13-0D29-D3332827E1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88263" y="4711929"/>
            <a:ext cx="5281003" cy="737300"/>
          </a:xfrm>
          <a:prstGeom prst="rect">
            <a:avLst/>
          </a:prstGeom>
          <a:solidFill>
            <a:srgbClr val="152D6C"/>
          </a:solidFill>
          <a:ln>
            <a:solidFill>
              <a:srgbClr val="152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Aptos"/>
                <a:ea typeface="+mn-lt"/>
                <a:cs typeface="Segoe UI Semi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https://copilotbuzz.com/feedback</a:t>
            </a:r>
            <a:r>
              <a:rPr lang="en-GB" sz="2400" b="1" dirty="0">
                <a:solidFill>
                  <a:schemeClr val="bg1"/>
                </a:solidFill>
                <a:latin typeface="Aptos"/>
                <a:ea typeface="+mn-lt"/>
                <a:cs typeface="Segoe UI Semibold"/>
              </a:rPr>
              <a:t> </a:t>
            </a:r>
            <a:endParaRPr lang="en-US" sz="2400" b="1" dirty="0">
              <a:solidFill>
                <a:schemeClr val="bg1"/>
              </a:solidFill>
              <a:latin typeface="Aptos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20574211"/>
      </p:ext>
    </p:extLst>
  </p:cSld>
  <p:clrMapOvr>
    <a:masterClrMapping/>
  </p:clrMapOvr>
</p:sld>
</file>

<file path=ppt/theme/theme1.xml><?xml version="1.0" encoding="utf-8"?>
<a:theme xmlns:a="http://schemas.openxmlformats.org/drawingml/2006/main" name="AI-Native Workplace Summit 202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webextensions/webextension1.xml><?xml version="1.0" encoding="utf-8"?>
<we:webextension xmlns:we="http://schemas.microsoft.com/office/webextensions/webextension/2010/11" id="{5F0D83D1-1F94-4EA5-92D8-8DDFDA1B1CAA}">
  <we:reference id="fa000000210" version="1.0.0.0" store="en-US" storeType="sdxcatalog"/>
  <we:alternateReferences/>
  <we:properties>
    <we:property name="contentBlockHtml" value="&quot;&lt;!DOCTYPE html&gt;\n&lt;html lang=\&quot;en\&quot;&gt;\n&lt;head&gt;\n&lt;meta charset=\&quot;utf-8\&quot; /&gt;\n&lt;title&gt;SharePoint Admin Agent \u2014 building blocks&lt;/title&gt;\n&lt;style&gt;\n*,*::before,*::after{box-sizing:border-box}\nhtml,body,.viewport{width:100%;height:100%;margin:0;overflow:hidden}\n.viewport{position:fixed;inset:0;background:#07080C}\n:root{\n  --space-xs:clamp(3px,min(.4vw,.71vh),8px);\n  --space-sm:clamp(5px,min(.7vw,1.24vh),12px);\n  --space-md:clamp(8px,min(1.2vw,2.13vh),20px);\n  --space-lg:clamp(12px,min(2vw,3.56vh),32px);\n  --ink:#EEF2F8;\n  --muted:#93A0B4;\n  --line:rgba(140,160,190,.22);\n  --blue:#4F8DF7;\n  --blue-soft:#7FB0FF;\n  --amber:#FF9A3C;\n  --mono:\&quot;JetBrains Mono\&quot;,\&quot;Cascadia Mono\&quot;,Consolas,\&quot;SFMono-Regular\&quot;,monospace;\n  --sans:\&quot;Segoe UI Variable Display\&quot;,\&quot;Segoe UI\&quot;,Inter,system-ui,sans-serif;\n}\n.page{\n  width:100%;min-width:0;min-height:100%;max-width:none;margin:0;\n  padding:var(--space-lg);transform-origin:top left;\n  color:var(--ink);font-family:var(--sans);\n  background:\n    radial-gradient(120% 90% at 8% -10%,rgba(79,141,247,.20),transparent 60%),\n    radial-gradient(90% 80% at 100% 110%,rgba(255,154,60,.10),transparent 60%),\n    #07080C;\n  display:flex;flex-direction:column;gap:var(--space-md);\n}\nbody,button{font-size:clamp(9px,min(1.3vw,2.31vh),18px);line-height:1.35}\nh1{font-size:clamp(16px,min(3.4vw,6.2vh),46px);line-height:1;margin:0;font-weight:800;letter-spacing:-.02em}\nh2{font-size:clamp(14px,min(2.1vw,3.9vh),30px);line-height:1.1;margin:0;font-weight:800;letter-spacing:-.01em}\nsmall,.caption{font-size:clamp(8px,min(.9vw,1.6vh),13px)}\n.eyebrow{font-family:var(--mono);text-transform:uppercase;letter-spacing:.22em;color:var(--blue-soft);font-size:clamp(8px,min(.85vw,1.5vh),12px)}\nheader{flex:none;display:flex;align-items:flex-end;justify-content:space-between;gap:var(--space-md);border-bottom:1px solid var(--line);padding-bottom:var(--space-sm)}\nheader .hint{font-family:var(--mono);color:var(--muted);text-align:right}\n.layout{flex:1;display:grid;grid-template-columns:minmax(0,1.35fr) minmax(0,1fr);gap:var(--space-lg);align-items:stretch;min-height:0}\n.stack{display:flex;flex-direction:column;gap:var(--space-sm);min-width:0;min-height:0;justify-content:center}\n.layer{\n  position:relative;display:grid;grid-template-columns:auto minmax(0,1fr) auto;align-items:center;\n  gap:var(--space-md);padding:var(--space-md);min-width:0;\n  border:1px solid var(--line);border-left:6px solid rgba(79,141,247,.55);\n  border-radius:12px;cursor:pointer;text-align:left;color:inherit;font:inherit;\n  background:linear-gradient(115deg,rgba(24,32,48,.95),rgba(12,16,26,.9));\n  box-shadow:0 10px 26px rgba(0,0,0,.45);\n  transition:transform .28s cubic-bezier(.2,.7,.3,1),border-color .28s,box-shadow .28s,background .28s;\n}\n.layer:hover{transform:translateX(6px)}\n.layer.active{\n  border-left-color:var(--amber);\n  border-color:rgba(255,154,60,.45);\n  background:linear-gradient(115deg,rgba(38,30,22,.95),rgba(16,18,26,.92));\n  box-shadow:0 16px 40px rgba(255,154,60,.18),0 10px 26px rgba(0,0,0,.5);\n  transform:translateX(10px);\n}\n.layer .idx{font-family:var(--mono);color:var(--muted);font-size:clamp(8px,min(.9vw,1.6vh),13px)}\n.layer.active .idx{color:var(--amber)}\n.layer .name{font-weight:700;font-size:clamp(11px,min(1.5vw,2.7vh),21px);overflow-wrap:break-word}\n.layer .sub{color:var(--muted);overflow-wrap:break-word}\n.layer .glyph{width:clamp(22px,min(2.6vw,4.6vh),40px);height:clamp(22px,min(2.6vw,4.6vh),40px);flex:none}\n.connector{height:var(--space-sm);display:flex;align-items:center;justify-content:flex-start;padding-left:calc(var(--space-md));color:var(--muted);font-family:var(--mono);font-size:clamp(8px,min(.8vw,1.4vh),12px)}\n.detail{\n  min-width:0;min-height:0;display:flex;flex-direction:column;gap:var(--space-sm);\n  padding:var(--space-lg);border-radius:16px;border:1px solid var(--line);\n  background:linear-gradient(160deg,rgba(20,27,42,.96),rgba(9,11,18,.96));\n  box-shadow:inset 0 1px 0 rgba(255,255,255,.05),0 18px 44px rgba(0,0,0,.5);\n}\n.detail .kicker{font-family:var(--mono);letter-spacing:.18em;text-transform:uppercase;color:var(--amber);font-size:clamp(8px,min(.85vw,1.5vh),12px)}\n.detail p{margin:0;color:#C9D3E3;overflow-wrap:break-word}\n.detail .rule{height:2px;background:linear-gradient(90deg,var(--amber),rgba(255,154,60,0));border-radius:2px;flex:none}\n.facts{list-style:none;margin:0;padding:0;display:flex;flex-direction:column;gap:var(--space-sm)}\n.facts li{display:grid;grid-template-columns:auto minmax(0,1fr);gap:var(--space-sm);color:#C9D3E3;overflow-wrap:break-word}\n.facts li span.b{color:var(--blue-soft);font-family:var(--mono)}\n.limit{margin-top:auto;padding-top:var(--space-sm);border-top:1px dashed var(--line);color:var(--muted)}\nfooter{flex:none;color:var(--muted);border-top:1px solid var(--line);padding-top:var(--space-sm);overflow-wrap:break-word}\nfooter b{color:var(--ink);font-weight:700}\n@media (max-width:800px),(max-aspect-ratio:4/3){.layout{grid-template-columns:1fr}}\n@media (max-height:600px){.page,.detail,.layer{padding:var(--space-sm)}.layout,.stack{gap:var(--space-sm)}body{line-height:1.2}}\n&lt;/style&gt;\n&lt;/head&gt;\n&lt;body&gt;\n&lt;div class=\&quot;viewport\&quot;&gt;\n  &lt;main class=\&quot;page\&quot;&gt;\n    &lt;header&gt;\n      &lt;div&gt;\n        &lt;div class=\&quot;eyebrow\&quot;&gt;SharePoint Admin Agent \u00b7 building blocks&lt;/div&gt;\n        &lt;h1&gt;How the pieces fit together&lt;/h1&gt;\n      &lt;/div&gt;\n      &lt;div class=\&quot;hint caption\&quot;&gt;click a layer \u2192&lt;/div&gt;\n    &lt;/header&gt;\n\n    &lt;div class=\&quot;layout\&quot;&gt;\n      &lt;div class=\&quot;stack\&quot; id=\&quot;stack\&quot;&gt;&lt;/div&gt;\n      &lt;section class=\&quot;detail\&quot; id=\&quot;detail\&quot; aria-live=\&quot;polite\&quot;&gt;&lt;/section&gt;\n    &lt;/div&gt;\n\n    &lt;footer&gt;\n      &lt;b&gt;No PowerShell required&lt;/b&gt; \u2014 but the agent only sees what SAM is licensed and configured to collect.\n    &lt;/footer&gt;\n  &lt;/main&gt;\n&lt;/div&gt;\n\n&lt;script&gt;\nvar LAYERS = [\n  {\n    idx:\&quot;01\&quot;, name:\&quot;You ask in natural language\&quot;,\n    sub:\&quot;Copilot app \u00b7 SharePoint admin center \u00b7 Microsoft Teams\&quot;,\n    kicker:\&quot;The entry point\&quot;,\n    body:\&quot;Administrators ask tenant questions the way they would ask a colleague \u2014 no cmdlets, no report parameters, no export-and-pivot cycle.\&quot;,\n    facts:[[\&quot;ask\&quot;,\&quot;\u201cWhich sites have no owner?\u201d\&quot;],[\&quot;ask\&quot;,\&quot;\u201cShow storage growth this quarter\u201d\&quot;],[\&quot;ask\&quot;,\&quot;\u201cWhere is Everyone except external users used?\u201d\&quot;]],\n    limit:\&quot;Entry surface only \u2014 the answer quality comes from the layers below.\&quot;,\n    glyph:'&lt;path d=\&quot;M6 8h28a4 4 0 0 1 4 4v14a4 4 0 0 1-4 4H18l-9 7v-7H6a4 4 0 0 1-4-4V12a4 4 0 0 1 4-4z\&quot;/&gt;'\n  },\n  {\n    idx:\&quot;02\&quot;, name:\&quot;SharePoint Admin Agent\&quot;,\n    sub:\&quot;Admin skills interpret the question and run the analysis\&quot;,\n    kicker:\&quot;The reasoning layer\&quot;,\n    body:\&quot;Copilot admin skills translate the question into the right analysis, run it across the tenant, and propose guided remediation instead of a raw report.\&quot;,\n    facts:[[\&quot;skill\&quot;,\&quot;search &amp; discovery\&quot;],[\&quot;skill\&quot;,\&quot;storage and lifecycle\&quot;],[\&quot;skill\&quot;,\&quot;permissions &amp; oversharing\&quot;],[\&quot;skill\&quot;,\&quot;tenant Q&amp;A\&quot;]],\n    limit:\&quot;Interprets and acts \u2014 it does not collect the signals itself.\&quot;,\n    glyph:'&lt;path d=\&quot;M20 3l4 6 7-1-1 7 6 4-6 4 1 7-7-1-4 6-4-6-7 1 1-7-6-4 6-4-1-7 7 1z\&quot;/&gt;&lt;circle cx=\&quot;20\&quot; cy=\&quot;20\&quot; r=\&quot;5\&quot; fill=\&quot;#07080C\&quot;/&gt;'\n  },\n  {\n    idx:\&quot;03\&quot;, name:\&quot;SharePoint Advanced Management\&quot;,\n    sub:\&quot;Governance signals: activity, storage, permissions, policies\&quot;,\n    kicker:\&quot;The signal layer\&quot;,\n    body:\&quot;SAM supplies the governance telemetry the agent reasons over \u2014 site activity, storage, permission state and applied policy across the tenant.\&quot;,\n    facts:[[\&quot;signal\&quot;,\&quot;site activity &amp; inactivity\&quot;],[\&quot;signal\&quot;,\&quot;storage consumption\&quot;],[\&quot;signal\&quot;,\&quot;permission and sharing state\&quot;],[\&quot;signal\&quot;,\&quot;applied policy &amp; configuration\&quot;]],\n    limit:\&quot;Licensing and configuration decide what is collected \u2014 and therefore what the agent can see.\&quot;,\n    glyph:'&lt;path d=\&quot;M20 3l15 6v11c0 9-6.3 15.4-15 18C11.3 35.4 5 29 5 20V9l15-6z\&quot;/&gt;&lt;path d=\&quot;M13 20l5 5 10-10\&quot; stroke=\&quot;#07080C\&quot; stroke-width=\&quot;3.5\&quot; fill=\&quot;none\&quot; stroke-linecap=\&quot;round\&quot; stroke-linejoin=\&quot;round\&quot;/&gt;'\n  },\n  {\n    idx:\&quot;04\&quot;, name:\&quot;SharePoint &amp; OneDrive tenant\&quot;,\n    sub:\&quot;Sites, content, configuration and access\&quot;,\n    kicker:\&quot;The ground truth\&quot;,\n    body:\&quot;The estate itself: every site, library, file, permission and setting. This is what gets measured \u2014 and where guided remediation lands.\&quot;,\n    facts:[[\&quot;scope\&quot;,\&quot;SharePoint sites &amp; libraries\&quot;],[\&quot;scope\&quot;,\&quot;OneDrive for Business\&quot;],[\&quot;scope\&quot;,\&quot;sharing links &amp; access\&quot;],[\&quot;scope\&quot;,\&quot;tenant configuration\&quot;]],\n    limit:\&quot;Changes here are real \u2014 remediation is guided, but it edits your live tenant.\&quot;,\n    glyph:'&lt;ellipse cx=\&quot;20\&quot; cy=\&quot;9\&quot; rx=\&quot;15\&quot; ry=\&quot;6\&quot;/&gt;&lt;path d=\&quot;M5 9v10c0 3.3 6.7 6 15 6s15-2.7 15-6V9\&quot;/&gt;&lt;path d=\&quot;M5 19v10c0 3.3 6.7 6 15 6s15-2.7 15-6V19\&quot;/&gt;'\n  }\n];\n\nvar stack = document.getElementById(\&quot;stack\&quot;);\nvar detail = document.getElementById(\&quot;detail\&quot;);\nvar current = 0;\n\nfunction esc(s){ return String(s).replace(/&amp;/g,\&quot;&amp;amp;\&quot;).replace(/&lt;/g,\&quot;&amp;lt;\&quot;).replace(/&gt;/g,\&quot;&amp;gt;\&quot;); }\n\nfunction svg(path){\n  return '&lt;svg class=\&quot;glyph\&quot; viewBox=\&quot;0 0 40 40\&quot; aria-hidden=\&quot;true\&quot; fill=\&quot;currentColor\&quot; stroke=\&quot;currentColor\&quot; stroke-width=\&quot;0\&quot;&gt;'+path+'&lt;/svg&gt;';\n}\n\nLAYERS.forEach(function(l,i){\n  var b = document.createElement(\&quot;button\&quot;);\n  b.className = \&quot;layer\&quot; + (i === 0 ? \&quot; active\&quot; : \&quot;\&quot;);\n  b.type = \&quot;button\&quot;;\n  b.setAttribute(\&quot;aria-pressed\&quot;, i === 0 ? \&quot;true\&quot; : \&quot;false\&quot;);\n  b.innerHTML =\n    '&lt;span class=\&quot;idx\&quot;&gt;'+l.idx+'&lt;/span&gt;'+\n    '&lt;span&gt;&lt;span class=\&quot;name\&quot;&gt;'+esc(l.name)+'&lt;/span&gt;&lt;br&gt;&lt;span class=\&quot;sub caption\&quot;&gt;'+esc(l.sub)+'&lt;/span&gt;&lt;/span&gt;'+\n    '&lt;span style=\&quot;color:'+(i===0?\&quot;var(--amber)\&quot;:\&quot;var(--blue)\&quot;)+'\&quot;&gt;'+svg(l.glyph)+'&lt;/span&gt;';\n  b.addEventListener(\&quot;click\&quot;, function(){ select(i); });\n  stack.appendChild(b);\n  if (i &lt; LAYERS.length - 1){\n    var c = document.createElement(\&quot;div\&quot;);\n    c.className = \&quot;connector\&quot;;\n    c.textContent = \&quot;\u2193\&quot;;\n    stack.appendChild(c);\n  }\n});\n\nfunction select(i){\n  current = i;\n  var buttons = stack.querySelectorAll(\&quot;.layer\&quot;);\n  for (var k = 0; k &lt; buttons.length; k++){\n    var on = (k === i);\n    buttons[k].classList.toggle(\&quot;active\&quot;, on);\n    buttons[k].setAttribute(\&quot;aria-pressed\&quot;, on ? \&quot;true\&quot; : \&quot;false\&quot;);\n    var holder = buttons[k].lastElementChild;\n    if (holder) holder.style.color = on ? \&quot;var(--amber)\&quot; : \&quot;var(--blue)\&quot;;\n  }\n  var l = LAYERS[i];\n  detail.innerHTML =\n    '&lt;div class=\&quot;kicker\&quot;&gt;'+esc(l.kicker)+'&lt;/div&gt;'+\n    '&lt;h2&gt;'+esc(l.name)+'&lt;/h2&gt;'+\n    '&lt;div class=\&quot;rule\&quot;&gt;&lt;/div&gt;'+\n    '&lt;p&gt;'+esc(l.body)+'&lt;/p&gt;'+\n    '&lt;ul class=\&quot;facts\&quot;&gt;'+ l.facts.map(function(f){\n        return '&lt;li&gt;&lt;span class=\&quot;b\&quot;&gt;'+esc(f[0])+'&lt;/span&gt;&lt;span&gt;'+esc(f[1])+'&lt;/span&gt;&lt;/li&gt;';\n      }).join(\&quot;\&quot;) +'&lt;/ul&gt;'+\n    '&lt;div class=\&quot;limit caption\&quot;&gt;'+esc(l.limit)+'&lt;/div&gt;';\n  scheduleFit();\n}\n\nvar viewport = document.querySelector(\&quot;.viewport\&quot;);\nvar page = document.querySelector(\&quot;.page\&quot;);\n\nfunction contentHeight(){\n  var pageTop = page.getBoundingClientRect().top;\n  var bottom = pageTop + page.scrollHeight;\n  page.querySelectorAll(\&quot;*\&quot;).forEach(function(el){\n    bottom = Math.max(bottom, el.getBoundingClientRect().bottom);\n  });\n  return bottom - pageTop;\n}\n\nfunction fitPage(){\n  var vw = viewport.clientWidth, vh = viewport.clientHeight;\n  page.style.transform = \&quot;none\&quot;;\n  page.style.width = vw + \&quot;px\&quot;;\n  if (contentHeight() &lt;= vh){ page.style.width = \&quot;100%\&quot;; return; }\n  var low = 0.2, high = 1;\n  for (var i = 0; i &lt; 12; i++){\n    var scale = (low + high) / 2;\n    page.style.width = (vw / scale) + \&quot;px\&quot;;\n    if (contentHeight() * scale &lt;= vh){ low = scale; } else { high = scale; }\n  }\n  page.style.width = (vw / low) + \&quot;px\&quot;;\n  page.style.transform = \&quot;scale(\&quot; + low + \&quot;)\&quot;;\n}\n\nvar fitFrame;\nfunction scheduleFit(){\n  cancelAnimationFrame(fitFrame);\n  fitFrame = requestAnimationFrame(fitPage);\n}\n\nnew ResizeObserver(scheduleFit).observe(viewport);\nwindow.addEventListener(\&quot;load\&quot;, scheduleFit);\nwindow.addEventListener(\&quot;resize\&quot;, scheduleFit);\nif (document.fonts &amp;&amp; document.fonts.ready) document.fonts.ready.then(scheduleFit);\n\nselect(0);\n&lt;/script&gt;\n&lt;/body&gt;\n&lt;/html&gt;\n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F5015936A774786EE10AFC1780003" ma:contentTypeVersion="7" ma:contentTypeDescription="Create a new document." ma:contentTypeScope="" ma:versionID="69c6c26a767f7429bb908fcbfa85aad3">
  <xsd:schema xmlns:xsd="http://www.w3.org/2001/XMLSchema" xmlns:xs="http://www.w3.org/2001/XMLSchema" xmlns:p="http://schemas.microsoft.com/office/2006/metadata/properties" xmlns:ns2="01da5ab9-4550-4d45-a292-8fe2bb9499d2" targetNamespace="http://schemas.microsoft.com/office/2006/metadata/properties" ma:root="true" ma:fieldsID="bda88f50b1e01d259e0ac66173fb0655" ns2:_="">
    <xsd:import namespace="01da5ab9-4550-4d45-a292-8fe2bb9499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da5ab9-4550-4d45-a292-8fe2bb9499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9F850B-C67D-4307-B7F8-27B0A57883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6C96B7-39A1-44C3-84CE-9EE3F4F955CE}">
  <ds:schemaRefs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01da5ab9-4550-4d45-a292-8fe2bb9499d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8B843CF-6A44-41B3-AEC5-3C0B3A0B8C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da5ab9-4550-4d45-a292-8fe2bb949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baefc31-36f9-42da-b277-f80c8aa8307d}" enabled="1" method="Privileged" siteId="{15d06cbf-5ba6-4055-954d-531141e50e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2391</Words>
  <Application>Microsoft Office PowerPoint</Application>
  <PresentationFormat>Widescreen</PresentationFormat>
  <Paragraphs>346</Paragraphs>
  <Slides>33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Kulim Park Light</vt:lpstr>
      <vt:lpstr>Segoe UI</vt:lpstr>
      <vt:lpstr>Segoe UI Semibold</vt:lpstr>
      <vt:lpstr>AI-Native Workplace Summit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Admin Agent - Govern and manage your Tenant End-to-End - JcGonzalez</dc:title>
  <dc:creator>Chris Hoard</dc:creator>
  <cp:lastModifiedBy>Juan Carlos González</cp:lastModifiedBy>
  <cp:revision>65</cp:revision>
  <dcterms:created xsi:type="dcterms:W3CDTF">2021-04-08T19:32:43Z</dcterms:created>
  <dcterms:modified xsi:type="dcterms:W3CDTF">2026-09-15T18:19:18Z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0x010100F4FF5015936A774786EE10AFC1780003</vt:lpwstr>
  </property>
  <property fmtid="{D5CDD505-2E9C-101B-9397-08002B2CF9AE}" pid="3" name="MSIP_Label_fbacb105-1333-4229-a8c5-dfa49d61f3a5_Enabled">
    <vt:lpwstr>true</vt:lpwstr>
  </property>
  <property fmtid="{D5CDD505-2E9C-101B-9397-08002B2CF9AE}" pid="4" name="MSIP_Label_fbacb105-1333-4229-a8c5-dfa49d61f3a5_SetDate">
    <vt:lpwstr>2021-04-28T13:14:37Z</vt:lpwstr>
  </property>
  <property fmtid="{D5CDD505-2E9C-101B-9397-08002B2CF9AE}" pid="5" name="MSIP_Label_fbacb105-1333-4229-a8c5-dfa49d61f3a5_Method">
    <vt:lpwstr>Privileged</vt:lpwstr>
  </property>
  <property fmtid="{D5CDD505-2E9C-101B-9397-08002B2CF9AE}" pid="6" name="MSIP_Label_fbacb105-1333-4229-a8c5-dfa49d61f3a5_Name">
    <vt:lpwstr>Public</vt:lpwstr>
  </property>
  <property fmtid="{D5CDD505-2E9C-101B-9397-08002B2CF9AE}" pid="7" name="MSIP_Label_fbacb105-1333-4229-a8c5-dfa49d61f3a5_SiteId">
    <vt:lpwstr>d99c3e0a-5a04-4bda-95a1-da0c24b731ee</vt:lpwstr>
  </property>
  <property fmtid="{D5CDD505-2E9C-101B-9397-08002B2CF9AE}" pid="8" name="MSIP_Label_fbacb105-1333-4229-a8c5-dfa49d61f3a5_ActionId">
    <vt:lpwstr>216cc89a-acb3-49ca-bd96-6f87b99db708</vt:lpwstr>
  </property>
  <property fmtid="{D5CDD505-2E9C-101B-9397-08002B2CF9AE}" pid="9" name="MSIP_Label_fbacb105-1333-4229-a8c5-dfa49d61f3a5_ContentBits">
    <vt:lpwstr>0</vt:lpwstr>
  </property>
  <property fmtid="{D5CDD505-2E9C-101B-9397-08002B2CF9AE}" pid="10" name="MediaServiceImageTags">
    <vt:lpwstr/>
  </property>
  <property fmtid="{D5CDD505-2E9C-101B-9397-08002B2CF9AE}" pid="11" name="Order">
    <vt:r8>1100</vt:r8>
  </property>
  <property fmtid="{D5CDD505-2E9C-101B-9397-08002B2CF9AE}" pid="12" name="ComplianceAssetId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MSIP_Label_defa4170-0d19-0005-0004-bc88714345d2_Enabled">
    <vt:lpwstr>true</vt:lpwstr>
  </property>
  <property fmtid="{D5CDD505-2E9C-101B-9397-08002B2CF9AE}" pid="16" name="MSIP_Label_defa4170-0d19-0005-0004-bc88714345d2_SetDate">
    <vt:lpwstr>2024-02-20T16:20:04Z</vt:lpwstr>
  </property>
  <property fmtid="{D5CDD505-2E9C-101B-9397-08002B2CF9AE}" pid="17" name="MSIP_Label_defa4170-0d19-0005-0004-bc88714345d2_Method">
    <vt:lpwstr>Standard</vt:lpwstr>
  </property>
  <property fmtid="{D5CDD505-2E9C-101B-9397-08002B2CF9AE}" pid="18" name="MSIP_Label_defa4170-0d19-0005-0004-bc88714345d2_Name">
    <vt:lpwstr>defa4170-0d19-0005-0004-bc88714345d2</vt:lpwstr>
  </property>
  <property fmtid="{D5CDD505-2E9C-101B-9397-08002B2CF9AE}" pid="19" name="MSIP_Label_defa4170-0d19-0005-0004-bc88714345d2_SiteId">
    <vt:lpwstr>c466d562-1960-4de9-b12a-ef44700b4469</vt:lpwstr>
  </property>
  <property fmtid="{D5CDD505-2E9C-101B-9397-08002B2CF9AE}" pid="20" name="MSIP_Label_defa4170-0d19-0005-0004-bc88714345d2_ActionId">
    <vt:lpwstr>e9ad588c-d359-4cb0-8c5e-6282d13277f5</vt:lpwstr>
  </property>
  <property fmtid="{D5CDD505-2E9C-101B-9397-08002B2CF9AE}" pid="21" name="MSIP_Label_defa4170-0d19-0005-0004-bc88714345d2_ContentBits">
    <vt:lpwstr>0</vt:lpwstr>
  </property>
</Properties>
</file>
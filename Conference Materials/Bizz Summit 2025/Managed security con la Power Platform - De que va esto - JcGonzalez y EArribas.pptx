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8"/>
  </p:notesMasterIdLst>
  <p:sldIdLst>
    <p:sldId id="430" r:id="rId5"/>
    <p:sldId id="432" r:id="rId6"/>
    <p:sldId id="440" r:id="rId7"/>
    <p:sldId id="260" r:id="rId8"/>
    <p:sldId id="441" r:id="rId9"/>
    <p:sldId id="357" r:id="rId10"/>
    <p:sldId id="442" r:id="rId11"/>
    <p:sldId id="444" r:id="rId12"/>
    <p:sldId id="466" r:id="rId13"/>
    <p:sldId id="465" r:id="rId14"/>
    <p:sldId id="445" r:id="rId15"/>
    <p:sldId id="446" r:id="rId16"/>
    <p:sldId id="435" r:id="rId17"/>
    <p:sldId id="417" r:id="rId18"/>
    <p:sldId id="448" r:id="rId19"/>
    <p:sldId id="460" r:id="rId20"/>
    <p:sldId id="457" r:id="rId21"/>
    <p:sldId id="458" r:id="rId22"/>
    <p:sldId id="455" r:id="rId23"/>
    <p:sldId id="461" r:id="rId24"/>
    <p:sldId id="463" r:id="rId25"/>
    <p:sldId id="462" r:id="rId26"/>
    <p:sldId id="464" r:id="rId27"/>
    <p:sldId id="456" r:id="rId28"/>
    <p:sldId id="447" r:id="rId29"/>
    <p:sldId id="467" r:id="rId30"/>
    <p:sldId id="449" r:id="rId31"/>
    <p:sldId id="470" r:id="rId32"/>
    <p:sldId id="468" r:id="rId33"/>
    <p:sldId id="472" r:id="rId34"/>
    <p:sldId id="471" r:id="rId35"/>
    <p:sldId id="475" r:id="rId36"/>
    <p:sldId id="477" r:id="rId37"/>
    <p:sldId id="478" r:id="rId38"/>
    <p:sldId id="481" r:id="rId39"/>
    <p:sldId id="443" r:id="rId40"/>
    <p:sldId id="473" r:id="rId41"/>
    <p:sldId id="484" r:id="rId42"/>
    <p:sldId id="474" r:id="rId43"/>
    <p:sldId id="480" r:id="rId44"/>
    <p:sldId id="482" r:id="rId45"/>
    <p:sldId id="483" r:id="rId46"/>
    <p:sldId id="479" r:id="rId47"/>
    <p:sldId id="485" r:id="rId48"/>
    <p:sldId id="486" r:id="rId49"/>
    <p:sldId id="476" r:id="rId50"/>
    <p:sldId id="450" r:id="rId51"/>
    <p:sldId id="487" r:id="rId52"/>
    <p:sldId id="488" r:id="rId53"/>
    <p:sldId id="451" r:id="rId54"/>
    <p:sldId id="452" r:id="rId55"/>
    <p:sldId id="490" r:id="rId56"/>
    <p:sldId id="492" r:id="rId57"/>
    <p:sldId id="493" r:id="rId58"/>
    <p:sldId id="494" r:id="rId59"/>
    <p:sldId id="453" r:id="rId60"/>
    <p:sldId id="459" r:id="rId61"/>
    <p:sldId id="469" r:id="rId62"/>
    <p:sldId id="489" r:id="rId63"/>
    <p:sldId id="398" r:id="rId64"/>
    <p:sldId id="454" r:id="rId65"/>
    <p:sldId id="399" r:id="rId66"/>
    <p:sldId id="439"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fijas" id="{FC851C87-7643-4CD9-83E8-FE222C8F104C}">
          <p14:sldIdLst>
            <p14:sldId id="430"/>
            <p14:sldId id="432"/>
            <p14:sldId id="440"/>
            <p14:sldId id="260"/>
            <p14:sldId id="441"/>
          </p14:sldIdLst>
        </p14:section>
        <p14:section name="Contenido" id="{65540704-81EE-4826-A409-2690FEEE9EB7}">
          <p14:sldIdLst>
            <p14:sldId id="357"/>
            <p14:sldId id="442"/>
            <p14:sldId id="444"/>
            <p14:sldId id="466"/>
            <p14:sldId id="465"/>
            <p14:sldId id="445"/>
            <p14:sldId id="446"/>
            <p14:sldId id="435"/>
            <p14:sldId id="417"/>
            <p14:sldId id="448"/>
            <p14:sldId id="460"/>
            <p14:sldId id="457"/>
            <p14:sldId id="458"/>
            <p14:sldId id="455"/>
            <p14:sldId id="461"/>
            <p14:sldId id="463"/>
            <p14:sldId id="462"/>
            <p14:sldId id="464"/>
            <p14:sldId id="456"/>
            <p14:sldId id="447"/>
            <p14:sldId id="467"/>
            <p14:sldId id="449"/>
            <p14:sldId id="470"/>
            <p14:sldId id="468"/>
            <p14:sldId id="472"/>
            <p14:sldId id="471"/>
            <p14:sldId id="475"/>
            <p14:sldId id="477"/>
            <p14:sldId id="478"/>
            <p14:sldId id="481"/>
            <p14:sldId id="443"/>
            <p14:sldId id="473"/>
            <p14:sldId id="484"/>
            <p14:sldId id="474"/>
            <p14:sldId id="480"/>
            <p14:sldId id="482"/>
            <p14:sldId id="483"/>
            <p14:sldId id="479"/>
            <p14:sldId id="485"/>
            <p14:sldId id="486"/>
            <p14:sldId id="476"/>
            <p14:sldId id="450"/>
            <p14:sldId id="487"/>
            <p14:sldId id="488"/>
            <p14:sldId id="451"/>
            <p14:sldId id="452"/>
            <p14:sldId id="490"/>
            <p14:sldId id="492"/>
            <p14:sldId id="493"/>
            <p14:sldId id="494"/>
            <p14:sldId id="453"/>
            <p14:sldId id="459"/>
            <p14:sldId id="469"/>
            <p14:sldId id="489"/>
            <p14:sldId id="398"/>
            <p14:sldId id="454"/>
            <p14:sldId id="399"/>
            <p14:sldId id="439"/>
          </p14:sldIdLst>
        </p14:section>
      </p14:sectionLst>
    </p:ext>
    <p:ext uri="{EFAFB233-063F-42B5-8137-9DF3F51BA10A}">
      <p15:sldGuideLst xmlns:p15="http://schemas.microsoft.com/office/powerpoint/2012/main">
        <p15:guide id="3" pos="235" userDrawn="1">
          <p15:clr>
            <a:srgbClr val="5ACBF0"/>
          </p15:clr>
        </p15:guide>
        <p15:guide id="4" pos="7447" userDrawn="1">
          <p15:clr>
            <a:srgbClr val="5ACBF0"/>
          </p15:clr>
        </p15:guide>
        <p15:guide id="6" pos="688" userDrawn="1">
          <p15:clr>
            <a:srgbClr val="5ACBF0"/>
          </p15:clr>
        </p15:guide>
        <p15:guide id="7" pos="6992" userDrawn="1">
          <p15:clr>
            <a:srgbClr val="5ACBF0"/>
          </p15:clr>
        </p15:guide>
        <p15:guide id="8" orient="horz" pos="164" userDrawn="1">
          <p15:clr>
            <a:srgbClr val="5ACBF0"/>
          </p15:clr>
        </p15:guide>
        <p15:guide id="9" orient="horz" pos="4156" userDrawn="1">
          <p15:clr>
            <a:srgbClr val="5ACBF0"/>
          </p15:clr>
        </p15:guide>
        <p15:guide id="10" pos="461" userDrawn="1">
          <p15:clr>
            <a:srgbClr val="5ACBF0"/>
          </p15:clr>
        </p15:guide>
        <p15:guide id="11" pos="7219" userDrawn="1">
          <p15:clr>
            <a:srgbClr val="5ACBF0"/>
          </p15:clr>
        </p15:guide>
        <p15:guide id="12" orient="horz" pos="391" userDrawn="1">
          <p15:clr>
            <a:srgbClr val="5ACBF0"/>
          </p15:clr>
        </p15:guide>
        <p15:guide id="13" orient="horz" pos="3929" userDrawn="1">
          <p15:clr>
            <a:srgbClr val="5ACBF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A5A5A5"/>
    <a:srgbClr val="5B9BD5"/>
    <a:srgbClr val="FFC000"/>
    <a:srgbClr val="F5F6FA"/>
    <a:srgbClr val="0F101C"/>
    <a:srgbClr val="1415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9009E9-41A4-2B3B-B61A-BE8535454A10}" v="15" dt="2025-10-04T08:13:52.753"/>
    <p1510:client id="{65C0AA54-6CD9-4544-A004-A575DBFB58DE}" v="99" dt="2025-10-04T08:25:54.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468" y="252"/>
      </p:cViewPr>
      <p:guideLst>
        <p:guide pos="235"/>
        <p:guide pos="7447"/>
        <p:guide pos="688"/>
        <p:guide pos="6992"/>
        <p:guide orient="horz" pos="164"/>
        <p:guide orient="horz" pos="4156"/>
        <p:guide pos="461"/>
        <p:guide pos="7219"/>
        <p:guide orient="horz" pos="391"/>
        <p:guide orient="horz" pos="392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963BA6-54AE-40F0-A085-9FE0901DB162}"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146366-EC0C-4FA7-8683-12ACFC203E97}" type="slidenum">
              <a:rPr lang="en-US" smtClean="0"/>
              <a:t>‹#›</a:t>
            </a:fld>
            <a:endParaRPr lang="en-US"/>
          </a:p>
        </p:txBody>
      </p:sp>
    </p:spTree>
    <p:extLst>
      <p:ext uri="{BB962C8B-B14F-4D97-AF65-F5344CB8AC3E}">
        <p14:creationId xmlns:p14="http://schemas.microsoft.com/office/powerpoint/2010/main" val="1779773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learn.microsoft.com/en-us/purview/register-scan-dataverse?" TargetMode="External"/><Relationship Id="rId13" Type="http://schemas.openxmlformats.org/officeDocument/2006/relationships/hyperlink" Target="https://learn.microsoft.com/en-us/power-platform/admin/managed-identity-overview" TargetMode="External"/><Relationship Id="rId3" Type="http://schemas.openxmlformats.org/officeDocument/2006/relationships/hyperlink" Target="https://learn.microsoft.com/en-us/power-platform/admin/about-lockbox" TargetMode="External"/><Relationship Id="rId7" Type="http://schemas.openxmlformats.org/officeDocument/2006/relationships/hyperlink" Target="https://learn.microsoft.com/en-us/power-platform/admin/create-manage-masking-rules" TargetMode="External"/><Relationship Id="rId12" Type="http://schemas.openxmlformats.org/officeDocument/2006/relationships/hyperlink" Target="https://learn.microsoft.com/en-us/power-platform-release-plan/2022wave1/power-apps/conditional-access-policies-individual-power-apps"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learn.microsoft.com/en-us/power-platform/admin/managed-environment-data-policies" TargetMode="External"/><Relationship Id="rId11" Type="http://schemas.openxmlformats.org/officeDocument/2006/relationships/hyperlink" Target="https://learn.microsoft.com/en-us/power-platform/admin/managed-environment-sharing-limits" TargetMode="External"/><Relationship Id="rId5" Type="http://schemas.openxmlformats.org/officeDocument/2006/relationships/hyperlink" Target="https://learn.microsoft.com/en-us/power-platform/admin/customer-managed-key" TargetMode="External"/><Relationship Id="rId15" Type="http://schemas.openxmlformats.org/officeDocument/2006/relationships/hyperlink" Target="https://learn.microsoft.com/en-us/azure/sentinel/business-applications/power-platform-solution-overview" TargetMode="External"/><Relationship Id="rId10" Type="http://schemas.openxmlformats.org/officeDocument/2006/relationships/hyperlink" Target="https://learn.microsoft.com/en-us/power-platform/admin/block-cookie-replay-attack" TargetMode="External"/><Relationship Id="rId4" Type="http://schemas.openxmlformats.org/officeDocument/2006/relationships/hyperlink" Target="https://learn.microsoft.com/en-us/power-platform/admin/vnet-support-overview" TargetMode="External"/><Relationship Id="rId9" Type="http://schemas.openxmlformats.org/officeDocument/2006/relationships/hyperlink" Target="https://learn.microsoft.com/en-us/power-platform/admin/ip-firewall" TargetMode="External"/><Relationship Id="rId14" Type="http://schemas.openxmlformats.org/officeDocument/2006/relationships/hyperlink" Target="https://learn.microsoft.com/en-us/power-platform/admin/security/access-contro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power-platform/admin/vnet-support-overview" TargetMode="External"/><Relationship Id="rId7" Type="http://schemas.openxmlformats.org/officeDocument/2006/relationships/hyperlink" Target="https://learn.microsoft.com/en-us/purview/register-scan-dataverse?" TargetMode="External"/><Relationship Id="rId2" Type="http://schemas.openxmlformats.org/officeDocument/2006/relationships/slide" Target="../slides/slide15.xml"/><Relationship Id="rId1" Type="http://schemas.openxmlformats.org/officeDocument/2006/relationships/notesMaster" Target="../notesMasters/notesMaster1.xml"/><Relationship Id="rId6" Type="http://schemas.openxmlformats.org/officeDocument/2006/relationships/hyperlink" Target="https://learn.microsoft.com/en-us/power-platform/admin/create-manage-masking-rules" TargetMode="External"/><Relationship Id="rId5" Type="http://schemas.openxmlformats.org/officeDocument/2006/relationships/hyperlink" Target="https://learn.microsoft.com/en-us/power-platform/admin/managed-environment-data-policies" TargetMode="External"/><Relationship Id="rId4" Type="http://schemas.openxmlformats.org/officeDocument/2006/relationships/hyperlink" Target="https://learn.microsoft.com/en-us/power-platform/admin/customer-managed-key"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learn.microsoft.com/en-us/power-platform/admin/vnet-support-overview" TargetMode="External"/><Relationship Id="rId7" Type="http://schemas.openxmlformats.org/officeDocument/2006/relationships/hyperlink" Target="https://learn.microsoft.com/en-us/purview/register-scan-dataverse?"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learn.microsoft.com/en-us/power-platform/admin/create-manage-masking-rules" TargetMode="External"/><Relationship Id="rId5" Type="http://schemas.openxmlformats.org/officeDocument/2006/relationships/hyperlink" Target="https://learn.microsoft.com/en-us/power-platform/admin/managed-environment-data-policies" TargetMode="External"/><Relationship Id="rId4" Type="http://schemas.openxmlformats.org/officeDocument/2006/relationships/hyperlink" Target="https://learn.microsoft.com/en-us/power-platform/admin/customer-managed-key"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8" Type="http://schemas.openxmlformats.org/officeDocument/2006/relationships/hyperlink" Target="https://learn.microsoft.com/en-us/power-platform/admin/dlp-connector-classification" TargetMode="External"/><Relationship Id="rId3" Type="http://schemas.openxmlformats.org/officeDocument/2006/relationships/hyperlink" Target="https://learn.microsoft.com/en-us/power-platform/admin/vnet-support-overview" TargetMode="External"/><Relationship Id="rId7" Type="http://schemas.openxmlformats.org/officeDocument/2006/relationships/hyperlink" Target="https://learn.microsoft.com/en-us/purview/register-scan-dataverse?" TargetMode="External"/><Relationship Id="rId2" Type="http://schemas.openxmlformats.org/officeDocument/2006/relationships/slide" Target="../slides/slide19.xml"/><Relationship Id="rId1" Type="http://schemas.openxmlformats.org/officeDocument/2006/relationships/notesMaster" Target="../notesMasters/notesMaster1.xml"/><Relationship Id="rId6" Type="http://schemas.openxmlformats.org/officeDocument/2006/relationships/hyperlink" Target="https://learn.microsoft.com/en-us/power-platform/admin/create-manage-masking-rules" TargetMode="External"/><Relationship Id="rId5" Type="http://schemas.openxmlformats.org/officeDocument/2006/relationships/hyperlink" Target="https://learn.microsoft.com/en-us/power-platform/admin/managed-environment-data-policies" TargetMode="External"/><Relationship Id="rId4" Type="http://schemas.openxmlformats.org/officeDocument/2006/relationships/hyperlink" Target="https://learn.microsoft.com/en-us/power-platform/admin/customer-managed-key" TargetMode="External"/><Relationship Id="rId9" Type="http://schemas.openxmlformats.org/officeDocument/2006/relationships/hyperlink" Target="https://learn.microsoft.com/en-us/power-platform/admin/environment-groups"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learn.microsoft.com/en-us/power-platform/admin/dlp-connector-classification" TargetMode="External"/><Relationship Id="rId2" Type="http://schemas.openxmlformats.org/officeDocument/2006/relationships/slide" Target="../slides/slide23.xml"/><Relationship Id="rId1" Type="http://schemas.openxmlformats.org/officeDocument/2006/relationships/notesMaster" Target="../notesMasters/notesMaster1.xml"/><Relationship Id="rId5" Type="http://schemas.openxmlformats.org/officeDocument/2006/relationships/hyperlink" Target="https://learn.microsoft.com/en-us/power-platform/admin/wp-data-loss-prevention#virtual-connectors" TargetMode="External"/><Relationship Id="rId4" Type="http://schemas.openxmlformats.org/officeDocument/2006/relationships/hyperlink" Target="https://learn.microsoft.com/en-us/power-platform/admin/environment-groups" TargetMode="Externa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learn.microsoft.com/en-us/azure/virtual-network/virtual-networks-overview"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learn.microsoft.com/en-us/azure/virtual-network/subnet-delegation-overview" TargetMode="Externa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8" Type="http://schemas.openxmlformats.org/officeDocument/2006/relationships/hyperlink" Target="https://learn.microsoft.com/en-us/power-platform/admin/security/access-control" TargetMode="External"/><Relationship Id="rId3" Type="http://schemas.openxmlformats.org/officeDocument/2006/relationships/hyperlink" Target="https://learn.microsoft.com/en-us/power-platform/admin/ip-firewall" TargetMode="External"/><Relationship Id="rId7" Type="http://schemas.openxmlformats.org/officeDocument/2006/relationships/hyperlink" Target="https://learn.microsoft.com/en-us/power-platform/admin/managed-identity-overview"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learn.microsoft.com/en-us/power-platform-release-plan/2022wave1/power-apps/conditional-access-policies-individual-power-apps" TargetMode="External"/><Relationship Id="rId5" Type="http://schemas.openxmlformats.org/officeDocument/2006/relationships/hyperlink" Target="https://learn.microsoft.com/en-us/power-platform/admin/managed-environment-sharing-limits" TargetMode="External"/><Relationship Id="rId4" Type="http://schemas.openxmlformats.org/officeDocument/2006/relationships/hyperlink" Target="https://learn.microsoft.com/en-us/power-platform/admin/block-cookie-replay-attack"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8" Type="http://schemas.openxmlformats.org/officeDocument/2006/relationships/hyperlink" Target="https://learn.microsoft.com/en-us/power-platform/admin/security/access-control" TargetMode="External"/><Relationship Id="rId3" Type="http://schemas.openxmlformats.org/officeDocument/2006/relationships/hyperlink" Target="https://learn.microsoft.com/en-us/power-platform/admin/ip-firewall" TargetMode="External"/><Relationship Id="rId7" Type="http://schemas.openxmlformats.org/officeDocument/2006/relationships/hyperlink" Target="https://learn.microsoft.com/en-us/power-platform/admin/managed-identity-overview"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learn.microsoft.com/en-us/power-platform-release-plan/2022wave1/power-apps/conditional-access-policies-individual-power-apps" TargetMode="External"/><Relationship Id="rId5" Type="http://schemas.openxmlformats.org/officeDocument/2006/relationships/hyperlink" Target="https://learn.microsoft.com/en-us/power-platform/admin/managed-environment-sharing-limits" TargetMode="External"/><Relationship Id="rId4" Type="http://schemas.openxmlformats.org/officeDocument/2006/relationships/hyperlink" Target="https://learn.microsoft.com/en-us/power-platform/admin/block-cookie-replay-attack" TargetMode="External"/><Relationship Id="rId9" Type="http://schemas.openxmlformats.org/officeDocument/2006/relationships/hyperlink" Target="https://learn.microsoft.com/en-us/power-platform/admin/control-app-access-environment" TargetMode="Externa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learn.microsoft.com/en-us/microsoft-copilot-studio/configuration-end-user-authentication#authenticate-manually"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learn.microsoft.com/en-us/power-platform/admin/about-lockbox"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s://learn.microsoft.com/en-us/azure/sentinel/business-applications/power-platform-solution-overview" TargetMode="External"/><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webhooks-interface-developers" TargetMode="External"/><Relationship Id="rId2" Type="http://schemas.openxmlformats.org/officeDocument/2006/relationships/slide" Target="../slides/slide53.xml"/><Relationship Id="rId1" Type="http://schemas.openxmlformats.org/officeDocument/2006/relationships/notesMaster" Target="../notesMasters/notesMaster1.xml"/><Relationship Id="rId4" Type="http://schemas.openxmlformats.org/officeDocument/2006/relationships/hyperlink" Target="https://learn.microsoft.com/en-us/defender-cloud-apps/real-time-agent-protection-during-runtime" TargetMode="Externa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webhooks-interface-developers" TargetMode="External"/><Relationship Id="rId2" Type="http://schemas.openxmlformats.org/officeDocument/2006/relationships/slide" Target="../slides/slide54.xml"/><Relationship Id="rId1" Type="http://schemas.openxmlformats.org/officeDocument/2006/relationships/notesMaster" Target="../notesMasters/notesMaster1.xml"/><Relationship Id="rId4" Type="http://schemas.openxmlformats.org/officeDocument/2006/relationships/hyperlink" Target="https://learn.microsoft.com/en-us/defender-cloud-apps/real-time-agent-protection-during-runtime" TargetMode="Externa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learn.microsoft.com/en-us/azure/sentinel/business-applications/power-platform-solution-overview"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s://learn.microsoft.com/en-us/azure/sentinel/business-applications/power-platform-solution-overview"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3" Type="http://schemas.openxmlformats.org/officeDocument/2006/relationships/hyperlink" Target="https://learn.microsoft.com/en-us/azure/sentinel/business-applications/power-platform-solution-overview" TargetMode="External"/><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200" b="1" i="0" kern="1200" err="1">
                <a:solidFill>
                  <a:schemeClr val="tx1"/>
                </a:solidFill>
                <a:effectLst/>
                <a:latin typeface="+mn-lt"/>
                <a:ea typeface="+mn-ea"/>
                <a:cs typeface="+mn-cs"/>
              </a:rPr>
              <a:t>Managed</a:t>
            </a:r>
            <a:r>
              <a:rPr lang="es-ES" sz="1200" b="1" i="0" kern="1200">
                <a:solidFill>
                  <a:schemeClr val="tx1"/>
                </a:solidFill>
                <a:effectLst/>
                <a:latin typeface="+mn-lt"/>
                <a:ea typeface="+mn-ea"/>
                <a:cs typeface="+mn-cs"/>
              </a:rPr>
              <a:t> </a:t>
            </a:r>
            <a:r>
              <a:rPr lang="es-ES" sz="1200" b="1" i="0" kern="1200" err="1">
                <a:solidFill>
                  <a:schemeClr val="tx1"/>
                </a:solidFill>
                <a:effectLst/>
                <a:latin typeface="+mn-lt"/>
                <a:ea typeface="+mn-ea"/>
                <a:cs typeface="+mn-cs"/>
              </a:rPr>
              <a:t>security</a:t>
            </a:r>
            <a:r>
              <a:rPr lang="es-ES" sz="1200" b="1" i="0" kern="1200">
                <a:solidFill>
                  <a:schemeClr val="tx1"/>
                </a:solidFill>
                <a:effectLst/>
                <a:latin typeface="+mn-lt"/>
                <a:ea typeface="+mn-ea"/>
                <a:cs typeface="+mn-cs"/>
              </a:rPr>
              <a:t> con la Power Platform: ¿De que va esto?</a:t>
            </a:r>
          </a:p>
          <a:p>
            <a:endParaRPr lang="en-US"/>
          </a:p>
        </p:txBody>
      </p:sp>
      <p:sp>
        <p:nvSpPr>
          <p:cNvPr id="4" name="Slide Number Placeholder 3"/>
          <p:cNvSpPr>
            <a:spLocks noGrp="1"/>
          </p:cNvSpPr>
          <p:nvPr>
            <p:ph type="sldNum" sz="quarter" idx="5"/>
          </p:nvPr>
        </p:nvSpPr>
        <p:spPr/>
        <p:txBody>
          <a:bodyPr/>
          <a:lstStyle/>
          <a:p>
            <a:fld id="{FC146366-EC0C-4FA7-8683-12ACFC203E97}" type="slidenum">
              <a:rPr lang="en-US" smtClean="0"/>
              <a:t>1</a:t>
            </a:fld>
            <a:endParaRPr lang="en-US"/>
          </a:p>
        </p:txBody>
      </p:sp>
    </p:spTree>
    <p:extLst>
      <p:ext uri="{BB962C8B-B14F-4D97-AF65-F5344CB8AC3E}">
        <p14:creationId xmlns:p14="http://schemas.microsoft.com/office/powerpoint/2010/main" val="2370325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0" fontAlgn="auto">
              <a:lnSpc>
                <a:spcPct val="100000"/>
              </a:lnSpc>
              <a:spcAft>
                <a:spcPts val="0"/>
              </a:spcAft>
              <a:buClrTx/>
              <a:buSzPct val="90000"/>
              <a:tabLst/>
              <a:defRPr/>
            </a:pPr>
            <a:r>
              <a:rPr lang="en-US" sz="1200"/>
              <a:t>Protecting data and platforms is a must</a:t>
            </a:r>
          </a:p>
          <a:p>
            <a:pPr marR="0" lvl="0" fontAlgn="auto">
              <a:lnSpc>
                <a:spcPct val="100000"/>
              </a:lnSpc>
              <a:spcAft>
                <a:spcPts val="0"/>
              </a:spcAft>
              <a:buClrTx/>
              <a:buSzPct val="90000"/>
              <a:tabLst/>
              <a:defRPr/>
            </a:pPr>
            <a:endParaRPr lang="en-US" sz="1200"/>
          </a:p>
          <a:p>
            <a:pPr marR="0" lvl="0" fontAlgn="auto">
              <a:lnSpc>
                <a:spcPct val="100000"/>
              </a:lnSpc>
              <a:spcAft>
                <a:spcPts val="0"/>
              </a:spcAft>
              <a:buClrTx/>
              <a:buSzPct val="90000"/>
              <a:tabLst/>
              <a:defRPr/>
            </a:pPr>
            <a:r>
              <a:rPr lang="en-US" sz="1200"/>
              <a:t>Security Layers &amp; Managed Security in the Power Platform</a:t>
            </a:r>
          </a:p>
          <a:p>
            <a:pPr marR="0" lvl="0" fontAlgn="auto">
              <a:lnSpc>
                <a:spcPct val="100000"/>
              </a:lnSpc>
              <a:spcAft>
                <a:spcPts val="0"/>
              </a:spcAft>
              <a:buClrTx/>
              <a:buSzPct val="90000"/>
              <a:tabLst/>
              <a:defRPr/>
            </a:pPr>
            <a:endParaRPr lang="en-US" sz="1200"/>
          </a:p>
          <a:p>
            <a:pPr marR="0" lvl="0" fontAlgn="auto">
              <a:lnSpc>
                <a:spcPct val="100000"/>
              </a:lnSpc>
              <a:spcAft>
                <a:spcPts val="0"/>
              </a:spcAft>
              <a:buClrTx/>
              <a:buSzPct val="90000"/>
              <a:tabLst/>
              <a:defRPr/>
            </a:pPr>
            <a:r>
              <a:rPr lang="en-US" sz="1200"/>
              <a:t>Identity &amp; Access Management + Network Security</a:t>
            </a:r>
          </a:p>
          <a:p>
            <a:pPr marR="0" lvl="0" fontAlgn="auto">
              <a:lnSpc>
                <a:spcPct val="100000"/>
              </a:lnSpc>
              <a:spcAft>
                <a:spcPts val="0"/>
              </a:spcAft>
              <a:buClrTx/>
              <a:buSzPct val="90000"/>
              <a:tabLst/>
              <a:defRPr/>
            </a:pPr>
            <a:endParaRPr lang="en-US" sz="1200"/>
          </a:p>
          <a:p>
            <a:pPr marR="0" lvl="0" fontAlgn="auto">
              <a:lnSpc>
                <a:spcPct val="100000"/>
              </a:lnSpc>
              <a:spcAft>
                <a:spcPts val="0"/>
              </a:spcAft>
              <a:buClrTx/>
              <a:buSzPct val="90000"/>
              <a:tabLst/>
              <a:defRPr/>
            </a:pPr>
            <a:r>
              <a:rPr lang="en-US" sz="1200"/>
              <a:t>Data Access Management, Data Security and Data Loss Prevention</a:t>
            </a:r>
          </a:p>
          <a:p>
            <a:pPr marR="0" lvl="0" fontAlgn="auto">
              <a:lnSpc>
                <a:spcPct val="100000"/>
              </a:lnSpc>
              <a:spcAft>
                <a:spcPts val="0"/>
              </a:spcAft>
              <a:buClrTx/>
              <a:buSzPct val="90000"/>
              <a:tabLst/>
              <a:defRPr/>
            </a:pPr>
            <a:r>
              <a:rPr lang="en-US" sz="1200"/>
              <a:t>-----------------------------------------------------------------------------</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Compliance</a:t>
            </a:r>
            <a:r>
              <a:rPr lang="en-US" sz="1200" b="0" i="0" kern="1200">
                <a:solidFill>
                  <a:schemeClr val="tx1"/>
                </a:solidFill>
                <a:effectLst/>
                <a:latin typeface="+mn-lt"/>
                <a:ea typeface="+mn-ea"/>
                <a:cs typeface="+mn-cs"/>
              </a:rPr>
              <a:t>: Implement robust compliance measures to safeguard organizational data and ensure adherence to industry regulations through features such as </a:t>
            </a:r>
            <a:r>
              <a:rPr lang="en-US" sz="1200" b="0" i="0" u="none" strike="noStrike" kern="1200">
                <a:solidFill>
                  <a:schemeClr val="tx1"/>
                </a:solidFill>
                <a:effectLst/>
                <a:latin typeface="+mn-lt"/>
                <a:ea typeface="+mn-ea"/>
                <a:cs typeface="+mn-cs"/>
                <a:hlinkClick r:id="rId3"/>
              </a:rPr>
              <a:t>Customer Lockbox</a:t>
            </a:r>
            <a:r>
              <a:rPr lang="en-US" sz="1200" b="0" i="0" kern="1200">
                <a:solidFill>
                  <a:schemeClr val="tx1"/>
                </a:solidFill>
                <a:effectLst/>
                <a:latin typeface="+mn-lt"/>
                <a:ea typeface="+mn-ea"/>
                <a:cs typeface="+mn-cs"/>
              </a:rPr>
              <a:t>.</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 protection and privacy</a:t>
            </a:r>
            <a:r>
              <a:rPr lang="en-US" sz="1200" b="0" i="0" kern="120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a:solidFill>
                  <a:schemeClr val="tx1"/>
                </a:solidFill>
                <a:effectLst/>
                <a:latin typeface="+mn-lt"/>
                <a:ea typeface="+mn-ea"/>
                <a:cs typeface="+mn-cs"/>
                <a:hlinkClick r:id="rId4"/>
              </a:rPr>
              <a:t>Azure Virtual Network</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a:rPr>
              <a:t>customer-managed keys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6"/>
              </a:rPr>
              <a:t>data policies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7"/>
              </a:rPr>
              <a:t>data masking</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8"/>
              </a:rPr>
              <a:t>Microsoft Purview Data Map</a:t>
            </a:r>
            <a:r>
              <a:rPr lang="en-US" sz="1200" b="0" i="0" kern="120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Identity and access management</a:t>
            </a:r>
            <a:r>
              <a:rPr lang="en-US" sz="1200" b="0" i="0" kern="1200">
                <a:solidFill>
                  <a:schemeClr val="tx1"/>
                </a:solidFill>
                <a:effectLst/>
                <a:latin typeface="+mn-lt"/>
                <a:ea typeface="+mn-ea"/>
                <a:cs typeface="+mn-cs"/>
              </a:rPr>
              <a:t>: Ensure that only authorized users can access specific resources, through features such as </a:t>
            </a:r>
            <a:r>
              <a:rPr lang="en-US" sz="1200" b="0" i="0" u="none" strike="noStrike" kern="1200">
                <a:solidFill>
                  <a:schemeClr val="tx1"/>
                </a:solidFill>
                <a:effectLst/>
                <a:latin typeface="+mn-lt"/>
                <a:ea typeface="+mn-ea"/>
                <a:cs typeface="+mn-cs"/>
                <a:hlinkClick r:id="rId9"/>
              </a:rPr>
              <a:t>IP firewall</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10"/>
              </a:rPr>
              <a:t>IP cookie binding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11"/>
              </a:rPr>
              <a:t>Manage sharing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12"/>
              </a:rPr>
              <a:t>conditional access policies for individual apps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13"/>
              </a:rPr>
              <a:t>managed identities for Dataverse plug-ins</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14"/>
              </a:rPr>
              <a:t>privileged access</a:t>
            </a:r>
            <a:r>
              <a:rPr lang="en-US" sz="1200" b="0" i="0" kern="1200">
                <a:solidFill>
                  <a:schemeClr val="tx1"/>
                </a:solidFill>
                <a:effectLst/>
                <a:latin typeface="+mn-lt"/>
                <a:ea typeface="+mn-ea"/>
                <a:cs typeface="+mn-cs"/>
              </a:rPr>
              <a:t>.</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Threat protection</a:t>
            </a:r>
            <a:r>
              <a:rPr lang="en-US" sz="1200" b="0" i="0" kern="1200">
                <a:solidFill>
                  <a:schemeClr val="tx1"/>
                </a:solidFill>
                <a:effectLst/>
                <a:latin typeface="+mn-lt"/>
                <a:ea typeface="+mn-ea"/>
                <a:cs typeface="+mn-cs"/>
              </a:rPr>
              <a:t>: Protect your organization's assets and resources through unified detection by using </a:t>
            </a:r>
            <a:r>
              <a:rPr lang="en-US" sz="1200" b="0" i="0" u="none" strike="noStrike" kern="1200">
                <a:solidFill>
                  <a:schemeClr val="tx1"/>
                </a:solidFill>
                <a:effectLst/>
                <a:latin typeface="+mn-lt"/>
                <a:ea typeface="+mn-ea"/>
                <a:cs typeface="+mn-cs"/>
                <a:hlinkClick r:id="rId15"/>
              </a:rPr>
              <a:t>Microsoft Sentinel solution for Power Platform</a:t>
            </a:r>
            <a:r>
              <a:rPr lang="en-US" sz="1200" b="0" i="0" kern="120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a:p>
            <a:pPr marR="0" lvl="0" fontAlgn="auto">
              <a:lnSpc>
                <a:spcPct val="100000"/>
              </a:lnSpc>
              <a:spcAft>
                <a:spcPts val="0"/>
              </a:spcAft>
              <a:buClrTx/>
              <a:buSzPct val="90000"/>
              <a:tabLst/>
              <a:defRPr/>
            </a:pPr>
            <a:endParaRPr lang="en-US" sz="1200"/>
          </a:p>
          <a:p>
            <a:endParaRPr lang="en-US"/>
          </a:p>
        </p:txBody>
      </p:sp>
      <p:sp>
        <p:nvSpPr>
          <p:cNvPr id="4" name="Slide Number Placeholder 3"/>
          <p:cNvSpPr>
            <a:spLocks noGrp="1"/>
          </p:cNvSpPr>
          <p:nvPr>
            <p:ph type="sldNum" sz="quarter" idx="5"/>
          </p:nvPr>
        </p:nvSpPr>
        <p:spPr/>
        <p:txBody>
          <a:bodyPr/>
          <a:lstStyle/>
          <a:p>
            <a:fld id="{FC146366-EC0C-4FA7-8683-12ACFC203E97}" type="slidenum">
              <a:rPr lang="en-US" smtClean="0"/>
              <a:t>6</a:t>
            </a:fld>
            <a:endParaRPr lang="en-US"/>
          </a:p>
        </p:txBody>
      </p:sp>
    </p:spTree>
    <p:extLst>
      <p:ext uri="{BB962C8B-B14F-4D97-AF65-F5344CB8AC3E}">
        <p14:creationId xmlns:p14="http://schemas.microsoft.com/office/powerpoint/2010/main" val="1490934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b="1" noProof="0">
                <a:solidFill>
                  <a:schemeClr val="tx1">
                    <a:lumMod val="75000"/>
                    <a:lumOff val="25000"/>
                  </a:schemeClr>
                </a:solidFill>
                <a:latin typeface="Segoe UI" panose="020B0502040204020203" pitchFamily="34" charset="0"/>
                <a:cs typeface="Segoe UI" panose="020B0502040204020203" pitchFamily="34" charset="0"/>
              </a:rPr>
              <a:t>Proteger Datos y Plataformas: ¿Compromiso u obligación</a:t>
            </a:r>
            <a:endParaRPr lang="en-US"/>
          </a:p>
        </p:txBody>
      </p:sp>
      <p:sp>
        <p:nvSpPr>
          <p:cNvPr id="4" name="Slide Number Placeholder 3"/>
          <p:cNvSpPr>
            <a:spLocks noGrp="1"/>
          </p:cNvSpPr>
          <p:nvPr>
            <p:ph type="sldNum" sz="quarter" idx="5"/>
          </p:nvPr>
        </p:nvSpPr>
        <p:spPr/>
        <p:txBody>
          <a:bodyPr/>
          <a:lstStyle/>
          <a:p>
            <a:fld id="{FC146366-EC0C-4FA7-8683-12ACFC203E97}" type="slidenum">
              <a:rPr lang="en-US" smtClean="0"/>
              <a:t>7</a:t>
            </a:fld>
            <a:endParaRPr lang="en-US"/>
          </a:p>
        </p:txBody>
      </p:sp>
    </p:spTree>
    <p:extLst>
      <p:ext uri="{BB962C8B-B14F-4D97-AF65-F5344CB8AC3E}">
        <p14:creationId xmlns:p14="http://schemas.microsoft.com/office/powerpoint/2010/main" val="34370111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0F829-7149-0F6C-BDFE-6D418AF43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87AC5C-0731-27E4-8E45-11357516D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BDF48-8ADD-05A5-08BB-AB4128C1C464}"/>
              </a:ext>
            </a:extLst>
          </p:cNvPr>
          <p:cNvSpPr>
            <a:spLocks noGrp="1"/>
          </p:cNvSpPr>
          <p:nvPr>
            <p:ph type="body" idx="1"/>
          </p:nvPr>
        </p:nvSpPr>
        <p:spPr/>
        <p:txBody>
          <a:bodyPr/>
          <a:lstStyle/>
          <a:p>
            <a:r>
              <a:rPr lang="es-ES" sz="1200" b="1" noProof="0">
                <a:solidFill>
                  <a:schemeClr val="tx1">
                    <a:lumMod val="75000"/>
                    <a:lumOff val="25000"/>
                  </a:schemeClr>
                </a:solidFill>
                <a:latin typeface="Segoe UI" panose="020B0502040204020203" pitchFamily="34" charset="0"/>
                <a:cs typeface="Segoe UI" panose="020B0502040204020203" pitchFamily="34" charset="0"/>
              </a:rPr>
              <a:t>Proteger Datos y Plataformas: ¿Compromiso u obligación</a:t>
            </a:r>
            <a:endParaRPr lang="en-US"/>
          </a:p>
        </p:txBody>
      </p:sp>
      <p:sp>
        <p:nvSpPr>
          <p:cNvPr id="4" name="Slide Number Placeholder 3">
            <a:extLst>
              <a:ext uri="{FF2B5EF4-FFF2-40B4-BE49-F238E27FC236}">
                <a16:creationId xmlns:a16="http://schemas.microsoft.com/office/drawing/2014/main" id="{46BF0F39-54F9-199F-EC59-31FA91F11FAE}"/>
              </a:ext>
            </a:extLst>
          </p:cNvPr>
          <p:cNvSpPr>
            <a:spLocks noGrp="1"/>
          </p:cNvSpPr>
          <p:nvPr>
            <p:ph type="sldNum" sz="quarter" idx="5"/>
          </p:nvPr>
        </p:nvSpPr>
        <p:spPr/>
        <p:txBody>
          <a:bodyPr/>
          <a:lstStyle/>
          <a:p>
            <a:fld id="{FC146366-EC0C-4FA7-8683-12ACFC203E97}" type="slidenum">
              <a:rPr lang="en-US" smtClean="0"/>
              <a:t>8</a:t>
            </a:fld>
            <a:endParaRPr lang="en-US"/>
          </a:p>
        </p:txBody>
      </p:sp>
    </p:spTree>
    <p:extLst>
      <p:ext uri="{BB962C8B-B14F-4D97-AF65-F5344CB8AC3E}">
        <p14:creationId xmlns:p14="http://schemas.microsoft.com/office/powerpoint/2010/main" val="3765400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5D77C-994A-76CA-C098-E58540A73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2737C-4419-FF18-66AC-89183D2990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F121B-6F50-FB2F-749F-1870E7BACAC3}"/>
              </a:ext>
            </a:extLst>
          </p:cNvPr>
          <p:cNvSpPr>
            <a:spLocks noGrp="1"/>
          </p:cNvSpPr>
          <p:nvPr>
            <p:ph type="body" idx="1"/>
          </p:nvPr>
        </p:nvSpPr>
        <p:spPr/>
        <p:txBody>
          <a:bodyPr/>
          <a:lstStyle/>
          <a:p>
            <a:pPr>
              <a:defRPr/>
            </a:pPr>
            <a:endParaRPr lang="en-US"/>
          </a:p>
          <a:p>
            <a:pPr marL="171450" indent="-171450">
              <a:buFont typeface="Arial" panose="020B0604020202020204" pitchFamily="34" charset="0"/>
              <a:buChar char="•"/>
              <a:defRPr/>
            </a:pPr>
            <a:r>
              <a:rPr lang="en-US"/>
              <a:t>Account impersonation -&gt; SQL -&gt; EAB: </a:t>
            </a:r>
            <a:r>
              <a:rPr lang="en-US" err="1"/>
              <a:t>preguntar</a:t>
            </a:r>
            <a:r>
              <a:rPr lang="en-US"/>
              <a:t> al </a:t>
            </a:r>
            <a:r>
              <a:rPr lang="en-US" err="1"/>
              <a:t>público</a:t>
            </a:r>
            <a:r>
              <a:rPr lang="en-US"/>
              <a:t>: ¿</a:t>
            </a:r>
            <a:r>
              <a:rPr lang="en-US" err="1"/>
              <a:t>cuántos</a:t>
            </a:r>
            <a:r>
              <a:rPr lang="en-US"/>
              <a:t> </a:t>
            </a:r>
            <a:r>
              <a:rPr lang="en-US" err="1"/>
              <a:t>sabéis</a:t>
            </a:r>
            <a:r>
              <a:rPr lang="en-US"/>
              <a:t> </a:t>
            </a:r>
            <a:r>
              <a:rPr lang="en-US" err="1"/>
              <a:t>qué</a:t>
            </a:r>
            <a:r>
              <a:rPr lang="en-US"/>
              <a:t> </a:t>
            </a:r>
            <a:r>
              <a:rPr lang="en-US" err="1"/>
              <a:t>copnsecuencias</a:t>
            </a:r>
            <a:r>
              <a:rPr lang="en-US"/>
              <a:t> </a:t>
            </a:r>
            <a:r>
              <a:rPr lang="en-US" err="1"/>
              <a:t>tiene</a:t>
            </a:r>
            <a:r>
              <a:rPr lang="en-US"/>
              <a:t> </a:t>
            </a:r>
            <a:r>
              <a:rPr lang="en-US" err="1"/>
              <a:t>compartir</a:t>
            </a:r>
            <a:r>
              <a:rPr lang="en-US"/>
              <a:t> </a:t>
            </a:r>
            <a:r>
              <a:rPr lang="en-US" err="1"/>
              <a:t>una</a:t>
            </a:r>
            <a:r>
              <a:rPr lang="en-US"/>
              <a:t> </a:t>
            </a:r>
            <a:r>
              <a:rPr lang="en-US" err="1"/>
              <a:t>conexión</a:t>
            </a:r>
            <a:r>
              <a:rPr lang="en-US"/>
              <a:t> </a:t>
            </a:r>
            <a:r>
              <a:rPr lang="en-US" err="1"/>
              <a:t>en</a:t>
            </a:r>
            <a:r>
              <a:rPr lang="en-US"/>
              <a:t> Power Platform?</a:t>
            </a:r>
          </a:p>
          <a:p>
            <a:pPr marL="171450" indent="-171450">
              <a:buFont typeface="Arial" panose="020B0604020202020204" pitchFamily="34" charset="0"/>
              <a:buChar char="•"/>
              <a:defRPr/>
            </a:pPr>
            <a:r>
              <a:rPr lang="en-US"/>
              <a:t>Misuse of authorization -&gt; Rol (</a:t>
            </a:r>
            <a:r>
              <a:rPr lang="en-US" err="1"/>
              <a:t>autenticacion</a:t>
            </a:r>
            <a:r>
              <a:rPr lang="en-US"/>
              <a:t> vs </a:t>
            </a:r>
            <a:r>
              <a:rPr lang="en-US" err="1"/>
              <a:t>autorizacion</a:t>
            </a:r>
            <a:r>
              <a:rPr lang="en-US"/>
              <a:t>)</a:t>
            </a:r>
          </a:p>
          <a:p>
            <a:pPr marL="171450" indent="-171450">
              <a:buFont typeface="Arial" panose="020B0604020202020204" pitchFamily="34" charset="0"/>
              <a:buChar char="•"/>
              <a:defRPr/>
            </a:pPr>
            <a:r>
              <a:rPr lang="en-US"/>
              <a:t>Data leakage and unexpected consequences -&gt; </a:t>
            </a:r>
            <a:r>
              <a:rPr lang="en-US" err="1"/>
              <a:t>origen</a:t>
            </a:r>
            <a:r>
              <a:rPr lang="en-US"/>
              <a:t> </a:t>
            </a:r>
            <a:r>
              <a:rPr lang="en-US" err="1"/>
              <a:t>datos</a:t>
            </a:r>
            <a:r>
              <a:rPr lang="en-US"/>
              <a:t> mal </a:t>
            </a:r>
            <a:r>
              <a:rPr lang="en-US" err="1"/>
              <a:t>compartido</a:t>
            </a:r>
            <a:endParaRPr lang="en-US"/>
          </a:p>
          <a:p>
            <a:pPr marL="171450" indent="-171450">
              <a:buFont typeface="Arial" panose="020B0604020202020204" pitchFamily="34" charset="0"/>
              <a:buChar char="•"/>
              <a:defRPr/>
            </a:pPr>
            <a:r>
              <a:rPr lang="en-US"/>
              <a:t>Failures of authentication and secure communication -&gt; power pages</a:t>
            </a:r>
          </a:p>
          <a:p>
            <a:pPr marL="171450" indent="-171450">
              <a:buFont typeface="Arial" panose="020B0604020202020204" pitchFamily="34" charset="0"/>
              <a:buChar char="•"/>
              <a:defRPr/>
            </a:pPr>
            <a:r>
              <a:rPr lang="en-US"/>
              <a:t>Misconfigured security -&gt; </a:t>
            </a:r>
            <a:r>
              <a:rPr lang="en-US" err="1"/>
              <a:t>charla</a:t>
            </a:r>
            <a:endParaRPr lang="en-US"/>
          </a:p>
          <a:p>
            <a:pPr marL="171450" indent="-171450">
              <a:buFont typeface="Arial" panose="020B0604020202020204" pitchFamily="34" charset="0"/>
              <a:buChar char="•"/>
              <a:defRPr/>
            </a:pPr>
            <a:r>
              <a:rPr lang="en-US"/>
              <a:t>Injection handling failures -&gt; </a:t>
            </a:r>
            <a:r>
              <a:rPr lang="en-US" err="1"/>
              <a:t>injeccion</a:t>
            </a:r>
            <a:r>
              <a:rPr lang="en-US"/>
              <a:t> </a:t>
            </a:r>
            <a:r>
              <a:rPr lang="en-US" err="1"/>
              <a:t>en</a:t>
            </a:r>
            <a:r>
              <a:rPr lang="en-US"/>
              <a:t> </a:t>
            </a:r>
            <a:r>
              <a:rPr lang="en-US" err="1"/>
              <a:t>sql</a:t>
            </a:r>
            <a:endParaRPr lang="en-US"/>
          </a:p>
          <a:p>
            <a:pPr marL="171450" indent="-171450">
              <a:buFont typeface="Arial" panose="020B0604020202020204" pitchFamily="34" charset="0"/>
              <a:buChar char="•"/>
              <a:defRPr/>
            </a:pPr>
            <a:r>
              <a:rPr lang="en-US"/>
              <a:t>Vulnerable and untrusted components -&gt; PCF</a:t>
            </a:r>
          </a:p>
          <a:p>
            <a:pPr marL="171450" indent="-171450">
              <a:buFont typeface="Arial" panose="020B0604020202020204" pitchFamily="34" charset="0"/>
              <a:buChar char="•"/>
              <a:defRPr/>
            </a:pPr>
            <a:r>
              <a:rPr lang="en-US"/>
              <a:t>Failure to handle data and secrets properly -&gt; </a:t>
            </a:r>
            <a:r>
              <a:rPr lang="en-US" err="1"/>
              <a:t>como</a:t>
            </a:r>
            <a:r>
              <a:rPr lang="en-US"/>
              <a:t> se </a:t>
            </a:r>
            <a:r>
              <a:rPr lang="en-US" err="1"/>
              <a:t>guarda</a:t>
            </a:r>
            <a:r>
              <a:rPr lang="en-US"/>
              <a:t>. HTTP </a:t>
            </a:r>
            <a:r>
              <a:rPr lang="en-US" err="1"/>
              <a:t>conector</a:t>
            </a:r>
            <a:endParaRPr lang="en-US"/>
          </a:p>
          <a:p>
            <a:pPr marL="171450" indent="-171450">
              <a:buFont typeface="Arial" panose="020B0604020202020204" pitchFamily="34" charset="0"/>
              <a:buChar char="•"/>
              <a:defRPr/>
            </a:pPr>
            <a:r>
              <a:rPr lang="en-US"/>
              <a:t>Failure to manage assets securely -&gt; </a:t>
            </a:r>
            <a:r>
              <a:rPr lang="en-US" err="1"/>
              <a:t>muchas</a:t>
            </a:r>
            <a:r>
              <a:rPr lang="en-US"/>
              <a:t> apps y </a:t>
            </a:r>
            <a:r>
              <a:rPr lang="en-US" err="1"/>
              <a:t>usuarios</a:t>
            </a:r>
            <a:r>
              <a:rPr lang="en-US"/>
              <a:t> </a:t>
            </a:r>
            <a:r>
              <a:rPr lang="en-US" err="1"/>
              <a:t>que</a:t>
            </a:r>
            <a:r>
              <a:rPr lang="en-US"/>
              <a:t> se </a:t>
            </a:r>
            <a:r>
              <a:rPr lang="en-US" err="1"/>
              <a:t>mueven</a:t>
            </a:r>
            <a:endParaRPr lang="en-US"/>
          </a:p>
          <a:p>
            <a:pPr marL="171450" indent="-171450">
              <a:buFont typeface="Arial" panose="020B0604020202020204" pitchFamily="34" charset="0"/>
              <a:buChar char="•"/>
              <a:defRPr/>
            </a:pPr>
            <a:r>
              <a:rPr lang="en-US"/>
              <a:t>Failures of security logging and monitoring -&gt; insights</a:t>
            </a:r>
            <a:endParaRPr lang="en-US" sz="1200" b="0" i="0" kern="1200">
              <a:solidFill>
                <a:schemeClr val="tx1"/>
              </a:solidFill>
              <a:effectLst/>
              <a:latin typeface="+mn-lt"/>
            </a:endParaRPr>
          </a:p>
        </p:txBody>
      </p:sp>
      <p:sp>
        <p:nvSpPr>
          <p:cNvPr id="4" name="Slide Number Placeholder 3">
            <a:extLst>
              <a:ext uri="{FF2B5EF4-FFF2-40B4-BE49-F238E27FC236}">
                <a16:creationId xmlns:a16="http://schemas.microsoft.com/office/drawing/2014/main" id="{E121DCF6-896D-2350-18A5-A1DBD934DDB5}"/>
              </a:ext>
            </a:extLst>
          </p:cNvPr>
          <p:cNvSpPr>
            <a:spLocks noGrp="1"/>
          </p:cNvSpPr>
          <p:nvPr>
            <p:ph type="sldNum" sz="quarter" idx="5"/>
          </p:nvPr>
        </p:nvSpPr>
        <p:spPr/>
        <p:txBody>
          <a:bodyPr/>
          <a:lstStyle/>
          <a:p>
            <a:fld id="{FC146366-EC0C-4FA7-8683-12ACFC203E97}" type="slidenum">
              <a:rPr lang="en-US" smtClean="0"/>
              <a:t>9</a:t>
            </a:fld>
            <a:endParaRPr lang="en-US"/>
          </a:p>
        </p:txBody>
      </p:sp>
    </p:spTree>
    <p:extLst>
      <p:ext uri="{BB962C8B-B14F-4D97-AF65-F5344CB8AC3E}">
        <p14:creationId xmlns:p14="http://schemas.microsoft.com/office/powerpoint/2010/main" val="2068695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DF6EF-9BB2-C613-D031-6118D6BE2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4017C-0176-A0F3-A50A-7680F12FB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A79013-12A0-7FAB-3017-BC06C732A2E9}"/>
              </a:ext>
            </a:extLst>
          </p:cNvPr>
          <p:cNvSpPr>
            <a:spLocks noGrp="1"/>
          </p:cNvSpPr>
          <p:nvPr>
            <p:ph type="body" idx="1"/>
          </p:nvPr>
        </p:nvSpPr>
        <p:spPr/>
        <p:txBody>
          <a:bodyPr/>
          <a:lstStyle/>
          <a:p>
            <a:pPr marL="171450" indent="-171450">
              <a:buFont typeface="Arial" panose="020B0604020202020204" pitchFamily="34" charset="0"/>
              <a:buChar char="•"/>
            </a:pPr>
            <a:r>
              <a:rPr lang="en-US" err="1"/>
              <a:t>Postura</a:t>
            </a:r>
            <a:r>
              <a:rPr lang="en-US"/>
              <a:t> de Seguridad en </a:t>
            </a:r>
            <a:r>
              <a:rPr lang="es-ES"/>
              <a:t>el Power Platform </a:t>
            </a:r>
            <a:r>
              <a:rPr lang="es-ES" err="1"/>
              <a:t>Admin</a:t>
            </a:r>
            <a:r>
              <a:rPr lang="es-ES"/>
              <a:t> Center</a:t>
            </a:r>
          </a:p>
          <a:p>
            <a:pPr marL="171450" indent="-171450">
              <a:buFont typeface="Arial" panose="020B0604020202020204" pitchFamily="34" charset="0"/>
              <a:buChar char="•"/>
            </a:pPr>
            <a:r>
              <a:rPr lang="es-ES"/>
              <a:t>¿Postura de Seguridad en Microsoft </a:t>
            </a:r>
            <a:r>
              <a:rPr lang="es-ES" err="1"/>
              <a:t>Purview</a:t>
            </a:r>
            <a:r>
              <a:rPr lang="es-ES"/>
              <a:t>?</a:t>
            </a:r>
            <a:endParaRPr lang="en-US"/>
          </a:p>
        </p:txBody>
      </p:sp>
      <p:sp>
        <p:nvSpPr>
          <p:cNvPr id="4" name="Slide Number Placeholder 3">
            <a:extLst>
              <a:ext uri="{FF2B5EF4-FFF2-40B4-BE49-F238E27FC236}">
                <a16:creationId xmlns:a16="http://schemas.microsoft.com/office/drawing/2014/main" id="{30E91514-04B3-0A8F-E3C6-FA4CCD1B4CDE}"/>
              </a:ext>
            </a:extLst>
          </p:cNvPr>
          <p:cNvSpPr>
            <a:spLocks noGrp="1"/>
          </p:cNvSpPr>
          <p:nvPr>
            <p:ph type="sldNum" sz="quarter" idx="5"/>
          </p:nvPr>
        </p:nvSpPr>
        <p:spPr/>
        <p:txBody>
          <a:bodyPr/>
          <a:lstStyle/>
          <a:p>
            <a:fld id="{FC146366-EC0C-4FA7-8683-12ACFC203E97}" type="slidenum">
              <a:rPr lang="en-US" smtClean="0"/>
              <a:t>10</a:t>
            </a:fld>
            <a:endParaRPr lang="en-US"/>
          </a:p>
        </p:txBody>
      </p:sp>
    </p:spTree>
    <p:extLst>
      <p:ext uri="{BB962C8B-B14F-4D97-AF65-F5344CB8AC3E}">
        <p14:creationId xmlns:p14="http://schemas.microsoft.com/office/powerpoint/2010/main" val="2202411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8F318-44E8-0428-774D-676C0CED6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FD4E4C-4F10-62FA-E78D-D30B26F3CC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7C1D9-CC7A-92B8-87D4-80DF1C9F330F}"/>
              </a:ext>
            </a:extLst>
          </p:cNvPr>
          <p:cNvSpPr>
            <a:spLocks noGrp="1"/>
          </p:cNvSpPr>
          <p:nvPr>
            <p:ph type="body" idx="1"/>
          </p:nvPr>
        </p:nvSpPr>
        <p:spPr/>
        <p:txBody>
          <a:bodyPr/>
          <a:lstStyle/>
          <a:p>
            <a:r>
              <a:rPr lang="es-ES" sz="1200" b="1" noProof="0">
                <a:solidFill>
                  <a:schemeClr val="tx1">
                    <a:lumMod val="75000"/>
                    <a:lumOff val="25000"/>
                  </a:schemeClr>
                </a:solidFill>
                <a:latin typeface="Segoe UI" panose="020B0502040204020203" pitchFamily="34" charset="0"/>
                <a:cs typeface="Segoe UI" panose="020B0502040204020203" pitchFamily="34" charset="0"/>
              </a:rPr>
              <a:t>Proteger Datos y Plataformas: ¿Compromiso u obligación</a:t>
            </a:r>
            <a:endParaRPr lang="en-US"/>
          </a:p>
        </p:txBody>
      </p:sp>
      <p:sp>
        <p:nvSpPr>
          <p:cNvPr id="4" name="Slide Number Placeholder 3">
            <a:extLst>
              <a:ext uri="{FF2B5EF4-FFF2-40B4-BE49-F238E27FC236}">
                <a16:creationId xmlns:a16="http://schemas.microsoft.com/office/drawing/2014/main" id="{6041D2C8-A52B-9287-1CA3-582D6181C51D}"/>
              </a:ext>
            </a:extLst>
          </p:cNvPr>
          <p:cNvSpPr>
            <a:spLocks noGrp="1"/>
          </p:cNvSpPr>
          <p:nvPr>
            <p:ph type="sldNum" sz="quarter" idx="5"/>
          </p:nvPr>
        </p:nvSpPr>
        <p:spPr/>
        <p:txBody>
          <a:bodyPr/>
          <a:lstStyle/>
          <a:p>
            <a:fld id="{FC146366-EC0C-4FA7-8683-12ACFC203E97}" type="slidenum">
              <a:rPr lang="en-US" smtClean="0"/>
              <a:t>11</a:t>
            </a:fld>
            <a:endParaRPr lang="en-US"/>
          </a:p>
        </p:txBody>
      </p:sp>
    </p:spTree>
    <p:extLst>
      <p:ext uri="{BB962C8B-B14F-4D97-AF65-F5344CB8AC3E}">
        <p14:creationId xmlns:p14="http://schemas.microsoft.com/office/powerpoint/2010/main" val="1219371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9271C-6ADF-BB71-CF3C-1C82A41DA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C0F42-13E6-FCE0-CE75-6B486F6BC8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C230C-6F17-9ECB-307F-EB6FAE969C73}"/>
              </a:ext>
            </a:extLst>
          </p:cNvPr>
          <p:cNvSpPr>
            <a:spLocks noGrp="1"/>
          </p:cNvSpPr>
          <p:nvPr>
            <p:ph type="body" idx="1"/>
          </p:nvPr>
        </p:nvSpPr>
        <p:spPr/>
        <p:txBody>
          <a:bodyPr/>
          <a:lstStyle/>
          <a:p>
            <a:pPr marL="171450" indent="-171450">
              <a:buFont typeface="Arial" panose="020B0604020202020204" pitchFamily="34" charset="0"/>
              <a:buChar char="•"/>
            </a:pPr>
            <a:r>
              <a:rPr lang="es-ES" sz="1200" b="1" noProof="0">
                <a:solidFill>
                  <a:schemeClr val="tx1">
                    <a:lumMod val="75000"/>
                    <a:lumOff val="25000"/>
                  </a:schemeClr>
                </a:solidFill>
                <a:latin typeface="Segoe UI" panose="020B0502040204020203" pitchFamily="34" charset="0"/>
                <a:cs typeface="Segoe UI" panose="020B0502040204020203" pitchFamily="34" charset="0"/>
              </a:rPr>
              <a:t>Data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Privacy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Customer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managed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keys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masking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Purview</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map</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Advaced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connector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Network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Isonaliton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(v-Net)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Acces</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Management + Network Security: </a:t>
            </a:r>
            <a:r>
              <a:rPr lang="es-ES" sz="1200" b="0" noProof="0">
                <a:solidFill>
                  <a:schemeClr val="tx1">
                    <a:lumMod val="75000"/>
                    <a:lumOff val="25000"/>
                  </a:schemeClr>
                </a:solidFill>
                <a:latin typeface="Segoe UI" panose="020B0502040204020203" pitchFamily="34" charset="0"/>
                <a:cs typeface="Segoe UI" panose="020B0502040204020203" pitchFamily="34" charset="0"/>
              </a:rPr>
              <a:t>IP Firewall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Resource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sharing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limits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IP cookie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binding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Isolationt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PIM | Client app Access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Conditional</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Access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Individual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Canvas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Apps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Access &amp;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Authentication</a:t>
            </a:r>
            <a:endParaRPr lang="es-ES" sz="1200" b="0"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Compliance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Lockbox</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Dataverse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Audid</a:t>
            </a:r>
            <a:endParaRPr lang="es-ES" sz="1200" b="0"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Thread</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Solution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Checker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Microsfot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Sentinel</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Integration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Thread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Detection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Copilot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Defender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Copilot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Agents</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endParaRPr lang="en-US"/>
          </a:p>
        </p:txBody>
      </p:sp>
      <p:sp>
        <p:nvSpPr>
          <p:cNvPr id="4" name="Slide Number Placeholder 3">
            <a:extLst>
              <a:ext uri="{FF2B5EF4-FFF2-40B4-BE49-F238E27FC236}">
                <a16:creationId xmlns:a16="http://schemas.microsoft.com/office/drawing/2014/main" id="{5581E360-0407-7390-7FAC-AE9734DBB633}"/>
              </a:ext>
            </a:extLst>
          </p:cNvPr>
          <p:cNvSpPr>
            <a:spLocks noGrp="1"/>
          </p:cNvSpPr>
          <p:nvPr>
            <p:ph type="sldNum" sz="quarter" idx="5"/>
          </p:nvPr>
        </p:nvSpPr>
        <p:spPr/>
        <p:txBody>
          <a:bodyPr/>
          <a:lstStyle/>
          <a:p>
            <a:fld id="{FC146366-EC0C-4FA7-8683-12ACFC203E97}" type="slidenum">
              <a:rPr lang="en-US" smtClean="0"/>
              <a:t>12</a:t>
            </a:fld>
            <a:endParaRPr lang="en-US"/>
          </a:p>
        </p:txBody>
      </p:sp>
    </p:spTree>
    <p:extLst>
      <p:ext uri="{BB962C8B-B14F-4D97-AF65-F5344CB8AC3E}">
        <p14:creationId xmlns:p14="http://schemas.microsoft.com/office/powerpoint/2010/main" val="2582691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err="1"/>
              <a:t>Postura</a:t>
            </a:r>
            <a:r>
              <a:rPr lang="en-US"/>
              <a:t> de Seguridad en </a:t>
            </a:r>
            <a:r>
              <a:rPr lang="es-ES"/>
              <a:t>el Power Platform </a:t>
            </a:r>
            <a:r>
              <a:rPr lang="es-ES" err="1"/>
              <a:t>Admin</a:t>
            </a:r>
            <a:r>
              <a:rPr lang="es-ES"/>
              <a:t> Center</a:t>
            </a:r>
          </a:p>
          <a:p>
            <a:pPr marL="171450" indent="-171450">
              <a:buFont typeface="Arial" panose="020B0604020202020204" pitchFamily="34" charset="0"/>
              <a:buChar char="•"/>
            </a:pPr>
            <a:r>
              <a:rPr lang="es-ES"/>
              <a:t>¿Postura de Seguridad en Microsoft </a:t>
            </a:r>
            <a:r>
              <a:rPr lang="es-ES" err="1"/>
              <a:t>Purview</a:t>
            </a:r>
            <a:r>
              <a:rPr lang="es-ES"/>
              <a:t>?</a:t>
            </a:r>
            <a:endParaRPr lang="en-US"/>
          </a:p>
        </p:txBody>
      </p:sp>
      <p:sp>
        <p:nvSpPr>
          <p:cNvPr id="4" name="Slide Number Placeholder 3"/>
          <p:cNvSpPr>
            <a:spLocks noGrp="1"/>
          </p:cNvSpPr>
          <p:nvPr>
            <p:ph type="sldNum" sz="quarter" idx="5"/>
          </p:nvPr>
        </p:nvSpPr>
        <p:spPr/>
        <p:txBody>
          <a:bodyPr/>
          <a:lstStyle/>
          <a:p>
            <a:fld id="{FC146366-EC0C-4FA7-8683-12ACFC203E97}" type="slidenum">
              <a:rPr lang="en-US" smtClean="0"/>
              <a:t>14</a:t>
            </a:fld>
            <a:endParaRPr lang="en-US"/>
          </a:p>
        </p:txBody>
      </p:sp>
    </p:spTree>
    <p:extLst>
      <p:ext uri="{BB962C8B-B14F-4D97-AF65-F5344CB8AC3E}">
        <p14:creationId xmlns:p14="http://schemas.microsoft.com/office/powerpoint/2010/main" val="18184102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E15D3-C0EC-8E18-F727-F4A861B0FB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D39A0-B6EF-8419-3F02-AA14DD327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4D869-BAFA-CA1F-7BB9-8877DA69821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a:solidFill>
                  <a:schemeClr val="tx1">
                    <a:lumMod val="75000"/>
                    <a:lumOff val="25000"/>
                  </a:schemeClr>
                </a:solidFill>
                <a:latin typeface="Segoe UI" panose="020B0502040204020203" pitchFamily="34" charset="0"/>
                <a:cs typeface="Segoe UI" panose="020B0502040204020203" pitchFamily="34" charset="0"/>
              </a:rPr>
              <a:t>Data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Privacy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Customer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managed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keys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masking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Purview</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map</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Advaced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connector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Network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Isonaliton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(v-Net)</a:t>
            </a:r>
            <a:endParaRPr lang="en-US"/>
          </a:p>
          <a:p>
            <a:pPr marL="171450" indent="-171450">
              <a:buFont typeface="Arial" panose="020B0604020202020204" pitchFamily="34" charset="0"/>
              <a:buChar cha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 protection and privacy</a:t>
            </a:r>
            <a:r>
              <a:rPr lang="en-US" sz="1200" b="0" i="0" kern="120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a:solidFill>
                  <a:schemeClr val="tx1"/>
                </a:solidFill>
                <a:effectLst/>
                <a:latin typeface="+mn-lt"/>
                <a:ea typeface="+mn-ea"/>
                <a:cs typeface="+mn-cs"/>
                <a:hlinkClick r:id="rId3"/>
              </a:rPr>
              <a:t>Azure Virtual Network</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customer-managed keys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a:rPr>
              <a:t>data policies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6"/>
              </a:rPr>
              <a:t>data masking</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7"/>
              </a:rPr>
              <a:t>Microsoft Purview Data Map</a:t>
            </a:r>
            <a:r>
              <a:rPr lang="en-US" sz="1200" b="0" i="0" kern="120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 Masking: </a:t>
            </a:r>
            <a:r>
              <a:rPr lang="en-US" sz="1200" b="0" i="0" kern="1200">
                <a:solidFill>
                  <a:schemeClr val="tx1"/>
                </a:solidFill>
                <a:effectLst/>
                <a:latin typeface="+mn-lt"/>
                <a:ea typeface="+mn-ea"/>
                <a:cs typeface="+mn-cs"/>
              </a:rPr>
              <a:t>Data masking helps protect sensitive information during customer interactions and prevents data leaks. Data masking, also known as de-identification or obfuscation, replaces sensitive data with masked strings. The masked strings ensure that the original, unmasked values remain hidden. Only authorized users can read the unmasked values—one record at a time. In the context of customer interactions, frontline support users are prevented from exposing sensitive information like credit card numbers, social security numbers, or any personal data.</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0DB7CDA-A683-2AF9-992B-E01570A209A5}"/>
              </a:ext>
            </a:extLst>
          </p:cNvPr>
          <p:cNvSpPr>
            <a:spLocks noGrp="1"/>
          </p:cNvSpPr>
          <p:nvPr>
            <p:ph type="sldNum" sz="quarter" idx="5"/>
          </p:nvPr>
        </p:nvSpPr>
        <p:spPr/>
        <p:txBody>
          <a:bodyPr/>
          <a:lstStyle/>
          <a:p>
            <a:fld id="{FC146366-EC0C-4FA7-8683-12ACFC203E97}" type="slidenum">
              <a:rPr lang="en-US" smtClean="0"/>
              <a:t>15</a:t>
            </a:fld>
            <a:endParaRPr lang="en-US"/>
          </a:p>
        </p:txBody>
      </p:sp>
    </p:spTree>
    <p:extLst>
      <p:ext uri="{BB962C8B-B14F-4D97-AF65-F5344CB8AC3E}">
        <p14:creationId xmlns:p14="http://schemas.microsoft.com/office/powerpoint/2010/main" val="1574298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B28E9-93BE-2998-C810-4107AA265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59248-5FC8-A6BE-9EB2-AB34704D59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5422F-DE47-70A9-BC54-EA1D6B45F1F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a:solidFill>
                  <a:schemeClr val="tx1">
                    <a:lumMod val="75000"/>
                    <a:lumOff val="25000"/>
                  </a:schemeClr>
                </a:solidFill>
                <a:latin typeface="Segoe UI" panose="020B0502040204020203" pitchFamily="34" charset="0"/>
                <a:cs typeface="Segoe UI" panose="020B0502040204020203" pitchFamily="34" charset="0"/>
              </a:rPr>
              <a:t>Data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Privacy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Customer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managed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keys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masking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Purview</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map</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Advaced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connector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Network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Isonaliton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(v-Net)</a:t>
            </a:r>
            <a:endParaRPr lang="en-US"/>
          </a:p>
          <a:p>
            <a:pPr marL="171450" indent="-171450">
              <a:buFont typeface="Arial" panose="020B0604020202020204" pitchFamily="34" charset="0"/>
              <a:buChar cha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 protection and privacy</a:t>
            </a:r>
            <a:r>
              <a:rPr lang="en-US" sz="1200" b="0" i="0" kern="120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a:solidFill>
                  <a:schemeClr val="tx1"/>
                </a:solidFill>
                <a:effectLst/>
                <a:latin typeface="+mn-lt"/>
                <a:ea typeface="+mn-ea"/>
                <a:cs typeface="+mn-cs"/>
                <a:hlinkClick r:id="rId3"/>
              </a:rPr>
              <a:t>Azure Virtual Network</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customer-managed keys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a:rPr>
              <a:t>data policies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6"/>
              </a:rPr>
              <a:t>data masking</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7"/>
              </a:rPr>
              <a:t>Microsoft Purview Data Map</a:t>
            </a:r>
            <a:r>
              <a:rPr lang="en-US" sz="1200" b="0" i="0" kern="120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 Masking: </a:t>
            </a:r>
            <a:r>
              <a:rPr lang="en-US" sz="1200" b="0" i="0" kern="1200">
                <a:solidFill>
                  <a:schemeClr val="tx1"/>
                </a:solidFill>
                <a:effectLst/>
                <a:latin typeface="+mn-lt"/>
                <a:ea typeface="+mn-ea"/>
                <a:cs typeface="+mn-cs"/>
              </a:rPr>
              <a:t>Data masking helps protect sensitive information during customer interactions and prevents data leaks. Data masking, also known as de-identification or obfuscation, replaces sensitive data with masked strings. The masked strings ensure that the original, unmasked values remain hidden. Only authorized users can read the unmasked values—one record at a time. In the context of customer interactions, frontline support users are prevented from exposing sensitive information like credit card numbers, social security numbers, or any personal data.</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B947C75-17AA-C756-03CF-9AFD6B101B45}"/>
              </a:ext>
            </a:extLst>
          </p:cNvPr>
          <p:cNvSpPr>
            <a:spLocks noGrp="1"/>
          </p:cNvSpPr>
          <p:nvPr>
            <p:ph type="sldNum" sz="quarter" idx="5"/>
          </p:nvPr>
        </p:nvSpPr>
        <p:spPr/>
        <p:txBody>
          <a:bodyPr/>
          <a:lstStyle/>
          <a:p>
            <a:fld id="{FC146366-EC0C-4FA7-8683-12ACFC203E97}" type="slidenum">
              <a:rPr lang="en-US" smtClean="0"/>
              <a:t>16</a:t>
            </a:fld>
            <a:endParaRPr lang="en-US"/>
          </a:p>
        </p:txBody>
      </p:sp>
    </p:spTree>
    <p:extLst>
      <p:ext uri="{BB962C8B-B14F-4D97-AF65-F5344CB8AC3E}">
        <p14:creationId xmlns:p14="http://schemas.microsoft.com/office/powerpoint/2010/main" val="33672271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51986-BA99-027B-1907-D91D86274B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94EC8-BC49-4062-1218-E9188426A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46DB08-A972-529A-47C3-C979479A85A2}"/>
              </a:ext>
            </a:extLst>
          </p:cNvPr>
          <p:cNvSpPr>
            <a:spLocks noGrp="1"/>
          </p:cNvSpPr>
          <p:nvPr>
            <p:ph type="body" idx="1"/>
          </p:nvPr>
        </p:nvSpPr>
        <p:spPr/>
        <p:txBody>
          <a:bodyPr/>
          <a:lstStyle/>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8C18833-F304-8631-290D-BB0362EBCDCC}"/>
              </a:ext>
            </a:extLst>
          </p:cNvPr>
          <p:cNvSpPr>
            <a:spLocks noGrp="1"/>
          </p:cNvSpPr>
          <p:nvPr>
            <p:ph type="sldNum" sz="quarter" idx="5"/>
          </p:nvPr>
        </p:nvSpPr>
        <p:spPr/>
        <p:txBody>
          <a:bodyPr/>
          <a:lstStyle/>
          <a:p>
            <a:fld id="{FC146366-EC0C-4FA7-8683-12ACFC203E97}" type="slidenum">
              <a:rPr lang="en-US" smtClean="0"/>
              <a:t>17</a:t>
            </a:fld>
            <a:endParaRPr lang="en-US"/>
          </a:p>
        </p:txBody>
      </p:sp>
    </p:spTree>
    <p:extLst>
      <p:ext uri="{BB962C8B-B14F-4D97-AF65-F5344CB8AC3E}">
        <p14:creationId xmlns:p14="http://schemas.microsoft.com/office/powerpoint/2010/main" val="275965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D95C2-BCD1-AFE9-EA4B-B0DFB15F2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785FC-8FDE-35F0-65B3-82E9DE697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CFC13-DD37-4BBB-35CD-D0E6B83FEA3E}"/>
              </a:ext>
            </a:extLst>
          </p:cNvPr>
          <p:cNvSpPr>
            <a:spLocks noGrp="1"/>
          </p:cNvSpPr>
          <p:nvPr>
            <p:ph type="body" idx="1"/>
          </p:nvPr>
        </p:nvSpPr>
        <p:spPr/>
        <p:txBody>
          <a:bodyPr/>
          <a:lstStyle/>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E00E958-EBCA-6D63-3E9D-AA642F0ABD66}"/>
              </a:ext>
            </a:extLst>
          </p:cNvPr>
          <p:cNvSpPr>
            <a:spLocks noGrp="1"/>
          </p:cNvSpPr>
          <p:nvPr>
            <p:ph type="sldNum" sz="quarter" idx="5"/>
          </p:nvPr>
        </p:nvSpPr>
        <p:spPr/>
        <p:txBody>
          <a:bodyPr/>
          <a:lstStyle/>
          <a:p>
            <a:fld id="{FC146366-EC0C-4FA7-8683-12ACFC203E97}" type="slidenum">
              <a:rPr lang="en-US" smtClean="0"/>
              <a:t>18</a:t>
            </a:fld>
            <a:endParaRPr lang="en-US"/>
          </a:p>
        </p:txBody>
      </p:sp>
    </p:spTree>
    <p:extLst>
      <p:ext uri="{BB962C8B-B14F-4D97-AF65-F5344CB8AC3E}">
        <p14:creationId xmlns:p14="http://schemas.microsoft.com/office/powerpoint/2010/main" val="4088243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09C0E-52E0-E4AC-8F35-F75C6C0E7B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73992-994F-002B-AA19-0D52C0A7F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6B504F-045F-2750-12A6-6A5656952F1B}"/>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a:solidFill>
                  <a:schemeClr val="tx1">
                    <a:lumMod val="75000"/>
                    <a:lumOff val="25000"/>
                  </a:schemeClr>
                </a:solidFill>
                <a:latin typeface="Segoe UI" panose="020B0502040204020203" pitchFamily="34" charset="0"/>
                <a:cs typeface="Segoe UI" panose="020B0502040204020203" pitchFamily="34" charset="0"/>
              </a:rPr>
              <a:t>Data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Privacy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Customer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managed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keys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masking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Purview</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map</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Data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Advaced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connector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policies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Network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Isonaliton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(v-Net)</a:t>
            </a:r>
            <a:endParaRPr lang="en-US"/>
          </a:p>
          <a:p>
            <a:pPr marL="171450" indent="-171450">
              <a:buFont typeface="Arial" panose="020B0604020202020204" pitchFamily="34" charset="0"/>
              <a:buChar cha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Data protection and privacy</a:t>
            </a:r>
            <a:r>
              <a:rPr lang="en-US" sz="1200" b="0" i="0" kern="1200">
                <a:solidFill>
                  <a:schemeClr val="tx1"/>
                </a:solidFill>
                <a:effectLst/>
                <a:latin typeface="+mn-lt"/>
                <a:ea typeface="+mn-ea"/>
                <a:cs typeface="+mn-cs"/>
              </a:rPr>
              <a:t>: Ensure that personal information is securely handled, stored, and protected in a way that maintains confidentiality and integrity and prevents unauthorized access. Features such as </a:t>
            </a:r>
            <a:r>
              <a:rPr lang="en-US" sz="1200" b="0" i="0" u="none" strike="noStrike" kern="1200">
                <a:solidFill>
                  <a:schemeClr val="tx1"/>
                </a:solidFill>
                <a:effectLst/>
                <a:latin typeface="+mn-lt"/>
                <a:ea typeface="+mn-ea"/>
                <a:cs typeface="+mn-cs"/>
                <a:hlinkClick r:id="rId3"/>
              </a:rPr>
              <a:t>Azure Virtual Network</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customer-managed keys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a:rPr>
              <a:t>data policies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6"/>
              </a:rPr>
              <a:t>data masking</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7"/>
              </a:rPr>
              <a:t>Microsoft Purview Data Map</a:t>
            </a:r>
            <a:r>
              <a:rPr lang="en-US" sz="1200" b="0" i="0" kern="1200">
                <a:solidFill>
                  <a:schemeClr val="tx1"/>
                </a:solidFill>
                <a:effectLst/>
                <a:latin typeface="+mn-lt"/>
                <a:ea typeface="+mn-ea"/>
                <a:cs typeface="+mn-cs"/>
              </a:rPr>
              <a:t> help protect applications and cloud workloads from network-based cyberattacks.</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Advanced Connector Policies: </a:t>
            </a:r>
            <a:r>
              <a:rPr lang="en-US" sz="1200" b="0" i="0" kern="1200">
                <a:solidFill>
                  <a:schemeClr val="tx1"/>
                </a:solidFill>
                <a:effectLst/>
                <a:latin typeface="+mn-lt"/>
                <a:ea typeface="+mn-ea"/>
                <a:cs typeface="+mn-cs"/>
              </a:rPr>
              <a:t>Advanced connector policies (ACP) represent the next generation of securing connector usage within the Power Platform. This feature provides a modern and flexible approach to managing all </a:t>
            </a:r>
            <a:r>
              <a:rPr lang="en-US" sz="1200" b="0" i="0" u="none" strike="noStrike" kern="1200">
                <a:solidFill>
                  <a:schemeClr val="tx1"/>
                </a:solidFill>
                <a:effectLst/>
                <a:latin typeface="+mn-lt"/>
                <a:ea typeface="+mn-ea"/>
                <a:cs typeface="+mn-cs"/>
                <a:hlinkClick r:id="rId8"/>
              </a:rPr>
              <a:t>certified connectors</a:t>
            </a:r>
            <a:r>
              <a:rPr lang="en-US" sz="1200" b="0" i="0" kern="1200">
                <a:solidFill>
                  <a:schemeClr val="tx1"/>
                </a:solidFill>
                <a:effectLst/>
                <a:latin typeface="+mn-lt"/>
                <a:ea typeface="+mn-ea"/>
                <a:cs typeface="+mn-cs"/>
              </a:rPr>
              <a:t>, aligning with the broader governance strategy of per-environment security controls paired with </a:t>
            </a:r>
            <a:r>
              <a:rPr lang="en-US" sz="1200" b="0" i="0" u="none" strike="noStrike" kern="1200">
                <a:solidFill>
                  <a:schemeClr val="tx1"/>
                </a:solidFill>
                <a:effectLst/>
                <a:latin typeface="+mn-lt"/>
                <a:ea typeface="+mn-ea"/>
                <a:cs typeface="+mn-cs"/>
                <a:hlinkClick r:id="rId9"/>
              </a:rPr>
              <a:t>environment group support</a:t>
            </a:r>
            <a:r>
              <a:rPr lang="en-US" sz="1200" b="0" i="0" kern="1200">
                <a:solidFill>
                  <a:schemeClr val="tx1"/>
                </a:solidFill>
                <a:effectLst/>
                <a:latin typeface="+mn-lt"/>
                <a:ea typeface="+mn-ea"/>
                <a:cs typeface="+mn-cs"/>
              </a:rPr>
              <a:t>.</a:t>
            </a:r>
          </a:p>
          <a:p>
            <a:pPr marL="171450" indent="-171450">
              <a:buFont typeface="Arial" panose="020B0604020202020204" pitchFamily="34" charset="0"/>
              <a:buChar cha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Azure Virtual Network</a:t>
            </a:r>
            <a:r>
              <a:rPr lang="en-US" sz="1200" b="0" i="0" kern="1200">
                <a:solidFill>
                  <a:schemeClr val="tx1"/>
                </a:solidFill>
                <a:effectLst/>
                <a:latin typeface="+mn-lt"/>
                <a:ea typeface="+mn-ea"/>
                <a:cs typeface="+mn-cs"/>
              </a:rPr>
              <a:t>:</a:t>
            </a:r>
          </a:p>
          <a:p>
            <a:pPr marL="628650" lvl="1" indent="-171450">
              <a:buFont typeface="Arial" panose="020B0604020202020204" pitchFamily="34" charset="0"/>
              <a:buChar char="•"/>
            </a:pPr>
            <a:r>
              <a:rPr lang="en-US" sz="1200" b="1" i="0" kern="1200">
                <a:solidFill>
                  <a:schemeClr val="tx1"/>
                </a:solidFill>
                <a:effectLst/>
                <a:latin typeface="+mn-lt"/>
                <a:ea typeface="+mn-ea"/>
                <a:cs typeface="+mn-cs"/>
              </a:rPr>
              <a:t>Data protection</a:t>
            </a:r>
            <a:r>
              <a:rPr lang="en-US" sz="1200" b="0" i="0" kern="1200">
                <a:solidFill>
                  <a:schemeClr val="tx1"/>
                </a:solidFill>
                <a:effectLst/>
                <a:latin typeface="+mn-lt"/>
                <a:ea typeface="+mn-ea"/>
                <a:cs typeface="+mn-cs"/>
              </a:rPr>
              <a:t>: Virtual Network allows Power Platform services to connect to your private and protected resources without exposing them to the internet.</a:t>
            </a:r>
          </a:p>
          <a:p>
            <a:pPr marL="628650" lvl="1" indent="-171450">
              <a:buFont typeface="Arial" panose="020B0604020202020204" pitchFamily="34" charset="0"/>
              <a:buChar char="•"/>
            </a:pPr>
            <a:r>
              <a:rPr lang="en-US" sz="1200" b="1" i="0" kern="1200">
                <a:solidFill>
                  <a:schemeClr val="tx1"/>
                </a:solidFill>
                <a:effectLst/>
                <a:latin typeface="+mn-lt"/>
                <a:ea typeface="+mn-ea"/>
                <a:cs typeface="+mn-cs"/>
              </a:rPr>
              <a:t>No unauthorized access</a:t>
            </a:r>
            <a:r>
              <a:rPr lang="en-US" sz="1200" b="0" i="0" kern="1200">
                <a:solidFill>
                  <a:schemeClr val="tx1"/>
                </a:solidFill>
                <a:effectLst/>
                <a:latin typeface="+mn-lt"/>
                <a:ea typeface="+mn-ea"/>
                <a:cs typeface="+mn-cs"/>
              </a:rPr>
              <a:t>: Virtual Network connects with your resources without needing Power Platform IP ranges or service tags in the connection</a:t>
            </a:r>
          </a:p>
        </p:txBody>
      </p:sp>
      <p:sp>
        <p:nvSpPr>
          <p:cNvPr id="4" name="Slide Number Placeholder 3">
            <a:extLst>
              <a:ext uri="{FF2B5EF4-FFF2-40B4-BE49-F238E27FC236}">
                <a16:creationId xmlns:a16="http://schemas.microsoft.com/office/drawing/2014/main" id="{3E43F3DD-0F21-E45C-C3C9-D19D0BB02737}"/>
              </a:ext>
            </a:extLst>
          </p:cNvPr>
          <p:cNvSpPr>
            <a:spLocks noGrp="1"/>
          </p:cNvSpPr>
          <p:nvPr>
            <p:ph type="sldNum" sz="quarter" idx="5"/>
          </p:nvPr>
        </p:nvSpPr>
        <p:spPr/>
        <p:txBody>
          <a:bodyPr/>
          <a:lstStyle/>
          <a:p>
            <a:fld id="{FC146366-EC0C-4FA7-8683-12ACFC203E97}" type="slidenum">
              <a:rPr lang="en-US" smtClean="0"/>
              <a:t>19</a:t>
            </a:fld>
            <a:endParaRPr lang="en-US"/>
          </a:p>
        </p:txBody>
      </p:sp>
    </p:spTree>
    <p:extLst>
      <p:ext uri="{BB962C8B-B14F-4D97-AF65-F5344CB8AC3E}">
        <p14:creationId xmlns:p14="http://schemas.microsoft.com/office/powerpoint/2010/main" val="1632815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5B90A-3D88-8A0F-466B-E138C2D2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575C0-491A-F331-A75A-F9BEA91840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787A3-4663-126F-7B60-4525E4175387}"/>
              </a:ext>
            </a:extLst>
          </p:cNvPr>
          <p:cNvSpPr>
            <a:spLocks noGrp="1"/>
          </p:cNvSpPr>
          <p:nvPr>
            <p:ph type="body" idx="1"/>
          </p:nvPr>
        </p:nvSpPr>
        <p:spPr/>
        <p:txBody>
          <a:bodyPr/>
          <a:lstStyle/>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9B26832-C102-E073-E70C-1C91831684D4}"/>
              </a:ext>
            </a:extLst>
          </p:cNvPr>
          <p:cNvSpPr>
            <a:spLocks noGrp="1"/>
          </p:cNvSpPr>
          <p:nvPr>
            <p:ph type="sldNum" sz="quarter" idx="5"/>
          </p:nvPr>
        </p:nvSpPr>
        <p:spPr/>
        <p:txBody>
          <a:bodyPr/>
          <a:lstStyle/>
          <a:p>
            <a:fld id="{FC146366-EC0C-4FA7-8683-12ACFC203E97}" type="slidenum">
              <a:rPr lang="en-US" smtClean="0"/>
              <a:t>20</a:t>
            </a:fld>
            <a:endParaRPr lang="en-US"/>
          </a:p>
        </p:txBody>
      </p:sp>
    </p:spTree>
    <p:extLst>
      <p:ext uri="{BB962C8B-B14F-4D97-AF65-F5344CB8AC3E}">
        <p14:creationId xmlns:p14="http://schemas.microsoft.com/office/powerpoint/2010/main" val="2160399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8909-E147-11FB-5078-6E0B59BE7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67645-20EA-EE3E-1452-D141ECCD83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6DA5B6-9C07-8E0E-3383-8D5824AA3529}"/>
              </a:ext>
            </a:extLst>
          </p:cNvPr>
          <p:cNvSpPr>
            <a:spLocks noGrp="1"/>
          </p:cNvSpPr>
          <p:nvPr>
            <p:ph type="body" idx="1"/>
          </p:nvPr>
        </p:nvSpPr>
        <p:spPr/>
        <p:txBody>
          <a:bodyPr/>
          <a:lstStyle/>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54AD6F0-F178-A8BE-D21B-DC130314BC81}"/>
              </a:ext>
            </a:extLst>
          </p:cNvPr>
          <p:cNvSpPr>
            <a:spLocks noGrp="1"/>
          </p:cNvSpPr>
          <p:nvPr>
            <p:ph type="sldNum" sz="quarter" idx="5"/>
          </p:nvPr>
        </p:nvSpPr>
        <p:spPr/>
        <p:txBody>
          <a:bodyPr/>
          <a:lstStyle/>
          <a:p>
            <a:fld id="{FC146366-EC0C-4FA7-8683-12ACFC203E97}" type="slidenum">
              <a:rPr lang="en-US" smtClean="0"/>
              <a:t>21</a:t>
            </a:fld>
            <a:endParaRPr lang="en-US"/>
          </a:p>
        </p:txBody>
      </p:sp>
    </p:spTree>
    <p:extLst>
      <p:ext uri="{BB962C8B-B14F-4D97-AF65-F5344CB8AC3E}">
        <p14:creationId xmlns:p14="http://schemas.microsoft.com/office/powerpoint/2010/main" val="4069181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6737F-C1B6-5CD2-8B6A-606F79817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392C52-3288-BAB9-AD4C-0794DD016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B130A8-613F-B766-2DE3-62023662AA6E}"/>
              </a:ext>
            </a:extLst>
          </p:cNvPr>
          <p:cNvSpPr>
            <a:spLocks noGrp="1"/>
          </p:cNvSpPr>
          <p:nvPr>
            <p:ph type="body" idx="1"/>
          </p:nvPr>
        </p:nvSpPr>
        <p:spPr/>
        <p:txBody>
          <a:bodyPr/>
          <a:lstStyle/>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D307ADC-4E4F-7B80-D28C-04B59E97331C}"/>
              </a:ext>
            </a:extLst>
          </p:cNvPr>
          <p:cNvSpPr>
            <a:spLocks noGrp="1"/>
          </p:cNvSpPr>
          <p:nvPr>
            <p:ph type="sldNum" sz="quarter" idx="5"/>
          </p:nvPr>
        </p:nvSpPr>
        <p:spPr/>
        <p:txBody>
          <a:bodyPr/>
          <a:lstStyle/>
          <a:p>
            <a:fld id="{FC146366-EC0C-4FA7-8683-12ACFC203E97}" type="slidenum">
              <a:rPr lang="en-US" smtClean="0"/>
              <a:t>22</a:t>
            </a:fld>
            <a:endParaRPr lang="en-US"/>
          </a:p>
        </p:txBody>
      </p:sp>
    </p:spTree>
    <p:extLst>
      <p:ext uri="{BB962C8B-B14F-4D97-AF65-F5344CB8AC3E}">
        <p14:creationId xmlns:p14="http://schemas.microsoft.com/office/powerpoint/2010/main" val="28831091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C6F4E-5E4B-39B3-E95F-59CFD377F1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1C2A9-BC24-1481-63BF-ED80CD8531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DD372-E6D7-F92F-93D7-A5A6FB85E4B6}"/>
              </a:ext>
            </a:extLst>
          </p:cNvPr>
          <p:cNvSpPr>
            <a:spLocks noGrp="1"/>
          </p:cNvSpPr>
          <p:nvPr>
            <p:ph type="body" idx="1"/>
          </p:nvPr>
        </p:nvSpPr>
        <p:spPr/>
        <p:txBody>
          <a:bodyPr/>
          <a:lstStyle/>
          <a:p>
            <a:r>
              <a:rPr lang="en-US" sz="1200" b="0" i="0" kern="1200">
                <a:solidFill>
                  <a:schemeClr val="tx1"/>
                </a:solidFill>
                <a:effectLst/>
                <a:latin typeface="+mn-lt"/>
                <a:ea typeface="+mn-ea"/>
                <a:cs typeface="+mn-cs"/>
              </a:rPr>
              <a:t>Advanced connector policies (ACP) represent the next generation of securing connector usage within the Power Platform. This feature provides a modern and flexible approach to managing all </a:t>
            </a:r>
            <a:r>
              <a:rPr lang="en-US" sz="1200" b="0" i="0" u="none" strike="noStrike" kern="1200">
                <a:solidFill>
                  <a:schemeClr val="tx1"/>
                </a:solidFill>
                <a:effectLst/>
                <a:latin typeface="+mn-lt"/>
                <a:ea typeface="+mn-ea"/>
                <a:cs typeface="+mn-cs"/>
                <a:hlinkClick r:id="rId3"/>
              </a:rPr>
              <a:t>certified connectors</a:t>
            </a:r>
            <a:r>
              <a:rPr lang="en-US" sz="1200" b="0" i="0" kern="1200">
                <a:solidFill>
                  <a:schemeClr val="tx1"/>
                </a:solidFill>
                <a:effectLst/>
                <a:latin typeface="+mn-lt"/>
                <a:ea typeface="+mn-ea"/>
                <a:cs typeface="+mn-cs"/>
              </a:rPr>
              <a:t>, aligning with the broader governance strategy of per-environment security controls paired with </a:t>
            </a:r>
            <a:r>
              <a:rPr lang="en-US" sz="1200" b="0" i="0" u="none" strike="noStrike" kern="1200">
                <a:solidFill>
                  <a:schemeClr val="tx1"/>
                </a:solidFill>
                <a:effectLst/>
                <a:latin typeface="+mn-lt"/>
                <a:ea typeface="+mn-ea"/>
                <a:cs typeface="+mn-cs"/>
                <a:hlinkClick r:id="rId4"/>
              </a:rPr>
              <a:t>environment group support</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By adopting advanced connector policies, administrators gain greater control and granularity in securing and managing connector usage while enhancing the overall governance of their Power Platform environments.</a:t>
            </a:r>
          </a:p>
          <a:p>
            <a:endParaRPr lang="en-US" sz="1200" b="0" i="0" kern="1200">
              <a:solidFill>
                <a:schemeClr val="tx1"/>
              </a:solidFill>
              <a:effectLst/>
              <a:latin typeface="+mn-lt"/>
              <a:ea typeface="+mn-ea"/>
              <a:cs typeface="+mn-cs"/>
            </a:endParaRPr>
          </a:p>
          <a:p>
            <a:r>
              <a:rPr lang="en-US">
                <a:hlinkClick r:id="rId5"/>
              </a:rPr>
              <a:t>Data policies - Power Platform | Microsoft Learn</a:t>
            </a: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A559C2F-0717-8855-EB02-843FA83367E9}"/>
              </a:ext>
            </a:extLst>
          </p:cNvPr>
          <p:cNvSpPr>
            <a:spLocks noGrp="1"/>
          </p:cNvSpPr>
          <p:nvPr>
            <p:ph type="sldNum" sz="quarter" idx="5"/>
          </p:nvPr>
        </p:nvSpPr>
        <p:spPr/>
        <p:txBody>
          <a:bodyPr/>
          <a:lstStyle/>
          <a:p>
            <a:fld id="{FC146366-EC0C-4FA7-8683-12ACFC203E97}" type="slidenum">
              <a:rPr lang="en-US" smtClean="0"/>
              <a:t>23</a:t>
            </a:fld>
            <a:endParaRPr lang="en-US"/>
          </a:p>
        </p:txBody>
      </p:sp>
    </p:spTree>
    <p:extLst>
      <p:ext uri="{BB962C8B-B14F-4D97-AF65-F5344CB8AC3E}">
        <p14:creationId xmlns:p14="http://schemas.microsoft.com/office/powerpoint/2010/main" val="4178033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A223F-D2C6-9711-987E-440A61381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2BC4B-A6AB-9376-6110-113191E37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A06FAB-BD88-8370-2757-F9A5B86B2692}"/>
              </a:ext>
            </a:extLst>
          </p:cNvPr>
          <p:cNvSpPr>
            <a:spLocks noGrp="1"/>
          </p:cNvSpPr>
          <p:nvPr>
            <p:ph type="body" idx="1"/>
          </p:nvPr>
        </p:nvSpPr>
        <p:spPr/>
        <p:txBody>
          <a:bodyPr/>
          <a:lstStyle/>
          <a:p>
            <a:pPr marL="171450" indent="-171450">
              <a:buFont typeface="Arial" panose="020B0604020202020204" pitchFamily="34" charset="0"/>
              <a:buChar char="•"/>
            </a:pPr>
            <a:r>
              <a:rPr lang="en-US" sz="1200" b="0" i="0" kern="1200">
                <a:solidFill>
                  <a:schemeClr val="tx1"/>
                </a:solidFill>
                <a:effectLst/>
                <a:latin typeface="+mn-lt"/>
                <a:ea typeface="+mn-ea"/>
                <a:cs typeface="+mn-cs"/>
              </a:rPr>
              <a:t>With </a:t>
            </a:r>
            <a:r>
              <a:rPr lang="en-US" sz="1200" b="0" i="0" u="none" strike="noStrike" kern="1200">
                <a:solidFill>
                  <a:schemeClr val="tx1"/>
                </a:solidFill>
                <a:effectLst/>
                <a:latin typeface="+mn-lt"/>
                <a:ea typeface="+mn-ea"/>
                <a:cs typeface="+mn-cs"/>
                <a:hlinkClick r:id="rId3"/>
              </a:rPr>
              <a:t>Azure Virtual Network</a:t>
            </a:r>
            <a:r>
              <a:rPr lang="en-US" sz="1200" b="0" i="0" kern="1200">
                <a:solidFill>
                  <a:schemeClr val="tx1"/>
                </a:solidFill>
                <a:effectLst/>
                <a:latin typeface="+mn-lt"/>
                <a:ea typeface="+mn-ea"/>
                <a:cs typeface="+mn-cs"/>
              </a:rPr>
              <a:t> support for Power Platform, you can integrate Power Platform with resources inside your virtual network without exposing them over the public internet. Virtual Network support uses </a:t>
            </a:r>
            <a:r>
              <a:rPr lang="en-US" sz="1200" b="0" i="0" u="none" strike="noStrike" kern="1200">
                <a:solidFill>
                  <a:schemeClr val="tx1"/>
                </a:solidFill>
                <a:effectLst/>
                <a:latin typeface="+mn-lt"/>
                <a:ea typeface="+mn-ea"/>
                <a:cs typeface="+mn-cs"/>
                <a:hlinkClick r:id="rId4"/>
              </a:rPr>
              <a:t>Azure subnet delegation</a:t>
            </a:r>
            <a:r>
              <a:rPr lang="en-US" sz="1200" b="0" i="0" kern="1200">
                <a:solidFill>
                  <a:schemeClr val="tx1"/>
                </a:solidFill>
                <a:effectLst/>
                <a:latin typeface="+mn-lt"/>
                <a:ea typeface="+mn-ea"/>
                <a:cs typeface="+mn-cs"/>
              </a:rPr>
              <a:t> to manage outbound traffic from Power Platform at runtime. Using Azure Subnet delegation avoids the need for protected resources to be available over the internet to integrate with Power Platform. With virtual network support, Power Platform components can call resources owned by your enterprise inside your network, whether they're hosted in Azure or on-premises, and use plug-ins and connectors to make outbound call</a:t>
            </a:r>
          </a:p>
        </p:txBody>
      </p:sp>
      <p:sp>
        <p:nvSpPr>
          <p:cNvPr id="4" name="Slide Number Placeholder 3">
            <a:extLst>
              <a:ext uri="{FF2B5EF4-FFF2-40B4-BE49-F238E27FC236}">
                <a16:creationId xmlns:a16="http://schemas.microsoft.com/office/drawing/2014/main" id="{68B38027-5409-5C17-7C39-FBC268EA816F}"/>
              </a:ext>
            </a:extLst>
          </p:cNvPr>
          <p:cNvSpPr>
            <a:spLocks noGrp="1"/>
          </p:cNvSpPr>
          <p:nvPr>
            <p:ph type="sldNum" sz="quarter" idx="5"/>
          </p:nvPr>
        </p:nvSpPr>
        <p:spPr/>
        <p:txBody>
          <a:bodyPr/>
          <a:lstStyle/>
          <a:p>
            <a:fld id="{FC146366-EC0C-4FA7-8683-12ACFC203E97}" type="slidenum">
              <a:rPr lang="en-US" smtClean="0"/>
              <a:t>24</a:t>
            </a:fld>
            <a:endParaRPr lang="en-US"/>
          </a:p>
        </p:txBody>
      </p:sp>
    </p:spTree>
    <p:extLst>
      <p:ext uri="{BB962C8B-B14F-4D97-AF65-F5344CB8AC3E}">
        <p14:creationId xmlns:p14="http://schemas.microsoft.com/office/powerpoint/2010/main" val="633952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s-ES" err="1"/>
              <a:t>Customer</a:t>
            </a:r>
            <a:r>
              <a:rPr lang="es-ES"/>
              <a:t> Key – Video in Microsoft </a:t>
            </a:r>
            <a:r>
              <a:rPr lang="es-ES" err="1"/>
              <a:t>Learn</a:t>
            </a:r>
            <a:r>
              <a:rPr lang="es-ES"/>
              <a:t>: https://learn.microsoft.com/en-us/power-platform/admin/customer-managed-key</a:t>
            </a:r>
          </a:p>
          <a:p>
            <a:pPr marL="171450" indent="-171450">
              <a:buFont typeface="Arial" panose="020B0604020202020204" pitchFamily="34" charset="0"/>
              <a:buChar char="•"/>
            </a:pPr>
            <a:r>
              <a:rPr lang="es-ES"/>
              <a:t>Data </a:t>
            </a:r>
            <a:r>
              <a:rPr lang="es-ES" err="1"/>
              <a:t>Masking</a:t>
            </a:r>
            <a:endParaRPr lang="es-ES"/>
          </a:p>
          <a:p>
            <a:pPr marL="171450" indent="-171450">
              <a:buFont typeface="Arial" panose="020B0604020202020204" pitchFamily="34" charset="0"/>
              <a:buChar char="•"/>
            </a:pPr>
            <a:r>
              <a:rPr lang="es-ES"/>
              <a:t>Data </a:t>
            </a:r>
            <a:r>
              <a:rPr lang="es-ES" err="1"/>
              <a:t>Policies</a:t>
            </a:r>
            <a:r>
              <a:rPr lang="es-ES"/>
              <a:t>: Global vs. Grupo de Entornos vs. Entorno</a:t>
            </a:r>
          </a:p>
          <a:p>
            <a:pPr marL="171450" indent="-171450">
              <a:buFont typeface="Arial" panose="020B0604020202020204" pitchFamily="34" charset="0"/>
              <a:buChar char="•"/>
            </a:pPr>
            <a:r>
              <a:rPr lang="es-ES" err="1"/>
              <a:t>Advaced</a:t>
            </a:r>
            <a:r>
              <a:rPr lang="es-ES"/>
              <a:t> </a:t>
            </a:r>
            <a:r>
              <a:rPr lang="es-ES" err="1"/>
              <a:t>Connector</a:t>
            </a:r>
            <a:r>
              <a:rPr lang="es-ES"/>
              <a:t> </a:t>
            </a:r>
            <a:r>
              <a:rPr lang="es-ES" err="1"/>
              <a:t>Policies</a:t>
            </a:r>
            <a:endParaRPr lang="es-ES"/>
          </a:p>
          <a:p>
            <a:pPr marL="171450" indent="-171450">
              <a:buFont typeface="Arial" panose="020B0604020202020204" pitchFamily="34" charset="0"/>
              <a:buChar char="•"/>
            </a:pPr>
            <a:r>
              <a:rPr lang="es-ES"/>
              <a:t>Soporte </a:t>
            </a:r>
            <a:r>
              <a:rPr lang="es-ES" err="1"/>
              <a:t>vNET</a:t>
            </a:r>
            <a:r>
              <a:rPr lang="es-ES"/>
              <a:t>? -&gt; charla </a:t>
            </a:r>
            <a:r>
              <a:rPr lang="es-ES" err="1"/>
              <a:t>sigueinte</a:t>
            </a:r>
            <a:r>
              <a:rPr lang="es-ES"/>
              <a:t> de </a:t>
            </a:r>
            <a:r>
              <a:rPr lang="es-ES" err="1"/>
              <a:t>david</a:t>
            </a:r>
            <a:r>
              <a:rPr lang="es-ES"/>
              <a:t> oliva y </a:t>
            </a:r>
            <a:r>
              <a:rPr lang="es-ES" err="1"/>
              <a:t>elias</a:t>
            </a:r>
            <a:r>
              <a:rPr lang="es-ES"/>
              <a:t> </a:t>
            </a:r>
            <a:r>
              <a:rPr lang="es-ES" err="1"/>
              <a:t>manchon</a:t>
            </a:r>
            <a:endParaRPr lang="en-US" err="1"/>
          </a:p>
        </p:txBody>
      </p:sp>
      <p:sp>
        <p:nvSpPr>
          <p:cNvPr id="4" name="Slide Number Placeholder 3"/>
          <p:cNvSpPr>
            <a:spLocks noGrp="1"/>
          </p:cNvSpPr>
          <p:nvPr>
            <p:ph type="sldNum" sz="quarter" idx="5"/>
          </p:nvPr>
        </p:nvSpPr>
        <p:spPr/>
        <p:txBody>
          <a:bodyPr/>
          <a:lstStyle/>
          <a:p>
            <a:fld id="{FC146366-EC0C-4FA7-8683-12ACFC203E97}" type="slidenum">
              <a:rPr lang="en-US" smtClean="0"/>
              <a:t>25</a:t>
            </a:fld>
            <a:endParaRPr lang="en-US"/>
          </a:p>
        </p:txBody>
      </p:sp>
    </p:spTree>
    <p:extLst>
      <p:ext uri="{BB962C8B-B14F-4D97-AF65-F5344CB8AC3E}">
        <p14:creationId xmlns:p14="http://schemas.microsoft.com/office/powerpoint/2010/main" val="1345783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9B541-DACE-E14D-B370-0F41BC2FA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5C172-1066-C916-7065-01B62C3A4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8ED3C8-9F6E-4387-63BA-0C8E125EDB38}"/>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Identity and access management</a:t>
            </a:r>
            <a:r>
              <a:rPr lang="en-US" sz="1200" b="0" i="0" kern="1200">
                <a:solidFill>
                  <a:schemeClr val="tx1"/>
                </a:solidFill>
                <a:effectLst/>
                <a:latin typeface="+mn-lt"/>
                <a:ea typeface="+mn-ea"/>
                <a:cs typeface="+mn-cs"/>
              </a:rPr>
              <a:t>: Ensure that only authorized users can access specific resources, through features such as </a:t>
            </a:r>
            <a:r>
              <a:rPr lang="en-US" sz="1200" b="0" i="0" u="none" strike="noStrike" kern="1200">
                <a:solidFill>
                  <a:schemeClr val="tx1"/>
                </a:solidFill>
                <a:effectLst/>
                <a:latin typeface="+mn-lt"/>
                <a:ea typeface="+mn-ea"/>
                <a:cs typeface="+mn-cs"/>
                <a:hlinkClick r:id="rId3"/>
              </a:rPr>
              <a:t>IP firewall</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IP cookie binding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a:rPr>
              <a:t>Manage sharing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6"/>
              </a:rPr>
              <a:t>conditional access policies for individual apps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7"/>
              </a:rPr>
              <a:t>managed identities for Dataverse plug-ins</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8"/>
              </a:rPr>
              <a:t>privileged access</a:t>
            </a:r>
            <a:r>
              <a:rPr lang="en-US" sz="1200" b="0" i="0" kern="1200">
                <a:solidFill>
                  <a:schemeClr val="tx1"/>
                </a:solidFill>
                <a:effectLst/>
                <a:latin typeface="+mn-lt"/>
                <a:ea typeface="+mn-ea"/>
                <a:cs typeface="+mn-cs"/>
              </a:rPr>
              <a:t>.</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Acces</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Management + Network Security: </a:t>
            </a:r>
            <a:r>
              <a:rPr lang="es-ES" sz="1200" b="0" noProof="0">
                <a:solidFill>
                  <a:schemeClr val="tx1">
                    <a:lumMod val="75000"/>
                    <a:lumOff val="25000"/>
                  </a:schemeClr>
                </a:solidFill>
                <a:latin typeface="Segoe UI" panose="020B0502040204020203" pitchFamily="34" charset="0"/>
                <a:cs typeface="Segoe UI" panose="020B0502040204020203" pitchFamily="34" charset="0"/>
              </a:rPr>
              <a:t>IP Firewall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Resource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sharing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limits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IP cookie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binding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Isolationt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PIM | Client app Access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Conditional</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Access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Individual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Canvas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Apps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Access &amp;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Authentication</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s-ES" sz="1200" b="0"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s-ES" sz="1200" b="1" noProof="0">
                <a:solidFill>
                  <a:schemeClr val="tx1">
                    <a:lumMod val="75000"/>
                    <a:lumOff val="25000"/>
                  </a:schemeClr>
                </a:solidFill>
                <a:latin typeface="Segoe UI" panose="020B0502040204020203" pitchFamily="34" charset="0"/>
                <a:cs typeface="Segoe UI" panose="020B0502040204020203" pitchFamily="34" charset="0"/>
              </a:rPr>
              <a:t>IP Firewall</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n-US" sz="1200" b="0" i="0" kern="1200">
                <a:solidFill>
                  <a:schemeClr val="tx1"/>
                </a:solidFill>
                <a:effectLst/>
                <a:latin typeface="+mn-lt"/>
                <a:ea typeface="+mn-ea"/>
                <a:cs typeface="+mn-cs"/>
              </a:rPr>
              <a:t>The IP firewall feature in Microsoft Power Platform is a security control that applies only to Managed Environments with Dataverse. It provides a critical layer of security by controlling inbound traffic to Power Platform environments. Administrators can use this feature to define and enforce IP-based access controls. In this way, they can ensure that only authorized IP addresses can access the Power Platform environment. By using IP firewall, organizations can mitigate risks that are associated with unauthorized access and data breaches, and therefore enhance the overall security of their Power Platform deployments. Learn more in </a:t>
            </a:r>
            <a:r>
              <a:rPr lang="en-US" sz="1200" b="0" i="0" u="none" strike="noStrike" kern="1200">
                <a:solidFill>
                  <a:schemeClr val="tx1"/>
                </a:solidFill>
                <a:effectLst/>
                <a:latin typeface="+mn-lt"/>
                <a:ea typeface="+mn-ea"/>
                <a:cs typeface="+mn-cs"/>
                <a:hlinkClick r:id="rId3"/>
              </a:rPr>
              <a:t>IP firewall in Power Platform environments</a:t>
            </a:r>
            <a:r>
              <a:rPr lang="en-US" sz="1200" b="0" i="0" kern="1200">
                <a:solidFill>
                  <a:schemeClr val="tx1"/>
                </a:solidFill>
                <a:effectLst/>
                <a:latin typeface="+mn-lt"/>
                <a:ea typeface="+mn-ea"/>
                <a:cs typeface="+mn-cs"/>
              </a:rPr>
              <a:t>.</a:t>
            </a:r>
          </a:p>
          <a:p>
            <a:pPr marL="171450" indent="-171450">
              <a:buFont typeface="Arial" panose="020B0604020202020204" pitchFamily="34" charset="0"/>
              <a:buChar char="•"/>
            </a:pPr>
            <a:endParaRPr lang="en-US" sz="1200" b="0" i="0" kern="1200" noProof="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noProof="0">
                <a:solidFill>
                  <a:schemeClr val="tx1"/>
                </a:solidFill>
                <a:effectLst/>
                <a:latin typeface="+mn-lt"/>
                <a:ea typeface="+mn-ea"/>
                <a:cs typeface="+mn-cs"/>
              </a:rPr>
              <a:t>Resource Sharing Limits: </a:t>
            </a:r>
            <a:r>
              <a:rPr lang="en-US" sz="1200" b="0" i="0" kern="1200">
                <a:solidFill>
                  <a:schemeClr val="tx1"/>
                </a:solidFill>
                <a:effectLst/>
                <a:latin typeface="+mn-lt"/>
                <a:ea typeface="+mn-ea"/>
                <a:cs typeface="+mn-cs"/>
              </a:rPr>
              <a:t>In Managed Environments, admins can limit how broadly users can share canvas apps, flows, and agents.</a:t>
            </a:r>
          </a:p>
          <a:p>
            <a:pPr marL="171450" indent="-171450">
              <a:buFont typeface="Arial" panose="020B0604020202020204" pitchFamily="34" charset="0"/>
              <a:buChar char="•"/>
            </a:pPr>
            <a:endParaRPr lang="en-US" sz="1200" b="0" i="0" kern="1200" noProof="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noProof="0">
                <a:solidFill>
                  <a:schemeClr val="tx1"/>
                </a:solidFill>
                <a:effectLst/>
                <a:latin typeface="+mn-lt"/>
                <a:ea typeface="+mn-ea"/>
                <a:cs typeface="+mn-cs"/>
              </a:rPr>
              <a:t>IP Cookie Binding</a:t>
            </a:r>
            <a:r>
              <a:rPr lang="en-US" sz="1200" b="0" i="0" kern="1200" noProof="0">
                <a:solidFill>
                  <a:schemeClr val="tx1"/>
                </a:solidFill>
                <a:effectLst/>
                <a:latin typeface="+mn-lt"/>
                <a:ea typeface="+mn-ea"/>
                <a:cs typeface="+mn-cs"/>
              </a:rPr>
              <a:t>: </a:t>
            </a:r>
            <a:r>
              <a:rPr lang="en-US" sz="1200" b="0" i="0" kern="1200">
                <a:solidFill>
                  <a:schemeClr val="tx1"/>
                </a:solidFill>
                <a:effectLst/>
                <a:latin typeface="+mn-lt"/>
                <a:ea typeface="+mn-ea"/>
                <a:cs typeface="+mn-cs"/>
              </a:rPr>
              <a:t>Prevent session hijacking exploits in Dataverse with IP address-based cookie binding. Let's say that a malicious user copies a valid session cookie from an authorized computer that has cookie IP binding enabled. The user then tries to use the cookie on a different computer to gain unauthorized access to Dataverse. In real time, Dataverse compares the IP address of the cookie's origin against the IP address of the computer making the request. If the two are different, the attempt is blocked, and an error message is shown.</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Power</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Platform</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Isolation</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n-US" sz="1200" b="0" i="0" kern="1200">
                <a:solidFill>
                  <a:schemeClr val="tx1"/>
                </a:solidFill>
                <a:effectLst/>
                <a:latin typeface="+mn-lt"/>
                <a:ea typeface="+mn-ea"/>
                <a:cs typeface="+mn-cs"/>
              </a:rPr>
              <a:t>Power Platform tenant isolation is different from Microsoft Entra ID-wide tenant restriction. It </a:t>
            </a:r>
            <a:r>
              <a:rPr lang="en-US" sz="1200" b="0" i="1" kern="1200">
                <a:solidFill>
                  <a:schemeClr val="tx1"/>
                </a:solidFill>
                <a:effectLst/>
                <a:latin typeface="+mn-lt"/>
                <a:ea typeface="+mn-ea"/>
                <a:cs typeface="+mn-cs"/>
              </a:rPr>
              <a:t>doesn't</a:t>
            </a:r>
            <a:r>
              <a:rPr lang="en-US" sz="1200" b="0" i="0" kern="1200">
                <a:solidFill>
                  <a:schemeClr val="tx1"/>
                </a:solidFill>
                <a:effectLst/>
                <a:latin typeface="+mn-lt"/>
                <a:ea typeface="+mn-ea"/>
                <a:cs typeface="+mn-cs"/>
              </a:rPr>
              <a:t> impact Microsoft Entra ID-based access outside of Power Platform. Power Platform tenant isolation only works for connectors using Microsoft Entra ID-based authentication such as Office 365 Outlook or SharePoint.</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5DF7965-7958-4680-552C-EFA5CE0736D8}"/>
              </a:ext>
            </a:extLst>
          </p:cNvPr>
          <p:cNvSpPr>
            <a:spLocks noGrp="1"/>
          </p:cNvSpPr>
          <p:nvPr>
            <p:ph type="sldNum" sz="quarter" idx="5"/>
          </p:nvPr>
        </p:nvSpPr>
        <p:spPr/>
        <p:txBody>
          <a:bodyPr/>
          <a:lstStyle/>
          <a:p>
            <a:fld id="{FC146366-EC0C-4FA7-8683-12ACFC203E97}" type="slidenum">
              <a:rPr lang="en-US" smtClean="0"/>
              <a:t>26</a:t>
            </a:fld>
            <a:endParaRPr lang="en-US"/>
          </a:p>
        </p:txBody>
      </p:sp>
    </p:spTree>
    <p:extLst>
      <p:ext uri="{BB962C8B-B14F-4D97-AF65-F5344CB8AC3E}">
        <p14:creationId xmlns:p14="http://schemas.microsoft.com/office/powerpoint/2010/main" val="425656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79EF6-2AC1-995D-2BC4-C699AE52B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93062-555E-4EB7-F56A-B4AE9D57C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405AC6-E428-ECBF-4FFE-8D176768262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D6B6434-FDBE-A5F0-2E8C-5AF4E86F9364}"/>
              </a:ext>
            </a:extLst>
          </p:cNvPr>
          <p:cNvSpPr>
            <a:spLocks noGrp="1"/>
          </p:cNvSpPr>
          <p:nvPr>
            <p:ph type="sldNum" sz="quarter" idx="5"/>
          </p:nvPr>
        </p:nvSpPr>
        <p:spPr/>
        <p:txBody>
          <a:bodyPr/>
          <a:lstStyle/>
          <a:p>
            <a:fld id="{FC146366-EC0C-4FA7-8683-12ACFC203E97}" type="slidenum">
              <a:rPr lang="en-US" smtClean="0"/>
              <a:t>27</a:t>
            </a:fld>
            <a:endParaRPr lang="en-US"/>
          </a:p>
        </p:txBody>
      </p:sp>
    </p:spTree>
    <p:extLst>
      <p:ext uri="{BB962C8B-B14F-4D97-AF65-F5344CB8AC3E}">
        <p14:creationId xmlns:p14="http://schemas.microsoft.com/office/powerpoint/2010/main" val="746143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E6E6C-4591-E1E3-55A7-370930A03C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B92CE-6327-1BEC-6621-0A2C37706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5ED05-91E4-4147-7608-14DBC1B3901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E5B0370-BD01-27AF-40FE-2DA17CE06E76}"/>
              </a:ext>
            </a:extLst>
          </p:cNvPr>
          <p:cNvSpPr>
            <a:spLocks noGrp="1"/>
          </p:cNvSpPr>
          <p:nvPr>
            <p:ph type="sldNum" sz="quarter" idx="5"/>
          </p:nvPr>
        </p:nvSpPr>
        <p:spPr/>
        <p:txBody>
          <a:bodyPr/>
          <a:lstStyle/>
          <a:p>
            <a:fld id="{FC146366-EC0C-4FA7-8683-12ACFC203E97}" type="slidenum">
              <a:rPr lang="en-US" smtClean="0"/>
              <a:t>28</a:t>
            </a:fld>
            <a:endParaRPr lang="en-US"/>
          </a:p>
        </p:txBody>
      </p:sp>
    </p:spTree>
    <p:extLst>
      <p:ext uri="{BB962C8B-B14F-4D97-AF65-F5344CB8AC3E}">
        <p14:creationId xmlns:p14="http://schemas.microsoft.com/office/powerpoint/2010/main" val="30275282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1DF0E-4683-E3E9-128F-2E97742D1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944E7-D253-AE62-C493-9AA58C5B4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FA0E9-1DE1-ACA7-26F6-1CDA64E527D6}"/>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4B02181-2316-2256-101F-FE24727314FC}"/>
              </a:ext>
            </a:extLst>
          </p:cNvPr>
          <p:cNvSpPr>
            <a:spLocks noGrp="1"/>
          </p:cNvSpPr>
          <p:nvPr>
            <p:ph type="sldNum" sz="quarter" idx="5"/>
          </p:nvPr>
        </p:nvSpPr>
        <p:spPr/>
        <p:txBody>
          <a:bodyPr/>
          <a:lstStyle/>
          <a:p>
            <a:fld id="{FC146366-EC0C-4FA7-8683-12ACFC203E97}" type="slidenum">
              <a:rPr lang="en-US" smtClean="0"/>
              <a:t>29</a:t>
            </a:fld>
            <a:endParaRPr lang="en-US"/>
          </a:p>
        </p:txBody>
      </p:sp>
    </p:spTree>
    <p:extLst>
      <p:ext uri="{BB962C8B-B14F-4D97-AF65-F5344CB8AC3E}">
        <p14:creationId xmlns:p14="http://schemas.microsoft.com/office/powerpoint/2010/main" val="37099648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F9A0-444A-857C-EE43-C897495C6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059A4-4844-11A7-3A4F-0A2B4B0F6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5A742-A11A-3357-2BAD-D2001C5EAA20}"/>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1EA6CF2-FEB6-F5E0-2BD6-A2937190A5CF}"/>
              </a:ext>
            </a:extLst>
          </p:cNvPr>
          <p:cNvSpPr>
            <a:spLocks noGrp="1"/>
          </p:cNvSpPr>
          <p:nvPr>
            <p:ph type="sldNum" sz="quarter" idx="5"/>
          </p:nvPr>
        </p:nvSpPr>
        <p:spPr/>
        <p:txBody>
          <a:bodyPr/>
          <a:lstStyle/>
          <a:p>
            <a:fld id="{FC146366-EC0C-4FA7-8683-12ACFC203E97}" type="slidenum">
              <a:rPr lang="en-US" smtClean="0"/>
              <a:t>30</a:t>
            </a:fld>
            <a:endParaRPr lang="en-US"/>
          </a:p>
        </p:txBody>
      </p:sp>
    </p:spTree>
    <p:extLst>
      <p:ext uri="{BB962C8B-B14F-4D97-AF65-F5344CB8AC3E}">
        <p14:creationId xmlns:p14="http://schemas.microsoft.com/office/powerpoint/2010/main" val="38971873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3F625-5EEE-A881-DE02-0C45F19A9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480BF-C2FD-7E0B-685C-917255DC8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19329C-CDC7-DE1A-C74D-E79315D03111}"/>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1419C2B-1EA9-D15D-81C8-91B7C545CFB2}"/>
              </a:ext>
            </a:extLst>
          </p:cNvPr>
          <p:cNvSpPr>
            <a:spLocks noGrp="1"/>
          </p:cNvSpPr>
          <p:nvPr>
            <p:ph type="sldNum" sz="quarter" idx="5"/>
          </p:nvPr>
        </p:nvSpPr>
        <p:spPr/>
        <p:txBody>
          <a:bodyPr/>
          <a:lstStyle/>
          <a:p>
            <a:fld id="{FC146366-EC0C-4FA7-8683-12ACFC203E97}" type="slidenum">
              <a:rPr lang="en-US" smtClean="0"/>
              <a:t>31</a:t>
            </a:fld>
            <a:endParaRPr lang="en-US"/>
          </a:p>
        </p:txBody>
      </p:sp>
    </p:spTree>
    <p:extLst>
      <p:ext uri="{BB962C8B-B14F-4D97-AF65-F5344CB8AC3E}">
        <p14:creationId xmlns:p14="http://schemas.microsoft.com/office/powerpoint/2010/main" val="27138719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F2C8E-93F0-A836-0C3D-5C199C14D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F55511-58F4-8A5B-BEDF-8959B3F7D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9B052-5AFA-A487-605B-8DD0B8E2A8F2}"/>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7801716-7142-ACAD-EBD3-D63BB4338A62}"/>
              </a:ext>
            </a:extLst>
          </p:cNvPr>
          <p:cNvSpPr>
            <a:spLocks noGrp="1"/>
          </p:cNvSpPr>
          <p:nvPr>
            <p:ph type="sldNum" sz="quarter" idx="5"/>
          </p:nvPr>
        </p:nvSpPr>
        <p:spPr/>
        <p:txBody>
          <a:bodyPr/>
          <a:lstStyle/>
          <a:p>
            <a:fld id="{FC146366-EC0C-4FA7-8683-12ACFC203E97}" type="slidenum">
              <a:rPr lang="en-US" smtClean="0"/>
              <a:t>32</a:t>
            </a:fld>
            <a:endParaRPr lang="en-US"/>
          </a:p>
        </p:txBody>
      </p:sp>
    </p:spTree>
    <p:extLst>
      <p:ext uri="{BB962C8B-B14F-4D97-AF65-F5344CB8AC3E}">
        <p14:creationId xmlns:p14="http://schemas.microsoft.com/office/powerpoint/2010/main" val="41209224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01255-ED5A-8AC9-BB20-8BD1B1429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EB4F74-2B03-EBB3-5624-1F79572AF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CC811-E07B-7806-E4BD-3FB96736CCB7}"/>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88FAB77-0D01-977B-9933-C1119EC1BD81}"/>
              </a:ext>
            </a:extLst>
          </p:cNvPr>
          <p:cNvSpPr>
            <a:spLocks noGrp="1"/>
          </p:cNvSpPr>
          <p:nvPr>
            <p:ph type="sldNum" sz="quarter" idx="5"/>
          </p:nvPr>
        </p:nvSpPr>
        <p:spPr/>
        <p:txBody>
          <a:bodyPr/>
          <a:lstStyle/>
          <a:p>
            <a:fld id="{FC146366-EC0C-4FA7-8683-12ACFC203E97}" type="slidenum">
              <a:rPr lang="en-US" smtClean="0"/>
              <a:t>33</a:t>
            </a:fld>
            <a:endParaRPr lang="en-US"/>
          </a:p>
        </p:txBody>
      </p:sp>
    </p:spTree>
    <p:extLst>
      <p:ext uri="{BB962C8B-B14F-4D97-AF65-F5344CB8AC3E}">
        <p14:creationId xmlns:p14="http://schemas.microsoft.com/office/powerpoint/2010/main" val="10504310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66C19-744C-E6FF-4FD2-7D5B3693CC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9565B-714D-D453-AB69-5DC99D2DA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94D1F-EB0F-E43E-A61E-2D8A5A0A3A0A}"/>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1999498-A7C4-5ADB-EC36-E4C10A17FB08}"/>
              </a:ext>
            </a:extLst>
          </p:cNvPr>
          <p:cNvSpPr>
            <a:spLocks noGrp="1"/>
          </p:cNvSpPr>
          <p:nvPr>
            <p:ph type="sldNum" sz="quarter" idx="5"/>
          </p:nvPr>
        </p:nvSpPr>
        <p:spPr/>
        <p:txBody>
          <a:bodyPr/>
          <a:lstStyle/>
          <a:p>
            <a:fld id="{FC146366-EC0C-4FA7-8683-12ACFC203E97}" type="slidenum">
              <a:rPr lang="en-US" smtClean="0"/>
              <a:t>34</a:t>
            </a:fld>
            <a:endParaRPr lang="en-US"/>
          </a:p>
        </p:txBody>
      </p:sp>
    </p:spTree>
    <p:extLst>
      <p:ext uri="{BB962C8B-B14F-4D97-AF65-F5344CB8AC3E}">
        <p14:creationId xmlns:p14="http://schemas.microsoft.com/office/powerpoint/2010/main" val="40751857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0246D-69D2-ACB0-3AFD-F883925F6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723120-84D6-5F1E-7DF4-CFD832A5ED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8CBB8-71AD-4605-E6C9-5D65EA2291DE}"/>
              </a:ext>
            </a:extLst>
          </p:cNvPr>
          <p:cNvSpPr>
            <a:spLocks noGrp="1"/>
          </p:cNvSpPr>
          <p:nvPr>
            <p:ph type="body" idx="1"/>
          </p:nvPr>
        </p:nvSpPr>
        <p:spPr/>
        <p:txBody>
          <a:bodyPr/>
          <a:lstStyle/>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9DAD5C5-1D63-A5C9-6D64-B41C482BDAE8}"/>
              </a:ext>
            </a:extLst>
          </p:cNvPr>
          <p:cNvSpPr>
            <a:spLocks noGrp="1"/>
          </p:cNvSpPr>
          <p:nvPr>
            <p:ph type="sldNum" sz="quarter" idx="5"/>
          </p:nvPr>
        </p:nvSpPr>
        <p:spPr/>
        <p:txBody>
          <a:bodyPr/>
          <a:lstStyle/>
          <a:p>
            <a:fld id="{FC146366-EC0C-4FA7-8683-12ACFC203E97}" type="slidenum">
              <a:rPr lang="en-US" smtClean="0"/>
              <a:t>35</a:t>
            </a:fld>
            <a:endParaRPr lang="en-US"/>
          </a:p>
        </p:txBody>
      </p:sp>
    </p:spTree>
    <p:extLst>
      <p:ext uri="{BB962C8B-B14F-4D97-AF65-F5344CB8AC3E}">
        <p14:creationId xmlns:p14="http://schemas.microsoft.com/office/powerpoint/2010/main" val="24318694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s-ES"/>
              <a:t>IP Firewall</a:t>
            </a:r>
            <a:r>
              <a:rPr lang="en-US"/>
              <a:t>: Environment Level vs. Environment Group Level</a:t>
            </a:r>
          </a:p>
          <a:p>
            <a:pPr marL="171450" indent="-171450">
              <a:buFont typeface="Arial" panose="020B0604020202020204" pitchFamily="34" charset="0"/>
              <a:buChar char="•"/>
            </a:pPr>
            <a:r>
              <a:rPr lang="en-US"/>
              <a:t>Manage Sharing: Environment vs. Environment Group Level</a:t>
            </a:r>
          </a:p>
          <a:p>
            <a:pPr marL="171450" indent="-171450">
              <a:buFont typeface="Arial" panose="020B0604020202020204" pitchFamily="34" charset="0"/>
              <a:buChar char="•"/>
            </a:pPr>
            <a:r>
              <a:rPr lang="en-US"/>
              <a:t>IP Cookie Binding</a:t>
            </a:r>
          </a:p>
          <a:p>
            <a:pPr marL="171450" indent="-171450">
              <a:buFont typeface="Arial" panose="020B0604020202020204" pitchFamily="34" charset="0"/>
              <a:buChar char="•"/>
            </a:pPr>
            <a:r>
              <a:rPr lang="en-US"/>
              <a:t>Tenant Isolation</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s-ES"/>
          </a:p>
        </p:txBody>
      </p:sp>
      <p:sp>
        <p:nvSpPr>
          <p:cNvPr id="4" name="Slide Number Placeholder 3"/>
          <p:cNvSpPr>
            <a:spLocks noGrp="1"/>
          </p:cNvSpPr>
          <p:nvPr>
            <p:ph type="sldNum" sz="quarter" idx="5"/>
          </p:nvPr>
        </p:nvSpPr>
        <p:spPr/>
        <p:txBody>
          <a:bodyPr/>
          <a:lstStyle/>
          <a:p>
            <a:fld id="{FC146366-EC0C-4FA7-8683-12ACFC203E97}" type="slidenum">
              <a:rPr lang="en-US" smtClean="0"/>
              <a:t>36</a:t>
            </a:fld>
            <a:endParaRPr lang="en-US"/>
          </a:p>
        </p:txBody>
      </p:sp>
    </p:spTree>
    <p:extLst>
      <p:ext uri="{BB962C8B-B14F-4D97-AF65-F5344CB8AC3E}">
        <p14:creationId xmlns:p14="http://schemas.microsoft.com/office/powerpoint/2010/main" val="10649687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C618A-27A1-6A96-4F92-187C14A25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D614D-B9DF-FF2B-9795-EAB9A20F2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2C65A-EA33-D94E-8E98-691BD2CB99E1}"/>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Identity and access management</a:t>
            </a:r>
            <a:r>
              <a:rPr lang="en-US" sz="1200" b="0" i="0" kern="1200">
                <a:solidFill>
                  <a:schemeClr val="tx1"/>
                </a:solidFill>
                <a:effectLst/>
                <a:latin typeface="+mn-lt"/>
                <a:ea typeface="+mn-ea"/>
                <a:cs typeface="+mn-cs"/>
              </a:rPr>
              <a:t>: Ensure that only authorized users can access specific resources, through features such as </a:t>
            </a:r>
            <a:r>
              <a:rPr lang="en-US" sz="1200" b="0" i="0" u="none" strike="noStrike" kern="1200">
                <a:solidFill>
                  <a:schemeClr val="tx1"/>
                </a:solidFill>
                <a:effectLst/>
                <a:latin typeface="+mn-lt"/>
                <a:ea typeface="+mn-ea"/>
                <a:cs typeface="+mn-cs"/>
                <a:hlinkClick r:id="rId3"/>
              </a:rPr>
              <a:t>IP firewall</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4"/>
              </a:rPr>
              <a:t>IP cookie binding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5"/>
              </a:rPr>
              <a:t>Manage sharing</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6"/>
              </a:rPr>
              <a:t>conditional access policies for individual apps</a:t>
            </a:r>
            <a:r>
              <a:rPr lang="en-US" sz="1200" b="0" i="0" kern="1200">
                <a:solidFill>
                  <a:schemeClr val="tx1"/>
                </a:solidFill>
                <a:effectLst/>
                <a:latin typeface="+mn-lt"/>
                <a:ea typeface="+mn-ea"/>
                <a:cs typeface="+mn-cs"/>
              </a:rPr>
              <a:t>, </a:t>
            </a:r>
            <a:r>
              <a:rPr lang="en-US" sz="1200" b="0" i="0" u="none" strike="noStrike" kern="1200">
                <a:solidFill>
                  <a:schemeClr val="tx1"/>
                </a:solidFill>
                <a:effectLst/>
                <a:latin typeface="+mn-lt"/>
                <a:ea typeface="+mn-ea"/>
                <a:cs typeface="+mn-cs"/>
                <a:hlinkClick r:id="rId7"/>
              </a:rPr>
              <a:t>managed identities for Dataverse plug-ins</a:t>
            </a:r>
            <a:r>
              <a:rPr lang="en-US" sz="1200" b="0" i="0" kern="1200">
                <a:solidFill>
                  <a:schemeClr val="tx1"/>
                </a:solidFill>
                <a:effectLst/>
                <a:latin typeface="+mn-lt"/>
                <a:ea typeface="+mn-ea"/>
                <a:cs typeface="+mn-cs"/>
              </a:rPr>
              <a:t>, and </a:t>
            </a:r>
            <a:r>
              <a:rPr lang="en-US" sz="1200" b="0" i="0" u="none" strike="noStrike" kern="1200">
                <a:solidFill>
                  <a:schemeClr val="tx1"/>
                </a:solidFill>
                <a:effectLst/>
                <a:latin typeface="+mn-lt"/>
                <a:ea typeface="+mn-ea"/>
                <a:cs typeface="+mn-cs"/>
                <a:hlinkClick r:id="rId8"/>
              </a:rPr>
              <a:t>privileged access</a:t>
            </a:r>
            <a:r>
              <a:rPr lang="en-US" sz="1200" b="0" i="0" kern="1200">
                <a:solidFill>
                  <a:schemeClr val="tx1"/>
                </a:solidFill>
                <a:effectLst/>
                <a:latin typeface="+mn-lt"/>
                <a:ea typeface="+mn-ea"/>
                <a:cs typeface="+mn-cs"/>
              </a:rPr>
              <a:t>.</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&amp;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Acces</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Management + Network Security: </a:t>
            </a:r>
            <a:r>
              <a:rPr lang="es-ES" sz="1200" b="0" noProof="0">
                <a:solidFill>
                  <a:schemeClr val="tx1">
                    <a:lumMod val="75000"/>
                    <a:lumOff val="25000"/>
                  </a:schemeClr>
                </a:solidFill>
                <a:latin typeface="Segoe UI" panose="020B0502040204020203" pitchFamily="34" charset="0"/>
                <a:cs typeface="Segoe UI" panose="020B0502040204020203" pitchFamily="34" charset="0"/>
              </a:rPr>
              <a:t>IP Firewall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Resource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sharing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limits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IP cookie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binding</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Tenant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Isolationt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PIM | Client app Access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Conditional</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Access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Individual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Canvas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Apps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Access &amp;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Authentication</a:t>
            </a:r>
            <a:endParaRPr lang="es-ES" sz="1200" b="0"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0" noProof="0">
              <a:solidFill>
                <a:schemeClr val="tx1">
                  <a:lumMod val="75000"/>
                  <a:lumOff val="25000"/>
                </a:scheme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Privileged</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Identity</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Management:  </a:t>
            </a:r>
          </a:p>
          <a:p>
            <a:pPr marL="571500" lvl="2" indent="-114300" defTabSz="533400">
              <a:lnSpc>
                <a:spcPct val="90000"/>
              </a:lnSpc>
              <a:spcBef>
                <a:spcPct val="0"/>
              </a:spcBef>
              <a:spcAft>
                <a:spcPct val="15000"/>
              </a:spcAft>
              <a:buFontTx/>
              <a:buChar char="•"/>
              <a:defRPr/>
            </a:pPr>
            <a:r>
              <a:rPr lang="en-US" sz="1300" kern="0">
                <a:solidFill>
                  <a:prstClr val="black">
                    <a:hueOff val="0"/>
                    <a:satOff val="0"/>
                    <a:lumOff val="0"/>
                    <a:alphaOff val="0"/>
                  </a:prstClr>
                </a:solidFill>
                <a:latin typeface="Segoe UI" panose="020B0502040204020203" pitchFamily="34" charset="0"/>
                <a:cs typeface="Segoe UI" panose="020B0502040204020203" pitchFamily="34" charset="0"/>
              </a:rPr>
              <a:t>Enforce on-demand, just-in-time administrative access when needed</a:t>
            </a:r>
          </a:p>
          <a:p>
            <a:pPr marL="571500" lvl="2" indent="-114300" defTabSz="533400">
              <a:lnSpc>
                <a:spcPct val="90000"/>
              </a:lnSpc>
              <a:spcBef>
                <a:spcPct val="0"/>
              </a:spcBef>
              <a:spcAft>
                <a:spcPct val="15000"/>
              </a:spcAft>
              <a:buFontTx/>
              <a:buChar char="•"/>
              <a:defRPr/>
            </a:pPr>
            <a:r>
              <a:rPr lang="en-US" sz="1300" kern="0">
                <a:solidFill>
                  <a:prstClr val="black">
                    <a:hueOff val="0"/>
                    <a:satOff val="0"/>
                    <a:lumOff val="0"/>
                    <a:alphaOff val="0"/>
                  </a:prstClr>
                </a:solidFill>
                <a:latin typeface="Segoe UI" panose="020B0502040204020203" pitchFamily="34" charset="0"/>
                <a:cs typeface="Segoe UI" panose="020B0502040204020203" pitchFamily="34" charset="0"/>
              </a:rPr>
              <a:t>Minimize number of privileged users (admins) and duration of access</a:t>
            </a:r>
          </a:p>
          <a:p>
            <a:pPr marL="571500" lvl="2" indent="-114300" defTabSz="533400">
              <a:lnSpc>
                <a:spcPct val="90000"/>
              </a:lnSpc>
              <a:spcBef>
                <a:spcPct val="0"/>
              </a:spcBef>
              <a:spcAft>
                <a:spcPct val="15000"/>
              </a:spcAft>
              <a:buFontTx/>
              <a:buChar char="•"/>
              <a:defRPr/>
            </a:pPr>
            <a:r>
              <a:rPr lang="en-US" sz="1300" kern="0">
                <a:solidFill>
                  <a:prstClr val="black">
                    <a:hueOff val="0"/>
                    <a:satOff val="0"/>
                    <a:lumOff val="0"/>
                    <a:alphaOff val="0"/>
                  </a:prstClr>
                </a:solidFill>
                <a:latin typeface="Segoe UI" panose="020B0502040204020203" pitchFamily="34" charset="0"/>
                <a:cs typeface="Segoe UI" panose="020B0502040204020203" pitchFamily="34" charset="0"/>
              </a:rPr>
              <a:t>Reduce risks of authorized user impact on sensitive data / malicious user getting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a:solidFill>
                  <a:schemeClr val="tx1">
                    <a:lumMod val="75000"/>
                    <a:lumOff val="25000"/>
                  </a:schemeClr>
                </a:solidFill>
                <a:latin typeface="Segoe UI" panose="020B0502040204020203" pitchFamily="34" charset="0"/>
                <a:cs typeface="Segoe UI" panose="020B0502040204020203" pitchFamily="34" charset="0"/>
              </a:rPr>
              <a:t>App Access Control: </a:t>
            </a:r>
            <a:r>
              <a:rPr lang="en-US" sz="1200" b="0" i="0" kern="1200">
                <a:solidFill>
                  <a:schemeClr val="tx1"/>
                </a:solidFill>
                <a:effectLst/>
                <a:latin typeface="+mn-lt"/>
                <a:ea typeface="+mn-ea"/>
                <a:cs typeface="+mn-cs"/>
              </a:rPr>
              <a:t>The app access control feature applies only to Managed Environments. It prevents data exfiltration by controlling which apps are allowed and blocked in each environment. Learn more in </a:t>
            </a:r>
            <a:r>
              <a:rPr lang="en-US" sz="1200" b="0" i="0" u="none" strike="noStrike" kern="1200">
                <a:solidFill>
                  <a:schemeClr val="tx1"/>
                </a:solidFill>
                <a:effectLst/>
                <a:latin typeface="+mn-lt"/>
                <a:ea typeface="+mn-ea"/>
                <a:cs typeface="+mn-cs"/>
                <a:hlinkClick r:id="rId9"/>
              </a:rPr>
              <a:t>Control which apps are allowed in your environment</a:t>
            </a:r>
            <a:r>
              <a:rPr lang="en-US" sz="1200" b="0" i="0" kern="1200">
                <a:solidFill>
                  <a:schemeClr val="tx1"/>
                </a:solidFill>
                <a:effectLst/>
                <a:latin typeface="+mn-lt"/>
                <a:ea typeface="+mn-ea"/>
                <a:cs typeface="+mn-cs"/>
              </a:rPr>
              <a:t>.</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Agent</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Controls</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tx1"/>
                </a:solidFill>
                <a:effectLst/>
                <a:latin typeface="+mn-lt"/>
                <a:ea typeface="+mn-ea"/>
                <a:cs typeface="+mn-cs"/>
              </a:rPr>
              <a:t>Use new governance controls to limit agent sharing, turn off anonymous access, enforce preferred authentication providers, and provide better security. These controls help reduce the risks of data exfiltration, ensure agent development meets all organizational governance requirements, and proactively reduce security risks.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tx1"/>
                </a:solidFill>
                <a:effectLst/>
                <a:latin typeface="+mn-lt"/>
                <a:ea typeface="+mn-ea"/>
                <a:cs typeface="+mn-cs"/>
              </a:rPr>
              <a:t>Agent Authentication: This feature allows administrators to configure authentication for all agent interactions in the environment.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tx1"/>
                </a:solidFill>
                <a:effectLst/>
                <a:latin typeface="+mn-lt"/>
                <a:ea typeface="+mn-ea"/>
                <a:cs typeface="+mn-cs"/>
              </a:rPr>
              <a:t>Agent Access: This feature gives administrators control over where agents can be published, allowing customer engagement across multiple platforms. Admins can select multiple available channels, such as Microsoft Teams, Direct Line, Facebook, Dynamics 365 for Customer Service, SharePoint, and WhatsApp.</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B32C3BC-64F2-EF95-BEEB-35CD4455E056}"/>
              </a:ext>
            </a:extLst>
          </p:cNvPr>
          <p:cNvSpPr>
            <a:spLocks noGrp="1"/>
          </p:cNvSpPr>
          <p:nvPr>
            <p:ph type="sldNum" sz="quarter" idx="5"/>
          </p:nvPr>
        </p:nvSpPr>
        <p:spPr/>
        <p:txBody>
          <a:bodyPr/>
          <a:lstStyle/>
          <a:p>
            <a:fld id="{FC146366-EC0C-4FA7-8683-12ACFC203E97}" type="slidenum">
              <a:rPr lang="en-US" smtClean="0"/>
              <a:t>37</a:t>
            </a:fld>
            <a:endParaRPr lang="en-US"/>
          </a:p>
        </p:txBody>
      </p:sp>
    </p:spTree>
    <p:extLst>
      <p:ext uri="{BB962C8B-B14F-4D97-AF65-F5344CB8AC3E}">
        <p14:creationId xmlns:p14="http://schemas.microsoft.com/office/powerpoint/2010/main" val="4906504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11F2B-DCFB-0181-A60A-749050D36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C45CA-F032-2FE8-34E5-63D450842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17A25-1357-A40B-A3E6-B1F811C58C3E}"/>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04086A3-1F8B-8431-96E9-DF18CDF60A88}"/>
              </a:ext>
            </a:extLst>
          </p:cNvPr>
          <p:cNvSpPr>
            <a:spLocks noGrp="1"/>
          </p:cNvSpPr>
          <p:nvPr>
            <p:ph type="sldNum" sz="quarter" idx="5"/>
          </p:nvPr>
        </p:nvSpPr>
        <p:spPr/>
        <p:txBody>
          <a:bodyPr/>
          <a:lstStyle/>
          <a:p>
            <a:fld id="{FC146366-EC0C-4FA7-8683-12ACFC203E97}" type="slidenum">
              <a:rPr lang="en-US" smtClean="0"/>
              <a:t>38</a:t>
            </a:fld>
            <a:endParaRPr lang="en-US"/>
          </a:p>
        </p:txBody>
      </p:sp>
    </p:spTree>
    <p:extLst>
      <p:ext uri="{BB962C8B-B14F-4D97-AF65-F5344CB8AC3E}">
        <p14:creationId xmlns:p14="http://schemas.microsoft.com/office/powerpoint/2010/main" val="32557838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EB8EB-9A58-B206-A606-6A9FD79A82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0DAD2-291E-07C1-EC2E-10AA54AD6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6E1120-97A9-0045-66AC-4A935CD623A6}"/>
              </a:ext>
            </a:extLst>
          </p:cNvPr>
          <p:cNvSpPr>
            <a:spLocks noGrp="1"/>
          </p:cNvSpPr>
          <p:nvPr>
            <p:ph type="body" idx="1"/>
          </p:nvPr>
        </p:nvSpPr>
        <p:spPr/>
        <p:txBody>
          <a:bodyPr/>
          <a:lstStyle/>
          <a:p>
            <a:r>
              <a:rPr lang="en-US" sz="1200" b="0" i="0" kern="1200">
                <a:solidFill>
                  <a:schemeClr val="tx1"/>
                </a:solidFill>
                <a:effectLst/>
                <a:latin typeface="+mn-lt"/>
                <a:ea typeface="+mn-ea"/>
                <a:cs typeface="+mn-cs"/>
              </a:rPr>
              <a:t>Microsoft no longer automatically assigns the </a:t>
            </a:r>
            <a:r>
              <a:rPr lang="en-US" sz="1200" b="1" i="0" kern="1200">
                <a:solidFill>
                  <a:schemeClr val="tx1"/>
                </a:solidFill>
                <a:effectLst/>
                <a:latin typeface="+mn-lt"/>
                <a:ea typeface="+mn-ea"/>
                <a:cs typeface="+mn-cs"/>
              </a:rPr>
              <a:t>System Administrator</a:t>
            </a:r>
            <a:r>
              <a:rPr lang="en-US" sz="1200" b="0" i="0" kern="1200">
                <a:solidFill>
                  <a:schemeClr val="tx1"/>
                </a:solidFill>
                <a:effectLst/>
                <a:latin typeface="+mn-lt"/>
                <a:ea typeface="+mn-ea"/>
                <a:cs typeface="+mn-cs"/>
              </a:rPr>
              <a:t> role to users with global or service level admin roles such as Power Platform Administrator and Dynamics 365 Administrator.</a:t>
            </a:r>
          </a:p>
          <a:p>
            <a:r>
              <a:rPr lang="en-US" sz="1200" b="0" i="0" kern="1200">
                <a:solidFill>
                  <a:schemeClr val="tx1"/>
                </a:solidFill>
                <a:effectLst/>
                <a:latin typeface="+mn-lt"/>
                <a:ea typeface="+mn-ea"/>
                <a:cs typeface="+mn-cs"/>
              </a:rPr>
              <a:t>These admins can continue to sign in, to the Power Platform admin center, with these privileges: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Enable or disable tenant level settings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View analytics information for environments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View capacity consumption</a:t>
            </a:r>
          </a:p>
          <a:p>
            <a:r>
              <a:rPr lang="en-US" sz="1200" b="0" i="0" kern="1200">
                <a:solidFill>
                  <a:schemeClr val="tx1"/>
                </a:solidFill>
                <a:effectLst/>
                <a:latin typeface="+mn-lt"/>
                <a:ea typeface="+mn-ea"/>
                <a:cs typeface="+mn-cs"/>
              </a:rPr>
              <a:t>These admins can't perform activities that require direct access to Dataverse data without a license. Examples of these activities include:</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Updating the security role for a user in an environment</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Installing apps for an environment</a:t>
            </a:r>
          </a:p>
        </p:txBody>
      </p:sp>
      <p:sp>
        <p:nvSpPr>
          <p:cNvPr id="4" name="Slide Number Placeholder 3">
            <a:extLst>
              <a:ext uri="{FF2B5EF4-FFF2-40B4-BE49-F238E27FC236}">
                <a16:creationId xmlns:a16="http://schemas.microsoft.com/office/drawing/2014/main" id="{DBC3F15F-FE5D-584E-CD33-3D8627AF5708}"/>
              </a:ext>
            </a:extLst>
          </p:cNvPr>
          <p:cNvSpPr>
            <a:spLocks noGrp="1"/>
          </p:cNvSpPr>
          <p:nvPr>
            <p:ph type="sldNum" sz="quarter" idx="5"/>
          </p:nvPr>
        </p:nvSpPr>
        <p:spPr/>
        <p:txBody>
          <a:bodyPr/>
          <a:lstStyle/>
          <a:p>
            <a:fld id="{FC146366-EC0C-4FA7-8683-12ACFC203E97}" type="slidenum">
              <a:rPr lang="en-US" smtClean="0"/>
              <a:t>39</a:t>
            </a:fld>
            <a:endParaRPr lang="en-US"/>
          </a:p>
        </p:txBody>
      </p:sp>
    </p:spTree>
    <p:extLst>
      <p:ext uri="{BB962C8B-B14F-4D97-AF65-F5344CB8AC3E}">
        <p14:creationId xmlns:p14="http://schemas.microsoft.com/office/powerpoint/2010/main" val="39823520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32275-3E67-4F4C-8B2C-34A82EC90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C6C4D4-7869-9608-E620-6BB9B640F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43414-70E2-B554-4B02-6F77CB89C80B}"/>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30F4645-3324-E950-45CF-C3D91D1D8638}"/>
              </a:ext>
            </a:extLst>
          </p:cNvPr>
          <p:cNvSpPr>
            <a:spLocks noGrp="1"/>
          </p:cNvSpPr>
          <p:nvPr>
            <p:ph type="sldNum" sz="quarter" idx="5"/>
          </p:nvPr>
        </p:nvSpPr>
        <p:spPr/>
        <p:txBody>
          <a:bodyPr/>
          <a:lstStyle/>
          <a:p>
            <a:fld id="{FC146366-EC0C-4FA7-8683-12ACFC203E97}" type="slidenum">
              <a:rPr lang="en-US" smtClean="0"/>
              <a:t>40</a:t>
            </a:fld>
            <a:endParaRPr lang="en-US"/>
          </a:p>
        </p:txBody>
      </p:sp>
    </p:spTree>
    <p:extLst>
      <p:ext uri="{BB962C8B-B14F-4D97-AF65-F5344CB8AC3E}">
        <p14:creationId xmlns:p14="http://schemas.microsoft.com/office/powerpoint/2010/main" val="3533643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448CD-93EA-18AC-6D5B-46D6DD78B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BB045-6691-F7F5-C812-DC48DC977D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7AAFB-6DA9-206E-ECB5-A53E0827058A}"/>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8DB2B88-05D2-B1EC-AD9D-3E0ED5646A19}"/>
              </a:ext>
            </a:extLst>
          </p:cNvPr>
          <p:cNvSpPr>
            <a:spLocks noGrp="1"/>
          </p:cNvSpPr>
          <p:nvPr>
            <p:ph type="sldNum" sz="quarter" idx="5"/>
          </p:nvPr>
        </p:nvSpPr>
        <p:spPr/>
        <p:txBody>
          <a:bodyPr/>
          <a:lstStyle/>
          <a:p>
            <a:fld id="{FC146366-EC0C-4FA7-8683-12ACFC203E97}" type="slidenum">
              <a:rPr lang="en-US" smtClean="0"/>
              <a:t>41</a:t>
            </a:fld>
            <a:endParaRPr lang="en-US"/>
          </a:p>
        </p:txBody>
      </p:sp>
    </p:spTree>
    <p:extLst>
      <p:ext uri="{BB962C8B-B14F-4D97-AF65-F5344CB8AC3E}">
        <p14:creationId xmlns:p14="http://schemas.microsoft.com/office/powerpoint/2010/main" val="32651058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E8E6B-C5F5-7B9C-1904-32C450778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054AB-6613-A591-6E18-8B6584CA2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057660-B0C7-6831-D888-B18F25B6F4AB}"/>
              </a:ext>
            </a:extLst>
          </p:cNvPr>
          <p:cNvSpPr>
            <a:spLocks noGrp="1"/>
          </p:cNvSpPr>
          <p:nvPr>
            <p:ph type="body" idx="1"/>
          </p:nvPr>
        </p:nvSpPr>
        <p:spPr/>
        <p:txBody>
          <a:bodyPr/>
          <a:lstStyle/>
          <a:p>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AC415BF-D48B-76BB-C24F-26F6BBAC1F9B}"/>
              </a:ext>
            </a:extLst>
          </p:cNvPr>
          <p:cNvSpPr>
            <a:spLocks noGrp="1"/>
          </p:cNvSpPr>
          <p:nvPr>
            <p:ph type="sldNum" sz="quarter" idx="5"/>
          </p:nvPr>
        </p:nvSpPr>
        <p:spPr/>
        <p:txBody>
          <a:bodyPr/>
          <a:lstStyle/>
          <a:p>
            <a:fld id="{FC146366-EC0C-4FA7-8683-12ACFC203E97}" type="slidenum">
              <a:rPr lang="en-US" smtClean="0"/>
              <a:t>42</a:t>
            </a:fld>
            <a:endParaRPr lang="en-US"/>
          </a:p>
        </p:txBody>
      </p:sp>
    </p:spTree>
    <p:extLst>
      <p:ext uri="{BB962C8B-B14F-4D97-AF65-F5344CB8AC3E}">
        <p14:creationId xmlns:p14="http://schemas.microsoft.com/office/powerpoint/2010/main" val="10830962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2A76B-7D20-3081-25E3-DC2802AC8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DE34B-A8D1-D5AE-C9C7-A18373E7D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B4E6BA-30ED-282D-A93F-1FEDB8608963}"/>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When an admin configures this environment setting, guests can't connect to data sources in the environment. Guests can't perform any maker actions, and they can't use any apps or flows shared with them. Admins implement this security within the Power Platform admin center without using controls like conditional access or continuous access evaluation.</a:t>
            </a:r>
          </a:p>
        </p:txBody>
      </p:sp>
      <p:sp>
        <p:nvSpPr>
          <p:cNvPr id="4" name="Slide Number Placeholder 3">
            <a:extLst>
              <a:ext uri="{FF2B5EF4-FFF2-40B4-BE49-F238E27FC236}">
                <a16:creationId xmlns:a16="http://schemas.microsoft.com/office/drawing/2014/main" id="{8BE00886-373B-08F3-E562-F39383217B19}"/>
              </a:ext>
            </a:extLst>
          </p:cNvPr>
          <p:cNvSpPr>
            <a:spLocks noGrp="1"/>
          </p:cNvSpPr>
          <p:nvPr>
            <p:ph type="sldNum" sz="quarter" idx="5"/>
          </p:nvPr>
        </p:nvSpPr>
        <p:spPr/>
        <p:txBody>
          <a:bodyPr/>
          <a:lstStyle/>
          <a:p>
            <a:fld id="{FC146366-EC0C-4FA7-8683-12ACFC203E97}" type="slidenum">
              <a:rPr lang="en-US" smtClean="0"/>
              <a:t>43</a:t>
            </a:fld>
            <a:endParaRPr lang="en-US"/>
          </a:p>
        </p:txBody>
      </p:sp>
    </p:spTree>
    <p:extLst>
      <p:ext uri="{BB962C8B-B14F-4D97-AF65-F5344CB8AC3E}">
        <p14:creationId xmlns:p14="http://schemas.microsoft.com/office/powerpoint/2010/main" val="21642916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B15FB-C993-E90A-6E83-A28551CE8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56D5B-F4C1-6839-E378-1897CA442F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080370-DEF3-2474-EB17-83A3A4D8DF9B}"/>
              </a:ext>
            </a:extLst>
          </p:cNvPr>
          <p:cNvSpPr>
            <a:spLocks noGrp="1"/>
          </p:cNvSpPr>
          <p:nvPr>
            <p:ph type="body" idx="1"/>
          </p:nvPr>
        </p:nvSpPr>
        <p:spPr/>
        <p:txBody>
          <a:bodyPr/>
          <a:lstStyle/>
          <a:p>
            <a:r>
              <a:rPr lang="en-US" sz="1200" b="0" i="0" kern="1200">
                <a:solidFill>
                  <a:schemeClr val="tx1"/>
                </a:solidFill>
                <a:effectLst/>
                <a:latin typeface="+mn-lt"/>
                <a:ea typeface="+mn-ea"/>
                <a:cs typeface="+mn-cs"/>
              </a:rPr>
              <a:t>This feature allows administrators to configure authentication for all agent interactions in the environment. Admins can select one of the following options:</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Authenticate with Microsoft or Authenticate Manually</a:t>
            </a:r>
            <a:r>
              <a:rPr lang="en-US" sz="1200" b="0" i="0" kern="1200">
                <a:solidFill>
                  <a:schemeClr val="tx1"/>
                </a:solidFill>
                <a:effectLst/>
                <a:latin typeface="+mn-lt"/>
                <a:ea typeface="+mn-ea"/>
                <a:cs typeface="+mn-cs"/>
              </a:rPr>
              <a:t> allows you to force authentication through Microsoft Entra ID or </a:t>
            </a:r>
            <a:r>
              <a:rPr lang="en-US" sz="1200" b="0" i="0" u="none" strike="noStrike" kern="1200">
                <a:solidFill>
                  <a:schemeClr val="tx1"/>
                </a:solidFill>
                <a:effectLst/>
                <a:latin typeface="+mn-lt"/>
                <a:ea typeface="+mn-ea"/>
                <a:cs typeface="+mn-cs"/>
                <a:hlinkClick r:id="rId3"/>
              </a:rPr>
              <a:t>authenticate manually</a:t>
            </a:r>
            <a:r>
              <a:rPr lang="en-US" sz="1200" b="0" i="0" kern="1200">
                <a:solidFill>
                  <a:schemeClr val="tx1"/>
                </a:solidFill>
                <a:effectLst/>
                <a:latin typeface="+mn-lt"/>
                <a:ea typeface="+mn-ea"/>
                <a:cs typeface="+mn-cs"/>
              </a:rPr>
              <a:t>. This helps prevent makers from creating or using agents with no authentication.</a:t>
            </a:r>
          </a:p>
          <a:p>
            <a:pPr marL="171450" indent="-171450">
              <a:buFont typeface="Arial" panose="020B0604020202020204" pitchFamily="34" charset="0"/>
              <a:buChar char="•"/>
            </a:pPr>
            <a:r>
              <a:rPr lang="en-US" sz="1200" b="1" i="0" kern="1200">
                <a:solidFill>
                  <a:schemeClr val="tx1"/>
                </a:solidFill>
                <a:effectLst/>
                <a:latin typeface="+mn-lt"/>
                <a:ea typeface="+mn-ea"/>
                <a:cs typeface="+mn-cs"/>
              </a:rPr>
              <a:t>No authentication</a:t>
            </a:r>
            <a:r>
              <a:rPr lang="en-US" sz="1200" b="0" i="0" kern="1200">
                <a:solidFill>
                  <a:schemeClr val="tx1"/>
                </a:solidFill>
                <a:effectLst/>
                <a:latin typeface="+mn-lt"/>
                <a:ea typeface="+mn-ea"/>
                <a:cs typeface="+mn-cs"/>
              </a:rPr>
              <a:t> allows anonymous access.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2AD991A9-F86C-9A0E-3992-70887416867D}"/>
              </a:ext>
            </a:extLst>
          </p:cNvPr>
          <p:cNvSpPr>
            <a:spLocks noGrp="1"/>
          </p:cNvSpPr>
          <p:nvPr>
            <p:ph type="sldNum" sz="quarter" idx="5"/>
          </p:nvPr>
        </p:nvSpPr>
        <p:spPr/>
        <p:txBody>
          <a:bodyPr/>
          <a:lstStyle/>
          <a:p>
            <a:fld id="{FC146366-EC0C-4FA7-8683-12ACFC203E97}" type="slidenum">
              <a:rPr lang="en-US" smtClean="0"/>
              <a:t>44</a:t>
            </a:fld>
            <a:endParaRPr lang="en-US"/>
          </a:p>
        </p:txBody>
      </p:sp>
    </p:spTree>
    <p:extLst>
      <p:ext uri="{BB962C8B-B14F-4D97-AF65-F5344CB8AC3E}">
        <p14:creationId xmlns:p14="http://schemas.microsoft.com/office/powerpoint/2010/main" val="18271876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5840B-B0A2-BB44-5E30-7BB04FA1D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1073F-3E18-71C2-AF44-7A6C08862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BBC92-98D9-84DD-59D7-A3431BE627A2}"/>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kern="1200">
                <a:solidFill>
                  <a:schemeClr val="tx1"/>
                </a:solidFill>
                <a:effectLst/>
                <a:latin typeface="+mn-lt"/>
                <a:ea typeface="+mn-ea"/>
                <a:cs typeface="+mn-cs"/>
              </a:rPr>
              <a:t>This feature gives administrators control over where agents can be published, allowing customer engagement across multiple platforms. Admins can select multiple available channels, such as Microsoft Teams, Direct Line, Facebook, Dynamics 365 for Customer Service, SharePoint, and WhatsApp.</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F52DD6FE-293B-0DFD-16FB-93E6B0D82D5E}"/>
              </a:ext>
            </a:extLst>
          </p:cNvPr>
          <p:cNvSpPr>
            <a:spLocks noGrp="1"/>
          </p:cNvSpPr>
          <p:nvPr>
            <p:ph type="sldNum" sz="quarter" idx="5"/>
          </p:nvPr>
        </p:nvSpPr>
        <p:spPr/>
        <p:txBody>
          <a:bodyPr/>
          <a:lstStyle/>
          <a:p>
            <a:fld id="{FC146366-EC0C-4FA7-8683-12ACFC203E97}" type="slidenum">
              <a:rPr lang="en-US" smtClean="0"/>
              <a:t>45</a:t>
            </a:fld>
            <a:endParaRPr lang="en-US"/>
          </a:p>
        </p:txBody>
      </p:sp>
    </p:spTree>
    <p:extLst>
      <p:ext uri="{BB962C8B-B14F-4D97-AF65-F5344CB8AC3E}">
        <p14:creationId xmlns:p14="http://schemas.microsoft.com/office/powerpoint/2010/main" val="22103099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E9CD5-5982-A264-B957-1195ECBC6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7C5979-5AE4-B9B4-5E14-4AC788A30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20630-2353-571F-14DC-4C9B34D7ACBE}"/>
              </a:ext>
            </a:extLst>
          </p:cNvPr>
          <p:cNvSpPr>
            <a:spLocks noGrp="1"/>
          </p:cNvSpPr>
          <p:nvPr>
            <p:ph type="body" idx="1"/>
          </p:nvPr>
        </p:nvSpPr>
        <p:spPr/>
        <p:txBody>
          <a:bodyPr/>
          <a:lstStyle/>
          <a:p>
            <a:pPr marL="171450" indent="-171450">
              <a:buFont typeface="Arial" panose="020B0604020202020204" pitchFamily="34" charset="0"/>
              <a:buChar char="•"/>
            </a:pPr>
            <a:r>
              <a:rPr lang="es-ES"/>
              <a:t>PIM</a:t>
            </a:r>
          </a:p>
          <a:p>
            <a:pPr marL="171450" indent="-171450">
              <a:buFont typeface="Arial" panose="020B0604020202020204" pitchFamily="34" charset="0"/>
              <a:buChar char="•"/>
            </a:pPr>
            <a:r>
              <a:rPr lang="en-US"/>
              <a:t>Block/Enable Client Access App</a:t>
            </a:r>
          </a:p>
          <a:p>
            <a:pPr marL="171450" indent="-171450">
              <a:buFont typeface="Arial" panose="020B0604020202020204" pitchFamily="34" charset="0"/>
              <a:buChar char="•"/>
            </a:pPr>
            <a:r>
              <a:rPr lang="en-US"/>
              <a:t>Conditional Access + Guest Access</a:t>
            </a:r>
          </a:p>
          <a:p>
            <a:pPr marL="171450" indent="-171450">
              <a:buFont typeface="Arial" panose="020B0604020202020204" pitchFamily="34" charset="0"/>
              <a:buChar char="•"/>
            </a:pPr>
            <a:r>
              <a:rPr lang="en-US"/>
              <a:t>Agents Authentication + Agent Access</a:t>
            </a:r>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n-US"/>
          </a:p>
          <a:p>
            <a:pPr marL="171450" indent="-171450">
              <a:buFont typeface="Arial" panose="020B0604020202020204" pitchFamily="34" charset="0"/>
              <a:buChar char="•"/>
            </a:pPr>
            <a:endParaRPr lang="es-ES"/>
          </a:p>
        </p:txBody>
      </p:sp>
      <p:sp>
        <p:nvSpPr>
          <p:cNvPr id="4" name="Slide Number Placeholder 3">
            <a:extLst>
              <a:ext uri="{FF2B5EF4-FFF2-40B4-BE49-F238E27FC236}">
                <a16:creationId xmlns:a16="http://schemas.microsoft.com/office/drawing/2014/main" id="{8981CD35-188F-6E6B-BBB6-159D6879FCC8}"/>
              </a:ext>
            </a:extLst>
          </p:cNvPr>
          <p:cNvSpPr>
            <a:spLocks noGrp="1"/>
          </p:cNvSpPr>
          <p:nvPr>
            <p:ph type="sldNum" sz="quarter" idx="5"/>
          </p:nvPr>
        </p:nvSpPr>
        <p:spPr/>
        <p:txBody>
          <a:bodyPr/>
          <a:lstStyle/>
          <a:p>
            <a:fld id="{FC146366-EC0C-4FA7-8683-12ACFC203E97}" type="slidenum">
              <a:rPr lang="en-US" smtClean="0"/>
              <a:t>46</a:t>
            </a:fld>
            <a:endParaRPr lang="en-US"/>
          </a:p>
        </p:txBody>
      </p:sp>
    </p:spTree>
    <p:extLst>
      <p:ext uri="{BB962C8B-B14F-4D97-AF65-F5344CB8AC3E}">
        <p14:creationId xmlns:p14="http://schemas.microsoft.com/office/powerpoint/2010/main" val="27382741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544E-41BB-59E1-F1D9-9D9DE6BE70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328F8-2C9A-BD0B-98E3-2D60E20B4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F5104-5AE2-E7AB-D558-E0B858548B10}"/>
              </a:ext>
            </a:extLst>
          </p:cNvPr>
          <p:cNvSpPr>
            <a:spLocks noGrp="1"/>
          </p:cNvSpPr>
          <p:nvPr>
            <p:ph type="body" idx="1"/>
          </p:nvPr>
        </p:nvSpPr>
        <p:spPr/>
        <p:txBody>
          <a:bodyPr/>
          <a:lstStyle/>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a:ln>
                  <a:noFill/>
                </a:ln>
                <a:solidFill>
                  <a:srgbClr val="000000"/>
                </a:solidFill>
                <a:effectLst/>
                <a:uLnTx/>
                <a:uFillTx/>
                <a:latin typeface="Segoe UI"/>
                <a:ea typeface="+mn-ea"/>
                <a:cs typeface="+mn-cs"/>
                <a:sym typeface="Arial"/>
              </a:rPr>
              <a:t>Customer Lockbox</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err="1">
                <a:ln>
                  <a:noFill/>
                </a:ln>
                <a:solidFill>
                  <a:srgbClr val="000000"/>
                </a:solidFill>
                <a:effectLst/>
                <a:uLnTx/>
                <a:uFillTx/>
                <a:latin typeface="Segoe UI"/>
                <a:ea typeface="+mn-ea"/>
                <a:cs typeface="+mn-cs"/>
              </a:rPr>
              <a:t>Extendss</a:t>
            </a:r>
            <a:r>
              <a:rPr kumimoji="0" lang="en-US" sz="1200" b="0" i="0" u="none" strike="noStrike" kern="1200" cap="none" spc="0" normalizeH="0" baseline="0" noProof="0">
                <a:ln>
                  <a:noFill/>
                </a:ln>
                <a:solidFill>
                  <a:srgbClr val="000000"/>
                </a:solidFill>
                <a:effectLst/>
                <a:uLnTx/>
                <a:uFillTx/>
                <a:latin typeface="Segoe UI"/>
                <a:ea typeface="+mn-ea"/>
                <a:cs typeface="+mn-cs"/>
              </a:rPr>
              <a:t> JIT with customer approval</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Bound to specific environment, user and duration</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OOB audit available to end user</a:t>
            </a: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Segoe UI"/>
                <a:ea typeface="+mn-ea"/>
                <a:cs typeface="+mn-cs"/>
              </a:rPr>
              <a:t>Data residency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Tenant home geo default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Multi-geo support (at environment level) to enable global presence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Data resiliency ensured within geo </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Segoe UI"/>
                <a:ea typeface="+mn-ea"/>
                <a:cs typeface="+mn-cs"/>
                <a:sym typeface="Arial"/>
              </a:rPr>
              <a:t>Compliance standards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National, regional and industry-specific regulations for data collection and use</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E.g., </a:t>
            </a:r>
            <a:r>
              <a:rPr kumimoji="0" lang="en-US" sz="1200" b="0" i="0" u="none" strike="noStrike" kern="1200" cap="none" spc="0" normalizeH="0" baseline="0" noProof="0" err="1">
                <a:ln>
                  <a:noFill/>
                </a:ln>
                <a:solidFill>
                  <a:srgbClr val="000000"/>
                </a:solidFill>
                <a:effectLst/>
                <a:uLnTx/>
                <a:uFillTx/>
                <a:latin typeface="Segoe UI"/>
                <a:ea typeface="+mn-ea"/>
                <a:cs typeface="+mn-cs"/>
              </a:rPr>
              <a:t>FedRamp</a:t>
            </a:r>
            <a:r>
              <a:rPr kumimoji="0" lang="en-US" sz="1200" b="0" i="0" u="none" strike="noStrike" kern="1200" cap="none" spc="0" normalizeH="0" baseline="0" noProof="0">
                <a:ln>
                  <a:noFill/>
                </a:ln>
                <a:solidFill>
                  <a:srgbClr val="000000"/>
                </a:solidFill>
                <a:effectLst/>
                <a:uLnTx/>
                <a:uFillTx/>
                <a:latin typeface="Segoe UI"/>
                <a:ea typeface="+mn-ea"/>
                <a:cs typeface="+mn-cs"/>
              </a:rPr>
              <a:t>, FERPA, HIPAA, SOC, IRS 1075, SEC Regulation, FISC (Japan), FACT (UK), etc.</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Segoe UI"/>
                <a:ea typeface="+mn-ea"/>
                <a:cs typeface="+mn-cs"/>
                <a:sym typeface="Arial"/>
              </a:rPr>
              <a:t>Data Privacy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GDPR compliant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Microsoft Trust Center</a:t>
            </a:r>
            <a:endParaRPr kumimoji="0" lang="en-US" sz="1100" b="0" i="0" u="none" strike="noStrike" kern="1200" cap="none" spc="0" normalizeH="0" baseline="0" noProof="0">
              <a:ln>
                <a:noFill/>
              </a:ln>
              <a:solidFill>
                <a:srgbClr val="000000"/>
              </a:solidFill>
              <a:effectLst/>
              <a:uLnTx/>
              <a:uFillTx/>
              <a:latin typeface="Segoe UI"/>
              <a:ea typeface="+mn-ea"/>
              <a:cs typeface="+mn-cs"/>
            </a:endParaRPr>
          </a:p>
          <a:p>
            <a:pPr marL="0" indent="0">
              <a:buFont typeface="Arial" panose="020B0604020202020204" pitchFamily="34" charset="0"/>
              <a:buNone/>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BAFD2187-7DC2-8DF7-1D88-1857308FE873}"/>
              </a:ext>
            </a:extLst>
          </p:cNvPr>
          <p:cNvSpPr>
            <a:spLocks noGrp="1"/>
          </p:cNvSpPr>
          <p:nvPr>
            <p:ph type="sldNum" sz="quarter" idx="5"/>
          </p:nvPr>
        </p:nvSpPr>
        <p:spPr/>
        <p:txBody>
          <a:bodyPr/>
          <a:lstStyle/>
          <a:p>
            <a:fld id="{FC146366-EC0C-4FA7-8683-12ACFC203E97}" type="slidenum">
              <a:rPr lang="en-US" smtClean="0"/>
              <a:t>47</a:t>
            </a:fld>
            <a:endParaRPr lang="en-US"/>
          </a:p>
        </p:txBody>
      </p:sp>
    </p:spTree>
    <p:extLst>
      <p:ext uri="{BB962C8B-B14F-4D97-AF65-F5344CB8AC3E}">
        <p14:creationId xmlns:p14="http://schemas.microsoft.com/office/powerpoint/2010/main" val="1882810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429E4-4494-2926-22B8-D51166B82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921888-5079-C0D6-7D19-0EB6739A21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04D97-B619-1316-75AC-C41EA3BC2B9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200" b="1">
                <a:solidFill>
                  <a:schemeClr val="tx1">
                    <a:lumMod val="75000"/>
                    <a:lumOff val="25000"/>
                  </a:schemeClr>
                </a:solidFill>
                <a:latin typeface="Segoe UI" panose="020B0502040204020203" pitchFamily="34" charset="0"/>
                <a:cs typeface="Segoe UI" panose="020B0502040204020203" pitchFamily="34" charset="0"/>
              </a:rPr>
              <a:t>Auditoría y Cumplimiento</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Compliance</a:t>
            </a:r>
            <a:r>
              <a:rPr lang="en-US" sz="1200" b="0" i="0" kern="1200">
                <a:solidFill>
                  <a:schemeClr val="tx1"/>
                </a:solidFill>
                <a:effectLst/>
                <a:latin typeface="+mn-lt"/>
                <a:ea typeface="+mn-ea"/>
                <a:cs typeface="+mn-cs"/>
              </a:rPr>
              <a:t>: Implement robust compliance measures to safeguard organizational data and ensure adherence to industry regulations through features such as </a:t>
            </a:r>
            <a:r>
              <a:rPr lang="en-US" sz="1200" b="0" i="0" u="none" strike="noStrike" kern="1200">
                <a:solidFill>
                  <a:schemeClr val="tx1"/>
                </a:solidFill>
                <a:effectLst/>
                <a:latin typeface="+mn-lt"/>
                <a:ea typeface="+mn-ea"/>
                <a:cs typeface="+mn-cs"/>
                <a:hlinkClick r:id="rId3"/>
              </a:rPr>
              <a:t>Customer Lockbox</a:t>
            </a:r>
            <a:r>
              <a:rPr lang="en-US" sz="1200" b="0" i="0" kern="120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Compliance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Lockbox</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Dataverse</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Audid</a:t>
            </a:r>
            <a:endParaRPr lang="es-ES" sz="1200" b="0" noProof="0">
              <a:solidFill>
                <a:schemeClr val="tx1">
                  <a:lumMod val="75000"/>
                  <a:lumOff val="25000"/>
                </a:schemeClr>
              </a:solidFill>
              <a:latin typeface="Segoe UI" panose="020B0502040204020203" pitchFamily="34" charset="0"/>
              <a:cs typeface="Segoe UI" panose="020B0502040204020203" pitchFamily="34"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F0CF45A-5D8E-62DE-A07D-027B99883CEB}"/>
              </a:ext>
            </a:extLst>
          </p:cNvPr>
          <p:cNvSpPr>
            <a:spLocks noGrp="1"/>
          </p:cNvSpPr>
          <p:nvPr>
            <p:ph type="sldNum" sz="quarter" idx="5"/>
          </p:nvPr>
        </p:nvSpPr>
        <p:spPr/>
        <p:txBody>
          <a:bodyPr/>
          <a:lstStyle/>
          <a:p>
            <a:fld id="{FC146366-EC0C-4FA7-8683-12ACFC203E97}" type="slidenum">
              <a:rPr lang="en-US" smtClean="0"/>
              <a:t>48</a:t>
            </a:fld>
            <a:endParaRPr lang="en-US"/>
          </a:p>
        </p:txBody>
      </p:sp>
    </p:spTree>
    <p:extLst>
      <p:ext uri="{BB962C8B-B14F-4D97-AF65-F5344CB8AC3E}">
        <p14:creationId xmlns:p14="http://schemas.microsoft.com/office/powerpoint/2010/main" val="41210886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855FC-08BB-E290-3F69-198555E34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FDAFD-D960-E2D2-5972-608320A40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497943-B354-1486-BF5A-58245FA62B03}"/>
              </a:ext>
            </a:extLst>
          </p:cNvPr>
          <p:cNvSpPr>
            <a:spLocks noGrp="1"/>
          </p:cNvSpPr>
          <p:nvPr>
            <p:ph type="body" idx="1"/>
          </p:nvPr>
        </p:nvSpPr>
        <p:spPr/>
        <p:txBody>
          <a:bodyPr/>
          <a:lstStyle/>
          <a:p>
            <a:pPr marL="0" marR="0" lvl="0" indent="0" algn="l" defTabSz="932472" rtl="0" eaLnBrk="1" fontAlgn="base" latinLnBrk="0" hangingPunct="1">
              <a:lnSpc>
                <a:spcPct val="100000"/>
              </a:lnSpc>
              <a:spcBef>
                <a:spcPct val="0"/>
              </a:spcBef>
              <a:spcAft>
                <a:spcPts val="300"/>
              </a:spcAft>
              <a:buClrTx/>
              <a:buSzTx/>
              <a:buFont typeface="Arial" panose="020B0604020202020204" pitchFamily="34" charset="0"/>
              <a:buNone/>
              <a:tabLst/>
              <a:defRPr/>
            </a:pPr>
            <a:r>
              <a:rPr kumimoji="0" lang="es-ES" sz="1200" b="1" i="0" u="none" strike="noStrike" kern="0" cap="none" spc="0" normalizeH="0" baseline="0" err="1">
                <a:ln>
                  <a:noFill/>
                </a:ln>
                <a:solidFill>
                  <a:srgbClr val="000000"/>
                </a:solidFill>
                <a:effectLst/>
                <a:uLnTx/>
                <a:uFillTx/>
                <a:latin typeface="Segoe UI"/>
                <a:ea typeface="+mn-ea"/>
                <a:cs typeface="Segoe UI" charset="0"/>
                <a:sym typeface="Arial"/>
              </a:rPr>
              <a:t>Dataverse</a:t>
            </a:r>
            <a:r>
              <a:rPr kumimoji="0" lang="es-ES" sz="1200" b="1" i="0" u="none" strike="noStrike" kern="0" cap="none" spc="0" normalizeH="0" baseline="0">
                <a:ln>
                  <a:noFill/>
                </a:ln>
                <a:solidFill>
                  <a:srgbClr val="000000"/>
                </a:solidFill>
                <a:effectLst/>
                <a:uLnTx/>
                <a:uFillTx/>
                <a:latin typeface="Segoe UI"/>
                <a:ea typeface="+mn-ea"/>
                <a:cs typeface="Segoe UI" charset="0"/>
                <a:sym typeface="Arial"/>
              </a:rPr>
              <a:t> Audit</a:t>
            </a:r>
          </a:p>
          <a:p>
            <a:pPr marL="171450" marR="0" lvl="0" indent="-1714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Segoe UI"/>
                <a:ea typeface="+mn-ea"/>
                <a:cs typeface="Segoe UI" charset="0"/>
              </a:rPr>
              <a:t>User access and activity (records changes) </a:t>
            </a:r>
          </a:p>
          <a:p>
            <a:pPr marL="171450" marR="0" lvl="0" indent="-1714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Segoe UI"/>
                <a:ea typeface="+mn-ea"/>
                <a:cs typeface="Segoe UI" charset="0"/>
              </a:rPr>
              <a:t>Monitor system jobs </a:t>
            </a:r>
          </a:p>
          <a:p>
            <a:pPr marL="171450" marR="0" lvl="0" indent="-1714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Segoe UI"/>
                <a:ea typeface="+mn-ea"/>
                <a:cs typeface="Segoe UI" charset="0"/>
              </a:rPr>
              <a:t>Audit delete jobs</a:t>
            </a:r>
          </a:p>
          <a:p>
            <a:pPr marL="171450" marR="0" lvl="0" indent="-171450" algn="l" defTabSz="932472" rtl="0" eaLnBrk="1" fontAlgn="base" latinLnBrk="0" hangingPunct="1">
              <a:lnSpc>
                <a:spcPct val="100000"/>
              </a:lnSpc>
              <a:spcBef>
                <a:spcPct val="0"/>
              </a:spcBef>
              <a:spcAft>
                <a:spcPts val="300"/>
              </a:spcAft>
              <a:buClrTx/>
              <a:buSzTx/>
              <a:buFont typeface="Arial" panose="020B0604020202020204" pitchFamily="34" charset="0"/>
              <a:buChar char="•"/>
              <a:tabLst/>
              <a:defRPr/>
            </a:pPr>
            <a:r>
              <a:rPr kumimoji="0" lang="en-US" sz="1200" b="0" i="0" u="none" strike="noStrike" kern="0" cap="none" spc="0" normalizeH="0" baseline="0" noProof="0">
                <a:ln>
                  <a:noFill/>
                </a:ln>
                <a:solidFill>
                  <a:srgbClr val="000000"/>
                </a:solidFill>
                <a:effectLst/>
                <a:uLnTx/>
                <a:uFillTx/>
                <a:latin typeface="Segoe UI"/>
                <a:ea typeface="+mn-ea"/>
                <a:cs typeface="Segoe UI" charset="0"/>
              </a:rPr>
              <a:t>Manage log records</a:t>
            </a:r>
          </a:p>
          <a:p>
            <a:pPr marL="0" marR="0" lvl="0" indent="0" algn="l" defTabSz="932472" rtl="0" eaLnBrk="1" fontAlgn="base" latinLnBrk="0" hangingPunct="1">
              <a:lnSpc>
                <a:spcPct val="100000"/>
              </a:lnSpc>
              <a:spcBef>
                <a:spcPct val="0"/>
              </a:spcBef>
              <a:spcAft>
                <a:spcPts val="300"/>
              </a:spcAft>
              <a:buClrTx/>
              <a:buSzTx/>
              <a:buFont typeface="Arial" panose="020B0604020202020204" pitchFamily="34" charset="0"/>
              <a:buNone/>
              <a:tabLst/>
              <a:defRPr/>
            </a:pPr>
            <a:endParaRPr kumimoji="0" lang="en-US" sz="1200" b="1" i="0" u="none" strike="noStrike" kern="0" cap="none" spc="0" normalizeH="0" baseline="0" noProof="0">
              <a:ln>
                <a:noFill/>
              </a:ln>
              <a:solidFill>
                <a:srgbClr val="000000"/>
              </a:solidFill>
              <a:effectLst/>
              <a:uLnTx/>
              <a:uFillTx/>
              <a:latin typeface="Segoe UI"/>
              <a:ea typeface="+mn-ea"/>
              <a:cs typeface="Segoe UI" charset="0"/>
            </a:endParaRPr>
          </a:p>
          <a:p>
            <a:pPr marL="0" marR="0" lvl="0" indent="0" algn="l" defTabSz="932472" rtl="0" eaLnBrk="1" fontAlgn="base" latinLnBrk="0" hangingPunct="1">
              <a:lnSpc>
                <a:spcPct val="100000"/>
              </a:lnSpc>
              <a:spcBef>
                <a:spcPct val="0"/>
              </a:spcBef>
              <a:spcAft>
                <a:spcPts val="300"/>
              </a:spcAft>
              <a:buClrTx/>
              <a:buSzTx/>
              <a:buFont typeface="Arial" panose="020B0604020202020204" pitchFamily="34" charset="0"/>
              <a:buNone/>
              <a:tabLst/>
              <a:defRPr/>
            </a:pPr>
            <a:r>
              <a:rPr kumimoji="0" lang="en-US" sz="1200" b="1" i="0" u="none" strike="noStrike" kern="0" cap="none" spc="0" normalizeH="0" baseline="0" noProof="0">
                <a:ln>
                  <a:noFill/>
                </a:ln>
                <a:solidFill>
                  <a:srgbClr val="000000"/>
                </a:solidFill>
                <a:effectLst/>
                <a:uLnTx/>
                <a:uFillTx/>
                <a:latin typeface="Segoe UI"/>
                <a:ea typeface="+mn-ea"/>
                <a:cs typeface="Segoe UI" charset="0"/>
              </a:rPr>
              <a:t>Activity Logging</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Dataverse, Power Apps, Power Automate, Connector*, DLP activity</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Internal and external audit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Audit changes to records and user access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Segoe UI"/>
                <a:ea typeface="+mn-ea"/>
                <a:cs typeface="+mn-cs"/>
              </a:rPr>
              <a:t>Admin Activity Logging</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Activities performed on Environments by the Power Platform Administrator </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Lifecycle operations, property and setting change activities, security and permission change activities</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367"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000000"/>
                </a:solidFill>
                <a:effectLst/>
                <a:uLnTx/>
                <a:uFillTx/>
                <a:latin typeface="Segoe UI"/>
                <a:ea typeface="+mn-ea"/>
                <a:cs typeface="+mn-cs"/>
              </a:rPr>
              <a:t>Microsoft 365 Purview Audit</a:t>
            </a:r>
          </a:p>
          <a:p>
            <a:pPr marL="171450" marR="0" lvl="0" indent="-171450" algn="l" defTabSz="914367"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161616"/>
                </a:solidFill>
                <a:effectLst/>
                <a:uLnTx/>
                <a:uFillTx/>
                <a:latin typeface="Segoe UI" panose="020B0502040204020203" pitchFamily="34" charset="0"/>
                <a:ea typeface="+mn-ea"/>
                <a:cs typeface="+mn-cs"/>
              </a:rPr>
              <a:t>Capture, record, discover and retain your organization's unified audit log</a:t>
            </a:r>
            <a:endParaRPr kumimoji="0" lang="en-US" sz="1200" b="0" i="0" u="none" strike="noStrike" kern="0" cap="none" spc="0" normalizeH="0" baseline="0" noProof="0">
              <a:ln>
                <a:noFill/>
              </a:ln>
              <a:solidFill>
                <a:srgbClr val="000000"/>
              </a:solidFill>
              <a:effectLst/>
              <a:uLnTx/>
              <a:uFillTx/>
              <a:latin typeface="Segoe UI"/>
              <a:ea typeface="+mn-ea"/>
              <a:cs typeface="Segoe UI" charset="0"/>
            </a:endParaRP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38F22BF-7114-D94C-FB25-EF8AFCF99B8D}"/>
              </a:ext>
            </a:extLst>
          </p:cNvPr>
          <p:cNvSpPr>
            <a:spLocks noGrp="1"/>
          </p:cNvSpPr>
          <p:nvPr>
            <p:ph type="sldNum" sz="quarter" idx="5"/>
          </p:nvPr>
        </p:nvSpPr>
        <p:spPr/>
        <p:txBody>
          <a:bodyPr/>
          <a:lstStyle/>
          <a:p>
            <a:fld id="{FC146366-EC0C-4FA7-8683-12ACFC203E97}" type="slidenum">
              <a:rPr lang="en-US" smtClean="0"/>
              <a:t>49</a:t>
            </a:fld>
            <a:endParaRPr lang="en-US"/>
          </a:p>
        </p:txBody>
      </p:sp>
    </p:spTree>
    <p:extLst>
      <p:ext uri="{BB962C8B-B14F-4D97-AF65-F5344CB8AC3E}">
        <p14:creationId xmlns:p14="http://schemas.microsoft.com/office/powerpoint/2010/main" val="8594356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err="1"/>
              <a:t>Dataverse</a:t>
            </a:r>
            <a:r>
              <a:rPr lang="es-ES"/>
              <a:t> Audit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err="1"/>
              <a:t>Purview</a:t>
            </a:r>
            <a:r>
              <a:rPr lang="es-ES"/>
              <a:t> Audit</a:t>
            </a:r>
            <a:endParaRPr lang="en-US"/>
          </a:p>
          <a:p>
            <a:endParaRPr lang="en-US"/>
          </a:p>
        </p:txBody>
      </p:sp>
      <p:sp>
        <p:nvSpPr>
          <p:cNvPr id="4" name="Slide Number Placeholder 3"/>
          <p:cNvSpPr>
            <a:spLocks noGrp="1"/>
          </p:cNvSpPr>
          <p:nvPr>
            <p:ph type="sldNum" sz="quarter" idx="5"/>
          </p:nvPr>
        </p:nvSpPr>
        <p:spPr/>
        <p:txBody>
          <a:bodyPr/>
          <a:lstStyle/>
          <a:p>
            <a:fld id="{FC146366-EC0C-4FA7-8683-12ACFC203E97}" type="slidenum">
              <a:rPr lang="en-US" smtClean="0"/>
              <a:t>50</a:t>
            </a:fld>
            <a:endParaRPr lang="en-US"/>
          </a:p>
        </p:txBody>
      </p:sp>
    </p:spTree>
    <p:extLst>
      <p:ext uri="{BB962C8B-B14F-4D97-AF65-F5344CB8AC3E}">
        <p14:creationId xmlns:p14="http://schemas.microsoft.com/office/powerpoint/2010/main" val="31629219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2AEA2-CC3E-0B14-CE29-00D249003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B7BB9-67D1-8C13-FACF-3BEE550612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3BC9F-4ADB-BB38-8F9F-13EE6274A4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200" b="1">
                <a:solidFill>
                  <a:schemeClr val="tx1">
                    <a:lumMod val="75000"/>
                    <a:lumOff val="25000"/>
                  </a:schemeClr>
                </a:solidFill>
                <a:latin typeface="Segoe UI" panose="020B0502040204020203" pitchFamily="34" charset="0"/>
                <a:cs typeface="Segoe UI" panose="020B0502040204020203" pitchFamily="34" charset="0"/>
              </a:rPr>
              <a:t>Protección frente a amenazas</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Threat protection</a:t>
            </a:r>
            <a:r>
              <a:rPr lang="en-US" sz="1200" b="0" i="0" kern="1200">
                <a:solidFill>
                  <a:schemeClr val="tx1"/>
                </a:solidFill>
                <a:effectLst/>
                <a:latin typeface="+mn-lt"/>
                <a:ea typeface="+mn-ea"/>
                <a:cs typeface="+mn-cs"/>
              </a:rPr>
              <a:t>: Protect your organization's assets and resources through unified detection by using </a:t>
            </a:r>
            <a:r>
              <a:rPr lang="en-US" sz="1200" b="0" i="0" u="none" strike="noStrike" kern="1200">
                <a:solidFill>
                  <a:schemeClr val="tx1"/>
                </a:solidFill>
                <a:effectLst/>
                <a:latin typeface="+mn-lt"/>
                <a:ea typeface="+mn-ea"/>
                <a:cs typeface="+mn-cs"/>
                <a:hlinkClick r:id="rId3"/>
              </a:rPr>
              <a:t>Microsoft Sentinel solution for Power Platform</a:t>
            </a:r>
            <a:r>
              <a:rPr lang="en-US" sz="1200" b="0" i="0" kern="120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Thread</a:t>
            </a:r>
            <a:r>
              <a:rPr lang="es-ES" sz="1200" b="1" noProof="0">
                <a:solidFill>
                  <a:schemeClr val="tx1">
                    <a:lumMod val="75000"/>
                    <a:lumOff val="25000"/>
                  </a:schemeClr>
                </a:solidFill>
                <a:latin typeface="Segoe UI" panose="020B0502040204020203" pitchFamily="34" charset="0"/>
                <a:cs typeface="Segoe UI" panose="020B0502040204020203" pitchFamily="34" charset="0"/>
              </a:rPr>
              <a:t> </a:t>
            </a:r>
            <a:r>
              <a:rPr lang="es-ES" sz="1200" b="1" noProof="0" err="1">
                <a:solidFill>
                  <a:schemeClr val="tx1">
                    <a:lumMod val="75000"/>
                    <a:lumOff val="25000"/>
                  </a:schemeClr>
                </a:solidFill>
                <a:latin typeface="Segoe UI" panose="020B0502040204020203" pitchFamily="34" charset="0"/>
                <a:cs typeface="Segoe UI" panose="020B0502040204020203" pitchFamily="34" charset="0"/>
              </a:rPr>
              <a:t>Protection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Solution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Checker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Sentinel</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Integration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Thread</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Detection</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Copilot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Agents</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 Microsoft Defender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for</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Copilot</a:t>
            </a:r>
            <a:r>
              <a:rPr lang="es-ES" sz="1200" b="0" noProof="0">
                <a:solidFill>
                  <a:schemeClr val="tx1">
                    <a:lumMod val="75000"/>
                    <a:lumOff val="25000"/>
                  </a:schemeClr>
                </a:solidFill>
                <a:latin typeface="Segoe UI" panose="020B0502040204020203" pitchFamily="34" charset="0"/>
                <a:cs typeface="Segoe UI" panose="020B0502040204020203" pitchFamily="34" charset="0"/>
              </a:rPr>
              <a:t> </a:t>
            </a:r>
            <a:r>
              <a:rPr lang="es-ES" sz="1200" b="0" noProof="0" err="1">
                <a:solidFill>
                  <a:schemeClr val="tx1">
                    <a:lumMod val="75000"/>
                    <a:lumOff val="25000"/>
                  </a:schemeClr>
                </a:solidFill>
                <a:latin typeface="Segoe UI" panose="020B0502040204020203" pitchFamily="34" charset="0"/>
                <a:cs typeface="Segoe UI" panose="020B0502040204020203" pitchFamily="34" charset="0"/>
              </a:rPr>
              <a:t>Agents</a:t>
            </a:r>
            <a:endParaRPr lang="es-ES" sz="1200" b="1" noProof="0">
              <a:solidFill>
                <a:schemeClr val="tx1">
                  <a:lumMod val="75000"/>
                  <a:lumOff val="25000"/>
                </a:schemeClr>
              </a:solidFill>
              <a:latin typeface="Segoe UI" panose="020B0502040204020203" pitchFamily="34" charset="0"/>
              <a:cs typeface="Segoe UI" panose="020B0502040204020203"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i="0" kern="1200">
                <a:solidFill>
                  <a:schemeClr val="tx1"/>
                </a:solidFill>
                <a:effectLst/>
                <a:latin typeface="+mn-l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Solution Checker: </a:t>
            </a:r>
            <a:r>
              <a:rPr lang="en-US" sz="1200" b="0" i="0" kern="1200">
                <a:solidFill>
                  <a:schemeClr val="tx1"/>
                </a:solidFill>
                <a:effectLst/>
                <a:latin typeface="+mn-lt"/>
                <a:ea typeface="+mn-ea"/>
                <a:cs typeface="+mn-cs"/>
              </a:rPr>
              <a:t>The solution checker is a powerful tool that performs a comprehensive static analysis of your solution objects against a set of best practice rules. By using solution checker, you can quickly identify problematic patterns in solution components and receive detailed reports that highlight issues, affected components, and provide links to documentation on how to resolve each issue.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1"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Microsoft Sentinel Integration</a:t>
            </a:r>
            <a:r>
              <a:rPr lang="en-US" sz="1200" b="0" i="0" kern="1200">
                <a:solidFill>
                  <a:schemeClr val="tx1"/>
                </a:solidFill>
                <a:effectLst/>
                <a:latin typeface="+mn-lt"/>
                <a:ea typeface="+mn-ea"/>
                <a:cs typeface="+mn-cs"/>
              </a:rPr>
              <a:t>: Monitor and detect suspicious or malicious activities in your Power Platform environment. Monitor and secure your Dynamics 365 Customer Engagement environment, which uses the Microsoft Dataverse common data store known as </a:t>
            </a:r>
          </a:p>
          <a:p>
            <a:pPr marL="171450" indent="-171450">
              <a:buFont typeface="Arial" panose="020B0604020202020204" pitchFamily="34" charset="0"/>
              <a:buChar char="•"/>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Thread Detection and Protection for Copilot Studio</a:t>
            </a:r>
            <a:r>
              <a:rPr lang="en-US" sz="1200" b="0" i="0" kern="120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pPr marL="0" indent="0">
              <a:buFont typeface="Arial" panose="020B0604020202020204" pitchFamily="34" charset="0"/>
              <a:buNone/>
            </a:pPr>
            <a:r>
              <a:rPr lang="en-US" sz="1200" b="0" i="0" kern="1200">
                <a:solidFill>
                  <a:schemeClr val="tx1"/>
                </a:solidFill>
                <a:effectLst/>
                <a:latin typeface="+mn-lt"/>
                <a:ea typeface="+mn-ea"/>
                <a:cs typeface="+mn-cs"/>
              </a:rPr>
              <a:t>To further increase the monitoring capabilities and security of custom agents, Copilot Studio lets organizations configure </a:t>
            </a:r>
            <a:r>
              <a:rPr lang="en-US" sz="1200" b="0" i="1" kern="1200">
                <a:solidFill>
                  <a:schemeClr val="tx1"/>
                </a:solidFill>
                <a:effectLst/>
                <a:latin typeface="+mn-lt"/>
                <a:ea typeface="+mn-ea"/>
                <a:cs typeface="+mn-cs"/>
              </a:rPr>
              <a:t>external threat detection systems</a:t>
            </a:r>
            <a:r>
              <a:rPr lang="en-US" sz="1200" b="0" i="0" kern="1200">
                <a:solidFill>
                  <a:schemeClr val="tx1"/>
                </a:solidFill>
                <a:effectLst/>
                <a:latin typeface="+mn-lt"/>
                <a:ea typeface="+mn-ea"/>
                <a:cs typeface="+mn-cs"/>
              </a:rPr>
              <a:t> for enhanced oversight. These tools operate during the agent's runtime, continuously evaluating agent activity. If the system detects any suspicious tools or actions, it can intervene to block them from executing. This threat detection provides an extra layer of real-time protection and compliance enforcement.</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1" i="0" kern="1200">
                <a:solidFill>
                  <a:schemeClr val="tx1"/>
                </a:solidFill>
                <a:effectLst/>
                <a:latin typeface="+mn-lt"/>
                <a:ea typeface="+mn-ea"/>
                <a:cs typeface="+mn-cs"/>
              </a:rPr>
              <a:t>Microsoft Defender – Copilot Studio AI Agents: </a:t>
            </a:r>
            <a:r>
              <a:rPr lang="en-US" sz="1200" b="0" i="0" kern="1200">
                <a:solidFill>
                  <a:schemeClr val="tx1"/>
                </a:solidFill>
                <a:effectLst/>
                <a:latin typeface="+mn-lt"/>
                <a:ea typeface="+mn-ea"/>
                <a:cs typeface="+mn-cs"/>
              </a:rPr>
              <a:t>Microsoft Defender is providing new detection capabilities to secure Copilot Studio AI Agents from oversharing, misconfiguration, etc. It monitors agent behavior in your tenant and helps detect cross-domain prompt injection attacks (XPIA) in real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FF0EDAC-8DD0-EB45-2C01-A029BCC49E1B}"/>
              </a:ext>
            </a:extLst>
          </p:cNvPr>
          <p:cNvSpPr>
            <a:spLocks noGrp="1"/>
          </p:cNvSpPr>
          <p:nvPr>
            <p:ph type="sldNum" sz="quarter" idx="5"/>
          </p:nvPr>
        </p:nvSpPr>
        <p:spPr/>
        <p:txBody>
          <a:bodyPr/>
          <a:lstStyle/>
          <a:p>
            <a:fld id="{FC146366-EC0C-4FA7-8683-12ACFC203E97}" type="slidenum">
              <a:rPr lang="en-US" smtClean="0"/>
              <a:t>51</a:t>
            </a:fld>
            <a:endParaRPr lang="en-US"/>
          </a:p>
        </p:txBody>
      </p:sp>
    </p:spTree>
    <p:extLst>
      <p:ext uri="{BB962C8B-B14F-4D97-AF65-F5344CB8AC3E}">
        <p14:creationId xmlns:p14="http://schemas.microsoft.com/office/powerpoint/2010/main" val="13223920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926EB-6BA1-6282-77C5-E1AC8CB87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9BF0C-B644-6DEC-0A3A-613B74503C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7B1FB-C300-F1F8-CECA-DE670A1CD87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Solution Checker: </a:t>
            </a:r>
            <a:r>
              <a:rPr lang="en-US" sz="1200" b="0" i="0" kern="1200">
                <a:solidFill>
                  <a:schemeClr val="tx1"/>
                </a:solidFill>
                <a:effectLst/>
                <a:latin typeface="+mn-lt"/>
                <a:ea typeface="+mn-ea"/>
                <a:cs typeface="+mn-cs"/>
              </a:rPr>
              <a:t>The solution checker is a powerful tool that performs a comprehensive static analysis of your solution objects against a set of best practice rules. By using solution checker, you can quickly identify problematic patterns in solution components and receive detailed reports that highlight issues, affected components, and provide links to documentation on how to resolve each issue.</a:t>
            </a:r>
          </a:p>
        </p:txBody>
      </p:sp>
      <p:sp>
        <p:nvSpPr>
          <p:cNvPr id="4" name="Slide Number Placeholder 3">
            <a:extLst>
              <a:ext uri="{FF2B5EF4-FFF2-40B4-BE49-F238E27FC236}">
                <a16:creationId xmlns:a16="http://schemas.microsoft.com/office/drawing/2014/main" id="{A9A7F31A-9BBA-117D-883C-D52A15B5A3FE}"/>
              </a:ext>
            </a:extLst>
          </p:cNvPr>
          <p:cNvSpPr>
            <a:spLocks noGrp="1"/>
          </p:cNvSpPr>
          <p:nvPr>
            <p:ph type="sldNum" sz="quarter" idx="5"/>
          </p:nvPr>
        </p:nvSpPr>
        <p:spPr/>
        <p:txBody>
          <a:bodyPr/>
          <a:lstStyle/>
          <a:p>
            <a:fld id="{FC146366-EC0C-4FA7-8683-12ACFC203E97}" type="slidenum">
              <a:rPr lang="en-US" smtClean="0"/>
              <a:t>52</a:t>
            </a:fld>
            <a:endParaRPr lang="en-US"/>
          </a:p>
        </p:txBody>
      </p:sp>
    </p:spTree>
    <p:extLst>
      <p:ext uri="{BB962C8B-B14F-4D97-AF65-F5344CB8AC3E}">
        <p14:creationId xmlns:p14="http://schemas.microsoft.com/office/powerpoint/2010/main" val="30040116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F0DC3-CB51-5208-BF5D-36EB5925C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8A0DC-315C-73D9-5562-7460F75E3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5C2DD-3AE9-7207-199B-4E601D096400}"/>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a:solidFill>
                  <a:schemeClr val="tx1"/>
                </a:solidFill>
                <a:effectLst/>
                <a:latin typeface="+mn-lt"/>
                <a:ea typeface="+mn-ea"/>
                <a:cs typeface="+mn-cs"/>
              </a:rPr>
              <a:t>Thread Detection and Protection for Copilot Studio</a:t>
            </a:r>
            <a:r>
              <a:rPr lang="en-US" sz="1200" b="0" i="0" kern="120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pPr marL="0" indent="0">
              <a:buFont typeface="Arial" panose="020B0604020202020204" pitchFamily="34" charset="0"/>
              <a:buNone/>
            </a:pPr>
            <a:r>
              <a:rPr lang="en-US" sz="1200" b="0" i="0" kern="1200">
                <a:solidFill>
                  <a:schemeClr val="tx1"/>
                </a:solidFill>
                <a:effectLst/>
                <a:latin typeface="+mn-lt"/>
                <a:ea typeface="+mn-ea"/>
                <a:cs typeface="+mn-cs"/>
              </a:rPr>
              <a:t>To further increase the monitoring capabilities and security of custom agents, Copilot Studio lets organizations configure </a:t>
            </a:r>
            <a:r>
              <a:rPr lang="en-US" sz="1200" b="0" i="1" kern="1200">
                <a:solidFill>
                  <a:schemeClr val="tx1"/>
                </a:solidFill>
                <a:effectLst/>
                <a:latin typeface="+mn-lt"/>
                <a:ea typeface="+mn-ea"/>
                <a:cs typeface="+mn-cs"/>
              </a:rPr>
              <a:t>external threat detection systems</a:t>
            </a:r>
            <a:r>
              <a:rPr lang="en-US" sz="1200" b="0" i="0" kern="1200">
                <a:solidFill>
                  <a:schemeClr val="tx1"/>
                </a:solidFill>
                <a:effectLst/>
                <a:latin typeface="+mn-lt"/>
                <a:ea typeface="+mn-ea"/>
                <a:cs typeface="+mn-cs"/>
              </a:rPr>
              <a:t> for enhanced oversight. These tools operate during the agent's runtime, continuously evaluating agent activity. If the system detects any suspicious tools or actions, it can intervene to block them from executing. This threat detection provides an extra layer of real-time protection and compliance enforcement.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Copilot Studio supports a flexible "bring your own protection" approach. Organizations have the freedom to integrate security solutions that best fit their unique requirements.</a:t>
            </a:r>
          </a:p>
          <a:p>
            <a:r>
              <a:rPr lang="en-US" sz="1200" b="0" i="0" kern="1200">
                <a:solidFill>
                  <a:schemeClr val="tx1"/>
                </a:solidFill>
                <a:effectLst/>
                <a:latin typeface="+mn-lt"/>
                <a:ea typeface="+mn-ea"/>
                <a:cs typeface="+mn-cs"/>
              </a:rPr>
              <a:t>Options include:</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Develop your own custom monitoring tools, or have someone develop them for you. For more information on how to set up the system endpoint so that your agent can connect to it, see </a:t>
            </a:r>
            <a:r>
              <a:rPr lang="en-US" sz="1200" b="0" i="0" u="none" strike="noStrike" kern="1200">
                <a:solidFill>
                  <a:schemeClr val="tx1"/>
                </a:solidFill>
                <a:effectLst/>
                <a:latin typeface="+mn-lt"/>
                <a:ea typeface="+mn-ea"/>
                <a:cs typeface="+mn-cs"/>
                <a:hlinkClick r:id="rId3"/>
              </a:rPr>
              <a:t>Build a runtime threat detection system for Copilot Studio agents</a:t>
            </a: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Apply a robust enterprise solution by </a:t>
            </a:r>
            <a:r>
              <a:rPr lang="en-US" sz="1200" b="0" i="0" u="none" strike="noStrike" kern="1200">
                <a:solidFill>
                  <a:schemeClr val="tx1"/>
                </a:solidFill>
                <a:effectLst/>
                <a:latin typeface="+mn-lt"/>
                <a:ea typeface="+mn-ea"/>
                <a:cs typeface="+mn-cs"/>
                <a:hlinkClick r:id="rId4"/>
              </a:rPr>
              <a:t>Microsoft Defender</a:t>
            </a: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Use products from other trusted security providers</a:t>
            </a:r>
          </a:p>
        </p:txBody>
      </p:sp>
      <p:sp>
        <p:nvSpPr>
          <p:cNvPr id="4" name="Slide Number Placeholder 3">
            <a:extLst>
              <a:ext uri="{FF2B5EF4-FFF2-40B4-BE49-F238E27FC236}">
                <a16:creationId xmlns:a16="http://schemas.microsoft.com/office/drawing/2014/main" id="{B51BF1F4-2192-DBBA-4517-5313C284BAFE}"/>
              </a:ext>
            </a:extLst>
          </p:cNvPr>
          <p:cNvSpPr>
            <a:spLocks noGrp="1"/>
          </p:cNvSpPr>
          <p:nvPr>
            <p:ph type="sldNum" sz="quarter" idx="5"/>
          </p:nvPr>
        </p:nvSpPr>
        <p:spPr/>
        <p:txBody>
          <a:bodyPr/>
          <a:lstStyle/>
          <a:p>
            <a:fld id="{FC146366-EC0C-4FA7-8683-12ACFC203E97}" type="slidenum">
              <a:rPr lang="en-US" smtClean="0"/>
              <a:t>53</a:t>
            </a:fld>
            <a:endParaRPr lang="en-US"/>
          </a:p>
        </p:txBody>
      </p:sp>
    </p:spTree>
    <p:extLst>
      <p:ext uri="{BB962C8B-B14F-4D97-AF65-F5344CB8AC3E}">
        <p14:creationId xmlns:p14="http://schemas.microsoft.com/office/powerpoint/2010/main" val="11649695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401B4-041A-D815-8BE0-86A64F291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A4D83-F1A8-EC8C-3F90-58C95217F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287E5-E64D-7A90-43EB-2BDBB07F0C3B}"/>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a:solidFill>
                  <a:schemeClr val="tx1"/>
                </a:solidFill>
                <a:effectLst/>
                <a:latin typeface="+mn-lt"/>
                <a:ea typeface="+mn-ea"/>
                <a:cs typeface="+mn-cs"/>
              </a:rPr>
              <a:t>Thread Detection and Protection for Copilot Studio</a:t>
            </a:r>
            <a:r>
              <a:rPr lang="en-US" sz="1200" b="0" i="0" kern="120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pPr marL="0" indent="0">
              <a:buFont typeface="Arial" panose="020B0604020202020204" pitchFamily="34" charset="0"/>
              <a:buNone/>
            </a:pPr>
            <a:r>
              <a:rPr lang="en-US" sz="1200" b="0" i="0" kern="1200">
                <a:solidFill>
                  <a:schemeClr val="tx1"/>
                </a:solidFill>
                <a:effectLst/>
                <a:latin typeface="+mn-lt"/>
                <a:ea typeface="+mn-ea"/>
                <a:cs typeface="+mn-cs"/>
              </a:rPr>
              <a:t>To further increase the monitoring capabilities and security of custom agents, Copilot Studio lets organizations configure </a:t>
            </a:r>
            <a:r>
              <a:rPr lang="en-US" sz="1200" b="0" i="1" kern="1200">
                <a:solidFill>
                  <a:schemeClr val="tx1"/>
                </a:solidFill>
                <a:effectLst/>
                <a:latin typeface="+mn-lt"/>
                <a:ea typeface="+mn-ea"/>
                <a:cs typeface="+mn-cs"/>
              </a:rPr>
              <a:t>external threat detection systems</a:t>
            </a:r>
            <a:r>
              <a:rPr lang="en-US" sz="1200" b="0" i="0" kern="1200">
                <a:solidFill>
                  <a:schemeClr val="tx1"/>
                </a:solidFill>
                <a:effectLst/>
                <a:latin typeface="+mn-lt"/>
                <a:ea typeface="+mn-ea"/>
                <a:cs typeface="+mn-cs"/>
              </a:rPr>
              <a:t> for enhanced oversight. These tools operate during the agent's runtime, continuously evaluating agent activity. If the system detects any suspicious tools or actions, it can intervene to block them from executing. This threat detection provides an extra layer of real-time protection and compliance enforcement.</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Copilot Studio supports a flexible "bring your own protection" approach. Organizations have the freedom to integrate security solutions that best fit their unique requirements.</a:t>
            </a:r>
          </a:p>
          <a:p>
            <a:r>
              <a:rPr lang="en-US" sz="1200" b="0" i="0" kern="1200">
                <a:solidFill>
                  <a:schemeClr val="tx1"/>
                </a:solidFill>
                <a:effectLst/>
                <a:latin typeface="+mn-lt"/>
                <a:ea typeface="+mn-ea"/>
                <a:cs typeface="+mn-cs"/>
              </a:rPr>
              <a:t>Options include:</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Develop your own custom monitoring tools, or have someone develop them for you. For more information on how to set up the system endpoint so that your agent can connect to it, see </a:t>
            </a:r>
            <a:r>
              <a:rPr lang="en-US" sz="1200" b="0" i="0" u="none" strike="noStrike" kern="1200">
                <a:solidFill>
                  <a:schemeClr val="tx1"/>
                </a:solidFill>
                <a:effectLst/>
                <a:latin typeface="+mn-lt"/>
                <a:ea typeface="+mn-ea"/>
                <a:cs typeface="+mn-cs"/>
                <a:hlinkClick r:id="rId3"/>
              </a:rPr>
              <a:t>Build a runtime threat detection system for Copilot Studio agents</a:t>
            </a: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Apply a robust enterprise solution by </a:t>
            </a:r>
            <a:r>
              <a:rPr lang="en-US" sz="1200" b="0" i="0" u="none" strike="noStrike" kern="1200">
                <a:solidFill>
                  <a:schemeClr val="tx1"/>
                </a:solidFill>
                <a:effectLst/>
                <a:latin typeface="+mn-lt"/>
                <a:ea typeface="+mn-ea"/>
                <a:cs typeface="+mn-cs"/>
                <a:hlinkClick r:id="rId4"/>
              </a:rPr>
              <a:t>Microsoft Defender</a:t>
            </a:r>
            <a:endParaRPr lang="en-US" sz="1200" b="0" i="0" kern="1200">
              <a:solidFill>
                <a:schemeClr val="tx1"/>
              </a:solidFill>
              <a:effectLst/>
              <a:latin typeface="+mn-lt"/>
              <a:ea typeface="+mn-ea"/>
              <a:cs typeface="+mn-cs"/>
            </a:endParaRPr>
          </a:p>
          <a:p>
            <a:pPr marL="171450" indent="-171450">
              <a:buFont typeface="Arial" panose="020B0604020202020204" pitchFamily="34" charset="0"/>
              <a:buChar char="•"/>
            </a:pPr>
            <a:r>
              <a:rPr lang="en-US" sz="1200" b="0" i="0" kern="1200">
                <a:solidFill>
                  <a:schemeClr val="tx1"/>
                </a:solidFill>
                <a:effectLst/>
                <a:latin typeface="+mn-lt"/>
                <a:ea typeface="+mn-ea"/>
                <a:cs typeface="+mn-cs"/>
              </a:rPr>
              <a:t>Use products from other trusted security providers</a:t>
            </a:r>
          </a:p>
        </p:txBody>
      </p:sp>
      <p:sp>
        <p:nvSpPr>
          <p:cNvPr id="4" name="Slide Number Placeholder 3">
            <a:extLst>
              <a:ext uri="{FF2B5EF4-FFF2-40B4-BE49-F238E27FC236}">
                <a16:creationId xmlns:a16="http://schemas.microsoft.com/office/drawing/2014/main" id="{E3902A6A-E87F-6A47-0919-EB791275F5AA}"/>
              </a:ext>
            </a:extLst>
          </p:cNvPr>
          <p:cNvSpPr>
            <a:spLocks noGrp="1"/>
          </p:cNvSpPr>
          <p:nvPr>
            <p:ph type="sldNum" sz="quarter" idx="5"/>
          </p:nvPr>
        </p:nvSpPr>
        <p:spPr/>
        <p:txBody>
          <a:bodyPr/>
          <a:lstStyle/>
          <a:p>
            <a:fld id="{FC146366-EC0C-4FA7-8683-12ACFC203E97}" type="slidenum">
              <a:rPr lang="en-US" smtClean="0"/>
              <a:t>54</a:t>
            </a:fld>
            <a:endParaRPr lang="en-US"/>
          </a:p>
        </p:txBody>
      </p:sp>
    </p:spTree>
    <p:extLst>
      <p:ext uri="{BB962C8B-B14F-4D97-AF65-F5344CB8AC3E}">
        <p14:creationId xmlns:p14="http://schemas.microsoft.com/office/powerpoint/2010/main" val="12552706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4D3C8-F259-2EF2-FF80-CD832B98F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D3E1F-7042-C722-F5A6-C2D3DEFCB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094AB-3A03-037C-6C6A-0022379B8609}"/>
              </a:ext>
            </a:extLst>
          </p:cNvPr>
          <p:cNvSpPr>
            <a:spLocks noGrp="1"/>
          </p:cNvSpPr>
          <p:nvPr>
            <p:ph type="body" idx="1"/>
          </p:nvPr>
        </p:nvSpPr>
        <p:spPr/>
        <p:txBody>
          <a:bodyPr/>
          <a:lstStyle/>
          <a:p>
            <a:pPr marL="171450" indent="-171450">
              <a:buFont typeface="Arial" panose="020B0604020202020204" pitchFamily="34" charset="0"/>
              <a:buChar char="•"/>
            </a:pPr>
            <a:r>
              <a:rPr lang="en-US" sz="1200" b="1" i="0" kern="1200">
                <a:solidFill>
                  <a:schemeClr val="tx1"/>
                </a:solidFill>
                <a:effectLst/>
                <a:latin typeface="+mn-lt"/>
                <a:ea typeface="+mn-ea"/>
                <a:cs typeface="+mn-cs"/>
              </a:rPr>
              <a:t>Thread Detection and Protection for Copilot Studio</a:t>
            </a:r>
            <a:r>
              <a:rPr lang="en-US" sz="1200" b="0" i="0" kern="1200">
                <a:solidFill>
                  <a:schemeClr val="tx1"/>
                </a:solidFill>
                <a:effectLst/>
                <a:latin typeface="+mn-lt"/>
                <a:ea typeface="+mn-ea"/>
                <a:cs typeface="+mn-cs"/>
              </a:rPr>
              <a:t>: Custom agents created in Copilot Studio are secure by default. They include built-in protection against various threats, such as user prompt-injection attacks (UPIA) and cross-domain prompt injection Attacks (XPIA). At runtime, the agent blocks attacks of these types, reducing the risk of data exfiltration.</a:t>
            </a:r>
          </a:p>
          <a:p>
            <a:pPr marL="0" indent="0">
              <a:buFont typeface="Arial" panose="020B0604020202020204" pitchFamily="34" charset="0"/>
              <a:buNone/>
            </a:pP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Real-time protection during agent runtime in Microsoft Defender reduces these risks by inspecting user messages before the agent runs any actions.</a:t>
            </a:r>
          </a:p>
          <a:p>
            <a:r>
              <a:rPr lang="en-US" sz="1200" b="0" i="0" kern="1200">
                <a:solidFill>
                  <a:schemeClr val="tx1"/>
                </a:solidFill>
                <a:effectLst/>
                <a:latin typeface="+mn-lt"/>
                <a:ea typeface="+mn-ea"/>
                <a:cs typeface="+mn-cs"/>
              </a:rPr>
              <a:t>If Microsoft Defender determines that a prompt is suspicious: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The tool invocation is blocked before it runs.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The user gets notified that their message was blocked.</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An informative alert is created and appears in the Microsoft Defender portal under XDR Incidents and Alerts.</a:t>
            </a:r>
          </a:p>
          <a:p>
            <a:pPr marL="171450" indent="-171450">
              <a:buFont typeface="Arial" panose="020B0604020202020204" pitchFamily="34" charset="0"/>
              <a:buChar char="•"/>
            </a:pPr>
            <a:r>
              <a:rPr lang="en-US" sz="1200" b="0" i="0" kern="1200">
                <a:solidFill>
                  <a:schemeClr val="tx1"/>
                </a:solidFill>
                <a:effectLst/>
                <a:latin typeface="+mn-lt"/>
                <a:ea typeface="+mn-ea"/>
                <a:cs typeface="+mn-cs"/>
              </a:rPr>
              <a:t>This capability adds another security layer on top of Microsoft Copilot Studio, helping ensure AI agents remain resilient against evolving threats.</a:t>
            </a:r>
          </a:p>
          <a:p>
            <a:pPr marL="0" indent="0">
              <a:buFont typeface="Arial" panose="020B0604020202020204" pitchFamily="34" charset="0"/>
              <a:buNone/>
            </a:pPr>
            <a:endParaRPr lang="en-US"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317E617-DAA3-E3BE-3C91-A1BE82C71319}"/>
              </a:ext>
            </a:extLst>
          </p:cNvPr>
          <p:cNvSpPr>
            <a:spLocks noGrp="1"/>
          </p:cNvSpPr>
          <p:nvPr>
            <p:ph type="sldNum" sz="quarter" idx="5"/>
          </p:nvPr>
        </p:nvSpPr>
        <p:spPr/>
        <p:txBody>
          <a:bodyPr/>
          <a:lstStyle/>
          <a:p>
            <a:fld id="{FC146366-EC0C-4FA7-8683-12ACFC203E97}" type="slidenum">
              <a:rPr lang="en-US" smtClean="0"/>
              <a:t>55</a:t>
            </a:fld>
            <a:endParaRPr lang="en-US"/>
          </a:p>
        </p:txBody>
      </p:sp>
    </p:spTree>
    <p:extLst>
      <p:ext uri="{BB962C8B-B14F-4D97-AF65-F5344CB8AC3E}">
        <p14:creationId xmlns:p14="http://schemas.microsoft.com/office/powerpoint/2010/main" val="5622687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s-ES" err="1"/>
              <a:t>Solution</a:t>
            </a:r>
            <a:r>
              <a:rPr lang="es-ES"/>
              <a:t> </a:t>
            </a:r>
            <a:r>
              <a:rPr lang="es-ES" err="1"/>
              <a:t>Checker</a:t>
            </a:r>
            <a:endParaRPr lang="es-ES"/>
          </a:p>
          <a:p>
            <a:pPr marL="171450" indent="-171450">
              <a:buFont typeface="Arial" panose="020B0604020202020204" pitchFamily="34" charset="0"/>
              <a:buChar char="•"/>
            </a:pPr>
            <a:r>
              <a:rPr lang="es-ES" err="1"/>
              <a:t>Additional</a:t>
            </a:r>
            <a:r>
              <a:rPr lang="es-ES"/>
              <a:t> </a:t>
            </a:r>
            <a:r>
              <a:rPr lang="es-ES" err="1"/>
              <a:t>Thread</a:t>
            </a:r>
            <a:r>
              <a:rPr lang="es-ES"/>
              <a:t> </a:t>
            </a:r>
            <a:r>
              <a:rPr lang="es-ES" err="1"/>
              <a:t>Detection</a:t>
            </a:r>
            <a:endParaRPr lang="es-ES"/>
          </a:p>
          <a:p>
            <a:pPr marL="171450" indent="-171450">
              <a:buFont typeface="Arial" panose="020B0604020202020204" pitchFamily="34" charset="0"/>
              <a:buChar char="•"/>
            </a:pPr>
            <a:r>
              <a:rPr lang="es-ES"/>
              <a:t>Microsoft Defender</a:t>
            </a:r>
            <a:endParaRPr lang="en-US"/>
          </a:p>
        </p:txBody>
      </p:sp>
      <p:sp>
        <p:nvSpPr>
          <p:cNvPr id="4" name="Slide Number Placeholder 3"/>
          <p:cNvSpPr>
            <a:spLocks noGrp="1"/>
          </p:cNvSpPr>
          <p:nvPr>
            <p:ph type="sldNum" sz="quarter" idx="5"/>
          </p:nvPr>
        </p:nvSpPr>
        <p:spPr/>
        <p:txBody>
          <a:bodyPr/>
          <a:lstStyle/>
          <a:p>
            <a:fld id="{FC146366-EC0C-4FA7-8683-12ACFC203E97}" type="slidenum">
              <a:rPr lang="en-US" smtClean="0"/>
              <a:t>56</a:t>
            </a:fld>
            <a:endParaRPr lang="en-US"/>
          </a:p>
        </p:txBody>
      </p:sp>
    </p:spTree>
    <p:extLst>
      <p:ext uri="{BB962C8B-B14F-4D97-AF65-F5344CB8AC3E}">
        <p14:creationId xmlns:p14="http://schemas.microsoft.com/office/powerpoint/2010/main" val="28797818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DFFB-4DB6-5436-0E08-40216DC18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8608B-9260-4EB6-EE8F-229BCC18C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E5C4C-0DCB-7CF3-A1A6-65718B768F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200" b="1">
                <a:solidFill>
                  <a:schemeClr val="tx1">
                    <a:lumMod val="75000"/>
                    <a:lumOff val="25000"/>
                  </a:schemeClr>
                </a:solidFill>
                <a:latin typeface="Segoe UI" panose="020B0502040204020203" pitchFamily="34" charset="0"/>
                <a:cs typeface="Segoe UI" panose="020B0502040204020203" pitchFamily="34" charset="0"/>
              </a:rPr>
              <a:t>Protección frente a amenazas</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Threat protection</a:t>
            </a:r>
            <a:r>
              <a:rPr lang="en-US" sz="1200" b="0" i="0" kern="1200">
                <a:solidFill>
                  <a:schemeClr val="tx1"/>
                </a:solidFill>
                <a:effectLst/>
                <a:latin typeface="+mn-lt"/>
                <a:ea typeface="+mn-ea"/>
                <a:cs typeface="+mn-cs"/>
              </a:rPr>
              <a:t>: Protect your organization's assets and resources through unified detection by using </a:t>
            </a:r>
            <a:r>
              <a:rPr lang="en-US" sz="1200" b="0" i="0" u="none" strike="noStrike" kern="1200">
                <a:solidFill>
                  <a:schemeClr val="tx1"/>
                </a:solidFill>
                <a:effectLst/>
                <a:latin typeface="+mn-lt"/>
                <a:ea typeface="+mn-ea"/>
                <a:cs typeface="+mn-cs"/>
                <a:hlinkClick r:id="rId3"/>
              </a:rPr>
              <a:t>Microsoft Sentinel solution for Power Platform</a:t>
            </a:r>
            <a:r>
              <a:rPr lang="en-US" sz="1200" b="0" i="0" kern="120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p:txBody>
      </p:sp>
      <p:sp>
        <p:nvSpPr>
          <p:cNvPr id="4" name="Slide Number Placeholder 3">
            <a:extLst>
              <a:ext uri="{FF2B5EF4-FFF2-40B4-BE49-F238E27FC236}">
                <a16:creationId xmlns:a16="http://schemas.microsoft.com/office/drawing/2014/main" id="{677553B7-76F9-5B89-A098-9B3BD960FC17}"/>
              </a:ext>
            </a:extLst>
          </p:cNvPr>
          <p:cNvSpPr>
            <a:spLocks noGrp="1"/>
          </p:cNvSpPr>
          <p:nvPr>
            <p:ph type="sldNum" sz="quarter" idx="5"/>
          </p:nvPr>
        </p:nvSpPr>
        <p:spPr/>
        <p:txBody>
          <a:bodyPr/>
          <a:lstStyle/>
          <a:p>
            <a:fld id="{FC146366-EC0C-4FA7-8683-12ACFC203E97}" type="slidenum">
              <a:rPr lang="en-US" smtClean="0"/>
              <a:t>57</a:t>
            </a:fld>
            <a:endParaRPr lang="en-US"/>
          </a:p>
        </p:txBody>
      </p:sp>
    </p:spTree>
    <p:extLst>
      <p:ext uri="{BB962C8B-B14F-4D97-AF65-F5344CB8AC3E}">
        <p14:creationId xmlns:p14="http://schemas.microsoft.com/office/powerpoint/2010/main" val="127917415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BC499-9E16-EC16-CA79-CD0F57712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E26DE-5246-1DF6-4335-2CA283850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23C00-8E9A-23F6-84B1-8CD2CCA3A50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200" b="1">
                <a:solidFill>
                  <a:schemeClr val="tx1">
                    <a:lumMod val="75000"/>
                    <a:lumOff val="25000"/>
                  </a:schemeClr>
                </a:solidFill>
                <a:latin typeface="Segoe UI" panose="020B0502040204020203" pitchFamily="34" charset="0"/>
                <a:cs typeface="Segoe UI" panose="020B0502040204020203" pitchFamily="34" charset="0"/>
              </a:rPr>
              <a:t>Protección frente a amenazas</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Threat protection</a:t>
            </a:r>
            <a:r>
              <a:rPr lang="en-US" sz="1200" b="0" i="0" kern="1200">
                <a:solidFill>
                  <a:schemeClr val="tx1"/>
                </a:solidFill>
                <a:effectLst/>
                <a:latin typeface="+mn-lt"/>
                <a:ea typeface="+mn-ea"/>
                <a:cs typeface="+mn-cs"/>
              </a:rPr>
              <a:t>: Protect your organization's assets and resources through unified detection by using </a:t>
            </a:r>
            <a:r>
              <a:rPr lang="en-US" sz="1200" b="0" i="0" u="none" strike="noStrike" kern="1200">
                <a:solidFill>
                  <a:schemeClr val="tx1"/>
                </a:solidFill>
                <a:effectLst/>
                <a:latin typeface="+mn-lt"/>
                <a:ea typeface="+mn-ea"/>
                <a:cs typeface="+mn-cs"/>
                <a:hlinkClick r:id="rId3"/>
              </a:rPr>
              <a:t>Microsoft Sentinel solution for Power Platform</a:t>
            </a:r>
            <a:r>
              <a:rPr lang="en-US" sz="1200" b="0" i="0" kern="120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p:txBody>
      </p:sp>
      <p:sp>
        <p:nvSpPr>
          <p:cNvPr id="4" name="Slide Number Placeholder 3">
            <a:extLst>
              <a:ext uri="{FF2B5EF4-FFF2-40B4-BE49-F238E27FC236}">
                <a16:creationId xmlns:a16="http://schemas.microsoft.com/office/drawing/2014/main" id="{68E37624-9DB5-A56D-321C-96931C6F610D}"/>
              </a:ext>
            </a:extLst>
          </p:cNvPr>
          <p:cNvSpPr>
            <a:spLocks noGrp="1"/>
          </p:cNvSpPr>
          <p:nvPr>
            <p:ph type="sldNum" sz="quarter" idx="5"/>
          </p:nvPr>
        </p:nvSpPr>
        <p:spPr/>
        <p:txBody>
          <a:bodyPr/>
          <a:lstStyle/>
          <a:p>
            <a:fld id="{FC146366-EC0C-4FA7-8683-12ACFC203E97}" type="slidenum">
              <a:rPr lang="en-US" smtClean="0"/>
              <a:t>58</a:t>
            </a:fld>
            <a:endParaRPr lang="en-US"/>
          </a:p>
        </p:txBody>
      </p:sp>
    </p:spTree>
    <p:extLst>
      <p:ext uri="{BB962C8B-B14F-4D97-AF65-F5344CB8AC3E}">
        <p14:creationId xmlns:p14="http://schemas.microsoft.com/office/powerpoint/2010/main" val="353226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AD740-DA69-342B-1BE6-CD7738921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108E1-6EC9-36E8-A01A-D837627F1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1C97C-B115-3C3E-0C84-4A16AF91605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 sz="1200" b="1">
                <a:solidFill>
                  <a:schemeClr val="tx1">
                    <a:lumMod val="75000"/>
                    <a:lumOff val="25000"/>
                  </a:schemeClr>
                </a:solidFill>
                <a:latin typeface="Segoe UI" panose="020B0502040204020203" pitchFamily="34" charset="0"/>
                <a:cs typeface="Segoe UI" panose="020B0502040204020203" pitchFamily="34" charset="0"/>
              </a:rPr>
              <a:t>Protección frente a amenazas</a:t>
            </a:r>
          </a:p>
          <a:p>
            <a:pPr marL="0" indent="0">
              <a:buFont typeface="Arial" panose="020B0604020202020204" pitchFamily="34" charset="0"/>
              <a:buNone/>
            </a:pPr>
            <a:endParaRPr lang="en-US" sz="1200" b="1" i="0" kern="120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i="0" kern="1200">
                <a:solidFill>
                  <a:schemeClr val="tx1"/>
                </a:solidFill>
                <a:effectLst/>
                <a:latin typeface="+mn-lt"/>
                <a:ea typeface="+mn-ea"/>
                <a:cs typeface="+mn-cs"/>
              </a:rPr>
              <a:t>Threat protection</a:t>
            </a:r>
            <a:r>
              <a:rPr lang="en-US" sz="1200" b="0" i="0" kern="1200">
                <a:solidFill>
                  <a:schemeClr val="tx1"/>
                </a:solidFill>
                <a:effectLst/>
                <a:latin typeface="+mn-lt"/>
                <a:ea typeface="+mn-ea"/>
                <a:cs typeface="+mn-cs"/>
              </a:rPr>
              <a:t>: Protect your organization's assets and resources through unified detection by using </a:t>
            </a:r>
            <a:r>
              <a:rPr lang="en-US" sz="1200" b="0" i="0" u="none" strike="noStrike" kern="1200">
                <a:solidFill>
                  <a:schemeClr val="tx1"/>
                </a:solidFill>
                <a:effectLst/>
                <a:latin typeface="+mn-lt"/>
                <a:ea typeface="+mn-ea"/>
                <a:cs typeface="+mn-cs"/>
                <a:hlinkClick r:id="rId3"/>
              </a:rPr>
              <a:t>Microsoft Sentinel solution for Power Platform</a:t>
            </a:r>
            <a:r>
              <a:rPr lang="en-US" sz="1200" b="0" i="0" kern="1200">
                <a:solidFill>
                  <a:schemeClr val="tx1"/>
                </a:solidFill>
                <a:effectLst/>
                <a:latin typeface="+mn-lt"/>
                <a:ea typeface="+mn-ea"/>
                <a:cs typeface="+mn-cs"/>
              </a:rPr>
              <a:t>. This solution allows for intelligent detection and responses to suspicious activities, such as mass data deletion or unauthorized app execution. In this way, it enhances your security posture and effectively mitigates potential threats.</a:t>
            </a:r>
          </a:p>
        </p:txBody>
      </p:sp>
      <p:sp>
        <p:nvSpPr>
          <p:cNvPr id="4" name="Slide Number Placeholder 3">
            <a:extLst>
              <a:ext uri="{FF2B5EF4-FFF2-40B4-BE49-F238E27FC236}">
                <a16:creationId xmlns:a16="http://schemas.microsoft.com/office/drawing/2014/main" id="{EEB3EB87-188A-A614-05FB-40FD8B81061F}"/>
              </a:ext>
            </a:extLst>
          </p:cNvPr>
          <p:cNvSpPr>
            <a:spLocks noGrp="1"/>
          </p:cNvSpPr>
          <p:nvPr>
            <p:ph type="sldNum" sz="quarter" idx="5"/>
          </p:nvPr>
        </p:nvSpPr>
        <p:spPr/>
        <p:txBody>
          <a:bodyPr/>
          <a:lstStyle/>
          <a:p>
            <a:fld id="{FC146366-EC0C-4FA7-8683-12ACFC203E97}" type="slidenum">
              <a:rPr lang="en-US" smtClean="0"/>
              <a:t>59</a:t>
            </a:fld>
            <a:endParaRPr lang="en-US"/>
          </a:p>
        </p:txBody>
      </p:sp>
    </p:spTree>
    <p:extLst>
      <p:ext uri="{BB962C8B-B14F-4D97-AF65-F5344CB8AC3E}">
        <p14:creationId xmlns:p14="http://schemas.microsoft.com/office/powerpoint/2010/main" val="3922288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294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5F6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32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bg>
      <p:bgPr>
        <a:solidFill>
          <a:schemeClr val="tx2"/>
        </a:solidFill>
        <a:effectLst/>
      </p:bgPr>
    </p:bg>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CC494922-A55E-49C2-8326-FC2946D88B7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sp>
        <p:nvSpPr>
          <p:cNvPr id="39" name="Freeform: Shape 38">
            <a:extLst>
              <a:ext uri="{FF2B5EF4-FFF2-40B4-BE49-F238E27FC236}">
                <a16:creationId xmlns:a16="http://schemas.microsoft.com/office/drawing/2014/main" id="{E683CE5E-53BD-461A-8676-164941D58FE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 name="Imagen 2" descr="Logotipo&#10;&#10;El contenido generado por IA puede ser incorrecto.">
            <a:extLst>
              <a:ext uri="{FF2B5EF4-FFF2-40B4-BE49-F238E27FC236}">
                <a16:creationId xmlns:a16="http://schemas.microsoft.com/office/drawing/2014/main" id="{94873CFB-7DF3-660F-C9A1-0120E8308D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9876DDC-0726-E4BE-8EC5-EE09345D2D2D}"/>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19330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4_Title and Conten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5160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8_Title and Content">
    <p:bg>
      <p:bgPr>
        <a:solidFill>
          <a:schemeClr val="accent1"/>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24140CB2-7AD1-9500-ADC4-A040CFB9C7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F5C26F03-21E6-14B3-7B40-9A37D95EFF81}"/>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4794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and Content">
    <p:bg>
      <p:bgPr>
        <a:solidFill>
          <a:schemeClr val="accent2"/>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0201B404-FC71-4854-913A-43B7D14F688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DCD427C9-3A94-4730-8F39-7F43B5131A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1F412BFD-B8F3-CBA9-0712-BBA9EA5BA0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3" name="TextBox 7">
            <a:extLst>
              <a:ext uri="{FF2B5EF4-FFF2-40B4-BE49-F238E27FC236}">
                <a16:creationId xmlns:a16="http://schemas.microsoft.com/office/drawing/2014/main" id="{B0CFE2DC-EE71-ECB6-E2B5-C1573742BDC0}"/>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5344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bg>
      <p:bgPr>
        <a:solidFill>
          <a:schemeClr val="accent3"/>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Imagen 3" descr="Logotipo&#10;&#10;El contenido generado por IA puede ser incorrecto.">
            <a:extLst>
              <a:ext uri="{FF2B5EF4-FFF2-40B4-BE49-F238E27FC236}">
                <a16:creationId xmlns:a16="http://schemas.microsoft.com/office/drawing/2014/main" id="{B1423980-E60F-C8F2-97DC-A467BCD76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6" name="TextBox 7">
            <a:extLst>
              <a:ext uri="{FF2B5EF4-FFF2-40B4-BE49-F238E27FC236}">
                <a16:creationId xmlns:a16="http://schemas.microsoft.com/office/drawing/2014/main" id="{4CA5722F-78C2-9A07-4A8F-010F678E1F8E}"/>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#BizzSummit2025</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68322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25_Title and Content">
    <p:bg>
      <p:bgPr>
        <a:solidFill>
          <a:schemeClr val="accent4"/>
        </a:solidFill>
        <a:effectLst/>
      </p:bgPr>
    </p:bg>
    <p:spTree>
      <p:nvGrpSpPr>
        <p:cNvPr id="1" name=""/>
        <p:cNvGrpSpPr/>
        <p:nvPr/>
      </p:nvGrpSpPr>
      <p:grpSpPr>
        <a:xfrm>
          <a:off x="0" y="0"/>
          <a:ext cx="0" cy="0"/>
          <a:chOff x="0" y="0"/>
          <a:chExt cx="0" cy="0"/>
        </a:xfrm>
      </p:grpSpPr>
      <p:sp>
        <p:nvSpPr>
          <p:cNvPr id="33" name="TextBox 32">
            <a:extLst>
              <a:ext uri="{FF2B5EF4-FFF2-40B4-BE49-F238E27FC236}">
                <a16:creationId xmlns:a16="http://schemas.microsoft.com/office/drawing/2014/main" id="{273267EC-349E-4292-B25B-3453C654BEC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a:t>
            </a:fld>
            <a:endParaRPr lang="id-ID" sz="4400" i="0">
              <a:solidFill>
                <a:schemeClr val="tx2"/>
              </a:solidFill>
              <a:latin typeface="+mj-lt"/>
              <a:ea typeface="Roboto Condensed" panose="02000000000000000000" pitchFamily="2" charset="0"/>
              <a:cs typeface="Segoe UI" panose="020B0502040204020203" pitchFamily="34" charset="0"/>
            </a:endParaRPr>
          </a:p>
        </p:txBody>
      </p:sp>
      <p:sp>
        <p:nvSpPr>
          <p:cNvPr id="43" name="Freeform: Shape 42">
            <a:extLst>
              <a:ext uri="{FF2B5EF4-FFF2-40B4-BE49-F238E27FC236}">
                <a16:creationId xmlns:a16="http://schemas.microsoft.com/office/drawing/2014/main" id="{18807F36-FF45-45E3-8DB9-F81B4A230F2F}"/>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 name="Imagen 1" descr="Logotipo&#10;&#10;El contenido generado por IA puede ser incorrecto.">
            <a:extLst>
              <a:ext uri="{FF2B5EF4-FFF2-40B4-BE49-F238E27FC236}">
                <a16:creationId xmlns:a16="http://schemas.microsoft.com/office/drawing/2014/main" id="{8B08432C-0986-C17D-F9FC-D25DEADC81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3" name="TextBox 7">
            <a:extLst>
              <a:ext uri="{FF2B5EF4-FFF2-40B4-BE49-F238E27FC236}">
                <a16:creationId xmlns:a16="http://schemas.microsoft.com/office/drawing/2014/main" id="{7EAFD11C-DBB8-8931-C3B0-9C9F4B57AF0C}"/>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#BizzSummit2025</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8871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and Content">
    <p:bg>
      <p:bgPr>
        <a:solidFill>
          <a:schemeClr val="accent5"/>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8CC187EC-8396-4004-B000-A5A19819C533}"/>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EDBF07B1-5FDD-9993-3E02-02E050663132}"/>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59A10549-BE6D-4DE6-BA55-6C74DD12A7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C87A5F9-FC8B-5E8F-3FF0-2A3D1C468840}"/>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4528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7_Title and Content">
    <p:bg>
      <p:bgPr>
        <a:solidFill>
          <a:schemeClr val="accent6"/>
        </a:solidFill>
        <a:effectLst/>
      </p:bgPr>
    </p:bg>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C5AD6A4-3D24-4C93-A062-C41B2ADCD69A}"/>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2" name="TextBox 20">
            <a:extLst>
              <a:ext uri="{FF2B5EF4-FFF2-40B4-BE49-F238E27FC236}">
                <a16:creationId xmlns:a16="http://schemas.microsoft.com/office/drawing/2014/main" id="{C9ABBC4F-3FDA-B5CF-4127-630ADCDCE091}"/>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lumMod val="85000"/>
                  </a:schemeClr>
                </a:solidFill>
                <a:latin typeface="+mj-lt"/>
                <a:ea typeface="Roboto Condensed" panose="02000000000000000000" pitchFamily="2" charset="0"/>
                <a:cs typeface="Segoe UI" panose="020B0502040204020203" pitchFamily="34" charset="0"/>
              </a:rPr>
              <a:pPr algn="ctr"/>
              <a:t>‹#›</a:t>
            </a:fld>
            <a:endParaRPr lang="id-ID" sz="4400" i="0">
              <a:solidFill>
                <a:schemeClr val="bg1">
                  <a:lumMod val="85000"/>
                </a:schemeClr>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B470B9CE-6085-9B6C-69E6-FE2727F016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51172AEB-3DBE-6F89-710E-5F1A6EE7E611}"/>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91675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3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68526BFF-456B-474A-8BE2-1598D227355E}"/>
              </a:ext>
            </a:extLst>
          </p:cNvPr>
          <p:cNvSpPr/>
          <p:nvPr userDrawn="1"/>
        </p:nvSpPr>
        <p:spPr>
          <a:xfrm>
            <a:off x="-1" y="3"/>
            <a:ext cx="12192000" cy="2211807"/>
          </a:xfrm>
          <a:custGeom>
            <a:avLst/>
            <a:gdLst>
              <a:gd name="connsiteX0" fmla="*/ 8397881 w 12192000"/>
              <a:gd name="connsiteY0" fmla="*/ 1800203 h 2211807"/>
              <a:gd name="connsiteX1" fmla="*/ 8397951 w 12192000"/>
              <a:gd name="connsiteY1" fmla="*/ 1800517 h 2211807"/>
              <a:gd name="connsiteX2" fmla="*/ 8398480 w 12192000"/>
              <a:gd name="connsiteY2" fmla="*/ 1800203 h 2211807"/>
              <a:gd name="connsiteX3" fmla="*/ 3793520 w 12192000"/>
              <a:gd name="connsiteY3" fmla="*/ 1800203 h 2211807"/>
              <a:gd name="connsiteX4" fmla="*/ 3794049 w 12192000"/>
              <a:gd name="connsiteY4" fmla="*/ 1800517 h 2211807"/>
              <a:gd name="connsiteX5" fmla="*/ 3794120 w 12192000"/>
              <a:gd name="connsiteY5" fmla="*/ 1800203 h 2211807"/>
              <a:gd name="connsiteX6" fmla="*/ 0 w 12192000"/>
              <a:gd name="connsiteY6" fmla="*/ 0 h 2211807"/>
              <a:gd name="connsiteX7" fmla="*/ 12192000 w 12192000"/>
              <a:gd name="connsiteY7" fmla="*/ 0 h 2211807"/>
              <a:gd name="connsiteX8" fmla="*/ 12192000 w 12192000"/>
              <a:gd name="connsiteY8" fmla="*/ 1757824 h 2211807"/>
              <a:gd name="connsiteX9" fmla="*/ 12192000 w 12192000"/>
              <a:gd name="connsiteY9" fmla="*/ 1859537 h 2211807"/>
              <a:gd name="connsiteX10" fmla="*/ 12165341 w 12192000"/>
              <a:gd name="connsiteY10" fmla="*/ 1861348 h 2211807"/>
              <a:gd name="connsiteX11" fmla="*/ 11967973 w 12192000"/>
              <a:gd name="connsiteY11" fmla="*/ 1934505 h 2211807"/>
              <a:gd name="connsiteX12" fmla="*/ 11944992 w 12192000"/>
              <a:gd name="connsiteY12" fmla="*/ 1953778 h 2211807"/>
              <a:gd name="connsiteX13" fmla="*/ 11942396 w 12192000"/>
              <a:gd name="connsiteY13" fmla="*/ 1957297 h 2211807"/>
              <a:gd name="connsiteX14" fmla="*/ 11911532 w 12192000"/>
              <a:gd name="connsiteY14" fmla="*/ 1981230 h 2211807"/>
              <a:gd name="connsiteX15" fmla="*/ 11808711 w 12192000"/>
              <a:gd name="connsiteY15" fmla="*/ 2063027 h 2211807"/>
              <a:gd name="connsiteX16" fmla="*/ 11291279 w 12192000"/>
              <a:gd name="connsiteY16" fmla="*/ 2211169 h 2211807"/>
              <a:gd name="connsiteX17" fmla="*/ 10847202 w 12192000"/>
              <a:gd name="connsiteY17" fmla="*/ 2019633 h 2211807"/>
              <a:gd name="connsiteX18" fmla="*/ 10424269 w 12192000"/>
              <a:gd name="connsiteY18" fmla="*/ 1831641 h 2211807"/>
              <a:gd name="connsiteX19" fmla="*/ 10128215 w 12192000"/>
              <a:gd name="connsiteY19" fmla="*/ 1980614 h 2211807"/>
              <a:gd name="connsiteX20" fmla="*/ 9564304 w 12192000"/>
              <a:gd name="connsiteY20" fmla="*/ 2200526 h 2211807"/>
              <a:gd name="connsiteX21" fmla="*/ 9096430 w 12192000"/>
              <a:gd name="connsiteY21" fmla="*/ 2051887 h 2211807"/>
              <a:gd name="connsiteX22" fmla="*/ 9033902 w 12192000"/>
              <a:gd name="connsiteY22" fmla="*/ 1994333 h 2211807"/>
              <a:gd name="connsiteX23" fmla="*/ 8988988 w 12192000"/>
              <a:gd name="connsiteY23" fmla="*/ 1957297 h 2211807"/>
              <a:gd name="connsiteX24" fmla="*/ 8979560 w 12192000"/>
              <a:gd name="connsiteY24" fmla="*/ 1943702 h 2211807"/>
              <a:gd name="connsiteX25" fmla="*/ 8949396 w 12192000"/>
              <a:gd name="connsiteY25" fmla="*/ 1915273 h 2211807"/>
              <a:gd name="connsiteX26" fmla="*/ 8718436 w 12192000"/>
              <a:gd name="connsiteY26" fmla="*/ 1821002 h 2211807"/>
              <a:gd name="connsiteX27" fmla="*/ 8429428 w 12192000"/>
              <a:gd name="connsiteY27" fmla="*/ 1969975 h 2211807"/>
              <a:gd name="connsiteX28" fmla="*/ 7752735 w 12192000"/>
              <a:gd name="connsiteY28" fmla="*/ 2204075 h 2211807"/>
              <a:gd name="connsiteX29" fmla="*/ 7195876 w 12192000"/>
              <a:gd name="connsiteY29" fmla="*/ 1962881 h 2211807"/>
              <a:gd name="connsiteX30" fmla="*/ 6956214 w 12192000"/>
              <a:gd name="connsiteY30" fmla="*/ 1831641 h 2211807"/>
              <a:gd name="connsiteX31" fmla="*/ 6674259 w 12192000"/>
              <a:gd name="connsiteY31" fmla="*/ 1966426 h 2211807"/>
              <a:gd name="connsiteX32" fmla="*/ 6578767 w 12192000"/>
              <a:gd name="connsiteY32" fmla="*/ 2049338 h 2211807"/>
              <a:gd name="connsiteX33" fmla="*/ 6558853 w 12192000"/>
              <a:gd name="connsiteY33" fmla="*/ 2061917 h 2211807"/>
              <a:gd name="connsiteX34" fmla="*/ 6545011 w 12192000"/>
              <a:gd name="connsiteY34" fmla="*/ 2075275 h 2211807"/>
              <a:gd name="connsiteX35" fmla="*/ 6109851 w 12192000"/>
              <a:gd name="connsiteY35" fmla="*/ 2196981 h 2211807"/>
              <a:gd name="connsiteX36" fmla="*/ 6096001 w 12192000"/>
              <a:gd name="connsiteY36" fmla="*/ 2196466 h 2211807"/>
              <a:gd name="connsiteX37" fmla="*/ 6082151 w 12192000"/>
              <a:gd name="connsiteY37" fmla="*/ 2196981 h 2211807"/>
              <a:gd name="connsiteX38" fmla="*/ 5646992 w 12192000"/>
              <a:gd name="connsiteY38" fmla="*/ 2075275 h 2211807"/>
              <a:gd name="connsiteX39" fmla="*/ 5633151 w 12192000"/>
              <a:gd name="connsiteY39" fmla="*/ 2061916 h 2211807"/>
              <a:gd name="connsiteX40" fmla="*/ 5613236 w 12192000"/>
              <a:gd name="connsiteY40" fmla="*/ 2049338 h 2211807"/>
              <a:gd name="connsiteX41" fmla="*/ 5517745 w 12192000"/>
              <a:gd name="connsiteY41" fmla="*/ 1966426 h 2211807"/>
              <a:gd name="connsiteX42" fmla="*/ 5235788 w 12192000"/>
              <a:gd name="connsiteY42" fmla="*/ 1831641 h 2211807"/>
              <a:gd name="connsiteX43" fmla="*/ 4996126 w 12192000"/>
              <a:gd name="connsiteY43" fmla="*/ 1962881 h 2211807"/>
              <a:gd name="connsiteX44" fmla="*/ 4439269 w 12192000"/>
              <a:gd name="connsiteY44" fmla="*/ 2204075 h 2211807"/>
              <a:gd name="connsiteX45" fmla="*/ 3762572 w 12192000"/>
              <a:gd name="connsiteY45" fmla="*/ 1969975 h 2211807"/>
              <a:gd name="connsiteX46" fmla="*/ 3473564 w 12192000"/>
              <a:gd name="connsiteY46" fmla="*/ 1821002 h 2211807"/>
              <a:gd name="connsiteX47" fmla="*/ 3242604 w 12192000"/>
              <a:gd name="connsiteY47" fmla="*/ 1915273 h 2211807"/>
              <a:gd name="connsiteX48" fmla="*/ 3212441 w 12192000"/>
              <a:gd name="connsiteY48" fmla="*/ 1943702 h 2211807"/>
              <a:gd name="connsiteX49" fmla="*/ 3203012 w 12192000"/>
              <a:gd name="connsiteY49" fmla="*/ 1957297 h 2211807"/>
              <a:gd name="connsiteX50" fmla="*/ 3158099 w 12192000"/>
              <a:gd name="connsiteY50" fmla="*/ 1994333 h 2211807"/>
              <a:gd name="connsiteX51" fmla="*/ 3095570 w 12192000"/>
              <a:gd name="connsiteY51" fmla="*/ 2051887 h 2211807"/>
              <a:gd name="connsiteX52" fmla="*/ 2627698 w 12192000"/>
              <a:gd name="connsiteY52" fmla="*/ 2200526 h 2211807"/>
              <a:gd name="connsiteX53" fmla="*/ 2063785 w 12192000"/>
              <a:gd name="connsiteY53" fmla="*/ 1980614 h 2211807"/>
              <a:gd name="connsiteX54" fmla="*/ 1767732 w 12192000"/>
              <a:gd name="connsiteY54" fmla="*/ 1831641 h 2211807"/>
              <a:gd name="connsiteX55" fmla="*/ 1344798 w 12192000"/>
              <a:gd name="connsiteY55" fmla="*/ 2019633 h 2211807"/>
              <a:gd name="connsiteX56" fmla="*/ 900721 w 12192000"/>
              <a:gd name="connsiteY56" fmla="*/ 2211169 h 2211807"/>
              <a:gd name="connsiteX57" fmla="*/ 383289 w 12192000"/>
              <a:gd name="connsiteY57" fmla="*/ 2063027 h 2211807"/>
              <a:gd name="connsiteX58" fmla="*/ 280468 w 12192000"/>
              <a:gd name="connsiteY58" fmla="*/ 1981230 h 2211807"/>
              <a:gd name="connsiteX59" fmla="*/ 249604 w 12192000"/>
              <a:gd name="connsiteY59" fmla="*/ 1957297 h 2211807"/>
              <a:gd name="connsiteX60" fmla="*/ 247008 w 12192000"/>
              <a:gd name="connsiteY60" fmla="*/ 1953778 h 2211807"/>
              <a:gd name="connsiteX61" fmla="*/ 224027 w 12192000"/>
              <a:gd name="connsiteY61" fmla="*/ 1934505 h 2211807"/>
              <a:gd name="connsiteX62" fmla="*/ 26659 w 12192000"/>
              <a:gd name="connsiteY62" fmla="*/ 1861348 h 2211807"/>
              <a:gd name="connsiteX63" fmla="*/ 0 w 12192000"/>
              <a:gd name="connsiteY63" fmla="*/ 1859537 h 2211807"/>
              <a:gd name="connsiteX64" fmla="*/ 0 w 12192000"/>
              <a:gd name="connsiteY64" fmla="*/ 1757824 h 221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2192000" h="2211807">
                <a:moveTo>
                  <a:pt x="8397881" y="1800203"/>
                </a:moveTo>
                <a:cubicBezTo>
                  <a:pt x="8397905" y="1800308"/>
                  <a:pt x="8397928" y="1800413"/>
                  <a:pt x="8397951" y="1800517"/>
                </a:cubicBezTo>
                <a:lnTo>
                  <a:pt x="8398480" y="1800203"/>
                </a:lnTo>
                <a:close/>
                <a:moveTo>
                  <a:pt x="3793520" y="1800203"/>
                </a:moveTo>
                <a:lnTo>
                  <a:pt x="3794049" y="1800517"/>
                </a:lnTo>
                <a:cubicBezTo>
                  <a:pt x="3794073" y="1800413"/>
                  <a:pt x="3794095" y="1800308"/>
                  <a:pt x="3794120" y="1800203"/>
                </a:cubicBezTo>
                <a:close/>
                <a:moveTo>
                  <a:pt x="0" y="0"/>
                </a:moveTo>
                <a:lnTo>
                  <a:pt x="12192000" y="0"/>
                </a:lnTo>
                <a:lnTo>
                  <a:pt x="12192000" y="1757824"/>
                </a:lnTo>
                <a:lnTo>
                  <a:pt x="12192000" y="1859537"/>
                </a:lnTo>
                <a:lnTo>
                  <a:pt x="12165341" y="1861348"/>
                </a:lnTo>
                <a:cubicBezTo>
                  <a:pt x="12101901" y="1867998"/>
                  <a:pt x="12024364" y="1886620"/>
                  <a:pt x="11967973" y="1934505"/>
                </a:cubicBezTo>
                <a:lnTo>
                  <a:pt x="11944992" y="1953778"/>
                </a:lnTo>
                <a:lnTo>
                  <a:pt x="11942396" y="1957297"/>
                </a:lnTo>
                <a:lnTo>
                  <a:pt x="11911532" y="1981230"/>
                </a:lnTo>
                <a:lnTo>
                  <a:pt x="11808711" y="2063027"/>
                </a:lnTo>
                <a:cubicBezTo>
                  <a:pt x="11687779" y="2151313"/>
                  <a:pt x="11545039" y="2219148"/>
                  <a:pt x="11291279" y="2211169"/>
                </a:cubicBezTo>
                <a:cubicBezTo>
                  <a:pt x="11100963" y="2207620"/>
                  <a:pt x="10974082" y="2115399"/>
                  <a:pt x="10847202" y="2019633"/>
                </a:cubicBezTo>
                <a:cubicBezTo>
                  <a:pt x="10727367" y="1927411"/>
                  <a:pt x="10593442" y="1831641"/>
                  <a:pt x="10424269" y="1831641"/>
                </a:cubicBezTo>
                <a:cubicBezTo>
                  <a:pt x="10290336" y="1831641"/>
                  <a:pt x="10212801" y="1902581"/>
                  <a:pt x="10128215" y="1980614"/>
                </a:cubicBezTo>
                <a:cubicBezTo>
                  <a:pt x="10008379" y="2090572"/>
                  <a:pt x="9881500" y="2204075"/>
                  <a:pt x="9564304" y="2200526"/>
                </a:cubicBezTo>
                <a:cubicBezTo>
                  <a:pt x="9321117" y="2197868"/>
                  <a:pt x="9192914" y="2131361"/>
                  <a:pt x="9096430" y="2051887"/>
                </a:cubicBezTo>
                <a:lnTo>
                  <a:pt x="9033902" y="1994333"/>
                </a:lnTo>
                <a:lnTo>
                  <a:pt x="8988988" y="1957297"/>
                </a:lnTo>
                <a:lnTo>
                  <a:pt x="8979560" y="1943702"/>
                </a:lnTo>
                <a:lnTo>
                  <a:pt x="8949396" y="1915273"/>
                </a:lnTo>
                <a:cubicBezTo>
                  <a:pt x="8890254" y="1862900"/>
                  <a:pt x="8824169" y="1821002"/>
                  <a:pt x="8718436" y="1821002"/>
                </a:cubicBezTo>
                <a:cubicBezTo>
                  <a:pt x="8598603" y="1817453"/>
                  <a:pt x="8514015" y="1891942"/>
                  <a:pt x="8429428" y="1969975"/>
                </a:cubicBezTo>
                <a:cubicBezTo>
                  <a:pt x="8288451" y="2094117"/>
                  <a:pt x="8140427" y="2232451"/>
                  <a:pt x="7752735" y="2204075"/>
                </a:cubicBezTo>
                <a:cubicBezTo>
                  <a:pt x="7386193" y="2179244"/>
                  <a:pt x="7287509" y="2065741"/>
                  <a:pt x="7195876" y="1962881"/>
                </a:cubicBezTo>
                <a:cubicBezTo>
                  <a:pt x="7139485" y="1899036"/>
                  <a:pt x="7090139" y="1838735"/>
                  <a:pt x="6956214" y="1831641"/>
                </a:cubicBezTo>
                <a:cubicBezTo>
                  <a:pt x="6829334" y="1821002"/>
                  <a:pt x="6758845" y="1891942"/>
                  <a:pt x="6674259" y="1966426"/>
                </a:cubicBezTo>
                <a:cubicBezTo>
                  <a:pt x="6644300" y="1993916"/>
                  <a:pt x="6613461" y="2022292"/>
                  <a:pt x="6578767" y="2049338"/>
                </a:cubicBezTo>
                <a:lnTo>
                  <a:pt x="6558853" y="2061917"/>
                </a:lnTo>
                <a:lnTo>
                  <a:pt x="6545011" y="2075275"/>
                </a:lnTo>
                <a:cubicBezTo>
                  <a:pt x="6465381" y="2141780"/>
                  <a:pt x="6353036" y="2194320"/>
                  <a:pt x="6109851" y="2196981"/>
                </a:cubicBezTo>
                <a:lnTo>
                  <a:pt x="6096001" y="2196466"/>
                </a:lnTo>
                <a:lnTo>
                  <a:pt x="6082151" y="2196981"/>
                </a:lnTo>
                <a:cubicBezTo>
                  <a:pt x="5838966" y="2194320"/>
                  <a:pt x="5726622" y="2141780"/>
                  <a:pt x="5646992" y="2075275"/>
                </a:cubicBezTo>
                <a:lnTo>
                  <a:pt x="5633151" y="2061916"/>
                </a:lnTo>
                <a:lnTo>
                  <a:pt x="5613236" y="2049338"/>
                </a:lnTo>
                <a:cubicBezTo>
                  <a:pt x="5578541" y="2022292"/>
                  <a:pt x="5547703" y="1993916"/>
                  <a:pt x="5517745" y="1966426"/>
                </a:cubicBezTo>
                <a:cubicBezTo>
                  <a:pt x="5433157" y="1891942"/>
                  <a:pt x="5362669" y="1821002"/>
                  <a:pt x="5235788" y="1831641"/>
                </a:cubicBezTo>
                <a:cubicBezTo>
                  <a:pt x="5101862" y="1838735"/>
                  <a:pt x="5052517" y="1899036"/>
                  <a:pt x="4996126" y="1962881"/>
                </a:cubicBezTo>
                <a:cubicBezTo>
                  <a:pt x="4904493" y="2065741"/>
                  <a:pt x="4805811" y="2179244"/>
                  <a:pt x="4439269" y="2204075"/>
                </a:cubicBezTo>
                <a:cubicBezTo>
                  <a:pt x="4051573" y="2232451"/>
                  <a:pt x="3903550" y="2094117"/>
                  <a:pt x="3762572" y="1969975"/>
                </a:cubicBezTo>
                <a:cubicBezTo>
                  <a:pt x="3677986" y="1891942"/>
                  <a:pt x="3593399" y="1817453"/>
                  <a:pt x="3473564" y="1821002"/>
                </a:cubicBezTo>
                <a:cubicBezTo>
                  <a:pt x="3367831" y="1821002"/>
                  <a:pt x="3301747" y="1862900"/>
                  <a:pt x="3242604" y="1915273"/>
                </a:cubicBezTo>
                <a:lnTo>
                  <a:pt x="3212441" y="1943702"/>
                </a:lnTo>
                <a:lnTo>
                  <a:pt x="3203012" y="1957297"/>
                </a:lnTo>
                <a:lnTo>
                  <a:pt x="3158099" y="1994333"/>
                </a:lnTo>
                <a:lnTo>
                  <a:pt x="3095570" y="2051887"/>
                </a:lnTo>
                <a:cubicBezTo>
                  <a:pt x="2999088" y="2131361"/>
                  <a:pt x="2870885" y="2197868"/>
                  <a:pt x="2627698" y="2200526"/>
                </a:cubicBezTo>
                <a:cubicBezTo>
                  <a:pt x="2310501" y="2204075"/>
                  <a:pt x="2183621" y="2090572"/>
                  <a:pt x="2063785" y="1980614"/>
                </a:cubicBezTo>
                <a:cubicBezTo>
                  <a:pt x="1979199" y="1902581"/>
                  <a:pt x="1901665" y="1831641"/>
                  <a:pt x="1767732" y="1831641"/>
                </a:cubicBezTo>
                <a:cubicBezTo>
                  <a:pt x="1598560" y="1831641"/>
                  <a:pt x="1464634" y="1927411"/>
                  <a:pt x="1344798" y="2019633"/>
                </a:cubicBezTo>
                <a:cubicBezTo>
                  <a:pt x="1217918" y="2115399"/>
                  <a:pt x="1091038" y="2207620"/>
                  <a:pt x="900721" y="2211169"/>
                </a:cubicBezTo>
                <a:cubicBezTo>
                  <a:pt x="646961" y="2219148"/>
                  <a:pt x="504221" y="2151313"/>
                  <a:pt x="383289" y="2063027"/>
                </a:cubicBezTo>
                <a:lnTo>
                  <a:pt x="280468" y="1981230"/>
                </a:lnTo>
                <a:lnTo>
                  <a:pt x="249604" y="1957297"/>
                </a:lnTo>
                <a:lnTo>
                  <a:pt x="247008" y="1953778"/>
                </a:lnTo>
                <a:lnTo>
                  <a:pt x="224027" y="1934505"/>
                </a:lnTo>
                <a:cubicBezTo>
                  <a:pt x="167637" y="1886620"/>
                  <a:pt x="90099" y="1867998"/>
                  <a:pt x="26659" y="1861348"/>
                </a:cubicBezTo>
                <a:lnTo>
                  <a:pt x="0" y="1859537"/>
                </a:lnTo>
                <a:lnTo>
                  <a:pt x="0" y="175782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800"/>
          </a:p>
        </p:txBody>
      </p:sp>
    </p:spTree>
    <p:extLst>
      <p:ext uri="{BB962C8B-B14F-4D97-AF65-F5344CB8AC3E}">
        <p14:creationId xmlns:p14="http://schemas.microsoft.com/office/powerpoint/2010/main" val="5122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750" fill="hold"/>
                                        <p:tgtEl>
                                          <p:spTgt spid="15"/>
                                        </p:tgtEl>
                                        <p:attrNameLst>
                                          <p:attrName>ppt_x</p:attrName>
                                        </p:attrNameLst>
                                      </p:cBhvr>
                                      <p:tavLst>
                                        <p:tav tm="0">
                                          <p:val>
                                            <p:strVal val="#ppt_x"/>
                                          </p:val>
                                        </p:tav>
                                        <p:tav tm="100000">
                                          <p:val>
                                            <p:strVal val="#ppt_x"/>
                                          </p:val>
                                        </p:tav>
                                      </p:tavLst>
                                    </p:anim>
                                    <p:anim calcmode="lin" valueType="num">
                                      <p:cBhvr additive="base">
                                        <p:cTn id="8" dur="750" fill="hold"/>
                                        <p:tgtEl>
                                          <p:spTgt spid="1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5_Title and Content">
    <p:bg>
      <p:bgPr>
        <a:solidFill>
          <a:schemeClr val="accent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E958EC9E-3F14-450E-9500-CDF654A46AD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4A88D286-33BB-432A-A5E6-3B9AF3174ED5}"/>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20" name="Imagen 19" descr="Logotipo&#10;&#10;El contenido generado por IA puede ser incorrecto.">
            <a:extLst>
              <a:ext uri="{FF2B5EF4-FFF2-40B4-BE49-F238E27FC236}">
                <a16:creationId xmlns:a16="http://schemas.microsoft.com/office/drawing/2014/main" id="{A3229568-CFE9-C263-9D88-DAE462D8B77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21" name="TextBox 7">
            <a:extLst>
              <a:ext uri="{FF2B5EF4-FFF2-40B4-BE49-F238E27FC236}">
                <a16:creationId xmlns:a16="http://schemas.microsoft.com/office/drawing/2014/main" id="{7BDB49E4-15BE-F72F-1F12-B1BF7F04C42F}"/>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12780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5_Title and Content">
    <p:bg>
      <p:bgPr>
        <a:solidFill>
          <a:schemeClr val="accent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0BE1C5B-722C-4D47-B5C5-1D4825AFF556}"/>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32">
            <a:extLst>
              <a:ext uri="{FF2B5EF4-FFF2-40B4-BE49-F238E27FC236}">
                <a16:creationId xmlns:a16="http://schemas.microsoft.com/office/drawing/2014/main" id="{0DA2FAAA-E96F-C2C3-4884-5874A3AEEFF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2"/>
                </a:solidFill>
                <a:latin typeface="+mj-lt"/>
                <a:ea typeface="Roboto Condensed" panose="02000000000000000000" pitchFamily="2" charset="0"/>
                <a:cs typeface="Segoe UI" panose="020B0502040204020203" pitchFamily="34" charset="0"/>
              </a:rPr>
              <a:pPr algn="ctr"/>
              <a:t>‹#›</a:t>
            </a:fld>
            <a:endParaRPr lang="id-ID" sz="4400" i="0">
              <a:solidFill>
                <a:schemeClr val="tx2"/>
              </a:solidFill>
              <a:latin typeface="+mj-lt"/>
              <a:ea typeface="Roboto Condensed" panose="02000000000000000000" pitchFamily="2" charset="0"/>
              <a:cs typeface="Segoe UI" panose="020B0502040204020203" pitchFamily="34" charset="0"/>
            </a:endParaRPr>
          </a:p>
        </p:txBody>
      </p:sp>
      <p:pic>
        <p:nvPicPr>
          <p:cNvPr id="4" name="Imagen 3" descr="Logotipo&#10;&#10;El contenido generado por IA puede ser incorrecto.">
            <a:extLst>
              <a:ext uri="{FF2B5EF4-FFF2-40B4-BE49-F238E27FC236}">
                <a16:creationId xmlns:a16="http://schemas.microsoft.com/office/drawing/2014/main" id="{4F6E8475-6D4C-35BB-F44B-38F7828C81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701" y="6186386"/>
            <a:ext cx="1324043" cy="276239"/>
          </a:xfrm>
          <a:prstGeom prst="rect">
            <a:avLst/>
          </a:prstGeom>
        </p:spPr>
      </p:pic>
      <p:sp>
        <p:nvSpPr>
          <p:cNvPr id="5" name="TextBox 7">
            <a:extLst>
              <a:ext uri="{FF2B5EF4-FFF2-40B4-BE49-F238E27FC236}">
                <a16:creationId xmlns:a16="http://schemas.microsoft.com/office/drawing/2014/main" id="{29D554BE-00B7-947B-6648-196C8D0032B5}"/>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#BizzSummit2025</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08584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7_Title and Content">
    <p:bg>
      <p:bgPr>
        <a:solidFill>
          <a:schemeClr val="accent4"/>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25C40A2C-1A75-42B4-A826-D4B6683EECD3}"/>
              </a:ext>
            </a:extLst>
          </p:cNvPr>
          <p:cNvSpPr/>
          <p:nvPr userDrawn="1"/>
        </p:nvSpPr>
        <p:spPr>
          <a:xfrm>
            <a:off x="-1" y="5752095"/>
            <a:ext cx="12192000" cy="1105905"/>
          </a:xfrm>
          <a:custGeom>
            <a:avLst/>
            <a:gdLst>
              <a:gd name="connsiteX0" fmla="*/ 8397951 w 12192000"/>
              <a:gd name="connsiteY0" fmla="*/ 411291 h 1105905"/>
              <a:gd name="connsiteX1" fmla="*/ 8397881 w 12192000"/>
              <a:gd name="connsiteY1" fmla="*/ 411605 h 1105905"/>
              <a:gd name="connsiteX2" fmla="*/ 8398480 w 12192000"/>
              <a:gd name="connsiteY2" fmla="*/ 411605 h 1105905"/>
              <a:gd name="connsiteX3" fmla="*/ 3794049 w 12192000"/>
              <a:gd name="connsiteY3" fmla="*/ 411291 h 1105905"/>
              <a:gd name="connsiteX4" fmla="*/ 3793520 w 12192000"/>
              <a:gd name="connsiteY4" fmla="*/ 411605 h 1105905"/>
              <a:gd name="connsiteX5" fmla="*/ 3794120 w 12192000"/>
              <a:gd name="connsiteY5" fmla="*/ 411605 h 1105905"/>
              <a:gd name="connsiteX6" fmla="*/ 3794049 w 12192000"/>
              <a:gd name="connsiteY6" fmla="*/ 411291 h 1105905"/>
              <a:gd name="connsiteX7" fmla="*/ 900721 w 12192000"/>
              <a:gd name="connsiteY7" fmla="*/ 639 h 1105905"/>
              <a:gd name="connsiteX8" fmla="*/ 1344798 w 12192000"/>
              <a:gd name="connsiteY8" fmla="*/ 192175 h 1105905"/>
              <a:gd name="connsiteX9" fmla="*/ 1767732 w 12192000"/>
              <a:gd name="connsiteY9" fmla="*/ 380167 h 1105905"/>
              <a:gd name="connsiteX10" fmla="*/ 2063785 w 12192000"/>
              <a:gd name="connsiteY10" fmla="*/ 231194 h 1105905"/>
              <a:gd name="connsiteX11" fmla="*/ 2627698 w 12192000"/>
              <a:gd name="connsiteY11" fmla="*/ 11282 h 1105905"/>
              <a:gd name="connsiteX12" fmla="*/ 3095570 w 12192000"/>
              <a:gd name="connsiteY12" fmla="*/ 159921 h 1105905"/>
              <a:gd name="connsiteX13" fmla="*/ 3158099 w 12192000"/>
              <a:gd name="connsiteY13" fmla="*/ 217475 h 1105905"/>
              <a:gd name="connsiteX14" fmla="*/ 3203012 w 12192000"/>
              <a:gd name="connsiteY14" fmla="*/ 254511 h 1105905"/>
              <a:gd name="connsiteX15" fmla="*/ 3212441 w 12192000"/>
              <a:gd name="connsiteY15" fmla="*/ 268106 h 1105905"/>
              <a:gd name="connsiteX16" fmla="*/ 3242604 w 12192000"/>
              <a:gd name="connsiteY16" fmla="*/ 296535 h 1105905"/>
              <a:gd name="connsiteX17" fmla="*/ 3473564 w 12192000"/>
              <a:gd name="connsiteY17" fmla="*/ 390806 h 1105905"/>
              <a:gd name="connsiteX18" fmla="*/ 3762572 w 12192000"/>
              <a:gd name="connsiteY18" fmla="*/ 241833 h 1105905"/>
              <a:gd name="connsiteX19" fmla="*/ 4439269 w 12192000"/>
              <a:gd name="connsiteY19" fmla="*/ 7733 h 1105905"/>
              <a:gd name="connsiteX20" fmla="*/ 4996126 w 12192000"/>
              <a:gd name="connsiteY20" fmla="*/ 248927 h 1105905"/>
              <a:gd name="connsiteX21" fmla="*/ 5235788 w 12192000"/>
              <a:gd name="connsiteY21" fmla="*/ 380167 h 1105905"/>
              <a:gd name="connsiteX22" fmla="*/ 5517746 w 12192000"/>
              <a:gd name="connsiteY22" fmla="*/ 245382 h 1105905"/>
              <a:gd name="connsiteX23" fmla="*/ 5613237 w 12192000"/>
              <a:gd name="connsiteY23" fmla="*/ 162470 h 1105905"/>
              <a:gd name="connsiteX24" fmla="*/ 5633152 w 12192000"/>
              <a:gd name="connsiteY24" fmla="*/ 149892 h 1105905"/>
              <a:gd name="connsiteX25" fmla="*/ 5646993 w 12192000"/>
              <a:gd name="connsiteY25" fmla="*/ 136533 h 1105905"/>
              <a:gd name="connsiteX26" fmla="*/ 6082152 w 12192000"/>
              <a:gd name="connsiteY26" fmla="*/ 14827 h 1105905"/>
              <a:gd name="connsiteX27" fmla="*/ 6096002 w 12192000"/>
              <a:gd name="connsiteY27" fmla="*/ 15342 h 1105905"/>
              <a:gd name="connsiteX28" fmla="*/ 6109851 w 12192000"/>
              <a:gd name="connsiteY28" fmla="*/ 14827 h 1105905"/>
              <a:gd name="connsiteX29" fmla="*/ 6545012 w 12192000"/>
              <a:gd name="connsiteY29" fmla="*/ 136533 h 1105905"/>
              <a:gd name="connsiteX30" fmla="*/ 6558854 w 12192000"/>
              <a:gd name="connsiteY30" fmla="*/ 149891 h 1105905"/>
              <a:gd name="connsiteX31" fmla="*/ 6578768 w 12192000"/>
              <a:gd name="connsiteY31" fmla="*/ 162470 h 1105905"/>
              <a:gd name="connsiteX32" fmla="*/ 6674259 w 12192000"/>
              <a:gd name="connsiteY32" fmla="*/ 245382 h 1105905"/>
              <a:gd name="connsiteX33" fmla="*/ 6956214 w 12192000"/>
              <a:gd name="connsiteY33" fmla="*/ 380167 h 1105905"/>
              <a:gd name="connsiteX34" fmla="*/ 7195876 w 12192000"/>
              <a:gd name="connsiteY34" fmla="*/ 248927 h 1105905"/>
              <a:gd name="connsiteX35" fmla="*/ 7752735 w 12192000"/>
              <a:gd name="connsiteY35" fmla="*/ 7733 h 1105905"/>
              <a:gd name="connsiteX36" fmla="*/ 8429428 w 12192000"/>
              <a:gd name="connsiteY36" fmla="*/ 241833 h 1105905"/>
              <a:gd name="connsiteX37" fmla="*/ 8718436 w 12192000"/>
              <a:gd name="connsiteY37" fmla="*/ 390806 h 1105905"/>
              <a:gd name="connsiteX38" fmla="*/ 8949396 w 12192000"/>
              <a:gd name="connsiteY38" fmla="*/ 296535 h 1105905"/>
              <a:gd name="connsiteX39" fmla="*/ 8979560 w 12192000"/>
              <a:gd name="connsiteY39" fmla="*/ 268106 h 1105905"/>
              <a:gd name="connsiteX40" fmla="*/ 8988988 w 12192000"/>
              <a:gd name="connsiteY40" fmla="*/ 254511 h 1105905"/>
              <a:gd name="connsiteX41" fmla="*/ 9033902 w 12192000"/>
              <a:gd name="connsiteY41" fmla="*/ 217475 h 1105905"/>
              <a:gd name="connsiteX42" fmla="*/ 9096430 w 12192000"/>
              <a:gd name="connsiteY42" fmla="*/ 159921 h 1105905"/>
              <a:gd name="connsiteX43" fmla="*/ 9564304 w 12192000"/>
              <a:gd name="connsiteY43" fmla="*/ 11282 h 1105905"/>
              <a:gd name="connsiteX44" fmla="*/ 10128215 w 12192000"/>
              <a:gd name="connsiteY44" fmla="*/ 231194 h 1105905"/>
              <a:gd name="connsiteX45" fmla="*/ 10424269 w 12192000"/>
              <a:gd name="connsiteY45" fmla="*/ 380167 h 1105905"/>
              <a:gd name="connsiteX46" fmla="*/ 10847202 w 12192000"/>
              <a:gd name="connsiteY46" fmla="*/ 192175 h 1105905"/>
              <a:gd name="connsiteX47" fmla="*/ 11291279 w 12192000"/>
              <a:gd name="connsiteY47" fmla="*/ 639 h 1105905"/>
              <a:gd name="connsiteX48" fmla="*/ 11808711 w 12192000"/>
              <a:gd name="connsiteY48" fmla="*/ 148781 h 1105905"/>
              <a:gd name="connsiteX49" fmla="*/ 11911532 w 12192000"/>
              <a:gd name="connsiteY49" fmla="*/ 230578 h 1105905"/>
              <a:gd name="connsiteX50" fmla="*/ 11942396 w 12192000"/>
              <a:gd name="connsiteY50" fmla="*/ 254511 h 1105905"/>
              <a:gd name="connsiteX51" fmla="*/ 11944992 w 12192000"/>
              <a:gd name="connsiteY51" fmla="*/ 258030 h 1105905"/>
              <a:gd name="connsiteX52" fmla="*/ 11967973 w 12192000"/>
              <a:gd name="connsiteY52" fmla="*/ 277303 h 1105905"/>
              <a:gd name="connsiteX53" fmla="*/ 12165341 w 12192000"/>
              <a:gd name="connsiteY53" fmla="*/ 350460 h 1105905"/>
              <a:gd name="connsiteX54" fmla="*/ 12192000 w 12192000"/>
              <a:gd name="connsiteY54" fmla="*/ 352271 h 1105905"/>
              <a:gd name="connsiteX55" fmla="*/ 12192000 w 12192000"/>
              <a:gd name="connsiteY55" fmla="*/ 453984 h 1105905"/>
              <a:gd name="connsiteX56" fmla="*/ 12192000 w 12192000"/>
              <a:gd name="connsiteY56" fmla="*/ 1105905 h 1105905"/>
              <a:gd name="connsiteX57" fmla="*/ 0 w 12192000"/>
              <a:gd name="connsiteY57" fmla="*/ 1105905 h 1105905"/>
              <a:gd name="connsiteX58" fmla="*/ 0 w 12192000"/>
              <a:gd name="connsiteY58" fmla="*/ 453984 h 1105905"/>
              <a:gd name="connsiteX59" fmla="*/ 0 w 12192000"/>
              <a:gd name="connsiteY59" fmla="*/ 352271 h 1105905"/>
              <a:gd name="connsiteX60" fmla="*/ 26659 w 12192000"/>
              <a:gd name="connsiteY60" fmla="*/ 350460 h 1105905"/>
              <a:gd name="connsiteX61" fmla="*/ 224027 w 12192000"/>
              <a:gd name="connsiteY61" fmla="*/ 277303 h 1105905"/>
              <a:gd name="connsiteX62" fmla="*/ 247008 w 12192000"/>
              <a:gd name="connsiteY62" fmla="*/ 258030 h 1105905"/>
              <a:gd name="connsiteX63" fmla="*/ 249604 w 12192000"/>
              <a:gd name="connsiteY63" fmla="*/ 254511 h 1105905"/>
              <a:gd name="connsiteX64" fmla="*/ 280468 w 12192000"/>
              <a:gd name="connsiteY64" fmla="*/ 230578 h 1105905"/>
              <a:gd name="connsiteX65" fmla="*/ 383289 w 12192000"/>
              <a:gd name="connsiteY65" fmla="*/ 148781 h 1105905"/>
              <a:gd name="connsiteX66" fmla="*/ 900721 w 12192000"/>
              <a:gd name="connsiteY66" fmla="*/ 639 h 1105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2192000" h="1105905">
                <a:moveTo>
                  <a:pt x="8397951" y="411291"/>
                </a:moveTo>
                <a:cubicBezTo>
                  <a:pt x="8397928" y="411395"/>
                  <a:pt x="8397905" y="411500"/>
                  <a:pt x="8397881" y="411605"/>
                </a:cubicBezTo>
                <a:lnTo>
                  <a:pt x="8398480" y="411605"/>
                </a:lnTo>
                <a:close/>
                <a:moveTo>
                  <a:pt x="3794049" y="411291"/>
                </a:moveTo>
                <a:lnTo>
                  <a:pt x="3793520" y="411605"/>
                </a:lnTo>
                <a:lnTo>
                  <a:pt x="3794120" y="411605"/>
                </a:lnTo>
                <a:cubicBezTo>
                  <a:pt x="3794095" y="411500"/>
                  <a:pt x="3794073" y="411395"/>
                  <a:pt x="3794049" y="411291"/>
                </a:cubicBezTo>
                <a:close/>
                <a:moveTo>
                  <a:pt x="900721" y="639"/>
                </a:moveTo>
                <a:cubicBezTo>
                  <a:pt x="1091038" y="4188"/>
                  <a:pt x="1217918" y="96409"/>
                  <a:pt x="1344798" y="192175"/>
                </a:cubicBezTo>
                <a:cubicBezTo>
                  <a:pt x="1464634" y="284397"/>
                  <a:pt x="1598560" y="380167"/>
                  <a:pt x="1767732" y="380167"/>
                </a:cubicBezTo>
                <a:cubicBezTo>
                  <a:pt x="1901665" y="380167"/>
                  <a:pt x="1979199" y="309227"/>
                  <a:pt x="2063785" y="231194"/>
                </a:cubicBezTo>
                <a:cubicBezTo>
                  <a:pt x="2183621" y="121236"/>
                  <a:pt x="2310501" y="7733"/>
                  <a:pt x="2627698" y="11282"/>
                </a:cubicBezTo>
                <a:cubicBezTo>
                  <a:pt x="2870885" y="13940"/>
                  <a:pt x="2999088" y="80447"/>
                  <a:pt x="3095570" y="159921"/>
                </a:cubicBezTo>
                <a:lnTo>
                  <a:pt x="3158099" y="217475"/>
                </a:lnTo>
                <a:lnTo>
                  <a:pt x="3203012" y="254511"/>
                </a:lnTo>
                <a:lnTo>
                  <a:pt x="3212441" y="268106"/>
                </a:lnTo>
                <a:lnTo>
                  <a:pt x="3242604" y="296535"/>
                </a:lnTo>
                <a:cubicBezTo>
                  <a:pt x="3301747" y="348908"/>
                  <a:pt x="3367831" y="390806"/>
                  <a:pt x="3473564" y="390806"/>
                </a:cubicBezTo>
                <a:cubicBezTo>
                  <a:pt x="3593399" y="394355"/>
                  <a:pt x="3677986" y="319866"/>
                  <a:pt x="3762572" y="241833"/>
                </a:cubicBezTo>
                <a:cubicBezTo>
                  <a:pt x="3903550" y="117691"/>
                  <a:pt x="4051573" y="-20643"/>
                  <a:pt x="4439269" y="7733"/>
                </a:cubicBezTo>
                <a:cubicBezTo>
                  <a:pt x="4805812" y="32564"/>
                  <a:pt x="4904493" y="146067"/>
                  <a:pt x="4996126" y="248927"/>
                </a:cubicBezTo>
                <a:cubicBezTo>
                  <a:pt x="5052517" y="312772"/>
                  <a:pt x="5101862" y="373073"/>
                  <a:pt x="5235788" y="380167"/>
                </a:cubicBezTo>
                <a:cubicBezTo>
                  <a:pt x="5362670" y="390806"/>
                  <a:pt x="5433157" y="319866"/>
                  <a:pt x="5517746" y="245382"/>
                </a:cubicBezTo>
                <a:cubicBezTo>
                  <a:pt x="5547703" y="217892"/>
                  <a:pt x="5578542" y="189516"/>
                  <a:pt x="5613237" y="162470"/>
                </a:cubicBezTo>
                <a:lnTo>
                  <a:pt x="5633152" y="149892"/>
                </a:lnTo>
                <a:lnTo>
                  <a:pt x="5646993" y="136533"/>
                </a:lnTo>
                <a:cubicBezTo>
                  <a:pt x="5726622" y="70028"/>
                  <a:pt x="5838966" y="17488"/>
                  <a:pt x="6082152" y="14827"/>
                </a:cubicBezTo>
                <a:lnTo>
                  <a:pt x="6096002" y="15342"/>
                </a:lnTo>
                <a:lnTo>
                  <a:pt x="6109851" y="14827"/>
                </a:lnTo>
                <a:cubicBezTo>
                  <a:pt x="6353036" y="17488"/>
                  <a:pt x="6465382" y="70028"/>
                  <a:pt x="6545012" y="136533"/>
                </a:cubicBezTo>
                <a:lnTo>
                  <a:pt x="6558854" y="149891"/>
                </a:lnTo>
                <a:lnTo>
                  <a:pt x="6578768" y="162470"/>
                </a:lnTo>
                <a:cubicBezTo>
                  <a:pt x="6613461" y="189516"/>
                  <a:pt x="6644300" y="217892"/>
                  <a:pt x="6674259" y="245382"/>
                </a:cubicBezTo>
                <a:cubicBezTo>
                  <a:pt x="6758845" y="319866"/>
                  <a:pt x="6829334" y="390806"/>
                  <a:pt x="6956214" y="380167"/>
                </a:cubicBezTo>
                <a:cubicBezTo>
                  <a:pt x="7090139" y="373073"/>
                  <a:pt x="7139485" y="312772"/>
                  <a:pt x="7195876" y="248927"/>
                </a:cubicBezTo>
                <a:cubicBezTo>
                  <a:pt x="7287509" y="146067"/>
                  <a:pt x="7386193" y="32564"/>
                  <a:pt x="7752735" y="7733"/>
                </a:cubicBezTo>
                <a:cubicBezTo>
                  <a:pt x="8140427" y="-20643"/>
                  <a:pt x="8288451" y="117691"/>
                  <a:pt x="8429428" y="241833"/>
                </a:cubicBezTo>
                <a:cubicBezTo>
                  <a:pt x="8514015" y="319866"/>
                  <a:pt x="8598603" y="394355"/>
                  <a:pt x="8718436" y="390806"/>
                </a:cubicBezTo>
                <a:cubicBezTo>
                  <a:pt x="8824169" y="390806"/>
                  <a:pt x="8890254" y="348908"/>
                  <a:pt x="8949396" y="296535"/>
                </a:cubicBezTo>
                <a:lnTo>
                  <a:pt x="8979560" y="268106"/>
                </a:lnTo>
                <a:lnTo>
                  <a:pt x="8988988" y="254511"/>
                </a:lnTo>
                <a:lnTo>
                  <a:pt x="9033902" y="217475"/>
                </a:lnTo>
                <a:lnTo>
                  <a:pt x="9096430" y="159921"/>
                </a:lnTo>
                <a:cubicBezTo>
                  <a:pt x="9192914" y="80447"/>
                  <a:pt x="9321117" y="13940"/>
                  <a:pt x="9564304" y="11282"/>
                </a:cubicBezTo>
                <a:cubicBezTo>
                  <a:pt x="9881500" y="7733"/>
                  <a:pt x="10008379" y="121236"/>
                  <a:pt x="10128215" y="231194"/>
                </a:cubicBezTo>
                <a:cubicBezTo>
                  <a:pt x="10212801" y="309227"/>
                  <a:pt x="10290336" y="380167"/>
                  <a:pt x="10424269" y="380167"/>
                </a:cubicBezTo>
                <a:cubicBezTo>
                  <a:pt x="10593442" y="380167"/>
                  <a:pt x="10727367" y="284397"/>
                  <a:pt x="10847202" y="192175"/>
                </a:cubicBezTo>
                <a:cubicBezTo>
                  <a:pt x="10974082" y="96409"/>
                  <a:pt x="11100963" y="4188"/>
                  <a:pt x="11291279" y="639"/>
                </a:cubicBezTo>
                <a:cubicBezTo>
                  <a:pt x="11545039" y="-7340"/>
                  <a:pt x="11687779" y="60495"/>
                  <a:pt x="11808711" y="148781"/>
                </a:cubicBezTo>
                <a:lnTo>
                  <a:pt x="11911532" y="230578"/>
                </a:lnTo>
                <a:lnTo>
                  <a:pt x="11942396" y="254511"/>
                </a:lnTo>
                <a:lnTo>
                  <a:pt x="11944992" y="258030"/>
                </a:lnTo>
                <a:lnTo>
                  <a:pt x="11967973" y="277303"/>
                </a:lnTo>
                <a:cubicBezTo>
                  <a:pt x="12024364" y="325188"/>
                  <a:pt x="12101901" y="343810"/>
                  <a:pt x="12165341" y="350460"/>
                </a:cubicBezTo>
                <a:lnTo>
                  <a:pt x="12192000" y="352271"/>
                </a:lnTo>
                <a:lnTo>
                  <a:pt x="12192000" y="453984"/>
                </a:lnTo>
                <a:lnTo>
                  <a:pt x="12192000" y="1105905"/>
                </a:lnTo>
                <a:lnTo>
                  <a:pt x="0" y="1105905"/>
                </a:lnTo>
                <a:lnTo>
                  <a:pt x="0" y="453984"/>
                </a:lnTo>
                <a:lnTo>
                  <a:pt x="0" y="352271"/>
                </a:lnTo>
                <a:lnTo>
                  <a:pt x="26659" y="350460"/>
                </a:lnTo>
                <a:cubicBezTo>
                  <a:pt x="90099" y="343810"/>
                  <a:pt x="167637" y="325188"/>
                  <a:pt x="224027" y="277303"/>
                </a:cubicBezTo>
                <a:lnTo>
                  <a:pt x="247008" y="258030"/>
                </a:lnTo>
                <a:lnTo>
                  <a:pt x="249604" y="254511"/>
                </a:lnTo>
                <a:lnTo>
                  <a:pt x="280468" y="230578"/>
                </a:lnTo>
                <a:lnTo>
                  <a:pt x="383289" y="148781"/>
                </a:lnTo>
                <a:cubicBezTo>
                  <a:pt x="504221" y="60495"/>
                  <a:pt x="646961" y="-7340"/>
                  <a:pt x="900721" y="639"/>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01D8835-7059-42EE-8C09-298010F7425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3" name="Imagen 2" descr="Logotipo&#10;&#10;El contenido generado por IA puede ser incorrecto.">
            <a:extLst>
              <a:ext uri="{FF2B5EF4-FFF2-40B4-BE49-F238E27FC236}">
                <a16:creationId xmlns:a16="http://schemas.microsoft.com/office/drawing/2014/main" id="{807B3481-7280-435B-9BDA-A42611ACA8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A1A2E521-25F1-66D1-9E4F-68A98A499769}"/>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225977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0_Title and Content">
    <p:bg>
      <p:bgPr>
        <a:solidFill>
          <a:schemeClr val="accent1"/>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82BABB31-EFC0-5FEC-6279-07B92A8F95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474460" y="136854"/>
            <a:ext cx="758823" cy="834705"/>
          </a:xfrm>
          <a:prstGeom prst="rect">
            <a:avLst/>
          </a:prstGeom>
        </p:spPr>
      </p:pic>
      <p:pic>
        <p:nvPicPr>
          <p:cNvPr id="42" name="Gráfico 41">
            <a:extLst>
              <a:ext uri="{FF2B5EF4-FFF2-40B4-BE49-F238E27FC236}">
                <a16:creationId xmlns:a16="http://schemas.microsoft.com/office/drawing/2014/main" id="{5BD2FB50-F703-20A9-33BF-DC2B0CC8C7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43567" y="592634"/>
            <a:ext cx="758823" cy="834705"/>
          </a:xfrm>
          <a:prstGeom prst="rect">
            <a:avLst/>
          </a:prstGeom>
        </p:spPr>
      </p:pic>
      <p:pic>
        <p:nvPicPr>
          <p:cNvPr id="41" name="Gráfico 40">
            <a:extLst>
              <a:ext uri="{FF2B5EF4-FFF2-40B4-BE49-F238E27FC236}">
                <a16:creationId xmlns:a16="http://schemas.microsoft.com/office/drawing/2014/main" id="{946130A8-6F2D-0155-3AB2-75FE0DE63E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367" y="1496539"/>
            <a:ext cx="758823" cy="834705"/>
          </a:xfrm>
          <a:prstGeom prst="rect">
            <a:avLst/>
          </a:prstGeom>
        </p:spPr>
      </p:pic>
      <p:pic>
        <p:nvPicPr>
          <p:cNvPr id="34" name="Gráfico 33">
            <a:extLst>
              <a:ext uri="{FF2B5EF4-FFF2-40B4-BE49-F238E27FC236}">
                <a16:creationId xmlns:a16="http://schemas.microsoft.com/office/drawing/2014/main" id="{6998DD76-0C5A-8F80-9901-D926DA0AC7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64089" y="2901436"/>
            <a:ext cx="758823" cy="834705"/>
          </a:xfrm>
          <a:prstGeom prst="rect">
            <a:avLst/>
          </a:prstGeom>
        </p:spPr>
      </p:pic>
      <p:pic>
        <p:nvPicPr>
          <p:cNvPr id="38" name="Gráfico 37">
            <a:extLst>
              <a:ext uri="{FF2B5EF4-FFF2-40B4-BE49-F238E27FC236}">
                <a16:creationId xmlns:a16="http://schemas.microsoft.com/office/drawing/2014/main" id="{43D2004D-CEDB-248B-A3D6-46FD49B8A3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290" y="2062821"/>
            <a:ext cx="758823" cy="834705"/>
          </a:xfrm>
          <a:prstGeom prst="rect">
            <a:avLst/>
          </a:prstGeom>
        </p:spPr>
      </p:pic>
      <p:pic>
        <p:nvPicPr>
          <p:cNvPr id="22" name="Gráfico 21">
            <a:extLst>
              <a:ext uri="{FF2B5EF4-FFF2-40B4-BE49-F238E27FC236}">
                <a16:creationId xmlns:a16="http://schemas.microsoft.com/office/drawing/2014/main" id="{2B04BF0E-9AA3-41D4-502A-D57432CE7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69880" y="4875653"/>
            <a:ext cx="758823" cy="834705"/>
          </a:xfrm>
          <a:prstGeom prst="rect">
            <a:avLst/>
          </a:prstGeom>
        </p:spPr>
      </p:pic>
      <p:pic>
        <p:nvPicPr>
          <p:cNvPr id="23" name="Gráfico 22">
            <a:extLst>
              <a:ext uri="{FF2B5EF4-FFF2-40B4-BE49-F238E27FC236}">
                <a16:creationId xmlns:a16="http://schemas.microsoft.com/office/drawing/2014/main" id="{7543CBD1-D475-BDBE-76EF-ACA26EEA3F3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5887" y="175948"/>
            <a:ext cx="758823" cy="834705"/>
          </a:xfrm>
          <a:prstGeom prst="rect">
            <a:avLst/>
          </a:prstGeom>
        </p:spPr>
      </p:pic>
      <p:pic>
        <p:nvPicPr>
          <p:cNvPr id="24" name="Gráfico 23">
            <a:extLst>
              <a:ext uri="{FF2B5EF4-FFF2-40B4-BE49-F238E27FC236}">
                <a16:creationId xmlns:a16="http://schemas.microsoft.com/office/drawing/2014/main" id="{871020DA-ADAB-667F-3BBB-2BDCB31BB0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5887" y="1527883"/>
            <a:ext cx="758823" cy="834705"/>
          </a:xfrm>
          <a:prstGeom prst="rect">
            <a:avLst/>
          </a:prstGeom>
        </p:spPr>
      </p:pic>
      <p:pic>
        <p:nvPicPr>
          <p:cNvPr id="25" name="Gráfico 24">
            <a:extLst>
              <a:ext uri="{FF2B5EF4-FFF2-40B4-BE49-F238E27FC236}">
                <a16:creationId xmlns:a16="http://schemas.microsoft.com/office/drawing/2014/main" id="{509910C1-DBA0-7176-DC05-E2174CFFD8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5886" y="2879818"/>
            <a:ext cx="758823" cy="834705"/>
          </a:xfrm>
          <a:prstGeom prst="rect">
            <a:avLst/>
          </a:prstGeom>
        </p:spPr>
      </p:pic>
      <p:pic>
        <p:nvPicPr>
          <p:cNvPr id="26" name="Gráfico 25">
            <a:extLst>
              <a:ext uri="{FF2B5EF4-FFF2-40B4-BE49-F238E27FC236}">
                <a16:creationId xmlns:a16="http://schemas.microsoft.com/office/drawing/2014/main" id="{BA6D8F69-C275-8013-3C1B-FDCC8C612B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5885" y="4182132"/>
            <a:ext cx="758823" cy="834705"/>
          </a:xfrm>
          <a:prstGeom prst="rect">
            <a:avLst/>
          </a:prstGeom>
        </p:spPr>
      </p:pic>
      <p:pic>
        <p:nvPicPr>
          <p:cNvPr id="27" name="Gráfico 26">
            <a:extLst>
              <a:ext uri="{FF2B5EF4-FFF2-40B4-BE49-F238E27FC236}">
                <a16:creationId xmlns:a16="http://schemas.microsoft.com/office/drawing/2014/main" id="{8413D9D1-9970-00A4-5D9E-A34A2C5E20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755885" y="5464041"/>
            <a:ext cx="758823" cy="834705"/>
          </a:xfrm>
          <a:prstGeom prst="rect">
            <a:avLst/>
          </a:prstGeom>
        </p:spPr>
      </p:pic>
      <p:pic>
        <p:nvPicPr>
          <p:cNvPr id="28" name="Gráfico 27">
            <a:extLst>
              <a:ext uri="{FF2B5EF4-FFF2-40B4-BE49-F238E27FC236}">
                <a16:creationId xmlns:a16="http://schemas.microsoft.com/office/drawing/2014/main" id="{73C2CFE4-CDFB-BB67-0158-07A9CFA6300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80087" y="623978"/>
            <a:ext cx="758823" cy="834705"/>
          </a:xfrm>
          <a:prstGeom prst="rect">
            <a:avLst/>
          </a:prstGeom>
        </p:spPr>
      </p:pic>
      <p:pic>
        <p:nvPicPr>
          <p:cNvPr id="29" name="Gráfico 28">
            <a:extLst>
              <a:ext uri="{FF2B5EF4-FFF2-40B4-BE49-F238E27FC236}">
                <a16:creationId xmlns:a16="http://schemas.microsoft.com/office/drawing/2014/main" id="{2439A869-0973-59AF-2465-7A37754F43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80087" y="2041203"/>
            <a:ext cx="758823" cy="834705"/>
          </a:xfrm>
          <a:prstGeom prst="rect">
            <a:avLst/>
          </a:prstGeom>
        </p:spPr>
      </p:pic>
      <p:pic>
        <p:nvPicPr>
          <p:cNvPr id="30" name="Gráfico 29">
            <a:extLst>
              <a:ext uri="{FF2B5EF4-FFF2-40B4-BE49-F238E27FC236}">
                <a16:creationId xmlns:a16="http://schemas.microsoft.com/office/drawing/2014/main" id="{2EDB9B62-964A-6F6C-6670-A3F4C64DA11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969881" y="3458428"/>
            <a:ext cx="758823" cy="834705"/>
          </a:xfrm>
          <a:prstGeom prst="rect">
            <a:avLst/>
          </a:prstGeom>
        </p:spPr>
      </p:pic>
      <p:pic>
        <p:nvPicPr>
          <p:cNvPr id="21" name="Gráfico 20">
            <a:extLst>
              <a:ext uri="{FF2B5EF4-FFF2-40B4-BE49-F238E27FC236}">
                <a16:creationId xmlns:a16="http://schemas.microsoft.com/office/drawing/2014/main" id="{1736F478-4162-E03A-7795-7E197078E3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28563" y="4897271"/>
            <a:ext cx="758823" cy="834705"/>
          </a:xfrm>
          <a:prstGeom prst="rect">
            <a:avLst/>
          </a:prstGeom>
        </p:spPr>
      </p:pic>
      <p:sp>
        <p:nvSpPr>
          <p:cNvPr id="5" name="Freeform: Shape 4">
            <a:extLst>
              <a:ext uri="{FF2B5EF4-FFF2-40B4-BE49-F238E27FC236}">
                <a16:creationId xmlns:a16="http://schemas.microsoft.com/office/drawing/2014/main" id="{FA5ABEC9-A48E-4837-84A8-595077944381}"/>
              </a:ext>
            </a:extLst>
          </p:cNvPr>
          <p:cNvSpPr/>
          <p:nvPr userDrawn="1"/>
        </p:nvSpPr>
        <p:spPr>
          <a:xfrm flipV="1">
            <a:off x="1" y="0"/>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37861 w 12192000"/>
              <a:gd name="connsiteY34" fmla="*/ 3046668 h 6858000"/>
              <a:gd name="connsiteX35" fmla="*/ 6207618 w 12192000"/>
              <a:gd name="connsiteY35" fmla="*/ 3043109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0309" y="3093509"/>
                  <a:pt x="6237861" y="3046668"/>
                </a:cubicBezTo>
                <a:lnTo>
                  <a:pt x="6207618" y="3043109"/>
                </a:lnTo>
                <a:cubicBezTo>
                  <a:pt x="6244175" y="2979790"/>
                  <a:pt x="6292638" y="2897422"/>
                  <a:pt x="6329195" y="2834103"/>
                </a:cubicBezTo>
                <a:lnTo>
                  <a:pt x="7965465" y="0"/>
                </a:lnTo>
                <a:close/>
                <a:moveTo>
                  <a:pt x="0" y="0"/>
                </a:moveTo>
                <a:lnTo>
                  <a:pt x="7965461" y="0"/>
                </a:lnTo>
                <a:lnTo>
                  <a:pt x="6331536" y="2830043"/>
                </a:lnTo>
                <a:lnTo>
                  <a:pt x="6210400" y="3039855"/>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0" name="Group 9">
            <a:extLst>
              <a:ext uri="{FF2B5EF4-FFF2-40B4-BE49-F238E27FC236}">
                <a16:creationId xmlns:a16="http://schemas.microsoft.com/office/drawing/2014/main" id="{5FBCDB4F-0EF1-4F5A-921F-48067437B317}"/>
              </a:ext>
            </a:extLst>
          </p:cNvPr>
          <p:cNvGrpSpPr/>
          <p:nvPr userDrawn="1"/>
        </p:nvGrpSpPr>
        <p:grpSpPr>
          <a:xfrm>
            <a:off x="2305770" y="910846"/>
            <a:ext cx="9886231" cy="5947154"/>
            <a:chOff x="2305770" y="910846"/>
            <a:chExt cx="9886231" cy="5947154"/>
          </a:xfrm>
        </p:grpSpPr>
        <p:sp>
          <p:nvSpPr>
            <p:cNvPr id="6" name="Freeform: Shape 5">
              <a:extLst>
                <a:ext uri="{FF2B5EF4-FFF2-40B4-BE49-F238E27FC236}">
                  <a16:creationId xmlns:a16="http://schemas.microsoft.com/office/drawing/2014/main" id="{8580BE83-7345-4E7B-8A5A-25943CBB1F75}"/>
                </a:ext>
              </a:extLst>
            </p:cNvPr>
            <p:cNvSpPr/>
            <p:nvPr userDrawn="1"/>
          </p:nvSpPr>
          <p:spPr>
            <a:xfrm>
              <a:off x="230577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51995021-51F4-4090-995F-F9F62C5A08EE}"/>
                </a:ext>
              </a:extLst>
            </p:cNvPr>
            <p:cNvSpPr/>
            <p:nvPr userDrawn="1"/>
          </p:nvSpPr>
          <p:spPr>
            <a:xfrm>
              <a:off x="6706674"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F6E4FD22-7B0E-4EF3-8EB2-9063E40E46F8}"/>
                </a:ext>
              </a:extLst>
            </p:cNvPr>
            <p:cNvSpPr/>
            <p:nvPr userDrawn="1"/>
          </p:nvSpPr>
          <p:spPr>
            <a:xfrm>
              <a:off x="11502472"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9" name="Picture Placeholder 6">
            <a:extLst>
              <a:ext uri="{FF2B5EF4-FFF2-40B4-BE49-F238E27FC236}">
                <a16:creationId xmlns:a16="http://schemas.microsoft.com/office/drawing/2014/main" id="{90BCE6B3-FD7D-41B8-A057-BE4FB7C5824D}"/>
              </a:ext>
            </a:extLst>
          </p:cNvPr>
          <p:cNvSpPr>
            <a:spLocks noGrp="1"/>
          </p:cNvSpPr>
          <p:nvPr>
            <p:ph type="pic" sz="quarter" idx="10" hasCustomPrompt="1"/>
          </p:nvPr>
        </p:nvSpPr>
        <p:spPr>
          <a:xfrm>
            <a:off x="3720547" y="1200849"/>
            <a:ext cx="4750911" cy="4456302"/>
          </a:xfrm>
          <a:custGeom>
            <a:avLst/>
            <a:gdLst>
              <a:gd name="connsiteX0" fmla="*/ 0 w 4750911"/>
              <a:gd name="connsiteY0" fmla="*/ 0 h 4456302"/>
              <a:gd name="connsiteX1" fmla="*/ 4750911 w 4750911"/>
              <a:gd name="connsiteY1" fmla="*/ 0 h 4456302"/>
              <a:gd name="connsiteX2" fmla="*/ 4750911 w 4750911"/>
              <a:gd name="connsiteY2" fmla="*/ 4456302 h 4456302"/>
              <a:gd name="connsiteX3" fmla="*/ 0 w 4750911"/>
              <a:gd name="connsiteY3" fmla="*/ 4456302 h 4456302"/>
            </a:gdLst>
            <a:ahLst/>
            <a:cxnLst>
              <a:cxn ang="0">
                <a:pos x="connsiteX0" y="connsiteY0"/>
              </a:cxn>
              <a:cxn ang="0">
                <a:pos x="connsiteX1" y="connsiteY1"/>
              </a:cxn>
              <a:cxn ang="0">
                <a:pos x="connsiteX2" y="connsiteY2"/>
              </a:cxn>
              <a:cxn ang="0">
                <a:pos x="connsiteX3" y="connsiteY3"/>
              </a:cxn>
            </a:cxnLst>
            <a:rect l="l" t="t" r="r" b="b"/>
            <a:pathLst>
              <a:path w="4750911" h="4456302">
                <a:moveTo>
                  <a:pt x="0" y="0"/>
                </a:moveTo>
                <a:lnTo>
                  <a:pt x="4750911" y="0"/>
                </a:lnTo>
                <a:lnTo>
                  <a:pt x="4750911" y="4456302"/>
                </a:lnTo>
                <a:lnTo>
                  <a:pt x="0" y="4456302"/>
                </a:lnTo>
                <a:close/>
              </a:path>
            </a:pathLst>
          </a:custGeom>
          <a:noFill/>
          <a:effectLst>
            <a:outerShdw blurRad="952500" dist="876300" dir="5400000" sx="87000" sy="87000" algn="t"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13" name="Gráfico 12">
            <a:extLst>
              <a:ext uri="{FF2B5EF4-FFF2-40B4-BE49-F238E27FC236}">
                <a16:creationId xmlns:a16="http://schemas.microsoft.com/office/drawing/2014/main" id="{75F0AF44-B42E-3C52-8C03-A11A69831F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4570" y="197566"/>
            <a:ext cx="758823" cy="834705"/>
          </a:xfrm>
          <a:prstGeom prst="rect">
            <a:avLst/>
          </a:prstGeom>
        </p:spPr>
      </p:pic>
      <p:pic>
        <p:nvPicPr>
          <p:cNvPr id="14" name="Gráfico 13">
            <a:extLst>
              <a:ext uri="{FF2B5EF4-FFF2-40B4-BE49-F238E27FC236}">
                <a16:creationId xmlns:a16="http://schemas.microsoft.com/office/drawing/2014/main" id="{FB59185F-7D37-14F7-3896-DDE196E940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4570" y="1549501"/>
            <a:ext cx="758823" cy="834705"/>
          </a:xfrm>
          <a:prstGeom prst="rect">
            <a:avLst/>
          </a:prstGeom>
        </p:spPr>
      </p:pic>
      <p:pic>
        <p:nvPicPr>
          <p:cNvPr id="15" name="Gráfico 14">
            <a:extLst>
              <a:ext uri="{FF2B5EF4-FFF2-40B4-BE49-F238E27FC236}">
                <a16:creationId xmlns:a16="http://schemas.microsoft.com/office/drawing/2014/main" id="{2C153148-F729-9184-522A-004178D7F02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4569" y="2901436"/>
            <a:ext cx="758823" cy="834705"/>
          </a:xfrm>
          <a:prstGeom prst="rect">
            <a:avLst/>
          </a:prstGeom>
        </p:spPr>
      </p:pic>
      <p:pic>
        <p:nvPicPr>
          <p:cNvPr id="16" name="Gráfico 15">
            <a:extLst>
              <a:ext uri="{FF2B5EF4-FFF2-40B4-BE49-F238E27FC236}">
                <a16:creationId xmlns:a16="http://schemas.microsoft.com/office/drawing/2014/main" id="{A318CB18-8B61-B1B9-21A7-2ADA60A175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4568" y="4203750"/>
            <a:ext cx="758823" cy="834705"/>
          </a:xfrm>
          <a:prstGeom prst="rect">
            <a:avLst/>
          </a:prstGeom>
        </p:spPr>
      </p:pic>
      <p:pic>
        <p:nvPicPr>
          <p:cNvPr id="17" name="Gráfico 16">
            <a:extLst>
              <a:ext uri="{FF2B5EF4-FFF2-40B4-BE49-F238E27FC236}">
                <a16:creationId xmlns:a16="http://schemas.microsoft.com/office/drawing/2014/main" id="{C1E6A4A5-0046-3A58-AABA-186FC23554F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14568" y="5485659"/>
            <a:ext cx="758823" cy="834705"/>
          </a:xfrm>
          <a:prstGeom prst="rect">
            <a:avLst/>
          </a:prstGeom>
        </p:spPr>
      </p:pic>
      <p:pic>
        <p:nvPicPr>
          <p:cNvPr id="18" name="Gráfico 17">
            <a:extLst>
              <a:ext uri="{FF2B5EF4-FFF2-40B4-BE49-F238E27FC236}">
                <a16:creationId xmlns:a16="http://schemas.microsoft.com/office/drawing/2014/main" id="{6A5EC787-0553-9313-5FB7-E0A5C23D65D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38770" y="645596"/>
            <a:ext cx="758823" cy="834705"/>
          </a:xfrm>
          <a:prstGeom prst="rect">
            <a:avLst/>
          </a:prstGeom>
        </p:spPr>
      </p:pic>
      <p:pic>
        <p:nvPicPr>
          <p:cNvPr id="19" name="Gráfico 18">
            <a:extLst>
              <a:ext uri="{FF2B5EF4-FFF2-40B4-BE49-F238E27FC236}">
                <a16:creationId xmlns:a16="http://schemas.microsoft.com/office/drawing/2014/main" id="{DCB6C434-A2A0-515A-7FAF-077563D054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38770" y="2062821"/>
            <a:ext cx="758823" cy="834705"/>
          </a:xfrm>
          <a:prstGeom prst="rect">
            <a:avLst/>
          </a:prstGeom>
        </p:spPr>
      </p:pic>
      <p:pic>
        <p:nvPicPr>
          <p:cNvPr id="20" name="Gráfico 19">
            <a:extLst>
              <a:ext uri="{FF2B5EF4-FFF2-40B4-BE49-F238E27FC236}">
                <a16:creationId xmlns:a16="http://schemas.microsoft.com/office/drawing/2014/main" id="{71496317-951A-FC98-67EE-2D683E89243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28564" y="3480046"/>
            <a:ext cx="758823" cy="834705"/>
          </a:xfrm>
          <a:prstGeom prst="rect">
            <a:avLst/>
          </a:prstGeom>
        </p:spPr>
      </p:pic>
      <p:pic>
        <p:nvPicPr>
          <p:cNvPr id="32" name="Gráfico 31">
            <a:extLst>
              <a:ext uri="{FF2B5EF4-FFF2-40B4-BE49-F238E27FC236}">
                <a16:creationId xmlns:a16="http://schemas.microsoft.com/office/drawing/2014/main" id="{BA3A446B-3BD4-C5FF-8841-83CC5783F7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64090" y="197566"/>
            <a:ext cx="758823" cy="834705"/>
          </a:xfrm>
          <a:prstGeom prst="rect">
            <a:avLst/>
          </a:prstGeom>
        </p:spPr>
      </p:pic>
      <p:pic>
        <p:nvPicPr>
          <p:cNvPr id="33" name="Gráfico 32">
            <a:extLst>
              <a:ext uri="{FF2B5EF4-FFF2-40B4-BE49-F238E27FC236}">
                <a16:creationId xmlns:a16="http://schemas.microsoft.com/office/drawing/2014/main" id="{CC0BCE4C-433F-3570-2F90-472EDD8904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364090" y="1549501"/>
            <a:ext cx="758823" cy="834705"/>
          </a:xfrm>
          <a:prstGeom prst="rect">
            <a:avLst/>
          </a:prstGeom>
        </p:spPr>
      </p:pic>
      <p:pic>
        <p:nvPicPr>
          <p:cNvPr id="37" name="Gráfico 36">
            <a:extLst>
              <a:ext uri="{FF2B5EF4-FFF2-40B4-BE49-F238E27FC236}">
                <a16:creationId xmlns:a16="http://schemas.microsoft.com/office/drawing/2014/main" id="{FBD61C56-DE59-CFB4-C02C-E6F360092C7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88290" y="645596"/>
            <a:ext cx="758823" cy="834705"/>
          </a:xfrm>
          <a:prstGeom prst="rect">
            <a:avLst/>
          </a:prstGeom>
        </p:spPr>
      </p:pic>
      <p:pic>
        <p:nvPicPr>
          <p:cNvPr id="40" name="Gráfico 39">
            <a:extLst>
              <a:ext uri="{FF2B5EF4-FFF2-40B4-BE49-F238E27FC236}">
                <a16:creationId xmlns:a16="http://schemas.microsoft.com/office/drawing/2014/main" id="{4DD09EFB-B721-E4D7-955A-D527D3F4AF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19367" y="144604"/>
            <a:ext cx="758823" cy="834705"/>
          </a:xfrm>
          <a:prstGeom prst="rect">
            <a:avLst/>
          </a:prstGeom>
        </p:spPr>
      </p:pic>
    </p:spTree>
    <p:extLst>
      <p:ext uri="{BB962C8B-B14F-4D97-AF65-F5344CB8AC3E}">
        <p14:creationId xmlns:p14="http://schemas.microsoft.com/office/powerpoint/2010/main" val="73473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250" fill="hold"/>
                                        <p:tgtEl>
                                          <p:spTgt spid="9"/>
                                        </p:tgtEl>
                                        <p:attrNameLst>
                                          <p:attrName>ppt_x</p:attrName>
                                        </p:attrNameLst>
                                      </p:cBhvr>
                                      <p:tavLst>
                                        <p:tav tm="0">
                                          <p:val>
                                            <p:strVal val="#ppt_x"/>
                                          </p:val>
                                        </p:tav>
                                        <p:tav tm="100000">
                                          <p:val>
                                            <p:strVal val="#ppt_x"/>
                                          </p:val>
                                        </p:tav>
                                      </p:tavLst>
                                    </p:anim>
                                    <p:anim calcmode="lin" valueType="num">
                                      <p:cBhvr additive="base">
                                        <p:cTn id="12" dur="125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bg>
      <p:bgPr>
        <a:solidFill>
          <a:schemeClr val="accent4"/>
        </a:solidFill>
        <a:effectLst/>
      </p:bgPr>
    </p:bg>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2E50E38C-5C54-4DC0-81A3-D7A5EF9F99B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grpSp>
        <p:nvGrpSpPr>
          <p:cNvPr id="19" name="Group 18">
            <a:extLst>
              <a:ext uri="{FF2B5EF4-FFF2-40B4-BE49-F238E27FC236}">
                <a16:creationId xmlns:a16="http://schemas.microsoft.com/office/drawing/2014/main" id="{750471F3-6FB8-4957-9A2A-2DC6F6A78373}"/>
              </a:ext>
            </a:extLst>
          </p:cNvPr>
          <p:cNvGrpSpPr/>
          <p:nvPr userDrawn="1"/>
        </p:nvGrpSpPr>
        <p:grpSpPr>
          <a:xfrm>
            <a:off x="9610762" y="6336040"/>
            <a:ext cx="1826059" cy="261610"/>
            <a:chOff x="9610761" y="6336040"/>
            <a:chExt cx="1826059" cy="261610"/>
          </a:xfrm>
        </p:grpSpPr>
        <p:sp>
          <p:nvSpPr>
            <p:cNvPr id="20" name="TextBox 19">
              <a:extLst>
                <a:ext uri="{FF2B5EF4-FFF2-40B4-BE49-F238E27FC236}">
                  <a16:creationId xmlns:a16="http://schemas.microsoft.com/office/drawing/2014/main" id="{B5398836-987A-4C13-942A-0924196C8EA8}"/>
                </a:ext>
              </a:extLst>
            </p:cNvPr>
            <p:cNvSpPr txBox="1"/>
            <p:nvPr/>
          </p:nvSpPr>
          <p:spPr>
            <a:xfrm>
              <a:off x="9610761" y="6336040"/>
              <a:ext cx="848309" cy="261610"/>
            </a:xfrm>
            <a:prstGeom prst="rect">
              <a:avLst/>
            </a:prstGeom>
            <a:noFill/>
          </p:spPr>
          <p:txBody>
            <a:bodyPr wrap="none" rtlCol="0">
              <a:spAutoFit/>
            </a:bodyPr>
            <a:lstStyle/>
            <a:p>
              <a:r>
                <a:rPr lang="en-US" sz="1100">
                  <a:solidFill>
                    <a:schemeClr val="bg1"/>
                  </a:solidFill>
                  <a:latin typeface="+mj-lt"/>
                </a:rPr>
                <a:t>Find us on</a:t>
              </a:r>
              <a:endParaRPr lang="en-GB" sz="1100" b="1">
                <a:solidFill>
                  <a:schemeClr val="bg1"/>
                </a:solidFill>
                <a:latin typeface="+mj-lt"/>
              </a:endParaRPr>
            </a:p>
          </p:txBody>
        </p:sp>
        <p:grpSp>
          <p:nvGrpSpPr>
            <p:cNvPr id="22" name="Group 21">
              <a:extLst>
                <a:ext uri="{FF2B5EF4-FFF2-40B4-BE49-F238E27FC236}">
                  <a16:creationId xmlns:a16="http://schemas.microsoft.com/office/drawing/2014/main" id="{B15DA9C8-B4B5-4572-9F58-4B984D569811}"/>
                </a:ext>
              </a:extLst>
            </p:cNvPr>
            <p:cNvGrpSpPr/>
            <p:nvPr/>
          </p:nvGrpSpPr>
          <p:grpSpPr>
            <a:xfrm>
              <a:off x="10556608" y="6396171"/>
              <a:ext cx="880212" cy="141333"/>
              <a:chOff x="3707677" y="6319154"/>
              <a:chExt cx="1077507" cy="173012"/>
            </a:xfrm>
          </p:grpSpPr>
          <p:sp>
            <p:nvSpPr>
              <p:cNvPr id="23" name="Freeform: Shape 22">
                <a:extLst>
                  <a:ext uri="{FF2B5EF4-FFF2-40B4-BE49-F238E27FC236}">
                    <a16:creationId xmlns:a16="http://schemas.microsoft.com/office/drawing/2014/main" id="{BFC2F70A-BB9D-49D5-9920-B91FF3661937}"/>
                  </a:ext>
                </a:extLst>
              </p:cNvPr>
              <p:cNvSpPr/>
              <p:nvPr/>
            </p:nvSpPr>
            <p:spPr>
              <a:xfrm>
                <a:off x="3707677" y="6319154"/>
                <a:ext cx="173012" cy="173012"/>
              </a:xfrm>
              <a:custGeom>
                <a:avLst/>
                <a:gdLst>
                  <a:gd name="connsiteX0" fmla="*/ 6505575 w 6505575"/>
                  <a:gd name="connsiteY0" fmla="*/ 3252788 h 6505575"/>
                  <a:gd name="connsiteX1" fmla="*/ 3252788 w 6505575"/>
                  <a:gd name="connsiteY1" fmla="*/ 0 h 6505575"/>
                  <a:gd name="connsiteX2" fmla="*/ 0 w 6505575"/>
                  <a:gd name="connsiteY2" fmla="*/ 3252788 h 6505575"/>
                  <a:gd name="connsiteX3" fmla="*/ 3252788 w 6505575"/>
                  <a:gd name="connsiteY3" fmla="*/ 6505575 h 6505575"/>
                  <a:gd name="connsiteX4" fmla="*/ 3309966 w 6505575"/>
                  <a:gd name="connsiteY4" fmla="*/ 6504831 h 6505575"/>
                  <a:gd name="connsiteX5" fmla="*/ 3309966 w 6505575"/>
                  <a:gd name="connsiteY5" fmla="*/ 3972673 h 6505575"/>
                  <a:gd name="connsiteX6" fmla="*/ 2611124 w 6505575"/>
                  <a:gd name="connsiteY6" fmla="*/ 3972673 h 6505575"/>
                  <a:gd name="connsiteX7" fmla="*/ 2611124 w 6505575"/>
                  <a:gd name="connsiteY7" fmla="*/ 3158236 h 6505575"/>
                  <a:gd name="connsiteX8" fmla="*/ 3309966 w 6505575"/>
                  <a:gd name="connsiteY8" fmla="*/ 3158236 h 6505575"/>
                  <a:gd name="connsiteX9" fmla="*/ 3309966 w 6505575"/>
                  <a:gd name="connsiteY9" fmla="*/ 2558910 h 6505575"/>
                  <a:gd name="connsiteX10" fmla="*/ 4354306 w 6505575"/>
                  <a:gd name="connsiteY10" fmla="*/ 1485534 h 6505575"/>
                  <a:gd name="connsiteX11" fmla="*/ 4980831 w 6505575"/>
                  <a:gd name="connsiteY11" fmla="*/ 1517547 h 6505575"/>
                  <a:gd name="connsiteX12" fmla="*/ 4980831 w 6505575"/>
                  <a:gd name="connsiteY12" fmla="*/ 2243985 h 6505575"/>
                  <a:gd name="connsiteX13" fmla="*/ 4553287 w 6505575"/>
                  <a:gd name="connsiteY13" fmla="*/ 2243985 h 6505575"/>
                  <a:gd name="connsiteX14" fmla="*/ 4150659 w 6505575"/>
                  <a:gd name="connsiteY14" fmla="*/ 2639515 h 6505575"/>
                  <a:gd name="connsiteX15" fmla="*/ 4150659 w 6505575"/>
                  <a:gd name="connsiteY15" fmla="*/ 3158236 h 6505575"/>
                  <a:gd name="connsiteX16" fmla="*/ 4957206 w 6505575"/>
                  <a:gd name="connsiteY16" fmla="*/ 3158236 h 6505575"/>
                  <a:gd name="connsiteX17" fmla="*/ 4852082 w 6505575"/>
                  <a:gd name="connsiteY17" fmla="*/ 3972673 h 6505575"/>
                  <a:gd name="connsiteX18" fmla="*/ 4150659 w 6505575"/>
                  <a:gd name="connsiteY18" fmla="*/ 3972673 h 6505575"/>
                  <a:gd name="connsiteX19" fmla="*/ 4150659 w 6505575"/>
                  <a:gd name="connsiteY19" fmla="*/ 6379903 h 6505575"/>
                  <a:gd name="connsiteX20" fmla="*/ 6505575 w 6505575"/>
                  <a:gd name="connsiteY20" fmla="*/ 325278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6505575" y="3252788"/>
                    </a:moveTo>
                    <a:cubicBezTo>
                      <a:pt x="6505575" y="1456597"/>
                      <a:pt x="5048978" y="0"/>
                      <a:pt x="3252788" y="0"/>
                    </a:cubicBezTo>
                    <a:cubicBezTo>
                      <a:pt x="1456597" y="0"/>
                      <a:pt x="0" y="1456597"/>
                      <a:pt x="0" y="3252788"/>
                    </a:cubicBezTo>
                    <a:cubicBezTo>
                      <a:pt x="0" y="5048978"/>
                      <a:pt x="1456597" y="6505575"/>
                      <a:pt x="3252788" y="6505575"/>
                    </a:cubicBezTo>
                    <a:cubicBezTo>
                      <a:pt x="3271897" y="6505575"/>
                      <a:pt x="3290906" y="6505178"/>
                      <a:pt x="3309966" y="6504831"/>
                    </a:cubicBezTo>
                    <a:lnTo>
                      <a:pt x="3309966" y="3972673"/>
                    </a:lnTo>
                    <a:lnTo>
                      <a:pt x="2611124" y="3972673"/>
                    </a:lnTo>
                    <a:lnTo>
                      <a:pt x="2611124" y="3158236"/>
                    </a:lnTo>
                    <a:lnTo>
                      <a:pt x="3309966" y="3158236"/>
                    </a:lnTo>
                    <a:lnTo>
                      <a:pt x="3309966" y="2558910"/>
                    </a:lnTo>
                    <a:cubicBezTo>
                      <a:pt x="3309966" y="1863841"/>
                      <a:pt x="3734283" y="1485534"/>
                      <a:pt x="4354306" y="1485534"/>
                    </a:cubicBezTo>
                    <a:cubicBezTo>
                      <a:pt x="4651214" y="1485534"/>
                      <a:pt x="4906430" y="1507670"/>
                      <a:pt x="4980831" y="1517547"/>
                    </a:cubicBezTo>
                    <a:lnTo>
                      <a:pt x="4980831" y="2243985"/>
                    </a:lnTo>
                    <a:lnTo>
                      <a:pt x="4553287" y="2243985"/>
                    </a:lnTo>
                    <a:cubicBezTo>
                      <a:pt x="4215977" y="2243985"/>
                      <a:pt x="4150659" y="2404301"/>
                      <a:pt x="4150659" y="2639515"/>
                    </a:cubicBezTo>
                    <a:lnTo>
                      <a:pt x="4150659" y="3158236"/>
                    </a:lnTo>
                    <a:lnTo>
                      <a:pt x="4957206" y="3158236"/>
                    </a:lnTo>
                    <a:lnTo>
                      <a:pt x="4852082" y="3972673"/>
                    </a:lnTo>
                    <a:lnTo>
                      <a:pt x="4150659" y="3972673"/>
                    </a:lnTo>
                    <a:lnTo>
                      <a:pt x="4150659" y="6379903"/>
                    </a:lnTo>
                    <a:cubicBezTo>
                      <a:pt x="5510273" y="5990130"/>
                      <a:pt x="6505575" y="4737527"/>
                      <a:pt x="6505575" y="325278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4" name="Graphic 39">
                <a:extLst>
                  <a:ext uri="{FF2B5EF4-FFF2-40B4-BE49-F238E27FC236}">
                    <a16:creationId xmlns:a16="http://schemas.microsoft.com/office/drawing/2014/main" id="{4A635E53-30B5-49D6-AA04-5F38A16BC28D}"/>
                  </a:ext>
                </a:extLst>
              </p:cNvPr>
              <p:cNvSpPr/>
              <p:nvPr/>
            </p:nvSpPr>
            <p:spPr>
              <a:xfrm>
                <a:off x="4310675" y="6319154"/>
                <a:ext cx="173012" cy="173012"/>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5" name="Freeform: Shape 24">
                <a:extLst>
                  <a:ext uri="{FF2B5EF4-FFF2-40B4-BE49-F238E27FC236}">
                    <a16:creationId xmlns:a16="http://schemas.microsoft.com/office/drawing/2014/main" id="{29550256-CE3C-4469-ABEC-4EBDA5B9012B}"/>
                  </a:ext>
                </a:extLst>
              </p:cNvPr>
              <p:cNvSpPr/>
              <p:nvPr/>
            </p:nvSpPr>
            <p:spPr>
              <a:xfrm>
                <a:off x="4612172" y="6319154"/>
                <a:ext cx="173012" cy="173012"/>
              </a:xfrm>
              <a:custGeom>
                <a:avLst/>
                <a:gdLst>
                  <a:gd name="connsiteX0" fmla="*/ 2847628 w 6505575"/>
                  <a:gd name="connsiteY0" fmla="*/ 2643386 h 6505575"/>
                  <a:gd name="connsiteX1" fmla="*/ 3905718 w 6505575"/>
                  <a:gd name="connsiteY1" fmla="*/ 3252787 h 6505575"/>
                  <a:gd name="connsiteX2" fmla="*/ 2847628 w 6505575"/>
                  <a:gd name="connsiteY2" fmla="*/ 3862189 h 6505575"/>
                  <a:gd name="connsiteX3" fmla="*/ 3252788 w 6505575"/>
                  <a:gd name="connsiteY3" fmla="*/ 1829693 h 6505575"/>
                  <a:gd name="connsiteX4" fmla="*/ 1662279 w 6505575"/>
                  <a:gd name="connsiteY4" fmla="*/ 1913425 h 6505575"/>
                  <a:gd name="connsiteX5" fmla="*/ 1303974 w 6505575"/>
                  <a:gd name="connsiteY5" fmla="*/ 2275055 h 6505575"/>
                  <a:gd name="connsiteX6" fmla="*/ 1220242 w 6505575"/>
                  <a:gd name="connsiteY6" fmla="*/ 3252788 h 6505575"/>
                  <a:gd name="connsiteX7" fmla="*/ 1303974 w 6505575"/>
                  <a:gd name="connsiteY7" fmla="*/ 4230520 h 6505575"/>
                  <a:gd name="connsiteX8" fmla="*/ 1662279 w 6505575"/>
                  <a:gd name="connsiteY8" fmla="*/ 4588825 h 6505575"/>
                  <a:gd name="connsiteX9" fmla="*/ 3252788 w 6505575"/>
                  <a:gd name="connsiteY9" fmla="*/ 4675882 h 6505575"/>
                  <a:gd name="connsiteX10" fmla="*/ 4843296 w 6505575"/>
                  <a:gd name="connsiteY10" fmla="*/ 4592150 h 6505575"/>
                  <a:gd name="connsiteX11" fmla="*/ 5201601 w 6505575"/>
                  <a:gd name="connsiteY11" fmla="*/ 4233895 h 6505575"/>
                  <a:gd name="connsiteX12" fmla="*/ 5285284 w 6505575"/>
                  <a:gd name="connsiteY12" fmla="*/ 3256113 h 6505575"/>
                  <a:gd name="connsiteX13" fmla="*/ 5201601 w 6505575"/>
                  <a:gd name="connsiteY13" fmla="*/ 2275055 h 6505575"/>
                  <a:gd name="connsiteX14" fmla="*/ 4843296 w 6505575"/>
                  <a:gd name="connsiteY14" fmla="*/ 1916750 h 6505575"/>
                  <a:gd name="connsiteX15" fmla="*/ 3252788 w 6505575"/>
                  <a:gd name="connsiteY15" fmla="*/ 1829693 h 6505575"/>
                  <a:gd name="connsiteX16" fmla="*/ 3252788 w 6505575"/>
                  <a:gd name="connsiteY16" fmla="*/ 0 h 6505575"/>
                  <a:gd name="connsiteX17" fmla="*/ 6505575 w 6505575"/>
                  <a:gd name="connsiteY17" fmla="*/ 3252788 h 6505575"/>
                  <a:gd name="connsiteX18" fmla="*/ 3252788 w 6505575"/>
                  <a:gd name="connsiteY18" fmla="*/ 6505575 h 6505575"/>
                  <a:gd name="connsiteX19" fmla="*/ 0 w 6505575"/>
                  <a:gd name="connsiteY19" fmla="*/ 3252788 h 6505575"/>
                  <a:gd name="connsiteX20" fmla="*/ 3252788 w 6505575"/>
                  <a:gd name="connsiteY20"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505575" h="6505575">
                    <a:moveTo>
                      <a:pt x="2847628" y="2643386"/>
                    </a:moveTo>
                    <a:lnTo>
                      <a:pt x="3905718" y="3252787"/>
                    </a:lnTo>
                    <a:lnTo>
                      <a:pt x="2847628" y="3862189"/>
                    </a:lnTo>
                    <a:close/>
                    <a:moveTo>
                      <a:pt x="3252788" y="1829693"/>
                    </a:moveTo>
                    <a:cubicBezTo>
                      <a:pt x="3252788" y="1829693"/>
                      <a:pt x="1980381" y="1829693"/>
                      <a:pt x="1662279" y="1913425"/>
                    </a:cubicBezTo>
                    <a:cubicBezTo>
                      <a:pt x="1491490" y="1960279"/>
                      <a:pt x="1350828" y="2100941"/>
                      <a:pt x="1303974" y="2275055"/>
                    </a:cubicBezTo>
                    <a:cubicBezTo>
                      <a:pt x="1220242" y="2593157"/>
                      <a:pt x="1220242" y="3252788"/>
                      <a:pt x="1220242" y="3252788"/>
                    </a:cubicBezTo>
                    <a:cubicBezTo>
                      <a:pt x="1220242" y="3252788"/>
                      <a:pt x="1220242" y="3915793"/>
                      <a:pt x="1303974" y="4230520"/>
                    </a:cubicBezTo>
                    <a:cubicBezTo>
                      <a:pt x="1350878" y="4404635"/>
                      <a:pt x="1488164" y="4541971"/>
                      <a:pt x="1662279" y="4588825"/>
                    </a:cubicBezTo>
                    <a:cubicBezTo>
                      <a:pt x="1983706" y="4675882"/>
                      <a:pt x="3252788" y="4675882"/>
                      <a:pt x="3252788" y="4675882"/>
                    </a:cubicBezTo>
                    <a:cubicBezTo>
                      <a:pt x="3252788" y="4675882"/>
                      <a:pt x="4525195" y="4675882"/>
                      <a:pt x="4843296" y="4592150"/>
                    </a:cubicBezTo>
                    <a:cubicBezTo>
                      <a:pt x="5017411" y="4545296"/>
                      <a:pt x="5154698" y="4408010"/>
                      <a:pt x="5201601" y="4233895"/>
                    </a:cubicBezTo>
                    <a:cubicBezTo>
                      <a:pt x="5285284" y="3915793"/>
                      <a:pt x="5285284" y="3256113"/>
                      <a:pt x="5285284" y="3256113"/>
                    </a:cubicBezTo>
                    <a:cubicBezTo>
                      <a:pt x="5285284" y="3256113"/>
                      <a:pt x="5288659" y="2593157"/>
                      <a:pt x="5201601" y="2275055"/>
                    </a:cubicBezTo>
                    <a:cubicBezTo>
                      <a:pt x="5154698" y="2100941"/>
                      <a:pt x="5017411" y="1963604"/>
                      <a:pt x="4843296" y="1916750"/>
                    </a:cubicBezTo>
                    <a:cubicBezTo>
                      <a:pt x="4525195" y="1829693"/>
                      <a:pt x="3252788" y="1829693"/>
                      <a:pt x="3252788" y="1829693"/>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sp>
            <p:nvSpPr>
              <p:cNvPr id="26" name="Freeform: Shape 25">
                <a:extLst>
                  <a:ext uri="{FF2B5EF4-FFF2-40B4-BE49-F238E27FC236}">
                    <a16:creationId xmlns:a16="http://schemas.microsoft.com/office/drawing/2014/main" id="{82089D39-BCEC-474F-83CE-68C9CB38CF88}"/>
                  </a:ext>
                </a:extLst>
              </p:cNvPr>
              <p:cNvSpPr/>
              <p:nvPr/>
            </p:nvSpPr>
            <p:spPr>
              <a:xfrm>
                <a:off x="4009175" y="6319154"/>
                <a:ext cx="173012" cy="173012"/>
              </a:xfrm>
              <a:custGeom>
                <a:avLst/>
                <a:gdLst>
                  <a:gd name="connsiteX0" fmla="*/ 3252789 w 6505575"/>
                  <a:gd name="connsiteY0" fmla="*/ 2630184 h 6505575"/>
                  <a:gd name="connsiteX1" fmla="*/ 3875393 w 6505575"/>
                  <a:gd name="connsiteY1" fmla="*/ 3252789 h 6505575"/>
                  <a:gd name="connsiteX2" fmla="*/ 3252789 w 6505575"/>
                  <a:gd name="connsiteY2" fmla="*/ 3875393 h 6505575"/>
                  <a:gd name="connsiteX3" fmla="*/ 2630184 w 6505575"/>
                  <a:gd name="connsiteY3" fmla="*/ 3252789 h 6505575"/>
                  <a:gd name="connsiteX4" fmla="*/ 3252789 w 6505575"/>
                  <a:gd name="connsiteY4" fmla="*/ 2630184 h 6505575"/>
                  <a:gd name="connsiteX5" fmla="*/ 3252788 w 6505575"/>
                  <a:gd name="connsiteY5" fmla="*/ 2293668 h 6505575"/>
                  <a:gd name="connsiteX6" fmla="*/ 2293619 w 6505575"/>
                  <a:gd name="connsiteY6" fmla="*/ 3252787 h 6505575"/>
                  <a:gd name="connsiteX7" fmla="*/ 3252788 w 6505575"/>
                  <a:gd name="connsiteY7" fmla="*/ 4211907 h 6505575"/>
                  <a:gd name="connsiteX8" fmla="*/ 4211908 w 6505575"/>
                  <a:gd name="connsiteY8" fmla="*/ 3252787 h 6505575"/>
                  <a:gd name="connsiteX9" fmla="*/ 3252788 w 6505575"/>
                  <a:gd name="connsiteY9" fmla="*/ 2293668 h 6505575"/>
                  <a:gd name="connsiteX10" fmla="*/ 4249828 w 6505575"/>
                  <a:gd name="connsiteY10" fmla="*/ 2031602 h 6505575"/>
                  <a:gd name="connsiteX11" fmla="*/ 4025682 w 6505575"/>
                  <a:gd name="connsiteY11" fmla="*/ 2255747 h 6505575"/>
                  <a:gd name="connsiteX12" fmla="*/ 4249828 w 6505575"/>
                  <a:gd name="connsiteY12" fmla="*/ 2479893 h 6505575"/>
                  <a:gd name="connsiteX13" fmla="*/ 4473973 w 6505575"/>
                  <a:gd name="connsiteY13" fmla="*/ 2255747 h 6505575"/>
                  <a:gd name="connsiteX14" fmla="*/ 4249828 w 6505575"/>
                  <a:gd name="connsiteY14" fmla="*/ 2031602 h 6505575"/>
                  <a:gd name="connsiteX15" fmla="*/ 3252788 w 6505575"/>
                  <a:gd name="connsiteY15" fmla="*/ 1721541 h 6505575"/>
                  <a:gd name="connsiteX16" fmla="*/ 4007566 w 6505575"/>
                  <a:gd name="connsiteY16" fmla="*/ 1732460 h 6505575"/>
                  <a:gd name="connsiteX17" fmla="*/ 4354356 w 6505575"/>
                  <a:gd name="connsiteY17" fmla="*/ 1796736 h 6505575"/>
                  <a:gd name="connsiteX18" fmla="*/ 4569121 w 6505575"/>
                  <a:gd name="connsiteY18" fmla="*/ 1936454 h 6505575"/>
                  <a:gd name="connsiteX19" fmla="*/ 4708839 w 6505575"/>
                  <a:gd name="connsiteY19" fmla="*/ 2151219 h 6505575"/>
                  <a:gd name="connsiteX20" fmla="*/ 4773164 w 6505575"/>
                  <a:gd name="connsiteY20" fmla="*/ 2498059 h 6505575"/>
                  <a:gd name="connsiteX21" fmla="*/ 4784034 w 6505575"/>
                  <a:gd name="connsiteY21" fmla="*/ 3252837 h 6505575"/>
                  <a:gd name="connsiteX22" fmla="*/ 4773164 w 6505575"/>
                  <a:gd name="connsiteY22" fmla="*/ 4007615 h 6505575"/>
                  <a:gd name="connsiteX23" fmla="*/ 4708839 w 6505575"/>
                  <a:gd name="connsiteY23" fmla="*/ 4354405 h 6505575"/>
                  <a:gd name="connsiteX24" fmla="*/ 4354356 w 6505575"/>
                  <a:gd name="connsiteY24" fmla="*/ 4708888 h 6505575"/>
                  <a:gd name="connsiteX25" fmla="*/ 4007516 w 6505575"/>
                  <a:gd name="connsiteY25" fmla="*/ 4773213 h 6505575"/>
                  <a:gd name="connsiteX26" fmla="*/ 3252738 w 6505575"/>
                  <a:gd name="connsiteY26" fmla="*/ 4784083 h 6505575"/>
                  <a:gd name="connsiteX27" fmla="*/ 2498010 w 6505575"/>
                  <a:gd name="connsiteY27" fmla="*/ 4773213 h 6505575"/>
                  <a:gd name="connsiteX28" fmla="*/ 2151170 w 6505575"/>
                  <a:gd name="connsiteY28" fmla="*/ 4708888 h 6505575"/>
                  <a:gd name="connsiteX29" fmla="*/ 1936405 w 6505575"/>
                  <a:gd name="connsiteY29" fmla="*/ 4569170 h 6505575"/>
                  <a:gd name="connsiteX30" fmla="*/ 1796687 w 6505575"/>
                  <a:gd name="connsiteY30" fmla="*/ 4354405 h 6505575"/>
                  <a:gd name="connsiteX31" fmla="*/ 1732411 w 6505575"/>
                  <a:gd name="connsiteY31" fmla="*/ 4007615 h 6505575"/>
                  <a:gd name="connsiteX32" fmla="*/ 1721492 w 6505575"/>
                  <a:gd name="connsiteY32" fmla="*/ 3252837 h 6505575"/>
                  <a:gd name="connsiteX33" fmla="*/ 1732411 w 6505575"/>
                  <a:gd name="connsiteY33" fmla="*/ 2498059 h 6505575"/>
                  <a:gd name="connsiteX34" fmla="*/ 1796687 w 6505575"/>
                  <a:gd name="connsiteY34" fmla="*/ 2151219 h 6505575"/>
                  <a:gd name="connsiteX35" fmla="*/ 1936455 w 6505575"/>
                  <a:gd name="connsiteY35" fmla="*/ 1936454 h 6505575"/>
                  <a:gd name="connsiteX36" fmla="*/ 2151220 w 6505575"/>
                  <a:gd name="connsiteY36" fmla="*/ 1796736 h 6505575"/>
                  <a:gd name="connsiteX37" fmla="*/ 2498010 w 6505575"/>
                  <a:gd name="connsiteY37" fmla="*/ 1732411 h 6505575"/>
                  <a:gd name="connsiteX38" fmla="*/ 3252788 w 6505575"/>
                  <a:gd name="connsiteY38" fmla="*/ 1721541 h 6505575"/>
                  <a:gd name="connsiteX39" fmla="*/ 3252788 w 6505575"/>
                  <a:gd name="connsiteY39" fmla="*/ 1384976 h 6505575"/>
                  <a:gd name="connsiteX40" fmla="*/ 2482722 w 6505575"/>
                  <a:gd name="connsiteY40" fmla="*/ 1396243 h 6505575"/>
                  <a:gd name="connsiteX41" fmla="*/ 2029319 w 6505575"/>
                  <a:gd name="connsiteY41" fmla="*/ 1483052 h 6505575"/>
                  <a:gd name="connsiteX42" fmla="*/ 1698511 w 6505575"/>
                  <a:gd name="connsiteY42" fmla="*/ 1698511 h 6505575"/>
                  <a:gd name="connsiteX43" fmla="*/ 1483002 w 6505575"/>
                  <a:gd name="connsiteY43" fmla="*/ 2029319 h 6505575"/>
                  <a:gd name="connsiteX44" fmla="*/ 1396243 w 6505575"/>
                  <a:gd name="connsiteY44" fmla="*/ 2482722 h 6505575"/>
                  <a:gd name="connsiteX45" fmla="*/ 1384976 w 6505575"/>
                  <a:gd name="connsiteY45" fmla="*/ 3252788 h 6505575"/>
                  <a:gd name="connsiteX46" fmla="*/ 1396292 w 6505575"/>
                  <a:gd name="connsiteY46" fmla="*/ 4022903 h 6505575"/>
                  <a:gd name="connsiteX47" fmla="*/ 1483102 w 6505575"/>
                  <a:gd name="connsiteY47" fmla="*/ 4476256 h 6505575"/>
                  <a:gd name="connsiteX48" fmla="*/ 1698511 w 6505575"/>
                  <a:gd name="connsiteY48" fmla="*/ 4807064 h 6505575"/>
                  <a:gd name="connsiteX49" fmla="*/ 2029369 w 6505575"/>
                  <a:gd name="connsiteY49" fmla="*/ 5022523 h 6505575"/>
                  <a:gd name="connsiteX50" fmla="*/ 2482722 w 6505575"/>
                  <a:gd name="connsiteY50" fmla="*/ 5109332 h 6505575"/>
                  <a:gd name="connsiteX51" fmla="*/ 3252837 w 6505575"/>
                  <a:gd name="connsiteY51" fmla="*/ 5120599 h 6505575"/>
                  <a:gd name="connsiteX52" fmla="*/ 4022903 w 6505575"/>
                  <a:gd name="connsiteY52" fmla="*/ 5109332 h 6505575"/>
                  <a:gd name="connsiteX53" fmla="*/ 4476256 w 6505575"/>
                  <a:gd name="connsiteY53" fmla="*/ 5022523 h 6505575"/>
                  <a:gd name="connsiteX54" fmla="*/ 5022523 w 6505575"/>
                  <a:gd name="connsiteY54" fmla="*/ 4476256 h 6505575"/>
                  <a:gd name="connsiteX55" fmla="*/ 5109332 w 6505575"/>
                  <a:gd name="connsiteY55" fmla="*/ 4022853 h 6505575"/>
                  <a:gd name="connsiteX56" fmla="*/ 5120599 w 6505575"/>
                  <a:gd name="connsiteY56" fmla="*/ 3252788 h 6505575"/>
                  <a:gd name="connsiteX57" fmla="*/ 5109382 w 6505575"/>
                  <a:gd name="connsiteY57" fmla="*/ 2482722 h 6505575"/>
                  <a:gd name="connsiteX58" fmla="*/ 5022523 w 6505575"/>
                  <a:gd name="connsiteY58" fmla="*/ 2029319 h 6505575"/>
                  <a:gd name="connsiteX59" fmla="*/ 4807114 w 6505575"/>
                  <a:gd name="connsiteY59" fmla="*/ 1698511 h 6505575"/>
                  <a:gd name="connsiteX60" fmla="*/ 4476256 w 6505575"/>
                  <a:gd name="connsiteY60" fmla="*/ 1483002 h 6505575"/>
                  <a:gd name="connsiteX61" fmla="*/ 4022853 w 6505575"/>
                  <a:gd name="connsiteY61" fmla="*/ 1396292 h 6505575"/>
                  <a:gd name="connsiteX62" fmla="*/ 3252788 w 6505575"/>
                  <a:gd name="connsiteY62" fmla="*/ 1384976 h 6505575"/>
                  <a:gd name="connsiteX63" fmla="*/ 3252788 w 6505575"/>
                  <a:gd name="connsiteY63" fmla="*/ 0 h 6505575"/>
                  <a:gd name="connsiteX64" fmla="*/ 6505575 w 6505575"/>
                  <a:gd name="connsiteY64" fmla="*/ 3252788 h 6505575"/>
                  <a:gd name="connsiteX65" fmla="*/ 3252788 w 6505575"/>
                  <a:gd name="connsiteY65" fmla="*/ 6505575 h 6505575"/>
                  <a:gd name="connsiteX66" fmla="*/ 0 w 6505575"/>
                  <a:gd name="connsiteY66" fmla="*/ 3252788 h 6505575"/>
                  <a:gd name="connsiteX67" fmla="*/ 3252788 w 6505575"/>
                  <a:gd name="connsiteY67" fmla="*/ 0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05575" h="6505575">
                    <a:moveTo>
                      <a:pt x="3252789" y="2630184"/>
                    </a:moveTo>
                    <a:cubicBezTo>
                      <a:pt x="3596650" y="2630184"/>
                      <a:pt x="3875393" y="2908927"/>
                      <a:pt x="3875393" y="3252789"/>
                    </a:cubicBezTo>
                    <a:cubicBezTo>
                      <a:pt x="3875393" y="3596650"/>
                      <a:pt x="3596650" y="3875393"/>
                      <a:pt x="3252789" y="3875393"/>
                    </a:cubicBezTo>
                    <a:cubicBezTo>
                      <a:pt x="2908926" y="3875393"/>
                      <a:pt x="2630184" y="3596650"/>
                      <a:pt x="2630184" y="3252789"/>
                    </a:cubicBezTo>
                    <a:cubicBezTo>
                      <a:pt x="2630184" y="2908927"/>
                      <a:pt x="2908926" y="2630184"/>
                      <a:pt x="3252789" y="2630184"/>
                    </a:cubicBezTo>
                    <a:close/>
                    <a:moveTo>
                      <a:pt x="3252788" y="2293668"/>
                    </a:moveTo>
                    <a:cubicBezTo>
                      <a:pt x="2723048" y="2293668"/>
                      <a:pt x="2293619" y="2723048"/>
                      <a:pt x="2293619" y="3252787"/>
                    </a:cubicBezTo>
                    <a:cubicBezTo>
                      <a:pt x="2293619" y="3782527"/>
                      <a:pt x="2723048" y="4211907"/>
                      <a:pt x="3252788" y="4211907"/>
                    </a:cubicBezTo>
                    <a:cubicBezTo>
                      <a:pt x="3782478" y="4211907"/>
                      <a:pt x="4211908" y="3782527"/>
                      <a:pt x="4211908" y="3252787"/>
                    </a:cubicBezTo>
                    <a:cubicBezTo>
                      <a:pt x="4211908" y="2723048"/>
                      <a:pt x="3782478" y="2293668"/>
                      <a:pt x="3252788" y="2293668"/>
                    </a:cubicBezTo>
                    <a:close/>
                    <a:moveTo>
                      <a:pt x="4249828" y="2031602"/>
                    </a:moveTo>
                    <a:cubicBezTo>
                      <a:pt x="4126041" y="2031602"/>
                      <a:pt x="4025682" y="2131961"/>
                      <a:pt x="4025682" y="2255747"/>
                    </a:cubicBezTo>
                    <a:cubicBezTo>
                      <a:pt x="4025682" y="2379534"/>
                      <a:pt x="4126041" y="2479893"/>
                      <a:pt x="4249828" y="2479893"/>
                    </a:cubicBezTo>
                    <a:cubicBezTo>
                      <a:pt x="4373614" y="2479893"/>
                      <a:pt x="4473923" y="2379534"/>
                      <a:pt x="4473973" y="2255747"/>
                    </a:cubicBezTo>
                    <a:cubicBezTo>
                      <a:pt x="4473973" y="2131961"/>
                      <a:pt x="4373614" y="2031602"/>
                      <a:pt x="4249828" y="2031602"/>
                    </a:cubicBezTo>
                    <a:close/>
                    <a:moveTo>
                      <a:pt x="3252788" y="1721541"/>
                    </a:moveTo>
                    <a:cubicBezTo>
                      <a:pt x="3751506" y="1721541"/>
                      <a:pt x="3810570" y="1723477"/>
                      <a:pt x="4007566" y="1732460"/>
                    </a:cubicBezTo>
                    <a:cubicBezTo>
                      <a:pt x="4189672" y="1740749"/>
                      <a:pt x="4288542" y="1771175"/>
                      <a:pt x="4354356" y="1796736"/>
                    </a:cubicBezTo>
                    <a:cubicBezTo>
                      <a:pt x="4435507" y="1826665"/>
                      <a:pt x="4508865" y="1874412"/>
                      <a:pt x="4569121" y="1936454"/>
                    </a:cubicBezTo>
                    <a:cubicBezTo>
                      <a:pt x="4631163" y="1996710"/>
                      <a:pt x="4678910" y="2070118"/>
                      <a:pt x="4708839" y="2151219"/>
                    </a:cubicBezTo>
                    <a:cubicBezTo>
                      <a:pt x="4734450" y="2217033"/>
                      <a:pt x="4764875" y="2315953"/>
                      <a:pt x="4773164" y="2498059"/>
                    </a:cubicBezTo>
                    <a:cubicBezTo>
                      <a:pt x="4782148" y="2695005"/>
                      <a:pt x="4784034" y="2754069"/>
                      <a:pt x="4784034" y="3252837"/>
                    </a:cubicBezTo>
                    <a:cubicBezTo>
                      <a:pt x="4784034" y="3751555"/>
                      <a:pt x="4782148" y="3810619"/>
                      <a:pt x="4773164" y="4007615"/>
                    </a:cubicBezTo>
                    <a:cubicBezTo>
                      <a:pt x="4764826" y="4189721"/>
                      <a:pt x="4734400" y="4288591"/>
                      <a:pt x="4708839" y="4354405"/>
                    </a:cubicBezTo>
                    <a:cubicBezTo>
                      <a:pt x="4646003" y="4517302"/>
                      <a:pt x="4517253" y="4646052"/>
                      <a:pt x="4354356" y="4708888"/>
                    </a:cubicBezTo>
                    <a:cubicBezTo>
                      <a:pt x="4288542" y="4734499"/>
                      <a:pt x="4189622" y="4764924"/>
                      <a:pt x="4007516" y="4773213"/>
                    </a:cubicBezTo>
                    <a:cubicBezTo>
                      <a:pt x="3810620" y="4782197"/>
                      <a:pt x="3751556" y="4784083"/>
                      <a:pt x="3252738" y="4784083"/>
                    </a:cubicBezTo>
                    <a:cubicBezTo>
                      <a:pt x="2753970" y="4784083"/>
                      <a:pt x="2694956" y="4782197"/>
                      <a:pt x="2498010" y="4773213"/>
                    </a:cubicBezTo>
                    <a:cubicBezTo>
                      <a:pt x="2315904" y="4764924"/>
                      <a:pt x="2216984" y="4734499"/>
                      <a:pt x="2151170" y="4708888"/>
                    </a:cubicBezTo>
                    <a:cubicBezTo>
                      <a:pt x="2070019" y="4678959"/>
                      <a:pt x="1996661" y="4631212"/>
                      <a:pt x="1936405" y="4569170"/>
                    </a:cubicBezTo>
                    <a:cubicBezTo>
                      <a:pt x="1874363" y="4508914"/>
                      <a:pt x="1826666" y="4435556"/>
                      <a:pt x="1796687" y="4354405"/>
                    </a:cubicBezTo>
                    <a:cubicBezTo>
                      <a:pt x="1771126" y="4288591"/>
                      <a:pt x="1740700" y="4189721"/>
                      <a:pt x="1732411" y="4007615"/>
                    </a:cubicBezTo>
                    <a:cubicBezTo>
                      <a:pt x="1723428" y="3810619"/>
                      <a:pt x="1721492" y="3751555"/>
                      <a:pt x="1721492" y="3252837"/>
                    </a:cubicBezTo>
                    <a:cubicBezTo>
                      <a:pt x="1721492" y="2754069"/>
                      <a:pt x="1723428" y="2695005"/>
                      <a:pt x="1732411" y="2498059"/>
                    </a:cubicBezTo>
                    <a:cubicBezTo>
                      <a:pt x="1740700" y="2315953"/>
                      <a:pt x="1771126" y="2217033"/>
                      <a:pt x="1796687" y="2151219"/>
                    </a:cubicBezTo>
                    <a:cubicBezTo>
                      <a:pt x="1826666" y="2070068"/>
                      <a:pt x="1874413" y="1996710"/>
                      <a:pt x="1936455" y="1936454"/>
                    </a:cubicBezTo>
                    <a:cubicBezTo>
                      <a:pt x="1996661" y="1874412"/>
                      <a:pt x="2070069" y="1826665"/>
                      <a:pt x="2151220" y="1796736"/>
                    </a:cubicBezTo>
                    <a:cubicBezTo>
                      <a:pt x="2216984" y="1771175"/>
                      <a:pt x="2315904" y="1740749"/>
                      <a:pt x="2498010" y="1732411"/>
                    </a:cubicBezTo>
                    <a:cubicBezTo>
                      <a:pt x="2694956" y="1723427"/>
                      <a:pt x="2754020" y="1721541"/>
                      <a:pt x="3252788" y="1721541"/>
                    </a:cubicBezTo>
                    <a:close/>
                    <a:moveTo>
                      <a:pt x="3252788" y="1384976"/>
                    </a:moveTo>
                    <a:cubicBezTo>
                      <a:pt x="2745532" y="1384976"/>
                      <a:pt x="2681902" y="1387160"/>
                      <a:pt x="2482722" y="1396243"/>
                    </a:cubicBezTo>
                    <a:cubicBezTo>
                      <a:pt x="2283890" y="1405326"/>
                      <a:pt x="2148142" y="1436893"/>
                      <a:pt x="2029319" y="1483052"/>
                    </a:cubicBezTo>
                    <a:cubicBezTo>
                      <a:pt x="1904689" y="1529956"/>
                      <a:pt x="1791773" y="1603463"/>
                      <a:pt x="1698511" y="1698511"/>
                    </a:cubicBezTo>
                    <a:cubicBezTo>
                      <a:pt x="1603463" y="1791773"/>
                      <a:pt x="1529906" y="1904689"/>
                      <a:pt x="1483002" y="2029319"/>
                    </a:cubicBezTo>
                    <a:cubicBezTo>
                      <a:pt x="1436843" y="2148142"/>
                      <a:pt x="1405276" y="2283890"/>
                      <a:pt x="1396243" y="2482722"/>
                    </a:cubicBezTo>
                    <a:cubicBezTo>
                      <a:pt x="1387110" y="2681902"/>
                      <a:pt x="1384976" y="2745532"/>
                      <a:pt x="1384976" y="3252788"/>
                    </a:cubicBezTo>
                    <a:cubicBezTo>
                      <a:pt x="1384976" y="3760043"/>
                      <a:pt x="1387110" y="3823673"/>
                      <a:pt x="1396292" y="4022903"/>
                    </a:cubicBezTo>
                    <a:cubicBezTo>
                      <a:pt x="1405326" y="4221685"/>
                      <a:pt x="1436942" y="4357483"/>
                      <a:pt x="1483102" y="4476256"/>
                    </a:cubicBezTo>
                    <a:cubicBezTo>
                      <a:pt x="1530005" y="4600886"/>
                      <a:pt x="1603513" y="4713802"/>
                      <a:pt x="1698511" y="4807064"/>
                    </a:cubicBezTo>
                    <a:cubicBezTo>
                      <a:pt x="1791823" y="4902112"/>
                      <a:pt x="1904689" y="4975620"/>
                      <a:pt x="2029369" y="5022523"/>
                    </a:cubicBezTo>
                    <a:cubicBezTo>
                      <a:pt x="2148142" y="5068683"/>
                      <a:pt x="2283940" y="5100250"/>
                      <a:pt x="2482722" y="5109332"/>
                    </a:cubicBezTo>
                    <a:cubicBezTo>
                      <a:pt x="2681952" y="5118415"/>
                      <a:pt x="2745532" y="5120599"/>
                      <a:pt x="3252837" y="5120599"/>
                    </a:cubicBezTo>
                    <a:cubicBezTo>
                      <a:pt x="3760093" y="5120599"/>
                      <a:pt x="3823723" y="5118415"/>
                      <a:pt x="4022903" y="5109332"/>
                    </a:cubicBezTo>
                    <a:cubicBezTo>
                      <a:pt x="4221685" y="5100250"/>
                      <a:pt x="4357483" y="5068683"/>
                      <a:pt x="4476256" y="5022523"/>
                    </a:cubicBezTo>
                    <a:cubicBezTo>
                      <a:pt x="4727154" y="4925490"/>
                      <a:pt x="4925490" y="4727154"/>
                      <a:pt x="5022523" y="4476256"/>
                    </a:cubicBezTo>
                    <a:cubicBezTo>
                      <a:pt x="5068683" y="4357433"/>
                      <a:pt x="5100299" y="4221685"/>
                      <a:pt x="5109332" y="4022853"/>
                    </a:cubicBezTo>
                    <a:cubicBezTo>
                      <a:pt x="5118465" y="3823673"/>
                      <a:pt x="5120599" y="3760043"/>
                      <a:pt x="5120599" y="3252788"/>
                    </a:cubicBezTo>
                    <a:cubicBezTo>
                      <a:pt x="5120599" y="2745532"/>
                      <a:pt x="5118465" y="2681902"/>
                      <a:pt x="5109382" y="2482722"/>
                    </a:cubicBezTo>
                    <a:cubicBezTo>
                      <a:pt x="5100299" y="2283890"/>
                      <a:pt x="5068732" y="2148142"/>
                      <a:pt x="5022523" y="2029319"/>
                    </a:cubicBezTo>
                    <a:cubicBezTo>
                      <a:pt x="4975669" y="1904689"/>
                      <a:pt x="4902112" y="1791823"/>
                      <a:pt x="4807114" y="1698511"/>
                    </a:cubicBezTo>
                    <a:cubicBezTo>
                      <a:pt x="4713802" y="1603463"/>
                      <a:pt x="4600886" y="1529906"/>
                      <a:pt x="4476256" y="1483002"/>
                    </a:cubicBezTo>
                    <a:cubicBezTo>
                      <a:pt x="4357433" y="1436893"/>
                      <a:pt x="4221685" y="1405326"/>
                      <a:pt x="4022853" y="1396292"/>
                    </a:cubicBezTo>
                    <a:cubicBezTo>
                      <a:pt x="3823673" y="1387160"/>
                      <a:pt x="3760043" y="1384976"/>
                      <a:pt x="3252788" y="1384976"/>
                    </a:cubicBezTo>
                    <a:close/>
                    <a:moveTo>
                      <a:pt x="3252788" y="0"/>
                    </a:moveTo>
                    <a:cubicBezTo>
                      <a:pt x="5048978" y="0"/>
                      <a:pt x="6505575" y="1456597"/>
                      <a:pt x="6505575" y="3252788"/>
                    </a:cubicBezTo>
                    <a:cubicBezTo>
                      <a:pt x="6505575" y="5048978"/>
                      <a:pt x="5048978" y="6505575"/>
                      <a:pt x="3252788" y="6505575"/>
                    </a:cubicBezTo>
                    <a:cubicBezTo>
                      <a:pt x="1456597" y="6505575"/>
                      <a:pt x="0" y="5048978"/>
                      <a:pt x="0" y="3252788"/>
                    </a:cubicBezTo>
                    <a:cubicBezTo>
                      <a:pt x="0" y="1456597"/>
                      <a:pt x="1456597" y="0"/>
                      <a:pt x="3252788" y="0"/>
                    </a:cubicBezTo>
                    <a:close/>
                  </a:path>
                </a:pathLst>
              </a:custGeom>
              <a:solidFill>
                <a:schemeClr val="bg1"/>
              </a:solidFill>
              <a:ln w="31750" cap="flat">
                <a:noFill/>
                <a:prstDash val="solid"/>
                <a:miter/>
              </a:ln>
              <a:effectLst/>
            </p:spPr>
            <p:txBody>
              <a:bodyPr rtlCol="0" anchor="ctr"/>
              <a:lstStyle/>
              <a:p>
                <a:endParaRPr lang="en-GB" sz="1800">
                  <a:solidFill>
                    <a:schemeClr val="bg1"/>
                  </a:solidFill>
                </a:endParaRPr>
              </a:p>
            </p:txBody>
          </p:sp>
        </p:grpSp>
      </p:grpSp>
      <p:sp>
        <p:nvSpPr>
          <p:cNvPr id="28" name="Freeform: Shape 27">
            <a:extLst>
              <a:ext uri="{FF2B5EF4-FFF2-40B4-BE49-F238E27FC236}">
                <a16:creationId xmlns:a16="http://schemas.microsoft.com/office/drawing/2014/main" id="{1C834DB5-B6AC-4BA7-8D75-38FF27FFABF7}"/>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6" name="Picture Placeholder 5">
            <a:extLst>
              <a:ext uri="{FF2B5EF4-FFF2-40B4-BE49-F238E27FC236}">
                <a16:creationId xmlns:a16="http://schemas.microsoft.com/office/drawing/2014/main" id="{9449ACE3-BDB2-401E-BB7A-F2AFC09EBA5D}"/>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1" name="Picture Placeholder 20">
            <a:extLst>
              <a:ext uri="{FF2B5EF4-FFF2-40B4-BE49-F238E27FC236}">
                <a16:creationId xmlns:a16="http://schemas.microsoft.com/office/drawing/2014/main" id="{06179823-D602-4EAB-8985-29DA9177B294}"/>
              </a:ext>
            </a:extLst>
          </p:cNvPr>
          <p:cNvSpPr>
            <a:spLocks noGrp="1"/>
          </p:cNvSpPr>
          <p:nvPr>
            <p:ph type="pic" sz="quarter" idx="11" hasCustomPrompt="1"/>
          </p:nvPr>
        </p:nvSpPr>
        <p:spPr>
          <a:xfrm>
            <a:off x="5455657" y="0"/>
            <a:ext cx="5279231" cy="6858000"/>
          </a:xfrm>
          <a:custGeom>
            <a:avLst/>
            <a:gdLst>
              <a:gd name="connsiteX0" fmla="*/ 0 w 5279231"/>
              <a:gd name="connsiteY0" fmla="*/ 0 h 6858000"/>
              <a:gd name="connsiteX1" fmla="*/ 5279231 w 5279231"/>
              <a:gd name="connsiteY1" fmla="*/ 0 h 6858000"/>
              <a:gd name="connsiteX2" fmla="*/ 5279231 w 5279231"/>
              <a:gd name="connsiteY2" fmla="*/ 6858000 h 6858000"/>
              <a:gd name="connsiteX3" fmla="*/ 0 w 527923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79231" h="6858000">
                <a:moveTo>
                  <a:pt x="0" y="0"/>
                </a:moveTo>
                <a:lnTo>
                  <a:pt x="5279231" y="0"/>
                </a:lnTo>
                <a:lnTo>
                  <a:pt x="5279231" y="6858000"/>
                </a:lnTo>
                <a:lnTo>
                  <a:pt x="0" y="6858000"/>
                </a:lnTo>
                <a:close/>
              </a:path>
            </a:pathLst>
          </a:custGeom>
          <a:noFill/>
          <a:effectLst>
            <a:outerShdw blurRad="1041400" dist="571500" dir="5400000" sx="88000" sy="88000" algn="t" rotWithShape="0">
              <a:prstClr val="black">
                <a:alpha val="4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TextBox 13">
            <a:extLst>
              <a:ext uri="{FF2B5EF4-FFF2-40B4-BE49-F238E27FC236}">
                <a16:creationId xmlns:a16="http://schemas.microsoft.com/office/drawing/2014/main" id="{444737F8-ECF6-4DB8-AA54-949F4A9CB0CD}"/>
              </a:ext>
            </a:extLst>
          </p:cNvPr>
          <p:cNvSpPr txBox="1"/>
          <p:nvPr userDrawn="1"/>
        </p:nvSpPr>
        <p:spPr>
          <a:xfrm>
            <a:off x="731838" y="6336042"/>
            <a:ext cx="2514281" cy="261610"/>
          </a:xfrm>
          <a:prstGeom prst="rect">
            <a:avLst/>
          </a:prstGeom>
          <a:noFill/>
        </p:spPr>
        <p:txBody>
          <a:bodyPr wrap="square" rtlCol="0">
            <a:spAutoFit/>
          </a:bodyPr>
          <a:lstStyle/>
          <a:p>
            <a:r>
              <a:rPr lang="en-US" sz="1100">
                <a:solidFill>
                  <a:schemeClr val="bg1"/>
                </a:solidFill>
                <a:latin typeface="+mj-lt"/>
              </a:rPr>
              <a:t>© 2020 </a:t>
            </a:r>
            <a:r>
              <a:rPr lang="en-US" sz="1100" b="1">
                <a:solidFill>
                  <a:schemeClr val="bg1"/>
                </a:solidFill>
                <a:latin typeface="+mj-lt"/>
              </a:rPr>
              <a:t>FoodFest </a:t>
            </a:r>
            <a:r>
              <a:rPr lang="en-US" sz="1100" b="0">
                <a:solidFill>
                  <a:schemeClr val="bg1"/>
                </a:solidFill>
                <a:latin typeface="+mj-lt"/>
              </a:rPr>
              <a:t>Presentation</a:t>
            </a:r>
            <a:endParaRPr lang="en-GB" sz="1100" b="0">
              <a:solidFill>
                <a:schemeClr val="bg1"/>
              </a:solidFill>
              <a:latin typeface="+mj-lt"/>
            </a:endParaRPr>
          </a:p>
        </p:txBody>
      </p:sp>
      <p:sp>
        <p:nvSpPr>
          <p:cNvPr id="2" name="Rectángulo 1">
            <a:extLst>
              <a:ext uri="{FF2B5EF4-FFF2-40B4-BE49-F238E27FC236}">
                <a16:creationId xmlns:a16="http://schemas.microsoft.com/office/drawing/2014/main" id="{150617DE-9FB9-4B27-A944-D0BAB7FFEBDA}"/>
              </a:ext>
            </a:extLst>
          </p:cNvPr>
          <p:cNvSpPr/>
          <p:nvPr userDrawn="1"/>
        </p:nvSpPr>
        <p:spPr>
          <a:xfrm>
            <a:off x="3175819" y="1258529"/>
            <a:ext cx="7283252" cy="24777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a:t>NO</a:t>
            </a:r>
          </a:p>
        </p:txBody>
      </p:sp>
    </p:spTree>
    <p:extLst>
      <p:ext uri="{BB962C8B-B14F-4D97-AF65-F5344CB8AC3E}">
        <p14:creationId xmlns:p14="http://schemas.microsoft.com/office/powerpoint/2010/main" val="174735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2" decel="10000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750" fill="hold"/>
                                        <p:tgtEl>
                                          <p:spTgt spid="21"/>
                                        </p:tgtEl>
                                        <p:attrNameLst>
                                          <p:attrName>ppt_x</p:attrName>
                                        </p:attrNameLst>
                                      </p:cBhvr>
                                      <p:tavLst>
                                        <p:tav tm="0">
                                          <p:val>
                                            <p:strVal val="1+#ppt_w/2"/>
                                          </p:val>
                                        </p:tav>
                                        <p:tav tm="100000">
                                          <p:val>
                                            <p:strVal val="#ppt_x"/>
                                          </p:val>
                                        </p:tav>
                                      </p:tavLst>
                                    </p:anim>
                                    <p:anim calcmode="lin" valueType="num">
                                      <p:cBhvr additive="base">
                                        <p:cTn id="12" dur="75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393726E-C1A1-40B0-8BC3-FA7F668412C2}"/>
              </a:ext>
            </a:extLst>
          </p:cNvPr>
          <p:cNvSpPr>
            <a:spLocks noGrp="1"/>
          </p:cNvSpPr>
          <p:nvPr>
            <p:ph type="pic" sz="quarter" idx="10" hasCustomPrompt="1"/>
          </p:nvPr>
        </p:nvSpPr>
        <p:spPr>
          <a:xfrm>
            <a:off x="6308297" y="737422"/>
            <a:ext cx="4912403" cy="6120581"/>
          </a:xfrm>
          <a:custGeom>
            <a:avLst/>
            <a:gdLst>
              <a:gd name="connsiteX0" fmla="*/ 0 w 4912403"/>
              <a:gd name="connsiteY0" fmla="*/ 0 h 6120581"/>
              <a:gd name="connsiteX1" fmla="*/ 4912403 w 4912403"/>
              <a:gd name="connsiteY1" fmla="*/ 0 h 6120581"/>
              <a:gd name="connsiteX2" fmla="*/ 4912403 w 4912403"/>
              <a:gd name="connsiteY2" fmla="*/ 6120581 h 6120581"/>
              <a:gd name="connsiteX3" fmla="*/ 0 w 4912403"/>
              <a:gd name="connsiteY3" fmla="*/ 6120581 h 6120581"/>
            </a:gdLst>
            <a:ahLst/>
            <a:cxnLst>
              <a:cxn ang="0">
                <a:pos x="connsiteX0" y="connsiteY0"/>
              </a:cxn>
              <a:cxn ang="0">
                <a:pos x="connsiteX1" y="connsiteY1"/>
              </a:cxn>
              <a:cxn ang="0">
                <a:pos x="connsiteX2" y="connsiteY2"/>
              </a:cxn>
              <a:cxn ang="0">
                <a:pos x="connsiteX3" y="connsiteY3"/>
              </a:cxn>
            </a:cxnLst>
            <a:rect l="l" t="t" r="r" b="b"/>
            <a:pathLst>
              <a:path w="4912403" h="6120581">
                <a:moveTo>
                  <a:pt x="0" y="0"/>
                </a:moveTo>
                <a:lnTo>
                  <a:pt x="4912403" y="0"/>
                </a:lnTo>
                <a:lnTo>
                  <a:pt x="4912403" y="6120581"/>
                </a:lnTo>
                <a:lnTo>
                  <a:pt x="0" y="6120581"/>
                </a:lnTo>
                <a:close/>
              </a:path>
            </a:pathLst>
          </a:custGeom>
          <a:noFill/>
          <a:effectLst>
            <a:outerShdw blurRad="952500" dist="622300" dir="5400000" sx="89000" sy="89000" algn="t" rotWithShape="0">
              <a:prstClr val="black">
                <a:alpha val="21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255659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ppt_x"/>
                                          </p:val>
                                        </p:tav>
                                        <p:tav tm="100000">
                                          <p:val>
                                            <p:strVal val="#ppt_x"/>
                                          </p:val>
                                        </p:tav>
                                      </p:tavLst>
                                    </p:anim>
                                    <p:anim calcmode="lin" valueType="num">
                                      <p:cBhvr additive="base">
                                        <p:cTn id="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F17C5E1-7413-4504-9DE9-D7B96D3088F7}"/>
              </a:ext>
            </a:extLst>
          </p:cNvPr>
          <p:cNvSpPr/>
          <p:nvPr userDrawn="1"/>
        </p:nvSpPr>
        <p:spPr>
          <a:xfrm>
            <a:off x="0" y="0"/>
            <a:ext cx="12192000" cy="3850012"/>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0 w 12192000"/>
              <a:gd name="connsiteY4" fmla="*/ 3429000 h 3451123"/>
              <a:gd name="connsiteX5" fmla="*/ 0 w 12192000"/>
              <a:gd name="connsiteY5" fmla="*/ 0 h 3451123"/>
              <a:gd name="connsiteX0" fmla="*/ 0 w 12192000"/>
              <a:gd name="connsiteY0" fmla="*/ 0 h 3451123"/>
              <a:gd name="connsiteX1" fmla="*/ 12192000 w 12192000"/>
              <a:gd name="connsiteY1" fmla="*/ 0 h 3451123"/>
              <a:gd name="connsiteX2" fmla="*/ 12192000 w 12192000"/>
              <a:gd name="connsiteY2" fmla="*/ 3429000 h 3451123"/>
              <a:gd name="connsiteX3" fmla="*/ 6091084 w 12192000"/>
              <a:gd name="connsiteY3" fmla="*/ 3451123 h 3451123"/>
              <a:gd name="connsiteX4" fmla="*/ 2993923 w 12192000"/>
              <a:gd name="connsiteY4" fmla="*/ 3451123 h 3451123"/>
              <a:gd name="connsiteX5" fmla="*/ 0 w 12192000"/>
              <a:gd name="connsiteY5" fmla="*/ 3429000 h 3451123"/>
              <a:gd name="connsiteX6" fmla="*/ 0 w 12192000"/>
              <a:gd name="connsiteY6" fmla="*/ 0 h 3451123"/>
              <a:gd name="connsiteX0" fmla="*/ 0 w 12192000"/>
              <a:gd name="connsiteY0" fmla="*/ 0 h 3790387"/>
              <a:gd name="connsiteX1" fmla="*/ 12192000 w 12192000"/>
              <a:gd name="connsiteY1" fmla="*/ 0 h 3790387"/>
              <a:gd name="connsiteX2" fmla="*/ 12192000 w 12192000"/>
              <a:gd name="connsiteY2" fmla="*/ 3429000 h 3790387"/>
              <a:gd name="connsiteX3" fmla="*/ 6091084 w 12192000"/>
              <a:gd name="connsiteY3" fmla="*/ 3451123 h 3790387"/>
              <a:gd name="connsiteX4" fmla="*/ 2993923 w 12192000"/>
              <a:gd name="connsiteY4" fmla="*/ 3451123 h 3790387"/>
              <a:gd name="connsiteX5" fmla="*/ 0 w 12192000"/>
              <a:gd name="connsiteY5" fmla="*/ 3429000 h 3790387"/>
              <a:gd name="connsiteX6" fmla="*/ 0 w 12192000"/>
              <a:gd name="connsiteY6" fmla="*/ 0 h 379038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91084 w 12192000"/>
              <a:gd name="connsiteY3" fmla="*/ 3451123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6076336 w 12192000"/>
              <a:gd name="connsiteY3" fmla="*/ 3849329 h 3912327"/>
              <a:gd name="connsiteX4" fmla="*/ 2993923 w 12192000"/>
              <a:gd name="connsiteY4" fmla="*/ 3451123 h 3912327"/>
              <a:gd name="connsiteX5" fmla="*/ 0 w 12192000"/>
              <a:gd name="connsiteY5" fmla="*/ 3429000 h 3912327"/>
              <a:gd name="connsiteX6" fmla="*/ 0 w 12192000"/>
              <a:gd name="connsiteY6"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613355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306232 w 12192000"/>
              <a:gd name="connsiteY3" fmla="*/ 3362633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912327"/>
              <a:gd name="connsiteX1" fmla="*/ 12192000 w 12192000"/>
              <a:gd name="connsiteY1" fmla="*/ 0 h 3912327"/>
              <a:gd name="connsiteX2" fmla="*/ 12192000 w 12192000"/>
              <a:gd name="connsiteY2" fmla="*/ 3429000 h 3912327"/>
              <a:gd name="connsiteX3" fmla="*/ 9114503 w 12192000"/>
              <a:gd name="connsiteY3" fmla="*/ 3333136 h 3912327"/>
              <a:gd name="connsiteX4" fmla="*/ 6076336 w 12192000"/>
              <a:gd name="connsiteY4" fmla="*/ 3849329 h 3912327"/>
              <a:gd name="connsiteX5" fmla="*/ 2993923 w 12192000"/>
              <a:gd name="connsiteY5" fmla="*/ 3451123 h 3912327"/>
              <a:gd name="connsiteX6" fmla="*/ 0 w 12192000"/>
              <a:gd name="connsiteY6" fmla="*/ 3429000 h 3912327"/>
              <a:gd name="connsiteX7" fmla="*/ 0 w 12192000"/>
              <a:gd name="connsiteY7" fmla="*/ 0 h 3912327"/>
              <a:gd name="connsiteX0" fmla="*/ 0 w 12192000"/>
              <a:gd name="connsiteY0" fmla="*/ 0 h 3863890"/>
              <a:gd name="connsiteX1" fmla="*/ 12192000 w 12192000"/>
              <a:gd name="connsiteY1" fmla="*/ 0 h 3863890"/>
              <a:gd name="connsiteX2" fmla="*/ 12192000 w 12192000"/>
              <a:gd name="connsiteY2" fmla="*/ 3429000 h 3863890"/>
              <a:gd name="connsiteX3" fmla="*/ 9114503 w 12192000"/>
              <a:gd name="connsiteY3" fmla="*/ 3333136 h 3863890"/>
              <a:gd name="connsiteX4" fmla="*/ 6076336 w 12192000"/>
              <a:gd name="connsiteY4" fmla="*/ 3849329 h 3863890"/>
              <a:gd name="connsiteX5" fmla="*/ 2993923 w 12192000"/>
              <a:gd name="connsiteY5" fmla="*/ 3451123 h 3863890"/>
              <a:gd name="connsiteX6" fmla="*/ 0 w 12192000"/>
              <a:gd name="connsiteY6" fmla="*/ 3429000 h 3863890"/>
              <a:gd name="connsiteX7" fmla="*/ 0 w 12192000"/>
              <a:gd name="connsiteY7" fmla="*/ 0 h 3863890"/>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6 w 12192000"/>
              <a:gd name="connsiteY4" fmla="*/ 3849329 h 3850012"/>
              <a:gd name="connsiteX5" fmla="*/ 2993923 w 12192000"/>
              <a:gd name="connsiteY5" fmla="*/ 3451123 h 3850012"/>
              <a:gd name="connsiteX6" fmla="*/ 0 w 12192000"/>
              <a:gd name="connsiteY6" fmla="*/ 3429000 h 3850012"/>
              <a:gd name="connsiteX7" fmla="*/ 0 w 12192000"/>
              <a:gd name="connsiteY7" fmla="*/ 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6" y="3849329"/>
                </a:cubicBezTo>
                <a:cubicBezTo>
                  <a:pt x="4982497" y="3824748"/>
                  <a:pt x="4168877" y="3104535"/>
                  <a:pt x="2993923" y="3451123"/>
                </a:cubicBezTo>
                <a:cubicBezTo>
                  <a:pt x="1818969" y="3797711"/>
                  <a:pt x="1042219" y="4114800"/>
                  <a:pt x="0" y="3429000"/>
                </a:cubicBez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Picture Placeholder 22">
            <a:extLst>
              <a:ext uri="{FF2B5EF4-FFF2-40B4-BE49-F238E27FC236}">
                <a16:creationId xmlns:a16="http://schemas.microsoft.com/office/drawing/2014/main" id="{153C40E2-9295-444A-B2A3-3F82F5F6A3F6}"/>
              </a:ext>
            </a:extLst>
          </p:cNvPr>
          <p:cNvSpPr>
            <a:spLocks noGrp="1"/>
          </p:cNvSpPr>
          <p:nvPr>
            <p:ph type="pic" sz="quarter" idx="10" hasCustomPrompt="1"/>
          </p:nvPr>
        </p:nvSpPr>
        <p:spPr>
          <a:xfrm>
            <a:off x="1092200" y="914401"/>
            <a:ext cx="10007600" cy="4409768"/>
          </a:xfrm>
          <a:custGeom>
            <a:avLst/>
            <a:gdLst>
              <a:gd name="connsiteX0" fmla="*/ 308243 w 10007600"/>
              <a:gd name="connsiteY0" fmla="*/ 0 h 4409768"/>
              <a:gd name="connsiteX1" fmla="*/ 9699357 w 10007600"/>
              <a:gd name="connsiteY1" fmla="*/ 0 h 4409768"/>
              <a:gd name="connsiteX2" fmla="*/ 10007600 w 10007600"/>
              <a:gd name="connsiteY2" fmla="*/ 308243 h 4409768"/>
              <a:gd name="connsiteX3" fmla="*/ 10007600 w 10007600"/>
              <a:gd name="connsiteY3" fmla="*/ 4101525 h 4409768"/>
              <a:gd name="connsiteX4" fmla="*/ 9699357 w 10007600"/>
              <a:gd name="connsiteY4" fmla="*/ 4409768 h 4409768"/>
              <a:gd name="connsiteX5" fmla="*/ 308243 w 10007600"/>
              <a:gd name="connsiteY5" fmla="*/ 4409768 h 4409768"/>
              <a:gd name="connsiteX6" fmla="*/ 0 w 10007600"/>
              <a:gd name="connsiteY6" fmla="*/ 4101525 h 4409768"/>
              <a:gd name="connsiteX7" fmla="*/ 0 w 10007600"/>
              <a:gd name="connsiteY7" fmla="*/ 308243 h 4409768"/>
              <a:gd name="connsiteX8" fmla="*/ 308243 w 10007600"/>
              <a:gd name="connsiteY8" fmla="*/ 0 h 440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7600" h="4409768">
                <a:moveTo>
                  <a:pt x="308243" y="0"/>
                </a:moveTo>
                <a:lnTo>
                  <a:pt x="9699357" y="0"/>
                </a:lnTo>
                <a:cubicBezTo>
                  <a:pt x="9869595" y="0"/>
                  <a:pt x="10007600" y="138005"/>
                  <a:pt x="10007600" y="308243"/>
                </a:cubicBezTo>
                <a:lnTo>
                  <a:pt x="10007600" y="4101525"/>
                </a:lnTo>
                <a:cubicBezTo>
                  <a:pt x="10007600" y="4271763"/>
                  <a:pt x="9869595" y="4409768"/>
                  <a:pt x="9699357" y="4409768"/>
                </a:cubicBezTo>
                <a:lnTo>
                  <a:pt x="308243" y="4409768"/>
                </a:lnTo>
                <a:cubicBezTo>
                  <a:pt x="138005" y="4409768"/>
                  <a:pt x="0" y="4271763"/>
                  <a:pt x="0" y="4101525"/>
                </a:cubicBezTo>
                <a:lnTo>
                  <a:pt x="0" y="308243"/>
                </a:lnTo>
                <a:cubicBezTo>
                  <a:pt x="0" y="138005"/>
                  <a:pt x="138005" y="0"/>
                  <a:pt x="308243" y="0"/>
                </a:cubicBezTo>
                <a:close/>
              </a:path>
            </a:pathLst>
          </a:custGeom>
          <a:solidFill>
            <a:schemeClr val="bg1">
              <a:lumMod val="95000"/>
              <a:alpha val="25000"/>
            </a:schemeClr>
          </a:solidFill>
          <a:effectLst>
            <a:outerShdw blurRad="1181100" dist="5588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3870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0-#ppt_h/2"/>
                                          </p:val>
                                        </p:tav>
                                        <p:tav tm="100000">
                                          <p:val>
                                            <p:strVal val="#ppt_y"/>
                                          </p:val>
                                        </p:tav>
                                      </p:tavLst>
                                    </p:anim>
                                  </p:childTnLst>
                                </p:cTn>
                              </p:par>
                              <p:par>
                                <p:cTn id="9" presetID="2" presetClass="entr" presetSubtype="1" decel="100000" fill="hold" grpId="0" nodeType="withEffect">
                                  <p:stCondLst>
                                    <p:cond delay="25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1000" fill="hold"/>
                                        <p:tgtEl>
                                          <p:spTgt spid="23"/>
                                        </p:tgtEl>
                                        <p:attrNameLst>
                                          <p:attrName>ppt_x</p:attrName>
                                        </p:attrNameLst>
                                      </p:cBhvr>
                                      <p:tavLst>
                                        <p:tav tm="0">
                                          <p:val>
                                            <p:strVal val="#ppt_x"/>
                                          </p:val>
                                        </p:tav>
                                        <p:tav tm="100000">
                                          <p:val>
                                            <p:strVal val="#ppt_x"/>
                                          </p:val>
                                        </p:tav>
                                      </p:tavLst>
                                    </p:anim>
                                    <p:anim calcmode="lin" valueType="num">
                                      <p:cBhvr additive="base">
                                        <p:cTn id="12" dur="1000" fill="hold"/>
                                        <p:tgtEl>
                                          <p:spTgt spid="2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3" grpId="0" animBg="1"/>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A48E882A-FFB9-4649-BEC7-47F260D2121C}"/>
              </a:ext>
            </a:extLst>
          </p:cNvPr>
          <p:cNvSpPr>
            <a:spLocks noGrp="1"/>
          </p:cNvSpPr>
          <p:nvPr>
            <p:ph type="pic" sz="quarter" idx="10" hasCustomPrompt="1"/>
          </p:nvPr>
        </p:nvSpPr>
        <p:spPr>
          <a:xfrm>
            <a:off x="0" y="0"/>
            <a:ext cx="12192000" cy="3850012"/>
          </a:xfrm>
          <a:custGeom>
            <a:avLst/>
            <a:gdLst>
              <a:gd name="connsiteX0" fmla="*/ 0 w 12192000"/>
              <a:gd name="connsiteY0" fmla="*/ 0 h 3850012"/>
              <a:gd name="connsiteX1" fmla="*/ 12192000 w 12192000"/>
              <a:gd name="connsiteY1" fmla="*/ 0 h 3850012"/>
              <a:gd name="connsiteX2" fmla="*/ 12192000 w 12192000"/>
              <a:gd name="connsiteY2" fmla="*/ 3429000 h 3850012"/>
              <a:gd name="connsiteX3" fmla="*/ 9114503 w 12192000"/>
              <a:gd name="connsiteY3" fmla="*/ 3333136 h 3850012"/>
              <a:gd name="connsiteX4" fmla="*/ 6076337 w 12192000"/>
              <a:gd name="connsiteY4" fmla="*/ 3849329 h 3850012"/>
              <a:gd name="connsiteX5" fmla="*/ 2993923 w 12192000"/>
              <a:gd name="connsiteY5" fmla="*/ 3451123 h 3850012"/>
              <a:gd name="connsiteX6" fmla="*/ 0 w 12192000"/>
              <a:gd name="connsiteY6" fmla="*/ 3429000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850012">
                <a:moveTo>
                  <a:pt x="0" y="0"/>
                </a:moveTo>
                <a:lnTo>
                  <a:pt x="12192000" y="0"/>
                </a:lnTo>
                <a:lnTo>
                  <a:pt x="12192000" y="3429000"/>
                </a:lnTo>
                <a:cubicBezTo>
                  <a:pt x="11135852" y="4181168"/>
                  <a:pt x="10178026" y="3440061"/>
                  <a:pt x="9114503" y="3333136"/>
                </a:cubicBezTo>
                <a:cubicBezTo>
                  <a:pt x="8050980" y="3226211"/>
                  <a:pt x="7170175" y="3873910"/>
                  <a:pt x="6076337" y="3849329"/>
                </a:cubicBezTo>
                <a:cubicBezTo>
                  <a:pt x="4982497" y="3824748"/>
                  <a:pt x="4168877" y="3104535"/>
                  <a:pt x="2993923" y="3451123"/>
                </a:cubicBezTo>
                <a:cubicBezTo>
                  <a:pt x="1818969" y="3797711"/>
                  <a:pt x="1042219" y="4114800"/>
                  <a:pt x="0" y="342900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45456F2-4DB9-41CB-90D4-E774A55B6445}"/>
              </a:ext>
            </a:extLst>
          </p:cNvPr>
          <p:cNvSpPr>
            <a:spLocks noGrp="1"/>
          </p:cNvSpPr>
          <p:nvPr>
            <p:ph type="pic" sz="quarter" idx="11" hasCustomPrompt="1"/>
          </p:nvPr>
        </p:nvSpPr>
        <p:spPr>
          <a:xfrm>
            <a:off x="1764083"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9641DA36-4BA3-4989-A828-8D98A9797001}"/>
              </a:ext>
            </a:extLst>
          </p:cNvPr>
          <p:cNvSpPr>
            <a:spLocks noGrp="1"/>
          </p:cNvSpPr>
          <p:nvPr>
            <p:ph type="pic" sz="quarter" idx="12" hasCustomPrompt="1"/>
          </p:nvPr>
        </p:nvSpPr>
        <p:spPr>
          <a:xfrm>
            <a:off x="4782831"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06CB29CC-ADE1-4931-B8BF-AD1DA322D366}"/>
              </a:ext>
            </a:extLst>
          </p:cNvPr>
          <p:cNvSpPr>
            <a:spLocks noGrp="1"/>
          </p:cNvSpPr>
          <p:nvPr>
            <p:ph type="pic" sz="quarter" idx="13" hasCustomPrompt="1"/>
          </p:nvPr>
        </p:nvSpPr>
        <p:spPr>
          <a:xfrm>
            <a:off x="7801580" y="1638210"/>
            <a:ext cx="2621507" cy="2621507"/>
          </a:xfrm>
          <a:custGeom>
            <a:avLst/>
            <a:gdLst>
              <a:gd name="connsiteX0" fmla="*/ 0 w 2621507"/>
              <a:gd name="connsiteY0" fmla="*/ 0 h 2621507"/>
              <a:gd name="connsiteX1" fmla="*/ 2621507 w 2621507"/>
              <a:gd name="connsiteY1" fmla="*/ 0 h 2621507"/>
              <a:gd name="connsiteX2" fmla="*/ 2621507 w 2621507"/>
              <a:gd name="connsiteY2" fmla="*/ 2621507 h 2621507"/>
              <a:gd name="connsiteX3" fmla="*/ 0 w 2621507"/>
              <a:gd name="connsiteY3" fmla="*/ 2621507 h 2621507"/>
            </a:gdLst>
            <a:ahLst/>
            <a:cxnLst>
              <a:cxn ang="0">
                <a:pos x="connsiteX0" y="connsiteY0"/>
              </a:cxn>
              <a:cxn ang="0">
                <a:pos x="connsiteX1" y="connsiteY1"/>
              </a:cxn>
              <a:cxn ang="0">
                <a:pos x="connsiteX2" y="connsiteY2"/>
              </a:cxn>
              <a:cxn ang="0">
                <a:pos x="connsiteX3" y="connsiteY3"/>
              </a:cxn>
            </a:cxnLst>
            <a:rect l="l" t="t" r="r" b="b"/>
            <a:pathLst>
              <a:path w="2621507" h="2621507">
                <a:moveTo>
                  <a:pt x="0" y="0"/>
                </a:moveTo>
                <a:lnTo>
                  <a:pt x="2621507" y="0"/>
                </a:lnTo>
                <a:lnTo>
                  <a:pt x="2621507" y="2621507"/>
                </a:lnTo>
                <a:lnTo>
                  <a:pt x="0" y="2621507"/>
                </a:lnTo>
                <a:close/>
              </a:path>
            </a:pathLst>
          </a:custGeom>
          <a:noFill/>
          <a:effectLst>
            <a:outerShdw blurRad="812800" dist="508000" dir="8100000" sx="84000" sy="84000" algn="tr"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7634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0-#ppt_h/2"/>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par>
                                <p:cTn id="12" presetID="26" presetClass="emph" presetSubtype="0" fill="hold" grpId="1" nodeType="withEffect">
                                  <p:stCondLst>
                                    <p:cond delay="750"/>
                                  </p:stCondLst>
                                  <p:childTnLst>
                                    <p:animEffect transition="out" filter="fade">
                                      <p:cBhvr>
                                        <p:cTn id="13" dur="500" tmFilter="0, 0; .2, .5; .8, .5; 1, 0"/>
                                        <p:tgtEl>
                                          <p:spTgt spid="11"/>
                                        </p:tgtEl>
                                      </p:cBhvr>
                                    </p:animEffect>
                                    <p:animScale>
                                      <p:cBhvr>
                                        <p:cTn id="14" dur="250" autoRev="1" fill="hold"/>
                                        <p:tgtEl>
                                          <p:spTgt spid="11"/>
                                        </p:tgtEl>
                                      </p:cBhvr>
                                      <p:by x="105000" y="105000"/>
                                    </p:animScale>
                                  </p:childTnLst>
                                </p:cTn>
                              </p:par>
                              <p:par>
                                <p:cTn id="15" presetID="10" presetClass="entr" presetSubtype="0" fill="hold" grpId="0" nodeType="withEffect">
                                  <p:stCondLst>
                                    <p:cond delay="1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26" presetClass="emph" presetSubtype="0" fill="hold" grpId="1" nodeType="withEffect">
                                  <p:stCondLst>
                                    <p:cond delay="1000"/>
                                  </p:stCondLst>
                                  <p:childTnLst>
                                    <p:animEffect transition="out" filter="fade">
                                      <p:cBhvr>
                                        <p:cTn id="19" dur="500" tmFilter="0, 0; .2, .5; .8, .5; 1, 0"/>
                                        <p:tgtEl>
                                          <p:spTgt spid="12"/>
                                        </p:tgtEl>
                                      </p:cBhvr>
                                    </p:animEffect>
                                    <p:animScale>
                                      <p:cBhvr>
                                        <p:cTn id="20" dur="250" autoRev="1" fill="hold"/>
                                        <p:tgtEl>
                                          <p:spTgt spid="12"/>
                                        </p:tgtEl>
                                      </p:cBhvr>
                                      <p:by x="105000" y="105000"/>
                                    </p:animScale>
                                  </p:childTnLst>
                                </p:cTn>
                              </p:par>
                              <p:par>
                                <p:cTn id="21" presetID="10" presetClass="entr" presetSubtype="0" fill="hold" grpId="0" nodeType="withEffect">
                                  <p:stCondLst>
                                    <p:cond delay="125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26" presetClass="emph" presetSubtype="0" fill="hold" grpId="1" nodeType="withEffect">
                                  <p:stCondLst>
                                    <p:cond delay="1250"/>
                                  </p:stCondLst>
                                  <p:childTnLst>
                                    <p:animEffect transition="out" filter="fade">
                                      <p:cBhvr>
                                        <p:cTn id="25" dur="500" tmFilter="0, 0; .2, .5; .8, .5; 1, 0"/>
                                        <p:tgtEl>
                                          <p:spTgt spid="13"/>
                                        </p:tgtEl>
                                      </p:cBhvr>
                                    </p:animEffect>
                                    <p:animScale>
                                      <p:cBhvr>
                                        <p:cTn id="26" dur="250" autoRev="1" fill="hold"/>
                                        <p:tgtEl>
                                          <p:spTgt spid="1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1" grpId="1"/>
      <p:bldP spid="12" grpId="0"/>
      <p:bldP spid="12" grpId="1"/>
      <p:bldP spid="13" grpId="0"/>
      <p:bldP spid="13" grpId="1"/>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Title and Content">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1E04C239-66A7-41F6-BFBA-EF1924136F01}"/>
              </a:ext>
            </a:extLst>
          </p:cNvPr>
          <p:cNvSpPr>
            <a:spLocks noGrp="1"/>
          </p:cNvSpPr>
          <p:nvPr>
            <p:ph type="pic" sz="quarter" idx="11" hasCustomPrompt="1"/>
          </p:nvPr>
        </p:nvSpPr>
        <p:spPr>
          <a:xfrm>
            <a:off x="3715781"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3B5FFEF8-A329-4457-94A4-4F5174DEF906}"/>
              </a:ext>
            </a:extLst>
          </p:cNvPr>
          <p:cNvSpPr>
            <a:spLocks noGrp="1"/>
          </p:cNvSpPr>
          <p:nvPr>
            <p:ph type="pic" sz="quarter" idx="12" hasCustomPrompt="1"/>
          </p:nvPr>
        </p:nvSpPr>
        <p:spPr>
          <a:xfrm>
            <a:off x="6230839"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C2039CC9-8EB8-49DE-8D7C-F033D9B24117}"/>
              </a:ext>
            </a:extLst>
          </p:cNvPr>
          <p:cNvSpPr>
            <a:spLocks noGrp="1"/>
          </p:cNvSpPr>
          <p:nvPr>
            <p:ph type="pic" sz="quarter" idx="13" hasCustomPrompt="1"/>
          </p:nvPr>
        </p:nvSpPr>
        <p:spPr>
          <a:xfrm>
            <a:off x="8745898"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CDE20769-E15C-4F9F-8104-886453C9A584}"/>
              </a:ext>
            </a:extLst>
          </p:cNvPr>
          <p:cNvSpPr>
            <a:spLocks noGrp="1"/>
          </p:cNvSpPr>
          <p:nvPr>
            <p:ph type="pic" sz="quarter" idx="10" hasCustomPrompt="1"/>
          </p:nvPr>
        </p:nvSpPr>
        <p:spPr>
          <a:xfrm>
            <a:off x="1205514" y="2144458"/>
            <a:ext cx="2245383" cy="2245382"/>
          </a:xfrm>
          <a:custGeom>
            <a:avLst/>
            <a:gdLst>
              <a:gd name="connsiteX0" fmla="*/ 1122691 w 2245382"/>
              <a:gd name="connsiteY0" fmla="*/ 0 h 2245382"/>
              <a:gd name="connsiteX1" fmla="*/ 2245382 w 2245382"/>
              <a:gd name="connsiteY1" fmla="*/ 1122691 h 2245382"/>
              <a:gd name="connsiteX2" fmla="*/ 1122691 w 2245382"/>
              <a:gd name="connsiteY2" fmla="*/ 2245382 h 2245382"/>
              <a:gd name="connsiteX3" fmla="*/ 0 w 2245382"/>
              <a:gd name="connsiteY3" fmla="*/ 1122691 h 2245382"/>
              <a:gd name="connsiteX4" fmla="*/ 1122691 w 2245382"/>
              <a:gd name="connsiteY4" fmla="*/ 0 h 2245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5382" h="2245382">
                <a:moveTo>
                  <a:pt x="1122691" y="0"/>
                </a:moveTo>
                <a:cubicBezTo>
                  <a:pt x="1742736" y="0"/>
                  <a:pt x="2245382" y="502646"/>
                  <a:pt x="2245382" y="1122691"/>
                </a:cubicBezTo>
                <a:cubicBezTo>
                  <a:pt x="2245382" y="1742736"/>
                  <a:pt x="1742736" y="2245382"/>
                  <a:pt x="1122691" y="2245382"/>
                </a:cubicBezTo>
                <a:cubicBezTo>
                  <a:pt x="502646" y="2245382"/>
                  <a:pt x="0" y="1742736"/>
                  <a:pt x="0" y="1122691"/>
                </a:cubicBezTo>
                <a:cubicBezTo>
                  <a:pt x="0" y="502646"/>
                  <a:pt x="502646" y="0"/>
                  <a:pt x="112269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73698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style.rotation</p:attrName>
                                        </p:attrNameLst>
                                      </p:cBhvr>
                                      <p:tavLst>
                                        <p:tav tm="0">
                                          <p:val>
                                            <p:fltVal val="360"/>
                                          </p:val>
                                        </p:tav>
                                        <p:tav tm="100000">
                                          <p:val>
                                            <p:fltVal val="0"/>
                                          </p:val>
                                        </p:tav>
                                      </p:tavLst>
                                    </p:anim>
                                    <p:animEffect transition="in" filter="fade">
                                      <p:cBhvr>
                                        <p:cTn id="10" dur="500"/>
                                        <p:tgtEl>
                                          <p:spTgt spid="14"/>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5"/>
                                        </p:tgtEl>
                                        <p:attrNameLst>
                                          <p:attrName>style.visibility</p:attrName>
                                        </p:attrNameLst>
                                      </p:cBhvr>
                                      <p:to>
                                        <p:strVal val="visible"/>
                                      </p:to>
                                    </p:set>
                                    <p:anim calcmode="lin" valueType="num">
                                      <p:cBhvr>
                                        <p:cTn id="13" dur="500" fill="hold"/>
                                        <p:tgtEl>
                                          <p:spTgt spid="15"/>
                                        </p:tgtEl>
                                        <p:attrNameLst>
                                          <p:attrName>ppt_w</p:attrName>
                                        </p:attrNameLst>
                                      </p:cBhvr>
                                      <p:tavLst>
                                        <p:tav tm="0">
                                          <p:val>
                                            <p:fltVal val="0"/>
                                          </p:val>
                                        </p:tav>
                                        <p:tav tm="100000">
                                          <p:val>
                                            <p:strVal val="#ppt_w"/>
                                          </p:val>
                                        </p:tav>
                                      </p:tavLst>
                                    </p:anim>
                                    <p:anim calcmode="lin" valueType="num">
                                      <p:cBhvr>
                                        <p:cTn id="14" dur="500" fill="hold"/>
                                        <p:tgtEl>
                                          <p:spTgt spid="15"/>
                                        </p:tgtEl>
                                        <p:attrNameLst>
                                          <p:attrName>ppt_h</p:attrName>
                                        </p:attrNameLst>
                                      </p:cBhvr>
                                      <p:tavLst>
                                        <p:tav tm="0">
                                          <p:val>
                                            <p:fltVal val="0"/>
                                          </p:val>
                                        </p:tav>
                                        <p:tav tm="100000">
                                          <p:val>
                                            <p:strVal val="#ppt_h"/>
                                          </p:val>
                                        </p:tav>
                                      </p:tavLst>
                                    </p:anim>
                                    <p:anim calcmode="lin" valueType="num">
                                      <p:cBhvr>
                                        <p:cTn id="15" dur="500" fill="hold"/>
                                        <p:tgtEl>
                                          <p:spTgt spid="15"/>
                                        </p:tgtEl>
                                        <p:attrNameLst>
                                          <p:attrName>style.rotation</p:attrName>
                                        </p:attrNameLst>
                                      </p:cBhvr>
                                      <p:tavLst>
                                        <p:tav tm="0">
                                          <p:val>
                                            <p:fltVal val="360"/>
                                          </p:val>
                                        </p:tav>
                                        <p:tav tm="100000">
                                          <p:val>
                                            <p:fltVal val="0"/>
                                          </p:val>
                                        </p:tav>
                                      </p:tavLst>
                                    </p:anim>
                                    <p:animEffect transition="in" filter="fade">
                                      <p:cBhvr>
                                        <p:cTn id="16" dur="500"/>
                                        <p:tgtEl>
                                          <p:spTgt spid="15"/>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 calcmode="lin" valueType="num">
                                      <p:cBhvr>
                                        <p:cTn id="21" dur="500" fill="hold"/>
                                        <p:tgtEl>
                                          <p:spTgt spid="16"/>
                                        </p:tgtEl>
                                        <p:attrNameLst>
                                          <p:attrName>style.rotation</p:attrName>
                                        </p:attrNameLst>
                                      </p:cBhvr>
                                      <p:tavLst>
                                        <p:tav tm="0">
                                          <p:val>
                                            <p:fltVal val="360"/>
                                          </p:val>
                                        </p:tav>
                                        <p:tav tm="100000">
                                          <p:val>
                                            <p:fltVal val="0"/>
                                          </p:val>
                                        </p:tav>
                                      </p:tavLst>
                                    </p:anim>
                                    <p:animEffect transition="in" filter="fade">
                                      <p:cBhvr>
                                        <p:cTn id="22" dur="500"/>
                                        <p:tgtEl>
                                          <p:spTgt spid="16"/>
                                        </p:tgtEl>
                                      </p:cBhvr>
                                    </p:animEffect>
                                  </p:childTnLst>
                                </p:cTn>
                              </p:par>
                              <p:par>
                                <p:cTn id="23" presetID="49" presetClass="entr" presetSubtype="0" decel="100000" fill="hold" grpId="0" nodeType="withEffect">
                                  <p:stCondLst>
                                    <p:cond delay="75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 calcmode="lin" valueType="num">
                                      <p:cBhvr>
                                        <p:cTn id="27" dur="500" fill="hold"/>
                                        <p:tgtEl>
                                          <p:spTgt spid="17"/>
                                        </p:tgtEl>
                                        <p:attrNameLst>
                                          <p:attrName>style.rotation</p:attrName>
                                        </p:attrNameLst>
                                      </p:cBhvr>
                                      <p:tavLst>
                                        <p:tav tm="0">
                                          <p:val>
                                            <p:fltVal val="360"/>
                                          </p:val>
                                        </p:tav>
                                        <p:tav tm="100000">
                                          <p:val>
                                            <p:fltVal val="0"/>
                                          </p:val>
                                        </p:tav>
                                      </p:tavLst>
                                    </p:anim>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4"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77C32E8-CB3E-499C-8B96-F007346E4412}"/>
              </a:ext>
            </a:extLst>
          </p:cNvPr>
          <p:cNvSpPr>
            <a:spLocks noGrp="1"/>
          </p:cNvSpPr>
          <p:nvPr>
            <p:ph type="pic" sz="quarter" idx="10" hasCustomPrompt="1"/>
          </p:nvPr>
        </p:nvSpPr>
        <p:spPr>
          <a:xfrm>
            <a:off x="0" y="2133604"/>
            <a:ext cx="9925056" cy="2590796"/>
          </a:xfrm>
          <a:custGeom>
            <a:avLst/>
            <a:gdLst>
              <a:gd name="connsiteX0" fmla="*/ 0 w 9925056"/>
              <a:gd name="connsiteY0" fmla="*/ 0 h 2590796"/>
              <a:gd name="connsiteX1" fmla="*/ 8629658 w 9925056"/>
              <a:gd name="connsiteY1" fmla="*/ 0 h 2590796"/>
              <a:gd name="connsiteX2" fmla="*/ 9925056 w 9925056"/>
              <a:gd name="connsiteY2" fmla="*/ 1295398 h 2590796"/>
              <a:gd name="connsiteX3" fmla="*/ 8629658 w 9925056"/>
              <a:gd name="connsiteY3" fmla="*/ 2590796 h 2590796"/>
              <a:gd name="connsiteX4" fmla="*/ 0 w 9925056"/>
              <a:gd name="connsiteY4" fmla="*/ 2590796 h 2590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25056" h="2590796">
                <a:moveTo>
                  <a:pt x="0" y="0"/>
                </a:moveTo>
                <a:lnTo>
                  <a:pt x="8629658" y="0"/>
                </a:lnTo>
                <a:cubicBezTo>
                  <a:pt x="9345087" y="0"/>
                  <a:pt x="9925056" y="579969"/>
                  <a:pt x="9925056" y="1295398"/>
                </a:cubicBezTo>
                <a:cubicBezTo>
                  <a:pt x="9925056" y="2010827"/>
                  <a:pt x="9345087" y="2590796"/>
                  <a:pt x="8629658" y="2590796"/>
                </a:cubicBezTo>
                <a:lnTo>
                  <a:pt x="0" y="25907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927731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Title and Content">
    <p:bg>
      <p:bgPr>
        <a:solidFill>
          <a:schemeClr val="accent1"/>
        </a:solidFill>
        <a:effectLst/>
      </p:bgPr>
    </p:bg>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BA9B3843-5DE3-4278-8A3B-A675828E2ECA}"/>
              </a:ext>
            </a:extLst>
          </p:cNvPr>
          <p:cNvSpPr/>
          <p:nvPr userDrawn="1"/>
        </p:nvSpPr>
        <p:spPr>
          <a:xfrm>
            <a:off x="0" y="0"/>
            <a:ext cx="6759036" cy="6858000"/>
          </a:xfrm>
          <a:custGeom>
            <a:avLst/>
            <a:gdLst>
              <a:gd name="connsiteX0" fmla="*/ 0 w 6759036"/>
              <a:gd name="connsiteY0" fmla="*/ 0 h 6858000"/>
              <a:gd name="connsiteX1" fmla="*/ 4940057 w 6759036"/>
              <a:gd name="connsiteY1" fmla="*/ 0 h 6858000"/>
              <a:gd name="connsiteX2" fmla="*/ 6559055 w 6759036"/>
              <a:gd name="connsiteY2" fmla="*/ 1361952 h 6858000"/>
              <a:gd name="connsiteX3" fmla="*/ 6628743 w 6759036"/>
              <a:gd name="connsiteY3" fmla="*/ 2156672 h 6858000"/>
              <a:gd name="connsiteX4" fmla="*/ 6516513 w 6759036"/>
              <a:gd name="connsiteY4" fmla="*/ 2289474 h 6858000"/>
              <a:gd name="connsiteX5" fmla="*/ 5721795 w 6759036"/>
              <a:gd name="connsiteY5" fmla="*/ 2359161 h 6858000"/>
              <a:gd name="connsiteX6" fmla="*/ 4133085 w 6759036"/>
              <a:gd name="connsiteY6" fmla="*/ 1020897 h 6858000"/>
              <a:gd name="connsiteX7" fmla="*/ 3338364 w 6759036"/>
              <a:gd name="connsiteY7" fmla="*/ 1090586 h 6858000"/>
              <a:gd name="connsiteX8" fmla="*/ 3226134 w 6759036"/>
              <a:gd name="connsiteY8" fmla="*/ 1223388 h 6858000"/>
              <a:gd name="connsiteX9" fmla="*/ 3295826 w 6759036"/>
              <a:gd name="connsiteY9" fmla="*/ 2018106 h 6858000"/>
              <a:gd name="connsiteX10" fmla="*/ 6198266 w 6759036"/>
              <a:gd name="connsiteY10" fmla="*/ 4460479 h 6858000"/>
              <a:gd name="connsiteX11" fmla="*/ 6267956 w 6759036"/>
              <a:gd name="connsiteY11" fmla="*/ 5255195 h 6858000"/>
              <a:gd name="connsiteX12" fmla="*/ 6155725 w 6759036"/>
              <a:gd name="connsiteY12" fmla="*/ 5387997 h 6858000"/>
              <a:gd name="connsiteX13" fmla="*/ 5361007 w 6759036"/>
              <a:gd name="connsiteY13" fmla="*/ 5457688 h 6858000"/>
              <a:gd name="connsiteX14" fmla="*/ 4727965 w 6759036"/>
              <a:gd name="connsiteY14" fmla="*/ 4923995 h 6858000"/>
              <a:gd name="connsiteX15" fmla="*/ 3933247 w 6759036"/>
              <a:gd name="connsiteY15" fmla="*/ 4993682 h 6858000"/>
              <a:gd name="connsiteX16" fmla="*/ 3821016 w 6759036"/>
              <a:gd name="connsiteY16" fmla="*/ 5126483 h 6858000"/>
              <a:gd name="connsiteX17" fmla="*/ 3890705 w 6759036"/>
              <a:gd name="connsiteY17" fmla="*/ 5921204 h 6858000"/>
              <a:gd name="connsiteX18" fmla="*/ 4966964 w 6759036"/>
              <a:gd name="connsiteY18" fmla="*/ 6829942 h 6858000"/>
              <a:gd name="connsiteX19" fmla="*/ 4993968 w 6759036"/>
              <a:gd name="connsiteY19" fmla="*/ 6858000 h 6858000"/>
              <a:gd name="connsiteX20" fmla="*/ 2978294 w 6759036"/>
              <a:gd name="connsiteY20" fmla="*/ 6858000 h 6858000"/>
              <a:gd name="connsiteX21" fmla="*/ 1182453 w 6759036"/>
              <a:gd name="connsiteY21" fmla="*/ 5346426 h 6858000"/>
              <a:gd name="connsiteX22" fmla="*/ 387732 w 6759036"/>
              <a:gd name="connsiteY22" fmla="*/ 5416115 h 6858000"/>
              <a:gd name="connsiteX23" fmla="*/ 275502 w 6759036"/>
              <a:gd name="connsiteY23" fmla="*/ 5548917 h 6858000"/>
              <a:gd name="connsiteX24" fmla="*/ 345194 w 6759036"/>
              <a:gd name="connsiteY24" fmla="*/ 6343636 h 6858000"/>
              <a:gd name="connsiteX25" fmla="*/ 957016 w 6759036"/>
              <a:gd name="connsiteY25" fmla="*/ 6858000 h 6858000"/>
              <a:gd name="connsiteX26" fmla="*/ 0 w 6759036"/>
              <a:gd name="connsiteY2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759036" h="6858000">
                <a:moveTo>
                  <a:pt x="0" y="0"/>
                </a:moveTo>
                <a:lnTo>
                  <a:pt x="4940057" y="0"/>
                </a:lnTo>
                <a:lnTo>
                  <a:pt x="6559055" y="1361952"/>
                </a:lnTo>
                <a:cubicBezTo>
                  <a:pt x="6795329" y="1561788"/>
                  <a:pt x="6826944" y="1917563"/>
                  <a:pt x="6628743" y="2156672"/>
                </a:cubicBezTo>
                <a:lnTo>
                  <a:pt x="6516513" y="2289474"/>
                </a:lnTo>
                <a:cubicBezTo>
                  <a:pt x="6316679" y="2525746"/>
                  <a:pt x="5960902" y="2557363"/>
                  <a:pt x="5721795" y="2359161"/>
                </a:cubicBezTo>
                <a:lnTo>
                  <a:pt x="4133085" y="1020897"/>
                </a:lnTo>
                <a:cubicBezTo>
                  <a:pt x="3896811" y="821060"/>
                  <a:pt x="3539399" y="849845"/>
                  <a:pt x="3338364" y="1090586"/>
                </a:cubicBezTo>
                <a:lnTo>
                  <a:pt x="3226134" y="1223388"/>
                </a:lnTo>
                <a:cubicBezTo>
                  <a:pt x="3026299" y="1459660"/>
                  <a:pt x="3055081" y="1817074"/>
                  <a:pt x="3295826" y="2018106"/>
                </a:cubicBezTo>
                <a:lnTo>
                  <a:pt x="6198266" y="4460479"/>
                </a:lnTo>
                <a:cubicBezTo>
                  <a:pt x="6434538" y="4660313"/>
                  <a:pt x="6466156" y="5016090"/>
                  <a:pt x="6267956" y="5255195"/>
                </a:cubicBezTo>
                <a:lnTo>
                  <a:pt x="6155725" y="5387997"/>
                </a:lnTo>
                <a:cubicBezTo>
                  <a:pt x="5955888" y="5624271"/>
                  <a:pt x="5600115" y="5655886"/>
                  <a:pt x="5361007" y="5457688"/>
                </a:cubicBezTo>
                <a:lnTo>
                  <a:pt x="4727965" y="4923995"/>
                </a:lnTo>
                <a:cubicBezTo>
                  <a:pt x="4491690" y="4724157"/>
                  <a:pt x="4134281" y="4752940"/>
                  <a:pt x="3933247" y="4993682"/>
                </a:cubicBezTo>
                <a:lnTo>
                  <a:pt x="3821016" y="5126483"/>
                </a:lnTo>
                <a:cubicBezTo>
                  <a:pt x="3621179" y="5362758"/>
                  <a:pt x="3649964" y="5720170"/>
                  <a:pt x="3890705" y="5921204"/>
                </a:cubicBezTo>
                <a:lnTo>
                  <a:pt x="4966964" y="6829942"/>
                </a:lnTo>
                <a:lnTo>
                  <a:pt x="4993968" y="6858000"/>
                </a:lnTo>
                <a:lnTo>
                  <a:pt x="2978294" y="6858000"/>
                </a:lnTo>
                <a:lnTo>
                  <a:pt x="1182453" y="5346426"/>
                </a:lnTo>
                <a:cubicBezTo>
                  <a:pt x="946178" y="5146589"/>
                  <a:pt x="588767" y="5175374"/>
                  <a:pt x="387732" y="5416115"/>
                </a:cubicBezTo>
                <a:lnTo>
                  <a:pt x="275502" y="5548917"/>
                </a:lnTo>
                <a:cubicBezTo>
                  <a:pt x="75667" y="5785189"/>
                  <a:pt x="104449" y="6142603"/>
                  <a:pt x="345194" y="6343636"/>
                </a:cubicBezTo>
                <a:lnTo>
                  <a:pt x="957016" y="6858000"/>
                </a:lnTo>
                <a:lnTo>
                  <a:pt x="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TextBox 20">
            <a:extLst>
              <a:ext uri="{FF2B5EF4-FFF2-40B4-BE49-F238E27FC236}">
                <a16:creationId xmlns:a16="http://schemas.microsoft.com/office/drawing/2014/main" id="{E7E53B07-6CED-4F8A-BDCA-F3E5B62308FC}"/>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35" name="Freeform: Shape 34">
            <a:extLst>
              <a:ext uri="{FF2B5EF4-FFF2-40B4-BE49-F238E27FC236}">
                <a16:creationId xmlns:a16="http://schemas.microsoft.com/office/drawing/2014/main" id="{110B999A-AB23-4F6C-9626-96336FB930F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3" name="Imagen 2" descr="Logotipo&#10;&#10;El contenido generado por IA puede ser incorrecto.">
            <a:extLst>
              <a:ext uri="{FF2B5EF4-FFF2-40B4-BE49-F238E27FC236}">
                <a16:creationId xmlns:a16="http://schemas.microsoft.com/office/drawing/2014/main" id="{8C9C825E-1952-30A8-188B-08276D636B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 name="TextBox 7">
            <a:extLst>
              <a:ext uri="{FF2B5EF4-FFF2-40B4-BE49-F238E27FC236}">
                <a16:creationId xmlns:a16="http://schemas.microsoft.com/office/drawing/2014/main" id="{33347300-42CA-05B2-DCB8-F36D8F442D9E}"/>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28383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0-#ppt_w/2"/>
                                          </p:val>
                                        </p:tav>
                                        <p:tav tm="100000">
                                          <p:val>
                                            <p:strVal val="#ppt_x"/>
                                          </p:val>
                                        </p:tav>
                                      </p:tavLst>
                                    </p:anim>
                                    <p:anim calcmode="lin" valueType="num">
                                      <p:cBhvr additive="base">
                                        <p:cTn id="8" dur="1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8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10A2F5C-A181-4EFC-9E8A-E522A5CCB49F}"/>
              </a:ext>
            </a:extLst>
          </p:cNvPr>
          <p:cNvSpPr>
            <a:spLocks noGrp="1"/>
          </p:cNvSpPr>
          <p:nvPr>
            <p:ph type="pic" sz="quarter" idx="10" hasCustomPrompt="1"/>
          </p:nvPr>
        </p:nvSpPr>
        <p:spPr>
          <a:xfrm>
            <a:off x="6348330" y="549274"/>
            <a:ext cx="5843673" cy="6308726"/>
          </a:xfrm>
          <a:custGeom>
            <a:avLst/>
            <a:gdLst>
              <a:gd name="connsiteX0" fmla="*/ 2288427 w 5843673"/>
              <a:gd name="connsiteY0" fmla="*/ 794 h 6308726"/>
              <a:gd name="connsiteX1" fmla="*/ 4641439 w 5843673"/>
              <a:gd name="connsiteY1" fmla="*/ 581088 h 6308726"/>
              <a:gd name="connsiteX2" fmla="*/ 5696574 w 5843673"/>
              <a:gd name="connsiteY2" fmla="*/ 337126 h 6308726"/>
              <a:gd name="connsiteX3" fmla="*/ 5843673 w 5843673"/>
              <a:gd name="connsiteY3" fmla="*/ 324217 h 6308726"/>
              <a:gd name="connsiteX4" fmla="*/ 5843673 w 5843673"/>
              <a:gd name="connsiteY4" fmla="*/ 6308726 h 6308726"/>
              <a:gd name="connsiteX5" fmla="*/ 0 w 5843673"/>
              <a:gd name="connsiteY5" fmla="*/ 6308726 h 6308726"/>
              <a:gd name="connsiteX6" fmla="*/ 1794 w 5843673"/>
              <a:gd name="connsiteY6" fmla="*/ 6216854 h 6308726"/>
              <a:gd name="connsiteX7" fmla="*/ 169011 w 5843673"/>
              <a:gd name="connsiteY7" fmla="*/ 5497469 h 6308726"/>
              <a:gd name="connsiteX8" fmla="*/ 963747 w 5843673"/>
              <a:gd name="connsiteY8" fmla="*/ 4220418 h 6308726"/>
              <a:gd name="connsiteX9" fmla="*/ 1895503 w 5843673"/>
              <a:gd name="connsiteY9" fmla="*/ 49436 h 6308726"/>
              <a:gd name="connsiteX10" fmla="*/ 2288427 w 5843673"/>
              <a:gd name="connsiteY10" fmla="*/ 794 h 630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43673" h="6308726">
                <a:moveTo>
                  <a:pt x="2288427" y="794"/>
                </a:moveTo>
                <a:cubicBezTo>
                  <a:pt x="3124170" y="31968"/>
                  <a:pt x="3456878" y="969546"/>
                  <a:pt x="4641439" y="581088"/>
                </a:cubicBezTo>
                <a:cubicBezTo>
                  <a:pt x="5013970" y="457767"/>
                  <a:pt x="5365787" y="378187"/>
                  <a:pt x="5696574" y="337126"/>
                </a:cubicBezTo>
                <a:lnTo>
                  <a:pt x="5843673" y="324217"/>
                </a:lnTo>
                <a:lnTo>
                  <a:pt x="5843673" y="6308726"/>
                </a:lnTo>
                <a:lnTo>
                  <a:pt x="0" y="6308726"/>
                </a:lnTo>
                <a:lnTo>
                  <a:pt x="1794" y="6216854"/>
                </a:lnTo>
                <a:cubicBezTo>
                  <a:pt x="18929" y="5931340"/>
                  <a:pt x="90223" y="5675599"/>
                  <a:pt x="169011" y="5497469"/>
                </a:cubicBezTo>
                <a:cubicBezTo>
                  <a:pt x="322477" y="5152174"/>
                  <a:pt x="821243" y="4565713"/>
                  <a:pt x="963747" y="4220418"/>
                </a:cubicBezTo>
                <a:cubicBezTo>
                  <a:pt x="1446067" y="3063941"/>
                  <a:pt x="-894" y="559164"/>
                  <a:pt x="1895503" y="49436"/>
                </a:cubicBezTo>
                <a:cubicBezTo>
                  <a:pt x="2039377" y="10385"/>
                  <a:pt x="2169035" y="-3660"/>
                  <a:pt x="2288427" y="794"/>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114B87FC-A38A-4591-9922-BC90266B211A}"/>
              </a:ext>
            </a:extLst>
          </p:cNvPr>
          <p:cNvSpPr>
            <a:spLocks noGrp="1"/>
          </p:cNvSpPr>
          <p:nvPr>
            <p:ph type="pic" sz="quarter" idx="11" hasCustomPrompt="1"/>
          </p:nvPr>
        </p:nvSpPr>
        <p:spPr>
          <a:xfrm>
            <a:off x="5843672" y="1797050"/>
            <a:ext cx="4819651" cy="4800600"/>
          </a:xfrm>
          <a:custGeom>
            <a:avLst/>
            <a:gdLst>
              <a:gd name="connsiteX0" fmla="*/ 0 w 4819650"/>
              <a:gd name="connsiteY0" fmla="*/ 0 h 4800600"/>
              <a:gd name="connsiteX1" fmla="*/ 4819650 w 4819650"/>
              <a:gd name="connsiteY1" fmla="*/ 0 h 4800600"/>
              <a:gd name="connsiteX2" fmla="*/ 4819650 w 4819650"/>
              <a:gd name="connsiteY2" fmla="*/ 4800600 h 4800600"/>
              <a:gd name="connsiteX3" fmla="*/ 0 w 4819650"/>
              <a:gd name="connsiteY3" fmla="*/ 4800600 h 4800600"/>
            </a:gdLst>
            <a:ahLst/>
            <a:cxnLst>
              <a:cxn ang="0">
                <a:pos x="connsiteX0" y="connsiteY0"/>
              </a:cxn>
              <a:cxn ang="0">
                <a:pos x="connsiteX1" y="connsiteY1"/>
              </a:cxn>
              <a:cxn ang="0">
                <a:pos x="connsiteX2" y="connsiteY2"/>
              </a:cxn>
              <a:cxn ang="0">
                <a:pos x="connsiteX3" y="connsiteY3"/>
              </a:cxn>
            </a:cxnLst>
            <a:rect l="l" t="t" r="r" b="b"/>
            <a:pathLst>
              <a:path w="4819650" h="4800600">
                <a:moveTo>
                  <a:pt x="0" y="0"/>
                </a:moveTo>
                <a:lnTo>
                  <a:pt x="4819650" y="0"/>
                </a:lnTo>
                <a:lnTo>
                  <a:pt x="4819650" y="4800600"/>
                </a:lnTo>
                <a:lnTo>
                  <a:pt x="0" y="4800600"/>
                </a:lnTo>
                <a:close/>
              </a:path>
            </a:pathLst>
          </a:custGeom>
          <a:noFill/>
          <a:effectLst>
            <a:outerShdw blurRad="1066800" dist="723900" dir="5400000" sx="86000" sy="86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08982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1+#ppt_w/2"/>
                                          </p:val>
                                        </p:tav>
                                        <p:tav tm="100000">
                                          <p:val>
                                            <p:strVal val="#ppt_x"/>
                                          </p:val>
                                        </p:tav>
                                      </p:tavLst>
                                    </p:anim>
                                    <p:anim calcmode="lin" valueType="num">
                                      <p:cBhvr additive="base">
                                        <p:cTn id="8" dur="1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1000" fill="hold"/>
                                        <p:tgtEl>
                                          <p:spTgt spid="9"/>
                                        </p:tgtEl>
                                        <p:attrNameLst>
                                          <p:attrName>ppt_x</p:attrName>
                                        </p:attrNameLst>
                                      </p:cBhvr>
                                      <p:tavLst>
                                        <p:tav tm="0">
                                          <p:val>
                                            <p:strVal val="1+#ppt_w/2"/>
                                          </p:val>
                                        </p:tav>
                                        <p:tav tm="100000">
                                          <p:val>
                                            <p:strVal val="#ppt_x"/>
                                          </p:val>
                                        </p:tav>
                                      </p:tavLst>
                                    </p:anim>
                                    <p:anim calcmode="lin" valueType="num">
                                      <p:cBhvr additive="base">
                                        <p:cTn id="12"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9_Title and Conten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C826877-B32F-4F26-A8F8-98B82E552BFF}"/>
              </a:ext>
            </a:extLst>
          </p:cNvPr>
          <p:cNvSpPr>
            <a:spLocks noGrp="1"/>
          </p:cNvSpPr>
          <p:nvPr>
            <p:ph type="pic" sz="quarter" idx="10" hasCustomPrompt="1"/>
          </p:nvPr>
        </p:nvSpPr>
        <p:spPr>
          <a:xfrm>
            <a:off x="0" y="0"/>
            <a:ext cx="12192000" cy="6858000"/>
          </a:xfrm>
          <a:prstGeom prst="rect">
            <a:avLst/>
          </a:prstGeom>
          <a:solidFill>
            <a:schemeClr val="bg1">
              <a:lumMod val="95000"/>
              <a:alpha val="25000"/>
            </a:schemeClr>
          </a:solidFill>
        </p:spPr>
        <p:txBody>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48638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6" presetClass="emph" presetSubtype="0" repeatCount="indefinite" decel="100000" autoRev="1" fill="hold" grpId="1" nodeType="withEffect">
                                  <p:stCondLst>
                                    <p:cond delay="0"/>
                                  </p:stCondLst>
                                  <p:childTnLst>
                                    <p:animScale>
                                      <p:cBhvr>
                                        <p:cTn id="9" dur="20000" fill="hold"/>
                                        <p:tgtEl>
                                          <p:spTgt spid="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0_Title and Content">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1168F48-343E-4B92-A6BD-43D92EC5E0E7}"/>
              </a:ext>
            </a:extLst>
          </p:cNvPr>
          <p:cNvSpPr/>
          <p:nvPr userDrawn="1"/>
        </p:nvSpPr>
        <p:spPr>
          <a:xfrm>
            <a:off x="5219700" y="0"/>
            <a:ext cx="6972301" cy="6858000"/>
          </a:xfrm>
          <a:custGeom>
            <a:avLst/>
            <a:gdLst>
              <a:gd name="connsiteX0" fmla="*/ 1658746 w 5332935"/>
              <a:gd name="connsiteY0" fmla="*/ 0 h 6858000"/>
              <a:gd name="connsiteX1" fmla="*/ 5332935 w 5332935"/>
              <a:gd name="connsiteY1" fmla="*/ 0 h 6858000"/>
              <a:gd name="connsiteX2" fmla="*/ 5332935 w 5332935"/>
              <a:gd name="connsiteY2" fmla="*/ 6858000 h 6858000"/>
              <a:gd name="connsiteX3" fmla="*/ 266502 w 5332935"/>
              <a:gd name="connsiteY3" fmla="*/ 6858000 h 6858000"/>
              <a:gd name="connsiteX4" fmla="*/ 218120 w 5332935"/>
              <a:gd name="connsiteY4" fmla="*/ 6750221 h 6858000"/>
              <a:gd name="connsiteX5" fmla="*/ 139725 w 5332935"/>
              <a:gd name="connsiteY5" fmla="*/ 6536357 h 6858000"/>
              <a:gd name="connsiteX6" fmla="*/ 1449720 w 5332935"/>
              <a:gd name="connsiteY6" fmla="*/ 2711728 h 6858000"/>
              <a:gd name="connsiteX7" fmla="*/ 1566730 w 5332935"/>
              <a:gd name="connsiteY7" fmla="*/ 1717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32935" h="6858000">
                <a:moveTo>
                  <a:pt x="1658746" y="0"/>
                </a:moveTo>
                <a:lnTo>
                  <a:pt x="5332935" y="0"/>
                </a:lnTo>
                <a:lnTo>
                  <a:pt x="5332935" y="6858000"/>
                </a:lnTo>
                <a:lnTo>
                  <a:pt x="266502" y="6858000"/>
                </a:lnTo>
                <a:lnTo>
                  <a:pt x="218120" y="6750221"/>
                </a:lnTo>
                <a:cubicBezTo>
                  <a:pt x="189953" y="6681019"/>
                  <a:pt x="163785" y="6609730"/>
                  <a:pt x="139725" y="6536357"/>
                </a:cubicBezTo>
                <a:cubicBezTo>
                  <a:pt x="-547474" y="4441971"/>
                  <a:pt x="1527640" y="3625849"/>
                  <a:pt x="1449720" y="2711728"/>
                </a:cubicBezTo>
                <a:cubicBezTo>
                  <a:pt x="1396262" y="2095405"/>
                  <a:pt x="1214984" y="967692"/>
                  <a:pt x="1566730" y="17171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Picture Placeholder 5">
            <a:extLst>
              <a:ext uri="{FF2B5EF4-FFF2-40B4-BE49-F238E27FC236}">
                <a16:creationId xmlns:a16="http://schemas.microsoft.com/office/drawing/2014/main" id="{9F65871E-8BA0-46CF-A66B-BA9A1A3F7DB9}"/>
              </a:ext>
            </a:extLst>
          </p:cNvPr>
          <p:cNvSpPr>
            <a:spLocks noGrp="1"/>
          </p:cNvSpPr>
          <p:nvPr>
            <p:ph type="pic" sz="quarter" idx="10" hasCustomPrompt="1"/>
          </p:nvPr>
        </p:nvSpPr>
        <p:spPr>
          <a:xfrm>
            <a:off x="5219699" y="0"/>
            <a:ext cx="6972301" cy="6858000"/>
          </a:xfrm>
          <a:custGeom>
            <a:avLst/>
            <a:gdLst>
              <a:gd name="connsiteX0" fmla="*/ 4224815 w 6972301"/>
              <a:gd name="connsiteY0" fmla="*/ 0 h 6858000"/>
              <a:gd name="connsiteX1" fmla="*/ 6972301 w 6972301"/>
              <a:gd name="connsiteY1" fmla="*/ 0 h 6858000"/>
              <a:gd name="connsiteX2" fmla="*/ 6972301 w 6972301"/>
              <a:gd name="connsiteY2" fmla="*/ 6858000 h 6858000"/>
              <a:gd name="connsiteX3" fmla="*/ 5841899 w 6972301"/>
              <a:gd name="connsiteY3" fmla="*/ 6858000 h 6858000"/>
              <a:gd name="connsiteX4" fmla="*/ 5710671 w 6972301"/>
              <a:gd name="connsiteY4" fmla="*/ 6745153 h 6858000"/>
              <a:gd name="connsiteX5" fmla="*/ 4956741 w 6972301"/>
              <a:gd name="connsiteY5" fmla="*/ 6455400 h 6858000"/>
              <a:gd name="connsiteX6" fmla="*/ 4107321 w 6972301"/>
              <a:gd name="connsiteY6" fmla="*/ 6846665 h 6858000"/>
              <a:gd name="connsiteX7" fmla="*/ 4094074 w 6972301"/>
              <a:gd name="connsiteY7" fmla="*/ 6858000 h 6858000"/>
              <a:gd name="connsiteX8" fmla="*/ 197432 w 6972301"/>
              <a:gd name="connsiteY8" fmla="*/ 6858000 h 6858000"/>
              <a:gd name="connsiteX9" fmla="*/ 121513 w 6972301"/>
              <a:gd name="connsiteY9" fmla="*/ 6678515 h 6858000"/>
              <a:gd name="connsiteX10" fmla="*/ 63383 w 6972301"/>
              <a:gd name="connsiteY10" fmla="*/ 6475856 h 6858000"/>
              <a:gd name="connsiteX11" fmla="*/ 2572695 w 6972301"/>
              <a:gd name="connsiteY11" fmla="*/ 2320602 h 6858000"/>
              <a:gd name="connsiteX12" fmla="*/ 4087214 w 6972301"/>
              <a:gd name="connsiteY12" fmla="*/ 6118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72301" h="6858000">
                <a:moveTo>
                  <a:pt x="4224815" y="0"/>
                </a:moveTo>
                <a:lnTo>
                  <a:pt x="6972301" y="0"/>
                </a:lnTo>
                <a:lnTo>
                  <a:pt x="6972301" y="6858000"/>
                </a:lnTo>
                <a:lnTo>
                  <a:pt x="5841899" y="6858000"/>
                </a:lnTo>
                <a:lnTo>
                  <a:pt x="5710671" y="6745153"/>
                </a:lnTo>
                <a:cubicBezTo>
                  <a:pt x="5515288" y="6595343"/>
                  <a:pt x="5276144" y="6486426"/>
                  <a:pt x="4956741" y="6455400"/>
                </a:cubicBezTo>
                <a:cubicBezTo>
                  <a:pt x="4644393" y="6426308"/>
                  <a:pt x="4394716" y="6603901"/>
                  <a:pt x="4107321" y="6846665"/>
                </a:cubicBezTo>
                <a:lnTo>
                  <a:pt x="4094074" y="6858000"/>
                </a:lnTo>
                <a:lnTo>
                  <a:pt x="197432" y="6858000"/>
                </a:lnTo>
                <a:lnTo>
                  <a:pt x="121513" y="6678515"/>
                </a:lnTo>
                <a:cubicBezTo>
                  <a:pt x="98429" y="6613280"/>
                  <a:pt x="78954" y="6545704"/>
                  <a:pt x="63383" y="6475856"/>
                </a:cubicBezTo>
                <a:cubicBezTo>
                  <a:pt x="-462585" y="4125523"/>
                  <a:pt x="2454324" y="4720367"/>
                  <a:pt x="2572695" y="2320602"/>
                </a:cubicBezTo>
                <a:cubicBezTo>
                  <a:pt x="2627663" y="1220289"/>
                  <a:pt x="3254906" y="470091"/>
                  <a:pt x="4087214" y="61182"/>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8048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1_Title and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DA9B32A-2C86-405C-8A0C-06F40F049286}"/>
              </a:ext>
            </a:extLst>
          </p:cNvPr>
          <p:cNvSpPr>
            <a:spLocks noGrp="1"/>
          </p:cNvSpPr>
          <p:nvPr>
            <p:ph type="pic" sz="quarter" idx="10" hasCustomPrompt="1"/>
          </p:nvPr>
        </p:nvSpPr>
        <p:spPr>
          <a:xfrm>
            <a:off x="0" y="0"/>
            <a:ext cx="5870616" cy="6858004"/>
          </a:xfrm>
          <a:custGeom>
            <a:avLst/>
            <a:gdLst>
              <a:gd name="connsiteX0" fmla="*/ 0 w 5870616"/>
              <a:gd name="connsiteY0" fmla="*/ 0 h 6858004"/>
              <a:gd name="connsiteX1" fmla="*/ 3867150 w 5870616"/>
              <a:gd name="connsiteY1" fmla="*/ 0 h 6858004"/>
              <a:gd name="connsiteX2" fmla="*/ 3867150 w 5870616"/>
              <a:gd name="connsiteY2" fmla="*/ 4 h 6858004"/>
              <a:gd name="connsiteX3" fmla="*/ 5600386 w 5870616"/>
              <a:gd name="connsiteY3" fmla="*/ 4 h 6858004"/>
              <a:gd name="connsiteX4" fmla="*/ 5614586 w 5870616"/>
              <a:gd name="connsiteY4" fmla="*/ 1684085 h 6858004"/>
              <a:gd name="connsiteX5" fmla="*/ 5870178 w 5870616"/>
              <a:gd name="connsiteY5" fmla="*/ 3417943 h 6858004"/>
              <a:gd name="connsiteX6" fmla="*/ 5538855 w 5870616"/>
              <a:gd name="connsiteY6" fmla="*/ 5126912 h 6858004"/>
              <a:gd name="connsiteX7" fmla="*/ 5600386 w 5870616"/>
              <a:gd name="connsiteY7" fmla="*/ 6858004 h 6858004"/>
              <a:gd name="connsiteX8" fmla="*/ 3399450 w 5870616"/>
              <a:gd name="connsiteY8" fmla="*/ 6858004 h 6858004"/>
              <a:gd name="connsiteX9" fmla="*/ 3399450 w 5870616"/>
              <a:gd name="connsiteY9" fmla="*/ 6858000 h 6858004"/>
              <a:gd name="connsiteX10" fmla="*/ 0 w 5870616"/>
              <a:gd name="connsiteY10" fmla="*/ 6858000 h 685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70616" h="6858004">
                <a:moveTo>
                  <a:pt x="0" y="0"/>
                </a:moveTo>
                <a:lnTo>
                  <a:pt x="3867150" y="0"/>
                </a:lnTo>
                <a:lnTo>
                  <a:pt x="3867150" y="4"/>
                </a:lnTo>
                <a:lnTo>
                  <a:pt x="5600386" y="4"/>
                </a:lnTo>
                <a:cubicBezTo>
                  <a:pt x="6040573" y="586252"/>
                  <a:pt x="5837047" y="1023174"/>
                  <a:pt x="5614586" y="1684085"/>
                </a:cubicBezTo>
                <a:cubicBezTo>
                  <a:pt x="5392125" y="2344997"/>
                  <a:pt x="5854401" y="2802658"/>
                  <a:pt x="5870178" y="3417943"/>
                </a:cubicBezTo>
                <a:cubicBezTo>
                  <a:pt x="5885956" y="4033227"/>
                  <a:pt x="5470224" y="4528680"/>
                  <a:pt x="5538855" y="5126912"/>
                </a:cubicBezTo>
                <a:cubicBezTo>
                  <a:pt x="5607486" y="5725143"/>
                  <a:pt x="6083172" y="6263921"/>
                  <a:pt x="5600386" y="6858004"/>
                </a:cubicBezTo>
                <a:lnTo>
                  <a:pt x="3399450" y="6858004"/>
                </a:lnTo>
                <a:lnTo>
                  <a:pt x="3399450" y="6858000"/>
                </a:lnTo>
                <a:lnTo>
                  <a:pt x="0" y="6858000"/>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588521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0-#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2_Title and Content">
    <p:bg>
      <p:bgPr>
        <a:solidFill>
          <a:srgbClr val="F5F6FA"/>
        </a:solidFill>
        <a:effectLst/>
      </p:bgPr>
    </p:bg>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D326A304-FD88-463D-9944-FF81AF9364F3}"/>
              </a:ext>
            </a:extLst>
          </p:cNvPr>
          <p:cNvSpPr/>
          <p:nvPr userDrawn="1"/>
        </p:nvSpPr>
        <p:spPr>
          <a:xfrm>
            <a:off x="-235905" y="721389"/>
            <a:ext cx="2299168" cy="2299168"/>
          </a:xfrm>
          <a:custGeom>
            <a:avLst/>
            <a:gdLst>
              <a:gd name="connsiteX0" fmla="*/ 750570 w 742950"/>
              <a:gd name="connsiteY0" fmla="*/ 375285 h 742950"/>
              <a:gd name="connsiteX1" fmla="*/ 375285 w 742950"/>
              <a:gd name="connsiteY1" fmla="*/ 750570 h 742950"/>
              <a:gd name="connsiteX2" fmla="*/ 0 w 742950"/>
              <a:gd name="connsiteY2" fmla="*/ 375285 h 742950"/>
              <a:gd name="connsiteX3" fmla="*/ 375285 w 742950"/>
              <a:gd name="connsiteY3" fmla="*/ 0 h 742950"/>
              <a:gd name="connsiteX4" fmla="*/ 750570 w 742950"/>
              <a:gd name="connsiteY4" fmla="*/ 375285 h 742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2950" h="742950">
                <a:moveTo>
                  <a:pt x="750570" y="375285"/>
                </a:moveTo>
                <a:cubicBezTo>
                  <a:pt x="750570" y="582549"/>
                  <a:pt x="582549" y="750570"/>
                  <a:pt x="375285" y="750570"/>
                </a:cubicBezTo>
                <a:cubicBezTo>
                  <a:pt x="168021" y="750570"/>
                  <a:pt x="0" y="582549"/>
                  <a:pt x="0" y="375285"/>
                </a:cubicBezTo>
                <a:cubicBezTo>
                  <a:pt x="0" y="168021"/>
                  <a:pt x="168021" y="0"/>
                  <a:pt x="375285" y="0"/>
                </a:cubicBezTo>
                <a:cubicBezTo>
                  <a:pt x="582549" y="0"/>
                  <a:pt x="750570" y="168021"/>
                  <a:pt x="750570" y="375285"/>
                </a:cubicBezTo>
                <a:close/>
              </a:path>
            </a:pathLst>
          </a:custGeom>
          <a:solidFill>
            <a:schemeClr val="accent2">
              <a:lumMod val="60000"/>
              <a:lumOff val="40000"/>
            </a:schemeClr>
          </a:solidFill>
          <a:ln w="9525" cap="flat">
            <a:noFill/>
            <a:prstDash val="solid"/>
            <a:miter/>
          </a:ln>
        </p:spPr>
        <p:txBody>
          <a:bodyPr rtlCol="0" anchor="ctr"/>
          <a:lstStyle/>
          <a:p>
            <a:endParaRPr lang="en-GB"/>
          </a:p>
        </p:txBody>
      </p:sp>
      <p:sp>
        <p:nvSpPr>
          <p:cNvPr id="7" name="Freeform: Shape 6">
            <a:extLst>
              <a:ext uri="{FF2B5EF4-FFF2-40B4-BE49-F238E27FC236}">
                <a16:creationId xmlns:a16="http://schemas.microsoft.com/office/drawing/2014/main" id="{01F50075-526D-46F0-B2C2-1761545F6CC5}"/>
              </a:ext>
            </a:extLst>
          </p:cNvPr>
          <p:cNvSpPr/>
          <p:nvPr userDrawn="1"/>
        </p:nvSpPr>
        <p:spPr>
          <a:xfrm>
            <a:off x="-846662" y="511056"/>
            <a:ext cx="5040477" cy="4716239"/>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6AC2A78C-6EE0-455E-A058-AD3C26BC209F}"/>
              </a:ext>
            </a:extLst>
          </p:cNvPr>
          <p:cNvSpPr/>
          <p:nvPr userDrawn="1"/>
        </p:nvSpPr>
        <p:spPr>
          <a:xfrm>
            <a:off x="2378662" y="5434681"/>
            <a:ext cx="501100" cy="501100"/>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13FDA12-9E12-46F4-A51F-CFB6F81E0D13}"/>
              </a:ext>
            </a:extLst>
          </p:cNvPr>
          <p:cNvSpPr/>
          <p:nvPr userDrawn="1"/>
        </p:nvSpPr>
        <p:spPr>
          <a:xfrm>
            <a:off x="1096432" y="264503"/>
            <a:ext cx="235815" cy="235815"/>
          </a:xfrm>
          <a:custGeom>
            <a:avLst/>
            <a:gdLst>
              <a:gd name="connsiteX0" fmla="*/ 76200 w 76200"/>
              <a:gd name="connsiteY0" fmla="*/ 38100 h 76200"/>
              <a:gd name="connsiteX1" fmla="*/ 38100 w 76200"/>
              <a:gd name="connsiteY1" fmla="*/ 76200 h 76200"/>
              <a:gd name="connsiteX2" fmla="*/ 0 w 76200"/>
              <a:gd name="connsiteY2" fmla="*/ 38100 h 76200"/>
              <a:gd name="connsiteX3" fmla="*/ 38100 w 76200"/>
              <a:gd name="connsiteY3" fmla="*/ 0 h 76200"/>
              <a:gd name="connsiteX4" fmla="*/ 76200 w 76200"/>
              <a:gd name="connsiteY4" fmla="*/ 3810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chemeClr val="accent2"/>
          </a:solidFill>
          <a:ln w="9525" cap="flat">
            <a:noFill/>
            <a:prstDash val="solid"/>
            <a:miter/>
          </a:ln>
        </p:spPr>
        <p:txBody>
          <a:bodyPr rtlCol="0" anchor="ctr"/>
          <a:lstStyle/>
          <a:p>
            <a:endParaRPr lang="en-GB"/>
          </a:p>
        </p:txBody>
      </p:sp>
      <p:pic>
        <p:nvPicPr>
          <p:cNvPr id="4" name="pasted-image.tiff">
            <a:extLst>
              <a:ext uri="{FF2B5EF4-FFF2-40B4-BE49-F238E27FC236}">
                <a16:creationId xmlns:a16="http://schemas.microsoft.com/office/drawing/2014/main" id="{ACF89424-7345-4AA5-898F-AA01BE816D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057" y="1945825"/>
            <a:ext cx="6083982" cy="3324614"/>
          </a:xfrm>
          <a:prstGeom prst="rect">
            <a:avLst/>
          </a:prstGeom>
          <a:ln w="12700">
            <a:miter lim="400000"/>
          </a:ln>
          <a:effectLst>
            <a:outerShdw blurRad="1270000" dir="5400000" sx="90000" sy="-19000" rotWithShape="0">
              <a:prstClr val="black">
                <a:alpha val="40000"/>
              </a:prstClr>
            </a:outerShdw>
          </a:effectLst>
        </p:spPr>
      </p:pic>
      <p:sp>
        <p:nvSpPr>
          <p:cNvPr id="3" name="Picture Placeholder 5">
            <a:extLst>
              <a:ext uri="{FF2B5EF4-FFF2-40B4-BE49-F238E27FC236}">
                <a16:creationId xmlns:a16="http://schemas.microsoft.com/office/drawing/2014/main" id="{92B387F9-3894-4053-8570-FDC32D1E4283}"/>
              </a:ext>
            </a:extLst>
          </p:cNvPr>
          <p:cNvSpPr>
            <a:spLocks noGrp="1"/>
          </p:cNvSpPr>
          <p:nvPr userDrawn="1">
            <p:ph type="pic" sz="quarter" idx="14" hasCustomPrompt="1"/>
          </p:nvPr>
        </p:nvSpPr>
        <p:spPr>
          <a:xfrm>
            <a:off x="1290117" y="2152650"/>
            <a:ext cx="4361862" cy="2728084"/>
          </a:xfrm>
          <a:prstGeom prst="rect">
            <a:avLst/>
          </a:prstGeom>
        </p:spPr>
        <p:txBody>
          <a:bodyPr anchor="t"/>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id-ID" sz="1200" baseline="0">
                <a:solidFill>
                  <a:schemeClr val="bg1">
                    <a:lumMod val="95000"/>
                  </a:schemeClr>
                </a:solidFill>
                <a:latin typeface="+mn-lt"/>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a:p>
        </p:txBody>
      </p:sp>
    </p:spTree>
    <p:extLst>
      <p:ext uri="{BB962C8B-B14F-4D97-AF65-F5344CB8AC3E}">
        <p14:creationId xmlns:p14="http://schemas.microsoft.com/office/powerpoint/2010/main" val="356892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ppt_x"/>
                                          </p:val>
                                        </p:tav>
                                        <p:tav tm="100000">
                                          <p:val>
                                            <p:strVal val="#ppt_x"/>
                                          </p:val>
                                        </p:tav>
                                      </p:tavLst>
                                    </p:anim>
                                    <p:anim calcmode="lin" valueType="num">
                                      <p:cBhvr additive="base">
                                        <p:cTn id="8" dur="1000" fill="hold"/>
                                        <p:tgtEl>
                                          <p:spTgt spid="4"/>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2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6" presetClass="emph" presetSubtype="0" decel="100000" fill="hold" grpId="1" nodeType="withEffect">
                                  <p:stCondLst>
                                    <p:cond delay="250"/>
                                  </p:stCondLst>
                                  <p:childTnLst>
                                    <p:animScale>
                                      <p:cBhvr>
                                        <p:cTn id="13" dur="3000" fill="hold"/>
                                        <p:tgtEl>
                                          <p:spTgt spid="7"/>
                                        </p:tgtEl>
                                      </p:cBhvr>
                                      <p:by x="108000" y="108000"/>
                                    </p:animScale>
                                  </p:childTnLst>
                                </p:cTn>
                              </p:par>
                              <p:par>
                                <p:cTn id="14" presetID="10" presetClass="entr" presetSubtype="0" fill="hold" grpId="0" nodeType="withEffect">
                                  <p:stCondLst>
                                    <p:cond delay="5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6" presetClass="emph" presetSubtype="0" decel="100000" fill="hold" grpId="1" nodeType="withEffect">
                                  <p:stCondLst>
                                    <p:cond delay="500"/>
                                  </p:stCondLst>
                                  <p:childTnLst>
                                    <p:animScale>
                                      <p:cBhvr>
                                        <p:cTn id="18" dur="3000" fill="hold"/>
                                        <p:tgtEl>
                                          <p:spTgt spid="6"/>
                                        </p:tgtEl>
                                      </p:cBhvr>
                                      <p:by x="108000" y="108000"/>
                                    </p:animScale>
                                  </p:childTnLst>
                                </p:cTn>
                              </p:par>
                              <p:par>
                                <p:cTn id="19" presetID="10" presetClass="entr" presetSubtype="0" fill="hold" grpId="0" nodeType="withEffect">
                                  <p:stCondLst>
                                    <p:cond delay="75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6" presetClass="emph" presetSubtype="0" decel="100000" fill="hold" grpId="1" nodeType="withEffect">
                                  <p:stCondLst>
                                    <p:cond delay="750"/>
                                  </p:stCondLst>
                                  <p:childTnLst>
                                    <p:animScale>
                                      <p:cBhvr>
                                        <p:cTn id="23" dur="3000" fill="hold"/>
                                        <p:tgtEl>
                                          <p:spTgt spid="9"/>
                                        </p:tgtEl>
                                      </p:cBhvr>
                                      <p:by x="108000" y="108000"/>
                                    </p:animScale>
                                  </p:childTnLst>
                                </p:cTn>
                              </p:par>
                              <p:par>
                                <p:cTn id="24" presetID="10" presetClass="entr" presetSubtype="0" fill="hold" grpId="0" nodeType="withEffect">
                                  <p:stCondLst>
                                    <p:cond delay="7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6" presetClass="emph" presetSubtype="0" decel="100000" fill="hold" grpId="1" nodeType="withEffect">
                                  <p:stCondLst>
                                    <p:cond delay="750"/>
                                  </p:stCondLst>
                                  <p:childTnLst>
                                    <p:animScale>
                                      <p:cBhvr>
                                        <p:cTn id="28" dur="3000" fill="hold"/>
                                        <p:tgtEl>
                                          <p:spTgt spid="8"/>
                                        </p:tgtEl>
                                      </p:cBhvr>
                                      <p:by x="108000" y="108000"/>
                                    </p:animScale>
                                  </p:childTnLst>
                                </p:cTn>
                              </p:par>
                              <p:par>
                                <p:cTn id="29" presetID="10" presetClass="entr" presetSubtype="0" fill="hold" grpId="0" nodeType="withEffect">
                                  <p:stCondLst>
                                    <p:cond delay="75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3"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Title and Content">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DF4EF37D-CE90-48BB-BC91-2157FD081ED7}"/>
              </a:ext>
            </a:extLst>
          </p:cNvPr>
          <p:cNvSpPr/>
          <p:nvPr userDrawn="1"/>
        </p:nvSpPr>
        <p:spPr>
          <a:xfrm>
            <a:off x="8242926" y="3432175"/>
            <a:ext cx="3949074" cy="3425826"/>
          </a:xfrm>
          <a:custGeom>
            <a:avLst/>
            <a:gdLst>
              <a:gd name="connsiteX0" fmla="*/ 3949074 w 3949074"/>
              <a:gd name="connsiteY0" fmla="*/ 0 h 3425826"/>
              <a:gd name="connsiteX1" fmla="*/ 3949074 w 3949074"/>
              <a:gd name="connsiteY1" fmla="*/ 3425826 h 3425826"/>
              <a:gd name="connsiteX2" fmla="*/ 8195 w 3949074"/>
              <a:gd name="connsiteY2" fmla="*/ 3425826 h 3425826"/>
              <a:gd name="connsiteX3" fmla="*/ 2347 w 3949074"/>
              <a:gd name="connsiteY3" fmla="*/ 3373638 h 3425826"/>
              <a:gd name="connsiteX4" fmla="*/ 541979 w 3949074"/>
              <a:gd name="connsiteY4" fmla="*/ 2350341 h 3425826"/>
              <a:gd name="connsiteX5" fmla="*/ 1778287 w 3949074"/>
              <a:gd name="connsiteY5" fmla="*/ 1638631 h 3425826"/>
              <a:gd name="connsiteX6" fmla="*/ 3820651 w 3949074"/>
              <a:gd name="connsiteY6" fmla="*/ 2159 h 342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9074" h="3425826">
                <a:moveTo>
                  <a:pt x="3949074" y="0"/>
                </a:moveTo>
                <a:lnTo>
                  <a:pt x="3949074" y="3425826"/>
                </a:lnTo>
                <a:lnTo>
                  <a:pt x="8195" y="3425826"/>
                </a:lnTo>
                <a:lnTo>
                  <a:pt x="2347" y="3373638"/>
                </a:lnTo>
                <a:cubicBezTo>
                  <a:pt x="-22713" y="2925894"/>
                  <a:pt x="152709" y="2482326"/>
                  <a:pt x="541979" y="2350341"/>
                </a:cubicBezTo>
                <a:cubicBezTo>
                  <a:pt x="859408" y="2243417"/>
                  <a:pt x="1661337" y="2430534"/>
                  <a:pt x="1778287" y="1638631"/>
                </a:cubicBezTo>
                <a:cubicBezTo>
                  <a:pt x="1875394" y="983929"/>
                  <a:pt x="2618590" y="79604"/>
                  <a:pt x="3820651" y="215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57B4C638-7109-4273-B484-CC1CFEE16B71}"/>
              </a:ext>
            </a:extLst>
          </p:cNvPr>
          <p:cNvSpPr/>
          <p:nvPr userDrawn="1"/>
        </p:nvSpPr>
        <p:spPr>
          <a:xfrm>
            <a:off x="1" y="1"/>
            <a:ext cx="8329997" cy="5930789"/>
          </a:xfrm>
          <a:custGeom>
            <a:avLst/>
            <a:gdLst>
              <a:gd name="connsiteX0" fmla="*/ 0 w 8329997"/>
              <a:gd name="connsiteY0" fmla="*/ 0 h 5930789"/>
              <a:gd name="connsiteX1" fmla="*/ 7542711 w 8329997"/>
              <a:gd name="connsiteY1" fmla="*/ 0 h 5930789"/>
              <a:gd name="connsiteX2" fmla="*/ 7568370 w 8329997"/>
              <a:gd name="connsiteY2" fmla="*/ 23070 h 5930789"/>
              <a:gd name="connsiteX3" fmla="*/ 8315605 w 8329997"/>
              <a:gd name="connsiteY3" fmla="*/ 2075917 h 5930789"/>
              <a:gd name="connsiteX4" fmla="*/ 7086635 w 8329997"/>
              <a:gd name="connsiteY4" fmla="*/ 3860524 h 5930789"/>
              <a:gd name="connsiteX5" fmla="*/ 5354032 w 8329997"/>
              <a:gd name="connsiteY5" fmla="*/ 4224561 h 5930789"/>
              <a:gd name="connsiteX6" fmla="*/ 2852296 w 8329997"/>
              <a:gd name="connsiteY6" fmla="*/ 4982747 h 5930789"/>
              <a:gd name="connsiteX7" fmla="*/ 607850 w 8329997"/>
              <a:gd name="connsiteY7" fmla="*/ 5910632 h 5930789"/>
              <a:gd name="connsiteX8" fmla="*/ 5853 w 8329997"/>
              <a:gd name="connsiteY8" fmla="*/ 5913424 h 5930789"/>
              <a:gd name="connsiteX9" fmla="*/ 0 w 8329997"/>
              <a:gd name="connsiteY9" fmla="*/ 5912451 h 5930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29997" h="5930789">
                <a:moveTo>
                  <a:pt x="0" y="0"/>
                </a:moveTo>
                <a:lnTo>
                  <a:pt x="7542711" y="0"/>
                </a:lnTo>
                <a:lnTo>
                  <a:pt x="7568370" y="23070"/>
                </a:lnTo>
                <a:cubicBezTo>
                  <a:pt x="8104847" y="554073"/>
                  <a:pt x="8400457" y="1325943"/>
                  <a:pt x="8315605" y="2075917"/>
                </a:cubicBezTo>
                <a:cubicBezTo>
                  <a:pt x="8236229" y="2825890"/>
                  <a:pt x="7765443" y="3532069"/>
                  <a:pt x="7086635" y="3860524"/>
                </a:cubicBezTo>
                <a:cubicBezTo>
                  <a:pt x="6552894" y="4117814"/>
                  <a:pt x="5942516" y="4142447"/>
                  <a:pt x="5354032" y="4224561"/>
                </a:cubicBezTo>
                <a:cubicBezTo>
                  <a:pt x="4489099" y="4344995"/>
                  <a:pt x="3640589" y="4602285"/>
                  <a:pt x="2852296" y="4982747"/>
                </a:cubicBezTo>
                <a:cubicBezTo>
                  <a:pt x="2121484" y="5338573"/>
                  <a:pt x="1415304" y="5806621"/>
                  <a:pt x="607850" y="5910632"/>
                </a:cubicBezTo>
                <a:cubicBezTo>
                  <a:pt x="408724" y="5936293"/>
                  <a:pt x="205364" y="5937705"/>
                  <a:pt x="5853" y="5913424"/>
                </a:cubicBezTo>
                <a:lnTo>
                  <a:pt x="0" y="59124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5B37E5B4-D99D-4D70-978B-44F226FE78AC}"/>
              </a:ext>
            </a:extLst>
          </p:cNvPr>
          <p:cNvSpPr>
            <a:spLocks noGrp="1"/>
          </p:cNvSpPr>
          <p:nvPr>
            <p:ph type="pic" sz="quarter" idx="11" hasCustomPrompt="1"/>
          </p:nvPr>
        </p:nvSpPr>
        <p:spPr>
          <a:xfrm>
            <a:off x="6192437" y="1860684"/>
            <a:ext cx="5053313" cy="2810096"/>
          </a:xfrm>
          <a:custGeom>
            <a:avLst/>
            <a:gdLst>
              <a:gd name="connsiteX0" fmla="*/ 0 w 5053313"/>
              <a:gd name="connsiteY0" fmla="*/ 0 h 2810096"/>
              <a:gd name="connsiteX1" fmla="*/ 5053313 w 5053313"/>
              <a:gd name="connsiteY1" fmla="*/ 0 h 2810096"/>
              <a:gd name="connsiteX2" fmla="*/ 5053313 w 5053313"/>
              <a:gd name="connsiteY2" fmla="*/ 2810096 h 2810096"/>
              <a:gd name="connsiteX3" fmla="*/ 0 w 5053313"/>
              <a:gd name="connsiteY3" fmla="*/ 2810096 h 2810096"/>
            </a:gdLst>
            <a:ahLst/>
            <a:cxnLst>
              <a:cxn ang="0">
                <a:pos x="connsiteX0" y="connsiteY0"/>
              </a:cxn>
              <a:cxn ang="0">
                <a:pos x="connsiteX1" y="connsiteY1"/>
              </a:cxn>
              <a:cxn ang="0">
                <a:pos x="connsiteX2" y="connsiteY2"/>
              </a:cxn>
              <a:cxn ang="0">
                <a:pos x="connsiteX3" y="connsiteY3"/>
              </a:cxn>
            </a:cxnLst>
            <a:rect l="l" t="t" r="r" b="b"/>
            <a:pathLst>
              <a:path w="5053313" h="2810096">
                <a:moveTo>
                  <a:pt x="0" y="0"/>
                </a:moveTo>
                <a:lnTo>
                  <a:pt x="5053313" y="0"/>
                </a:lnTo>
                <a:lnTo>
                  <a:pt x="5053313" y="2810096"/>
                </a:lnTo>
                <a:lnTo>
                  <a:pt x="0" y="2810096"/>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40D345E-7F9E-43C7-9CB7-E4B03CD94235}"/>
              </a:ext>
            </a:extLst>
          </p:cNvPr>
          <p:cNvSpPr>
            <a:spLocks noGrp="1"/>
          </p:cNvSpPr>
          <p:nvPr>
            <p:ph type="pic" sz="quarter" idx="10" hasCustomPrompt="1"/>
          </p:nvPr>
        </p:nvSpPr>
        <p:spPr>
          <a:xfrm>
            <a:off x="5691190" y="3562012"/>
            <a:ext cx="1181100" cy="2100263"/>
          </a:xfrm>
          <a:custGeom>
            <a:avLst/>
            <a:gdLst>
              <a:gd name="connsiteX0" fmla="*/ 0 w 1181100"/>
              <a:gd name="connsiteY0" fmla="*/ 0 h 2100263"/>
              <a:gd name="connsiteX1" fmla="*/ 1181100 w 1181100"/>
              <a:gd name="connsiteY1" fmla="*/ 0 h 2100263"/>
              <a:gd name="connsiteX2" fmla="*/ 1181100 w 1181100"/>
              <a:gd name="connsiteY2" fmla="*/ 2100263 h 2100263"/>
              <a:gd name="connsiteX3" fmla="*/ 0 w 1181100"/>
              <a:gd name="connsiteY3" fmla="*/ 2100263 h 2100263"/>
            </a:gdLst>
            <a:ahLst/>
            <a:cxnLst>
              <a:cxn ang="0">
                <a:pos x="connsiteX0" y="connsiteY0"/>
              </a:cxn>
              <a:cxn ang="0">
                <a:pos x="connsiteX1" y="connsiteY1"/>
              </a:cxn>
              <a:cxn ang="0">
                <a:pos x="connsiteX2" y="connsiteY2"/>
              </a:cxn>
              <a:cxn ang="0">
                <a:pos x="connsiteX3" y="connsiteY3"/>
              </a:cxn>
            </a:cxnLst>
            <a:rect l="l" t="t" r="r" b="b"/>
            <a:pathLst>
              <a:path w="1181100" h="2100263">
                <a:moveTo>
                  <a:pt x="0" y="0"/>
                </a:moveTo>
                <a:lnTo>
                  <a:pt x="1181100" y="0"/>
                </a:lnTo>
                <a:lnTo>
                  <a:pt x="1181100" y="2100263"/>
                </a:lnTo>
                <a:lnTo>
                  <a:pt x="0" y="2100263"/>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9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TextBox 7">
            <a:extLst>
              <a:ext uri="{FF2B5EF4-FFF2-40B4-BE49-F238E27FC236}">
                <a16:creationId xmlns:a16="http://schemas.microsoft.com/office/drawing/2014/main" id="{5FB4DE26-59D0-6E05-5CB1-063530F940C2}"/>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2"/>
                </a:solidFill>
                <a:latin typeface="Segoe UI" panose="020B0502040204020203" pitchFamily="34" charset="0"/>
                <a:cs typeface="Segoe UI" panose="020B0502040204020203" pitchFamily="34" charset="0"/>
              </a:rPr>
              <a:t>#BizzSummit2025</a:t>
            </a:r>
            <a:endParaRPr lang="en-GB" sz="1100" b="0">
              <a:solidFill>
                <a:schemeClr val="tx2"/>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774457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10" presetClass="entr" presetSubtype="0" fill="hold" grpId="0" nodeType="withEffect">
                                  <p:stCondLst>
                                    <p:cond delay="5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6" presetClass="emph" presetSubtype="0" decel="100000" fill="hold" grpId="1" nodeType="withEffect">
                                  <p:stCondLst>
                                    <p:cond delay="500"/>
                                  </p:stCondLst>
                                  <p:childTnLst>
                                    <p:animScale>
                                      <p:cBhvr>
                                        <p:cTn id="14" dur="3000" fill="hold"/>
                                        <p:tgtEl>
                                          <p:spTgt spid="15"/>
                                        </p:tgtEl>
                                      </p:cBhvr>
                                      <p:by x="108000" y="108000"/>
                                    </p:animScale>
                                  </p:childTnLst>
                                </p:cTn>
                              </p:par>
                              <p:par>
                                <p:cTn id="15" presetID="10" presetClass="entr" presetSubtype="0" fill="hold" grpId="0" nodeType="withEffect">
                                  <p:stCondLst>
                                    <p:cond delay="75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4" grpId="0" animBg="1"/>
      <p:bldP spid="14" grpId="1" animBg="1"/>
      <p:bldP spid="13" grpId="0" animBg="1"/>
      <p:bldP spid="10"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Title and Content">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D48E3F32-A2BD-4D9F-A14C-E2BD98ED87DE}"/>
              </a:ext>
            </a:extLst>
          </p:cNvPr>
          <p:cNvSpPr/>
          <p:nvPr userDrawn="1"/>
        </p:nvSpPr>
        <p:spPr>
          <a:xfrm>
            <a:off x="0" y="1823483"/>
            <a:ext cx="11350171" cy="5034518"/>
          </a:xfrm>
          <a:custGeom>
            <a:avLst/>
            <a:gdLst>
              <a:gd name="connsiteX0" fmla="*/ 463100 w 6050746"/>
              <a:gd name="connsiteY0" fmla="*/ 210 h 2683888"/>
              <a:gd name="connsiteX1" fmla="*/ 3762804 w 6050746"/>
              <a:gd name="connsiteY1" fmla="*/ 1085949 h 2683888"/>
              <a:gd name="connsiteX2" fmla="*/ 6039001 w 6050746"/>
              <a:gd name="connsiteY2" fmla="*/ 2619641 h 2683888"/>
              <a:gd name="connsiteX3" fmla="*/ 6027582 w 6050746"/>
              <a:gd name="connsiteY3" fmla="*/ 2683888 h 2683888"/>
              <a:gd name="connsiteX4" fmla="*/ 5710075 w 6050746"/>
              <a:gd name="connsiteY4" fmla="*/ 2683888 h 2683888"/>
              <a:gd name="connsiteX5" fmla="*/ 5719676 w 6050746"/>
              <a:gd name="connsiteY5" fmla="*/ 2524154 h 2683888"/>
              <a:gd name="connsiteX6" fmla="*/ 3467973 w 6050746"/>
              <a:gd name="connsiteY6" fmla="*/ 1331949 h 2683888"/>
              <a:gd name="connsiteX7" fmla="*/ 220109 w 6050746"/>
              <a:gd name="connsiteY7" fmla="*/ 355289 h 2683888"/>
              <a:gd name="connsiteX8" fmla="*/ 17109 w 6050746"/>
              <a:gd name="connsiteY8" fmla="*/ 370693 h 2683888"/>
              <a:gd name="connsiteX9" fmla="*/ 0 w 6050746"/>
              <a:gd name="connsiteY9" fmla="*/ 374625 h 2683888"/>
              <a:gd name="connsiteX10" fmla="*/ 0 w 6050746"/>
              <a:gd name="connsiteY10" fmla="*/ 107185 h 2683888"/>
              <a:gd name="connsiteX11" fmla="*/ 53532 w 6050746"/>
              <a:gd name="connsiteY11" fmla="*/ 81095 h 2683888"/>
              <a:gd name="connsiteX12" fmla="*/ 463100 w 6050746"/>
              <a:gd name="connsiteY12" fmla="*/ 210 h 268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50746" h="2683888">
                <a:moveTo>
                  <a:pt x="463100" y="210"/>
                </a:moveTo>
                <a:cubicBezTo>
                  <a:pt x="1524120" y="21295"/>
                  <a:pt x="2686908" y="1626593"/>
                  <a:pt x="3762804" y="1085949"/>
                </a:cubicBezTo>
                <a:cubicBezTo>
                  <a:pt x="4925617" y="499803"/>
                  <a:pt x="6186044" y="1499026"/>
                  <a:pt x="6039001" y="2619641"/>
                </a:cubicBezTo>
                <a:lnTo>
                  <a:pt x="6027582" y="2683888"/>
                </a:lnTo>
                <a:lnTo>
                  <a:pt x="5710075" y="2683888"/>
                </a:lnTo>
                <a:lnTo>
                  <a:pt x="5719676" y="2524154"/>
                </a:lnTo>
                <a:cubicBezTo>
                  <a:pt x="5698441" y="1596742"/>
                  <a:pt x="4540985" y="837644"/>
                  <a:pt x="3467973" y="1331949"/>
                </a:cubicBezTo>
                <a:cubicBezTo>
                  <a:pt x="2408980" y="1818277"/>
                  <a:pt x="1264460" y="374256"/>
                  <a:pt x="220109" y="355289"/>
                </a:cubicBezTo>
                <a:cubicBezTo>
                  <a:pt x="151999" y="354052"/>
                  <a:pt x="84315" y="358877"/>
                  <a:pt x="17109" y="370693"/>
                </a:cubicBezTo>
                <a:lnTo>
                  <a:pt x="0" y="374625"/>
                </a:lnTo>
                <a:lnTo>
                  <a:pt x="0" y="107185"/>
                </a:lnTo>
                <a:lnTo>
                  <a:pt x="53532" y="81095"/>
                </a:lnTo>
                <a:cubicBezTo>
                  <a:pt x="188044" y="21663"/>
                  <a:pt x="324706" y="-2540"/>
                  <a:pt x="463100" y="210"/>
                </a:cubicBezTo>
                <a:close/>
              </a:path>
            </a:pathLst>
          </a:custGeom>
          <a:solidFill>
            <a:schemeClr val="accent5">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Freeform: Shape 18">
            <a:extLst>
              <a:ext uri="{FF2B5EF4-FFF2-40B4-BE49-F238E27FC236}">
                <a16:creationId xmlns:a16="http://schemas.microsoft.com/office/drawing/2014/main" id="{2F09596A-AA7C-4E10-84A5-690BF60E196F}"/>
              </a:ext>
            </a:extLst>
          </p:cNvPr>
          <p:cNvSpPr/>
          <p:nvPr userDrawn="1"/>
        </p:nvSpPr>
        <p:spPr>
          <a:xfrm>
            <a:off x="0" y="2829997"/>
            <a:ext cx="9081012" cy="4028003"/>
          </a:xfrm>
          <a:custGeom>
            <a:avLst/>
            <a:gdLst>
              <a:gd name="connsiteX0" fmla="*/ 695025 w 9081012"/>
              <a:gd name="connsiteY0" fmla="*/ 315 h 4028003"/>
              <a:gd name="connsiteX1" fmla="*/ 5647248 w 9081012"/>
              <a:gd name="connsiteY1" fmla="*/ 1629802 h 4028003"/>
              <a:gd name="connsiteX2" fmla="*/ 9063385 w 9081012"/>
              <a:gd name="connsiteY2" fmla="*/ 3931581 h 4028003"/>
              <a:gd name="connsiteX3" fmla="*/ 9046247 w 9081012"/>
              <a:gd name="connsiteY3" fmla="*/ 4028003 h 4028003"/>
              <a:gd name="connsiteX4" fmla="*/ 0 w 9081012"/>
              <a:gd name="connsiteY4" fmla="*/ 4028003 h 4028003"/>
              <a:gd name="connsiteX5" fmla="*/ 0 w 9081012"/>
              <a:gd name="connsiteY5" fmla="*/ 160864 h 4028003"/>
              <a:gd name="connsiteX6" fmla="*/ 80341 w 9081012"/>
              <a:gd name="connsiteY6" fmla="*/ 121708 h 4028003"/>
              <a:gd name="connsiteX7" fmla="*/ 695025 w 9081012"/>
              <a:gd name="connsiteY7" fmla="*/ 315 h 402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81012" h="4028003">
                <a:moveTo>
                  <a:pt x="695025" y="315"/>
                </a:moveTo>
                <a:cubicBezTo>
                  <a:pt x="2287412" y="31960"/>
                  <a:pt x="4032534" y="2441205"/>
                  <a:pt x="5647248" y="1629802"/>
                </a:cubicBezTo>
                <a:cubicBezTo>
                  <a:pt x="7392409" y="750109"/>
                  <a:pt x="9284068" y="2249751"/>
                  <a:pt x="9063385" y="3931581"/>
                </a:cubicBezTo>
                <a:lnTo>
                  <a:pt x="9046247" y="4028003"/>
                </a:lnTo>
                <a:lnTo>
                  <a:pt x="0" y="4028003"/>
                </a:lnTo>
                <a:lnTo>
                  <a:pt x="0" y="160864"/>
                </a:lnTo>
                <a:lnTo>
                  <a:pt x="80341" y="121708"/>
                </a:lnTo>
                <a:cubicBezTo>
                  <a:pt x="282218" y="32511"/>
                  <a:pt x="487322" y="-3812"/>
                  <a:pt x="695025" y="315"/>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Shape 16">
            <a:extLst>
              <a:ext uri="{FF2B5EF4-FFF2-40B4-BE49-F238E27FC236}">
                <a16:creationId xmlns:a16="http://schemas.microsoft.com/office/drawing/2014/main" id="{F6FAD4AF-4AF6-4881-A9A7-E99D71C1136A}"/>
              </a:ext>
            </a:extLst>
          </p:cNvPr>
          <p:cNvSpPr/>
          <p:nvPr userDrawn="1"/>
        </p:nvSpPr>
        <p:spPr>
          <a:xfrm>
            <a:off x="9000928" y="-1"/>
            <a:ext cx="3191072" cy="4124444"/>
          </a:xfrm>
          <a:custGeom>
            <a:avLst/>
            <a:gdLst>
              <a:gd name="connsiteX0" fmla="*/ 2181962 w 3191072"/>
              <a:gd name="connsiteY0" fmla="*/ 0 h 4124444"/>
              <a:gd name="connsiteX1" fmla="*/ 3191072 w 3191072"/>
              <a:gd name="connsiteY1" fmla="*/ 0 h 4124444"/>
              <a:gd name="connsiteX2" fmla="*/ 3191072 w 3191072"/>
              <a:gd name="connsiteY2" fmla="*/ 4124444 h 4124444"/>
              <a:gd name="connsiteX3" fmla="*/ 3121226 w 3191072"/>
              <a:gd name="connsiteY3" fmla="*/ 4062468 h 4124444"/>
              <a:gd name="connsiteX4" fmla="*/ 1848416 w 3191072"/>
              <a:gd name="connsiteY4" fmla="*/ 3570561 h 4124444"/>
              <a:gd name="connsiteX5" fmla="*/ 544863 w 3191072"/>
              <a:gd name="connsiteY5" fmla="*/ 597255 h 4124444"/>
              <a:gd name="connsiteX6" fmla="*/ 1711775 w 3191072"/>
              <a:gd name="connsiteY6" fmla="*/ 1012643 h 4124444"/>
              <a:gd name="connsiteX7" fmla="*/ 2130580 w 3191072"/>
              <a:gd name="connsiteY7" fmla="*/ 205437 h 412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1072" h="4124444">
                <a:moveTo>
                  <a:pt x="2181962" y="0"/>
                </a:moveTo>
                <a:lnTo>
                  <a:pt x="3191072" y="0"/>
                </a:lnTo>
                <a:lnTo>
                  <a:pt x="3191072" y="4124444"/>
                </a:lnTo>
                <a:lnTo>
                  <a:pt x="3121226" y="4062468"/>
                </a:lnTo>
                <a:cubicBezTo>
                  <a:pt x="2800803" y="3770740"/>
                  <a:pt x="2466033" y="3438019"/>
                  <a:pt x="1848416" y="3570561"/>
                </a:cubicBezTo>
                <a:cubicBezTo>
                  <a:pt x="200528" y="3923093"/>
                  <a:pt x="-616586" y="1356978"/>
                  <a:pt x="544863" y="597255"/>
                </a:cubicBezTo>
                <a:cubicBezTo>
                  <a:pt x="1091427" y="239255"/>
                  <a:pt x="1476753" y="1105559"/>
                  <a:pt x="1711775" y="1012643"/>
                </a:cubicBezTo>
                <a:cubicBezTo>
                  <a:pt x="1933134" y="929292"/>
                  <a:pt x="2040397" y="564461"/>
                  <a:pt x="2130580" y="205437"/>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Freeform: Shape 13">
            <a:extLst>
              <a:ext uri="{FF2B5EF4-FFF2-40B4-BE49-F238E27FC236}">
                <a16:creationId xmlns:a16="http://schemas.microsoft.com/office/drawing/2014/main" id="{4530EAF1-97B1-4C80-91D9-30DC29AE69D6}"/>
              </a:ext>
            </a:extLst>
          </p:cNvPr>
          <p:cNvSpPr/>
          <p:nvPr userDrawn="1"/>
        </p:nvSpPr>
        <p:spPr>
          <a:xfrm>
            <a:off x="10184375" y="2234633"/>
            <a:ext cx="1878558" cy="1878558"/>
          </a:xfrm>
          <a:custGeom>
            <a:avLst/>
            <a:gdLst>
              <a:gd name="connsiteX0" fmla="*/ 741045 w 733425"/>
              <a:gd name="connsiteY0" fmla="*/ 370523 h 733425"/>
              <a:gd name="connsiteX1" fmla="*/ 370522 w 733425"/>
              <a:gd name="connsiteY1" fmla="*/ 741045 h 733425"/>
              <a:gd name="connsiteX2" fmla="*/ 0 w 733425"/>
              <a:gd name="connsiteY2" fmla="*/ 370523 h 733425"/>
              <a:gd name="connsiteX3" fmla="*/ 370522 w 733425"/>
              <a:gd name="connsiteY3" fmla="*/ 0 h 733425"/>
              <a:gd name="connsiteX4" fmla="*/ 741045 w 733425"/>
              <a:gd name="connsiteY4" fmla="*/ 370523 h 733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425" h="733425">
                <a:moveTo>
                  <a:pt x="741045" y="370523"/>
                </a:moveTo>
                <a:cubicBezTo>
                  <a:pt x="741045" y="575156"/>
                  <a:pt x="575156" y="741045"/>
                  <a:pt x="370522" y="741045"/>
                </a:cubicBezTo>
                <a:cubicBezTo>
                  <a:pt x="165889" y="741045"/>
                  <a:pt x="0" y="575156"/>
                  <a:pt x="0" y="370523"/>
                </a:cubicBezTo>
                <a:cubicBezTo>
                  <a:pt x="0" y="165889"/>
                  <a:pt x="165889" y="0"/>
                  <a:pt x="370522" y="0"/>
                </a:cubicBezTo>
                <a:cubicBezTo>
                  <a:pt x="575156" y="0"/>
                  <a:pt x="741045" y="165889"/>
                  <a:pt x="741045" y="370523"/>
                </a:cubicBezTo>
                <a:close/>
              </a:path>
            </a:pathLst>
          </a:custGeom>
          <a:solidFill>
            <a:schemeClr val="accent6">
              <a:lumMod val="60000"/>
              <a:lumOff val="40000"/>
            </a:schemeClr>
          </a:solidFill>
          <a:ln w="9525" cap="flat">
            <a:noFill/>
            <a:prstDash val="solid"/>
            <a:miter/>
          </a:ln>
        </p:spPr>
        <p:txBody>
          <a:bodyPr rtlCol="0" anchor="ctr"/>
          <a:lstStyle/>
          <a:p>
            <a:endParaRPr lang="en-GB"/>
          </a:p>
        </p:txBody>
      </p:sp>
      <p:pic>
        <p:nvPicPr>
          <p:cNvPr id="2" name="Picture 1">
            <a:extLst>
              <a:ext uri="{FF2B5EF4-FFF2-40B4-BE49-F238E27FC236}">
                <a16:creationId xmlns:a16="http://schemas.microsoft.com/office/drawing/2014/main" id="{6D110326-BC90-440A-B3E0-6610ABEACD6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1275606" y="775684"/>
            <a:ext cx="2284971" cy="4458425"/>
          </a:xfrm>
          <a:prstGeom prst="rect">
            <a:avLst/>
          </a:prstGeom>
          <a:effectLst>
            <a:outerShdw blurRad="711200" dist="38100" sx="95000" sy="95000" algn="l" rotWithShape="0">
              <a:prstClr val="black">
                <a:alpha val="15000"/>
              </a:prstClr>
            </a:outerShdw>
          </a:effectLst>
        </p:spPr>
      </p:pic>
      <p:pic>
        <p:nvPicPr>
          <p:cNvPr id="4" name="Picture 3">
            <a:extLst>
              <a:ext uri="{FF2B5EF4-FFF2-40B4-BE49-F238E27FC236}">
                <a16:creationId xmlns:a16="http://schemas.microsoft.com/office/drawing/2014/main" id="{3287A13B-01B9-4FFE-9029-710700E8CA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5509460" y="3099417"/>
            <a:ext cx="2284971" cy="4458425"/>
          </a:xfrm>
          <a:prstGeom prst="rect">
            <a:avLst/>
          </a:prstGeom>
          <a:effectLst>
            <a:outerShdw blurRad="711200" dist="38100" sx="95000" sy="95000" algn="l" rotWithShape="0">
              <a:prstClr val="black">
                <a:alpha val="15000"/>
              </a:prstClr>
            </a:outerShdw>
          </a:effectLst>
        </p:spPr>
      </p:pic>
      <p:pic>
        <p:nvPicPr>
          <p:cNvPr id="6" name="Picture 5">
            <a:extLst>
              <a:ext uri="{FF2B5EF4-FFF2-40B4-BE49-F238E27FC236}">
                <a16:creationId xmlns:a16="http://schemas.microsoft.com/office/drawing/2014/main" id="{3FB66561-02D3-4ABD-8A81-7F65A3D877E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0700000">
            <a:off x="8977318" y="985222"/>
            <a:ext cx="2284971" cy="4458425"/>
          </a:xfrm>
          <a:prstGeom prst="rect">
            <a:avLst/>
          </a:prstGeom>
          <a:effectLst>
            <a:outerShdw blurRad="711200" dist="38100" sx="95000" sy="95000" algn="l" rotWithShape="0">
              <a:prstClr val="black">
                <a:alpha val="15000"/>
              </a:prstClr>
            </a:outerShdw>
          </a:effectLst>
        </p:spPr>
      </p:pic>
      <p:sp>
        <p:nvSpPr>
          <p:cNvPr id="11" name="Picture Placeholder 10">
            <a:extLst>
              <a:ext uri="{FF2B5EF4-FFF2-40B4-BE49-F238E27FC236}">
                <a16:creationId xmlns:a16="http://schemas.microsoft.com/office/drawing/2014/main" id="{3901E88D-5546-4563-9180-355FD3BDADE2}"/>
              </a:ext>
            </a:extLst>
          </p:cNvPr>
          <p:cNvSpPr>
            <a:spLocks noGrp="1"/>
          </p:cNvSpPr>
          <p:nvPr>
            <p:ph type="pic" sz="quarter" idx="11" hasCustomPrompt="1"/>
          </p:nvPr>
        </p:nvSpPr>
        <p:spPr>
          <a:xfrm rot="20700000">
            <a:off x="5701089" y="3635033"/>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2" name="Picture Placeholder 11">
            <a:extLst>
              <a:ext uri="{FF2B5EF4-FFF2-40B4-BE49-F238E27FC236}">
                <a16:creationId xmlns:a16="http://schemas.microsoft.com/office/drawing/2014/main" id="{733BC4A5-42DA-4CEE-961B-F6C6DF21A10E}"/>
              </a:ext>
            </a:extLst>
          </p:cNvPr>
          <p:cNvSpPr>
            <a:spLocks noGrp="1"/>
          </p:cNvSpPr>
          <p:nvPr>
            <p:ph type="pic" sz="quarter" idx="12" hasCustomPrompt="1"/>
          </p:nvPr>
        </p:nvSpPr>
        <p:spPr>
          <a:xfrm rot="20700000">
            <a:off x="9168947" y="1520838"/>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E2084B53-D8F7-4E6E-97EF-C1340870D4B2}"/>
              </a:ext>
            </a:extLst>
          </p:cNvPr>
          <p:cNvSpPr>
            <a:spLocks noGrp="1"/>
          </p:cNvSpPr>
          <p:nvPr>
            <p:ph type="pic" sz="quarter" idx="10" hasCustomPrompt="1"/>
          </p:nvPr>
        </p:nvSpPr>
        <p:spPr>
          <a:xfrm rot="20700000">
            <a:off x="1467236" y="1311300"/>
            <a:ext cx="1886591" cy="3330752"/>
          </a:xfrm>
          <a:custGeom>
            <a:avLst/>
            <a:gdLst>
              <a:gd name="connsiteX0" fmla="*/ 0 w 1886591"/>
              <a:gd name="connsiteY0" fmla="*/ 0 h 3330752"/>
              <a:gd name="connsiteX1" fmla="*/ 1886591 w 1886591"/>
              <a:gd name="connsiteY1" fmla="*/ 0 h 3330752"/>
              <a:gd name="connsiteX2" fmla="*/ 1886591 w 1886591"/>
              <a:gd name="connsiteY2" fmla="*/ 3330752 h 3330752"/>
              <a:gd name="connsiteX3" fmla="*/ 0 w 1886591"/>
              <a:gd name="connsiteY3" fmla="*/ 3330752 h 3330752"/>
            </a:gdLst>
            <a:ahLst/>
            <a:cxnLst>
              <a:cxn ang="0">
                <a:pos x="connsiteX0" y="connsiteY0"/>
              </a:cxn>
              <a:cxn ang="0">
                <a:pos x="connsiteX1" y="connsiteY1"/>
              </a:cxn>
              <a:cxn ang="0">
                <a:pos x="connsiteX2" y="connsiteY2"/>
              </a:cxn>
              <a:cxn ang="0">
                <a:pos x="connsiteX3" y="connsiteY3"/>
              </a:cxn>
            </a:cxnLst>
            <a:rect l="l" t="t" r="r" b="b"/>
            <a:pathLst>
              <a:path w="1886591" h="3330752">
                <a:moveTo>
                  <a:pt x="0" y="0"/>
                </a:moveTo>
                <a:lnTo>
                  <a:pt x="1886591" y="0"/>
                </a:lnTo>
                <a:lnTo>
                  <a:pt x="1886591" y="3330752"/>
                </a:lnTo>
                <a:lnTo>
                  <a:pt x="0" y="3330752"/>
                </a:lnTo>
                <a:close/>
              </a:path>
            </a:pathLst>
          </a:custGeom>
          <a:solidFill>
            <a:schemeClr val="bg1">
              <a:lumMod val="85000"/>
            </a:schemeClr>
          </a:solidFill>
          <a:effectLst>
            <a:innerShdw blurRad="127000">
              <a:prstClr val="black">
                <a:alpha val="20000"/>
              </a:prstClr>
            </a:inn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pic>
        <p:nvPicPr>
          <p:cNvPr id="3" name="Imagen 2" descr="Logotipo&#10;&#10;El contenido generado por IA puede ser incorrecto.">
            <a:extLst>
              <a:ext uri="{FF2B5EF4-FFF2-40B4-BE49-F238E27FC236}">
                <a16:creationId xmlns:a16="http://schemas.microsoft.com/office/drawing/2014/main" id="{2C30ACEE-87E3-0B97-CA08-44B6323EC22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Tree>
    <p:extLst>
      <p:ext uri="{BB962C8B-B14F-4D97-AF65-F5344CB8AC3E}">
        <p14:creationId xmlns:p14="http://schemas.microsoft.com/office/powerpoint/2010/main" val="2027703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6" presetClass="emph" presetSubtype="0" decel="100000" fill="hold" grpId="1" nodeType="withEffect">
                                  <p:stCondLst>
                                    <p:cond delay="0"/>
                                  </p:stCondLst>
                                  <p:childTnLst>
                                    <p:animScale>
                                      <p:cBhvr>
                                        <p:cTn id="9" dur="3000" fill="hold"/>
                                        <p:tgtEl>
                                          <p:spTgt spid="19"/>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6" presetClass="emph" presetSubtype="0" decel="100000" fill="hold" grpId="1" nodeType="withEffect">
                                  <p:stCondLst>
                                    <p:cond delay="250"/>
                                  </p:stCondLst>
                                  <p:childTnLst>
                                    <p:animScale>
                                      <p:cBhvr>
                                        <p:cTn id="14" dur="3000" fill="hold"/>
                                        <p:tgtEl>
                                          <p:spTgt spid="22"/>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par>
                                <p:cTn id="18" presetID="6" presetClass="emph" presetSubtype="0" decel="100000" fill="hold" grpId="1" nodeType="withEffect">
                                  <p:stCondLst>
                                    <p:cond delay="500"/>
                                  </p:stCondLst>
                                  <p:childTnLst>
                                    <p:animScale>
                                      <p:cBhvr>
                                        <p:cTn id="19" dur="3000" fill="hold"/>
                                        <p:tgtEl>
                                          <p:spTgt spid="17"/>
                                        </p:tgtEl>
                                      </p:cBhvr>
                                      <p:by x="108000" y="108000"/>
                                    </p:animScale>
                                  </p:childTnLst>
                                </p:cTn>
                              </p:par>
                              <p:par>
                                <p:cTn id="20" presetID="10" presetClass="entr" presetSubtype="0" fill="hold" grpId="0" nodeType="withEffect">
                                  <p:stCondLst>
                                    <p:cond delay="50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par>
                                <p:cTn id="23" presetID="6" presetClass="emph" presetSubtype="0" decel="100000" fill="hold" grpId="1" nodeType="withEffect">
                                  <p:stCondLst>
                                    <p:cond delay="500"/>
                                  </p:stCondLst>
                                  <p:childTnLst>
                                    <p:animScale>
                                      <p:cBhvr>
                                        <p:cTn id="24" dur="3000" fill="hold"/>
                                        <p:tgtEl>
                                          <p:spTgt spid="14"/>
                                        </p:tgtEl>
                                      </p:cBhvr>
                                      <p:by x="108000" y="108000"/>
                                    </p:animScale>
                                  </p:childTnLst>
                                </p:cTn>
                              </p:par>
                              <p:par>
                                <p:cTn id="25" presetID="2" presetClass="entr" presetSubtype="4" decel="100000"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1000" fill="hold"/>
                                        <p:tgtEl>
                                          <p:spTgt spid="2"/>
                                        </p:tgtEl>
                                        <p:attrNameLst>
                                          <p:attrName>ppt_x</p:attrName>
                                        </p:attrNameLst>
                                      </p:cBhvr>
                                      <p:tavLst>
                                        <p:tav tm="0">
                                          <p:val>
                                            <p:strVal val="#ppt_x"/>
                                          </p:val>
                                        </p:tav>
                                        <p:tav tm="100000">
                                          <p:val>
                                            <p:strVal val="#ppt_x"/>
                                          </p:val>
                                        </p:tav>
                                      </p:tavLst>
                                    </p:anim>
                                    <p:anim calcmode="lin" valueType="num">
                                      <p:cBhvr additive="base">
                                        <p:cTn id="28" dur="1000" fill="hold"/>
                                        <p:tgtEl>
                                          <p:spTgt spid="2"/>
                                        </p:tgtEl>
                                        <p:attrNameLst>
                                          <p:attrName>ppt_y</p:attrName>
                                        </p:attrNameLst>
                                      </p:cBhvr>
                                      <p:tavLst>
                                        <p:tav tm="0">
                                          <p:val>
                                            <p:strVal val="1+#ppt_h/2"/>
                                          </p:val>
                                        </p:tav>
                                        <p:tav tm="100000">
                                          <p:val>
                                            <p:strVal val="#ppt_y"/>
                                          </p:val>
                                        </p:tav>
                                      </p:tavLst>
                                    </p:anim>
                                  </p:childTnLst>
                                </p:cTn>
                              </p:par>
                              <p:par>
                                <p:cTn id="29" presetID="2" presetClass="entr" presetSubtype="4" decel="100000" fill="hold" nodeType="withEffect">
                                  <p:stCondLst>
                                    <p:cond delay="25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1000" fill="hold"/>
                                        <p:tgtEl>
                                          <p:spTgt spid="4"/>
                                        </p:tgtEl>
                                        <p:attrNameLst>
                                          <p:attrName>ppt_x</p:attrName>
                                        </p:attrNameLst>
                                      </p:cBhvr>
                                      <p:tavLst>
                                        <p:tav tm="0">
                                          <p:val>
                                            <p:strVal val="#ppt_x"/>
                                          </p:val>
                                        </p:tav>
                                        <p:tav tm="100000">
                                          <p:val>
                                            <p:strVal val="#ppt_x"/>
                                          </p:val>
                                        </p:tav>
                                      </p:tavLst>
                                    </p:anim>
                                    <p:anim calcmode="lin" valueType="num">
                                      <p:cBhvr additive="base">
                                        <p:cTn id="32" dur="1000" fill="hold"/>
                                        <p:tgtEl>
                                          <p:spTgt spid="4"/>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50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1000" fill="hold"/>
                                        <p:tgtEl>
                                          <p:spTgt spid="6"/>
                                        </p:tgtEl>
                                        <p:attrNameLst>
                                          <p:attrName>ppt_x</p:attrName>
                                        </p:attrNameLst>
                                      </p:cBhvr>
                                      <p:tavLst>
                                        <p:tav tm="0">
                                          <p:val>
                                            <p:strVal val="#ppt_x"/>
                                          </p:val>
                                        </p:tav>
                                        <p:tav tm="100000">
                                          <p:val>
                                            <p:strVal val="#ppt_x"/>
                                          </p:val>
                                        </p:tav>
                                      </p:tavLst>
                                    </p:anim>
                                    <p:anim calcmode="lin" valueType="num">
                                      <p:cBhvr additive="base">
                                        <p:cTn id="36" dur="1000" fill="hold"/>
                                        <p:tgtEl>
                                          <p:spTgt spid="6"/>
                                        </p:tgtEl>
                                        <p:attrNameLst>
                                          <p:attrName>ppt_y</p:attrName>
                                        </p:attrNameLst>
                                      </p:cBhvr>
                                      <p:tavLst>
                                        <p:tav tm="0">
                                          <p:val>
                                            <p:strVal val="1+#ppt_h/2"/>
                                          </p:val>
                                        </p:tav>
                                        <p:tav tm="100000">
                                          <p:val>
                                            <p:strVal val="#ppt_y"/>
                                          </p:val>
                                        </p:tav>
                                      </p:tavLst>
                                    </p:anim>
                                  </p:childTnLst>
                                </p:cTn>
                              </p:par>
                              <p:par>
                                <p:cTn id="37" presetID="10" presetClass="entr" presetSubtype="0" fill="hold" grpId="0" nodeType="withEffect">
                                  <p:stCondLst>
                                    <p:cond delay="75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par>
                                <p:cTn id="40" presetID="10" presetClass="entr" presetSubtype="0" fill="hold" grpId="0" nodeType="withEffect">
                                  <p:stCondLst>
                                    <p:cond delay="100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125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19" grpId="0" animBg="1"/>
      <p:bldP spid="19" grpId="1" animBg="1"/>
      <p:bldP spid="17" grpId="0" animBg="1"/>
      <p:bldP spid="17" grpId="1" animBg="1"/>
      <p:bldP spid="14" grpId="0" animBg="1"/>
      <p:bldP spid="14" grpId="1" animBg="1"/>
      <p:bldP spid="11" grpId="0" animBg="1"/>
      <p:bldP spid="12" grpId="0" animBg="1"/>
      <p:bldP spid="10"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3B68F8E-EB0B-4AED-BC9E-DA58B7CCCD16}"/>
              </a:ext>
            </a:extLst>
          </p:cNvPr>
          <p:cNvSpPr>
            <a:spLocks noGrp="1"/>
          </p:cNvSpPr>
          <p:nvPr>
            <p:ph type="pic" sz="quarter" idx="11" hasCustomPrompt="1"/>
          </p:nvPr>
        </p:nvSpPr>
        <p:spPr>
          <a:xfrm>
            <a:off x="7712588"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2C9E8DC7-CBF0-407B-9B4D-00DE8FA74374}"/>
              </a:ext>
            </a:extLst>
          </p:cNvPr>
          <p:cNvSpPr>
            <a:spLocks noGrp="1"/>
          </p:cNvSpPr>
          <p:nvPr>
            <p:ph type="pic" sz="quarter" idx="12" hasCustomPrompt="1"/>
          </p:nvPr>
        </p:nvSpPr>
        <p:spPr>
          <a:xfrm>
            <a:off x="9482394"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A8938C3-A4BF-4003-B598-F8D4C3141D23}"/>
              </a:ext>
            </a:extLst>
          </p:cNvPr>
          <p:cNvSpPr>
            <a:spLocks noGrp="1"/>
          </p:cNvSpPr>
          <p:nvPr>
            <p:ph type="pic" sz="quarter" idx="10" hasCustomPrompt="1"/>
          </p:nvPr>
        </p:nvSpPr>
        <p:spPr>
          <a:xfrm>
            <a:off x="5942782" y="2620297"/>
            <a:ext cx="1617406" cy="1617406"/>
          </a:xfrm>
          <a:custGeom>
            <a:avLst/>
            <a:gdLst>
              <a:gd name="connsiteX0" fmla="*/ 269573 w 1617406"/>
              <a:gd name="connsiteY0" fmla="*/ 0 h 1617406"/>
              <a:gd name="connsiteX1" fmla="*/ 1347833 w 1617406"/>
              <a:gd name="connsiteY1" fmla="*/ 0 h 1617406"/>
              <a:gd name="connsiteX2" fmla="*/ 1617406 w 1617406"/>
              <a:gd name="connsiteY2" fmla="*/ 269573 h 1617406"/>
              <a:gd name="connsiteX3" fmla="*/ 1617406 w 1617406"/>
              <a:gd name="connsiteY3" fmla="*/ 1347833 h 1617406"/>
              <a:gd name="connsiteX4" fmla="*/ 1347833 w 1617406"/>
              <a:gd name="connsiteY4" fmla="*/ 1617406 h 1617406"/>
              <a:gd name="connsiteX5" fmla="*/ 269573 w 1617406"/>
              <a:gd name="connsiteY5" fmla="*/ 1617406 h 1617406"/>
              <a:gd name="connsiteX6" fmla="*/ 0 w 1617406"/>
              <a:gd name="connsiteY6" fmla="*/ 1347833 h 1617406"/>
              <a:gd name="connsiteX7" fmla="*/ 0 w 1617406"/>
              <a:gd name="connsiteY7" fmla="*/ 269573 h 1617406"/>
              <a:gd name="connsiteX8" fmla="*/ 269573 w 1617406"/>
              <a:gd name="connsiteY8" fmla="*/ 0 h 1617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7406" h="1617406">
                <a:moveTo>
                  <a:pt x="269573" y="0"/>
                </a:moveTo>
                <a:lnTo>
                  <a:pt x="1347833" y="0"/>
                </a:lnTo>
                <a:cubicBezTo>
                  <a:pt x="1496714" y="0"/>
                  <a:pt x="1617406" y="120692"/>
                  <a:pt x="1617406" y="269573"/>
                </a:cubicBezTo>
                <a:lnTo>
                  <a:pt x="1617406" y="1347833"/>
                </a:lnTo>
                <a:cubicBezTo>
                  <a:pt x="1617406" y="1496714"/>
                  <a:pt x="1496714" y="1617406"/>
                  <a:pt x="1347833" y="1617406"/>
                </a:cubicBezTo>
                <a:lnTo>
                  <a:pt x="269573" y="1617406"/>
                </a:lnTo>
                <a:cubicBezTo>
                  <a:pt x="120692" y="1617406"/>
                  <a:pt x="0" y="1496714"/>
                  <a:pt x="0" y="1347833"/>
                </a:cubicBezTo>
                <a:lnTo>
                  <a:pt x="0" y="269573"/>
                </a:lnTo>
                <a:cubicBezTo>
                  <a:pt x="0" y="120692"/>
                  <a:pt x="120692" y="0"/>
                  <a:pt x="269573" y="0"/>
                </a:cubicBezTo>
                <a:close/>
              </a:path>
            </a:pathLst>
          </a:custGeom>
          <a:solidFill>
            <a:schemeClr val="bg1">
              <a:lumMod val="95000"/>
              <a:alpha val="25000"/>
            </a:schemeClr>
          </a:solidFill>
          <a:effectLst>
            <a:outerShdw blurRad="723900" dist="368300" dir="5400000" sx="88000" sy="88000" algn="t" rotWithShape="0">
              <a:prstClr val="black">
                <a:alpha val="1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85002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6" presetClass="emph" presetSubtype="0" fill="hold" grpId="1" nodeType="withEffect">
                                  <p:stCondLst>
                                    <p:cond delay="500"/>
                                  </p:st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par>
                                <p:cTn id="11" presetID="10" presetClass="entr" presetSubtype="0" fill="hold" grpId="0" nodeType="withEffect">
                                  <p:stCondLst>
                                    <p:cond delay="75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26" presetClass="emph" presetSubtype="0" fill="hold" grpId="1" nodeType="withEffect">
                                  <p:stCondLst>
                                    <p:cond delay="750"/>
                                  </p:stCondLst>
                                  <p:childTnLst>
                                    <p:animEffect transition="out" filter="fade">
                                      <p:cBhvr>
                                        <p:cTn id="15" dur="500" tmFilter="0, 0; .2, .5; .8, .5; 1, 0"/>
                                        <p:tgtEl>
                                          <p:spTgt spid="8"/>
                                        </p:tgtEl>
                                      </p:cBhvr>
                                    </p:animEffect>
                                    <p:animScale>
                                      <p:cBhvr>
                                        <p:cTn id="16" dur="250" autoRev="1" fill="hold"/>
                                        <p:tgtEl>
                                          <p:spTgt spid="8"/>
                                        </p:tgtEl>
                                      </p:cBhvr>
                                      <p:by x="105000" y="105000"/>
                                    </p:animScale>
                                  </p:childTnLst>
                                </p:cTn>
                              </p:par>
                              <p:par>
                                <p:cTn id="17" presetID="10" presetClass="entr" presetSubtype="0" fill="hold" grpId="0" nodeType="with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26" presetClass="emph" presetSubtype="0" fill="hold" grpId="1" nodeType="withEffect">
                                  <p:stCondLst>
                                    <p:cond delay="1000"/>
                                  </p:stCondLst>
                                  <p:childTnLst>
                                    <p:animEffect transition="out" filter="fade">
                                      <p:cBhvr>
                                        <p:cTn id="21" dur="500" tmFilter="0, 0; .2, .5; .8, .5; 1, 0"/>
                                        <p:tgtEl>
                                          <p:spTgt spid="9"/>
                                        </p:tgtEl>
                                      </p:cBhvr>
                                    </p:animEffect>
                                    <p:animScale>
                                      <p:cBhvr>
                                        <p:cTn id="22" dur="250"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7" grpId="0" animBg="1"/>
      <p:bldP spid="7" grpId="1"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347339EE-B305-4489-AE63-2432C137AA60}"/>
              </a:ext>
            </a:extLst>
          </p:cNvPr>
          <p:cNvSpPr>
            <a:spLocks noGrp="1"/>
          </p:cNvSpPr>
          <p:nvPr>
            <p:ph type="pic" sz="quarter" idx="10" hasCustomPrompt="1"/>
          </p:nvPr>
        </p:nvSpPr>
        <p:spPr>
          <a:xfrm>
            <a:off x="0" y="4315366"/>
            <a:ext cx="4832233" cy="2542635"/>
          </a:xfrm>
          <a:custGeom>
            <a:avLst/>
            <a:gdLst>
              <a:gd name="connsiteX0" fmla="*/ 0 w 4832233"/>
              <a:gd name="connsiteY0" fmla="*/ 0 h 2542635"/>
              <a:gd name="connsiteX1" fmla="*/ 4496936 w 4832233"/>
              <a:gd name="connsiteY1" fmla="*/ 0 h 2542635"/>
              <a:gd name="connsiteX2" fmla="*/ 4832233 w 4832233"/>
              <a:gd name="connsiteY2" fmla="*/ 335297 h 2542635"/>
              <a:gd name="connsiteX3" fmla="*/ 4832233 w 4832233"/>
              <a:gd name="connsiteY3" fmla="*/ 2542635 h 2542635"/>
              <a:gd name="connsiteX4" fmla="*/ 0 w 4832233"/>
              <a:gd name="connsiteY4" fmla="*/ 2542635 h 2542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2233" h="2542635">
                <a:moveTo>
                  <a:pt x="0" y="0"/>
                </a:moveTo>
                <a:lnTo>
                  <a:pt x="4496936" y="0"/>
                </a:lnTo>
                <a:cubicBezTo>
                  <a:pt x="4682115" y="0"/>
                  <a:pt x="4832233" y="150118"/>
                  <a:pt x="4832233" y="335297"/>
                </a:cubicBezTo>
                <a:lnTo>
                  <a:pt x="4832233" y="2542635"/>
                </a:lnTo>
                <a:lnTo>
                  <a:pt x="0" y="254263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6" name="Rectangle: Single Corner Rounded 5">
            <a:extLst>
              <a:ext uri="{FF2B5EF4-FFF2-40B4-BE49-F238E27FC236}">
                <a16:creationId xmlns:a16="http://schemas.microsoft.com/office/drawing/2014/main" id="{5D2DD106-7971-469B-A743-7679AA92B24B}"/>
              </a:ext>
            </a:extLst>
          </p:cNvPr>
          <p:cNvSpPr/>
          <p:nvPr userDrawn="1"/>
        </p:nvSpPr>
        <p:spPr>
          <a:xfrm flipH="1" flipV="1">
            <a:off x="4832233" y="-3"/>
            <a:ext cx="7359767" cy="4093779"/>
          </a:xfrm>
          <a:prstGeom prst="round1Rect">
            <a:avLst>
              <a:gd name="adj" fmla="val 10182"/>
            </a:avLst>
          </a:prstGeom>
          <a:solidFill>
            <a:srgbClr val="F5F6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362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4" decel="10000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6"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30_Title and Content">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6725744-A33A-42F7-9088-02DBFCE609EF}"/>
              </a:ext>
            </a:extLst>
          </p:cNvPr>
          <p:cNvSpPr>
            <a:spLocks noGrp="1"/>
          </p:cNvSpPr>
          <p:nvPr>
            <p:ph type="pic" sz="quarter" idx="10" hasCustomPrompt="1"/>
          </p:nvPr>
        </p:nvSpPr>
        <p:spPr>
          <a:xfrm>
            <a:off x="-1" y="0"/>
            <a:ext cx="12192000" cy="3850012"/>
          </a:xfrm>
          <a:custGeom>
            <a:avLst/>
            <a:gdLst>
              <a:gd name="connsiteX0" fmla="*/ 8397881 w 12192000"/>
              <a:gd name="connsiteY0" fmla="*/ 3438408 h 3850012"/>
              <a:gd name="connsiteX1" fmla="*/ 8397951 w 12192000"/>
              <a:gd name="connsiteY1" fmla="*/ 3438722 h 3850012"/>
              <a:gd name="connsiteX2" fmla="*/ 8398480 w 12192000"/>
              <a:gd name="connsiteY2" fmla="*/ 3438408 h 3850012"/>
              <a:gd name="connsiteX3" fmla="*/ 3793520 w 12192000"/>
              <a:gd name="connsiteY3" fmla="*/ 3438408 h 3850012"/>
              <a:gd name="connsiteX4" fmla="*/ 3794049 w 12192000"/>
              <a:gd name="connsiteY4" fmla="*/ 3438722 h 3850012"/>
              <a:gd name="connsiteX5" fmla="*/ 3794120 w 12192000"/>
              <a:gd name="connsiteY5" fmla="*/ 3438408 h 3850012"/>
              <a:gd name="connsiteX6" fmla="*/ 0 w 12192000"/>
              <a:gd name="connsiteY6" fmla="*/ 0 h 3850012"/>
              <a:gd name="connsiteX7" fmla="*/ 12192000 w 12192000"/>
              <a:gd name="connsiteY7" fmla="*/ 0 h 3850012"/>
              <a:gd name="connsiteX8" fmla="*/ 12192000 w 12192000"/>
              <a:gd name="connsiteY8" fmla="*/ 1638205 h 3850012"/>
              <a:gd name="connsiteX9" fmla="*/ 12192000 w 12192000"/>
              <a:gd name="connsiteY9" fmla="*/ 2316406 h 3850012"/>
              <a:gd name="connsiteX10" fmla="*/ 12192000 w 12192000"/>
              <a:gd name="connsiteY10" fmla="*/ 2450440 h 3850012"/>
              <a:gd name="connsiteX11" fmla="*/ 12192000 w 12192000"/>
              <a:gd name="connsiteY11" fmla="*/ 3396029 h 3850012"/>
              <a:gd name="connsiteX12" fmla="*/ 12192000 w 12192000"/>
              <a:gd name="connsiteY12" fmla="*/ 3497742 h 3850012"/>
              <a:gd name="connsiteX13" fmla="*/ 12165341 w 12192000"/>
              <a:gd name="connsiteY13" fmla="*/ 3499553 h 3850012"/>
              <a:gd name="connsiteX14" fmla="*/ 11967973 w 12192000"/>
              <a:gd name="connsiteY14" fmla="*/ 3572710 h 3850012"/>
              <a:gd name="connsiteX15" fmla="*/ 11944992 w 12192000"/>
              <a:gd name="connsiteY15" fmla="*/ 3591983 h 3850012"/>
              <a:gd name="connsiteX16" fmla="*/ 11942396 w 12192000"/>
              <a:gd name="connsiteY16" fmla="*/ 3595502 h 3850012"/>
              <a:gd name="connsiteX17" fmla="*/ 11911532 w 12192000"/>
              <a:gd name="connsiteY17" fmla="*/ 3619435 h 3850012"/>
              <a:gd name="connsiteX18" fmla="*/ 11808711 w 12192000"/>
              <a:gd name="connsiteY18" fmla="*/ 3701232 h 3850012"/>
              <a:gd name="connsiteX19" fmla="*/ 11291279 w 12192000"/>
              <a:gd name="connsiteY19" fmla="*/ 3849374 h 3850012"/>
              <a:gd name="connsiteX20" fmla="*/ 10847202 w 12192000"/>
              <a:gd name="connsiteY20" fmla="*/ 3657838 h 3850012"/>
              <a:gd name="connsiteX21" fmla="*/ 10424269 w 12192000"/>
              <a:gd name="connsiteY21" fmla="*/ 3469846 h 3850012"/>
              <a:gd name="connsiteX22" fmla="*/ 10128215 w 12192000"/>
              <a:gd name="connsiteY22" fmla="*/ 3618819 h 3850012"/>
              <a:gd name="connsiteX23" fmla="*/ 9564304 w 12192000"/>
              <a:gd name="connsiteY23" fmla="*/ 3838731 h 3850012"/>
              <a:gd name="connsiteX24" fmla="*/ 9096430 w 12192000"/>
              <a:gd name="connsiteY24" fmla="*/ 3690092 h 3850012"/>
              <a:gd name="connsiteX25" fmla="*/ 9033902 w 12192000"/>
              <a:gd name="connsiteY25" fmla="*/ 3632538 h 3850012"/>
              <a:gd name="connsiteX26" fmla="*/ 8988988 w 12192000"/>
              <a:gd name="connsiteY26" fmla="*/ 3595502 h 3850012"/>
              <a:gd name="connsiteX27" fmla="*/ 8979560 w 12192000"/>
              <a:gd name="connsiteY27" fmla="*/ 3581907 h 3850012"/>
              <a:gd name="connsiteX28" fmla="*/ 8949396 w 12192000"/>
              <a:gd name="connsiteY28" fmla="*/ 3553478 h 3850012"/>
              <a:gd name="connsiteX29" fmla="*/ 8718436 w 12192000"/>
              <a:gd name="connsiteY29" fmla="*/ 3459207 h 3850012"/>
              <a:gd name="connsiteX30" fmla="*/ 8429428 w 12192000"/>
              <a:gd name="connsiteY30" fmla="*/ 3608180 h 3850012"/>
              <a:gd name="connsiteX31" fmla="*/ 7752735 w 12192000"/>
              <a:gd name="connsiteY31" fmla="*/ 3842280 h 3850012"/>
              <a:gd name="connsiteX32" fmla="*/ 7195876 w 12192000"/>
              <a:gd name="connsiteY32" fmla="*/ 3601086 h 3850012"/>
              <a:gd name="connsiteX33" fmla="*/ 6956214 w 12192000"/>
              <a:gd name="connsiteY33" fmla="*/ 3469846 h 3850012"/>
              <a:gd name="connsiteX34" fmla="*/ 6674259 w 12192000"/>
              <a:gd name="connsiteY34" fmla="*/ 3604631 h 3850012"/>
              <a:gd name="connsiteX35" fmla="*/ 6578767 w 12192000"/>
              <a:gd name="connsiteY35" fmla="*/ 3687543 h 3850012"/>
              <a:gd name="connsiteX36" fmla="*/ 6558853 w 12192000"/>
              <a:gd name="connsiteY36" fmla="*/ 3700122 h 3850012"/>
              <a:gd name="connsiteX37" fmla="*/ 6545011 w 12192000"/>
              <a:gd name="connsiteY37" fmla="*/ 3713480 h 3850012"/>
              <a:gd name="connsiteX38" fmla="*/ 6109851 w 12192000"/>
              <a:gd name="connsiteY38" fmla="*/ 3835186 h 3850012"/>
              <a:gd name="connsiteX39" fmla="*/ 6096001 w 12192000"/>
              <a:gd name="connsiteY39" fmla="*/ 3834671 h 3850012"/>
              <a:gd name="connsiteX40" fmla="*/ 6082151 w 12192000"/>
              <a:gd name="connsiteY40" fmla="*/ 3835186 h 3850012"/>
              <a:gd name="connsiteX41" fmla="*/ 5646993 w 12192000"/>
              <a:gd name="connsiteY41" fmla="*/ 3713480 h 3850012"/>
              <a:gd name="connsiteX42" fmla="*/ 5633151 w 12192000"/>
              <a:gd name="connsiteY42" fmla="*/ 3700121 h 3850012"/>
              <a:gd name="connsiteX43" fmla="*/ 5613237 w 12192000"/>
              <a:gd name="connsiteY43" fmla="*/ 3687543 h 3850012"/>
              <a:gd name="connsiteX44" fmla="*/ 5517746 w 12192000"/>
              <a:gd name="connsiteY44" fmla="*/ 3604631 h 3850012"/>
              <a:gd name="connsiteX45" fmla="*/ 5235788 w 12192000"/>
              <a:gd name="connsiteY45" fmla="*/ 3469846 h 3850012"/>
              <a:gd name="connsiteX46" fmla="*/ 4996126 w 12192000"/>
              <a:gd name="connsiteY46" fmla="*/ 3601086 h 3850012"/>
              <a:gd name="connsiteX47" fmla="*/ 4439270 w 12192000"/>
              <a:gd name="connsiteY47" fmla="*/ 3842280 h 3850012"/>
              <a:gd name="connsiteX48" fmla="*/ 3762572 w 12192000"/>
              <a:gd name="connsiteY48" fmla="*/ 3608180 h 3850012"/>
              <a:gd name="connsiteX49" fmla="*/ 3473564 w 12192000"/>
              <a:gd name="connsiteY49" fmla="*/ 3459207 h 3850012"/>
              <a:gd name="connsiteX50" fmla="*/ 3242604 w 12192000"/>
              <a:gd name="connsiteY50" fmla="*/ 3553478 h 3850012"/>
              <a:gd name="connsiteX51" fmla="*/ 3212441 w 12192000"/>
              <a:gd name="connsiteY51" fmla="*/ 3581907 h 3850012"/>
              <a:gd name="connsiteX52" fmla="*/ 3203012 w 12192000"/>
              <a:gd name="connsiteY52" fmla="*/ 3595502 h 3850012"/>
              <a:gd name="connsiteX53" fmla="*/ 3158099 w 12192000"/>
              <a:gd name="connsiteY53" fmla="*/ 3632538 h 3850012"/>
              <a:gd name="connsiteX54" fmla="*/ 3095570 w 12192000"/>
              <a:gd name="connsiteY54" fmla="*/ 3690092 h 3850012"/>
              <a:gd name="connsiteX55" fmla="*/ 2627698 w 12192000"/>
              <a:gd name="connsiteY55" fmla="*/ 3838731 h 3850012"/>
              <a:gd name="connsiteX56" fmla="*/ 2063785 w 12192000"/>
              <a:gd name="connsiteY56" fmla="*/ 3618819 h 3850012"/>
              <a:gd name="connsiteX57" fmla="*/ 1767732 w 12192000"/>
              <a:gd name="connsiteY57" fmla="*/ 3469846 h 3850012"/>
              <a:gd name="connsiteX58" fmla="*/ 1344798 w 12192000"/>
              <a:gd name="connsiteY58" fmla="*/ 3657838 h 3850012"/>
              <a:gd name="connsiteX59" fmla="*/ 900721 w 12192000"/>
              <a:gd name="connsiteY59" fmla="*/ 3849374 h 3850012"/>
              <a:gd name="connsiteX60" fmla="*/ 383289 w 12192000"/>
              <a:gd name="connsiteY60" fmla="*/ 3701232 h 3850012"/>
              <a:gd name="connsiteX61" fmla="*/ 280468 w 12192000"/>
              <a:gd name="connsiteY61" fmla="*/ 3619435 h 3850012"/>
              <a:gd name="connsiteX62" fmla="*/ 249604 w 12192000"/>
              <a:gd name="connsiteY62" fmla="*/ 3595502 h 3850012"/>
              <a:gd name="connsiteX63" fmla="*/ 247008 w 12192000"/>
              <a:gd name="connsiteY63" fmla="*/ 3591983 h 3850012"/>
              <a:gd name="connsiteX64" fmla="*/ 224027 w 12192000"/>
              <a:gd name="connsiteY64" fmla="*/ 3572710 h 3850012"/>
              <a:gd name="connsiteX65" fmla="*/ 26659 w 12192000"/>
              <a:gd name="connsiteY65" fmla="*/ 3499553 h 3850012"/>
              <a:gd name="connsiteX66" fmla="*/ 0 w 12192000"/>
              <a:gd name="connsiteY66" fmla="*/ 3497742 h 3850012"/>
              <a:gd name="connsiteX67" fmla="*/ 0 w 12192000"/>
              <a:gd name="connsiteY67" fmla="*/ 3396029 h 3850012"/>
              <a:gd name="connsiteX68" fmla="*/ 0 w 12192000"/>
              <a:gd name="connsiteY68" fmla="*/ 2450440 h 3850012"/>
              <a:gd name="connsiteX69" fmla="*/ 0 w 12192000"/>
              <a:gd name="connsiteY69" fmla="*/ 2316406 h 3850012"/>
              <a:gd name="connsiteX70" fmla="*/ 0 w 12192000"/>
              <a:gd name="connsiteY70" fmla="*/ 1638205 h 385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2192000" h="3850012">
                <a:moveTo>
                  <a:pt x="8397881" y="3438408"/>
                </a:moveTo>
                <a:cubicBezTo>
                  <a:pt x="8397905" y="3438513"/>
                  <a:pt x="8397928" y="3438618"/>
                  <a:pt x="8397951" y="3438722"/>
                </a:cubicBezTo>
                <a:lnTo>
                  <a:pt x="8398480" y="3438408"/>
                </a:lnTo>
                <a:close/>
                <a:moveTo>
                  <a:pt x="3793520" y="3438408"/>
                </a:moveTo>
                <a:lnTo>
                  <a:pt x="3794049" y="3438722"/>
                </a:lnTo>
                <a:cubicBezTo>
                  <a:pt x="3794073" y="3438618"/>
                  <a:pt x="3794095" y="3438513"/>
                  <a:pt x="3794120" y="3438408"/>
                </a:cubicBezTo>
                <a:close/>
                <a:moveTo>
                  <a:pt x="0" y="0"/>
                </a:moveTo>
                <a:lnTo>
                  <a:pt x="12192000" y="0"/>
                </a:lnTo>
                <a:lnTo>
                  <a:pt x="12192000" y="1638205"/>
                </a:lnTo>
                <a:lnTo>
                  <a:pt x="12192000" y="2316406"/>
                </a:lnTo>
                <a:lnTo>
                  <a:pt x="12192000" y="2450440"/>
                </a:lnTo>
                <a:lnTo>
                  <a:pt x="12192000" y="3396029"/>
                </a:lnTo>
                <a:lnTo>
                  <a:pt x="12192000" y="3497742"/>
                </a:lnTo>
                <a:lnTo>
                  <a:pt x="12165341" y="3499553"/>
                </a:lnTo>
                <a:cubicBezTo>
                  <a:pt x="12101901" y="3506203"/>
                  <a:pt x="12024364" y="3524825"/>
                  <a:pt x="11967973" y="3572710"/>
                </a:cubicBezTo>
                <a:lnTo>
                  <a:pt x="11944992" y="3591983"/>
                </a:lnTo>
                <a:lnTo>
                  <a:pt x="11942396" y="3595502"/>
                </a:lnTo>
                <a:lnTo>
                  <a:pt x="11911532" y="3619435"/>
                </a:lnTo>
                <a:lnTo>
                  <a:pt x="11808711" y="3701232"/>
                </a:lnTo>
                <a:cubicBezTo>
                  <a:pt x="11687779" y="3789518"/>
                  <a:pt x="11545039" y="3857353"/>
                  <a:pt x="11291279" y="3849374"/>
                </a:cubicBezTo>
                <a:cubicBezTo>
                  <a:pt x="11100963" y="3845825"/>
                  <a:pt x="10974082" y="3753604"/>
                  <a:pt x="10847202" y="3657838"/>
                </a:cubicBezTo>
                <a:cubicBezTo>
                  <a:pt x="10727367" y="3565616"/>
                  <a:pt x="10593442" y="3469846"/>
                  <a:pt x="10424269" y="3469846"/>
                </a:cubicBezTo>
                <a:cubicBezTo>
                  <a:pt x="10290336" y="3469846"/>
                  <a:pt x="10212801" y="3540786"/>
                  <a:pt x="10128215" y="3618819"/>
                </a:cubicBezTo>
                <a:cubicBezTo>
                  <a:pt x="10008379" y="3728777"/>
                  <a:pt x="9881500" y="3842280"/>
                  <a:pt x="9564304" y="3838731"/>
                </a:cubicBezTo>
                <a:cubicBezTo>
                  <a:pt x="9321117" y="3836073"/>
                  <a:pt x="9192914" y="3769566"/>
                  <a:pt x="9096430" y="3690092"/>
                </a:cubicBezTo>
                <a:lnTo>
                  <a:pt x="9033902" y="3632538"/>
                </a:lnTo>
                <a:lnTo>
                  <a:pt x="8988988" y="3595502"/>
                </a:lnTo>
                <a:lnTo>
                  <a:pt x="8979560" y="3581907"/>
                </a:lnTo>
                <a:lnTo>
                  <a:pt x="8949396" y="3553478"/>
                </a:lnTo>
                <a:cubicBezTo>
                  <a:pt x="8890254" y="3501105"/>
                  <a:pt x="8824169" y="3459207"/>
                  <a:pt x="8718436" y="3459207"/>
                </a:cubicBezTo>
                <a:cubicBezTo>
                  <a:pt x="8598603" y="3455658"/>
                  <a:pt x="8514015" y="3530147"/>
                  <a:pt x="8429428" y="3608180"/>
                </a:cubicBezTo>
                <a:cubicBezTo>
                  <a:pt x="8288451" y="3732322"/>
                  <a:pt x="8140427" y="3870656"/>
                  <a:pt x="7752735" y="3842280"/>
                </a:cubicBezTo>
                <a:cubicBezTo>
                  <a:pt x="7386193" y="3817449"/>
                  <a:pt x="7287509" y="3703946"/>
                  <a:pt x="7195876" y="3601086"/>
                </a:cubicBezTo>
                <a:cubicBezTo>
                  <a:pt x="7139485" y="3537241"/>
                  <a:pt x="7090139" y="3476940"/>
                  <a:pt x="6956214" y="3469846"/>
                </a:cubicBezTo>
                <a:cubicBezTo>
                  <a:pt x="6829334" y="3459207"/>
                  <a:pt x="6758845" y="3530147"/>
                  <a:pt x="6674259" y="3604631"/>
                </a:cubicBezTo>
                <a:cubicBezTo>
                  <a:pt x="6644300" y="3632121"/>
                  <a:pt x="6613461" y="3660497"/>
                  <a:pt x="6578767" y="3687543"/>
                </a:cubicBezTo>
                <a:lnTo>
                  <a:pt x="6558853" y="3700122"/>
                </a:lnTo>
                <a:lnTo>
                  <a:pt x="6545011" y="3713480"/>
                </a:lnTo>
                <a:cubicBezTo>
                  <a:pt x="6465381" y="3779985"/>
                  <a:pt x="6353036" y="3832525"/>
                  <a:pt x="6109851" y="3835186"/>
                </a:cubicBezTo>
                <a:lnTo>
                  <a:pt x="6096001" y="3834671"/>
                </a:lnTo>
                <a:lnTo>
                  <a:pt x="6082151" y="3835186"/>
                </a:lnTo>
                <a:cubicBezTo>
                  <a:pt x="5838966" y="3832525"/>
                  <a:pt x="5726622" y="3779985"/>
                  <a:pt x="5646993" y="3713480"/>
                </a:cubicBezTo>
                <a:lnTo>
                  <a:pt x="5633151" y="3700121"/>
                </a:lnTo>
                <a:lnTo>
                  <a:pt x="5613237" y="3687543"/>
                </a:lnTo>
                <a:cubicBezTo>
                  <a:pt x="5578541" y="3660497"/>
                  <a:pt x="5547705" y="3632121"/>
                  <a:pt x="5517746" y="3604631"/>
                </a:cubicBezTo>
                <a:cubicBezTo>
                  <a:pt x="5433157" y="3530147"/>
                  <a:pt x="5362669" y="3459207"/>
                  <a:pt x="5235788" y="3469846"/>
                </a:cubicBezTo>
                <a:cubicBezTo>
                  <a:pt x="5101862" y="3476940"/>
                  <a:pt x="5052517" y="3537241"/>
                  <a:pt x="4996126" y="3601086"/>
                </a:cubicBezTo>
                <a:cubicBezTo>
                  <a:pt x="4904493" y="3703946"/>
                  <a:pt x="4805812" y="3817449"/>
                  <a:pt x="4439270" y="3842280"/>
                </a:cubicBezTo>
                <a:cubicBezTo>
                  <a:pt x="4051573" y="3870656"/>
                  <a:pt x="3903550" y="3732322"/>
                  <a:pt x="3762572" y="3608180"/>
                </a:cubicBezTo>
                <a:cubicBezTo>
                  <a:pt x="3677986" y="3530147"/>
                  <a:pt x="3593399" y="3455658"/>
                  <a:pt x="3473564" y="3459207"/>
                </a:cubicBezTo>
                <a:cubicBezTo>
                  <a:pt x="3367831" y="3459207"/>
                  <a:pt x="3301747" y="3501105"/>
                  <a:pt x="3242604" y="3553478"/>
                </a:cubicBezTo>
                <a:lnTo>
                  <a:pt x="3212441" y="3581907"/>
                </a:lnTo>
                <a:lnTo>
                  <a:pt x="3203012" y="3595502"/>
                </a:lnTo>
                <a:lnTo>
                  <a:pt x="3158099" y="3632538"/>
                </a:lnTo>
                <a:lnTo>
                  <a:pt x="3095570" y="3690092"/>
                </a:lnTo>
                <a:cubicBezTo>
                  <a:pt x="2999088" y="3769566"/>
                  <a:pt x="2870885" y="3836073"/>
                  <a:pt x="2627698" y="3838731"/>
                </a:cubicBezTo>
                <a:cubicBezTo>
                  <a:pt x="2310501" y="3842280"/>
                  <a:pt x="2183621" y="3728777"/>
                  <a:pt x="2063785" y="3618819"/>
                </a:cubicBezTo>
                <a:cubicBezTo>
                  <a:pt x="1979199" y="3540786"/>
                  <a:pt x="1901665" y="3469846"/>
                  <a:pt x="1767732" y="3469846"/>
                </a:cubicBezTo>
                <a:cubicBezTo>
                  <a:pt x="1598560" y="3469846"/>
                  <a:pt x="1464634" y="3565616"/>
                  <a:pt x="1344798" y="3657838"/>
                </a:cubicBezTo>
                <a:cubicBezTo>
                  <a:pt x="1217918" y="3753604"/>
                  <a:pt x="1091038" y="3845825"/>
                  <a:pt x="900721" y="3849374"/>
                </a:cubicBezTo>
                <a:cubicBezTo>
                  <a:pt x="646961" y="3857353"/>
                  <a:pt x="504221" y="3789518"/>
                  <a:pt x="383289" y="3701232"/>
                </a:cubicBezTo>
                <a:lnTo>
                  <a:pt x="280468" y="3619435"/>
                </a:lnTo>
                <a:lnTo>
                  <a:pt x="249604" y="3595502"/>
                </a:lnTo>
                <a:lnTo>
                  <a:pt x="247008" y="3591983"/>
                </a:lnTo>
                <a:lnTo>
                  <a:pt x="224027" y="3572710"/>
                </a:lnTo>
                <a:cubicBezTo>
                  <a:pt x="167637" y="3524825"/>
                  <a:pt x="90099" y="3506203"/>
                  <a:pt x="26659" y="3499553"/>
                </a:cubicBezTo>
                <a:lnTo>
                  <a:pt x="0" y="3497742"/>
                </a:lnTo>
                <a:lnTo>
                  <a:pt x="0" y="3396029"/>
                </a:lnTo>
                <a:lnTo>
                  <a:pt x="0" y="2450440"/>
                </a:lnTo>
                <a:lnTo>
                  <a:pt x="0" y="2316406"/>
                </a:lnTo>
                <a:lnTo>
                  <a:pt x="0" y="1638205"/>
                </a:ln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05228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9C3A124A-06D9-4D43-AA32-36ADF6C9118D}"/>
              </a:ext>
            </a:extLst>
          </p:cNvPr>
          <p:cNvSpPr>
            <a:spLocks noGrp="1"/>
          </p:cNvSpPr>
          <p:nvPr>
            <p:ph type="pic" sz="quarter" idx="10" hasCustomPrompt="1"/>
          </p:nvPr>
        </p:nvSpPr>
        <p:spPr>
          <a:xfrm>
            <a:off x="6933283" y="0"/>
            <a:ext cx="5258717" cy="6858000"/>
          </a:xfrm>
          <a:custGeom>
            <a:avLst/>
            <a:gdLst>
              <a:gd name="connsiteX0" fmla="*/ 876470 w 5258717"/>
              <a:gd name="connsiteY0" fmla="*/ 0 h 6858000"/>
              <a:gd name="connsiteX1" fmla="*/ 5258717 w 5258717"/>
              <a:gd name="connsiteY1" fmla="*/ 0 h 6858000"/>
              <a:gd name="connsiteX2" fmla="*/ 5258717 w 5258717"/>
              <a:gd name="connsiteY2" fmla="*/ 6858000 h 6858000"/>
              <a:gd name="connsiteX3" fmla="*/ 0 w 5258717"/>
              <a:gd name="connsiteY3" fmla="*/ 6858000 h 6858000"/>
              <a:gd name="connsiteX4" fmla="*/ 0 w 5258717"/>
              <a:gd name="connsiteY4" fmla="*/ 876470 h 6858000"/>
              <a:gd name="connsiteX5" fmla="*/ 876470 w 5258717"/>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8717" h="6858000">
                <a:moveTo>
                  <a:pt x="876470" y="0"/>
                </a:moveTo>
                <a:lnTo>
                  <a:pt x="5258717" y="0"/>
                </a:lnTo>
                <a:lnTo>
                  <a:pt x="5258717" y="6858000"/>
                </a:lnTo>
                <a:lnTo>
                  <a:pt x="0" y="6858000"/>
                </a:lnTo>
                <a:lnTo>
                  <a:pt x="0" y="876470"/>
                </a:lnTo>
                <a:cubicBezTo>
                  <a:pt x="0" y="392409"/>
                  <a:pt x="392409" y="0"/>
                  <a:pt x="876470"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70706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1+#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8CAB682-8349-4BBE-BB81-DD54F1DFE219}"/>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28629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6"/>
                                        </p:tgtEl>
                                      </p:cBhvr>
                                    </p:animEffect>
                                    <p:animScale>
                                      <p:cBhvr>
                                        <p:cTn id="10"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4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30CD9F22-77F1-4C4E-8772-94FB9D602845}"/>
              </a:ext>
            </a:extLst>
          </p:cNvPr>
          <p:cNvSpPr>
            <a:spLocks noGrp="1"/>
          </p:cNvSpPr>
          <p:nvPr>
            <p:ph type="pic" sz="quarter" idx="11" hasCustomPrompt="1"/>
          </p:nvPr>
        </p:nvSpPr>
        <p:spPr>
          <a:xfrm>
            <a:off x="1482874" y="620713"/>
            <a:ext cx="4216922" cy="6237287"/>
          </a:xfrm>
          <a:custGeom>
            <a:avLst/>
            <a:gdLst>
              <a:gd name="connsiteX0" fmla="*/ 0 w 3955884"/>
              <a:gd name="connsiteY0" fmla="*/ 0 h 5851183"/>
              <a:gd name="connsiteX1" fmla="*/ 3955884 w 3955884"/>
              <a:gd name="connsiteY1" fmla="*/ 0 h 5851183"/>
              <a:gd name="connsiteX2" fmla="*/ 3955884 w 3955884"/>
              <a:gd name="connsiteY2" fmla="*/ 5851183 h 5851183"/>
              <a:gd name="connsiteX3" fmla="*/ 0 w 3955884"/>
              <a:gd name="connsiteY3" fmla="*/ 5851183 h 5851183"/>
            </a:gdLst>
            <a:ahLst/>
            <a:cxnLst>
              <a:cxn ang="0">
                <a:pos x="connsiteX0" y="connsiteY0"/>
              </a:cxn>
              <a:cxn ang="0">
                <a:pos x="connsiteX1" y="connsiteY1"/>
              </a:cxn>
              <a:cxn ang="0">
                <a:pos x="connsiteX2" y="connsiteY2"/>
              </a:cxn>
              <a:cxn ang="0">
                <a:pos x="connsiteX3" y="connsiteY3"/>
              </a:cxn>
            </a:cxnLst>
            <a:rect l="l" t="t" r="r" b="b"/>
            <a:pathLst>
              <a:path w="3955884" h="5851183">
                <a:moveTo>
                  <a:pt x="0" y="0"/>
                </a:moveTo>
                <a:lnTo>
                  <a:pt x="3955884" y="0"/>
                </a:lnTo>
                <a:lnTo>
                  <a:pt x="3955884" y="5851183"/>
                </a:lnTo>
                <a:lnTo>
                  <a:pt x="0" y="5851183"/>
                </a:lnTo>
                <a:close/>
              </a:path>
            </a:pathLst>
          </a:custGeom>
          <a:noFill/>
          <a:effectLst>
            <a:outerShdw blurRad="939800" dist="6985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Picture Placeholder 1">
            <a:extLst>
              <a:ext uri="{FF2B5EF4-FFF2-40B4-BE49-F238E27FC236}">
                <a16:creationId xmlns:a16="http://schemas.microsoft.com/office/drawing/2014/main" id="{6001AC19-B235-498E-B3A2-DBDEA06231A4}"/>
              </a:ext>
            </a:extLst>
          </p:cNvPr>
          <p:cNvSpPr>
            <a:spLocks noGrp="1"/>
          </p:cNvSpPr>
          <p:nvPr>
            <p:ph type="pic" sz="quarter" idx="10" hasCustomPrompt="1"/>
          </p:nvPr>
        </p:nvSpPr>
        <p:spPr>
          <a:xfrm>
            <a:off x="7930640" y="1900656"/>
            <a:ext cx="3169160" cy="1482213"/>
          </a:xfrm>
          <a:custGeom>
            <a:avLst/>
            <a:gdLst>
              <a:gd name="connsiteX0" fmla="*/ 247040 w 3169160"/>
              <a:gd name="connsiteY0" fmla="*/ 0 h 1482213"/>
              <a:gd name="connsiteX1" fmla="*/ 2922120 w 3169160"/>
              <a:gd name="connsiteY1" fmla="*/ 0 h 1482213"/>
              <a:gd name="connsiteX2" fmla="*/ 3169160 w 3169160"/>
              <a:gd name="connsiteY2" fmla="*/ 247040 h 1482213"/>
              <a:gd name="connsiteX3" fmla="*/ 3169160 w 3169160"/>
              <a:gd name="connsiteY3" fmla="*/ 1235173 h 1482213"/>
              <a:gd name="connsiteX4" fmla="*/ 2922120 w 3169160"/>
              <a:gd name="connsiteY4" fmla="*/ 1482213 h 1482213"/>
              <a:gd name="connsiteX5" fmla="*/ 247040 w 3169160"/>
              <a:gd name="connsiteY5" fmla="*/ 1482213 h 1482213"/>
              <a:gd name="connsiteX6" fmla="*/ 0 w 3169160"/>
              <a:gd name="connsiteY6" fmla="*/ 1235173 h 1482213"/>
              <a:gd name="connsiteX7" fmla="*/ 0 w 3169160"/>
              <a:gd name="connsiteY7" fmla="*/ 247040 h 1482213"/>
              <a:gd name="connsiteX8" fmla="*/ 247040 w 3169160"/>
              <a:gd name="connsiteY8" fmla="*/ 0 h 148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9160" h="1482213">
                <a:moveTo>
                  <a:pt x="247040" y="0"/>
                </a:moveTo>
                <a:lnTo>
                  <a:pt x="2922120" y="0"/>
                </a:lnTo>
                <a:cubicBezTo>
                  <a:pt x="3058556" y="0"/>
                  <a:pt x="3169160" y="110604"/>
                  <a:pt x="3169160" y="247040"/>
                </a:cubicBezTo>
                <a:lnTo>
                  <a:pt x="3169160" y="1235173"/>
                </a:lnTo>
                <a:cubicBezTo>
                  <a:pt x="3169160" y="1371609"/>
                  <a:pt x="3058556" y="1482213"/>
                  <a:pt x="2922120" y="1482213"/>
                </a:cubicBezTo>
                <a:lnTo>
                  <a:pt x="247040" y="1482213"/>
                </a:lnTo>
                <a:cubicBezTo>
                  <a:pt x="110604" y="1482213"/>
                  <a:pt x="0" y="1371609"/>
                  <a:pt x="0" y="1235173"/>
                </a:cubicBezTo>
                <a:lnTo>
                  <a:pt x="0" y="247040"/>
                </a:lnTo>
                <a:cubicBezTo>
                  <a:pt x="0" y="110604"/>
                  <a:pt x="110604" y="0"/>
                  <a:pt x="247040" y="0"/>
                </a:cubicBezTo>
                <a:close/>
              </a:path>
            </a:pathLst>
          </a:custGeom>
          <a:solidFill>
            <a:schemeClr val="bg1">
              <a:lumMod val="95000"/>
              <a:alpha val="25000"/>
            </a:schemeClr>
          </a:solidFill>
          <a:effectLst>
            <a:outerShdw blurRad="812800" dist="3302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37166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000" fill="hold"/>
                                        <p:tgtEl>
                                          <p:spTgt spid="6"/>
                                        </p:tgtEl>
                                        <p:attrNameLst>
                                          <p:attrName>ppt_x</p:attrName>
                                        </p:attrNameLst>
                                      </p:cBhvr>
                                      <p:tavLst>
                                        <p:tav tm="0">
                                          <p:val>
                                            <p:strVal val="#ppt_x"/>
                                          </p:val>
                                        </p:tav>
                                        <p:tav tm="100000">
                                          <p:val>
                                            <p:strVal val="#ppt_x"/>
                                          </p:val>
                                        </p:tav>
                                      </p:tavLst>
                                    </p:anim>
                                    <p:anim calcmode="lin" valueType="num">
                                      <p:cBhvr additive="base">
                                        <p:cTn id="8" dur="1000" fill="hold"/>
                                        <p:tgtEl>
                                          <p:spTgt spid="6"/>
                                        </p:tgtEl>
                                        <p:attrNameLst>
                                          <p:attrName>ppt_y</p:attrName>
                                        </p:attrNameLst>
                                      </p:cBhvr>
                                      <p:tavLst>
                                        <p:tav tm="0">
                                          <p:val>
                                            <p:strVal val="1+#ppt_h/2"/>
                                          </p:val>
                                        </p:tav>
                                        <p:tav tm="100000">
                                          <p:val>
                                            <p:strVal val="#ppt_y"/>
                                          </p:val>
                                        </p:tav>
                                      </p:tavLst>
                                    </p:anim>
                                  </p:childTnLst>
                                </p:cTn>
                              </p:par>
                              <p:par>
                                <p:cTn id="9" presetID="10" presetClass="entr" presetSubtype="0" fill="hold" grpId="0" nodeType="with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par>
                                <p:cTn id="12" presetID="26" presetClass="emph" presetSubtype="0" fill="hold" grpId="1" nodeType="withEffect">
                                  <p:stCondLst>
                                    <p:cond delay="1000"/>
                                  </p:stCondLst>
                                  <p:childTnLst>
                                    <p:animEffect transition="out" filter="fade">
                                      <p:cBhvr>
                                        <p:cTn id="13" dur="500" tmFilter="0, 0; .2, .5; .8, .5; 1, 0"/>
                                        <p:tgtEl>
                                          <p:spTgt spid="2"/>
                                        </p:tgtEl>
                                      </p:cBhvr>
                                    </p:animEffect>
                                    <p:animScale>
                                      <p:cBhvr>
                                        <p:cTn id="14"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P spid="2" grpId="1" animBg="1"/>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6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65DB5A5-D2BA-491B-9365-48E0DAFA7AA5}"/>
              </a:ext>
            </a:extLst>
          </p:cNvPr>
          <p:cNvSpPr>
            <a:spLocks noGrp="1"/>
          </p:cNvSpPr>
          <p:nvPr>
            <p:ph type="pic" sz="quarter" idx="11" hasCustomPrompt="1"/>
          </p:nvPr>
        </p:nvSpPr>
        <p:spPr>
          <a:xfrm>
            <a:off x="1991032" y="1782801"/>
            <a:ext cx="2979174" cy="3292400"/>
          </a:xfrm>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chemeClr val="bg1">
              <a:lumMod val="95000"/>
              <a:alpha val="25000"/>
            </a:schemeClr>
          </a:solidFill>
          <a:ln w="114300">
            <a:solidFill>
              <a:schemeClr val="bg1"/>
            </a:solidFill>
          </a:ln>
          <a:effectLst>
            <a:outerShdw blurRad="1016000" dist="685800" dir="5400000" sx="88000" sy="88000" algn="t" rotWithShape="0">
              <a:prstClr val="black">
                <a:alpha val="19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2" name="Rectángulo 1">
            <a:extLst>
              <a:ext uri="{FF2B5EF4-FFF2-40B4-BE49-F238E27FC236}">
                <a16:creationId xmlns:a16="http://schemas.microsoft.com/office/drawing/2014/main" id="{D4A2A002-2E9E-2488-046D-284EE42EA9BE}"/>
              </a:ext>
            </a:extLst>
          </p:cNvPr>
          <p:cNvSpPr/>
          <p:nvPr userDrawn="1"/>
        </p:nvSpPr>
        <p:spPr>
          <a:xfrm>
            <a:off x="77821" y="5817140"/>
            <a:ext cx="11537005" cy="7879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extBox 9">
            <a:extLst>
              <a:ext uri="{FF2B5EF4-FFF2-40B4-BE49-F238E27FC236}">
                <a16:creationId xmlns:a16="http://schemas.microsoft.com/office/drawing/2014/main" id="{02B74960-0579-2D29-BAA4-4C66EB7D0AEE}"/>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pic>
        <p:nvPicPr>
          <p:cNvPr id="5" name="Imagen 4" descr="Logotipo&#10;&#10;El contenido generado por IA puede ser incorrecto.">
            <a:extLst>
              <a:ext uri="{FF2B5EF4-FFF2-40B4-BE49-F238E27FC236}">
                <a16:creationId xmlns:a16="http://schemas.microsoft.com/office/drawing/2014/main" id="{DD50A981-1F44-7841-9A57-2136C99C58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6" name="TextBox 7">
            <a:extLst>
              <a:ext uri="{FF2B5EF4-FFF2-40B4-BE49-F238E27FC236}">
                <a16:creationId xmlns:a16="http://schemas.microsoft.com/office/drawing/2014/main" id="{44AE0D6E-E41E-FC8D-31E3-F7E61868B815}"/>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6046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7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29FFCC15-C88A-4C22-BCB5-A5A5FF520111}"/>
              </a:ext>
            </a:extLst>
          </p:cNvPr>
          <p:cNvSpPr>
            <a:spLocks noGrp="1"/>
          </p:cNvSpPr>
          <p:nvPr>
            <p:ph type="pic" sz="quarter" idx="13" hasCustomPrompt="1"/>
          </p:nvPr>
        </p:nvSpPr>
        <p:spPr>
          <a:xfrm>
            <a:off x="4800602"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08CC1F1-D016-483F-937F-FE33BCB6BFF3}"/>
              </a:ext>
            </a:extLst>
          </p:cNvPr>
          <p:cNvSpPr>
            <a:spLocks noGrp="1"/>
          </p:cNvSpPr>
          <p:nvPr>
            <p:ph type="pic" sz="quarter" idx="14" hasCustomPrompt="1"/>
          </p:nvPr>
        </p:nvSpPr>
        <p:spPr>
          <a:xfrm>
            <a:off x="8079657"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103EDA27-4D59-4A54-B45A-2451E41A9726}"/>
              </a:ext>
            </a:extLst>
          </p:cNvPr>
          <p:cNvSpPr>
            <a:spLocks noGrp="1"/>
          </p:cNvSpPr>
          <p:nvPr>
            <p:ph type="pic" sz="quarter" idx="10" hasCustomPrompt="1"/>
          </p:nvPr>
        </p:nvSpPr>
        <p:spPr>
          <a:xfrm>
            <a:off x="1521543" y="2189311"/>
            <a:ext cx="2590799" cy="2782066"/>
          </a:xfrm>
          <a:prstGeom prst="roundRect">
            <a:avLst>
              <a:gd name="adj" fmla="val 11543"/>
            </a:avLst>
          </a:prstGeom>
          <a:noFill/>
          <a:effectLst>
            <a:outerShdw blurRad="863600" dist="5207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68804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75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750"/>
                                        <p:tgtEl>
                                          <p:spTgt spid="10"/>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7"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8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7173ED80-B374-4419-8404-CD8A0778B5E9}"/>
              </a:ext>
            </a:extLst>
          </p:cNvPr>
          <p:cNvSpPr>
            <a:spLocks noGrp="1"/>
          </p:cNvSpPr>
          <p:nvPr>
            <p:ph type="pic" sz="quarter" idx="11" hasCustomPrompt="1"/>
          </p:nvPr>
        </p:nvSpPr>
        <p:spPr>
          <a:xfrm>
            <a:off x="4089673"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C3DC9800-5BAC-4E22-9DBE-6456DDB46E0D}"/>
              </a:ext>
            </a:extLst>
          </p:cNvPr>
          <p:cNvSpPr>
            <a:spLocks noGrp="1"/>
          </p:cNvSpPr>
          <p:nvPr>
            <p:ph type="pic" sz="quarter" idx="12" hasCustomPrompt="1"/>
          </p:nvPr>
        </p:nvSpPr>
        <p:spPr>
          <a:xfrm>
            <a:off x="6569789" y="2777021"/>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88D0AB14-C688-439C-B831-BD201034C73C}"/>
              </a:ext>
            </a:extLst>
          </p:cNvPr>
          <p:cNvSpPr>
            <a:spLocks noGrp="1"/>
          </p:cNvSpPr>
          <p:nvPr>
            <p:ph type="pic" sz="quarter" idx="13" hasCustomPrompt="1"/>
          </p:nvPr>
        </p:nvSpPr>
        <p:spPr>
          <a:xfrm>
            <a:off x="9049904"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29F9B94F-6A18-4B82-8197-85516EC89062}"/>
              </a:ext>
            </a:extLst>
          </p:cNvPr>
          <p:cNvSpPr>
            <a:spLocks noGrp="1"/>
          </p:cNvSpPr>
          <p:nvPr>
            <p:ph type="pic" sz="quarter" idx="10" hasCustomPrompt="1"/>
          </p:nvPr>
        </p:nvSpPr>
        <p:spPr>
          <a:xfrm>
            <a:off x="1609556" y="2010750"/>
            <a:ext cx="1532542" cy="1532542"/>
          </a:xfrm>
          <a:custGeom>
            <a:avLst/>
            <a:gdLst>
              <a:gd name="connsiteX0" fmla="*/ 766271 w 1532542"/>
              <a:gd name="connsiteY0" fmla="*/ 0 h 1532542"/>
              <a:gd name="connsiteX1" fmla="*/ 1532542 w 1532542"/>
              <a:gd name="connsiteY1" fmla="*/ 766271 h 1532542"/>
              <a:gd name="connsiteX2" fmla="*/ 766271 w 1532542"/>
              <a:gd name="connsiteY2" fmla="*/ 1532542 h 1532542"/>
              <a:gd name="connsiteX3" fmla="*/ 0 w 1532542"/>
              <a:gd name="connsiteY3" fmla="*/ 766271 h 1532542"/>
              <a:gd name="connsiteX4" fmla="*/ 766271 w 1532542"/>
              <a:gd name="connsiteY4" fmla="*/ 0 h 1532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542" h="1532542">
                <a:moveTo>
                  <a:pt x="766271" y="0"/>
                </a:moveTo>
                <a:cubicBezTo>
                  <a:pt x="1189471" y="0"/>
                  <a:pt x="1532542" y="343071"/>
                  <a:pt x="1532542" y="766271"/>
                </a:cubicBezTo>
                <a:cubicBezTo>
                  <a:pt x="1532542" y="1189471"/>
                  <a:pt x="1189471" y="1532542"/>
                  <a:pt x="766271" y="1532542"/>
                </a:cubicBezTo>
                <a:cubicBezTo>
                  <a:pt x="343071" y="1532542"/>
                  <a:pt x="0" y="1189471"/>
                  <a:pt x="0" y="766271"/>
                </a:cubicBezTo>
                <a:cubicBezTo>
                  <a:pt x="0" y="343071"/>
                  <a:pt x="343071" y="0"/>
                  <a:pt x="766271" y="0"/>
                </a:cubicBezTo>
                <a:close/>
              </a:path>
            </a:pathLst>
          </a:custGeom>
          <a:solidFill>
            <a:schemeClr val="bg1">
              <a:lumMod val="95000"/>
              <a:alpha val="25000"/>
            </a:schemeClr>
          </a:solidFill>
          <a:effectLst>
            <a:outerShdw blurRad="660400" dist="228600" dir="5400000" sx="90000" sy="90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98048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style.rotation</p:attrName>
                                        </p:attrNameLst>
                                      </p:cBhvr>
                                      <p:tavLst>
                                        <p:tav tm="0">
                                          <p:val>
                                            <p:fltVal val="360"/>
                                          </p:val>
                                        </p:tav>
                                        <p:tav tm="100000">
                                          <p:val>
                                            <p:fltVal val="0"/>
                                          </p:val>
                                        </p:tav>
                                      </p:tavLst>
                                    </p:anim>
                                    <p:animEffect transition="in" filter="fade">
                                      <p:cBhvr>
                                        <p:cTn id="10" dur="500"/>
                                        <p:tgtEl>
                                          <p:spTgt spid="8"/>
                                        </p:tgtEl>
                                      </p:cBhvr>
                                    </p:animEffect>
                                  </p:childTnLst>
                                </p:cTn>
                              </p:par>
                              <p:par>
                                <p:cTn id="11" presetID="49" presetClass="entr" presetSubtype="0" decel="10000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anim calcmode="lin" valueType="num">
                                      <p:cBhvr>
                                        <p:cTn id="15" dur="500" fill="hold"/>
                                        <p:tgtEl>
                                          <p:spTgt spid="9"/>
                                        </p:tgtEl>
                                        <p:attrNameLst>
                                          <p:attrName>style.rotation</p:attrName>
                                        </p:attrNameLst>
                                      </p:cBhvr>
                                      <p:tavLst>
                                        <p:tav tm="0">
                                          <p:val>
                                            <p:fltVal val="360"/>
                                          </p:val>
                                        </p:tav>
                                        <p:tav tm="100000">
                                          <p:val>
                                            <p:fltVal val="0"/>
                                          </p:val>
                                        </p:tav>
                                      </p:tavLst>
                                    </p:anim>
                                    <p:animEffect transition="in" filter="fade">
                                      <p:cBhvr>
                                        <p:cTn id="16" dur="500"/>
                                        <p:tgtEl>
                                          <p:spTgt spid="9"/>
                                        </p:tgtEl>
                                      </p:cBhvr>
                                    </p:animEffect>
                                  </p:childTnLst>
                                </p:cTn>
                              </p:par>
                              <p:par>
                                <p:cTn id="17" presetID="49" presetClass="entr" presetSubtype="0" decel="100000" fill="hold" grpId="0" nodeType="withEffect">
                                  <p:stCondLst>
                                    <p:cond delay="75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 calcmode="lin" valueType="num">
                                      <p:cBhvr>
                                        <p:cTn id="21" dur="500" fill="hold"/>
                                        <p:tgtEl>
                                          <p:spTgt spid="10"/>
                                        </p:tgtEl>
                                        <p:attrNameLst>
                                          <p:attrName>style.rotation</p:attrName>
                                        </p:attrNameLst>
                                      </p:cBhvr>
                                      <p:tavLst>
                                        <p:tav tm="0">
                                          <p:val>
                                            <p:fltVal val="360"/>
                                          </p:val>
                                        </p:tav>
                                        <p:tav tm="100000">
                                          <p:val>
                                            <p:fltVal val="0"/>
                                          </p:val>
                                        </p:tav>
                                      </p:tavLst>
                                    </p:anim>
                                    <p:animEffect transition="in" filter="fade">
                                      <p:cBhvr>
                                        <p:cTn id="22" dur="500"/>
                                        <p:tgtEl>
                                          <p:spTgt spid="10"/>
                                        </p:tgtEl>
                                      </p:cBhvr>
                                    </p:animEffect>
                                  </p:childTnLst>
                                </p:cTn>
                              </p:par>
                              <p:par>
                                <p:cTn id="23" presetID="49" presetClass="entr" presetSubtype="0" decel="100000" fill="hold" grpId="0" nodeType="withEffect">
                                  <p:stCondLst>
                                    <p:cond delay="1000"/>
                                  </p:stCondLst>
                                  <p:childTnLst>
                                    <p:set>
                                      <p:cBhvr>
                                        <p:cTn id="24" dur="1" fill="hold">
                                          <p:stCondLst>
                                            <p:cond delay="0"/>
                                          </p:stCondLst>
                                        </p:cTn>
                                        <p:tgtEl>
                                          <p:spTgt spid="11"/>
                                        </p:tgtEl>
                                        <p:attrNameLst>
                                          <p:attrName>style.visibility</p:attrName>
                                        </p:attrNameLst>
                                      </p:cBhvr>
                                      <p:to>
                                        <p:strVal val="visible"/>
                                      </p:to>
                                    </p:set>
                                    <p:anim calcmode="lin" valueType="num">
                                      <p:cBhvr>
                                        <p:cTn id="25" dur="500" fill="hold"/>
                                        <p:tgtEl>
                                          <p:spTgt spid="11"/>
                                        </p:tgtEl>
                                        <p:attrNameLst>
                                          <p:attrName>ppt_w</p:attrName>
                                        </p:attrNameLst>
                                      </p:cBhvr>
                                      <p:tavLst>
                                        <p:tav tm="0">
                                          <p:val>
                                            <p:fltVal val="0"/>
                                          </p:val>
                                        </p:tav>
                                        <p:tav tm="100000">
                                          <p:val>
                                            <p:strVal val="#ppt_w"/>
                                          </p:val>
                                        </p:tav>
                                      </p:tavLst>
                                    </p:anim>
                                    <p:anim calcmode="lin" valueType="num">
                                      <p:cBhvr>
                                        <p:cTn id="26" dur="500" fill="hold"/>
                                        <p:tgtEl>
                                          <p:spTgt spid="11"/>
                                        </p:tgtEl>
                                        <p:attrNameLst>
                                          <p:attrName>ppt_h</p:attrName>
                                        </p:attrNameLst>
                                      </p:cBhvr>
                                      <p:tavLst>
                                        <p:tav tm="0">
                                          <p:val>
                                            <p:fltVal val="0"/>
                                          </p:val>
                                        </p:tav>
                                        <p:tav tm="100000">
                                          <p:val>
                                            <p:strVal val="#ppt_h"/>
                                          </p:val>
                                        </p:tav>
                                      </p:tavLst>
                                    </p:anim>
                                    <p:anim calcmode="lin" valueType="num">
                                      <p:cBhvr>
                                        <p:cTn id="27" dur="500" fill="hold"/>
                                        <p:tgtEl>
                                          <p:spTgt spid="11"/>
                                        </p:tgtEl>
                                        <p:attrNameLst>
                                          <p:attrName>style.rotation</p:attrName>
                                        </p:attrNameLst>
                                      </p:cBhvr>
                                      <p:tavLst>
                                        <p:tav tm="0">
                                          <p:val>
                                            <p:fltVal val="360"/>
                                          </p:val>
                                        </p:tav>
                                        <p:tav tm="100000">
                                          <p:val>
                                            <p:fltVal val="0"/>
                                          </p:val>
                                        </p:tav>
                                      </p:tavLst>
                                    </p:anim>
                                    <p:animEffect transition="in" filter="fade">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8" grpId="0" animBg="1"/>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9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C131B47-FF61-4D00-ADA3-3AD669CDA862}"/>
              </a:ext>
            </a:extLst>
          </p:cNvPr>
          <p:cNvSpPr>
            <a:spLocks noGrp="1"/>
          </p:cNvSpPr>
          <p:nvPr>
            <p:ph type="pic" sz="quarter" idx="10" hasCustomPrompt="1"/>
          </p:nvPr>
        </p:nvSpPr>
        <p:spPr>
          <a:xfrm>
            <a:off x="7093975" y="800477"/>
            <a:ext cx="3809780" cy="3809780"/>
          </a:xfrm>
          <a:custGeom>
            <a:avLst/>
            <a:gdLst>
              <a:gd name="connsiteX0" fmla="*/ 1904890 w 3809780"/>
              <a:gd name="connsiteY0" fmla="*/ 0 h 3809780"/>
              <a:gd name="connsiteX1" fmla="*/ 3809780 w 3809780"/>
              <a:gd name="connsiteY1" fmla="*/ 1904890 h 3809780"/>
              <a:gd name="connsiteX2" fmla="*/ 1904890 w 3809780"/>
              <a:gd name="connsiteY2" fmla="*/ 3809780 h 3809780"/>
              <a:gd name="connsiteX3" fmla="*/ 0 w 3809780"/>
              <a:gd name="connsiteY3" fmla="*/ 1904890 h 3809780"/>
              <a:gd name="connsiteX4" fmla="*/ 1904890 w 3809780"/>
              <a:gd name="connsiteY4" fmla="*/ 0 h 3809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9780" h="3809780">
                <a:moveTo>
                  <a:pt x="1904890" y="0"/>
                </a:moveTo>
                <a:cubicBezTo>
                  <a:pt x="2956932" y="0"/>
                  <a:pt x="3809780" y="852848"/>
                  <a:pt x="3809780" y="1904890"/>
                </a:cubicBezTo>
                <a:cubicBezTo>
                  <a:pt x="3809780" y="2956932"/>
                  <a:pt x="2956932" y="3809780"/>
                  <a:pt x="1904890" y="3809780"/>
                </a:cubicBezTo>
                <a:cubicBezTo>
                  <a:pt x="852848" y="3809780"/>
                  <a:pt x="0" y="2956932"/>
                  <a:pt x="0" y="1904890"/>
                </a:cubicBezTo>
                <a:cubicBezTo>
                  <a:pt x="0" y="852848"/>
                  <a:pt x="852848" y="0"/>
                  <a:pt x="190489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4B5F07A4-0776-45FA-A845-0E5A900A4D20}"/>
              </a:ext>
            </a:extLst>
          </p:cNvPr>
          <p:cNvSpPr>
            <a:spLocks noGrp="1"/>
          </p:cNvSpPr>
          <p:nvPr>
            <p:ph type="pic" sz="quarter" idx="11" hasCustomPrompt="1"/>
          </p:nvPr>
        </p:nvSpPr>
        <p:spPr>
          <a:xfrm>
            <a:off x="8008042" y="3331310"/>
            <a:ext cx="2726214" cy="2726214"/>
          </a:xfrm>
          <a:custGeom>
            <a:avLst/>
            <a:gdLst>
              <a:gd name="connsiteX0" fmla="*/ 1363107 w 2726214"/>
              <a:gd name="connsiteY0" fmla="*/ 0 h 2726214"/>
              <a:gd name="connsiteX1" fmla="*/ 2726214 w 2726214"/>
              <a:gd name="connsiteY1" fmla="*/ 1363107 h 2726214"/>
              <a:gd name="connsiteX2" fmla="*/ 1363107 w 2726214"/>
              <a:gd name="connsiteY2" fmla="*/ 2726214 h 2726214"/>
              <a:gd name="connsiteX3" fmla="*/ 0 w 2726214"/>
              <a:gd name="connsiteY3" fmla="*/ 1363107 h 2726214"/>
              <a:gd name="connsiteX4" fmla="*/ 1363107 w 2726214"/>
              <a:gd name="connsiteY4" fmla="*/ 0 h 2726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26214" h="2726214">
                <a:moveTo>
                  <a:pt x="1363107" y="0"/>
                </a:moveTo>
                <a:cubicBezTo>
                  <a:pt x="2115930" y="0"/>
                  <a:pt x="2726214" y="610284"/>
                  <a:pt x="2726214" y="1363107"/>
                </a:cubicBezTo>
                <a:cubicBezTo>
                  <a:pt x="2726214" y="2115930"/>
                  <a:pt x="2115930" y="2726214"/>
                  <a:pt x="1363107" y="2726214"/>
                </a:cubicBezTo>
                <a:cubicBezTo>
                  <a:pt x="610284" y="2726214"/>
                  <a:pt x="0" y="2115930"/>
                  <a:pt x="0" y="1363107"/>
                </a:cubicBezTo>
                <a:cubicBezTo>
                  <a:pt x="0" y="610284"/>
                  <a:pt x="610284" y="0"/>
                  <a:pt x="1363107"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7DAD8A09-4230-4688-8CA9-58CF4ED8E303}"/>
              </a:ext>
            </a:extLst>
          </p:cNvPr>
          <p:cNvSpPr>
            <a:spLocks noGrp="1"/>
          </p:cNvSpPr>
          <p:nvPr>
            <p:ph type="pic" sz="quarter" idx="12" hasCustomPrompt="1"/>
          </p:nvPr>
        </p:nvSpPr>
        <p:spPr>
          <a:xfrm>
            <a:off x="6377050" y="2927973"/>
            <a:ext cx="2011680" cy="2011680"/>
          </a:xfrm>
          <a:custGeom>
            <a:avLst/>
            <a:gdLst>
              <a:gd name="connsiteX0" fmla="*/ 1005840 w 2011680"/>
              <a:gd name="connsiteY0" fmla="*/ 0 h 2011680"/>
              <a:gd name="connsiteX1" fmla="*/ 2011680 w 2011680"/>
              <a:gd name="connsiteY1" fmla="*/ 1005840 h 2011680"/>
              <a:gd name="connsiteX2" fmla="*/ 1005840 w 2011680"/>
              <a:gd name="connsiteY2" fmla="*/ 2011680 h 2011680"/>
              <a:gd name="connsiteX3" fmla="*/ 0 w 2011680"/>
              <a:gd name="connsiteY3" fmla="*/ 1005840 h 2011680"/>
              <a:gd name="connsiteX4" fmla="*/ 1005840 w 2011680"/>
              <a:gd name="connsiteY4" fmla="*/ 0 h 20116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1680" h="2011680">
                <a:moveTo>
                  <a:pt x="1005840" y="0"/>
                </a:moveTo>
                <a:cubicBezTo>
                  <a:pt x="1561350" y="0"/>
                  <a:pt x="2011680" y="450330"/>
                  <a:pt x="2011680" y="1005840"/>
                </a:cubicBezTo>
                <a:cubicBezTo>
                  <a:pt x="2011680" y="1561350"/>
                  <a:pt x="1561350" y="2011680"/>
                  <a:pt x="1005840" y="2011680"/>
                </a:cubicBezTo>
                <a:cubicBezTo>
                  <a:pt x="450330" y="2011680"/>
                  <a:pt x="0" y="1561350"/>
                  <a:pt x="0" y="1005840"/>
                </a:cubicBezTo>
                <a:cubicBezTo>
                  <a:pt x="0" y="450330"/>
                  <a:pt x="450330" y="0"/>
                  <a:pt x="1005840"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7" name="Picture Placeholder 16">
            <a:extLst>
              <a:ext uri="{FF2B5EF4-FFF2-40B4-BE49-F238E27FC236}">
                <a16:creationId xmlns:a16="http://schemas.microsoft.com/office/drawing/2014/main" id="{796EFDEC-7C6F-49CC-8632-AA9A0C2AB9FC}"/>
              </a:ext>
            </a:extLst>
          </p:cNvPr>
          <p:cNvSpPr>
            <a:spLocks noGrp="1"/>
          </p:cNvSpPr>
          <p:nvPr>
            <p:ph type="pic" sz="quarter" idx="13" hasCustomPrompt="1"/>
          </p:nvPr>
        </p:nvSpPr>
        <p:spPr>
          <a:xfrm>
            <a:off x="5655620" y="3788670"/>
            <a:ext cx="1430446" cy="1430446"/>
          </a:xfrm>
          <a:custGeom>
            <a:avLst/>
            <a:gdLst>
              <a:gd name="connsiteX0" fmla="*/ 715223 w 1430446"/>
              <a:gd name="connsiteY0" fmla="*/ 0 h 1430446"/>
              <a:gd name="connsiteX1" fmla="*/ 1430446 w 1430446"/>
              <a:gd name="connsiteY1" fmla="*/ 715223 h 1430446"/>
              <a:gd name="connsiteX2" fmla="*/ 715223 w 1430446"/>
              <a:gd name="connsiteY2" fmla="*/ 1430446 h 1430446"/>
              <a:gd name="connsiteX3" fmla="*/ 0 w 1430446"/>
              <a:gd name="connsiteY3" fmla="*/ 715223 h 1430446"/>
              <a:gd name="connsiteX4" fmla="*/ 715223 w 1430446"/>
              <a:gd name="connsiteY4" fmla="*/ 0 h 1430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46" h="1430446">
                <a:moveTo>
                  <a:pt x="715223" y="0"/>
                </a:moveTo>
                <a:cubicBezTo>
                  <a:pt x="1110230" y="0"/>
                  <a:pt x="1430446" y="320216"/>
                  <a:pt x="1430446" y="715223"/>
                </a:cubicBezTo>
                <a:cubicBezTo>
                  <a:pt x="1430446" y="1110230"/>
                  <a:pt x="1110230" y="1430446"/>
                  <a:pt x="715223" y="1430446"/>
                </a:cubicBezTo>
                <a:cubicBezTo>
                  <a:pt x="320216" y="1430446"/>
                  <a:pt x="0" y="1110230"/>
                  <a:pt x="0" y="715223"/>
                </a:cubicBezTo>
                <a:cubicBezTo>
                  <a:pt x="0" y="320216"/>
                  <a:pt x="320216" y="0"/>
                  <a:pt x="715223" y="0"/>
                </a:cubicBezTo>
                <a:close/>
              </a:path>
            </a:pathLst>
          </a:custGeom>
          <a:solidFill>
            <a:schemeClr val="bg1">
              <a:lumMod val="95000"/>
              <a:alpha val="25000"/>
            </a:schemeClr>
          </a:solidFill>
          <a:ln w="101600">
            <a:solidFill>
              <a:schemeClr val="bg1"/>
            </a:solidFill>
          </a:ln>
          <a:effectLst>
            <a:outerShdw blurRad="1270000" dist="495300" sx="92000" sy="92000" algn="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61849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750" fill="hold"/>
                                        <p:tgtEl>
                                          <p:spTgt spid="17"/>
                                        </p:tgtEl>
                                        <p:attrNameLst>
                                          <p:attrName>ppt_w</p:attrName>
                                        </p:attrNameLst>
                                      </p:cBhvr>
                                      <p:tavLst>
                                        <p:tav tm="0">
                                          <p:val>
                                            <p:fltVal val="0"/>
                                          </p:val>
                                        </p:tav>
                                        <p:tav tm="100000">
                                          <p:val>
                                            <p:strVal val="#ppt_w"/>
                                          </p:val>
                                        </p:tav>
                                      </p:tavLst>
                                    </p:anim>
                                    <p:anim calcmode="lin" valueType="num">
                                      <p:cBhvr>
                                        <p:cTn id="8" dur="750" fill="hold"/>
                                        <p:tgtEl>
                                          <p:spTgt spid="17"/>
                                        </p:tgtEl>
                                        <p:attrNameLst>
                                          <p:attrName>ppt_h</p:attrName>
                                        </p:attrNameLst>
                                      </p:cBhvr>
                                      <p:tavLst>
                                        <p:tav tm="0">
                                          <p:val>
                                            <p:fltVal val="0"/>
                                          </p:val>
                                        </p:tav>
                                        <p:tav tm="100000">
                                          <p:val>
                                            <p:strVal val="#ppt_h"/>
                                          </p:val>
                                        </p:tav>
                                      </p:tavLst>
                                    </p:anim>
                                    <p:anim calcmode="lin" valueType="num">
                                      <p:cBhvr>
                                        <p:cTn id="9" dur="750" fill="hold"/>
                                        <p:tgtEl>
                                          <p:spTgt spid="17"/>
                                        </p:tgtEl>
                                        <p:attrNameLst>
                                          <p:attrName>style.rotation</p:attrName>
                                        </p:attrNameLst>
                                      </p:cBhvr>
                                      <p:tavLst>
                                        <p:tav tm="0">
                                          <p:val>
                                            <p:fltVal val="360"/>
                                          </p:val>
                                        </p:tav>
                                        <p:tav tm="100000">
                                          <p:val>
                                            <p:fltVal val="0"/>
                                          </p:val>
                                        </p:tav>
                                      </p:tavLst>
                                    </p:anim>
                                    <p:animEffect transition="in" filter="fade">
                                      <p:cBhvr>
                                        <p:cTn id="10" dur="750"/>
                                        <p:tgtEl>
                                          <p:spTgt spid="17"/>
                                        </p:tgtEl>
                                      </p:cBhvr>
                                    </p:animEffect>
                                  </p:childTnLst>
                                </p:cTn>
                              </p:par>
                              <p:par>
                                <p:cTn id="11" presetID="49" presetClass="entr" presetSubtype="0" decel="10000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 calcmode="lin" valueType="num">
                                      <p:cBhvr>
                                        <p:cTn id="13" dur="750" fill="hold"/>
                                        <p:tgtEl>
                                          <p:spTgt spid="14"/>
                                        </p:tgtEl>
                                        <p:attrNameLst>
                                          <p:attrName>ppt_w</p:attrName>
                                        </p:attrNameLst>
                                      </p:cBhvr>
                                      <p:tavLst>
                                        <p:tav tm="0">
                                          <p:val>
                                            <p:fltVal val="0"/>
                                          </p:val>
                                        </p:tav>
                                        <p:tav tm="100000">
                                          <p:val>
                                            <p:strVal val="#ppt_w"/>
                                          </p:val>
                                        </p:tav>
                                      </p:tavLst>
                                    </p:anim>
                                    <p:anim calcmode="lin" valueType="num">
                                      <p:cBhvr>
                                        <p:cTn id="14" dur="750" fill="hold"/>
                                        <p:tgtEl>
                                          <p:spTgt spid="14"/>
                                        </p:tgtEl>
                                        <p:attrNameLst>
                                          <p:attrName>ppt_h</p:attrName>
                                        </p:attrNameLst>
                                      </p:cBhvr>
                                      <p:tavLst>
                                        <p:tav tm="0">
                                          <p:val>
                                            <p:fltVal val="0"/>
                                          </p:val>
                                        </p:tav>
                                        <p:tav tm="100000">
                                          <p:val>
                                            <p:strVal val="#ppt_h"/>
                                          </p:val>
                                        </p:tav>
                                      </p:tavLst>
                                    </p:anim>
                                    <p:anim calcmode="lin" valueType="num">
                                      <p:cBhvr>
                                        <p:cTn id="15" dur="750" fill="hold"/>
                                        <p:tgtEl>
                                          <p:spTgt spid="14"/>
                                        </p:tgtEl>
                                        <p:attrNameLst>
                                          <p:attrName>style.rotation</p:attrName>
                                        </p:attrNameLst>
                                      </p:cBhvr>
                                      <p:tavLst>
                                        <p:tav tm="0">
                                          <p:val>
                                            <p:fltVal val="360"/>
                                          </p:val>
                                        </p:tav>
                                        <p:tav tm="100000">
                                          <p:val>
                                            <p:fltVal val="0"/>
                                          </p:val>
                                        </p:tav>
                                      </p:tavLst>
                                    </p:anim>
                                    <p:animEffect transition="in" filter="fade">
                                      <p:cBhvr>
                                        <p:cTn id="16" dur="750"/>
                                        <p:tgtEl>
                                          <p:spTgt spid="14"/>
                                        </p:tgtEl>
                                      </p:cBhvr>
                                    </p:animEffect>
                                  </p:childTnLst>
                                </p:cTn>
                              </p:par>
                              <p:par>
                                <p:cTn id="17" presetID="49" presetClass="entr" presetSubtype="0" decel="10000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 calcmode="lin" valueType="num">
                                      <p:cBhvr>
                                        <p:cTn id="19" dur="750" fill="hold"/>
                                        <p:tgtEl>
                                          <p:spTgt spid="11"/>
                                        </p:tgtEl>
                                        <p:attrNameLst>
                                          <p:attrName>ppt_w</p:attrName>
                                        </p:attrNameLst>
                                      </p:cBhvr>
                                      <p:tavLst>
                                        <p:tav tm="0">
                                          <p:val>
                                            <p:fltVal val="0"/>
                                          </p:val>
                                        </p:tav>
                                        <p:tav tm="100000">
                                          <p:val>
                                            <p:strVal val="#ppt_w"/>
                                          </p:val>
                                        </p:tav>
                                      </p:tavLst>
                                    </p:anim>
                                    <p:anim calcmode="lin" valueType="num">
                                      <p:cBhvr>
                                        <p:cTn id="20" dur="750" fill="hold"/>
                                        <p:tgtEl>
                                          <p:spTgt spid="11"/>
                                        </p:tgtEl>
                                        <p:attrNameLst>
                                          <p:attrName>ppt_h</p:attrName>
                                        </p:attrNameLst>
                                      </p:cBhvr>
                                      <p:tavLst>
                                        <p:tav tm="0">
                                          <p:val>
                                            <p:fltVal val="0"/>
                                          </p:val>
                                        </p:tav>
                                        <p:tav tm="100000">
                                          <p:val>
                                            <p:strVal val="#ppt_h"/>
                                          </p:val>
                                        </p:tav>
                                      </p:tavLst>
                                    </p:anim>
                                    <p:anim calcmode="lin" valueType="num">
                                      <p:cBhvr>
                                        <p:cTn id="21" dur="750" fill="hold"/>
                                        <p:tgtEl>
                                          <p:spTgt spid="11"/>
                                        </p:tgtEl>
                                        <p:attrNameLst>
                                          <p:attrName>style.rotation</p:attrName>
                                        </p:attrNameLst>
                                      </p:cBhvr>
                                      <p:tavLst>
                                        <p:tav tm="0">
                                          <p:val>
                                            <p:fltVal val="360"/>
                                          </p:val>
                                        </p:tav>
                                        <p:tav tm="100000">
                                          <p:val>
                                            <p:fltVal val="0"/>
                                          </p:val>
                                        </p:tav>
                                      </p:tavLst>
                                    </p:anim>
                                    <p:animEffect transition="in" filter="fade">
                                      <p:cBhvr>
                                        <p:cTn id="22" dur="750"/>
                                        <p:tgtEl>
                                          <p:spTgt spid="11"/>
                                        </p:tgtEl>
                                      </p:cBhvr>
                                    </p:animEffect>
                                  </p:childTnLst>
                                </p:cTn>
                              </p:par>
                              <p:par>
                                <p:cTn id="23" presetID="49" presetClass="entr" presetSubtype="0" decel="100000" fill="hold" grpId="0" nodeType="withEffect">
                                  <p:stCondLst>
                                    <p:cond delay="500"/>
                                  </p:stCondLst>
                                  <p:childTnLst>
                                    <p:set>
                                      <p:cBhvr>
                                        <p:cTn id="24" dur="1" fill="hold">
                                          <p:stCondLst>
                                            <p:cond delay="0"/>
                                          </p:stCondLst>
                                        </p:cTn>
                                        <p:tgtEl>
                                          <p:spTgt spid="8"/>
                                        </p:tgtEl>
                                        <p:attrNameLst>
                                          <p:attrName>style.visibility</p:attrName>
                                        </p:attrNameLst>
                                      </p:cBhvr>
                                      <p:to>
                                        <p:strVal val="visible"/>
                                      </p:to>
                                    </p:set>
                                    <p:anim calcmode="lin" valueType="num">
                                      <p:cBhvr>
                                        <p:cTn id="25" dur="1000" fill="hold"/>
                                        <p:tgtEl>
                                          <p:spTgt spid="8"/>
                                        </p:tgtEl>
                                        <p:attrNameLst>
                                          <p:attrName>ppt_w</p:attrName>
                                        </p:attrNameLst>
                                      </p:cBhvr>
                                      <p:tavLst>
                                        <p:tav tm="0">
                                          <p:val>
                                            <p:fltVal val="0"/>
                                          </p:val>
                                        </p:tav>
                                        <p:tav tm="100000">
                                          <p:val>
                                            <p:strVal val="#ppt_w"/>
                                          </p:val>
                                        </p:tav>
                                      </p:tavLst>
                                    </p:anim>
                                    <p:anim calcmode="lin" valueType="num">
                                      <p:cBhvr>
                                        <p:cTn id="26" dur="1000" fill="hold"/>
                                        <p:tgtEl>
                                          <p:spTgt spid="8"/>
                                        </p:tgtEl>
                                        <p:attrNameLst>
                                          <p:attrName>ppt_h</p:attrName>
                                        </p:attrNameLst>
                                      </p:cBhvr>
                                      <p:tavLst>
                                        <p:tav tm="0">
                                          <p:val>
                                            <p:fltVal val="0"/>
                                          </p:val>
                                        </p:tav>
                                        <p:tav tm="100000">
                                          <p:val>
                                            <p:strVal val="#ppt_h"/>
                                          </p:val>
                                        </p:tav>
                                      </p:tavLst>
                                    </p:anim>
                                    <p:anim calcmode="lin" valueType="num">
                                      <p:cBhvr>
                                        <p:cTn id="27" dur="1000" fill="hold"/>
                                        <p:tgtEl>
                                          <p:spTgt spid="8"/>
                                        </p:tgtEl>
                                        <p:attrNameLst>
                                          <p:attrName>style.rotation</p:attrName>
                                        </p:attrNameLst>
                                      </p:cBhvr>
                                      <p:tavLst>
                                        <p:tav tm="0">
                                          <p:val>
                                            <p:fltVal val="360"/>
                                          </p:val>
                                        </p:tav>
                                        <p:tav tm="100000">
                                          <p:val>
                                            <p:fltVal val="0"/>
                                          </p:val>
                                        </p:tav>
                                      </p:tavLst>
                                    </p:anim>
                                    <p:animEffect transition="in" filter="fade">
                                      <p:cBhvr>
                                        <p:cTn id="2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7" grpId="0" animBg="1"/>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0_Title and Content">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F598A733-FD9B-4714-9169-6B85CF599B9F}"/>
              </a:ext>
            </a:extLst>
          </p:cNvPr>
          <p:cNvSpPr>
            <a:spLocks noGrp="1"/>
          </p:cNvSpPr>
          <p:nvPr>
            <p:ph type="pic" sz="quarter" idx="11" hasCustomPrompt="1"/>
          </p:nvPr>
        </p:nvSpPr>
        <p:spPr>
          <a:xfrm>
            <a:off x="4357072"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Picture Placeholder 12">
            <a:extLst>
              <a:ext uri="{FF2B5EF4-FFF2-40B4-BE49-F238E27FC236}">
                <a16:creationId xmlns:a16="http://schemas.microsoft.com/office/drawing/2014/main" id="{32FE5C27-34FF-4758-91B5-9A4F63C50CFE}"/>
              </a:ext>
            </a:extLst>
          </p:cNvPr>
          <p:cNvSpPr>
            <a:spLocks noGrp="1"/>
          </p:cNvSpPr>
          <p:nvPr>
            <p:ph type="pic" sz="quarter" idx="12" hasCustomPrompt="1"/>
          </p:nvPr>
        </p:nvSpPr>
        <p:spPr>
          <a:xfrm>
            <a:off x="7238004" y="2222123"/>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4" name="Picture Placeholder 13">
            <a:extLst>
              <a:ext uri="{FF2B5EF4-FFF2-40B4-BE49-F238E27FC236}">
                <a16:creationId xmlns:a16="http://schemas.microsoft.com/office/drawing/2014/main" id="{9F3E7F81-C528-400C-BF99-A219419A9612}"/>
              </a:ext>
            </a:extLst>
          </p:cNvPr>
          <p:cNvSpPr>
            <a:spLocks noGrp="1"/>
          </p:cNvSpPr>
          <p:nvPr>
            <p:ph type="pic" sz="quarter" idx="13" hasCustomPrompt="1"/>
          </p:nvPr>
        </p:nvSpPr>
        <p:spPr>
          <a:xfrm>
            <a:off x="5173638"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5" name="Picture Placeholder 14">
            <a:extLst>
              <a:ext uri="{FF2B5EF4-FFF2-40B4-BE49-F238E27FC236}">
                <a16:creationId xmlns:a16="http://schemas.microsoft.com/office/drawing/2014/main" id="{C5E0642B-57C5-40B1-B690-FEE96400ADE4}"/>
              </a:ext>
            </a:extLst>
          </p:cNvPr>
          <p:cNvSpPr>
            <a:spLocks noGrp="1"/>
          </p:cNvSpPr>
          <p:nvPr>
            <p:ph type="pic" sz="quarter" idx="14" hasCustomPrompt="1"/>
          </p:nvPr>
        </p:nvSpPr>
        <p:spPr>
          <a:xfrm>
            <a:off x="8054570"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6" name="Picture Placeholder 15">
            <a:extLst>
              <a:ext uri="{FF2B5EF4-FFF2-40B4-BE49-F238E27FC236}">
                <a16:creationId xmlns:a16="http://schemas.microsoft.com/office/drawing/2014/main" id="{10308F0C-C637-4C1A-82ED-6C8B0997EC1C}"/>
              </a:ext>
            </a:extLst>
          </p:cNvPr>
          <p:cNvSpPr>
            <a:spLocks noGrp="1"/>
          </p:cNvSpPr>
          <p:nvPr>
            <p:ph type="pic" sz="quarter" idx="15" hasCustomPrompt="1"/>
          </p:nvPr>
        </p:nvSpPr>
        <p:spPr>
          <a:xfrm>
            <a:off x="10935502" y="4292035"/>
            <a:ext cx="2512996" cy="1750380"/>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368300" dist="203200" dir="5400000" sx="95000" sy="9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7AD54F54-1E21-48FB-855F-3C1CBF97EB45}"/>
              </a:ext>
            </a:extLst>
          </p:cNvPr>
          <p:cNvSpPr>
            <a:spLocks noGrp="1"/>
          </p:cNvSpPr>
          <p:nvPr>
            <p:ph type="pic" sz="quarter" idx="10" hasCustomPrompt="1"/>
          </p:nvPr>
        </p:nvSpPr>
        <p:spPr>
          <a:xfrm>
            <a:off x="1092200" y="1954697"/>
            <a:ext cx="2896936" cy="2017806"/>
          </a:xfrm>
          <a:custGeom>
            <a:avLst/>
            <a:gdLst>
              <a:gd name="connsiteX0" fmla="*/ 339006 w 2920179"/>
              <a:gd name="connsiteY0" fmla="*/ 0 h 2033996"/>
              <a:gd name="connsiteX1" fmla="*/ 2581173 w 2920179"/>
              <a:gd name="connsiteY1" fmla="*/ 0 h 2033996"/>
              <a:gd name="connsiteX2" fmla="*/ 2920179 w 2920179"/>
              <a:gd name="connsiteY2" fmla="*/ 339006 h 2033996"/>
              <a:gd name="connsiteX3" fmla="*/ 2920179 w 2920179"/>
              <a:gd name="connsiteY3" fmla="*/ 1694990 h 2033996"/>
              <a:gd name="connsiteX4" fmla="*/ 2581173 w 2920179"/>
              <a:gd name="connsiteY4" fmla="*/ 2033996 h 2033996"/>
              <a:gd name="connsiteX5" fmla="*/ 339006 w 2920179"/>
              <a:gd name="connsiteY5" fmla="*/ 2033996 h 2033996"/>
              <a:gd name="connsiteX6" fmla="*/ 0 w 2920179"/>
              <a:gd name="connsiteY6" fmla="*/ 1694990 h 2033996"/>
              <a:gd name="connsiteX7" fmla="*/ 0 w 2920179"/>
              <a:gd name="connsiteY7" fmla="*/ 339006 h 2033996"/>
              <a:gd name="connsiteX8" fmla="*/ 339006 w 2920179"/>
              <a:gd name="connsiteY8" fmla="*/ 0 h 203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20179" h="2033996">
                <a:moveTo>
                  <a:pt x="339006" y="0"/>
                </a:moveTo>
                <a:lnTo>
                  <a:pt x="2581173" y="0"/>
                </a:lnTo>
                <a:cubicBezTo>
                  <a:pt x="2768401" y="0"/>
                  <a:pt x="2920179" y="151778"/>
                  <a:pt x="2920179" y="339006"/>
                </a:cubicBezTo>
                <a:lnTo>
                  <a:pt x="2920179" y="1694990"/>
                </a:lnTo>
                <a:cubicBezTo>
                  <a:pt x="2920179" y="1882218"/>
                  <a:pt x="2768401" y="2033996"/>
                  <a:pt x="2581173" y="2033996"/>
                </a:cubicBezTo>
                <a:lnTo>
                  <a:pt x="339006" y="2033996"/>
                </a:lnTo>
                <a:cubicBezTo>
                  <a:pt x="151778" y="2033996"/>
                  <a:pt x="0" y="1882218"/>
                  <a:pt x="0" y="1694990"/>
                </a:cubicBezTo>
                <a:lnTo>
                  <a:pt x="0" y="339006"/>
                </a:lnTo>
                <a:cubicBezTo>
                  <a:pt x="0" y="151778"/>
                  <a:pt x="151778" y="0"/>
                  <a:pt x="339006" y="0"/>
                </a:cubicBezTo>
                <a:close/>
              </a:path>
            </a:pathLst>
          </a:custGeom>
          <a:solidFill>
            <a:schemeClr val="bg1">
              <a:lumMod val="95000"/>
              <a:alpha val="25000"/>
            </a:schemeClr>
          </a:solidFill>
          <a:effectLst>
            <a:outerShdw blurRad="1270000" dist="647700" dir="5400000" sx="93000" sy="93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260202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1+#ppt_w/2"/>
                                          </p:val>
                                        </p:tav>
                                        <p:tav tm="100000">
                                          <p:val>
                                            <p:strVal val="#ppt_x"/>
                                          </p:val>
                                        </p:tav>
                                      </p:tavLst>
                                    </p:anim>
                                    <p:anim calcmode="lin" valueType="num">
                                      <p:cBhvr additive="base">
                                        <p:cTn id="8" dur="10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25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1+#ppt_w/2"/>
                                          </p:val>
                                        </p:tav>
                                        <p:tav tm="100000">
                                          <p:val>
                                            <p:strVal val="#ppt_x"/>
                                          </p:val>
                                        </p:tav>
                                      </p:tavLst>
                                    </p:anim>
                                    <p:anim calcmode="lin" valueType="num">
                                      <p:cBhvr additive="base">
                                        <p:cTn id="12" dur="10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50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1000" fill="hold"/>
                                        <p:tgtEl>
                                          <p:spTgt spid="13"/>
                                        </p:tgtEl>
                                        <p:attrNameLst>
                                          <p:attrName>ppt_x</p:attrName>
                                        </p:attrNameLst>
                                      </p:cBhvr>
                                      <p:tavLst>
                                        <p:tav tm="0">
                                          <p:val>
                                            <p:strVal val="1+#ppt_w/2"/>
                                          </p:val>
                                        </p:tav>
                                        <p:tav tm="100000">
                                          <p:val>
                                            <p:strVal val="#ppt_x"/>
                                          </p:val>
                                        </p:tav>
                                      </p:tavLst>
                                    </p:anim>
                                    <p:anim calcmode="lin" valueType="num">
                                      <p:cBhvr additive="base">
                                        <p:cTn id="16" dur="1000" fill="hold"/>
                                        <p:tgtEl>
                                          <p:spTgt spid="13"/>
                                        </p:tgtEl>
                                        <p:attrNameLst>
                                          <p:attrName>ppt_y</p:attrName>
                                        </p:attrNameLst>
                                      </p:cBhvr>
                                      <p:tavLst>
                                        <p:tav tm="0">
                                          <p:val>
                                            <p:strVal val="#ppt_y"/>
                                          </p:val>
                                        </p:tav>
                                        <p:tav tm="100000">
                                          <p:val>
                                            <p:strVal val="#ppt_y"/>
                                          </p:val>
                                        </p:tav>
                                      </p:tavLst>
                                    </p:anim>
                                  </p:childTnLst>
                                </p:cTn>
                              </p:par>
                              <p:par>
                                <p:cTn id="17" presetID="2" presetClass="entr" presetSubtype="2" decel="100000" fill="hold" grpId="0" nodeType="withEffect">
                                  <p:stCondLst>
                                    <p:cond delay="75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1000" fill="hold"/>
                                        <p:tgtEl>
                                          <p:spTgt spid="14"/>
                                        </p:tgtEl>
                                        <p:attrNameLst>
                                          <p:attrName>ppt_x</p:attrName>
                                        </p:attrNameLst>
                                      </p:cBhvr>
                                      <p:tavLst>
                                        <p:tav tm="0">
                                          <p:val>
                                            <p:strVal val="1+#ppt_w/2"/>
                                          </p:val>
                                        </p:tav>
                                        <p:tav tm="100000">
                                          <p:val>
                                            <p:strVal val="#ppt_x"/>
                                          </p:val>
                                        </p:tav>
                                      </p:tavLst>
                                    </p:anim>
                                    <p:anim calcmode="lin" valueType="num">
                                      <p:cBhvr additive="base">
                                        <p:cTn id="20" dur="1000" fill="hold"/>
                                        <p:tgtEl>
                                          <p:spTgt spid="14"/>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100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1000" fill="hold"/>
                                        <p:tgtEl>
                                          <p:spTgt spid="15"/>
                                        </p:tgtEl>
                                        <p:attrNameLst>
                                          <p:attrName>ppt_x</p:attrName>
                                        </p:attrNameLst>
                                      </p:cBhvr>
                                      <p:tavLst>
                                        <p:tav tm="0">
                                          <p:val>
                                            <p:strVal val="1+#ppt_w/2"/>
                                          </p:val>
                                        </p:tav>
                                        <p:tav tm="100000">
                                          <p:val>
                                            <p:strVal val="#ppt_x"/>
                                          </p:val>
                                        </p:tav>
                                      </p:tavLst>
                                    </p:anim>
                                    <p:anim calcmode="lin" valueType="num">
                                      <p:cBhvr additive="base">
                                        <p:cTn id="24" dur="1000" fill="hold"/>
                                        <p:tgtEl>
                                          <p:spTgt spid="15"/>
                                        </p:tgtEl>
                                        <p:attrNameLst>
                                          <p:attrName>ppt_y</p:attrName>
                                        </p:attrNameLst>
                                      </p:cBhvr>
                                      <p:tavLst>
                                        <p:tav tm="0">
                                          <p:val>
                                            <p:strVal val="#ppt_y"/>
                                          </p:val>
                                        </p:tav>
                                        <p:tav tm="100000">
                                          <p:val>
                                            <p:strVal val="#ppt_y"/>
                                          </p:val>
                                        </p:tav>
                                      </p:tavLst>
                                    </p:anim>
                                  </p:childTnLst>
                                </p:cTn>
                              </p:par>
                              <p:par>
                                <p:cTn id="25" presetID="2" presetClass="entr" presetSubtype="2" decel="100000" fill="hold" grpId="0"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000" fill="hold"/>
                                        <p:tgtEl>
                                          <p:spTgt spid="16"/>
                                        </p:tgtEl>
                                        <p:attrNameLst>
                                          <p:attrName>ppt_x</p:attrName>
                                        </p:attrNameLst>
                                      </p:cBhvr>
                                      <p:tavLst>
                                        <p:tav tm="0">
                                          <p:val>
                                            <p:strVal val="1+#ppt_w/2"/>
                                          </p:val>
                                        </p:tav>
                                        <p:tav tm="100000">
                                          <p:val>
                                            <p:strVal val="#ppt_x"/>
                                          </p:val>
                                        </p:tav>
                                      </p:tavLst>
                                    </p:anim>
                                    <p:anim calcmode="lin" valueType="num">
                                      <p:cBhvr additive="base">
                                        <p:cTn id="28"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1" grpId="0" animBg="1"/>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2_Title and Conten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500A3230-AFE8-42D2-94F1-6507B02F9790}"/>
              </a:ext>
            </a:extLst>
          </p:cNvPr>
          <p:cNvSpPr>
            <a:spLocks noGrp="1"/>
          </p:cNvSpPr>
          <p:nvPr>
            <p:ph type="pic" sz="quarter" idx="11" hasCustomPrompt="1"/>
          </p:nvPr>
        </p:nvSpPr>
        <p:spPr>
          <a:xfrm>
            <a:off x="2322860" y="3626821"/>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401FFF2C-5A6C-46B4-BC02-BB34895F1A45}"/>
              </a:ext>
            </a:extLst>
          </p:cNvPr>
          <p:cNvSpPr>
            <a:spLocks noGrp="1"/>
          </p:cNvSpPr>
          <p:nvPr>
            <p:ph type="pic" sz="quarter" idx="12" hasCustomPrompt="1"/>
          </p:nvPr>
        </p:nvSpPr>
        <p:spPr>
          <a:xfrm>
            <a:off x="2322860" y="5005614"/>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C235FA3E-BD9C-42B8-92A9-CE7DEE441DEC}"/>
              </a:ext>
            </a:extLst>
          </p:cNvPr>
          <p:cNvSpPr>
            <a:spLocks noGrp="1"/>
          </p:cNvSpPr>
          <p:nvPr>
            <p:ph type="pic" sz="quarter" idx="10" hasCustomPrompt="1"/>
          </p:nvPr>
        </p:nvSpPr>
        <p:spPr>
          <a:xfrm>
            <a:off x="2322860" y="2248029"/>
            <a:ext cx="1461740" cy="983151"/>
          </a:xfrm>
          <a:custGeom>
            <a:avLst/>
            <a:gdLst>
              <a:gd name="connsiteX0" fmla="*/ 163862 w 1461740"/>
              <a:gd name="connsiteY0" fmla="*/ 0 h 983151"/>
              <a:gd name="connsiteX1" fmla="*/ 1297878 w 1461740"/>
              <a:gd name="connsiteY1" fmla="*/ 0 h 983151"/>
              <a:gd name="connsiteX2" fmla="*/ 1461740 w 1461740"/>
              <a:gd name="connsiteY2" fmla="*/ 163862 h 983151"/>
              <a:gd name="connsiteX3" fmla="*/ 1461740 w 1461740"/>
              <a:gd name="connsiteY3" fmla="*/ 819289 h 983151"/>
              <a:gd name="connsiteX4" fmla="*/ 1297878 w 1461740"/>
              <a:gd name="connsiteY4" fmla="*/ 983151 h 983151"/>
              <a:gd name="connsiteX5" fmla="*/ 163862 w 1461740"/>
              <a:gd name="connsiteY5" fmla="*/ 983151 h 983151"/>
              <a:gd name="connsiteX6" fmla="*/ 0 w 1461740"/>
              <a:gd name="connsiteY6" fmla="*/ 819289 h 983151"/>
              <a:gd name="connsiteX7" fmla="*/ 0 w 1461740"/>
              <a:gd name="connsiteY7" fmla="*/ 163862 h 983151"/>
              <a:gd name="connsiteX8" fmla="*/ 163862 w 1461740"/>
              <a:gd name="connsiteY8" fmla="*/ 0 h 98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1740" h="983151">
                <a:moveTo>
                  <a:pt x="163862" y="0"/>
                </a:moveTo>
                <a:lnTo>
                  <a:pt x="1297878" y="0"/>
                </a:lnTo>
                <a:cubicBezTo>
                  <a:pt x="1388376" y="0"/>
                  <a:pt x="1461740" y="73364"/>
                  <a:pt x="1461740" y="163862"/>
                </a:cubicBezTo>
                <a:lnTo>
                  <a:pt x="1461740" y="819289"/>
                </a:lnTo>
                <a:cubicBezTo>
                  <a:pt x="1461740" y="909787"/>
                  <a:pt x="1388376" y="983151"/>
                  <a:pt x="1297878" y="983151"/>
                </a:cubicBezTo>
                <a:lnTo>
                  <a:pt x="163862" y="983151"/>
                </a:lnTo>
                <a:cubicBezTo>
                  <a:pt x="73364" y="983151"/>
                  <a:pt x="0" y="909787"/>
                  <a:pt x="0" y="819289"/>
                </a:cubicBezTo>
                <a:lnTo>
                  <a:pt x="0" y="163862"/>
                </a:lnTo>
                <a:cubicBezTo>
                  <a:pt x="0" y="73364"/>
                  <a:pt x="73364" y="0"/>
                  <a:pt x="163862" y="0"/>
                </a:cubicBezTo>
                <a:close/>
              </a:path>
            </a:pathLst>
          </a:custGeom>
          <a:solidFill>
            <a:schemeClr val="bg1">
              <a:lumMod val="95000"/>
              <a:alpha val="25000"/>
            </a:schemeClr>
          </a:solidFill>
          <a:effectLst>
            <a:outerShdw blurRad="444500" dist="215900" dir="5400000" sx="88000" sy="88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103393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125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150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8" grpId="0" animBg="1"/>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4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A6611AC-C718-4783-AF01-EB5015685BF1}"/>
              </a:ext>
            </a:extLst>
          </p:cNvPr>
          <p:cNvSpPr>
            <a:spLocks noGrp="1"/>
          </p:cNvSpPr>
          <p:nvPr>
            <p:ph type="pic" sz="quarter" idx="10" hasCustomPrompt="1"/>
          </p:nvPr>
        </p:nvSpPr>
        <p:spPr>
          <a:xfrm>
            <a:off x="1092199" y="1278230"/>
            <a:ext cx="4826125" cy="4687532"/>
          </a:xfrm>
          <a:custGeom>
            <a:avLst/>
            <a:gdLst>
              <a:gd name="connsiteX0" fmla="*/ 2134521 w 4826125"/>
              <a:gd name="connsiteY0" fmla="*/ 505 h 4687532"/>
              <a:gd name="connsiteX1" fmla="*/ 3671495 w 4826125"/>
              <a:gd name="connsiteY1" fmla="*/ 412106 h 4687532"/>
              <a:gd name="connsiteX2" fmla="*/ 4518791 w 4826125"/>
              <a:gd name="connsiteY2" fmla="*/ 3941828 h 4687532"/>
              <a:gd name="connsiteX3" fmla="*/ 2800106 w 4826125"/>
              <a:gd name="connsiteY3" fmla="*/ 4391577 h 4687532"/>
              <a:gd name="connsiteX4" fmla="*/ 2189733 w 4826125"/>
              <a:gd name="connsiteY4" fmla="*/ 3082487 h 4687532"/>
              <a:gd name="connsiteX5" fmla="*/ 888680 w 4826125"/>
              <a:gd name="connsiteY5" fmla="*/ 2990130 h 4687532"/>
              <a:gd name="connsiteX6" fmla="*/ 9259 w 4826125"/>
              <a:gd name="connsiteY6" fmla="*/ 1809540 h 4687532"/>
              <a:gd name="connsiteX7" fmla="*/ 856551 w 4826125"/>
              <a:gd name="connsiteY7" fmla="*/ 311714 h 4687532"/>
              <a:gd name="connsiteX8" fmla="*/ 2134521 w 4826125"/>
              <a:gd name="connsiteY8" fmla="*/ 505 h 468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6125" h="4687532">
                <a:moveTo>
                  <a:pt x="2134521" y="505"/>
                </a:moveTo>
                <a:cubicBezTo>
                  <a:pt x="2627438" y="-8530"/>
                  <a:pt x="3163522" y="102904"/>
                  <a:pt x="3671495" y="412106"/>
                </a:cubicBezTo>
                <a:cubicBezTo>
                  <a:pt x="5141209" y="1307586"/>
                  <a:pt x="4940428" y="3166817"/>
                  <a:pt x="4518791" y="3941828"/>
                </a:cubicBezTo>
                <a:cubicBezTo>
                  <a:pt x="4165413" y="4592357"/>
                  <a:pt x="3418514" y="4993919"/>
                  <a:pt x="2800106" y="4391577"/>
                </a:cubicBezTo>
                <a:cubicBezTo>
                  <a:pt x="2410594" y="4010095"/>
                  <a:pt x="2703736" y="3484048"/>
                  <a:pt x="2189733" y="3082487"/>
                </a:cubicBezTo>
                <a:cubicBezTo>
                  <a:pt x="1904627" y="2857612"/>
                  <a:pt x="1495035" y="3247129"/>
                  <a:pt x="888680" y="2990130"/>
                </a:cubicBezTo>
                <a:cubicBezTo>
                  <a:pt x="426883" y="2809425"/>
                  <a:pt x="73509" y="2363694"/>
                  <a:pt x="9259" y="1809540"/>
                </a:cubicBezTo>
                <a:cubicBezTo>
                  <a:pt x="-63022" y="1191135"/>
                  <a:pt x="294365" y="532575"/>
                  <a:pt x="856551" y="311714"/>
                </a:cubicBezTo>
                <a:cubicBezTo>
                  <a:pt x="1191855" y="139042"/>
                  <a:pt x="1641605" y="9539"/>
                  <a:pt x="2134521" y="505"/>
                </a:cubicBezTo>
                <a:close/>
              </a:path>
            </a:pathLst>
          </a:custGeom>
          <a:solidFill>
            <a:schemeClr val="bg1">
              <a:lumMod val="95000"/>
              <a:alpha val="25000"/>
            </a:schemeClr>
          </a:solidFill>
          <a:effectLst>
            <a:outerShdw blurRad="952500" dist="533400" dir="5400000" sx="87000" sy="87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73264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E5C81D-FAFF-41FA-B506-4F9C2A3C4165}"/>
              </a:ext>
            </a:extLst>
          </p:cNvPr>
          <p:cNvSpPr>
            <a:spLocks noGrp="1"/>
          </p:cNvSpPr>
          <p:nvPr>
            <p:ph type="pic" sz="quarter" idx="10" hasCustomPrompt="1"/>
          </p:nvPr>
        </p:nvSpPr>
        <p:spPr>
          <a:xfrm>
            <a:off x="6096001" y="2406790"/>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3C0FD129-1C86-4650-B08B-3F331CF67D61}"/>
              </a:ext>
            </a:extLst>
          </p:cNvPr>
          <p:cNvSpPr>
            <a:spLocks noGrp="1"/>
          </p:cNvSpPr>
          <p:nvPr>
            <p:ph type="pic" sz="quarter" idx="11" hasCustomPrompt="1"/>
          </p:nvPr>
        </p:nvSpPr>
        <p:spPr>
          <a:xfrm>
            <a:off x="7887085" y="2995175"/>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C16B6177-1440-426A-93ED-4C29F9AACBD7}"/>
              </a:ext>
            </a:extLst>
          </p:cNvPr>
          <p:cNvSpPr>
            <a:spLocks noGrp="1"/>
          </p:cNvSpPr>
          <p:nvPr>
            <p:ph type="pic" sz="quarter" idx="12" hasCustomPrompt="1"/>
          </p:nvPr>
        </p:nvSpPr>
        <p:spPr>
          <a:xfrm>
            <a:off x="9176644" y="2024024"/>
            <a:ext cx="2283519" cy="1590542"/>
          </a:xfrm>
          <a:custGeom>
            <a:avLst/>
            <a:gdLst>
              <a:gd name="connsiteX0" fmla="*/ 265096 w 2283519"/>
              <a:gd name="connsiteY0" fmla="*/ 0 h 1590542"/>
              <a:gd name="connsiteX1" fmla="*/ 2018424 w 2283519"/>
              <a:gd name="connsiteY1" fmla="*/ 0 h 1590542"/>
              <a:gd name="connsiteX2" fmla="*/ 2283519 w 2283519"/>
              <a:gd name="connsiteY2" fmla="*/ 265096 h 1590542"/>
              <a:gd name="connsiteX3" fmla="*/ 2283519 w 2283519"/>
              <a:gd name="connsiteY3" fmla="*/ 1325447 h 1590542"/>
              <a:gd name="connsiteX4" fmla="*/ 2018424 w 2283519"/>
              <a:gd name="connsiteY4" fmla="*/ 1590542 h 1590542"/>
              <a:gd name="connsiteX5" fmla="*/ 265096 w 2283519"/>
              <a:gd name="connsiteY5" fmla="*/ 1590542 h 1590542"/>
              <a:gd name="connsiteX6" fmla="*/ 0 w 2283519"/>
              <a:gd name="connsiteY6" fmla="*/ 1325447 h 1590542"/>
              <a:gd name="connsiteX7" fmla="*/ 0 w 2283519"/>
              <a:gd name="connsiteY7" fmla="*/ 265096 h 1590542"/>
              <a:gd name="connsiteX8" fmla="*/ 265096 w 2283519"/>
              <a:gd name="connsiteY8" fmla="*/ 0 h 1590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3519" h="1590542">
                <a:moveTo>
                  <a:pt x="265096" y="0"/>
                </a:moveTo>
                <a:lnTo>
                  <a:pt x="2018424" y="0"/>
                </a:lnTo>
                <a:cubicBezTo>
                  <a:pt x="2164832" y="0"/>
                  <a:pt x="2283519" y="118687"/>
                  <a:pt x="2283519" y="265096"/>
                </a:cubicBezTo>
                <a:lnTo>
                  <a:pt x="2283519" y="1325447"/>
                </a:lnTo>
                <a:cubicBezTo>
                  <a:pt x="2283519" y="1471855"/>
                  <a:pt x="2164832" y="1590542"/>
                  <a:pt x="2018424" y="1590542"/>
                </a:cubicBezTo>
                <a:lnTo>
                  <a:pt x="265096" y="1590542"/>
                </a:lnTo>
                <a:cubicBezTo>
                  <a:pt x="118687" y="1590542"/>
                  <a:pt x="0" y="1471855"/>
                  <a:pt x="0" y="1325447"/>
                </a:cubicBezTo>
                <a:lnTo>
                  <a:pt x="0" y="265096"/>
                </a:lnTo>
                <a:cubicBezTo>
                  <a:pt x="0" y="118687"/>
                  <a:pt x="118687" y="0"/>
                  <a:pt x="265096" y="0"/>
                </a:cubicBezTo>
                <a:close/>
              </a:path>
            </a:pathLst>
          </a:custGeom>
          <a:solidFill>
            <a:schemeClr val="bg1">
              <a:lumMod val="95000"/>
              <a:alpha val="25000"/>
            </a:schemeClr>
          </a:solidFill>
          <a:ln w="76200">
            <a:solidFill>
              <a:schemeClr val="bg1"/>
            </a:solidFill>
          </a:ln>
          <a:effectLst>
            <a:outerShdw blurRad="863600" dist="419100" dir="5400000" sx="85000" sy="85000" algn="t"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9237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2" decel="100000" fill="hold" grpId="0" nodeType="withEffect">
                                  <p:stCondLst>
                                    <p:cond delay="75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750" fill="hold"/>
                                        <p:tgtEl>
                                          <p:spTgt spid="8"/>
                                        </p:tgtEl>
                                        <p:attrNameLst>
                                          <p:attrName>ppt_x</p:attrName>
                                        </p:attrNameLst>
                                      </p:cBhvr>
                                      <p:tavLst>
                                        <p:tav tm="0">
                                          <p:val>
                                            <p:strVal val="1+#ppt_w/2"/>
                                          </p:val>
                                        </p:tav>
                                        <p:tav tm="100000">
                                          <p:val>
                                            <p:strVal val="#ppt_x"/>
                                          </p:val>
                                        </p:tav>
                                      </p:tavLst>
                                    </p:anim>
                                    <p:anim calcmode="lin" valueType="num">
                                      <p:cBhvr additive="base">
                                        <p:cTn id="12" dur="75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2" decel="100000" fill="hold" grpId="0" nodeType="withEffect">
                                  <p:stCondLst>
                                    <p:cond delay="100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750" fill="hold"/>
                                        <p:tgtEl>
                                          <p:spTgt spid="9"/>
                                        </p:tgtEl>
                                        <p:attrNameLst>
                                          <p:attrName>ppt_x</p:attrName>
                                        </p:attrNameLst>
                                      </p:cBhvr>
                                      <p:tavLst>
                                        <p:tav tm="0">
                                          <p:val>
                                            <p:strVal val="1+#ppt_w/2"/>
                                          </p:val>
                                        </p:tav>
                                        <p:tav tm="100000">
                                          <p:val>
                                            <p:strVal val="#ppt_x"/>
                                          </p:val>
                                        </p:tav>
                                      </p:tavLst>
                                    </p:anim>
                                    <p:anim calcmode="lin" valueType="num">
                                      <p:cBhvr additive="base">
                                        <p:cTn id="16" dur="75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4_Title and Content">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3DBC2BB-8C0A-48E7-983A-C99002B57C16}"/>
              </a:ext>
            </a:extLst>
          </p:cNvPr>
          <p:cNvSpPr>
            <a:spLocks noGrp="1"/>
          </p:cNvSpPr>
          <p:nvPr>
            <p:ph type="pic" sz="quarter" idx="12" hasCustomPrompt="1"/>
          </p:nvPr>
        </p:nvSpPr>
        <p:spPr>
          <a:xfrm>
            <a:off x="8597490" y="3485535"/>
            <a:ext cx="1356852" cy="1356852"/>
          </a:xfrm>
          <a:custGeom>
            <a:avLst/>
            <a:gdLst>
              <a:gd name="connsiteX0" fmla="*/ 226147 w 1356852"/>
              <a:gd name="connsiteY0" fmla="*/ 0 h 1356852"/>
              <a:gd name="connsiteX1" fmla="*/ 1130705 w 1356852"/>
              <a:gd name="connsiteY1" fmla="*/ 0 h 1356852"/>
              <a:gd name="connsiteX2" fmla="*/ 1356852 w 1356852"/>
              <a:gd name="connsiteY2" fmla="*/ 226147 h 1356852"/>
              <a:gd name="connsiteX3" fmla="*/ 1356852 w 1356852"/>
              <a:gd name="connsiteY3" fmla="*/ 1130705 h 1356852"/>
              <a:gd name="connsiteX4" fmla="*/ 1130705 w 1356852"/>
              <a:gd name="connsiteY4" fmla="*/ 1356852 h 1356852"/>
              <a:gd name="connsiteX5" fmla="*/ 226147 w 1356852"/>
              <a:gd name="connsiteY5" fmla="*/ 1356852 h 1356852"/>
              <a:gd name="connsiteX6" fmla="*/ 0 w 1356852"/>
              <a:gd name="connsiteY6" fmla="*/ 1130705 h 1356852"/>
              <a:gd name="connsiteX7" fmla="*/ 0 w 1356852"/>
              <a:gd name="connsiteY7" fmla="*/ 226147 h 1356852"/>
              <a:gd name="connsiteX8" fmla="*/ 226147 w 1356852"/>
              <a:gd name="connsiteY8" fmla="*/ 0 h 1356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6852" h="1356852">
                <a:moveTo>
                  <a:pt x="226147" y="0"/>
                </a:moveTo>
                <a:lnTo>
                  <a:pt x="1130705" y="0"/>
                </a:lnTo>
                <a:cubicBezTo>
                  <a:pt x="1255603" y="0"/>
                  <a:pt x="1356852" y="101249"/>
                  <a:pt x="1356852" y="226147"/>
                </a:cubicBezTo>
                <a:lnTo>
                  <a:pt x="1356852" y="1130705"/>
                </a:lnTo>
                <a:cubicBezTo>
                  <a:pt x="1356852" y="1255603"/>
                  <a:pt x="1255603" y="1356852"/>
                  <a:pt x="1130705" y="1356852"/>
                </a:cubicBezTo>
                <a:lnTo>
                  <a:pt x="226147" y="1356852"/>
                </a:lnTo>
                <a:cubicBezTo>
                  <a:pt x="101249" y="1356852"/>
                  <a:pt x="0" y="1255603"/>
                  <a:pt x="0" y="1130705"/>
                </a:cubicBezTo>
                <a:lnTo>
                  <a:pt x="0" y="226147"/>
                </a:lnTo>
                <a:cubicBezTo>
                  <a:pt x="0" y="101249"/>
                  <a:pt x="101249" y="0"/>
                  <a:pt x="22614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1A824CFB-5397-4686-AB5F-0BAF75D50740}"/>
              </a:ext>
            </a:extLst>
          </p:cNvPr>
          <p:cNvSpPr>
            <a:spLocks noGrp="1"/>
          </p:cNvSpPr>
          <p:nvPr>
            <p:ph type="pic" sz="quarter" idx="11" hasCustomPrompt="1"/>
          </p:nvPr>
        </p:nvSpPr>
        <p:spPr>
          <a:xfrm>
            <a:off x="5962445" y="348553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28E53BA1-5A41-4604-8CFD-CFC81A8ECCB0}"/>
              </a:ext>
            </a:extLst>
          </p:cNvPr>
          <p:cNvSpPr>
            <a:spLocks noGrp="1"/>
          </p:cNvSpPr>
          <p:nvPr>
            <p:ph type="pic" sz="quarter" idx="10" hasCustomPrompt="1"/>
          </p:nvPr>
        </p:nvSpPr>
        <p:spPr>
          <a:xfrm>
            <a:off x="8597490" y="870155"/>
            <a:ext cx="2502310" cy="2502310"/>
          </a:xfrm>
          <a:custGeom>
            <a:avLst/>
            <a:gdLst>
              <a:gd name="connsiteX0" fmla="*/ 190401 w 2502310"/>
              <a:gd name="connsiteY0" fmla="*/ 0 h 2502310"/>
              <a:gd name="connsiteX1" fmla="*/ 2311909 w 2502310"/>
              <a:gd name="connsiteY1" fmla="*/ 0 h 2502310"/>
              <a:gd name="connsiteX2" fmla="*/ 2502310 w 2502310"/>
              <a:gd name="connsiteY2" fmla="*/ 190401 h 2502310"/>
              <a:gd name="connsiteX3" fmla="*/ 2502310 w 2502310"/>
              <a:gd name="connsiteY3" fmla="*/ 2311909 h 2502310"/>
              <a:gd name="connsiteX4" fmla="*/ 2311909 w 2502310"/>
              <a:gd name="connsiteY4" fmla="*/ 2502310 h 2502310"/>
              <a:gd name="connsiteX5" fmla="*/ 190401 w 2502310"/>
              <a:gd name="connsiteY5" fmla="*/ 2502310 h 2502310"/>
              <a:gd name="connsiteX6" fmla="*/ 0 w 2502310"/>
              <a:gd name="connsiteY6" fmla="*/ 2311909 h 2502310"/>
              <a:gd name="connsiteX7" fmla="*/ 0 w 2502310"/>
              <a:gd name="connsiteY7" fmla="*/ 190401 h 2502310"/>
              <a:gd name="connsiteX8" fmla="*/ 190401 w 2502310"/>
              <a:gd name="connsiteY8" fmla="*/ 0 h 2502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2310" h="2502310">
                <a:moveTo>
                  <a:pt x="190401" y="0"/>
                </a:moveTo>
                <a:lnTo>
                  <a:pt x="2311909" y="0"/>
                </a:lnTo>
                <a:cubicBezTo>
                  <a:pt x="2417065" y="0"/>
                  <a:pt x="2502310" y="85245"/>
                  <a:pt x="2502310" y="190401"/>
                </a:cubicBezTo>
                <a:lnTo>
                  <a:pt x="2502310" y="2311909"/>
                </a:lnTo>
                <a:cubicBezTo>
                  <a:pt x="2502310" y="2417065"/>
                  <a:pt x="2417065" y="2502310"/>
                  <a:pt x="2311909" y="2502310"/>
                </a:cubicBezTo>
                <a:lnTo>
                  <a:pt x="190401" y="2502310"/>
                </a:lnTo>
                <a:cubicBezTo>
                  <a:pt x="85245" y="2502310"/>
                  <a:pt x="0" y="2417065"/>
                  <a:pt x="0" y="2311909"/>
                </a:cubicBezTo>
                <a:lnTo>
                  <a:pt x="0" y="190401"/>
                </a:lnTo>
                <a:cubicBezTo>
                  <a:pt x="0" y="85245"/>
                  <a:pt x="85245" y="0"/>
                  <a:pt x="190401"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42175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1+#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750" fill="hold"/>
                                        <p:tgtEl>
                                          <p:spTgt spid="10"/>
                                        </p:tgtEl>
                                        <p:attrNameLst>
                                          <p:attrName>ppt_x</p:attrName>
                                        </p:attrNameLst>
                                      </p:cBhvr>
                                      <p:tavLst>
                                        <p:tav tm="0">
                                          <p:val>
                                            <p:strVal val="#ppt_x"/>
                                          </p:val>
                                        </p:tav>
                                        <p:tav tm="100000">
                                          <p:val>
                                            <p:strVal val="#ppt_x"/>
                                          </p:val>
                                        </p:tav>
                                      </p:tavLst>
                                    </p:anim>
                                    <p:anim calcmode="lin" valueType="num">
                                      <p:cBhvr additive="base">
                                        <p:cTn id="12" dur="75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1000" fill="hold"/>
                                        <p:tgtEl>
                                          <p:spTgt spid="8"/>
                                        </p:tgtEl>
                                        <p:attrNameLst>
                                          <p:attrName>ppt_x</p:attrName>
                                        </p:attrNameLst>
                                      </p:cBhvr>
                                      <p:tavLst>
                                        <p:tav tm="0">
                                          <p:val>
                                            <p:strVal val="#ppt_x"/>
                                          </p:val>
                                        </p:tav>
                                        <p:tav tm="100000">
                                          <p:val>
                                            <p:strVal val="#ppt_x"/>
                                          </p:val>
                                        </p:tav>
                                      </p:tavLst>
                                    </p:anim>
                                    <p:anim calcmode="lin" valueType="num">
                                      <p:cBhvr additive="base">
                                        <p:cTn id="16"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7" grpId="0" animBg="1"/>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5_Title and Content">
    <p:spTree>
      <p:nvGrpSpPr>
        <p:cNvPr id="1" name=""/>
        <p:cNvGrpSpPr/>
        <p:nvPr/>
      </p:nvGrpSpPr>
      <p:grpSpPr>
        <a:xfrm>
          <a:off x="0" y="0"/>
          <a:ext cx="0" cy="0"/>
          <a:chOff x="0" y="0"/>
          <a:chExt cx="0" cy="0"/>
        </a:xfrm>
      </p:grpSpPr>
      <p:sp>
        <p:nvSpPr>
          <p:cNvPr id="36" name="Freeform: Shape 35">
            <a:extLst>
              <a:ext uri="{FF2B5EF4-FFF2-40B4-BE49-F238E27FC236}">
                <a16:creationId xmlns:a16="http://schemas.microsoft.com/office/drawing/2014/main" id="{DCD147EF-D5ED-4E59-AEBF-5E3180DD0406}"/>
              </a:ext>
            </a:extLst>
          </p:cNvPr>
          <p:cNvSpPr/>
          <p:nvPr userDrawn="1"/>
        </p:nvSpPr>
        <p:spPr>
          <a:xfrm>
            <a:off x="-1" y="620714"/>
            <a:ext cx="12192001" cy="4290194"/>
          </a:xfrm>
          <a:custGeom>
            <a:avLst/>
            <a:gdLst>
              <a:gd name="connsiteX0" fmla="*/ 8397881 w 12192001"/>
              <a:gd name="connsiteY0" fmla="*/ 3878590 h 4290194"/>
              <a:gd name="connsiteX1" fmla="*/ 8397951 w 12192001"/>
              <a:gd name="connsiteY1" fmla="*/ 3878904 h 4290194"/>
              <a:gd name="connsiteX2" fmla="*/ 8398480 w 12192001"/>
              <a:gd name="connsiteY2" fmla="*/ 3878590 h 4290194"/>
              <a:gd name="connsiteX3" fmla="*/ 3793520 w 12192001"/>
              <a:gd name="connsiteY3" fmla="*/ 3878590 h 4290194"/>
              <a:gd name="connsiteX4" fmla="*/ 3794049 w 12192001"/>
              <a:gd name="connsiteY4" fmla="*/ 3878904 h 4290194"/>
              <a:gd name="connsiteX5" fmla="*/ 3794120 w 12192001"/>
              <a:gd name="connsiteY5" fmla="*/ 3878590 h 4290194"/>
              <a:gd name="connsiteX6" fmla="*/ 8397951 w 12192001"/>
              <a:gd name="connsiteY6" fmla="*/ 411290 h 4290194"/>
              <a:gd name="connsiteX7" fmla="*/ 8397881 w 12192001"/>
              <a:gd name="connsiteY7" fmla="*/ 411604 h 4290194"/>
              <a:gd name="connsiteX8" fmla="*/ 8398480 w 12192001"/>
              <a:gd name="connsiteY8" fmla="*/ 411604 h 4290194"/>
              <a:gd name="connsiteX9" fmla="*/ 3794049 w 12192001"/>
              <a:gd name="connsiteY9" fmla="*/ 411290 h 4290194"/>
              <a:gd name="connsiteX10" fmla="*/ 3793520 w 12192001"/>
              <a:gd name="connsiteY10" fmla="*/ 411604 h 4290194"/>
              <a:gd name="connsiteX11" fmla="*/ 3794121 w 12192001"/>
              <a:gd name="connsiteY11" fmla="*/ 411604 h 4290194"/>
              <a:gd name="connsiteX12" fmla="*/ 3794049 w 12192001"/>
              <a:gd name="connsiteY12" fmla="*/ 411290 h 4290194"/>
              <a:gd name="connsiteX13" fmla="*/ 900721 w 12192001"/>
              <a:gd name="connsiteY13" fmla="*/ 638 h 4290194"/>
              <a:gd name="connsiteX14" fmla="*/ 1344798 w 12192001"/>
              <a:gd name="connsiteY14" fmla="*/ 192174 h 4290194"/>
              <a:gd name="connsiteX15" fmla="*/ 1767733 w 12192001"/>
              <a:gd name="connsiteY15" fmla="*/ 380166 h 4290194"/>
              <a:gd name="connsiteX16" fmla="*/ 2063786 w 12192001"/>
              <a:gd name="connsiteY16" fmla="*/ 231193 h 4290194"/>
              <a:gd name="connsiteX17" fmla="*/ 2627699 w 12192001"/>
              <a:gd name="connsiteY17" fmla="*/ 11281 h 4290194"/>
              <a:gd name="connsiteX18" fmla="*/ 3095570 w 12192001"/>
              <a:gd name="connsiteY18" fmla="*/ 159920 h 4290194"/>
              <a:gd name="connsiteX19" fmla="*/ 3158099 w 12192001"/>
              <a:gd name="connsiteY19" fmla="*/ 217474 h 4290194"/>
              <a:gd name="connsiteX20" fmla="*/ 3203013 w 12192001"/>
              <a:gd name="connsiteY20" fmla="*/ 254510 h 4290194"/>
              <a:gd name="connsiteX21" fmla="*/ 3212442 w 12192001"/>
              <a:gd name="connsiteY21" fmla="*/ 268105 h 4290194"/>
              <a:gd name="connsiteX22" fmla="*/ 3242605 w 12192001"/>
              <a:gd name="connsiteY22" fmla="*/ 296534 h 4290194"/>
              <a:gd name="connsiteX23" fmla="*/ 3473565 w 12192001"/>
              <a:gd name="connsiteY23" fmla="*/ 390805 h 4290194"/>
              <a:gd name="connsiteX24" fmla="*/ 3762573 w 12192001"/>
              <a:gd name="connsiteY24" fmla="*/ 241832 h 4290194"/>
              <a:gd name="connsiteX25" fmla="*/ 4439269 w 12192001"/>
              <a:gd name="connsiteY25" fmla="*/ 7732 h 4290194"/>
              <a:gd name="connsiteX26" fmla="*/ 4996126 w 12192001"/>
              <a:gd name="connsiteY26" fmla="*/ 248926 h 4290194"/>
              <a:gd name="connsiteX27" fmla="*/ 5235788 w 12192001"/>
              <a:gd name="connsiteY27" fmla="*/ 380166 h 4290194"/>
              <a:gd name="connsiteX28" fmla="*/ 5517746 w 12192001"/>
              <a:gd name="connsiteY28" fmla="*/ 245381 h 4290194"/>
              <a:gd name="connsiteX29" fmla="*/ 5613237 w 12192001"/>
              <a:gd name="connsiteY29" fmla="*/ 162469 h 4290194"/>
              <a:gd name="connsiteX30" fmla="*/ 5633152 w 12192001"/>
              <a:gd name="connsiteY30" fmla="*/ 149891 h 4290194"/>
              <a:gd name="connsiteX31" fmla="*/ 5646994 w 12192001"/>
              <a:gd name="connsiteY31" fmla="*/ 136532 h 4290194"/>
              <a:gd name="connsiteX32" fmla="*/ 6082152 w 12192001"/>
              <a:gd name="connsiteY32" fmla="*/ 14826 h 4290194"/>
              <a:gd name="connsiteX33" fmla="*/ 6096002 w 12192001"/>
              <a:gd name="connsiteY33" fmla="*/ 15341 h 4290194"/>
              <a:gd name="connsiteX34" fmla="*/ 6109851 w 12192001"/>
              <a:gd name="connsiteY34" fmla="*/ 14826 h 4290194"/>
              <a:gd name="connsiteX35" fmla="*/ 6545012 w 12192001"/>
              <a:gd name="connsiteY35" fmla="*/ 136532 h 4290194"/>
              <a:gd name="connsiteX36" fmla="*/ 6558854 w 12192001"/>
              <a:gd name="connsiteY36" fmla="*/ 149890 h 4290194"/>
              <a:gd name="connsiteX37" fmla="*/ 6578768 w 12192001"/>
              <a:gd name="connsiteY37" fmla="*/ 162469 h 4290194"/>
              <a:gd name="connsiteX38" fmla="*/ 6674259 w 12192001"/>
              <a:gd name="connsiteY38" fmla="*/ 245381 h 4290194"/>
              <a:gd name="connsiteX39" fmla="*/ 6956214 w 12192001"/>
              <a:gd name="connsiteY39" fmla="*/ 380166 h 4290194"/>
              <a:gd name="connsiteX40" fmla="*/ 7195876 w 12192001"/>
              <a:gd name="connsiteY40" fmla="*/ 248926 h 4290194"/>
              <a:gd name="connsiteX41" fmla="*/ 7752735 w 12192001"/>
              <a:gd name="connsiteY41" fmla="*/ 7732 h 4290194"/>
              <a:gd name="connsiteX42" fmla="*/ 8429428 w 12192001"/>
              <a:gd name="connsiteY42" fmla="*/ 241832 h 4290194"/>
              <a:gd name="connsiteX43" fmla="*/ 8718436 w 12192001"/>
              <a:gd name="connsiteY43" fmla="*/ 390805 h 4290194"/>
              <a:gd name="connsiteX44" fmla="*/ 8949396 w 12192001"/>
              <a:gd name="connsiteY44" fmla="*/ 296534 h 4290194"/>
              <a:gd name="connsiteX45" fmla="*/ 8979560 w 12192001"/>
              <a:gd name="connsiteY45" fmla="*/ 268105 h 4290194"/>
              <a:gd name="connsiteX46" fmla="*/ 8988988 w 12192001"/>
              <a:gd name="connsiteY46" fmla="*/ 254510 h 4290194"/>
              <a:gd name="connsiteX47" fmla="*/ 9033902 w 12192001"/>
              <a:gd name="connsiteY47" fmla="*/ 217474 h 4290194"/>
              <a:gd name="connsiteX48" fmla="*/ 9096430 w 12192001"/>
              <a:gd name="connsiteY48" fmla="*/ 159920 h 4290194"/>
              <a:gd name="connsiteX49" fmla="*/ 9564304 w 12192001"/>
              <a:gd name="connsiteY49" fmla="*/ 11281 h 4290194"/>
              <a:gd name="connsiteX50" fmla="*/ 10128215 w 12192001"/>
              <a:gd name="connsiteY50" fmla="*/ 231193 h 4290194"/>
              <a:gd name="connsiteX51" fmla="*/ 10424269 w 12192001"/>
              <a:gd name="connsiteY51" fmla="*/ 380166 h 4290194"/>
              <a:gd name="connsiteX52" fmla="*/ 10847202 w 12192001"/>
              <a:gd name="connsiteY52" fmla="*/ 192174 h 4290194"/>
              <a:gd name="connsiteX53" fmla="*/ 11291279 w 12192001"/>
              <a:gd name="connsiteY53" fmla="*/ 638 h 4290194"/>
              <a:gd name="connsiteX54" fmla="*/ 11808711 w 12192001"/>
              <a:gd name="connsiteY54" fmla="*/ 148780 h 4290194"/>
              <a:gd name="connsiteX55" fmla="*/ 11911532 w 12192001"/>
              <a:gd name="connsiteY55" fmla="*/ 230577 h 4290194"/>
              <a:gd name="connsiteX56" fmla="*/ 11942396 w 12192001"/>
              <a:gd name="connsiteY56" fmla="*/ 254510 h 4290194"/>
              <a:gd name="connsiteX57" fmla="*/ 11944992 w 12192001"/>
              <a:gd name="connsiteY57" fmla="*/ 258029 h 4290194"/>
              <a:gd name="connsiteX58" fmla="*/ 11967973 w 12192001"/>
              <a:gd name="connsiteY58" fmla="*/ 277302 h 4290194"/>
              <a:gd name="connsiteX59" fmla="*/ 12165341 w 12192001"/>
              <a:gd name="connsiteY59" fmla="*/ 350459 h 4290194"/>
              <a:gd name="connsiteX60" fmla="*/ 12192000 w 12192001"/>
              <a:gd name="connsiteY60" fmla="*/ 352270 h 4290194"/>
              <a:gd name="connsiteX61" fmla="*/ 12192000 w 12192001"/>
              <a:gd name="connsiteY61" fmla="*/ 453983 h 4290194"/>
              <a:gd name="connsiteX62" fmla="*/ 12192000 w 12192001"/>
              <a:gd name="connsiteY62" fmla="*/ 907623 h 4290194"/>
              <a:gd name="connsiteX63" fmla="*/ 12192001 w 12192001"/>
              <a:gd name="connsiteY63" fmla="*/ 907623 h 4290194"/>
              <a:gd name="connsiteX64" fmla="*/ 12192001 w 12192001"/>
              <a:gd name="connsiteY64" fmla="*/ 3530337 h 4290194"/>
              <a:gd name="connsiteX65" fmla="*/ 12192000 w 12192001"/>
              <a:gd name="connsiteY65" fmla="*/ 3530337 h 4290194"/>
              <a:gd name="connsiteX66" fmla="*/ 12192000 w 12192001"/>
              <a:gd name="connsiteY66" fmla="*/ 3836211 h 4290194"/>
              <a:gd name="connsiteX67" fmla="*/ 12192000 w 12192001"/>
              <a:gd name="connsiteY67" fmla="*/ 3937924 h 4290194"/>
              <a:gd name="connsiteX68" fmla="*/ 12165341 w 12192001"/>
              <a:gd name="connsiteY68" fmla="*/ 3939735 h 4290194"/>
              <a:gd name="connsiteX69" fmla="*/ 11967973 w 12192001"/>
              <a:gd name="connsiteY69" fmla="*/ 4012892 h 4290194"/>
              <a:gd name="connsiteX70" fmla="*/ 11944992 w 12192001"/>
              <a:gd name="connsiteY70" fmla="*/ 4032165 h 4290194"/>
              <a:gd name="connsiteX71" fmla="*/ 11942396 w 12192001"/>
              <a:gd name="connsiteY71" fmla="*/ 4035684 h 4290194"/>
              <a:gd name="connsiteX72" fmla="*/ 11911532 w 12192001"/>
              <a:gd name="connsiteY72" fmla="*/ 4059617 h 4290194"/>
              <a:gd name="connsiteX73" fmla="*/ 11808711 w 12192001"/>
              <a:gd name="connsiteY73" fmla="*/ 4141414 h 4290194"/>
              <a:gd name="connsiteX74" fmla="*/ 11291279 w 12192001"/>
              <a:gd name="connsiteY74" fmla="*/ 4289556 h 4290194"/>
              <a:gd name="connsiteX75" fmla="*/ 10847202 w 12192001"/>
              <a:gd name="connsiteY75" fmla="*/ 4098020 h 4290194"/>
              <a:gd name="connsiteX76" fmla="*/ 10424269 w 12192001"/>
              <a:gd name="connsiteY76" fmla="*/ 3910028 h 4290194"/>
              <a:gd name="connsiteX77" fmla="*/ 10128215 w 12192001"/>
              <a:gd name="connsiteY77" fmla="*/ 4059001 h 4290194"/>
              <a:gd name="connsiteX78" fmla="*/ 9564304 w 12192001"/>
              <a:gd name="connsiteY78" fmla="*/ 4278913 h 4290194"/>
              <a:gd name="connsiteX79" fmla="*/ 9096430 w 12192001"/>
              <a:gd name="connsiteY79" fmla="*/ 4130274 h 4290194"/>
              <a:gd name="connsiteX80" fmla="*/ 9033902 w 12192001"/>
              <a:gd name="connsiteY80" fmla="*/ 4072720 h 4290194"/>
              <a:gd name="connsiteX81" fmla="*/ 8988988 w 12192001"/>
              <a:gd name="connsiteY81" fmla="*/ 4035684 h 4290194"/>
              <a:gd name="connsiteX82" fmla="*/ 8979560 w 12192001"/>
              <a:gd name="connsiteY82" fmla="*/ 4022089 h 4290194"/>
              <a:gd name="connsiteX83" fmla="*/ 8949396 w 12192001"/>
              <a:gd name="connsiteY83" fmla="*/ 3993660 h 4290194"/>
              <a:gd name="connsiteX84" fmla="*/ 8718436 w 12192001"/>
              <a:gd name="connsiteY84" fmla="*/ 3899389 h 4290194"/>
              <a:gd name="connsiteX85" fmla="*/ 8429428 w 12192001"/>
              <a:gd name="connsiteY85" fmla="*/ 4048362 h 4290194"/>
              <a:gd name="connsiteX86" fmla="*/ 7752735 w 12192001"/>
              <a:gd name="connsiteY86" fmla="*/ 4282462 h 4290194"/>
              <a:gd name="connsiteX87" fmla="*/ 7195876 w 12192001"/>
              <a:gd name="connsiteY87" fmla="*/ 4041268 h 4290194"/>
              <a:gd name="connsiteX88" fmla="*/ 6956214 w 12192001"/>
              <a:gd name="connsiteY88" fmla="*/ 3910028 h 4290194"/>
              <a:gd name="connsiteX89" fmla="*/ 6674259 w 12192001"/>
              <a:gd name="connsiteY89" fmla="*/ 4044813 h 4290194"/>
              <a:gd name="connsiteX90" fmla="*/ 6578768 w 12192001"/>
              <a:gd name="connsiteY90" fmla="*/ 4127725 h 4290194"/>
              <a:gd name="connsiteX91" fmla="*/ 6558854 w 12192001"/>
              <a:gd name="connsiteY91" fmla="*/ 4140304 h 4290194"/>
              <a:gd name="connsiteX92" fmla="*/ 6545012 w 12192001"/>
              <a:gd name="connsiteY92" fmla="*/ 4153662 h 4290194"/>
              <a:gd name="connsiteX93" fmla="*/ 6109851 w 12192001"/>
              <a:gd name="connsiteY93" fmla="*/ 4275368 h 4290194"/>
              <a:gd name="connsiteX94" fmla="*/ 6096002 w 12192001"/>
              <a:gd name="connsiteY94" fmla="*/ 4274853 h 4290194"/>
              <a:gd name="connsiteX95" fmla="*/ 6082152 w 12192001"/>
              <a:gd name="connsiteY95" fmla="*/ 4275368 h 4290194"/>
              <a:gd name="connsiteX96" fmla="*/ 5646994 w 12192001"/>
              <a:gd name="connsiteY96" fmla="*/ 4153662 h 4290194"/>
              <a:gd name="connsiteX97" fmla="*/ 5633152 w 12192001"/>
              <a:gd name="connsiteY97" fmla="*/ 4140303 h 4290194"/>
              <a:gd name="connsiteX98" fmla="*/ 5613237 w 12192001"/>
              <a:gd name="connsiteY98" fmla="*/ 4127725 h 4290194"/>
              <a:gd name="connsiteX99" fmla="*/ 5517746 w 12192001"/>
              <a:gd name="connsiteY99" fmla="*/ 4044813 h 4290194"/>
              <a:gd name="connsiteX100" fmla="*/ 5235788 w 12192001"/>
              <a:gd name="connsiteY100" fmla="*/ 3910028 h 4290194"/>
              <a:gd name="connsiteX101" fmla="*/ 4996126 w 12192001"/>
              <a:gd name="connsiteY101" fmla="*/ 4041268 h 4290194"/>
              <a:gd name="connsiteX102" fmla="*/ 4439269 w 12192001"/>
              <a:gd name="connsiteY102" fmla="*/ 4282462 h 4290194"/>
              <a:gd name="connsiteX103" fmla="*/ 3762572 w 12192001"/>
              <a:gd name="connsiteY103" fmla="*/ 4048362 h 4290194"/>
              <a:gd name="connsiteX104" fmla="*/ 3473564 w 12192001"/>
              <a:gd name="connsiteY104" fmla="*/ 3899389 h 4290194"/>
              <a:gd name="connsiteX105" fmla="*/ 3242604 w 12192001"/>
              <a:gd name="connsiteY105" fmla="*/ 3993660 h 4290194"/>
              <a:gd name="connsiteX106" fmla="*/ 3212441 w 12192001"/>
              <a:gd name="connsiteY106" fmla="*/ 4022089 h 4290194"/>
              <a:gd name="connsiteX107" fmla="*/ 3203012 w 12192001"/>
              <a:gd name="connsiteY107" fmla="*/ 4035684 h 4290194"/>
              <a:gd name="connsiteX108" fmla="*/ 3158099 w 12192001"/>
              <a:gd name="connsiteY108" fmla="*/ 4072720 h 4290194"/>
              <a:gd name="connsiteX109" fmla="*/ 3095570 w 12192001"/>
              <a:gd name="connsiteY109" fmla="*/ 4130274 h 4290194"/>
              <a:gd name="connsiteX110" fmla="*/ 2627698 w 12192001"/>
              <a:gd name="connsiteY110" fmla="*/ 4278913 h 4290194"/>
              <a:gd name="connsiteX111" fmla="*/ 2063785 w 12192001"/>
              <a:gd name="connsiteY111" fmla="*/ 4059001 h 4290194"/>
              <a:gd name="connsiteX112" fmla="*/ 1767732 w 12192001"/>
              <a:gd name="connsiteY112" fmla="*/ 3910028 h 4290194"/>
              <a:gd name="connsiteX113" fmla="*/ 1344798 w 12192001"/>
              <a:gd name="connsiteY113" fmla="*/ 4098020 h 4290194"/>
              <a:gd name="connsiteX114" fmla="*/ 900721 w 12192001"/>
              <a:gd name="connsiteY114" fmla="*/ 4289556 h 4290194"/>
              <a:gd name="connsiteX115" fmla="*/ 383289 w 12192001"/>
              <a:gd name="connsiteY115" fmla="*/ 4141414 h 4290194"/>
              <a:gd name="connsiteX116" fmla="*/ 280468 w 12192001"/>
              <a:gd name="connsiteY116" fmla="*/ 4059617 h 4290194"/>
              <a:gd name="connsiteX117" fmla="*/ 249604 w 12192001"/>
              <a:gd name="connsiteY117" fmla="*/ 4035684 h 4290194"/>
              <a:gd name="connsiteX118" fmla="*/ 247008 w 12192001"/>
              <a:gd name="connsiteY118" fmla="*/ 4032165 h 4290194"/>
              <a:gd name="connsiteX119" fmla="*/ 224027 w 12192001"/>
              <a:gd name="connsiteY119" fmla="*/ 4012892 h 4290194"/>
              <a:gd name="connsiteX120" fmla="*/ 26659 w 12192001"/>
              <a:gd name="connsiteY120" fmla="*/ 3939735 h 4290194"/>
              <a:gd name="connsiteX121" fmla="*/ 0 w 12192001"/>
              <a:gd name="connsiteY121" fmla="*/ 3937924 h 4290194"/>
              <a:gd name="connsiteX122" fmla="*/ 0 w 12192001"/>
              <a:gd name="connsiteY122" fmla="*/ 3836211 h 4290194"/>
              <a:gd name="connsiteX123" fmla="*/ 0 w 12192001"/>
              <a:gd name="connsiteY123" fmla="*/ 3184290 h 4290194"/>
              <a:gd name="connsiteX124" fmla="*/ 1 w 12192001"/>
              <a:gd name="connsiteY124" fmla="*/ 3184290 h 4290194"/>
              <a:gd name="connsiteX125" fmla="*/ 1 w 12192001"/>
              <a:gd name="connsiteY125" fmla="*/ 1105904 h 4290194"/>
              <a:gd name="connsiteX126" fmla="*/ 0 w 12192001"/>
              <a:gd name="connsiteY126" fmla="*/ 1105904 h 4290194"/>
              <a:gd name="connsiteX127" fmla="*/ 0 w 12192001"/>
              <a:gd name="connsiteY127" fmla="*/ 453983 h 4290194"/>
              <a:gd name="connsiteX128" fmla="*/ 0 w 12192001"/>
              <a:gd name="connsiteY128" fmla="*/ 352270 h 4290194"/>
              <a:gd name="connsiteX129" fmla="*/ 26659 w 12192001"/>
              <a:gd name="connsiteY129" fmla="*/ 350459 h 4290194"/>
              <a:gd name="connsiteX130" fmla="*/ 224027 w 12192001"/>
              <a:gd name="connsiteY130" fmla="*/ 277302 h 4290194"/>
              <a:gd name="connsiteX131" fmla="*/ 247008 w 12192001"/>
              <a:gd name="connsiteY131" fmla="*/ 258029 h 4290194"/>
              <a:gd name="connsiteX132" fmla="*/ 249604 w 12192001"/>
              <a:gd name="connsiteY132" fmla="*/ 254510 h 4290194"/>
              <a:gd name="connsiteX133" fmla="*/ 280468 w 12192001"/>
              <a:gd name="connsiteY133" fmla="*/ 230577 h 4290194"/>
              <a:gd name="connsiteX134" fmla="*/ 383289 w 12192001"/>
              <a:gd name="connsiteY134" fmla="*/ 148780 h 4290194"/>
              <a:gd name="connsiteX135" fmla="*/ 900721 w 12192001"/>
              <a:gd name="connsiteY135" fmla="*/ 638 h 4290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12192001" h="4290194">
                <a:moveTo>
                  <a:pt x="8397881" y="3878590"/>
                </a:moveTo>
                <a:cubicBezTo>
                  <a:pt x="8397905" y="3878695"/>
                  <a:pt x="8397928" y="3878800"/>
                  <a:pt x="8397951" y="3878904"/>
                </a:cubicBezTo>
                <a:lnTo>
                  <a:pt x="8398480" y="3878590"/>
                </a:lnTo>
                <a:close/>
                <a:moveTo>
                  <a:pt x="3793520" y="3878590"/>
                </a:moveTo>
                <a:lnTo>
                  <a:pt x="3794049" y="3878904"/>
                </a:lnTo>
                <a:cubicBezTo>
                  <a:pt x="3794073" y="3878800"/>
                  <a:pt x="3794095" y="3878695"/>
                  <a:pt x="3794120" y="3878590"/>
                </a:cubicBezTo>
                <a:close/>
                <a:moveTo>
                  <a:pt x="8397951" y="411290"/>
                </a:moveTo>
                <a:cubicBezTo>
                  <a:pt x="8397928" y="411394"/>
                  <a:pt x="8397905" y="411499"/>
                  <a:pt x="8397881" y="411604"/>
                </a:cubicBezTo>
                <a:lnTo>
                  <a:pt x="8398480" y="411604"/>
                </a:lnTo>
                <a:close/>
                <a:moveTo>
                  <a:pt x="3794049" y="411290"/>
                </a:moveTo>
                <a:lnTo>
                  <a:pt x="3793520" y="411604"/>
                </a:lnTo>
                <a:lnTo>
                  <a:pt x="3794121" y="411604"/>
                </a:lnTo>
                <a:cubicBezTo>
                  <a:pt x="3794095" y="411499"/>
                  <a:pt x="3794074" y="411394"/>
                  <a:pt x="3794049" y="411290"/>
                </a:cubicBezTo>
                <a:close/>
                <a:moveTo>
                  <a:pt x="900721" y="638"/>
                </a:moveTo>
                <a:cubicBezTo>
                  <a:pt x="1091038" y="4187"/>
                  <a:pt x="1217918" y="96408"/>
                  <a:pt x="1344798" y="192174"/>
                </a:cubicBezTo>
                <a:cubicBezTo>
                  <a:pt x="1464634" y="284396"/>
                  <a:pt x="1598560" y="380166"/>
                  <a:pt x="1767733" y="380166"/>
                </a:cubicBezTo>
                <a:cubicBezTo>
                  <a:pt x="1901665" y="380166"/>
                  <a:pt x="1979199" y="309226"/>
                  <a:pt x="2063786" y="231193"/>
                </a:cubicBezTo>
                <a:cubicBezTo>
                  <a:pt x="2183621" y="121235"/>
                  <a:pt x="2310502" y="7732"/>
                  <a:pt x="2627699" y="11281"/>
                </a:cubicBezTo>
                <a:cubicBezTo>
                  <a:pt x="2870886" y="13939"/>
                  <a:pt x="2999088" y="80446"/>
                  <a:pt x="3095570" y="159920"/>
                </a:cubicBezTo>
                <a:lnTo>
                  <a:pt x="3158099" y="217474"/>
                </a:lnTo>
                <a:lnTo>
                  <a:pt x="3203013" y="254510"/>
                </a:lnTo>
                <a:lnTo>
                  <a:pt x="3212442" y="268105"/>
                </a:lnTo>
                <a:lnTo>
                  <a:pt x="3242605" y="296534"/>
                </a:lnTo>
                <a:cubicBezTo>
                  <a:pt x="3301748" y="348907"/>
                  <a:pt x="3367832" y="390805"/>
                  <a:pt x="3473565" y="390805"/>
                </a:cubicBezTo>
                <a:cubicBezTo>
                  <a:pt x="3593400" y="394354"/>
                  <a:pt x="3677986" y="319865"/>
                  <a:pt x="3762573" y="241832"/>
                </a:cubicBezTo>
                <a:cubicBezTo>
                  <a:pt x="3903550" y="117690"/>
                  <a:pt x="4051574" y="-20644"/>
                  <a:pt x="4439269" y="7732"/>
                </a:cubicBezTo>
                <a:cubicBezTo>
                  <a:pt x="4805812" y="32563"/>
                  <a:pt x="4904493" y="146066"/>
                  <a:pt x="4996126" y="248926"/>
                </a:cubicBezTo>
                <a:cubicBezTo>
                  <a:pt x="5052517" y="312771"/>
                  <a:pt x="5101862" y="373072"/>
                  <a:pt x="5235788" y="380166"/>
                </a:cubicBezTo>
                <a:cubicBezTo>
                  <a:pt x="5362670" y="390805"/>
                  <a:pt x="5433157" y="319865"/>
                  <a:pt x="5517746" y="245381"/>
                </a:cubicBezTo>
                <a:cubicBezTo>
                  <a:pt x="5547703" y="217891"/>
                  <a:pt x="5578542" y="189515"/>
                  <a:pt x="5613237" y="162469"/>
                </a:cubicBezTo>
                <a:lnTo>
                  <a:pt x="5633152" y="149891"/>
                </a:lnTo>
                <a:lnTo>
                  <a:pt x="5646994" y="136532"/>
                </a:lnTo>
                <a:cubicBezTo>
                  <a:pt x="5726622" y="70027"/>
                  <a:pt x="5838966" y="17487"/>
                  <a:pt x="6082152" y="14826"/>
                </a:cubicBezTo>
                <a:lnTo>
                  <a:pt x="6096002" y="15341"/>
                </a:lnTo>
                <a:lnTo>
                  <a:pt x="6109851" y="14826"/>
                </a:lnTo>
                <a:cubicBezTo>
                  <a:pt x="6353036" y="17487"/>
                  <a:pt x="6465382" y="70027"/>
                  <a:pt x="6545012" y="136532"/>
                </a:cubicBezTo>
                <a:lnTo>
                  <a:pt x="6558854" y="149890"/>
                </a:lnTo>
                <a:lnTo>
                  <a:pt x="6578768" y="162469"/>
                </a:lnTo>
                <a:cubicBezTo>
                  <a:pt x="6613461" y="189515"/>
                  <a:pt x="6644300" y="217891"/>
                  <a:pt x="6674259" y="245381"/>
                </a:cubicBezTo>
                <a:cubicBezTo>
                  <a:pt x="6758845" y="319865"/>
                  <a:pt x="6829334" y="390805"/>
                  <a:pt x="6956214" y="380166"/>
                </a:cubicBezTo>
                <a:cubicBezTo>
                  <a:pt x="7090139" y="373072"/>
                  <a:pt x="7139485" y="312771"/>
                  <a:pt x="7195876" y="248926"/>
                </a:cubicBezTo>
                <a:cubicBezTo>
                  <a:pt x="7287509" y="146066"/>
                  <a:pt x="7386193" y="32563"/>
                  <a:pt x="7752735" y="7732"/>
                </a:cubicBezTo>
                <a:cubicBezTo>
                  <a:pt x="8140427" y="-20644"/>
                  <a:pt x="8288451" y="117690"/>
                  <a:pt x="8429428" y="241832"/>
                </a:cubicBezTo>
                <a:cubicBezTo>
                  <a:pt x="8514015" y="319865"/>
                  <a:pt x="8598603" y="394354"/>
                  <a:pt x="8718436" y="390805"/>
                </a:cubicBezTo>
                <a:cubicBezTo>
                  <a:pt x="8824169" y="390805"/>
                  <a:pt x="8890254" y="348907"/>
                  <a:pt x="8949396" y="296534"/>
                </a:cubicBezTo>
                <a:lnTo>
                  <a:pt x="8979560" y="268105"/>
                </a:lnTo>
                <a:lnTo>
                  <a:pt x="8988988" y="254510"/>
                </a:lnTo>
                <a:lnTo>
                  <a:pt x="9033902" y="217474"/>
                </a:lnTo>
                <a:lnTo>
                  <a:pt x="9096430" y="159920"/>
                </a:lnTo>
                <a:cubicBezTo>
                  <a:pt x="9192914" y="80446"/>
                  <a:pt x="9321117" y="13939"/>
                  <a:pt x="9564304" y="11281"/>
                </a:cubicBezTo>
                <a:cubicBezTo>
                  <a:pt x="9881500" y="7732"/>
                  <a:pt x="10008379" y="121235"/>
                  <a:pt x="10128215" y="231193"/>
                </a:cubicBezTo>
                <a:cubicBezTo>
                  <a:pt x="10212801" y="309226"/>
                  <a:pt x="10290336" y="380166"/>
                  <a:pt x="10424269" y="380166"/>
                </a:cubicBezTo>
                <a:cubicBezTo>
                  <a:pt x="10593442" y="380166"/>
                  <a:pt x="10727367" y="284396"/>
                  <a:pt x="10847202" y="192174"/>
                </a:cubicBezTo>
                <a:cubicBezTo>
                  <a:pt x="10974082" y="96408"/>
                  <a:pt x="11100963" y="4187"/>
                  <a:pt x="11291279" y="638"/>
                </a:cubicBezTo>
                <a:cubicBezTo>
                  <a:pt x="11545039" y="-7341"/>
                  <a:pt x="11687779" y="60494"/>
                  <a:pt x="11808711" y="148780"/>
                </a:cubicBezTo>
                <a:lnTo>
                  <a:pt x="11911532" y="230577"/>
                </a:lnTo>
                <a:lnTo>
                  <a:pt x="11942396" y="254510"/>
                </a:lnTo>
                <a:lnTo>
                  <a:pt x="11944992" y="258029"/>
                </a:lnTo>
                <a:lnTo>
                  <a:pt x="11967973" y="277302"/>
                </a:lnTo>
                <a:cubicBezTo>
                  <a:pt x="12024364" y="325187"/>
                  <a:pt x="12101901" y="343809"/>
                  <a:pt x="12165341" y="350459"/>
                </a:cubicBezTo>
                <a:lnTo>
                  <a:pt x="12192000" y="352270"/>
                </a:lnTo>
                <a:lnTo>
                  <a:pt x="12192000" y="453983"/>
                </a:lnTo>
                <a:lnTo>
                  <a:pt x="12192000" y="907623"/>
                </a:lnTo>
                <a:lnTo>
                  <a:pt x="12192001" y="907623"/>
                </a:lnTo>
                <a:lnTo>
                  <a:pt x="12192001" y="3530337"/>
                </a:lnTo>
                <a:lnTo>
                  <a:pt x="12192000" y="3530337"/>
                </a:lnTo>
                <a:lnTo>
                  <a:pt x="12192000" y="3836211"/>
                </a:lnTo>
                <a:lnTo>
                  <a:pt x="12192000" y="3937924"/>
                </a:lnTo>
                <a:lnTo>
                  <a:pt x="12165341" y="3939735"/>
                </a:lnTo>
                <a:cubicBezTo>
                  <a:pt x="12101901" y="3946385"/>
                  <a:pt x="12024364" y="3965007"/>
                  <a:pt x="11967973" y="4012892"/>
                </a:cubicBezTo>
                <a:lnTo>
                  <a:pt x="11944992" y="4032165"/>
                </a:lnTo>
                <a:lnTo>
                  <a:pt x="11942396" y="4035684"/>
                </a:lnTo>
                <a:lnTo>
                  <a:pt x="11911532" y="4059617"/>
                </a:lnTo>
                <a:lnTo>
                  <a:pt x="11808711" y="4141414"/>
                </a:lnTo>
                <a:cubicBezTo>
                  <a:pt x="11687779" y="4229700"/>
                  <a:pt x="11545039" y="4297535"/>
                  <a:pt x="11291279" y="4289556"/>
                </a:cubicBezTo>
                <a:cubicBezTo>
                  <a:pt x="11100963" y="4286007"/>
                  <a:pt x="10974082" y="4193786"/>
                  <a:pt x="10847202" y="4098020"/>
                </a:cubicBezTo>
                <a:cubicBezTo>
                  <a:pt x="10727367" y="4005798"/>
                  <a:pt x="10593442" y="3910028"/>
                  <a:pt x="10424269" y="3910028"/>
                </a:cubicBezTo>
                <a:cubicBezTo>
                  <a:pt x="10290336" y="3910028"/>
                  <a:pt x="10212801" y="3980968"/>
                  <a:pt x="10128215" y="4059001"/>
                </a:cubicBezTo>
                <a:cubicBezTo>
                  <a:pt x="10008379" y="4168959"/>
                  <a:pt x="9881500" y="4282462"/>
                  <a:pt x="9564304" y="4278913"/>
                </a:cubicBezTo>
                <a:cubicBezTo>
                  <a:pt x="9321117" y="4276255"/>
                  <a:pt x="9192914" y="4209748"/>
                  <a:pt x="9096430" y="4130274"/>
                </a:cubicBezTo>
                <a:lnTo>
                  <a:pt x="9033902" y="4072720"/>
                </a:lnTo>
                <a:lnTo>
                  <a:pt x="8988988" y="4035684"/>
                </a:lnTo>
                <a:lnTo>
                  <a:pt x="8979560" y="4022089"/>
                </a:lnTo>
                <a:lnTo>
                  <a:pt x="8949396" y="3993660"/>
                </a:lnTo>
                <a:cubicBezTo>
                  <a:pt x="8890254" y="3941287"/>
                  <a:pt x="8824169" y="3899389"/>
                  <a:pt x="8718436" y="3899389"/>
                </a:cubicBezTo>
                <a:cubicBezTo>
                  <a:pt x="8598603" y="3895840"/>
                  <a:pt x="8514015" y="3970329"/>
                  <a:pt x="8429428" y="4048362"/>
                </a:cubicBezTo>
                <a:cubicBezTo>
                  <a:pt x="8288451" y="4172504"/>
                  <a:pt x="8140427" y="4310838"/>
                  <a:pt x="7752735" y="4282462"/>
                </a:cubicBezTo>
                <a:cubicBezTo>
                  <a:pt x="7386193" y="4257631"/>
                  <a:pt x="7287509" y="4144128"/>
                  <a:pt x="7195876" y="4041268"/>
                </a:cubicBezTo>
                <a:cubicBezTo>
                  <a:pt x="7139485" y="3977423"/>
                  <a:pt x="7090139" y="3917122"/>
                  <a:pt x="6956214" y="3910028"/>
                </a:cubicBezTo>
                <a:cubicBezTo>
                  <a:pt x="6829334" y="3899389"/>
                  <a:pt x="6758845" y="3970329"/>
                  <a:pt x="6674259" y="4044813"/>
                </a:cubicBezTo>
                <a:cubicBezTo>
                  <a:pt x="6644300" y="4072303"/>
                  <a:pt x="6613461" y="4100679"/>
                  <a:pt x="6578768" y="4127725"/>
                </a:cubicBezTo>
                <a:lnTo>
                  <a:pt x="6558854" y="4140304"/>
                </a:lnTo>
                <a:lnTo>
                  <a:pt x="6545012" y="4153662"/>
                </a:lnTo>
                <a:cubicBezTo>
                  <a:pt x="6465382" y="4220167"/>
                  <a:pt x="6353036" y="4272707"/>
                  <a:pt x="6109851" y="4275368"/>
                </a:cubicBezTo>
                <a:lnTo>
                  <a:pt x="6096002" y="4274853"/>
                </a:lnTo>
                <a:lnTo>
                  <a:pt x="6082152" y="4275368"/>
                </a:lnTo>
                <a:cubicBezTo>
                  <a:pt x="5838966" y="4272707"/>
                  <a:pt x="5726622" y="4220167"/>
                  <a:pt x="5646994" y="4153662"/>
                </a:cubicBezTo>
                <a:lnTo>
                  <a:pt x="5633152" y="4140303"/>
                </a:lnTo>
                <a:lnTo>
                  <a:pt x="5613237" y="4127725"/>
                </a:lnTo>
                <a:cubicBezTo>
                  <a:pt x="5578542" y="4100679"/>
                  <a:pt x="5547703" y="4072303"/>
                  <a:pt x="5517746" y="4044813"/>
                </a:cubicBezTo>
                <a:cubicBezTo>
                  <a:pt x="5433157" y="3970329"/>
                  <a:pt x="5362670" y="3899389"/>
                  <a:pt x="5235788" y="3910028"/>
                </a:cubicBezTo>
                <a:cubicBezTo>
                  <a:pt x="5101862" y="3917122"/>
                  <a:pt x="5052517" y="3977423"/>
                  <a:pt x="4996126" y="4041268"/>
                </a:cubicBezTo>
                <a:cubicBezTo>
                  <a:pt x="4904493" y="4144128"/>
                  <a:pt x="4805812" y="4257631"/>
                  <a:pt x="4439269" y="4282462"/>
                </a:cubicBezTo>
                <a:cubicBezTo>
                  <a:pt x="4051573" y="4310838"/>
                  <a:pt x="3903550" y="4172504"/>
                  <a:pt x="3762572" y="4048362"/>
                </a:cubicBezTo>
                <a:cubicBezTo>
                  <a:pt x="3677986" y="3970329"/>
                  <a:pt x="3593399" y="3895840"/>
                  <a:pt x="3473564" y="3899389"/>
                </a:cubicBezTo>
                <a:cubicBezTo>
                  <a:pt x="3367831" y="3899389"/>
                  <a:pt x="3301747" y="3941287"/>
                  <a:pt x="3242604" y="3993660"/>
                </a:cubicBezTo>
                <a:lnTo>
                  <a:pt x="3212441" y="4022089"/>
                </a:lnTo>
                <a:lnTo>
                  <a:pt x="3203012" y="4035684"/>
                </a:lnTo>
                <a:lnTo>
                  <a:pt x="3158099" y="4072720"/>
                </a:lnTo>
                <a:lnTo>
                  <a:pt x="3095570" y="4130274"/>
                </a:lnTo>
                <a:cubicBezTo>
                  <a:pt x="2999088" y="4209748"/>
                  <a:pt x="2870885" y="4276255"/>
                  <a:pt x="2627698" y="4278913"/>
                </a:cubicBezTo>
                <a:cubicBezTo>
                  <a:pt x="2310501" y="4282462"/>
                  <a:pt x="2183621" y="4168959"/>
                  <a:pt x="2063785" y="4059001"/>
                </a:cubicBezTo>
                <a:cubicBezTo>
                  <a:pt x="1979199" y="3980968"/>
                  <a:pt x="1901665" y="3910028"/>
                  <a:pt x="1767732" y="3910028"/>
                </a:cubicBezTo>
                <a:cubicBezTo>
                  <a:pt x="1598560" y="3910028"/>
                  <a:pt x="1464634" y="4005798"/>
                  <a:pt x="1344798" y="4098020"/>
                </a:cubicBezTo>
                <a:cubicBezTo>
                  <a:pt x="1217918" y="4193786"/>
                  <a:pt x="1091038" y="4286007"/>
                  <a:pt x="900721" y="4289556"/>
                </a:cubicBezTo>
                <a:cubicBezTo>
                  <a:pt x="646961" y="4297535"/>
                  <a:pt x="504221" y="4229700"/>
                  <a:pt x="383289" y="4141414"/>
                </a:cubicBezTo>
                <a:lnTo>
                  <a:pt x="280468" y="4059617"/>
                </a:lnTo>
                <a:lnTo>
                  <a:pt x="249604" y="4035684"/>
                </a:lnTo>
                <a:lnTo>
                  <a:pt x="247008" y="4032165"/>
                </a:lnTo>
                <a:lnTo>
                  <a:pt x="224027" y="4012892"/>
                </a:lnTo>
                <a:cubicBezTo>
                  <a:pt x="167637" y="3965007"/>
                  <a:pt x="90099" y="3946385"/>
                  <a:pt x="26659" y="3939735"/>
                </a:cubicBezTo>
                <a:lnTo>
                  <a:pt x="0" y="3937924"/>
                </a:lnTo>
                <a:lnTo>
                  <a:pt x="0" y="3836211"/>
                </a:lnTo>
                <a:lnTo>
                  <a:pt x="0" y="3184290"/>
                </a:lnTo>
                <a:lnTo>
                  <a:pt x="1" y="3184290"/>
                </a:lnTo>
                <a:lnTo>
                  <a:pt x="1" y="1105904"/>
                </a:lnTo>
                <a:lnTo>
                  <a:pt x="0" y="1105904"/>
                </a:lnTo>
                <a:lnTo>
                  <a:pt x="0" y="453983"/>
                </a:lnTo>
                <a:lnTo>
                  <a:pt x="0" y="352270"/>
                </a:lnTo>
                <a:lnTo>
                  <a:pt x="26659" y="350459"/>
                </a:lnTo>
                <a:cubicBezTo>
                  <a:pt x="90099" y="343809"/>
                  <a:pt x="167637" y="325187"/>
                  <a:pt x="224027" y="277302"/>
                </a:cubicBezTo>
                <a:lnTo>
                  <a:pt x="247008" y="258029"/>
                </a:lnTo>
                <a:lnTo>
                  <a:pt x="249604" y="254510"/>
                </a:lnTo>
                <a:lnTo>
                  <a:pt x="280468" y="230577"/>
                </a:lnTo>
                <a:lnTo>
                  <a:pt x="383289" y="148780"/>
                </a:lnTo>
                <a:cubicBezTo>
                  <a:pt x="504221" y="60494"/>
                  <a:pt x="646961" y="-7341"/>
                  <a:pt x="900721" y="638"/>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Picture Placeholder 42">
            <a:extLst>
              <a:ext uri="{FF2B5EF4-FFF2-40B4-BE49-F238E27FC236}">
                <a16:creationId xmlns:a16="http://schemas.microsoft.com/office/drawing/2014/main" id="{38664057-2774-47A1-B26D-41DBBCAF293C}"/>
              </a:ext>
            </a:extLst>
          </p:cNvPr>
          <p:cNvSpPr>
            <a:spLocks noGrp="1"/>
          </p:cNvSpPr>
          <p:nvPr>
            <p:ph type="pic" sz="quarter" idx="10" hasCustomPrompt="1"/>
          </p:nvPr>
        </p:nvSpPr>
        <p:spPr>
          <a:xfrm>
            <a:off x="6347364" y="620713"/>
            <a:ext cx="5844636" cy="4290195"/>
          </a:xfrm>
          <a:custGeom>
            <a:avLst/>
            <a:gdLst>
              <a:gd name="connsiteX0" fmla="*/ 2050516 w 5844636"/>
              <a:gd name="connsiteY0" fmla="*/ 3878591 h 4290195"/>
              <a:gd name="connsiteX1" fmla="*/ 2050586 w 5844636"/>
              <a:gd name="connsiteY1" fmla="*/ 3878905 h 4290195"/>
              <a:gd name="connsiteX2" fmla="*/ 2051115 w 5844636"/>
              <a:gd name="connsiteY2" fmla="*/ 3878591 h 4290195"/>
              <a:gd name="connsiteX3" fmla="*/ 2050586 w 5844636"/>
              <a:gd name="connsiteY3" fmla="*/ 411291 h 4290195"/>
              <a:gd name="connsiteX4" fmla="*/ 2050516 w 5844636"/>
              <a:gd name="connsiteY4" fmla="*/ 411605 h 4290195"/>
              <a:gd name="connsiteX5" fmla="*/ 2051115 w 5844636"/>
              <a:gd name="connsiteY5" fmla="*/ 411605 h 4290195"/>
              <a:gd name="connsiteX6" fmla="*/ 4943914 w 5844636"/>
              <a:gd name="connsiteY6" fmla="*/ 639 h 4290195"/>
              <a:gd name="connsiteX7" fmla="*/ 5461346 w 5844636"/>
              <a:gd name="connsiteY7" fmla="*/ 148781 h 4290195"/>
              <a:gd name="connsiteX8" fmla="*/ 5564167 w 5844636"/>
              <a:gd name="connsiteY8" fmla="*/ 230578 h 4290195"/>
              <a:gd name="connsiteX9" fmla="*/ 5595031 w 5844636"/>
              <a:gd name="connsiteY9" fmla="*/ 254511 h 4290195"/>
              <a:gd name="connsiteX10" fmla="*/ 5597627 w 5844636"/>
              <a:gd name="connsiteY10" fmla="*/ 258030 h 4290195"/>
              <a:gd name="connsiteX11" fmla="*/ 5620608 w 5844636"/>
              <a:gd name="connsiteY11" fmla="*/ 277303 h 4290195"/>
              <a:gd name="connsiteX12" fmla="*/ 5817976 w 5844636"/>
              <a:gd name="connsiteY12" fmla="*/ 350460 h 4290195"/>
              <a:gd name="connsiteX13" fmla="*/ 5844635 w 5844636"/>
              <a:gd name="connsiteY13" fmla="*/ 352271 h 4290195"/>
              <a:gd name="connsiteX14" fmla="*/ 5844635 w 5844636"/>
              <a:gd name="connsiteY14" fmla="*/ 453984 h 4290195"/>
              <a:gd name="connsiteX15" fmla="*/ 5844635 w 5844636"/>
              <a:gd name="connsiteY15" fmla="*/ 907624 h 4290195"/>
              <a:gd name="connsiteX16" fmla="*/ 5844636 w 5844636"/>
              <a:gd name="connsiteY16" fmla="*/ 907624 h 4290195"/>
              <a:gd name="connsiteX17" fmla="*/ 5844636 w 5844636"/>
              <a:gd name="connsiteY17" fmla="*/ 3530338 h 4290195"/>
              <a:gd name="connsiteX18" fmla="*/ 5844635 w 5844636"/>
              <a:gd name="connsiteY18" fmla="*/ 3530338 h 4290195"/>
              <a:gd name="connsiteX19" fmla="*/ 5844635 w 5844636"/>
              <a:gd name="connsiteY19" fmla="*/ 3836212 h 4290195"/>
              <a:gd name="connsiteX20" fmla="*/ 5844635 w 5844636"/>
              <a:gd name="connsiteY20" fmla="*/ 3937925 h 4290195"/>
              <a:gd name="connsiteX21" fmla="*/ 5817976 w 5844636"/>
              <a:gd name="connsiteY21" fmla="*/ 3939736 h 4290195"/>
              <a:gd name="connsiteX22" fmla="*/ 5620608 w 5844636"/>
              <a:gd name="connsiteY22" fmla="*/ 4012893 h 4290195"/>
              <a:gd name="connsiteX23" fmla="*/ 5597627 w 5844636"/>
              <a:gd name="connsiteY23" fmla="*/ 4032166 h 4290195"/>
              <a:gd name="connsiteX24" fmla="*/ 5595031 w 5844636"/>
              <a:gd name="connsiteY24" fmla="*/ 4035685 h 4290195"/>
              <a:gd name="connsiteX25" fmla="*/ 5564167 w 5844636"/>
              <a:gd name="connsiteY25" fmla="*/ 4059618 h 4290195"/>
              <a:gd name="connsiteX26" fmla="*/ 5461346 w 5844636"/>
              <a:gd name="connsiteY26" fmla="*/ 4141415 h 4290195"/>
              <a:gd name="connsiteX27" fmla="*/ 4943914 w 5844636"/>
              <a:gd name="connsiteY27" fmla="*/ 4289557 h 4290195"/>
              <a:gd name="connsiteX28" fmla="*/ 4499837 w 5844636"/>
              <a:gd name="connsiteY28" fmla="*/ 4098021 h 4290195"/>
              <a:gd name="connsiteX29" fmla="*/ 4076904 w 5844636"/>
              <a:gd name="connsiteY29" fmla="*/ 3910029 h 4290195"/>
              <a:gd name="connsiteX30" fmla="*/ 3780850 w 5844636"/>
              <a:gd name="connsiteY30" fmla="*/ 4059002 h 4290195"/>
              <a:gd name="connsiteX31" fmla="*/ 3216939 w 5844636"/>
              <a:gd name="connsiteY31" fmla="*/ 4278914 h 4290195"/>
              <a:gd name="connsiteX32" fmla="*/ 2749065 w 5844636"/>
              <a:gd name="connsiteY32" fmla="*/ 4130275 h 4290195"/>
              <a:gd name="connsiteX33" fmla="*/ 2686537 w 5844636"/>
              <a:gd name="connsiteY33" fmla="*/ 4072721 h 4290195"/>
              <a:gd name="connsiteX34" fmla="*/ 2641623 w 5844636"/>
              <a:gd name="connsiteY34" fmla="*/ 4035685 h 4290195"/>
              <a:gd name="connsiteX35" fmla="*/ 2632195 w 5844636"/>
              <a:gd name="connsiteY35" fmla="*/ 4022090 h 4290195"/>
              <a:gd name="connsiteX36" fmla="*/ 2602031 w 5844636"/>
              <a:gd name="connsiteY36" fmla="*/ 3993661 h 4290195"/>
              <a:gd name="connsiteX37" fmla="*/ 2371071 w 5844636"/>
              <a:gd name="connsiteY37" fmla="*/ 3899390 h 4290195"/>
              <a:gd name="connsiteX38" fmla="*/ 2082063 w 5844636"/>
              <a:gd name="connsiteY38" fmla="*/ 4048363 h 4290195"/>
              <a:gd name="connsiteX39" fmla="*/ 1405371 w 5844636"/>
              <a:gd name="connsiteY39" fmla="*/ 4282463 h 4290195"/>
              <a:gd name="connsiteX40" fmla="*/ 848512 w 5844636"/>
              <a:gd name="connsiteY40" fmla="*/ 4041269 h 4290195"/>
              <a:gd name="connsiteX41" fmla="*/ 608849 w 5844636"/>
              <a:gd name="connsiteY41" fmla="*/ 3910029 h 4290195"/>
              <a:gd name="connsiteX42" fmla="*/ 326895 w 5844636"/>
              <a:gd name="connsiteY42" fmla="*/ 4044814 h 4290195"/>
              <a:gd name="connsiteX43" fmla="*/ 231404 w 5844636"/>
              <a:gd name="connsiteY43" fmla="*/ 4127726 h 4290195"/>
              <a:gd name="connsiteX44" fmla="*/ 211490 w 5844636"/>
              <a:gd name="connsiteY44" fmla="*/ 4140305 h 4290195"/>
              <a:gd name="connsiteX45" fmla="*/ 197648 w 5844636"/>
              <a:gd name="connsiteY45" fmla="*/ 4153663 h 4290195"/>
              <a:gd name="connsiteX46" fmla="*/ 41400 w 5844636"/>
              <a:gd name="connsiteY46" fmla="*/ 4238458 h 4290195"/>
              <a:gd name="connsiteX47" fmla="*/ 0 w 5844636"/>
              <a:gd name="connsiteY47" fmla="*/ 4247507 h 4290195"/>
              <a:gd name="connsiteX48" fmla="*/ 1626 w 5844636"/>
              <a:gd name="connsiteY48" fmla="*/ 4183214 h 4290195"/>
              <a:gd name="connsiteX49" fmla="*/ 2003394 w 5844636"/>
              <a:gd name="connsiteY49" fmla="*/ 207408 h 4290195"/>
              <a:gd name="connsiteX50" fmla="*/ 2022853 w 5844636"/>
              <a:gd name="connsiteY50" fmla="*/ 192116 h 4290195"/>
              <a:gd name="connsiteX51" fmla="*/ 2082063 w 5844636"/>
              <a:gd name="connsiteY51" fmla="*/ 241833 h 4290195"/>
              <a:gd name="connsiteX52" fmla="*/ 2371071 w 5844636"/>
              <a:gd name="connsiteY52" fmla="*/ 390806 h 4290195"/>
              <a:gd name="connsiteX53" fmla="*/ 2602031 w 5844636"/>
              <a:gd name="connsiteY53" fmla="*/ 296535 h 4290195"/>
              <a:gd name="connsiteX54" fmla="*/ 2632195 w 5844636"/>
              <a:gd name="connsiteY54" fmla="*/ 268106 h 4290195"/>
              <a:gd name="connsiteX55" fmla="*/ 2641623 w 5844636"/>
              <a:gd name="connsiteY55" fmla="*/ 254511 h 4290195"/>
              <a:gd name="connsiteX56" fmla="*/ 2686537 w 5844636"/>
              <a:gd name="connsiteY56" fmla="*/ 217475 h 4290195"/>
              <a:gd name="connsiteX57" fmla="*/ 2749065 w 5844636"/>
              <a:gd name="connsiteY57" fmla="*/ 159921 h 4290195"/>
              <a:gd name="connsiteX58" fmla="*/ 3216939 w 5844636"/>
              <a:gd name="connsiteY58" fmla="*/ 11282 h 4290195"/>
              <a:gd name="connsiteX59" fmla="*/ 3780850 w 5844636"/>
              <a:gd name="connsiteY59" fmla="*/ 231194 h 4290195"/>
              <a:gd name="connsiteX60" fmla="*/ 4076904 w 5844636"/>
              <a:gd name="connsiteY60" fmla="*/ 380167 h 4290195"/>
              <a:gd name="connsiteX61" fmla="*/ 4499837 w 5844636"/>
              <a:gd name="connsiteY61" fmla="*/ 192175 h 4290195"/>
              <a:gd name="connsiteX62" fmla="*/ 4943914 w 5844636"/>
              <a:gd name="connsiteY62" fmla="*/ 639 h 429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5844636" h="4290195">
                <a:moveTo>
                  <a:pt x="2050516" y="3878591"/>
                </a:moveTo>
                <a:cubicBezTo>
                  <a:pt x="2050540" y="3878696"/>
                  <a:pt x="2050563" y="3878801"/>
                  <a:pt x="2050586" y="3878905"/>
                </a:cubicBezTo>
                <a:lnTo>
                  <a:pt x="2051115" y="3878591"/>
                </a:lnTo>
                <a:close/>
                <a:moveTo>
                  <a:pt x="2050586" y="411291"/>
                </a:moveTo>
                <a:cubicBezTo>
                  <a:pt x="2050563" y="411395"/>
                  <a:pt x="2050540" y="411500"/>
                  <a:pt x="2050516" y="411605"/>
                </a:cubicBezTo>
                <a:lnTo>
                  <a:pt x="2051115" y="411605"/>
                </a:lnTo>
                <a:close/>
                <a:moveTo>
                  <a:pt x="4943914" y="639"/>
                </a:moveTo>
                <a:cubicBezTo>
                  <a:pt x="5197674" y="-7340"/>
                  <a:pt x="5340414" y="60495"/>
                  <a:pt x="5461346" y="148781"/>
                </a:cubicBezTo>
                <a:lnTo>
                  <a:pt x="5564167" y="230578"/>
                </a:lnTo>
                <a:lnTo>
                  <a:pt x="5595031" y="254511"/>
                </a:lnTo>
                <a:lnTo>
                  <a:pt x="5597627" y="258030"/>
                </a:lnTo>
                <a:lnTo>
                  <a:pt x="5620608" y="277303"/>
                </a:lnTo>
                <a:cubicBezTo>
                  <a:pt x="5676999" y="325188"/>
                  <a:pt x="5754536" y="343810"/>
                  <a:pt x="5817976" y="350460"/>
                </a:cubicBezTo>
                <a:lnTo>
                  <a:pt x="5844635" y="352271"/>
                </a:lnTo>
                <a:lnTo>
                  <a:pt x="5844635" y="453984"/>
                </a:lnTo>
                <a:lnTo>
                  <a:pt x="5844635" y="907624"/>
                </a:lnTo>
                <a:lnTo>
                  <a:pt x="5844636" y="907624"/>
                </a:lnTo>
                <a:lnTo>
                  <a:pt x="5844636" y="3530338"/>
                </a:lnTo>
                <a:lnTo>
                  <a:pt x="5844635" y="3530338"/>
                </a:lnTo>
                <a:lnTo>
                  <a:pt x="5844635" y="3836212"/>
                </a:lnTo>
                <a:lnTo>
                  <a:pt x="5844635" y="3937925"/>
                </a:lnTo>
                <a:lnTo>
                  <a:pt x="5817976" y="3939736"/>
                </a:lnTo>
                <a:cubicBezTo>
                  <a:pt x="5754536" y="3946386"/>
                  <a:pt x="5676999" y="3965008"/>
                  <a:pt x="5620608" y="4012893"/>
                </a:cubicBezTo>
                <a:lnTo>
                  <a:pt x="5597627" y="4032166"/>
                </a:lnTo>
                <a:lnTo>
                  <a:pt x="5595031" y="4035685"/>
                </a:lnTo>
                <a:lnTo>
                  <a:pt x="5564167" y="4059618"/>
                </a:lnTo>
                <a:lnTo>
                  <a:pt x="5461346" y="4141415"/>
                </a:lnTo>
                <a:cubicBezTo>
                  <a:pt x="5340414" y="4229701"/>
                  <a:pt x="5197674" y="4297536"/>
                  <a:pt x="4943914" y="4289557"/>
                </a:cubicBezTo>
                <a:cubicBezTo>
                  <a:pt x="4753598" y="4286008"/>
                  <a:pt x="4626717" y="4193787"/>
                  <a:pt x="4499837" y="4098021"/>
                </a:cubicBezTo>
                <a:cubicBezTo>
                  <a:pt x="4380002" y="4005799"/>
                  <a:pt x="4246077" y="3910029"/>
                  <a:pt x="4076904" y="3910029"/>
                </a:cubicBezTo>
                <a:cubicBezTo>
                  <a:pt x="3942971" y="3910029"/>
                  <a:pt x="3865436" y="3980969"/>
                  <a:pt x="3780850" y="4059002"/>
                </a:cubicBezTo>
                <a:cubicBezTo>
                  <a:pt x="3661014" y="4168960"/>
                  <a:pt x="3534135" y="4282463"/>
                  <a:pt x="3216939" y="4278914"/>
                </a:cubicBezTo>
                <a:cubicBezTo>
                  <a:pt x="2973752" y="4276256"/>
                  <a:pt x="2845549" y="4209749"/>
                  <a:pt x="2749065" y="4130275"/>
                </a:cubicBezTo>
                <a:lnTo>
                  <a:pt x="2686537" y="4072721"/>
                </a:lnTo>
                <a:lnTo>
                  <a:pt x="2641623" y="4035685"/>
                </a:lnTo>
                <a:lnTo>
                  <a:pt x="2632195" y="4022090"/>
                </a:lnTo>
                <a:lnTo>
                  <a:pt x="2602031" y="3993661"/>
                </a:lnTo>
                <a:cubicBezTo>
                  <a:pt x="2542889" y="3941288"/>
                  <a:pt x="2476804" y="3899390"/>
                  <a:pt x="2371071" y="3899390"/>
                </a:cubicBezTo>
                <a:cubicBezTo>
                  <a:pt x="2251238" y="3895841"/>
                  <a:pt x="2166650" y="3970330"/>
                  <a:pt x="2082063" y="4048363"/>
                </a:cubicBezTo>
                <a:cubicBezTo>
                  <a:pt x="1941086" y="4172505"/>
                  <a:pt x="1793062" y="4310839"/>
                  <a:pt x="1405371" y="4282463"/>
                </a:cubicBezTo>
                <a:cubicBezTo>
                  <a:pt x="1038829" y="4257632"/>
                  <a:pt x="940144" y="4144129"/>
                  <a:pt x="848512" y="4041269"/>
                </a:cubicBezTo>
                <a:cubicBezTo>
                  <a:pt x="792120" y="3977424"/>
                  <a:pt x="742775" y="3917123"/>
                  <a:pt x="608849" y="3910029"/>
                </a:cubicBezTo>
                <a:cubicBezTo>
                  <a:pt x="481970" y="3899390"/>
                  <a:pt x="411481" y="3970330"/>
                  <a:pt x="326895" y="4044814"/>
                </a:cubicBezTo>
                <a:cubicBezTo>
                  <a:pt x="296936" y="4072304"/>
                  <a:pt x="266096" y="4100680"/>
                  <a:pt x="231404" y="4127726"/>
                </a:cubicBezTo>
                <a:lnTo>
                  <a:pt x="211490" y="4140305"/>
                </a:lnTo>
                <a:lnTo>
                  <a:pt x="197648" y="4153663"/>
                </a:lnTo>
                <a:cubicBezTo>
                  <a:pt x="157833" y="4186916"/>
                  <a:pt x="109839" y="4216677"/>
                  <a:pt x="41400" y="4238458"/>
                </a:cubicBezTo>
                <a:lnTo>
                  <a:pt x="0" y="4247507"/>
                </a:lnTo>
                <a:lnTo>
                  <a:pt x="1626" y="4183214"/>
                </a:lnTo>
                <a:cubicBezTo>
                  <a:pt x="82708" y="2583641"/>
                  <a:pt x="844639" y="1163697"/>
                  <a:pt x="2003394" y="207408"/>
                </a:cubicBezTo>
                <a:lnTo>
                  <a:pt x="2022853" y="192116"/>
                </a:lnTo>
                <a:lnTo>
                  <a:pt x="2082063" y="241833"/>
                </a:lnTo>
                <a:cubicBezTo>
                  <a:pt x="2166650" y="319866"/>
                  <a:pt x="2251238" y="394355"/>
                  <a:pt x="2371071" y="390806"/>
                </a:cubicBezTo>
                <a:cubicBezTo>
                  <a:pt x="2476804" y="390806"/>
                  <a:pt x="2542889" y="348908"/>
                  <a:pt x="2602031" y="296535"/>
                </a:cubicBezTo>
                <a:lnTo>
                  <a:pt x="2632195" y="268106"/>
                </a:lnTo>
                <a:lnTo>
                  <a:pt x="2641623" y="254511"/>
                </a:lnTo>
                <a:lnTo>
                  <a:pt x="2686537" y="217475"/>
                </a:lnTo>
                <a:lnTo>
                  <a:pt x="2749065" y="159921"/>
                </a:lnTo>
                <a:cubicBezTo>
                  <a:pt x="2845549" y="80447"/>
                  <a:pt x="2973752" y="13940"/>
                  <a:pt x="3216939" y="11282"/>
                </a:cubicBezTo>
                <a:cubicBezTo>
                  <a:pt x="3534135" y="7733"/>
                  <a:pt x="3661014" y="121236"/>
                  <a:pt x="3780850" y="231194"/>
                </a:cubicBezTo>
                <a:cubicBezTo>
                  <a:pt x="3865436" y="309227"/>
                  <a:pt x="3942971" y="380167"/>
                  <a:pt x="4076904" y="380167"/>
                </a:cubicBezTo>
                <a:cubicBezTo>
                  <a:pt x="4246077" y="380167"/>
                  <a:pt x="4380002" y="284397"/>
                  <a:pt x="4499837" y="192175"/>
                </a:cubicBezTo>
                <a:cubicBezTo>
                  <a:pt x="4626717" y="96409"/>
                  <a:pt x="4753598" y="4188"/>
                  <a:pt x="4943914" y="63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00151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1+#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750"/>
                                  </p:stCondLst>
                                  <p:childTnLst>
                                    <p:set>
                                      <p:cBhvr>
                                        <p:cTn id="10" dur="1" fill="hold">
                                          <p:stCondLst>
                                            <p:cond delay="0"/>
                                          </p:stCondLst>
                                        </p:cTn>
                                        <p:tgtEl>
                                          <p:spTgt spid="43"/>
                                        </p:tgtEl>
                                        <p:attrNameLst>
                                          <p:attrName>style.visibility</p:attrName>
                                        </p:attrNameLst>
                                      </p:cBhvr>
                                      <p:to>
                                        <p:strVal val="visible"/>
                                      </p:to>
                                    </p:set>
                                    <p:animEffect transition="in" filter="fade">
                                      <p:cBhvr>
                                        <p:cTn id="11" dur="75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3" grpId="0" animBg="1"/>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56_Title and Conten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F5C547D-083B-4D53-9837-8219A4C504BD}"/>
              </a:ext>
            </a:extLst>
          </p:cNvPr>
          <p:cNvSpPr>
            <a:spLocks noGrp="1"/>
          </p:cNvSpPr>
          <p:nvPr>
            <p:ph type="pic" sz="quarter" idx="12" hasCustomPrompt="1"/>
          </p:nvPr>
        </p:nvSpPr>
        <p:spPr>
          <a:xfrm>
            <a:off x="8573882" y="4410737"/>
            <a:ext cx="2852809" cy="3232433"/>
          </a:xfrm>
          <a:custGeom>
            <a:avLst/>
            <a:gdLst>
              <a:gd name="connsiteX0" fmla="*/ 2146051 w 2852809"/>
              <a:gd name="connsiteY0" fmla="*/ 155 h 3232433"/>
              <a:gd name="connsiteX1" fmla="*/ 2204900 w 2852809"/>
              <a:gd name="connsiteY1" fmla="*/ 6050 h 3232433"/>
              <a:gd name="connsiteX2" fmla="*/ 2590616 w 2852809"/>
              <a:gd name="connsiteY2" fmla="*/ 467531 h 3232433"/>
              <a:gd name="connsiteX3" fmla="*/ 2519444 w 2852809"/>
              <a:gd name="connsiteY3" fmla="*/ 1101208 h 3232433"/>
              <a:gd name="connsiteX4" fmla="*/ 2496485 w 2852809"/>
              <a:gd name="connsiteY4" fmla="*/ 1734887 h 3232433"/>
              <a:gd name="connsiteX5" fmla="*/ 2838579 w 2852809"/>
              <a:gd name="connsiteY5" fmla="*/ 2414482 h 3232433"/>
              <a:gd name="connsiteX6" fmla="*/ 2158981 w 2852809"/>
              <a:gd name="connsiteY6" fmla="*/ 3231831 h 3232433"/>
              <a:gd name="connsiteX7" fmla="*/ 1242907 w 2852809"/>
              <a:gd name="connsiteY7" fmla="*/ 2561422 h 3232433"/>
              <a:gd name="connsiteX8" fmla="*/ 1031681 w 2852809"/>
              <a:gd name="connsiteY8" fmla="*/ 1891008 h 3232433"/>
              <a:gd name="connsiteX9" fmla="*/ 260249 w 2852809"/>
              <a:gd name="connsiteY9" fmla="*/ 1578761 h 3232433"/>
              <a:gd name="connsiteX10" fmla="*/ 255657 w 2852809"/>
              <a:gd name="connsiteY10" fmla="*/ 793553 h 3232433"/>
              <a:gd name="connsiteX11" fmla="*/ 811272 w 2852809"/>
              <a:gd name="connsiteY11" fmla="*/ 612176 h 3232433"/>
              <a:gd name="connsiteX12" fmla="*/ 1371479 w 2852809"/>
              <a:gd name="connsiteY12" fmla="*/ 446869 h 3232433"/>
              <a:gd name="connsiteX13" fmla="*/ 2146051 w 2852809"/>
              <a:gd name="connsiteY13" fmla="*/ 155 h 323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52809" h="3232433">
                <a:moveTo>
                  <a:pt x="2146051" y="155"/>
                </a:moveTo>
                <a:cubicBezTo>
                  <a:pt x="2165349" y="687"/>
                  <a:pt x="2184954" y="2606"/>
                  <a:pt x="2204900" y="6050"/>
                </a:cubicBezTo>
                <a:cubicBezTo>
                  <a:pt x="2416126" y="42785"/>
                  <a:pt x="2558473" y="256306"/>
                  <a:pt x="2590616" y="467531"/>
                </a:cubicBezTo>
                <a:cubicBezTo>
                  <a:pt x="2620465" y="678757"/>
                  <a:pt x="2565362" y="892279"/>
                  <a:pt x="2519444" y="1101208"/>
                </a:cubicBezTo>
                <a:cubicBezTo>
                  <a:pt x="2471231" y="1310139"/>
                  <a:pt x="2434493" y="1530548"/>
                  <a:pt x="2496485" y="1734887"/>
                </a:cubicBezTo>
                <a:cubicBezTo>
                  <a:pt x="2569954" y="1978255"/>
                  <a:pt x="2778885" y="2166519"/>
                  <a:pt x="2838579" y="2414482"/>
                </a:cubicBezTo>
                <a:cubicBezTo>
                  <a:pt x="2930417" y="2807085"/>
                  <a:pt x="2563067" y="3215760"/>
                  <a:pt x="2158981" y="3231831"/>
                </a:cubicBezTo>
                <a:cubicBezTo>
                  <a:pt x="1754898" y="3247903"/>
                  <a:pt x="1382957" y="2940249"/>
                  <a:pt x="1242907" y="2561422"/>
                </a:cubicBezTo>
                <a:cubicBezTo>
                  <a:pt x="1160253" y="2341010"/>
                  <a:pt x="1144181" y="2097641"/>
                  <a:pt x="1031681" y="1891008"/>
                </a:cubicBezTo>
                <a:cubicBezTo>
                  <a:pt x="836526" y="1532843"/>
                  <a:pt x="556423" y="1679785"/>
                  <a:pt x="260249" y="1578761"/>
                </a:cubicBezTo>
                <a:cubicBezTo>
                  <a:pt x="-136948" y="1443303"/>
                  <a:pt x="-31333" y="979525"/>
                  <a:pt x="255657" y="793553"/>
                </a:cubicBezTo>
                <a:cubicBezTo>
                  <a:pt x="420964" y="687940"/>
                  <a:pt x="618414" y="646616"/>
                  <a:pt x="811272" y="612176"/>
                </a:cubicBezTo>
                <a:cubicBezTo>
                  <a:pt x="1004130" y="577738"/>
                  <a:pt x="1201580" y="543298"/>
                  <a:pt x="1371479" y="446869"/>
                </a:cubicBezTo>
                <a:cubicBezTo>
                  <a:pt x="1636227" y="296199"/>
                  <a:pt x="1856583" y="-7833"/>
                  <a:pt x="2146051" y="155"/>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34AB277B-AEBD-4A76-8AF4-DCE87F3A0388}"/>
              </a:ext>
            </a:extLst>
          </p:cNvPr>
          <p:cNvSpPr>
            <a:spLocks noGrp="1"/>
          </p:cNvSpPr>
          <p:nvPr>
            <p:ph type="pic" sz="quarter" idx="11" hasCustomPrompt="1"/>
          </p:nvPr>
        </p:nvSpPr>
        <p:spPr>
          <a:xfrm>
            <a:off x="9433807" y="123053"/>
            <a:ext cx="2312758" cy="2164531"/>
          </a:xfrm>
          <a:custGeom>
            <a:avLst/>
            <a:gdLst>
              <a:gd name="connsiteX0" fmla="*/ 1637589 w 2312758"/>
              <a:gd name="connsiteY0" fmla="*/ 479 h 2164531"/>
              <a:gd name="connsiteX1" fmla="*/ 2237625 w 2312758"/>
              <a:gd name="connsiteY1" fmla="*/ 1068704 h 2164531"/>
              <a:gd name="connsiteX2" fmla="*/ 1886483 w 2312758"/>
              <a:gd name="connsiteY2" fmla="*/ 1461553 h 2164531"/>
              <a:gd name="connsiteX3" fmla="*/ 1560903 w 2312758"/>
              <a:gd name="connsiteY3" fmla="*/ 2161146 h 2164531"/>
              <a:gd name="connsiteX4" fmla="*/ 1096749 w 2312758"/>
              <a:gd name="connsiteY4" fmla="*/ 1713138 h 2164531"/>
              <a:gd name="connsiteX5" fmla="*/ 268001 w 2312758"/>
              <a:gd name="connsiteY5" fmla="*/ 1781751 h 2164531"/>
              <a:gd name="connsiteX6" fmla="*/ 218223 w 2312758"/>
              <a:gd name="connsiteY6" fmla="*/ 947621 h 2164531"/>
              <a:gd name="connsiteX7" fmla="*/ 716010 w 2312758"/>
              <a:gd name="connsiteY7" fmla="*/ 661057 h 2164531"/>
              <a:gd name="connsiteX8" fmla="*/ 1637589 w 2312758"/>
              <a:gd name="connsiteY8" fmla="*/ 479 h 216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2758" h="2164531">
                <a:moveTo>
                  <a:pt x="1637589" y="479"/>
                </a:moveTo>
                <a:cubicBezTo>
                  <a:pt x="2117887" y="15279"/>
                  <a:pt x="2474410" y="539974"/>
                  <a:pt x="2237625" y="1068704"/>
                </a:cubicBezTo>
                <a:cubicBezTo>
                  <a:pt x="2152867" y="1257056"/>
                  <a:pt x="1952406" y="1314908"/>
                  <a:pt x="1886483" y="1461553"/>
                </a:cubicBezTo>
                <a:cubicBezTo>
                  <a:pt x="1757328" y="1749462"/>
                  <a:pt x="1864957" y="2116750"/>
                  <a:pt x="1560903" y="2161146"/>
                </a:cubicBezTo>
                <a:cubicBezTo>
                  <a:pt x="1233977" y="2206889"/>
                  <a:pt x="1252813" y="1775025"/>
                  <a:pt x="1096749" y="1713138"/>
                </a:cubicBezTo>
                <a:cubicBezTo>
                  <a:pt x="763097" y="1582636"/>
                  <a:pt x="643360" y="1917635"/>
                  <a:pt x="268001" y="1781751"/>
                </a:cubicBezTo>
                <a:cubicBezTo>
                  <a:pt x="-64305" y="1662014"/>
                  <a:pt x="-95249" y="1053906"/>
                  <a:pt x="218223" y="947621"/>
                </a:cubicBezTo>
                <a:cubicBezTo>
                  <a:pt x="346032" y="904569"/>
                  <a:pt x="668921" y="979910"/>
                  <a:pt x="716010" y="661057"/>
                </a:cubicBezTo>
                <a:cubicBezTo>
                  <a:pt x="757716" y="379874"/>
                  <a:pt x="1095405" y="-15666"/>
                  <a:pt x="1637589" y="479"/>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DFB530B4-35D9-4FA0-8897-A74895EFD2EC}"/>
              </a:ext>
            </a:extLst>
          </p:cNvPr>
          <p:cNvSpPr>
            <a:spLocks noGrp="1"/>
          </p:cNvSpPr>
          <p:nvPr>
            <p:ph type="pic" sz="quarter" idx="10" hasCustomPrompt="1"/>
          </p:nvPr>
        </p:nvSpPr>
        <p:spPr>
          <a:xfrm>
            <a:off x="-624161" y="-948470"/>
            <a:ext cx="3917403" cy="3560912"/>
          </a:xfrm>
          <a:custGeom>
            <a:avLst/>
            <a:gdLst>
              <a:gd name="connsiteX0" fmla="*/ 1248336 w 3917403"/>
              <a:gd name="connsiteY0" fmla="*/ 311 h 3560912"/>
              <a:gd name="connsiteX1" fmla="*/ 1758858 w 3917403"/>
              <a:gd name="connsiteY1" fmla="*/ 143801 h 3560912"/>
              <a:gd name="connsiteX2" fmla="*/ 2201249 w 3917403"/>
              <a:gd name="connsiteY2" fmla="*/ 558275 h 3560912"/>
              <a:gd name="connsiteX3" fmla="*/ 2203397 w 3917403"/>
              <a:gd name="connsiteY3" fmla="*/ 560422 h 3560912"/>
              <a:gd name="connsiteX4" fmla="*/ 2691959 w 3917403"/>
              <a:gd name="connsiteY4" fmla="*/ 818126 h 3560912"/>
              <a:gd name="connsiteX5" fmla="*/ 2847656 w 3917403"/>
              <a:gd name="connsiteY5" fmla="*/ 855707 h 3560912"/>
              <a:gd name="connsiteX6" fmla="*/ 3618620 w 3917403"/>
              <a:gd name="connsiteY6" fmla="*/ 1243337 h 3560912"/>
              <a:gd name="connsiteX7" fmla="*/ 3911757 w 3917403"/>
              <a:gd name="connsiteY7" fmla="*/ 2048661 h 3560912"/>
              <a:gd name="connsiteX8" fmla="*/ 3429637 w 3917403"/>
              <a:gd name="connsiteY8" fmla="*/ 2748756 h 3560912"/>
              <a:gd name="connsiteX9" fmla="*/ 2749943 w 3917403"/>
              <a:gd name="connsiteY9" fmla="*/ 2891566 h 3560912"/>
              <a:gd name="connsiteX10" fmla="*/ 1768521 w 3917403"/>
              <a:gd name="connsiteY10" fmla="*/ 3189000 h 3560912"/>
              <a:gd name="connsiteX11" fmla="*/ 888033 w 3917403"/>
              <a:gd name="connsiteY11" fmla="*/ 3553005 h 3560912"/>
              <a:gd name="connsiteX12" fmla="*/ 287799 w 3917403"/>
              <a:gd name="connsiteY12" fmla="*/ 3419860 h 3560912"/>
              <a:gd name="connsiteX13" fmla="*/ 29 w 3917403"/>
              <a:gd name="connsiteY13" fmla="*/ 2889418 h 3560912"/>
              <a:gd name="connsiteX14" fmla="*/ 540133 w 3917403"/>
              <a:gd name="connsiteY14" fmla="*/ 1753375 h 3560912"/>
              <a:gd name="connsiteX15" fmla="*/ 448863 w 3917403"/>
              <a:gd name="connsiteY15" fmla="*/ 731150 h 3560912"/>
              <a:gd name="connsiteX16" fmla="*/ 935279 w 3917403"/>
              <a:gd name="connsiteY16" fmla="*/ 68638 h 3560912"/>
              <a:gd name="connsiteX17" fmla="*/ 1248336 w 3917403"/>
              <a:gd name="connsiteY17" fmla="*/ 311 h 356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17403" h="3560912">
                <a:moveTo>
                  <a:pt x="1248336" y="311"/>
                </a:moveTo>
                <a:cubicBezTo>
                  <a:pt x="1427668" y="-4429"/>
                  <a:pt x="1609201" y="45149"/>
                  <a:pt x="1758858" y="143801"/>
                </a:cubicBezTo>
                <a:cubicBezTo>
                  <a:pt x="1927438" y="254398"/>
                  <a:pt x="2054143" y="418685"/>
                  <a:pt x="2201249" y="558275"/>
                </a:cubicBezTo>
                <a:cubicBezTo>
                  <a:pt x="2201249" y="559348"/>
                  <a:pt x="2202322" y="559348"/>
                  <a:pt x="2203397" y="560422"/>
                </a:cubicBezTo>
                <a:cubicBezTo>
                  <a:pt x="2339764" y="689274"/>
                  <a:pt x="2509419" y="777323"/>
                  <a:pt x="2691959" y="818126"/>
                </a:cubicBezTo>
                <a:cubicBezTo>
                  <a:pt x="2743500" y="829937"/>
                  <a:pt x="2796115" y="842822"/>
                  <a:pt x="2847656" y="855707"/>
                </a:cubicBezTo>
                <a:cubicBezTo>
                  <a:pt x="3130056" y="927650"/>
                  <a:pt x="3412457" y="1038247"/>
                  <a:pt x="3618620" y="1243337"/>
                </a:cubicBezTo>
                <a:cubicBezTo>
                  <a:pt x="3829078" y="1451647"/>
                  <a:pt x="3945044" y="1754449"/>
                  <a:pt x="3911757" y="2048661"/>
                </a:cubicBezTo>
                <a:cubicBezTo>
                  <a:pt x="3880619" y="2342872"/>
                  <a:pt x="3695931" y="2619904"/>
                  <a:pt x="3429637" y="2748756"/>
                </a:cubicBezTo>
                <a:cubicBezTo>
                  <a:pt x="3220252" y="2849690"/>
                  <a:pt x="2980803" y="2859353"/>
                  <a:pt x="2749943" y="2891566"/>
                </a:cubicBezTo>
                <a:cubicBezTo>
                  <a:pt x="2410633" y="2938812"/>
                  <a:pt x="2077765" y="3039746"/>
                  <a:pt x="1768521" y="3189000"/>
                </a:cubicBezTo>
                <a:cubicBezTo>
                  <a:pt x="1481826" y="3328589"/>
                  <a:pt x="1204794" y="3512202"/>
                  <a:pt x="888033" y="3553005"/>
                </a:cubicBezTo>
                <a:cubicBezTo>
                  <a:pt x="679722" y="3579850"/>
                  <a:pt x="459601" y="3539047"/>
                  <a:pt x="287799" y="3419860"/>
                </a:cubicBezTo>
                <a:cubicBezTo>
                  <a:pt x="115996" y="3300671"/>
                  <a:pt x="-2118" y="3098803"/>
                  <a:pt x="29" y="2889418"/>
                </a:cubicBezTo>
                <a:cubicBezTo>
                  <a:pt x="4325" y="2465282"/>
                  <a:pt x="458527" y="2169996"/>
                  <a:pt x="540133" y="1753375"/>
                </a:cubicBezTo>
                <a:cubicBezTo>
                  <a:pt x="606706" y="1415139"/>
                  <a:pt x="415576" y="1073682"/>
                  <a:pt x="448863" y="731150"/>
                </a:cubicBezTo>
                <a:cubicBezTo>
                  <a:pt x="476781" y="444456"/>
                  <a:pt x="672207" y="183530"/>
                  <a:pt x="935279" y="68638"/>
                </a:cubicBezTo>
                <a:cubicBezTo>
                  <a:pt x="1033931" y="25553"/>
                  <a:pt x="1140737" y="3154"/>
                  <a:pt x="1248336" y="311"/>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1918695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 presetClass="emph" presetSubtype="0" decel="100000" fill="hold" grpId="1" nodeType="withEffect">
                                  <p:stCondLst>
                                    <p:cond delay="0"/>
                                  </p:stCondLst>
                                  <p:childTnLst>
                                    <p:animScale>
                                      <p:cBhvr>
                                        <p:cTn id="9" dur="3000" fill="hold"/>
                                        <p:tgtEl>
                                          <p:spTgt spid="7"/>
                                        </p:tgtEl>
                                      </p:cBhvr>
                                      <p:by x="108000" y="108000"/>
                                    </p:animScale>
                                  </p:childTnLst>
                                </p:cTn>
                              </p:par>
                              <p:par>
                                <p:cTn id="10" presetID="10" presetClass="entr" presetSubtype="0" fill="hold" grpId="0" nodeType="withEffect">
                                  <p:stCondLst>
                                    <p:cond delay="25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6" presetClass="emph" presetSubtype="0" decel="100000" fill="hold" grpId="1" nodeType="withEffect">
                                  <p:stCondLst>
                                    <p:cond delay="250"/>
                                  </p:stCondLst>
                                  <p:childTnLst>
                                    <p:animScale>
                                      <p:cBhvr>
                                        <p:cTn id="14" dur="3000" fill="hold"/>
                                        <p:tgtEl>
                                          <p:spTgt spid="10"/>
                                        </p:tgtEl>
                                      </p:cBhvr>
                                      <p:by x="108000" y="108000"/>
                                    </p:animScale>
                                  </p:childTnLst>
                                </p:cTn>
                              </p:par>
                              <p:par>
                                <p:cTn id="15" presetID="10" presetClass="entr" presetSubtype="0" fill="hold" grpId="0" nodeType="withEffect">
                                  <p:stCondLst>
                                    <p:cond delay="5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6" presetClass="emph" presetSubtype="0" decel="100000" fill="hold" grpId="1" nodeType="withEffect">
                                  <p:stCondLst>
                                    <p:cond delay="500"/>
                                  </p:stCondLst>
                                  <p:childTnLst>
                                    <p:animScale>
                                      <p:cBhvr>
                                        <p:cTn id="19" dur="3000" fill="hold"/>
                                        <p:tgtEl>
                                          <p:spTgt spid="13"/>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0" grpId="0" animBg="1"/>
      <p:bldP spid="10" grpId="1" animBg="1"/>
      <p:bldP spid="7" grpId="0" animBg="1"/>
      <p:bldP spid="7" grpId="1" animBg="1"/>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57_Title and Content">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3DBA0926-5713-485D-95C3-86A3D012B818}"/>
              </a:ext>
            </a:extLst>
          </p:cNvPr>
          <p:cNvSpPr/>
          <p:nvPr userDrawn="1"/>
        </p:nvSpPr>
        <p:spPr>
          <a:xfrm>
            <a:off x="0" y="-117403"/>
            <a:ext cx="6249531" cy="6259150"/>
          </a:xfrm>
          <a:custGeom>
            <a:avLst/>
            <a:gdLst>
              <a:gd name="connsiteX0" fmla="*/ 0 w 6249531"/>
              <a:gd name="connsiteY0" fmla="*/ 0 h 6259150"/>
              <a:gd name="connsiteX1" fmla="*/ 5794633 w 6249531"/>
              <a:gd name="connsiteY1" fmla="*/ 0 h 6259150"/>
              <a:gd name="connsiteX2" fmla="*/ 5832298 w 6249531"/>
              <a:gd name="connsiteY2" fmla="*/ 44579 h 6259150"/>
              <a:gd name="connsiteX3" fmla="*/ 6242094 w 6249531"/>
              <a:gd name="connsiteY3" fmla="*/ 1365061 h 6259150"/>
              <a:gd name="connsiteX4" fmla="*/ 4068348 w 6249531"/>
              <a:gd name="connsiteY4" fmla="*/ 3504072 h 6259150"/>
              <a:gd name="connsiteX5" fmla="*/ 2151623 w 6249531"/>
              <a:gd name="connsiteY5" fmla="*/ 3799886 h 6259150"/>
              <a:gd name="connsiteX6" fmla="*/ 1013465 w 6249531"/>
              <a:gd name="connsiteY6" fmla="*/ 5697712 h 6259150"/>
              <a:gd name="connsiteX7" fmla="*/ 52895 w 6249531"/>
              <a:gd name="connsiteY7" fmla="*/ 6255593 h 6259150"/>
              <a:gd name="connsiteX8" fmla="*/ 0 w 6249531"/>
              <a:gd name="connsiteY8" fmla="*/ 6247643 h 6259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9531" h="6259150">
                <a:moveTo>
                  <a:pt x="0" y="0"/>
                </a:moveTo>
                <a:lnTo>
                  <a:pt x="5794633" y="0"/>
                </a:lnTo>
                <a:lnTo>
                  <a:pt x="5832298" y="44579"/>
                </a:lnTo>
                <a:cubicBezTo>
                  <a:pt x="6123667" y="424704"/>
                  <a:pt x="6287269" y="900067"/>
                  <a:pt x="6242094" y="1365061"/>
                </a:cubicBezTo>
                <a:cubicBezTo>
                  <a:pt x="6138845" y="2427898"/>
                  <a:pt x="5158969" y="3282802"/>
                  <a:pt x="4068348" y="3504072"/>
                </a:cubicBezTo>
                <a:cubicBezTo>
                  <a:pt x="3433370" y="3635868"/>
                  <a:pt x="2759675" y="3584770"/>
                  <a:pt x="2151623" y="3799886"/>
                </a:cubicBezTo>
                <a:cubicBezTo>
                  <a:pt x="1097607" y="4173163"/>
                  <a:pt x="1398690" y="4961870"/>
                  <a:pt x="1013465" y="5697712"/>
                </a:cubicBezTo>
                <a:cubicBezTo>
                  <a:pt x="787471" y="6129456"/>
                  <a:pt x="424125" y="6285479"/>
                  <a:pt x="52895" y="6255593"/>
                </a:cubicBezTo>
                <a:lnTo>
                  <a:pt x="0" y="624764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Picture Placeholder 12">
            <a:extLst>
              <a:ext uri="{FF2B5EF4-FFF2-40B4-BE49-F238E27FC236}">
                <a16:creationId xmlns:a16="http://schemas.microsoft.com/office/drawing/2014/main" id="{42B9D439-AAAE-48DC-AA04-0C328A789C1A}"/>
              </a:ext>
            </a:extLst>
          </p:cNvPr>
          <p:cNvSpPr>
            <a:spLocks noGrp="1"/>
          </p:cNvSpPr>
          <p:nvPr>
            <p:ph type="pic" sz="quarter" idx="12" hasCustomPrompt="1"/>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lumMod val="95000"/>
              <a:alpha val="25000"/>
            </a:schemeClr>
          </a:solidFill>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A278C9AB-1E88-4835-ACEC-F8557A111475}"/>
              </a:ext>
            </a:extLst>
          </p:cNvPr>
          <p:cNvSpPr>
            <a:spLocks noGrp="1"/>
          </p:cNvSpPr>
          <p:nvPr>
            <p:ph type="pic" sz="quarter" idx="11" hasCustomPrompt="1"/>
          </p:nvPr>
        </p:nvSpPr>
        <p:spPr>
          <a:xfrm>
            <a:off x="6799558" y="2175379"/>
            <a:ext cx="4300242" cy="2522227"/>
          </a:xfrm>
          <a:custGeom>
            <a:avLst/>
            <a:gdLst>
              <a:gd name="connsiteX0" fmla="*/ 420380 w 4300242"/>
              <a:gd name="connsiteY0" fmla="*/ 0 h 2522227"/>
              <a:gd name="connsiteX1" fmla="*/ 3879862 w 4300242"/>
              <a:gd name="connsiteY1" fmla="*/ 0 h 2522227"/>
              <a:gd name="connsiteX2" fmla="*/ 4300242 w 4300242"/>
              <a:gd name="connsiteY2" fmla="*/ 420380 h 2522227"/>
              <a:gd name="connsiteX3" fmla="*/ 4300242 w 4300242"/>
              <a:gd name="connsiteY3" fmla="*/ 2101847 h 2522227"/>
              <a:gd name="connsiteX4" fmla="*/ 3879862 w 4300242"/>
              <a:gd name="connsiteY4" fmla="*/ 2522227 h 2522227"/>
              <a:gd name="connsiteX5" fmla="*/ 420380 w 4300242"/>
              <a:gd name="connsiteY5" fmla="*/ 2522227 h 2522227"/>
              <a:gd name="connsiteX6" fmla="*/ 0 w 4300242"/>
              <a:gd name="connsiteY6" fmla="*/ 2101847 h 2522227"/>
              <a:gd name="connsiteX7" fmla="*/ 0 w 4300242"/>
              <a:gd name="connsiteY7" fmla="*/ 420380 h 2522227"/>
              <a:gd name="connsiteX8" fmla="*/ 420380 w 4300242"/>
              <a:gd name="connsiteY8" fmla="*/ 0 h 25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00242" h="2522227">
                <a:moveTo>
                  <a:pt x="420380" y="0"/>
                </a:moveTo>
                <a:lnTo>
                  <a:pt x="3879862" y="0"/>
                </a:lnTo>
                <a:cubicBezTo>
                  <a:pt x="4112031" y="0"/>
                  <a:pt x="4300242" y="188211"/>
                  <a:pt x="4300242" y="420380"/>
                </a:cubicBezTo>
                <a:lnTo>
                  <a:pt x="4300242" y="2101847"/>
                </a:lnTo>
                <a:cubicBezTo>
                  <a:pt x="4300242" y="2334016"/>
                  <a:pt x="4112031" y="2522227"/>
                  <a:pt x="3879862" y="2522227"/>
                </a:cubicBezTo>
                <a:lnTo>
                  <a:pt x="420380" y="2522227"/>
                </a:lnTo>
                <a:cubicBezTo>
                  <a:pt x="188211" y="2522227"/>
                  <a:pt x="0" y="2334016"/>
                  <a:pt x="0" y="2101847"/>
                </a:cubicBezTo>
                <a:lnTo>
                  <a:pt x="0" y="420380"/>
                </a:lnTo>
                <a:cubicBezTo>
                  <a:pt x="0" y="188211"/>
                  <a:pt x="188211" y="0"/>
                  <a:pt x="420380" y="0"/>
                </a:cubicBezTo>
                <a:close/>
              </a:path>
            </a:pathLst>
          </a:custGeom>
          <a:solidFill>
            <a:schemeClr val="bg1">
              <a:lumMod val="95000"/>
              <a:alpha val="25000"/>
            </a:schemeClr>
          </a:solidFill>
          <a:effectLst>
            <a:outerShdw blurRad="901700" dist="495300" dir="18900000" sx="84000" sy="84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7" name="Picture Placeholder 6">
            <a:extLst>
              <a:ext uri="{FF2B5EF4-FFF2-40B4-BE49-F238E27FC236}">
                <a16:creationId xmlns:a16="http://schemas.microsoft.com/office/drawing/2014/main" id="{589EFD7C-1F4A-46B7-B4D5-F5AB56B5C228}"/>
              </a:ext>
            </a:extLst>
          </p:cNvPr>
          <p:cNvSpPr>
            <a:spLocks noGrp="1"/>
          </p:cNvSpPr>
          <p:nvPr>
            <p:ph type="pic" sz="quarter" idx="10" hasCustomPrompt="1"/>
          </p:nvPr>
        </p:nvSpPr>
        <p:spPr>
          <a:xfrm>
            <a:off x="4411966" y="3436494"/>
            <a:ext cx="4775183" cy="2800795"/>
          </a:xfrm>
          <a:custGeom>
            <a:avLst/>
            <a:gdLst>
              <a:gd name="connsiteX0" fmla="*/ 466809 w 4775183"/>
              <a:gd name="connsiteY0" fmla="*/ 0 h 2800795"/>
              <a:gd name="connsiteX1" fmla="*/ 4308374 w 4775183"/>
              <a:gd name="connsiteY1" fmla="*/ 0 h 2800795"/>
              <a:gd name="connsiteX2" fmla="*/ 4775183 w 4775183"/>
              <a:gd name="connsiteY2" fmla="*/ 466809 h 2800795"/>
              <a:gd name="connsiteX3" fmla="*/ 4775183 w 4775183"/>
              <a:gd name="connsiteY3" fmla="*/ 2333986 h 2800795"/>
              <a:gd name="connsiteX4" fmla="*/ 4308374 w 4775183"/>
              <a:gd name="connsiteY4" fmla="*/ 2800795 h 2800795"/>
              <a:gd name="connsiteX5" fmla="*/ 466809 w 4775183"/>
              <a:gd name="connsiteY5" fmla="*/ 2800795 h 2800795"/>
              <a:gd name="connsiteX6" fmla="*/ 0 w 4775183"/>
              <a:gd name="connsiteY6" fmla="*/ 2333986 h 2800795"/>
              <a:gd name="connsiteX7" fmla="*/ 0 w 4775183"/>
              <a:gd name="connsiteY7" fmla="*/ 466809 h 2800795"/>
              <a:gd name="connsiteX8" fmla="*/ 466809 w 4775183"/>
              <a:gd name="connsiteY8" fmla="*/ 0 h 280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5183" h="2800795">
                <a:moveTo>
                  <a:pt x="466809" y="0"/>
                </a:moveTo>
                <a:lnTo>
                  <a:pt x="4308374" y="0"/>
                </a:lnTo>
                <a:cubicBezTo>
                  <a:pt x="4566185" y="0"/>
                  <a:pt x="4775183" y="208998"/>
                  <a:pt x="4775183" y="466809"/>
                </a:cubicBezTo>
                <a:lnTo>
                  <a:pt x="4775183" y="2333986"/>
                </a:lnTo>
                <a:cubicBezTo>
                  <a:pt x="4775183" y="2591797"/>
                  <a:pt x="4566185" y="2800795"/>
                  <a:pt x="4308374" y="2800795"/>
                </a:cubicBezTo>
                <a:lnTo>
                  <a:pt x="466809" y="2800795"/>
                </a:lnTo>
                <a:cubicBezTo>
                  <a:pt x="208998" y="2800795"/>
                  <a:pt x="0" y="2591797"/>
                  <a:pt x="0" y="2333986"/>
                </a:cubicBezTo>
                <a:lnTo>
                  <a:pt x="0" y="466809"/>
                </a:lnTo>
                <a:cubicBezTo>
                  <a:pt x="0" y="208998"/>
                  <a:pt x="208998" y="0"/>
                  <a:pt x="466809" y="0"/>
                </a:cubicBezTo>
                <a:close/>
              </a:path>
            </a:pathLst>
          </a:custGeom>
          <a:solidFill>
            <a:schemeClr val="bg1">
              <a:lumMod val="95000"/>
              <a:alpha val="25000"/>
            </a:schemeClr>
          </a:solidFill>
          <a:effectLst>
            <a:outerShdw blurRad="977900" dist="685800" dir="18900000" sx="87000" sy="87000" algn="bl" rotWithShape="0">
              <a:prstClr val="black">
                <a:alpha val="15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4785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6" presetClass="emph" presetSubtype="0" decel="100000" fill="hold" grpId="1" nodeType="withEffect">
                                  <p:stCondLst>
                                    <p:cond delay="0"/>
                                  </p:stCondLst>
                                  <p:childTnLst>
                                    <p:animScale>
                                      <p:cBhvr>
                                        <p:cTn id="9" dur="3000" fill="hold"/>
                                        <p:tgtEl>
                                          <p:spTgt spid="14"/>
                                        </p:tgtEl>
                                      </p:cBhvr>
                                      <p:by x="108000" y="108000"/>
                                    </p:animScale>
                                  </p:childTnLst>
                                </p:cTn>
                              </p:par>
                              <p:par>
                                <p:cTn id="10" presetID="2" presetClass="entr" presetSubtype="4" decel="10000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1000" fill="hold"/>
                                        <p:tgtEl>
                                          <p:spTgt spid="7"/>
                                        </p:tgtEl>
                                        <p:attrNameLst>
                                          <p:attrName>ppt_x</p:attrName>
                                        </p:attrNameLst>
                                      </p:cBhvr>
                                      <p:tavLst>
                                        <p:tav tm="0">
                                          <p:val>
                                            <p:strVal val="#ppt_x"/>
                                          </p:val>
                                        </p:tav>
                                        <p:tav tm="100000">
                                          <p:val>
                                            <p:strVal val="#ppt_x"/>
                                          </p:val>
                                        </p:tav>
                                      </p:tavLst>
                                    </p:anim>
                                    <p:anim calcmode="lin" valueType="num">
                                      <p:cBhvr additive="base">
                                        <p:cTn id="13" dur="1000" fill="hold"/>
                                        <p:tgtEl>
                                          <p:spTgt spid="7"/>
                                        </p:tgtEl>
                                        <p:attrNameLst>
                                          <p:attrName>ppt_y</p:attrName>
                                        </p:attrNameLst>
                                      </p:cBhvr>
                                      <p:tavLst>
                                        <p:tav tm="0">
                                          <p:val>
                                            <p:strVal val="1+#ppt_h/2"/>
                                          </p:val>
                                        </p:tav>
                                        <p:tav tm="100000">
                                          <p:val>
                                            <p:strVal val="#ppt_y"/>
                                          </p:val>
                                        </p:tav>
                                      </p:tavLst>
                                    </p:anim>
                                  </p:childTnLst>
                                </p:cTn>
                              </p:par>
                              <p:par>
                                <p:cTn id="14" presetID="2" presetClass="entr" presetSubtype="4" decel="100000" fill="hold" grpId="0" nodeType="withEffect">
                                  <p:stCondLst>
                                    <p:cond delay="25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1000" fill="hold"/>
                                        <p:tgtEl>
                                          <p:spTgt spid="10"/>
                                        </p:tgtEl>
                                        <p:attrNameLst>
                                          <p:attrName>ppt_x</p:attrName>
                                        </p:attrNameLst>
                                      </p:cBhvr>
                                      <p:tavLst>
                                        <p:tav tm="0">
                                          <p:val>
                                            <p:strVal val="#ppt_x"/>
                                          </p:val>
                                        </p:tav>
                                        <p:tav tm="100000">
                                          <p:val>
                                            <p:strVal val="#ppt_x"/>
                                          </p:val>
                                        </p:tav>
                                      </p:tavLst>
                                    </p:anim>
                                    <p:anim calcmode="lin" valueType="num">
                                      <p:cBhvr additive="base">
                                        <p:cTn id="17" dur="1000" fill="hold"/>
                                        <p:tgtEl>
                                          <p:spTgt spid="10"/>
                                        </p:tgtEl>
                                        <p:attrNameLst>
                                          <p:attrName>ppt_y</p:attrName>
                                        </p:attrNameLst>
                                      </p:cBhvr>
                                      <p:tavLst>
                                        <p:tav tm="0">
                                          <p:val>
                                            <p:strVal val="1+#ppt_h/2"/>
                                          </p:val>
                                        </p:tav>
                                        <p:tav tm="100000">
                                          <p:val>
                                            <p:strVal val="#ppt_y"/>
                                          </p:val>
                                        </p:tav>
                                      </p:tavLst>
                                    </p:anim>
                                  </p:childTnLst>
                                </p:cTn>
                              </p:par>
                              <p:par>
                                <p:cTn id="18" presetID="2" presetClass="entr" presetSubtype="4" decel="100000" fill="hold" grpId="0" nodeType="withEffect">
                                  <p:stCondLst>
                                    <p:cond delay="50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1000" fill="hold"/>
                                        <p:tgtEl>
                                          <p:spTgt spid="13"/>
                                        </p:tgtEl>
                                        <p:attrNameLst>
                                          <p:attrName>ppt_x</p:attrName>
                                        </p:attrNameLst>
                                      </p:cBhvr>
                                      <p:tavLst>
                                        <p:tav tm="0">
                                          <p:val>
                                            <p:strVal val="#ppt_x"/>
                                          </p:val>
                                        </p:tav>
                                        <p:tav tm="100000">
                                          <p:val>
                                            <p:strVal val="#ppt_x"/>
                                          </p:val>
                                        </p:tav>
                                      </p:tavLst>
                                    </p:anim>
                                    <p:anim calcmode="lin" valueType="num">
                                      <p:cBhvr additive="base">
                                        <p:cTn id="21"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3" grpId="0" animBg="1"/>
      <p:bldP spid="10" grpId="0" animBg="1"/>
      <p:bldP spid="7" grpId="0" animBg="1"/>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8_Title and Content">
    <p:spTree>
      <p:nvGrpSpPr>
        <p:cNvPr id="1" name=""/>
        <p:cNvGrpSpPr/>
        <p:nvPr/>
      </p:nvGrpSpPr>
      <p:grpSpPr>
        <a:xfrm>
          <a:off x="0" y="0"/>
          <a:ext cx="0" cy="0"/>
          <a:chOff x="0" y="0"/>
          <a:chExt cx="0" cy="0"/>
        </a:xfrm>
      </p:grpSpPr>
      <p:sp>
        <p:nvSpPr>
          <p:cNvPr id="12" name="Rectangle: Single Corner Rounded 11">
            <a:extLst>
              <a:ext uri="{FF2B5EF4-FFF2-40B4-BE49-F238E27FC236}">
                <a16:creationId xmlns:a16="http://schemas.microsoft.com/office/drawing/2014/main" id="{4C24B779-E90C-48FB-A6A4-AEF3C6700498}"/>
              </a:ext>
            </a:extLst>
          </p:cNvPr>
          <p:cNvSpPr/>
          <p:nvPr userDrawn="1"/>
        </p:nvSpPr>
        <p:spPr>
          <a:xfrm flipH="1">
            <a:off x="4008120" y="2148839"/>
            <a:ext cx="8183880" cy="4709161"/>
          </a:xfrm>
          <a:prstGeom prst="round1Rect">
            <a:avLst>
              <a:gd name="adj" fmla="val 85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Picture Placeholder 8">
            <a:extLst>
              <a:ext uri="{FF2B5EF4-FFF2-40B4-BE49-F238E27FC236}">
                <a16:creationId xmlns:a16="http://schemas.microsoft.com/office/drawing/2014/main" id="{695B771F-E549-4F6E-B2ED-962B9DA4802F}"/>
              </a:ext>
            </a:extLst>
          </p:cNvPr>
          <p:cNvSpPr>
            <a:spLocks noGrp="1"/>
          </p:cNvSpPr>
          <p:nvPr>
            <p:ph type="pic" sz="quarter" idx="10" hasCustomPrompt="1"/>
          </p:nvPr>
        </p:nvSpPr>
        <p:spPr>
          <a:xfrm>
            <a:off x="419020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0" name="Picture Placeholder 9">
            <a:extLst>
              <a:ext uri="{FF2B5EF4-FFF2-40B4-BE49-F238E27FC236}">
                <a16:creationId xmlns:a16="http://schemas.microsoft.com/office/drawing/2014/main" id="{5E20149C-79E7-49C2-83BD-8D85DEDE7A32}"/>
              </a:ext>
            </a:extLst>
          </p:cNvPr>
          <p:cNvSpPr>
            <a:spLocks noGrp="1"/>
          </p:cNvSpPr>
          <p:nvPr>
            <p:ph type="pic" sz="quarter" idx="11" hasCustomPrompt="1"/>
          </p:nvPr>
        </p:nvSpPr>
        <p:spPr>
          <a:xfrm>
            <a:off x="6725316"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1" name="Picture Placeholder 10">
            <a:extLst>
              <a:ext uri="{FF2B5EF4-FFF2-40B4-BE49-F238E27FC236}">
                <a16:creationId xmlns:a16="http://schemas.microsoft.com/office/drawing/2014/main" id="{E6F2E8B5-58B2-456E-A791-1CB360904122}"/>
              </a:ext>
            </a:extLst>
          </p:cNvPr>
          <p:cNvSpPr>
            <a:spLocks noGrp="1"/>
          </p:cNvSpPr>
          <p:nvPr>
            <p:ph type="pic" sz="quarter" idx="12" hasCustomPrompt="1"/>
          </p:nvPr>
        </p:nvSpPr>
        <p:spPr>
          <a:xfrm>
            <a:off x="9260432" y="2330244"/>
            <a:ext cx="2359577" cy="2317741"/>
          </a:xfrm>
          <a:custGeom>
            <a:avLst/>
            <a:gdLst>
              <a:gd name="connsiteX0" fmla="*/ 301837 w 2359577"/>
              <a:gd name="connsiteY0" fmla="*/ 0 h 2317741"/>
              <a:gd name="connsiteX1" fmla="*/ 2057740 w 2359577"/>
              <a:gd name="connsiteY1" fmla="*/ 0 h 2317741"/>
              <a:gd name="connsiteX2" fmla="*/ 2359577 w 2359577"/>
              <a:gd name="connsiteY2" fmla="*/ 301837 h 2317741"/>
              <a:gd name="connsiteX3" fmla="*/ 2359577 w 2359577"/>
              <a:gd name="connsiteY3" fmla="*/ 1979836 h 2317741"/>
              <a:gd name="connsiteX4" fmla="*/ 2286634 w 2359577"/>
              <a:gd name="connsiteY4" fmla="*/ 2011483 h 2317741"/>
              <a:gd name="connsiteX5" fmla="*/ 593048 w 2359577"/>
              <a:gd name="connsiteY5" fmla="*/ 2317741 h 2317741"/>
              <a:gd name="connsiteX6" fmla="*/ 229771 w 2359577"/>
              <a:gd name="connsiteY6" fmla="*/ 2304641 h 2317741"/>
              <a:gd name="connsiteX7" fmla="*/ 0 w 2359577"/>
              <a:gd name="connsiteY7" fmla="*/ 2279597 h 2317741"/>
              <a:gd name="connsiteX8" fmla="*/ 0 w 2359577"/>
              <a:gd name="connsiteY8" fmla="*/ 301837 h 2317741"/>
              <a:gd name="connsiteX9" fmla="*/ 301837 w 2359577"/>
              <a:gd name="connsiteY9" fmla="*/ 0 h 2317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59577" h="2317741">
                <a:moveTo>
                  <a:pt x="301837" y="0"/>
                </a:moveTo>
                <a:lnTo>
                  <a:pt x="2057740" y="0"/>
                </a:lnTo>
                <a:cubicBezTo>
                  <a:pt x="2224440" y="0"/>
                  <a:pt x="2359577" y="135137"/>
                  <a:pt x="2359577" y="301837"/>
                </a:cubicBezTo>
                <a:lnTo>
                  <a:pt x="2359577" y="1979836"/>
                </a:lnTo>
                <a:lnTo>
                  <a:pt x="2286634" y="2011483"/>
                </a:lnTo>
                <a:cubicBezTo>
                  <a:pt x="1783193" y="2206798"/>
                  <a:pt x="1206262" y="2317741"/>
                  <a:pt x="593048" y="2317741"/>
                </a:cubicBezTo>
                <a:cubicBezTo>
                  <a:pt x="470405" y="2317741"/>
                  <a:pt x="349214" y="2313304"/>
                  <a:pt x="229771" y="2304641"/>
                </a:cubicBezTo>
                <a:lnTo>
                  <a:pt x="0" y="2279597"/>
                </a:lnTo>
                <a:lnTo>
                  <a:pt x="0" y="301837"/>
                </a:lnTo>
                <a:cubicBezTo>
                  <a:pt x="0" y="135137"/>
                  <a:pt x="135137" y="0"/>
                  <a:pt x="301837" y="0"/>
                </a:cubicBezTo>
                <a:close/>
              </a:path>
            </a:pathLst>
          </a:custGeom>
          <a:solidFill>
            <a:schemeClr val="bg1">
              <a:lumMod val="95000"/>
              <a:alpha val="25000"/>
            </a:schemeClr>
          </a:solidFill>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9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13" name="TextBox 12">
            <a:extLst>
              <a:ext uri="{FF2B5EF4-FFF2-40B4-BE49-F238E27FC236}">
                <a16:creationId xmlns:a16="http://schemas.microsoft.com/office/drawing/2014/main" id="{EA5BA95C-0816-4264-AC24-7743EBA8B584}"/>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21" name="Freeform: Shape 20">
            <a:extLst>
              <a:ext uri="{FF2B5EF4-FFF2-40B4-BE49-F238E27FC236}">
                <a16:creationId xmlns:a16="http://schemas.microsoft.com/office/drawing/2014/main" id="{1BEC274A-E58E-4712-B844-2B5B4F2C40E8}"/>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Tree>
    <p:extLst>
      <p:ext uri="{BB962C8B-B14F-4D97-AF65-F5344CB8AC3E}">
        <p14:creationId xmlns:p14="http://schemas.microsoft.com/office/powerpoint/2010/main" val="3842789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1000" fill="hold"/>
                                        <p:tgtEl>
                                          <p:spTgt spid="12"/>
                                        </p:tgtEl>
                                        <p:attrNameLst>
                                          <p:attrName>ppt_x</p:attrName>
                                        </p:attrNameLst>
                                      </p:cBhvr>
                                      <p:tavLst>
                                        <p:tav tm="0">
                                          <p:val>
                                            <p:strVal val="1+#ppt_w/2"/>
                                          </p:val>
                                        </p:tav>
                                        <p:tav tm="100000">
                                          <p:val>
                                            <p:strVal val="#ppt_x"/>
                                          </p:val>
                                        </p:tav>
                                      </p:tavLst>
                                    </p:anim>
                                    <p:anim calcmode="lin" valueType="num">
                                      <p:cBhvr additive="base">
                                        <p:cTn id="8" dur="1000" fill="hold"/>
                                        <p:tgtEl>
                                          <p:spTgt spid="12"/>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500"/>
                                        <p:tgtEl>
                                          <p:spTgt spid="21"/>
                                        </p:tgtEl>
                                      </p:cBhvr>
                                    </p:animEffect>
                                  </p:childTnLst>
                                </p:cTn>
                              </p:par>
                              <p:par>
                                <p:cTn id="15" presetID="10" presetClass="entr" presetSubtype="0" fill="hold" grpId="0" nodeType="withEffect">
                                  <p:stCondLst>
                                    <p:cond delay="10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50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 grpId="0" animBg="1"/>
      <p:bldP spid="10" grpId="0" animBg="1"/>
      <p:bldP spid="11" grpId="0" animBg="1"/>
      <p:bldP spid="13" grpId="0"/>
      <p:bldP spid="21" grpId="0" animBg="1"/>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9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EAC8A41A-9F31-4393-B83C-097A612761E9}"/>
              </a:ext>
            </a:extLst>
          </p:cNvPr>
          <p:cNvSpPr>
            <a:spLocks noGrp="1"/>
          </p:cNvSpPr>
          <p:nvPr>
            <p:ph type="pic" sz="quarter" idx="10" hasCustomPrompt="1"/>
          </p:nvPr>
        </p:nvSpPr>
        <p:spPr>
          <a:xfrm>
            <a:off x="1092200"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495300" dir="10800000" sx="88000" sy="88000" algn="l" rotWithShape="0">
              <a:prstClr val="black">
                <a:alpha val="17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DA8A8680-19DC-4C7C-BCB5-8BE4DEBA6793}"/>
              </a:ext>
            </a:extLst>
          </p:cNvPr>
          <p:cNvSpPr>
            <a:spLocks noGrp="1"/>
          </p:cNvSpPr>
          <p:nvPr>
            <p:ph type="pic" sz="quarter" idx="11" hasCustomPrompt="1"/>
          </p:nvPr>
        </p:nvSpPr>
        <p:spPr>
          <a:xfrm>
            <a:off x="8770136" y="2068643"/>
            <a:ext cx="2127446" cy="3281152"/>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16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9" name="Picture Placeholder 8">
            <a:extLst>
              <a:ext uri="{FF2B5EF4-FFF2-40B4-BE49-F238E27FC236}">
                <a16:creationId xmlns:a16="http://schemas.microsoft.com/office/drawing/2014/main" id="{DD6EE318-7AB3-4720-9075-16439EDA9682}"/>
              </a:ext>
            </a:extLst>
          </p:cNvPr>
          <p:cNvSpPr>
            <a:spLocks noGrp="1"/>
          </p:cNvSpPr>
          <p:nvPr>
            <p:ph type="pic" sz="quarter" idx="12" hasCustomPrompt="1"/>
          </p:nvPr>
        </p:nvSpPr>
        <p:spPr>
          <a:xfrm>
            <a:off x="6449962" y="1779884"/>
            <a:ext cx="2501900" cy="3858670"/>
          </a:xfrm>
          <a:custGeom>
            <a:avLst/>
            <a:gdLst>
              <a:gd name="connsiteX0" fmla="*/ 187743 w 2501900"/>
              <a:gd name="connsiteY0" fmla="*/ 0 h 3858670"/>
              <a:gd name="connsiteX1" fmla="*/ 2314157 w 2501900"/>
              <a:gd name="connsiteY1" fmla="*/ 0 h 3858670"/>
              <a:gd name="connsiteX2" fmla="*/ 2501900 w 2501900"/>
              <a:gd name="connsiteY2" fmla="*/ 187743 h 3858670"/>
              <a:gd name="connsiteX3" fmla="*/ 2501900 w 2501900"/>
              <a:gd name="connsiteY3" fmla="*/ 3670927 h 3858670"/>
              <a:gd name="connsiteX4" fmla="*/ 2314157 w 2501900"/>
              <a:gd name="connsiteY4" fmla="*/ 3858670 h 3858670"/>
              <a:gd name="connsiteX5" fmla="*/ 187743 w 2501900"/>
              <a:gd name="connsiteY5" fmla="*/ 3858670 h 3858670"/>
              <a:gd name="connsiteX6" fmla="*/ 0 w 2501900"/>
              <a:gd name="connsiteY6" fmla="*/ 3670927 h 3858670"/>
              <a:gd name="connsiteX7" fmla="*/ 0 w 2501900"/>
              <a:gd name="connsiteY7" fmla="*/ 187743 h 3858670"/>
              <a:gd name="connsiteX8" fmla="*/ 187743 w 2501900"/>
              <a:gd name="connsiteY8" fmla="*/ 0 h 385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1900" h="3858670">
                <a:moveTo>
                  <a:pt x="187743" y="0"/>
                </a:moveTo>
                <a:lnTo>
                  <a:pt x="2314157" y="0"/>
                </a:lnTo>
                <a:cubicBezTo>
                  <a:pt x="2417845" y="0"/>
                  <a:pt x="2501900" y="84055"/>
                  <a:pt x="2501900" y="187743"/>
                </a:cubicBezTo>
                <a:lnTo>
                  <a:pt x="2501900" y="3670927"/>
                </a:lnTo>
                <a:cubicBezTo>
                  <a:pt x="2501900" y="3774615"/>
                  <a:pt x="2417845" y="3858670"/>
                  <a:pt x="2314157" y="3858670"/>
                </a:cubicBezTo>
                <a:lnTo>
                  <a:pt x="187743" y="3858670"/>
                </a:lnTo>
                <a:cubicBezTo>
                  <a:pt x="84055" y="3858670"/>
                  <a:pt x="0" y="3774615"/>
                  <a:pt x="0" y="3670927"/>
                </a:cubicBezTo>
                <a:lnTo>
                  <a:pt x="0" y="187743"/>
                </a:lnTo>
                <a:cubicBezTo>
                  <a:pt x="0" y="84055"/>
                  <a:pt x="84055" y="0"/>
                  <a:pt x="187743" y="0"/>
                </a:cubicBezTo>
                <a:close/>
              </a:path>
            </a:pathLst>
          </a:custGeom>
          <a:solidFill>
            <a:schemeClr val="bg1">
              <a:lumMod val="95000"/>
              <a:alpha val="25000"/>
            </a:schemeClr>
          </a:solidFill>
          <a:effectLst>
            <a:outerShdw blurRad="1270000" dist="609600" sx="88000" sy="88000" algn="l" rotWithShape="0">
              <a:prstClr val="black">
                <a:alpha val="28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23470201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0_Title and Conten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640808-FF49-40B1-9478-5B58095D2032}"/>
              </a:ext>
            </a:extLst>
          </p:cNvPr>
          <p:cNvSpPr>
            <a:spLocks noGrp="1"/>
          </p:cNvSpPr>
          <p:nvPr>
            <p:ph type="pic" sz="quarter" idx="10" hasCustomPrompt="1"/>
          </p:nvPr>
        </p:nvSpPr>
        <p:spPr>
          <a:xfrm>
            <a:off x="4286599" y="3710467"/>
            <a:ext cx="3274244" cy="2233133"/>
          </a:xfrm>
          <a:custGeom>
            <a:avLst/>
            <a:gdLst>
              <a:gd name="connsiteX0" fmla="*/ 279700 w 3274244"/>
              <a:gd name="connsiteY0" fmla="*/ 0 h 2233133"/>
              <a:gd name="connsiteX1" fmla="*/ 2994544 w 3274244"/>
              <a:gd name="connsiteY1" fmla="*/ 0 h 2233133"/>
              <a:gd name="connsiteX2" fmla="*/ 3274244 w 3274244"/>
              <a:gd name="connsiteY2" fmla="*/ 279700 h 2233133"/>
              <a:gd name="connsiteX3" fmla="*/ 3274244 w 3274244"/>
              <a:gd name="connsiteY3" fmla="*/ 1953433 h 2233133"/>
              <a:gd name="connsiteX4" fmla="*/ 2994544 w 3274244"/>
              <a:gd name="connsiteY4" fmla="*/ 2233133 h 2233133"/>
              <a:gd name="connsiteX5" fmla="*/ 279700 w 3274244"/>
              <a:gd name="connsiteY5" fmla="*/ 2233133 h 2233133"/>
              <a:gd name="connsiteX6" fmla="*/ 0 w 3274244"/>
              <a:gd name="connsiteY6" fmla="*/ 1953433 h 2233133"/>
              <a:gd name="connsiteX7" fmla="*/ 0 w 3274244"/>
              <a:gd name="connsiteY7" fmla="*/ 279700 h 2233133"/>
              <a:gd name="connsiteX8" fmla="*/ 279700 w 3274244"/>
              <a:gd name="connsiteY8" fmla="*/ 0 h 223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4244" h="2233133">
                <a:moveTo>
                  <a:pt x="279700" y="0"/>
                </a:moveTo>
                <a:lnTo>
                  <a:pt x="2994544" y="0"/>
                </a:lnTo>
                <a:cubicBezTo>
                  <a:pt x="3149018" y="0"/>
                  <a:pt x="3274244" y="125226"/>
                  <a:pt x="3274244" y="279700"/>
                </a:cubicBezTo>
                <a:lnTo>
                  <a:pt x="3274244" y="1953433"/>
                </a:lnTo>
                <a:cubicBezTo>
                  <a:pt x="3274244" y="2107907"/>
                  <a:pt x="3149018" y="2233133"/>
                  <a:pt x="2994544" y="2233133"/>
                </a:cubicBezTo>
                <a:lnTo>
                  <a:pt x="279700" y="2233133"/>
                </a:lnTo>
                <a:cubicBezTo>
                  <a:pt x="125226" y="2233133"/>
                  <a:pt x="0" y="2107907"/>
                  <a:pt x="0" y="1953433"/>
                </a:cubicBezTo>
                <a:lnTo>
                  <a:pt x="0" y="279700"/>
                </a:lnTo>
                <a:cubicBezTo>
                  <a:pt x="0" y="125226"/>
                  <a:pt x="125226" y="0"/>
                  <a:pt x="279700"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
        <p:nvSpPr>
          <p:cNvPr id="8" name="Picture Placeholder 7">
            <a:extLst>
              <a:ext uri="{FF2B5EF4-FFF2-40B4-BE49-F238E27FC236}">
                <a16:creationId xmlns:a16="http://schemas.microsoft.com/office/drawing/2014/main" id="{EC13D04A-F323-4B74-98EF-4487A994691B}"/>
              </a:ext>
            </a:extLst>
          </p:cNvPr>
          <p:cNvSpPr>
            <a:spLocks noGrp="1"/>
          </p:cNvSpPr>
          <p:nvPr>
            <p:ph type="pic" sz="quarter" idx="11" hasCustomPrompt="1"/>
          </p:nvPr>
        </p:nvSpPr>
        <p:spPr>
          <a:xfrm>
            <a:off x="7734675" y="1737108"/>
            <a:ext cx="3358812" cy="3675551"/>
          </a:xfrm>
          <a:custGeom>
            <a:avLst/>
            <a:gdLst>
              <a:gd name="connsiteX0" fmla="*/ 420691 w 3358812"/>
              <a:gd name="connsiteY0" fmla="*/ 0 h 3675551"/>
              <a:gd name="connsiteX1" fmla="*/ 2938121 w 3358812"/>
              <a:gd name="connsiteY1" fmla="*/ 0 h 3675551"/>
              <a:gd name="connsiteX2" fmla="*/ 3358812 w 3358812"/>
              <a:gd name="connsiteY2" fmla="*/ 420691 h 3675551"/>
              <a:gd name="connsiteX3" fmla="*/ 3358812 w 3358812"/>
              <a:gd name="connsiteY3" fmla="*/ 3254860 h 3675551"/>
              <a:gd name="connsiteX4" fmla="*/ 2938121 w 3358812"/>
              <a:gd name="connsiteY4" fmla="*/ 3675551 h 3675551"/>
              <a:gd name="connsiteX5" fmla="*/ 420691 w 3358812"/>
              <a:gd name="connsiteY5" fmla="*/ 3675551 h 3675551"/>
              <a:gd name="connsiteX6" fmla="*/ 0 w 3358812"/>
              <a:gd name="connsiteY6" fmla="*/ 3254860 h 3675551"/>
              <a:gd name="connsiteX7" fmla="*/ 0 w 3358812"/>
              <a:gd name="connsiteY7" fmla="*/ 420691 h 3675551"/>
              <a:gd name="connsiteX8" fmla="*/ 420691 w 3358812"/>
              <a:gd name="connsiteY8" fmla="*/ 0 h 367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58812" h="3675551">
                <a:moveTo>
                  <a:pt x="420691" y="0"/>
                </a:moveTo>
                <a:lnTo>
                  <a:pt x="2938121" y="0"/>
                </a:lnTo>
                <a:cubicBezTo>
                  <a:pt x="3170462" y="0"/>
                  <a:pt x="3358812" y="188350"/>
                  <a:pt x="3358812" y="420691"/>
                </a:cubicBezTo>
                <a:lnTo>
                  <a:pt x="3358812" y="3254860"/>
                </a:lnTo>
                <a:cubicBezTo>
                  <a:pt x="3358812" y="3487201"/>
                  <a:pt x="3170462" y="3675551"/>
                  <a:pt x="2938121" y="3675551"/>
                </a:cubicBezTo>
                <a:lnTo>
                  <a:pt x="420691" y="3675551"/>
                </a:lnTo>
                <a:cubicBezTo>
                  <a:pt x="188350" y="3675551"/>
                  <a:pt x="0" y="3487201"/>
                  <a:pt x="0" y="3254860"/>
                </a:cubicBezTo>
                <a:lnTo>
                  <a:pt x="0" y="420691"/>
                </a:lnTo>
                <a:cubicBezTo>
                  <a:pt x="0" y="188350"/>
                  <a:pt x="188350" y="0"/>
                  <a:pt x="420691" y="0"/>
                </a:cubicBezTo>
                <a:close/>
              </a:path>
            </a:pathLst>
          </a:custGeom>
          <a:solidFill>
            <a:schemeClr val="bg1">
              <a:lumMod val="95000"/>
              <a:alpha val="25000"/>
            </a:schemeClr>
          </a:solidFill>
          <a:effectLst>
            <a:outerShdw blurRad="1130300" dist="622300" dir="5400000" sx="80000" sy="80000" algn="t" rotWithShape="0">
              <a:prstClr val="black">
                <a:alpha val="20000"/>
              </a:prstClr>
            </a:outerShdw>
          </a:effectLst>
        </p:spPr>
        <p:txBody>
          <a:bodyPr wrap="square">
            <a:noAutofit/>
          </a:bodyPr>
          <a:lstStyle>
            <a:lvl1pPr marL="0" marR="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sz="1200">
                <a:solidFill>
                  <a:schemeClr val="bg1">
                    <a:lumMod val="75000"/>
                  </a:schemeClr>
                </a:solidFill>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Image Placeholder</a:t>
            </a:r>
            <a:endParaRPr lang="en-GB"/>
          </a:p>
          <a:p>
            <a:endParaRPr lang="en-GB"/>
          </a:p>
        </p:txBody>
      </p:sp>
    </p:spTree>
    <p:extLst>
      <p:ext uri="{BB962C8B-B14F-4D97-AF65-F5344CB8AC3E}">
        <p14:creationId xmlns:p14="http://schemas.microsoft.com/office/powerpoint/2010/main" val="319150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1000" fill="hold"/>
                                        <p:tgtEl>
                                          <p:spTgt spid="7"/>
                                        </p:tgtEl>
                                        <p:attrNameLst>
                                          <p:attrName>ppt_x</p:attrName>
                                        </p:attrNameLst>
                                      </p:cBhvr>
                                      <p:tavLst>
                                        <p:tav tm="0">
                                          <p:val>
                                            <p:strVal val="#ppt_x"/>
                                          </p:val>
                                        </p:tav>
                                        <p:tav tm="100000">
                                          <p:val>
                                            <p:strVal val="#ppt_x"/>
                                          </p:val>
                                        </p:tav>
                                      </p:tavLst>
                                    </p:anim>
                                    <p:anim calcmode="lin" valueType="num">
                                      <p:cBhvr additive="base">
                                        <p:cTn id="8" dur="10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50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ppt_x"/>
                                          </p:val>
                                        </p:tav>
                                        <p:tav tm="100000">
                                          <p:val>
                                            <p:strVal val="#ppt_x"/>
                                          </p:val>
                                        </p:tav>
                                      </p:tavLst>
                                    </p:anim>
                                    <p:anim calcmode="lin" valueType="num">
                                      <p:cBhvr additive="base">
                                        <p:cTn id="12"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62_Title and Content">
    <p:bg>
      <p:bgPr>
        <a:solidFill>
          <a:schemeClr val="tx2"/>
        </a:solidFill>
        <a:effectLst/>
      </p:bgPr>
    </p:bg>
    <p:spTree>
      <p:nvGrpSpPr>
        <p:cNvPr id="1" name=""/>
        <p:cNvGrpSpPr/>
        <p:nvPr/>
      </p:nvGrpSpPr>
      <p:grpSpPr>
        <a:xfrm>
          <a:off x="0" y="0"/>
          <a:ext cx="0" cy="0"/>
          <a:chOff x="0" y="0"/>
          <a:chExt cx="0" cy="0"/>
        </a:xfrm>
      </p:grpSpPr>
      <p:pic>
        <p:nvPicPr>
          <p:cNvPr id="43" name="Gráfico 42">
            <a:extLst>
              <a:ext uri="{FF2B5EF4-FFF2-40B4-BE49-F238E27FC236}">
                <a16:creationId xmlns:a16="http://schemas.microsoft.com/office/drawing/2014/main" id="{766FFDA4-C746-9CA0-544C-47A7C36D68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5106" y="5997293"/>
            <a:ext cx="758823" cy="834705"/>
          </a:xfrm>
          <a:prstGeom prst="rect">
            <a:avLst/>
          </a:prstGeom>
        </p:spPr>
      </p:pic>
      <p:pic>
        <p:nvPicPr>
          <p:cNvPr id="47" name="Gráfico 46">
            <a:extLst>
              <a:ext uri="{FF2B5EF4-FFF2-40B4-BE49-F238E27FC236}">
                <a16:creationId xmlns:a16="http://schemas.microsoft.com/office/drawing/2014/main" id="{216FB2EA-7DCD-9CAB-3A1B-65D7BA2C8F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5106" y="4715384"/>
            <a:ext cx="758823" cy="834705"/>
          </a:xfrm>
          <a:prstGeom prst="rect">
            <a:avLst/>
          </a:prstGeom>
        </p:spPr>
      </p:pic>
      <p:pic>
        <p:nvPicPr>
          <p:cNvPr id="50" name="Gráfico 49">
            <a:extLst>
              <a:ext uri="{FF2B5EF4-FFF2-40B4-BE49-F238E27FC236}">
                <a16:creationId xmlns:a16="http://schemas.microsoft.com/office/drawing/2014/main" id="{BD358D71-3B90-BF0C-17B5-DB3C4831526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30903" y="2959083"/>
            <a:ext cx="758823" cy="834705"/>
          </a:xfrm>
          <a:prstGeom prst="rect">
            <a:avLst/>
          </a:prstGeom>
        </p:spPr>
      </p:pic>
      <p:pic>
        <p:nvPicPr>
          <p:cNvPr id="52" name="Gráfico 51">
            <a:extLst>
              <a:ext uri="{FF2B5EF4-FFF2-40B4-BE49-F238E27FC236}">
                <a16:creationId xmlns:a16="http://schemas.microsoft.com/office/drawing/2014/main" id="{66373740-8A0A-B96D-CCB5-6F5E6F8FAC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81043" y="2052061"/>
            <a:ext cx="758823" cy="834705"/>
          </a:xfrm>
          <a:prstGeom prst="rect">
            <a:avLst/>
          </a:prstGeom>
        </p:spPr>
      </p:pic>
      <p:pic>
        <p:nvPicPr>
          <p:cNvPr id="54" name="Gráfico 53">
            <a:extLst>
              <a:ext uri="{FF2B5EF4-FFF2-40B4-BE49-F238E27FC236}">
                <a16:creationId xmlns:a16="http://schemas.microsoft.com/office/drawing/2014/main" id="{495B6CBA-BAEC-F0C0-741E-616CD631BE2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5133" y="1711111"/>
            <a:ext cx="758823" cy="834705"/>
          </a:xfrm>
          <a:prstGeom prst="rect">
            <a:avLst/>
          </a:prstGeom>
        </p:spPr>
      </p:pic>
      <p:pic>
        <p:nvPicPr>
          <p:cNvPr id="55" name="Gráfico 54">
            <a:extLst>
              <a:ext uri="{FF2B5EF4-FFF2-40B4-BE49-F238E27FC236}">
                <a16:creationId xmlns:a16="http://schemas.microsoft.com/office/drawing/2014/main" id="{EDB6CD3E-3CFA-5B6F-D2E2-E0490ECFB5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25133" y="2945461"/>
            <a:ext cx="758823" cy="834705"/>
          </a:xfrm>
          <a:prstGeom prst="rect">
            <a:avLst/>
          </a:prstGeom>
        </p:spPr>
      </p:pic>
      <p:pic>
        <p:nvPicPr>
          <p:cNvPr id="57" name="Gráfico 56">
            <a:extLst>
              <a:ext uri="{FF2B5EF4-FFF2-40B4-BE49-F238E27FC236}">
                <a16:creationId xmlns:a16="http://schemas.microsoft.com/office/drawing/2014/main" id="{25F5DC6A-8AC3-E26B-2C40-C6B791E20C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19837" y="2262781"/>
            <a:ext cx="758823" cy="834705"/>
          </a:xfrm>
          <a:prstGeom prst="rect">
            <a:avLst/>
          </a:prstGeom>
        </p:spPr>
      </p:pic>
      <p:pic>
        <p:nvPicPr>
          <p:cNvPr id="58" name="Gráfico 57">
            <a:extLst>
              <a:ext uri="{FF2B5EF4-FFF2-40B4-BE49-F238E27FC236}">
                <a16:creationId xmlns:a16="http://schemas.microsoft.com/office/drawing/2014/main" id="{B63ACDE2-4EC7-A51C-8951-F8FA0092B9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88199" y="241590"/>
            <a:ext cx="758823" cy="834705"/>
          </a:xfrm>
          <a:prstGeom prst="rect">
            <a:avLst/>
          </a:prstGeom>
        </p:spPr>
      </p:pic>
      <p:pic>
        <p:nvPicPr>
          <p:cNvPr id="27" name="Gráfico 26">
            <a:extLst>
              <a:ext uri="{FF2B5EF4-FFF2-40B4-BE49-F238E27FC236}">
                <a16:creationId xmlns:a16="http://schemas.microsoft.com/office/drawing/2014/main" id="{A63E9DD9-FAAE-8C1D-6756-B727D42815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44998" y="5529684"/>
            <a:ext cx="758823" cy="834705"/>
          </a:xfrm>
          <a:prstGeom prst="rect">
            <a:avLst/>
          </a:prstGeom>
        </p:spPr>
      </p:pic>
      <p:pic>
        <p:nvPicPr>
          <p:cNvPr id="29" name="Gráfico 28">
            <a:extLst>
              <a:ext uri="{FF2B5EF4-FFF2-40B4-BE49-F238E27FC236}">
                <a16:creationId xmlns:a16="http://schemas.microsoft.com/office/drawing/2014/main" id="{2662CAF1-6330-0436-E49E-CB6AA7FB3A3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17676" y="4962914"/>
            <a:ext cx="758823" cy="834705"/>
          </a:xfrm>
          <a:prstGeom prst="rect">
            <a:avLst/>
          </a:prstGeom>
        </p:spPr>
      </p:pic>
      <p:pic>
        <p:nvPicPr>
          <p:cNvPr id="33" name="Gráfico 32">
            <a:extLst>
              <a:ext uri="{FF2B5EF4-FFF2-40B4-BE49-F238E27FC236}">
                <a16:creationId xmlns:a16="http://schemas.microsoft.com/office/drawing/2014/main" id="{A2A722C8-1A42-615B-27E2-35F84A337F4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03679" y="4247775"/>
            <a:ext cx="758823" cy="834705"/>
          </a:xfrm>
          <a:prstGeom prst="rect">
            <a:avLst/>
          </a:prstGeom>
        </p:spPr>
      </p:pic>
      <p:pic>
        <p:nvPicPr>
          <p:cNvPr id="34" name="Gráfico 33">
            <a:extLst>
              <a:ext uri="{FF2B5EF4-FFF2-40B4-BE49-F238E27FC236}">
                <a16:creationId xmlns:a16="http://schemas.microsoft.com/office/drawing/2014/main" id="{E22EF6C7-D53E-B775-A6E9-07E40D5C00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03681" y="5551302"/>
            <a:ext cx="758823" cy="834705"/>
          </a:xfrm>
          <a:prstGeom prst="rect">
            <a:avLst/>
          </a:prstGeom>
        </p:spPr>
      </p:pic>
      <p:sp>
        <p:nvSpPr>
          <p:cNvPr id="5" name="Freeform: Shape 4">
            <a:extLst>
              <a:ext uri="{FF2B5EF4-FFF2-40B4-BE49-F238E27FC236}">
                <a16:creationId xmlns:a16="http://schemas.microsoft.com/office/drawing/2014/main" id="{39913389-D143-427B-9746-EF1001FA685D}"/>
              </a:ext>
            </a:extLst>
          </p:cNvPr>
          <p:cNvSpPr/>
          <p:nvPr userDrawn="1"/>
        </p:nvSpPr>
        <p:spPr>
          <a:xfrm flipH="1" flipV="1">
            <a:off x="0" y="-3"/>
            <a:ext cx="12192000" cy="6858000"/>
          </a:xfrm>
          <a:custGeom>
            <a:avLst/>
            <a:gdLst>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3418462 w 12192000"/>
              <a:gd name="connsiteY3" fmla="*/ 1259120 h 6858000"/>
              <a:gd name="connsiteX4" fmla="*/ 3418618 w 12192000"/>
              <a:gd name="connsiteY4" fmla="*/ 1259993 h 6858000"/>
              <a:gd name="connsiteX5" fmla="*/ 3419024 w 12192000"/>
              <a:gd name="connsiteY5" fmla="*/ 1259444 h 6858000"/>
              <a:gd name="connsiteX6" fmla="*/ 7965465 w 12192000"/>
              <a:gd name="connsiteY6" fmla="*/ 0 h 6858000"/>
              <a:gd name="connsiteX7" fmla="*/ 12192000 w 12192000"/>
              <a:gd name="connsiteY7" fmla="*/ 0 h 6858000"/>
              <a:gd name="connsiteX8" fmla="*/ 12192000 w 12192000"/>
              <a:gd name="connsiteY8" fmla="*/ 6858000 h 6858000"/>
              <a:gd name="connsiteX9" fmla="*/ 11453891 w 12192000"/>
              <a:gd name="connsiteY9" fmla="*/ 6858000 h 6858000"/>
              <a:gd name="connsiteX10" fmla="*/ 11412751 w 12192000"/>
              <a:gd name="connsiteY10" fmla="*/ 6815162 h 6858000"/>
              <a:gd name="connsiteX11" fmla="*/ 11289597 w 12192000"/>
              <a:gd name="connsiteY11" fmla="*/ 6217433 h 6858000"/>
              <a:gd name="connsiteX12" fmla="*/ 11169959 w 12192000"/>
              <a:gd name="connsiteY12" fmla="*/ 5812733 h 6858000"/>
              <a:gd name="connsiteX13" fmla="*/ 10803229 w 12192000"/>
              <a:gd name="connsiteY13" fmla="*/ 5927798 h 6858000"/>
              <a:gd name="connsiteX14" fmla="*/ 10019849 w 12192000"/>
              <a:gd name="connsiteY14" fmla="*/ 6076112 h 6858000"/>
              <a:gd name="connsiteX15" fmla="*/ 9636342 w 12192000"/>
              <a:gd name="connsiteY15" fmla="*/ 5271760 h 6858000"/>
              <a:gd name="connsiteX16" fmla="*/ 9525372 w 12192000"/>
              <a:gd name="connsiteY16" fmla="*/ 4836737 h 6858000"/>
              <a:gd name="connsiteX17" fmla="*/ 9206679 w 12192000"/>
              <a:gd name="connsiteY17" fmla="*/ 4887483 h 6858000"/>
              <a:gd name="connsiteX18" fmla="*/ 9147680 w 12192000"/>
              <a:gd name="connsiteY18" fmla="*/ 4924210 h 6858000"/>
              <a:gd name="connsiteX19" fmla="*/ 9124161 w 12192000"/>
              <a:gd name="connsiteY19" fmla="*/ 4944484 h 6858000"/>
              <a:gd name="connsiteX20" fmla="*/ 9042018 w 12192000"/>
              <a:gd name="connsiteY20" fmla="*/ 4989282 h 6858000"/>
              <a:gd name="connsiteX21" fmla="*/ 8921199 w 12192000"/>
              <a:gd name="connsiteY21" fmla="*/ 5062844 h 6858000"/>
              <a:gd name="connsiteX22" fmla="*/ 8321246 w 12192000"/>
              <a:gd name="connsiteY22" fmla="*/ 5086583 h 6858000"/>
              <a:gd name="connsiteX23" fmla="*/ 8028426 w 12192000"/>
              <a:gd name="connsiteY23" fmla="*/ 4369922 h 6858000"/>
              <a:gd name="connsiteX24" fmla="*/ 7910835 w 12192000"/>
              <a:gd name="connsiteY24" fmla="*/ 3931077 h 6858000"/>
              <a:gd name="connsiteX25" fmla="*/ 7310682 w 12192000"/>
              <a:gd name="connsiteY25" fmla="*/ 4052693 h 6858000"/>
              <a:gd name="connsiteX26" fmla="*/ 6686835 w 12192000"/>
              <a:gd name="connsiteY26" fmla="*/ 4169457 h 6858000"/>
              <a:gd name="connsiteX27" fmla="*/ 6360308 w 12192000"/>
              <a:gd name="connsiteY27" fmla="*/ 3612051 h 6858000"/>
              <a:gd name="connsiteX28" fmla="*/ 6351881 w 12192000"/>
              <a:gd name="connsiteY28" fmla="*/ 3403504 h 6858000"/>
              <a:gd name="connsiteX29" fmla="*/ 6348681 w 12192000"/>
              <a:gd name="connsiteY29" fmla="*/ 3342060 h 6858000"/>
              <a:gd name="connsiteX30" fmla="*/ 6350035 w 12192000"/>
              <a:gd name="connsiteY30" fmla="*/ 3334078 h 6858000"/>
              <a:gd name="connsiteX31" fmla="*/ 6349219 w 12192000"/>
              <a:gd name="connsiteY31" fmla="*/ 3285618 h 6858000"/>
              <a:gd name="connsiteX32" fmla="*/ 6242624 w 12192000"/>
              <a:gd name="connsiteY32" fmla="*/ 3041905 h 6858000"/>
              <a:gd name="connsiteX33" fmla="*/ 6219524 w 12192000"/>
              <a:gd name="connsiteY33" fmla="*/ 3024059 h 6858000"/>
              <a:gd name="connsiteX34" fmla="*/ 6329195 w 12192000"/>
              <a:gd name="connsiteY34" fmla="*/ 2834103 h 6858000"/>
              <a:gd name="connsiteX35" fmla="*/ 0 w 12192000"/>
              <a:gd name="connsiteY35" fmla="*/ 0 h 6858000"/>
              <a:gd name="connsiteX36" fmla="*/ 7965461 w 12192000"/>
              <a:gd name="connsiteY36" fmla="*/ 0 h 6858000"/>
              <a:gd name="connsiteX37" fmla="*/ 6331536 w 12192000"/>
              <a:gd name="connsiteY37" fmla="*/ 2830043 h 6858000"/>
              <a:gd name="connsiteX38" fmla="*/ 6210400 w 12192000"/>
              <a:gd name="connsiteY38" fmla="*/ 3039855 h 6858000"/>
              <a:gd name="connsiteX39" fmla="*/ 6153762 w 12192000"/>
              <a:gd name="connsiteY39" fmla="*/ 3040629 h 6858000"/>
              <a:gd name="connsiteX40" fmla="*/ 5850888 w 12192000"/>
              <a:gd name="connsiteY40" fmla="*/ 3174553 h 6858000"/>
              <a:gd name="connsiteX41" fmla="*/ 5167421 w 12192000"/>
              <a:gd name="connsiteY41" fmla="*/ 3256896 h 6858000"/>
              <a:gd name="connsiteX42" fmla="*/ 4859578 w 12192000"/>
              <a:gd name="connsiteY42" fmla="*/ 2505059 h 6858000"/>
              <a:gd name="connsiteX43" fmla="*/ 4739941 w 12192000"/>
              <a:gd name="connsiteY43" fmla="*/ 2100360 h 6858000"/>
              <a:gd name="connsiteX44" fmla="*/ 4373210 w 12192000"/>
              <a:gd name="connsiteY44" fmla="*/ 2215424 h 6858000"/>
              <a:gd name="connsiteX45" fmla="*/ 3589832 w 12192000"/>
              <a:gd name="connsiteY45" fmla="*/ 2363739 h 6858000"/>
              <a:gd name="connsiteX46" fmla="*/ 3206324 w 12192000"/>
              <a:gd name="connsiteY46" fmla="*/ 1559387 h 6858000"/>
              <a:gd name="connsiteX47" fmla="*/ 3095355 w 12192000"/>
              <a:gd name="connsiteY47" fmla="*/ 1124364 h 6858000"/>
              <a:gd name="connsiteX48" fmla="*/ 2776662 w 12192000"/>
              <a:gd name="connsiteY48" fmla="*/ 1175111 h 6858000"/>
              <a:gd name="connsiteX49" fmla="*/ 2717662 w 12192000"/>
              <a:gd name="connsiteY49" fmla="*/ 1211837 h 6858000"/>
              <a:gd name="connsiteX50" fmla="*/ 2694143 w 12192000"/>
              <a:gd name="connsiteY50" fmla="*/ 1232111 h 6858000"/>
              <a:gd name="connsiteX51" fmla="*/ 2612003 w 12192000"/>
              <a:gd name="connsiteY51" fmla="*/ 1276911 h 6858000"/>
              <a:gd name="connsiteX52" fmla="*/ 2491182 w 12192000"/>
              <a:gd name="connsiteY52" fmla="*/ 1350471 h 6858000"/>
              <a:gd name="connsiteX53" fmla="*/ 1891229 w 12192000"/>
              <a:gd name="connsiteY53" fmla="*/ 1374211 h 6858000"/>
              <a:gd name="connsiteX54" fmla="*/ 1598408 w 12192000"/>
              <a:gd name="connsiteY54" fmla="*/ 657549 h 6858000"/>
              <a:gd name="connsiteX55" fmla="*/ 1480818 w 12192000"/>
              <a:gd name="connsiteY55" fmla="*/ 218704 h 6858000"/>
              <a:gd name="connsiteX56" fmla="*/ 880664 w 12192000"/>
              <a:gd name="connsiteY56" fmla="*/ 340320 h 6858000"/>
              <a:gd name="connsiteX57" fmla="*/ 256820 w 12192000"/>
              <a:gd name="connsiteY57" fmla="*/ 457086 h 6858000"/>
              <a:gd name="connsiteX58" fmla="*/ 7821 w 12192000"/>
              <a:gd name="connsiteY58" fmla="*/ 218775 h 6858000"/>
              <a:gd name="connsiteX59" fmla="*/ 0 w 12192000"/>
              <a:gd name="connsiteY59" fmla="*/ 200305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2624 w 12192000"/>
              <a:gd name="connsiteY34" fmla="*/ 3041905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400 w 12192000"/>
              <a:gd name="connsiteY41" fmla="*/ 3039855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177062 w 12192000"/>
              <a:gd name="connsiteY41" fmla="*/ 2999374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 name="connsiteX0" fmla="*/ 9848479 w 12192000"/>
              <a:gd name="connsiteY0" fmla="*/ 4971492 h 6858000"/>
              <a:gd name="connsiteX1" fmla="*/ 9848637 w 12192000"/>
              <a:gd name="connsiteY1" fmla="*/ 4972367 h 6858000"/>
              <a:gd name="connsiteX2" fmla="*/ 9849043 w 12192000"/>
              <a:gd name="connsiteY2" fmla="*/ 4971818 h 6858000"/>
              <a:gd name="connsiteX3" fmla="*/ 9848479 w 12192000"/>
              <a:gd name="connsiteY3" fmla="*/ 4971492 h 6858000"/>
              <a:gd name="connsiteX4" fmla="*/ 3418462 w 12192000"/>
              <a:gd name="connsiteY4" fmla="*/ 1259120 h 6858000"/>
              <a:gd name="connsiteX5" fmla="*/ 3418618 w 12192000"/>
              <a:gd name="connsiteY5" fmla="*/ 1259993 h 6858000"/>
              <a:gd name="connsiteX6" fmla="*/ 3419024 w 12192000"/>
              <a:gd name="connsiteY6" fmla="*/ 1259444 h 6858000"/>
              <a:gd name="connsiteX7" fmla="*/ 3418462 w 12192000"/>
              <a:gd name="connsiteY7" fmla="*/ 1259120 h 6858000"/>
              <a:gd name="connsiteX8" fmla="*/ 7965465 w 12192000"/>
              <a:gd name="connsiteY8" fmla="*/ 0 h 6858000"/>
              <a:gd name="connsiteX9" fmla="*/ 12192000 w 12192000"/>
              <a:gd name="connsiteY9" fmla="*/ 0 h 6858000"/>
              <a:gd name="connsiteX10" fmla="*/ 12192000 w 12192000"/>
              <a:gd name="connsiteY10" fmla="*/ 6858000 h 6858000"/>
              <a:gd name="connsiteX11" fmla="*/ 11453891 w 12192000"/>
              <a:gd name="connsiteY11" fmla="*/ 6858000 h 6858000"/>
              <a:gd name="connsiteX12" fmla="*/ 11412751 w 12192000"/>
              <a:gd name="connsiteY12" fmla="*/ 6815162 h 6858000"/>
              <a:gd name="connsiteX13" fmla="*/ 11289597 w 12192000"/>
              <a:gd name="connsiteY13" fmla="*/ 6217433 h 6858000"/>
              <a:gd name="connsiteX14" fmla="*/ 11169959 w 12192000"/>
              <a:gd name="connsiteY14" fmla="*/ 5812733 h 6858000"/>
              <a:gd name="connsiteX15" fmla="*/ 10803229 w 12192000"/>
              <a:gd name="connsiteY15" fmla="*/ 5927798 h 6858000"/>
              <a:gd name="connsiteX16" fmla="*/ 10019849 w 12192000"/>
              <a:gd name="connsiteY16" fmla="*/ 6076112 h 6858000"/>
              <a:gd name="connsiteX17" fmla="*/ 9636342 w 12192000"/>
              <a:gd name="connsiteY17" fmla="*/ 5271760 h 6858000"/>
              <a:gd name="connsiteX18" fmla="*/ 9525372 w 12192000"/>
              <a:gd name="connsiteY18" fmla="*/ 4836737 h 6858000"/>
              <a:gd name="connsiteX19" fmla="*/ 9206679 w 12192000"/>
              <a:gd name="connsiteY19" fmla="*/ 4887483 h 6858000"/>
              <a:gd name="connsiteX20" fmla="*/ 9147680 w 12192000"/>
              <a:gd name="connsiteY20" fmla="*/ 4924210 h 6858000"/>
              <a:gd name="connsiteX21" fmla="*/ 9124161 w 12192000"/>
              <a:gd name="connsiteY21" fmla="*/ 4944484 h 6858000"/>
              <a:gd name="connsiteX22" fmla="*/ 9042018 w 12192000"/>
              <a:gd name="connsiteY22" fmla="*/ 4989282 h 6858000"/>
              <a:gd name="connsiteX23" fmla="*/ 8921199 w 12192000"/>
              <a:gd name="connsiteY23" fmla="*/ 5062844 h 6858000"/>
              <a:gd name="connsiteX24" fmla="*/ 8321246 w 12192000"/>
              <a:gd name="connsiteY24" fmla="*/ 5086583 h 6858000"/>
              <a:gd name="connsiteX25" fmla="*/ 8028426 w 12192000"/>
              <a:gd name="connsiteY25" fmla="*/ 4369922 h 6858000"/>
              <a:gd name="connsiteX26" fmla="*/ 7910835 w 12192000"/>
              <a:gd name="connsiteY26" fmla="*/ 3931077 h 6858000"/>
              <a:gd name="connsiteX27" fmla="*/ 7310682 w 12192000"/>
              <a:gd name="connsiteY27" fmla="*/ 4052693 h 6858000"/>
              <a:gd name="connsiteX28" fmla="*/ 6686835 w 12192000"/>
              <a:gd name="connsiteY28" fmla="*/ 4169457 h 6858000"/>
              <a:gd name="connsiteX29" fmla="*/ 6360308 w 12192000"/>
              <a:gd name="connsiteY29" fmla="*/ 3612051 h 6858000"/>
              <a:gd name="connsiteX30" fmla="*/ 6351881 w 12192000"/>
              <a:gd name="connsiteY30" fmla="*/ 3403504 h 6858000"/>
              <a:gd name="connsiteX31" fmla="*/ 6348681 w 12192000"/>
              <a:gd name="connsiteY31" fmla="*/ 3342060 h 6858000"/>
              <a:gd name="connsiteX32" fmla="*/ 6350035 w 12192000"/>
              <a:gd name="connsiteY32" fmla="*/ 3334078 h 6858000"/>
              <a:gd name="connsiteX33" fmla="*/ 6349219 w 12192000"/>
              <a:gd name="connsiteY33" fmla="*/ 3285618 h 6858000"/>
              <a:gd name="connsiteX34" fmla="*/ 6247387 w 12192000"/>
              <a:gd name="connsiteY34" fmla="*/ 3056192 h 6858000"/>
              <a:gd name="connsiteX35" fmla="*/ 6207618 w 12192000"/>
              <a:gd name="connsiteY35" fmla="*/ 3047871 h 6858000"/>
              <a:gd name="connsiteX36" fmla="*/ 6329195 w 12192000"/>
              <a:gd name="connsiteY36" fmla="*/ 2834103 h 6858000"/>
              <a:gd name="connsiteX37" fmla="*/ 7965465 w 12192000"/>
              <a:gd name="connsiteY37" fmla="*/ 0 h 6858000"/>
              <a:gd name="connsiteX38" fmla="*/ 0 w 12192000"/>
              <a:gd name="connsiteY38" fmla="*/ 0 h 6858000"/>
              <a:gd name="connsiteX39" fmla="*/ 7965461 w 12192000"/>
              <a:gd name="connsiteY39" fmla="*/ 0 h 6858000"/>
              <a:gd name="connsiteX40" fmla="*/ 6331536 w 12192000"/>
              <a:gd name="connsiteY40" fmla="*/ 2830043 h 6858000"/>
              <a:gd name="connsiteX41" fmla="*/ 6210399 w 12192000"/>
              <a:gd name="connsiteY41" fmla="*/ 3042236 h 6858000"/>
              <a:gd name="connsiteX42" fmla="*/ 6153762 w 12192000"/>
              <a:gd name="connsiteY42" fmla="*/ 3040629 h 6858000"/>
              <a:gd name="connsiteX43" fmla="*/ 5850888 w 12192000"/>
              <a:gd name="connsiteY43" fmla="*/ 3174553 h 6858000"/>
              <a:gd name="connsiteX44" fmla="*/ 5167421 w 12192000"/>
              <a:gd name="connsiteY44" fmla="*/ 3256896 h 6858000"/>
              <a:gd name="connsiteX45" fmla="*/ 4859578 w 12192000"/>
              <a:gd name="connsiteY45" fmla="*/ 2505059 h 6858000"/>
              <a:gd name="connsiteX46" fmla="*/ 4739941 w 12192000"/>
              <a:gd name="connsiteY46" fmla="*/ 2100360 h 6858000"/>
              <a:gd name="connsiteX47" fmla="*/ 4373210 w 12192000"/>
              <a:gd name="connsiteY47" fmla="*/ 2215424 h 6858000"/>
              <a:gd name="connsiteX48" fmla="*/ 3589832 w 12192000"/>
              <a:gd name="connsiteY48" fmla="*/ 2363739 h 6858000"/>
              <a:gd name="connsiteX49" fmla="*/ 3206324 w 12192000"/>
              <a:gd name="connsiteY49" fmla="*/ 1559387 h 6858000"/>
              <a:gd name="connsiteX50" fmla="*/ 3095355 w 12192000"/>
              <a:gd name="connsiteY50" fmla="*/ 1124364 h 6858000"/>
              <a:gd name="connsiteX51" fmla="*/ 2776662 w 12192000"/>
              <a:gd name="connsiteY51" fmla="*/ 1175111 h 6858000"/>
              <a:gd name="connsiteX52" fmla="*/ 2717662 w 12192000"/>
              <a:gd name="connsiteY52" fmla="*/ 1211837 h 6858000"/>
              <a:gd name="connsiteX53" fmla="*/ 2694143 w 12192000"/>
              <a:gd name="connsiteY53" fmla="*/ 1232111 h 6858000"/>
              <a:gd name="connsiteX54" fmla="*/ 2612003 w 12192000"/>
              <a:gd name="connsiteY54" fmla="*/ 1276911 h 6858000"/>
              <a:gd name="connsiteX55" fmla="*/ 2491182 w 12192000"/>
              <a:gd name="connsiteY55" fmla="*/ 1350471 h 6858000"/>
              <a:gd name="connsiteX56" fmla="*/ 1891229 w 12192000"/>
              <a:gd name="connsiteY56" fmla="*/ 1374211 h 6858000"/>
              <a:gd name="connsiteX57" fmla="*/ 1598408 w 12192000"/>
              <a:gd name="connsiteY57" fmla="*/ 657549 h 6858000"/>
              <a:gd name="connsiteX58" fmla="*/ 1480818 w 12192000"/>
              <a:gd name="connsiteY58" fmla="*/ 218704 h 6858000"/>
              <a:gd name="connsiteX59" fmla="*/ 880664 w 12192000"/>
              <a:gd name="connsiteY59" fmla="*/ 340320 h 6858000"/>
              <a:gd name="connsiteX60" fmla="*/ 256820 w 12192000"/>
              <a:gd name="connsiteY60" fmla="*/ 457086 h 6858000"/>
              <a:gd name="connsiteX61" fmla="*/ 7821 w 12192000"/>
              <a:gd name="connsiteY61" fmla="*/ 218775 h 6858000"/>
              <a:gd name="connsiteX62" fmla="*/ 0 w 12192000"/>
              <a:gd name="connsiteY62" fmla="*/ 200305 h 6858000"/>
              <a:gd name="connsiteX63" fmla="*/ 0 w 12192000"/>
              <a:gd name="connsiteY63"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12192000" h="6858000">
                <a:moveTo>
                  <a:pt x="9848479" y="4971492"/>
                </a:moveTo>
                <a:lnTo>
                  <a:pt x="9848637" y="4972367"/>
                </a:lnTo>
                <a:lnTo>
                  <a:pt x="9849043" y="4971818"/>
                </a:lnTo>
                <a:lnTo>
                  <a:pt x="9848479" y="4971492"/>
                </a:lnTo>
                <a:close/>
                <a:moveTo>
                  <a:pt x="3418462" y="1259120"/>
                </a:moveTo>
                <a:lnTo>
                  <a:pt x="3418618" y="1259993"/>
                </a:lnTo>
                <a:lnTo>
                  <a:pt x="3419024" y="1259444"/>
                </a:lnTo>
                <a:lnTo>
                  <a:pt x="3418462" y="1259120"/>
                </a:lnTo>
                <a:close/>
                <a:moveTo>
                  <a:pt x="7965465" y="0"/>
                </a:moveTo>
                <a:lnTo>
                  <a:pt x="12192000" y="0"/>
                </a:lnTo>
                <a:lnTo>
                  <a:pt x="12192000" y="6858000"/>
                </a:lnTo>
                <a:lnTo>
                  <a:pt x="11453891" y="6858000"/>
                </a:lnTo>
                <a:lnTo>
                  <a:pt x="11412751" y="6815162"/>
                </a:lnTo>
                <a:cubicBezTo>
                  <a:pt x="11279527" y="6642192"/>
                  <a:pt x="11285140" y="6420212"/>
                  <a:pt x="11289597" y="6217433"/>
                </a:cubicBezTo>
                <a:cubicBezTo>
                  <a:pt x="11290419" y="6032434"/>
                  <a:pt x="11300666" y="5861703"/>
                  <a:pt x="11169959" y="5812733"/>
                </a:cubicBezTo>
                <a:cubicBezTo>
                  <a:pt x="11036454" y="5753316"/>
                  <a:pt x="10925062" y="5839160"/>
                  <a:pt x="10803229" y="5927798"/>
                </a:cubicBezTo>
                <a:cubicBezTo>
                  <a:pt x="10606207" y="6070182"/>
                  <a:pt x="10391084" y="6228612"/>
                  <a:pt x="10019849" y="6076112"/>
                </a:cubicBezTo>
                <a:cubicBezTo>
                  <a:pt x="9624919" y="5918754"/>
                  <a:pt x="9634971" y="5580093"/>
                  <a:pt x="9636342" y="5271760"/>
                </a:cubicBezTo>
                <a:cubicBezTo>
                  <a:pt x="9640988" y="5080134"/>
                  <a:pt x="9641813" y="4895127"/>
                  <a:pt x="9525372" y="4836737"/>
                </a:cubicBezTo>
                <a:cubicBezTo>
                  <a:pt x="9426009" y="4779369"/>
                  <a:pt x="9318729" y="4821762"/>
                  <a:pt x="9206679" y="4887483"/>
                </a:cubicBezTo>
                <a:lnTo>
                  <a:pt x="9147680" y="4924210"/>
                </a:lnTo>
                <a:lnTo>
                  <a:pt x="9124161" y="4944484"/>
                </a:lnTo>
                <a:lnTo>
                  <a:pt x="9042018" y="4989282"/>
                </a:lnTo>
                <a:lnTo>
                  <a:pt x="8921199" y="5062844"/>
                </a:lnTo>
                <a:cubicBezTo>
                  <a:pt x="8744839" y="5158918"/>
                  <a:pt x="8552648" y="5213563"/>
                  <a:pt x="8321246" y="5086583"/>
                </a:cubicBezTo>
                <a:cubicBezTo>
                  <a:pt x="8019331" y="4921112"/>
                  <a:pt x="8022479" y="4640295"/>
                  <a:pt x="8028426" y="4369922"/>
                </a:cubicBezTo>
                <a:cubicBezTo>
                  <a:pt x="8033074" y="4178294"/>
                  <a:pt x="8036699" y="4003744"/>
                  <a:pt x="7910835" y="3931077"/>
                </a:cubicBezTo>
                <a:cubicBezTo>
                  <a:pt x="7751855" y="3839289"/>
                  <a:pt x="7522735" y="3945483"/>
                  <a:pt x="7310682" y="4052693"/>
                </a:cubicBezTo>
                <a:cubicBezTo>
                  <a:pt x="7088187" y="4162702"/>
                  <a:pt x="6869515" y="4266090"/>
                  <a:pt x="6686835" y="4169457"/>
                </a:cubicBezTo>
                <a:cubicBezTo>
                  <a:pt x="6439760" y="4046679"/>
                  <a:pt x="6378761" y="3842546"/>
                  <a:pt x="6360308" y="3612051"/>
                </a:cubicBezTo>
                <a:lnTo>
                  <a:pt x="6351881" y="3403504"/>
                </a:lnTo>
                <a:lnTo>
                  <a:pt x="6348681" y="3342060"/>
                </a:lnTo>
                <a:lnTo>
                  <a:pt x="6350035" y="3334078"/>
                </a:lnTo>
                <a:lnTo>
                  <a:pt x="6349219" y="3285618"/>
                </a:lnTo>
                <a:cubicBezTo>
                  <a:pt x="6347858" y="3165593"/>
                  <a:pt x="6299835" y="3103033"/>
                  <a:pt x="6247387" y="3056192"/>
                </a:cubicBezTo>
                <a:lnTo>
                  <a:pt x="6207618" y="3047871"/>
                </a:lnTo>
                <a:cubicBezTo>
                  <a:pt x="6244175" y="2984552"/>
                  <a:pt x="6292638" y="2897422"/>
                  <a:pt x="6329195" y="2834103"/>
                </a:cubicBezTo>
                <a:lnTo>
                  <a:pt x="7965465" y="0"/>
                </a:lnTo>
                <a:close/>
                <a:moveTo>
                  <a:pt x="0" y="0"/>
                </a:moveTo>
                <a:lnTo>
                  <a:pt x="7965461" y="0"/>
                </a:lnTo>
                <a:lnTo>
                  <a:pt x="6331536" y="2830043"/>
                </a:lnTo>
                <a:lnTo>
                  <a:pt x="6210399" y="3042236"/>
                </a:lnTo>
                <a:lnTo>
                  <a:pt x="6153762" y="3040629"/>
                </a:lnTo>
                <a:cubicBezTo>
                  <a:pt x="6034881" y="3053073"/>
                  <a:pt x="5940096" y="3115652"/>
                  <a:pt x="5850888" y="3174553"/>
                </a:cubicBezTo>
                <a:cubicBezTo>
                  <a:pt x="5661517" y="3303686"/>
                  <a:pt x="5475961" y="3426194"/>
                  <a:pt x="5167421" y="3256896"/>
                </a:cubicBezTo>
                <a:cubicBezTo>
                  <a:pt x="4845636" y="3079939"/>
                  <a:pt x="4853635" y="2775431"/>
                  <a:pt x="4859578" y="2505059"/>
                </a:cubicBezTo>
                <a:cubicBezTo>
                  <a:pt x="4860401" y="2320061"/>
                  <a:pt x="4870650" y="2149331"/>
                  <a:pt x="4739941" y="2100360"/>
                </a:cubicBezTo>
                <a:cubicBezTo>
                  <a:pt x="4606435" y="2040942"/>
                  <a:pt x="4495042" y="2126786"/>
                  <a:pt x="4373210" y="2215424"/>
                </a:cubicBezTo>
                <a:cubicBezTo>
                  <a:pt x="4176188" y="2357808"/>
                  <a:pt x="3961067" y="2516240"/>
                  <a:pt x="3589832" y="2363739"/>
                </a:cubicBezTo>
                <a:cubicBezTo>
                  <a:pt x="3194902" y="2206382"/>
                  <a:pt x="3204954" y="1867721"/>
                  <a:pt x="3206324" y="1559387"/>
                </a:cubicBezTo>
                <a:cubicBezTo>
                  <a:pt x="3210971" y="1367762"/>
                  <a:pt x="3211796" y="1182755"/>
                  <a:pt x="3095355" y="1124364"/>
                </a:cubicBezTo>
                <a:cubicBezTo>
                  <a:pt x="2995992" y="1066997"/>
                  <a:pt x="2888711" y="1109389"/>
                  <a:pt x="2776662" y="1175111"/>
                </a:cubicBezTo>
                <a:lnTo>
                  <a:pt x="2717662" y="1211837"/>
                </a:lnTo>
                <a:lnTo>
                  <a:pt x="2694143" y="1232111"/>
                </a:lnTo>
                <a:lnTo>
                  <a:pt x="2612003" y="1276911"/>
                </a:lnTo>
                <a:lnTo>
                  <a:pt x="2491182" y="1350471"/>
                </a:lnTo>
                <a:cubicBezTo>
                  <a:pt x="2314822" y="1446546"/>
                  <a:pt x="2122633" y="1501192"/>
                  <a:pt x="1891229" y="1374211"/>
                </a:cubicBezTo>
                <a:cubicBezTo>
                  <a:pt x="1589315" y="1208740"/>
                  <a:pt x="1592463" y="927924"/>
                  <a:pt x="1598408" y="657549"/>
                </a:cubicBezTo>
                <a:cubicBezTo>
                  <a:pt x="1603056" y="465922"/>
                  <a:pt x="1606681" y="291372"/>
                  <a:pt x="1480818" y="218704"/>
                </a:cubicBezTo>
                <a:cubicBezTo>
                  <a:pt x="1321837" y="126917"/>
                  <a:pt x="1092718" y="233111"/>
                  <a:pt x="880664" y="340320"/>
                </a:cubicBezTo>
                <a:cubicBezTo>
                  <a:pt x="658169" y="450330"/>
                  <a:pt x="439497" y="553718"/>
                  <a:pt x="256820" y="457086"/>
                </a:cubicBezTo>
                <a:cubicBezTo>
                  <a:pt x="133281" y="395697"/>
                  <a:pt x="56262" y="313968"/>
                  <a:pt x="7821" y="218775"/>
                </a:cubicBezTo>
                <a:lnTo>
                  <a:pt x="0" y="200305"/>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9" name="Group 8">
            <a:extLst>
              <a:ext uri="{FF2B5EF4-FFF2-40B4-BE49-F238E27FC236}">
                <a16:creationId xmlns:a16="http://schemas.microsoft.com/office/drawing/2014/main" id="{60CF2EFC-C477-453B-92F8-9A22946DB3D6}"/>
              </a:ext>
            </a:extLst>
          </p:cNvPr>
          <p:cNvGrpSpPr/>
          <p:nvPr userDrawn="1"/>
        </p:nvGrpSpPr>
        <p:grpSpPr>
          <a:xfrm>
            <a:off x="0" y="910846"/>
            <a:ext cx="9886231" cy="5947154"/>
            <a:chOff x="0" y="910846"/>
            <a:chExt cx="9886231" cy="5947154"/>
          </a:xfrm>
        </p:grpSpPr>
        <p:sp>
          <p:nvSpPr>
            <p:cNvPr id="6" name="Freeform: Shape 5">
              <a:extLst>
                <a:ext uri="{FF2B5EF4-FFF2-40B4-BE49-F238E27FC236}">
                  <a16:creationId xmlns:a16="http://schemas.microsoft.com/office/drawing/2014/main" id="{5D848C68-2AD4-4B05-B09C-4952D1C49A4D}"/>
                </a:ext>
              </a:extLst>
            </p:cNvPr>
            <p:cNvSpPr/>
            <p:nvPr userDrawn="1"/>
          </p:nvSpPr>
          <p:spPr>
            <a:xfrm flipH="1">
              <a:off x="0" y="910846"/>
              <a:ext cx="9886231" cy="5947154"/>
            </a:xfrm>
            <a:custGeom>
              <a:avLst/>
              <a:gdLst>
                <a:gd name="connsiteX0" fmla="*/ 3506461 w 9886230"/>
                <a:gd name="connsiteY0" fmla="*/ 5598007 h 5947154"/>
                <a:gd name="connsiteX1" fmla="*/ 3506868 w 9886230"/>
                <a:gd name="connsiteY1" fmla="*/ 5598556 h 5947154"/>
                <a:gd name="connsiteX2" fmla="*/ 3506305 w 9886230"/>
                <a:gd name="connsiteY2" fmla="*/ 5598880 h 5947154"/>
                <a:gd name="connsiteX3" fmla="*/ 1814508 w 9886230"/>
                <a:gd name="connsiteY3" fmla="*/ 5598007 h 5947154"/>
                <a:gd name="connsiteX4" fmla="*/ 1814352 w 9886230"/>
                <a:gd name="connsiteY4" fmla="*/ 5598880 h 5947154"/>
                <a:gd name="connsiteX5" fmla="*/ 1814914 w 9886230"/>
                <a:gd name="connsiteY5" fmla="*/ 5598556 h 5947154"/>
                <a:gd name="connsiteX6" fmla="*/ 3865223 w 9886230"/>
                <a:gd name="connsiteY6" fmla="*/ 3518710 h 5947154"/>
                <a:gd name="connsiteX7" fmla="*/ 4246778 w 9886230"/>
                <a:gd name="connsiteY7" fmla="*/ 3683447 h 5947154"/>
                <a:gd name="connsiteX8" fmla="*/ 4549652 w 9886230"/>
                <a:gd name="connsiteY8" fmla="*/ 3817371 h 5947154"/>
                <a:gd name="connsiteX9" fmla="*/ 4606290 w 9886230"/>
                <a:gd name="connsiteY9" fmla="*/ 3818145 h 5947154"/>
                <a:gd name="connsiteX10" fmla="*/ 4727426 w 9886230"/>
                <a:gd name="connsiteY10" fmla="*/ 4027957 h 5947154"/>
                <a:gd name="connsiteX11" fmla="*/ 4947436 w 9886230"/>
                <a:gd name="connsiteY11" fmla="*/ 4409025 h 5947154"/>
                <a:gd name="connsiteX12" fmla="*/ 4947456 w 9886230"/>
                <a:gd name="connsiteY12" fmla="*/ 4487335 h 5947154"/>
                <a:gd name="connsiteX13" fmla="*/ 4827784 w 9886230"/>
                <a:gd name="connsiteY13" fmla="*/ 4757640 h 5947154"/>
                <a:gd name="connsiteX14" fmla="*/ 4461053 w 9886230"/>
                <a:gd name="connsiteY14" fmla="*/ 4642576 h 5947154"/>
                <a:gd name="connsiteX15" fmla="*/ 3677675 w 9886230"/>
                <a:gd name="connsiteY15" fmla="*/ 4494261 h 5947154"/>
                <a:gd name="connsiteX16" fmla="*/ 3294167 w 9886230"/>
                <a:gd name="connsiteY16" fmla="*/ 5298613 h 5947154"/>
                <a:gd name="connsiteX17" fmla="*/ 3183199 w 9886230"/>
                <a:gd name="connsiteY17" fmla="*/ 5733636 h 5947154"/>
                <a:gd name="connsiteX18" fmla="*/ 2864505 w 9886230"/>
                <a:gd name="connsiteY18" fmla="*/ 5682889 h 5947154"/>
                <a:gd name="connsiteX19" fmla="*/ 2805505 w 9886230"/>
                <a:gd name="connsiteY19" fmla="*/ 5646163 h 5947154"/>
                <a:gd name="connsiteX20" fmla="*/ 2781986 w 9886230"/>
                <a:gd name="connsiteY20" fmla="*/ 5625889 h 5947154"/>
                <a:gd name="connsiteX21" fmla="*/ 2699847 w 9886230"/>
                <a:gd name="connsiteY21" fmla="*/ 5581089 h 5947154"/>
                <a:gd name="connsiteX22" fmla="*/ 2579026 w 9886230"/>
                <a:gd name="connsiteY22" fmla="*/ 5507529 h 5947154"/>
                <a:gd name="connsiteX23" fmla="*/ 1979073 w 9886230"/>
                <a:gd name="connsiteY23" fmla="*/ 5483789 h 5947154"/>
                <a:gd name="connsiteX24" fmla="*/ 1696683 w 9886230"/>
                <a:gd name="connsiteY24" fmla="*/ 5898508 h 5947154"/>
                <a:gd name="connsiteX25" fmla="*/ 1691953 w 9886230"/>
                <a:gd name="connsiteY25" fmla="*/ 5947154 h 5947154"/>
                <a:gd name="connsiteX26" fmla="*/ 0 w 9886230"/>
                <a:gd name="connsiteY26" fmla="*/ 5947154 h 5947154"/>
                <a:gd name="connsiteX27" fmla="*/ 4730 w 9886230"/>
                <a:gd name="connsiteY27" fmla="*/ 5898508 h 5947154"/>
                <a:gd name="connsiteX28" fmla="*/ 287119 w 9886230"/>
                <a:gd name="connsiteY28" fmla="*/ 5483789 h 5947154"/>
                <a:gd name="connsiteX29" fmla="*/ 887072 w 9886230"/>
                <a:gd name="connsiteY29" fmla="*/ 5507529 h 5947154"/>
                <a:gd name="connsiteX30" fmla="*/ 1007893 w 9886230"/>
                <a:gd name="connsiteY30" fmla="*/ 5581089 h 5947154"/>
                <a:gd name="connsiteX31" fmla="*/ 1090033 w 9886230"/>
                <a:gd name="connsiteY31" fmla="*/ 5625889 h 5947154"/>
                <a:gd name="connsiteX32" fmla="*/ 1113552 w 9886230"/>
                <a:gd name="connsiteY32" fmla="*/ 5646163 h 5947154"/>
                <a:gd name="connsiteX33" fmla="*/ 1172552 w 9886230"/>
                <a:gd name="connsiteY33" fmla="*/ 5682889 h 5947154"/>
                <a:gd name="connsiteX34" fmla="*/ 1491245 w 9886230"/>
                <a:gd name="connsiteY34" fmla="*/ 5733636 h 5947154"/>
                <a:gd name="connsiteX35" fmla="*/ 1602214 w 9886230"/>
                <a:gd name="connsiteY35" fmla="*/ 5298613 h 5947154"/>
                <a:gd name="connsiteX36" fmla="*/ 1985722 w 9886230"/>
                <a:gd name="connsiteY36" fmla="*/ 4494261 h 5947154"/>
                <a:gd name="connsiteX37" fmla="*/ 2769101 w 9886230"/>
                <a:gd name="connsiteY37" fmla="*/ 4642576 h 5947154"/>
                <a:gd name="connsiteX38" fmla="*/ 3135832 w 9886230"/>
                <a:gd name="connsiteY38" fmla="*/ 4757640 h 5947154"/>
                <a:gd name="connsiteX39" fmla="*/ 3255469 w 9886230"/>
                <a:gd name="connsiteY39" fmla="*/ 4352941 h 5947154"/>
                <a:gd name="connsiteX40" fmla="*/ 3563312 w 9886230"/>
                <a:gd name="connsiteY40" fmla="*/ 3601104 h 5947154"/>
                <a:gd name="connsiteX41" fmla="*/ 3865223 w 9886230"/>
                <a:gd name="connsiteY41" fmla="*/ 3518710 h 5947154"/>
                <a:gd name="connsiteX42" fmla="*/ 8244527 w 9886230"/>
                <a:gd name="connsiteY42" fmla="*/ 1885633 h 5947154"/>
                <a:gd name="connsiteX43" fmla="*/ 8244369 w 9886230"/>
                <a:gd name="connsiteY43" fmla="*/ 1886508 h 5947154"/>
                <a:gd name="connsiteX44" fmla="*/ 8244933 w 9886230"/>
                <a:gd name="connsiteY44" fmla="*/ 1886182 h 5947154"/>
                <a:gd name="connsiteX45" fmla="*/ 9849781 w 9886230"/>
                <a:gd name="connsiteY45" fmla="*/ 0 h 5947154"/>
                <a:gd name="connsiteX46" fmla="*/ 9886230 w 9886230"/>
                <a:gd name="connsiteY46" fmla="*/ 0 h 5947154"/>
                <a:gd name="connsiteX47" fmla="*/ 9886230 w 9886230"/>
                <a:gd name="connsiteY47" fmla="*/ 926156 h 5947154"/>
                <a:gd name="connsiteX48" fmla="*/ 9880965 w 9886230"/>
                <a:gd name="connsiteY48" fmla="*/ 930594 h 5947154"/>
                <a:gd name="connsiteX49" fmla="*/ 9724185 w 9886230"/>
                <a:gd name="connsiteY49" fmla="*/ 1586240 h 5947154"/>
                <a:gd name="connsiteX50" fmla="*/ 9613215 w 9886230"/>
                <a:gd name="connsiteY50" fmla="*/ 2021263 h 5947154"/>
                <a:gd name="connsiteX51" fmla="*/ 9294522 w 9886230"/>
                <a:gd name="connsiteY51" fmla="*/ 1970517 h 5947154"/>
                <a:gd name="connsiteX52" fmla="*/ 9235523 w 9886230"/>
                <a:gd name="connsiteY52" fmla="*/ 1933790 h 5947154"/>
                <a:gd name="connsiteX53" fmla="*/ 9212004 w 9886230"/>
                <a:gd name="connsiteY53" fmla="*/ 1913516 h 5947154"/>
                <a:gd name="connsiteX54" fmla="*/ 9129861 w 9886230"/>
                <a:gd name="connsiteY54" fmla="*/ 1868718 h 5947154"/>
                <a:gd name="connsiteX55" fmla="*/ 9009042 w 9886230"/>
                <a:gd name="connsiteY55" fmla="*/ 1795156 h 5947154"/>
                <a:gd name="connsiteX56" fmla="*/ 8409089 w 9886230"/>
                <a:gd name="connsiteY56" fmla="*/ 1771417 h 5947154"/>
                <a:gd name="connsiteX57" fmla="*/ 8116269 w 9886230"/>
                <a:gd name="connsiteY57" fmla="*/ 2488078 h 5947154"/>
                <a:gd name="connsiteX58" fmla="*/ 7998678 w 9886230"/>
                <a:gd name="connsiteY58" fmla="*/ 2926923 h 5947154"/>
                <a:gd name="connsiteX59" fmla="*/ 7398525 w 9886230"/>
                <a:gd name="connsiteY59" fmla="*/ 2805307 h 5947154"/>
                <a:gd name="connsiteX60" fmla="*/ 6774678 w 9886230"/>
                <a:gd name="connsiteY60" fmla="*/ 2688543 h 5947154"/>
                <a:gd name="connsiteX61" fmla="*/ 6448151 w 9886230"/>
                <a:gd name="connsiteY61" fmla="*/ 3245949 h 5947154"/>
                <a:gd name="connsiteX62" fmla="*/ 6439724 w 9886230"/>
                <a:gd name="connsiteY62" fmla="*/ 3454496 h 5947154"/>
                <a:gd name="connsiteX63" fmla="*/ 6436524 w 9886230"/>
                <a:gd name="connsiteY63" fmla="*/ 3515940 h 5947154"/>
                <a:gd name="connsiteX64" fmla="*/ 6437878 w 9886230"/>
                <a:gd name="connsiteY64" fmla="*/ 3523922 h 5947154"/>
                <a:gd name="connsiteX65" fmla="*/ 6437062 w 9886230"/>
                <a:gd name="connsiteY65" fmla="*/ 3572382 h 5947154"/>
                <a:gd name="connsiteX66" fmla="*/ 6330467 w 9886230"/>
                <a:gd name="connsiteY66" fmla="*/ 3816095 h 5947154"/>
                <a:gd name="connsiteX67" fmla="*/ 6307367 w 9886230"/>
                <a:gd name="connsiteY67" fmla="*/ 3833941 h 5947154"/>
                <a:gd name="connsiteX68" fmla="*/ 6417038 w 9886230"/>
                <a:gd name="connsiteY68" fmla="*/ 4023897 h 5947154"/>
                <a:gd name="connsiteX69" fmla="*/ 7527431 w 9886230"/>
                <a:gd name="connsiteY69" fmla="*/ 5947154 h 5947154"/>
                <a:gd name="connsiteX70" fmla="*/ 7527427 w 9886230"/>
                <a:gd name="connsiteY70" fmla="*/ 5947154 h 5947154"/>
                <a:gd name="connsiteX71" fmla="*/ 6419379 w 9886230"/>
                <a:gd name="connsiteY71" fmla="*/ 4027957 h 5947154"/>
                <a:gd name="connsiteX72" fmla="*/ 6298243 w 9886230"/>
                <a:gd name="connsiteY72" fmla="*/ 3818145 h 5947154"/>
                <a:gd name="connsiteX73" fmla="*/ 6241605 w 9886230"/>
                <a:gd name="connsiteY73" fmla="*/ 3817371 h 5947154"/>
                <a:gd name="connsiteX74" fmla="*/ 5938731 w 9886230"/>
                <a:gd name="connsiteY74" fmla="*/ 3683447 h 5947154"/>
                <a:gd name="connsiteX75" fmla="*/ 5255265 w 9886230"/>
                <a:gd name="connsiteY75" fmla="*/ 3601104 h 5947154"/>
                <a:gd name="connsiteX76" fmla="*/ 4947421 w 9886230"/>
                <a:gd name="connsiteY76" fmla="*/ 4352941 h 5947154"/>
                <a:gd name="connsiteX77" fmla="*/ 4947436 w 9886230"/>
                <a:gd name="connsiteY77" fmla="*/ 4409019 h 5947154"/>
                <a:gd name="connsiteX78" fmla="*/ 4725086 w 9886230"/>
                <a:gd name="connsiteY78" fmla="*/ 4023897 h 5947154"/>
                <a:gd name="connsiteX79" fmla="*/ 4615415 w 9886230"/>
                <a:gd name="connsiteY79" fmla="*/ 3833941 h 5947154"/>
                <a:gd name="connsiteX80" fmla="*/ 4638514 w 9886230"/>
                <a:gd name="connsiteY80" fmla="*/ 3816095 h 5947154"/>
                <a:gd name="connsiteX81" fmla="*/ 4745110 w 9886230"/>
                <a:gd name="connsiteY81" fmla="*/ 3572382 h 5947154"/>
                <a:gd name="connsiteX82" fmla="*/ 4745925 w 9886230"/>
                <a:gd name="connsiteY82" fmla="*/ 3523922 h 5947154"/>
                <a:gd name="connsiteX83" fmla="*/ 4744571 w 9886230"/>
                <a:gd name="connsiteY83" fmla="*/ 3515940 h 5947154"/>
                <a:gd name="connsiteX84" fmla="*/ 4747772 w 9886230"/>
                <a:gd name="connsiteY84" fmla="*/ 3454496 h 5947154"/>
                <a:gd name="connsiteX85" fmla="*/ 4756198 w 9886230"/>
                <a:gd name="connsiteY85" fmla="*/ 3245949 h 5947154"/>
                <a:gd name="connsiteX86" fmla="*/ 5082726 w 9886230"/>
                <a:gd name="connsiteY86" fmla="*/ 2688543 h 5947154"/>
                <a:gd name="connsiteX87" fmla="*/ 5706572 w 9886230"/>
                <a:gd name="connsiteY87" fmla="*/ 2805307 h 5947154"/>
                <a:gd name="connsiteX88" fmla="*/ 6306725 w 9886230"/>
                <a:gd name="connsiteY88" fmla="*/ 2926923 h 5947154"/>
                <a:gd name="connsiteX89" fmla="*/ 6424316 w 9886230"/>
                <a:gd name="connsiteY89" fmla="*/ 2488078 h 5947154"/>
                <a:gd name="connsiteX90" fmla="*/ 6717136 w 9886230"/>
                <a:gd name="connsiteY90" fmla="*/ 1771417 h 5947154"/>
                <a:gd name="connsiteX91" fmla="*/ 7317089 w 9886230"/>
                <a:gd name="connsiteY91" fmla="*/ 1795156 h 5947154"/>
                <a:gd name="connsiteX92" fmla="*/ 7437908 w 9886230"/>
                <a:gd name="connsiteY92" fmla="*/ 1868718 h 5947154"/>
                <a:gd name="connsiteX93" fmla="*/ 7520051 w 9886230"/>
                <a:gd name="connsiteY93" fmla="*/ 1913516 h 5947154"/>
                <a:gd name="connsiteX94" fmla="*/ 7543570 w 9886230"/>
                <a:gd name="connsiteY94" fmla="*/ 1933790 h 5947154"/>
                <a:gd name="connsiteX95" fmla="*/ 7602569 w 9886230"/>
                <a:gd name="connsiteY95" fmla="*/ 1970517 h 5947154"/>
                <a:gd name="connsiteX96" fmla="*/ 7921262 w 9886230"/>
                <a:gd name="connsiteY96" fmla="*/ 2021263 h 5947154"/>
                <a:gd name="connsiteX97" fmla="*/ 8032232 w 9886230"/>
                <a:gd name="connsiteY97" fmla="*/ 1586240 h 5947154"/>
                <a:gd name="connsiteX98" fmla="*/ 8415739 w 9886230"/>
                <a:gd name="connsiteY98" fmla="*/ 781888 h 5947154"/>
                <a:gd name="connsiteX99" fmla="*/ 9199119 w 9886230"/>
                <a:gd name="connsiteY99" fmla="*/ 930202 h 5947154"/>
                <a:gd name="connsiteX100" fmla="*/ 9565849 w 9886230"/>
                <a:gd name="connsiteY100" fmla="*/ 1045267 h 5947154"/>
                <a:gd name="connsiteX101" fmla="*/ 9685487 w 9886230"/>
                <a:gd name="connsiteY101" fmla="*/ 640567 h 5947154"/>
                <a:gd name="connsiteX102" fmla="*/ 9808641 w 9886230"/>
                <a:gd name="connsiteY102" fmla="*/ 42838 h 5947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886230" h="5947154">
                  <a:moveTo>
                    <a:pt x="3506461" y="5598007"/>
                  </a:moveTo>
                  <a:lnTo>
                    <a:pt x="3506868" y="5598556"/>
                  </a:lnTo>
                  <a:lnTo>
                    <a:pt x="3506305" y="5598880"/>
                  </a:lnTo>
                  <a:close/>
                  <a:moveTo>
                    <a:pt x="1814508" y="5598007"/>
                  </a:moveTo>
                  <a:lnTo>
                    <a:pt x="1814352" y="5598880"/>
                  </a:lnTo>
                  <a:lnTo>
                    <a:pt x="1814914" y="5598556"/>
                  </a:lnTo>
                  <a:close/>
                  <a:moveTo>
                    <a:pt x="3865223" y="3518710"/>
                  </a:moveTo>
                  <a:cubicBezTo>
                    <a:pt x="4011555" y="3524619"/>
                    <a:pt x="4128422" y="3602739"/>
                    <a:pt x="4246778" y="3683447"/>
                  </a:cubicBezTo>
                  <a:cubicBezTo>
                    <a:pt x="4335986" y="3742348"/>
                    <a:pt x="4430771" y="3804927"/>
                    <a:pt x="4549652" y="3817371"/>
                  </a:cubicBezTo>
                  <a:lnTo>
                    <a:pt x="4606290" y="3818145"/>
                  </a:lnTo>
                  <a:lnTo>
                    <a:pt x="4727426" y="4027957"/>
                  </a:lnTo>
                  <a:lnTo>
                    <a:pt x="4947436" y="4409025"/>
                  </a:lnTo>
                  <a:lnTo>
                    <a:pt x="4947456" y="4487335"/>
                  </a:lnTo>
                  <a:cubicBezTo>
                    <a:pt x="4944559" y="4615694"/>
                    <a:pt x="4925816" y="4720911"/>
                    <a:pt x="4827784" y="4757640"/>
                  </a:cubicBezTo>
                  <a:cubicBezTo>
                    <a:pt x="4694278" y="4817058"/>
                    <a:pt x="4582885" y="4731214"/>
                    <a:pt x="4461053" y="4642576"/>
                  </a:cubicBezTo>
                  <a:cubicBezTo>
                    <a:pt x="4264031" y="4500192"/>
                    <a:pt x="4048910" y="4341760"/>
                    <a:pt x="3677675" y="4494261"/>
                  </a:cubicBezTo>
                  <a:cubicBezTo>
                    <a:pt x="3282746" y="4651618"/>
                    <a:pt x="3292798" y="4990279"/>
                    <a:pt x="3294167" y="5298613"/>
                  </a:cubicBezTo>
                  <a:cubicBezTo>
                    <a:pt x="3298814" y="5490238"/>
                    <a:pt x="3299640" y="5675245"/>
                    <a:pt x="3183199" y="5733636"/>
                  </a:cubicBezTo>
                  <a:cubicBezTo>
                    <a:pt x="3083835" y="5791003"/>
                    <a:pt x="2976554" y="5748611"/>
                    <a:pt x="2864505" y="5682889"/>
                  </a:cubicBezTo>
                  <a:lnTo>
                    <a:pt x="2805505" y="5646163"/>
                  </a:lnTo>
                  <a:lnTo>
                    <a:pt x="2781986" y="5625889"/>
                  </a:lnTo>
                  <a:lnTo>
                    <a:pt x="2699847" y="5581089"/>
                  </a:lnTo>
                  <a:lnTo>
                    <a:pt x="2579026" y="5507529"/>
                  </a:lnTo>
                  <a:cubicBezTo>
                    <a:pt x="2402667" y="5411454"/>
                    <a:pt x="2210476" y="5356808"/>
                    <a:pt x="1979073" y="5483789"/>
                  </a:cubicBezTo>
                  <a:cubicBezTo>
                    <a:pt x="1790376" y="5587209"/>
                    <a:pt x="1720845" y="5735685"/>
                    <a:pt x="1696683" y="5898508"/>
                  </a:cubicBezTo>
                  <a:lnTo>
                    <a:pt x="1691953" y="5947154"/>
                  </a:lnTo>
                  <a:lnTo>
                    <a:pt x="0" y="5947154"/>
                  </a:lnTo>
                  <a:lnTo>
                    <a:pt x="4730" y="5898508"/>
                  </a:lnTo>
                  <a:cubicBezTo>
                    <a:pt x="28892" y="5735685"/>
                    <a:pt x="98423" y="5587209"/>
                    <a:pt x="287119" y="5483789"/>
                  </a:cubicBezTo>
                  <a:cubicBezTo>
                    <a:pt x="518523" y="5356808"/>
                    <a:pt x="710712" y="5411454"/>
                    <a:pt x="887072" y="5507529"/>
                  </a:cubicBezTo>
                  <a:lnTo>
                    <a:pt x="1007893" y="5581089"/>
                  </a:lnTo>
                  <a:lnTo>
                    <a:pt x="1090033" y="5625889"/>
                  </a:lnTo>
                  <a:lnTo>
                    <a:pt x="1113552" y="5646163"/>
                  </a:lnTo>
                  <a:lnTo>
                    <a:pt x="1172552" y="5682889"/>
                  </a:lnTo>
                  <a:cubicBezTo>
                    <a:pt x="1284601" y="5748611"/>
                    <a:pt x="1391882" y="5791003"/>
                    <a:pt x="1491245" y="5733636"/>
                  </a:cubicBezTo>
                  <a:cubicBezTo>
                    <a:pt x="1607686" y="5675245"/>
                    <a:pt x="1606861" y="5490238"/>
                    <a:pt x="1602214" y="5298613"/>
                  </a:cubicBezTo>
                  <a:cubicBezTo>
                    <a:pt x="1600844" y="4990279"/>
                    <a:pt x="1590792" y="4651618"/>
                    <a:pt x="1985722" y="4494261"/>
                  </a:cubicBezTo>
                  <a:cubicBezTo>
                    <a:pt x="2356958" y="4341760"/>
                    <a:pt x="2572078" y="4500192"/>
                    <a:pt x="2769101" y="4642576"/>
                  </a:cubicBezTo>
                  <a:cubicBezTo>
                    <a:pt x="2890932" y="4731214"/>
                    <a:pt x="3002326" y="4817058"/>
                    <a:pt x="3135832" y="4757640"/>
                  </a:cubicBezTo>
                  <a:cubicBezTo>
                    <a:pt x="3266541" y="4708669"/>
                    <a:pt x="3256292" y="4537939"/>
                    <a:pt x="3255469" y="4352941"/>
                  </a:cubicBezTo>
                  <a:cubicBezTo>
                    <a:pt x="3249526" y="4082569"/>
                    <a:pt x="3241526" y="3778061"/>
                    <a:pt x="3563312" y="3601104"/>
                  </a:cubicBezTo>
                  <a:cubicBezTo>
                    <a:pt x="3679014" y="3537617"/>
                    <a:pt x="3777423" y="3515166"/>
                    <a:pt x="3865223" y="3518710"/>
                  </a:cubicBezTo>
                  <a:close/>
                  <a:moveTo>
                    <a:pt x="8244527" y="1885633"/>
                  </a:moveTo>
                  <a:lnTo>
                    <a:pt x="8244369" y="1886508"/>
                  </a:lnTo>
                  <a:lnTo>
                    <a:pt x="8244933" y="1886182"/>
                  </a:lnTo>
                  <a:close/>
                  <a:moveTo>
                    <a:pt x="9849781" y="0"/>
                  </a:moveTo>
                  <a:lnTo>
                    <a:pt x="9886230" y="0"/>
                  </a:lnTo>
                  <a:lnTo>
                    <a:pt x="9886230" y="926156"/>
                  </a:lnTo>
                  <a:lnTo>
                    <a:pt x="9880965" y="930594"/>
                  </a:lnTo>
                  <a:cubicBezTo>
                    <a:pt x="9717245" y="1106681"/>
                    <a:pt x="9723157" y="1354990"/>
                    <a:pt x="9724185" y="1586240"/>
                  </a:cubicBezTo>
                  <a:cubicBezTo>
                    <a:pt x="9728831" y="1777866"/>
                    <a:pt x="9729656" y="1962873"/>
                    <a:pt x="9613215" y="2021263"/>
                  </a:cubicBezTo>
                  <a:cubicBezTo>
                    <a:pt x="9513852" y="2078631"/>
                    <a:pt x="9406572" y="2036238"/>
                    <a:pt x="9294522" y="1970517"/>
                  </a:cubicBezTo>
                  <a:lnTo>
                    <a:pt x="9235523" y="1933790"/>
                  </a:lnTo>
                  <a:lnTo>
                    <a:pt x="9212004" y="1913516"/>
                  </a:lnTo>
                  <a:lnTo>
                    <a:pt x="9129861" y="1868718"/>
                  </a:lnTo>
                  <a:lnTo>
                    <a:pt x="9009042" y="1795156"/>
                  </a:lnTo>
                  <a:cubicBezTo>
                    <a:pt x="8832682" y="1699082"/>
                    <a:pt x="8640491" y="1644437"/>
                    <a:pt x="8409089" y="1771417"/>
                  </a:cubicBezTo>
                  <a:cubicBezTo>
                    <a:pt x="8107174" y="1936888"/>
                    <a:pt x="8110322" y="2217705"/>
                    <a:pt x="8116269" y="2488078"/>
                  </a:cubicBezTo>
                  <a:cubicBezTo>
                    <a:pt x="8120917" y="2679706"/>
                    <a:pt x="8124542" y="2854256"/>
                    <a:pt x="7998678" y="2926923"/>
                  </a:cubicBezTo>
                  <a:cubicBezTo>
                    <a:pt x="7839698" y="3018711"/>
                    <a:pt x="7610578" y="2912517"/>
                    <a:pt x="7398525" y="2805307"/>
                  </a:cubicBezTo>
                  <a:cubicBezTo>
                    <a:pt x="7176030" y="2695298"/>
                    <a:pt x="6957358" y="2591910"/>
                    <a:pt x="6774678" y="2688543"/>
                  </a:cubicBezTo>
                  <a:cubicBezTo>
                    <a:pt x="6527603" y="2811321"/>
                    <a:pt x="6466604" y="3015454"/>
                    <a:pt x="6448151" y="3245949"/>
                  </a:cubicBezTo>
                  <a:lnTo>
                    <a:pt x="6439724" y="3454496"/>
                  </a:lnTo>
                  <a:lnTo>
                    <a:pt x="6436524" y="3515940"/>
                  </a:lnTo>
                  <a:lnTo>
                    <a:pt x="6437878" y="3523922"/>
                  </a:lnTo>
                  <a:lnTo>
                    <a:pt x="6437062" y="3572382"/>
                  </a:lnTo>
                  <a:cubicBezTo>
                    <a:pt x="6435701" y="3692407"/>
                    <a:pt x="6382915" y="3769254"/>
                    <a:pt x="6330467" y="3816095"/>
                  </a:cubicBezTo>
                  <a:lnTo>
                    <a:pt x="6307367" y="3833941"/>
                  </a:lnTo>
                  <a:lnTo>
                    <a:pt x="6417038" y="4023897"/>
                  </a:lnTo>
                  <a:lnTo>
                    <a:pt x="7527431" y="5947154"/>
                  </a:lnTo>
                  <a:lnTo>
                    <a:pt x="7527427" y="5947154"/>
                  </a:lnTo>
                  <a:lnTo>
                    <a:pt x="6419379" y="4027957"/>
                  </a:lnTo>
                  <a:lnTo>
                    <a:pt x="6298243" y="3818145"/>
                  </a:lnTo>
                  <a:lnTo>
                    <a:pt x="6241605" y="3817371"/>
                  </a:lnTo>
                  <a:cubicBezTo>
                    <a:pt x="6122724" y="3804927"/>
                    <a:pt x="6027939" y="3742348"/>
                    <a:pt x="5938731" y="3683447"/>
                  </a:cubicBezTo>
                  <a:cubicBezTo>
                    <a:pt x="5749360" y="3554314"/>
                    <a:pt x="5563804" y="3431806"/>
                    <a:pt x="5255265" y="3601104"/>
                  </a:cubicBezTo>
                  <a:cubicBezTo>
                    <a:pt x="4933480" y="3778061"/>
                    <a:pt x="4941478" y="4082569"/>
                    <a:pt x="4947421" y="4352941"/>
                  </a:cubicBezTo>
                  <a:lnTo>
                    <a:pt x="4947436" y="4409019"/>
                  </a:lnTo>
                  <a:lnTo>
                    <a:pt x="4725086" y="4023897"/>
                  </a:lnTo>
                  <a:lnTo>
                    <a:pt x="4615415" y="3833941"/>
                  </a:lnTo>
                  <a:lnTo>
                    <a:pt x="4638514" y="3816095"/>
                  </a:lnTo>
                  <a:cubicBezTo>
                    <a:pt x="4690962" y="3769254"/>
                    <a:pt x="4743748" y="3692407"/>
                    <a:pt x="4745110" y="3572382"/>
                  </a:cubicBezTo>
                  <a:lnTo>
                    <a:pt x="4745925" y="3523922"/>
                  </a:lnTo>
                  <a:lnTo>
                    <a:pt x="4744571" y="3515940"/>
                  </a:lnTo>
                  <a:lnTo>
                    <a:pt x="4747772" y="3454496"/>
                  </a:lnTo>
                  <a:lnTo>
                    <a:pt x="4756198" y="3245949"/>
                  </a:lnTo>
                  <a:cubicBezTo>
                    <a:pt x="4774652" y="3015454"/>
                    <a:pt x="4835651" y="2811321"/>
                    <a:pt x="5082726" y="2688543"/>
                  </a:cubicBezTo>
                  <a:cubicBezTo>
                    <a:pt x="5265406" y="2591910"/>
                    <a:pt x="5484077" y="2695298"/>
                    <a:pt x="5706572" y="2805307"/>
                  </a:cubicBezTo>
                  <a:cubicBezTo>
                    <a:pt x="5918625" y="2912517"/>
                    <a:pt x="6147745" y="3018711"/>
                    <a:pt x="6306725" y="2926923"/>
                  </a:cubicBezTo>
                  <a:cubicBezTo>
                    <a:pt x="6432589" y="2854256"/>
                    <a:pt x="6428964" y="2679706"/>
                    <a:pt x="6424316" y="2488078"/>
                  </a:cubicBezTo>
                  <a:cubicBezTo>
                    <a:pt x="6418369" y="2217705"/>
                    <a:pt x="6415221" y="1936888"/>
                    <a:pt x="6717136" y="1771417"/>
                  </a:cubicBezTo>
                  <a:cubicBezTo>
                    <a:pt x="6948538" y="1644437"/>
                    <a:pt x="7140729" y="1699082"/>
                    <a:pt x="7317089" y="1795156"/>
                  </a:cubicBezTo>
                  <a:lnTo>
                    <a:pt x="7437908" y="1868718"/>
                  </a:lnTo>
                  <a:lnTo>
                    <a:pt x="7520051" y="1913516"/>
                  </a:lnTo>
                  <a:lnTo>
                    <a:pt x="7543570" y="1933790"/>
                  </a:lnTo>
                  <a:lnTo>
                    <a:pt x="7602569" y="1970517"/>
                  </a:lnTo>
                  <a:cubicBezTo>
                    <a:pt x="7714619" y="2036238"/>
                    <a:pt x="7821899" y="2078631"/>
                    <a:pt x="7921262" y="2021263"/>
                  </a:cubicBezTo>
                  <a:cubicBezTo>
                    <a:pt x="8037703" y="1962873"/>
                    <a:pt x="8036878" y="1777866"/>
                    <a:pt x="8032232" y="1586240"/>
                  </a:cubicBezTo>
                  <a:cubicBezTo>
                    <a:pt x="8030861" y="1277907"/>
                    <a:pt x="8020809" y="939246"/>
                    <a:pt x="8415739" y="781888"/>
                  </a:cubicBezTo>
                  <a:cubicBezTo>
                    <a:pt x="8786974" y="629388"/>
                    <a:pt x="9002097" y="787818"/>
                    <a:pt x="9199119" y="930202"/>
                  </a:cubicBezTo>
                  <a:cubicBezTo>
                    <a:pt x="9320952" y="1018840"/>
                    <a:pt x="9432344" y="1104684"/>
                    <a:pt x="9565849" y="1045267"/>
                  </a:cubicBezTo>
                  <a:cubicBezTo>
                    <a:pt x="9696556" y="996297"/>
                    <a:pt x="9686309" y="825566"/>
                    <a:pt x="9685487" y="640567"/>
                  </a:cubicBezTo>
                  <a:cubicBezTo>
                    <a:pt x="9681030" y="437788"/>
                    <a:pt x="9675417" y="215808"/>
                    <a:pt x="9808641" y="4283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Freeform: Shape 6">
              <a:extLst>
                <a:ext uri="{FF2B5EF4-FFF2-40B4-BE49-F238E27FC236}">
                  <a16:creationId xmlns:a16="http://schemas.microsoft.com/office/drawing/2014/main" id="{09B5E42C-B13C-44D8-8EB1-CFCF68E9539B}"/>
                </a:ext>
              </a:extLst>
            </p:cNvPr>
            <p:cNvSpPr/>
            <p:nvPr userDrawn="1"/>
          </p:nvSpPr>
          <p:spPr>
            <a:xfrm flipH="1">
              <a:off x="0" y="3561016"/>
              <a:ext cx="5485327" cy="3296984"/>
            </a:xfrm>
            <a:custGeom>
              <a:avLst/>
              <a:gdLst>
                <a:gd name="connsiteX0" fmla="*/ 3503552 w 5485326"/>
                <a:gd name="connsiteY0" fmla="*/ 2947837 h 3296984"/>
                <a:gd name="connsiteX1" fmla="*/ 3503959 w 5485326"/>
                <a:gd name="connsiteY1" fmla="*/ 2948386 h 3296984"/>
                <a:gd name="connsiteX2" fmla="*/ 3503396 w 5485326"/>
                <a:gd name="connsiteY2" fmla="*/ 2948710 h 3296984"/>
                <a:gd name="connsiteX3" fmla="*/ 1811599 w 5485326"/>
                <a:gd name="connsiteY3" fmla="*/ 2947837 h 3296984"/>
                <a:gd name="connsiteX4" fmla="*/ 1811443 w 5485326"/>
                <a:gd name="connsiteY4" fmla="*/ 2948710 h 3296984"/>
                <a:gd name="connsiteX5" fmla="*/ 1812005 w 5485326"/>
                <a:gd name="connsiteY5" fmla="*/ 2948386 h 3296984"/>
                <a:gd name="connsiteX6" fmla="*/ 3862313 w 5485326"/>
                <a:gd name="connsiteY6" fmla="*/ 868540 h 3296984"/>
                <a:gd name="connsiteX7" fmla="*/ 4243869 w 5485326"/>
                <a:gd name="connsiteY7" fmla="*/ 1033277 h 3296984"/>
                <a:gd name="connsiteX8" fmla="*/ 4546743 w 5485326"/>
                <a:gd name="connsiteY8" fmla="*/ 1167201 h 3296984"/>
                <a:gd name="connsiteX9" fmla="*/ 4603381 w 5485326"/>
                <a:gd name="connsiteY9" fmla="*/ 1167975 h 3296984"/>
                <a:gd name="connsiteX10" fmla="*/ 4724517 w 5485326"/>
                <a:gd name="connsiteY10" fmla="*/ 1377787 h 3296984"/>
                <a:gd name="connsiteX11" fmla="*/ 4944527 w 5485326"/>
                <a:gd name="connsiteY11" fmla="*/ 1758855 h 3296984"/>
                <a:gd name="connsiteX12" fmla="*/ 4944547 w 5485326"/>
                <a:gd name="connsiteY12" fmla="*/ 1837165 h 3296984"/>
                <a:gd name="connsiteX13" fmla="*/ 4824875 w 5485326"/>
                <a:gd name="connsiteY13" fmla="*/ 2107470 h 3296984"/>
                <a:gd name="connsiteX14" fmla="*/ 4458144 w 5485326"/>
                <a:gd name="connsiteY14" fmla="*/ 1992406 h 3296984"/>
                <a:gd name="connsiteX15" fmla="*/ 3674766 w 5485326"/>
                <a:gd name="connsiteY15" fmla="*/ 1844091 h 3296984"/>
                <a:gd name="connsiteX16" fmla="*/ 3291258 w 5485326"/>
                <a:gd name="connsiteY16" fmla="*/ 2648443 h 3296984"/>
                <a:gd name="connsiteX17" fmla="*/ 3180290 w 5485326"/>
                <a:gd name="connsiteY17" fmla="*/ 3083466 h 3296984"/>
                <a:gd name="connsiteX18" fmla="*/ 2861596 w 5485326"/>
                <a:gd name="connsiteY18" fmla="*/ 3032719 h 3296984"/>
                <a:gd name="connsiteX19" fmla="*/ 2802596 w 5485326"/>
                <a:gd name="connsiteY19" fmla="*/ 2995993 h 3296984"/>
                <a:gd name="connsiteX20" fmla="*/ 2779077 w 5485326"/>
                <a:gd name="connsiteY20" fmla="*/ 2975719 h 3296984"/>
                <a:gd name="connsiteX21" fmla="*/ 2696938 w 5485326"/>
                <a:gd name="connsiteY21" fmla="*/ 2930919 h 3296984"/>
                <a:gd name="connsiteX22" fmla="*/ 2576117 w 5485326"/>
                <a:gd name="connsiteY22" fmla="*/ 2857359 h 3296984"/>
                <a:gd name="connsiteX23" fmla="*/ 1976163 w 5485326"/>
                <a:gd name="connsiteY23" fmla="*/ 2833619 h 3296984"/>
                <a:gd name="connsiteX24" fmla="*/ 1714306 w 5485326"/>
                <a:gd name="connsiteY24" fmla="*/ 3152611 h 3296984"/>
                <a:gd name="connsiteX25" fmla="*/ 1691953 w 5485326"/>
                <a:gd name="connsiteY25" fmla="*/ 3296984 h 3296984"/>
                <a:gd name="connsiteX26" fmla="*/ 0 w 5485326"/>
                <a:gd name="connsiteY26" fmla="*/ 3296984 h 3296984"/>
                <a:gd name="connsiteX27" fmla="*/ 22353 w 5485326"/>
                <a:gd name="connsiteY27" fmla="*/ 3152611 h 3296984"/>
                <a:gd name="connsiteX28" fmla="*/ 284210 w 5485326"/>
                <a:gd name="connsiteY28" fmla="*/ 2833619 h 3296984"/>
                <a:gd name="connsiteX29" fmla="*/ 884163 w 5485326"/>
                <a:gd name="connsiteY29" fmla="*/ 2857359 h 3296984"/>
                <a:gd name="connsiteX30" fmla="*/ 1004984 w 5485326"/>
                <a:gd name="connsiteY30" fmla="*/ 2930919 h 3296984"/>
                <a:gd name="connsiteX31" fmla="*/ 1087124 w 5485326"/>
                <a:gd name="connsiteY31" fmla="*/ 2975719 h 3296984"/>
                <a:gd name="connsiteX32" fmla="*/ 1110643 w 5485326"/>
                <a:gd name="connsiteY32" fmla="*/ 2995993 h 3296984"/>
                <a:gd name="connsiteX33" fmla="*/ 1169643 w 5485326"/>
                <a:gd name="connsiteY33" fmla="*/ 3032719 h 3296984"/>
                <a:gd name="connsiteX34" fmla="*/ 1488337 w 5485326"/>
                <a:gd name="connsiteY34" fmla="*/ 3083466 h 3296984"/>
                <a:gd name="connsiteX35" fmla="*/ 1599305 w 5485326"/>
                <a:gd name="connsiteY35" fmla="*/ 2648443 h 3296984"/>
                <a:gd name="connsiteX36" fmla="*/ 1982813 w 5485326"/>
                <a:gd name="connsiteY36" fmla="*/ 1844091 h 3296984"/>
                <a:gd name="connsiteX37" fmla="*/ 2766192 w 5485326"/>
                <a:gd name="connsiteY37" fmla="*/ 1992406 h 3296984"/>
                <a:gd name="connsiteX38" fmla="*/ 3132922 w 5485326"/>
                <a:gd name="connsiteY38" fmla="*/ 2107470 h 3296984"/>
                <a:gd name="connsiteX39" fmla="*/ 3252560 w 5485326"/>
                <a:gd name="connsiteY39" fmla="*/ 1702771 h 3296984"/>
                <a:gd name="connsiteX40" fmla="*/ 3560402 w 5485326"/>
                <a:gd name="connsiteY40" fmla="*/ 950934 h 3296984"/>
                <a:gd name="connsiteX41" fmla="*/ 3862313 w 5485326"/>
                <a:gd name="connsiteY41" fmla="*/ 868540 h 3296984"/>
                <a:gd name="connsiteX42" fmla="*/ 5223073 w 5485326"/>
                <a:gd name="connsiteY42" fmla="*/ 381 h 3296984"/>
                <a:gd name="connsiteX43" fmla="*/ 5456666 w 5485326"/>
                <a:gd name="connsiteY43" fmla="*/ 44369 h 3296984"/>
                <a:gd name="connsiteX44" fmla="*/ 5485326 w 5485326"/>
                <a:gd name="connsiteY44" fmla="*/ 55829 h 3296984"/>
                <a:gd name="connsiteX45" fmla="*/ 5485326 w 5485326"/>
                <a:gd name="connsiteY45" fmla="*/ 872815 h 3296984"/>
                <a:gd name="connsiteX46" fmla="*/ 5462682 w 5485326"/>
                <a:gd name="connsiteY46" fmla="*/ 874218 h 3296984"/>
                <a:gd name="connsiteX47" fmla="*/ 5252356 w 5485326"/>
                <a:gd name="connsiteY47" fmla="*/ 950934 h 3296984"/>
                <a:gd name="connsiteX48" fmla="*/ 4944512 w 5485326"/>
                <a:gd name="connsiteY48" fmla="*/ 1702771 h 3296984"/>
                <a:gd name="connsiteX49" fmla="*/ 4944527 w 5485326"/>
                <a:gd name="connsiteY49" fmla="*/ 1758849 h 3296984"/>
                <a:gd name="connsiteX50" fmla="*/ 4722177 w 5485326"/>
                <a:gd name="connsiteY50" fmla="*/ 1373727 h 3296984"/>
                <a:gd name="connsiteX51" fmla="*/ 4612506 w 5485326"/>
                <a:gd name="connsiteY51" fmla="*/ 1183771 h 3296984"/>
                <a:gd name="connsiteX52" fmla="*/ 4635605 w 5485326"/>
                <a:gd name="connsiteY52" fmla="*/ 1165925 h 3296984"/>
                <a:gd name="connsiteX53" fmla="*/ 4742201 w 5485326"/>
                <a:gd name="connsiteY53" fmla="*/ 922212 h 3296984"/>
                <a:gd name="connsiteX54" fmla="*/ 4743016 w 5485326"/>
                <a:gd name="connsiteY54" fmla="*/ 873752 h 3296984"/>
                <a:gd name="connsiteX55" fmla="*/ 4741662 w 5485326"/>
                <a:gd name="connsiteY55" fmla="*/ 865770 h 3296984"/>
                <a:gd name="connsiteX56" fmla="*/ 4744863 w 5485326"/>
                <a:gd name="connsiteY56" fmla="*/ 804326 h 3296984"/>
                <a:gd name="connsiteX57" fmla="*/ 4753289 w 5485326"/>
                <a:gd name="connsiteY57" fmla="*/ 595779 h 3296984"/>
                <a:gd name="connsiteX58" fmla="*/ 5079817 w 5485326"/>
                <a:gd name="connsiteY58" fmla="*/ 38373 h 3296984"/>
                <a:gd name="connsiteX59" fmla="*/ 5223073 w 5485326"/>
                <a:gd name="connsiteY59" fmla="*/ 381 h 329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85326" h="3296984">
                  <a:moveTo>
                    <a:pt x="3503552" y="2947837"/>
                  </a:moveTo>
                  <a:lnTo>
                    <a:pt x="3503959" y="2948386"/>
                  </a:lnTo>
                  <a:lnTo>
                    <a:pt x="3503396" y="2948710"/>
                  </a:lnTo>
                  <a:close/>
                  <a:moveTo>
                    <a:pt x="1811599" y="2947837"/>
                  </a:moveTo>
                  <a:lnTo>
                    <a:pt x="1811443" y="2948710"/>
                  </a:lnTo>
                  <a:lnTo>
                    <a:pt x="1812005" y="2948386"/>
                  </a:lnTo>
                  <a:close/>
                  <a:moveTo>
                    <a:pt x="3862313" y="868540"/>
                  </a:moveTo>
                  <a:cubicBezTo>
                    <a:pt x="4008646" y="874449"/>
                    <a:pt x="4125513" y="952569"/>
                    <a:pt x="4243869" y="1033277"/>
                  </a:cubicBezTo>
                  <a:cubicBezTo>
                    <a:pt x="4333077" y="1092178"/>
                    <a:pt x="4427862" y="1154757"/>
                    <a:pt x="4546743" y="1167201"/>
                  </a:cubicBezTo>
                  <a:lnTo>
                    <a:pt x="4603381" y="1167975"/>
                  </a:lnTo>
                  <a:lnTo>
                    <a:pt x="4724517" y="1377787"/>
                  </a:lnTo>
                  <a:lnTo>
                    <a:pt x="4944527" y="1758855"/>
                  </a:lnTo>
                  <a:lnTo>
                    <a:pt x="4944547" y="1837165"/>
                  </a:lnTo>
                  <a:cubicBezTo>
                    <a:pt x="4941650" y="1965524"/>
                    <a:pt x="4922907" y="2070741"/>
                    <a:pt x="4824875" y="2107470"/>
                  </a:cubicBezTo>
                  <a:cubicBezTo>
                    <a:pt x="4691369" y="2166888"/>
                    <a:pt x="4579976" y="2081044"/>
                    <a:pt x="4458144" y="1992406"/>
                  </a:cubicBezTo>
                  <a:cubicBezTo>
                    <a:pt x="4261122" y="1850022"/>
                    <a:pt x="4046001" y="1691590"/>
                    <a:pt x="3674766" y="1844091"/>
                  </a:cubicBezTo>
                  <a:cubicBezTo>
                    <a:pt x="3279837" y="2001448"/>
                    <a:pt x="3289888" y="2340109"/>
                    <a:pt x="3291258" y="2648443"/>
                  </a:cubicBezTo>
                  <a:cubicBezTo>
                    <a:pt x="3295905" y="2840068"/>
                    <a:pt x="3296731" y="3025075"/>
                    <a:pt x="3180290" y="3083466"/>
                  </a:cubicBezTo>
                  <a:cubicBezTo>
                    <a:pt x="3080926" y="3140833"/>
                    <a:pt x="2973645" y="3098441"/>
                    <a:pt x="2861596" y="3032719"/>
                  </a:cubicBezTo>
                  <a:lnTo>
                    <a:pt x="2802596" y="2995993"/>
                  </a:lnTo>
                  <a:lnTo>
                    <a:pt x="2779077" y="2975719"/>
                  </a:lnTo>
                  <a:lnTo>
                    <a:pt x="2696938" y="2930919"/>
                  </a:lnTo>
                  <a:lnTo>
                    <a:pt x="2576117" y="2857359"/>
                  </a:lnTo>
                  <a:cubicBezTo>
                    <a:pt x="2399757" y="2761284"/>
                    <a:pt x="2207567" y="2706638"/>
                    <a:pt x="1976163" y="2833619"/>
                  </a:cubicBezTo>
                  <a:cubicBezTo>
                    <a:pt x="1825206" y="2916355"/>
                    <a:pt x="1750515" y="3027926"/>
                    <a:pt x="1714306" y="3152611"/>
                  </a:cubicBezTo>
                  <a:lnTo>
                    <a:pt x="1691953" y="3296984"/>
                  </a:lnTo>
                  <a:lnTo>
                    <a:pt x="0" y="3296984"/>
                  </a:lnTo>
                  <a:lnTo>
                    <a:pt x="22353" y="3152611"/>
                  </a:lnTo>
                  <a:cubicBezTo>
                    <a:pt x="58562" y="3027926"/>
                    <a:pt x="133253" y="2916355"/>
                    <a:pt x="284210" y="2833619"/>
                  </a:cubicBezTo>
                  <a:cubicBezTo>
                    <a:pt x="515615" y="2706638"/>
                    <a:pt x="707804" y="2761284"/>
                    <a:pt x="884163" y="2857359"/>
                  </a:cubicBezTo>
                  <a:lnTo>
                    <a:pt x="1004984" y="2930919"/>
                  </a:lnTo>
                  <a:lnTo>
                    <a:pt x="1087124" y="2975719"/>
                  </a:lnTo>
                  <a:lnTo>
                    <a:pt x="1110643" y="2995993"/>
                  </a:lnTo>
                  <a:lnTo>
                    <a:pt x="1169643" y="3032719"/>
                  </a:lnTo>
                  <a:cubicBezTo>
                    <a:pt x="1281693" y="3098441"/>
                    <a:pt x="1388973" y="3140833"/>
                    <a:pt x="1488337" y="3083466"/>
                  </a:cubicBezTo>
                  <a:cubicBezTo>
                    <a:pt x="1604778" y="3025075"/>
                    <a:pt x="1603952" y="2840068"/>
                    <a:pt x="1599305" y="2648443"/>
                  </a:cubicBezTo>
                  <a:cubicBezTo>
                    <a:pt x="1597935" y="2340109"/>
                    <a:pt x="1587883" y="2001448"/>
                    <a:pt x="1982813" y="1844091"/>
                  </a:cubicBezTo>
                  <a:cubicBezTo>
                    <a:pt x="2354048" y="1691590"/>
                    <a:pt x="2569169" y="1850022"/>
                    <a:pt x="2766192" y="1992406"/>
                  </a:cubicBezTo>
                  <a:cubicBezTo>
                    <a:pt x="2888023" y="2081044"/>
                    <a:pt x="2999417" y="2166888"/>
                    <a:pt x="3132922" y="2107470"/>
                  </a:cubicBezTo>
                  <a:cubicBezTo>
                    <a:pt x="3263632" y="2058499"/>
                    <a:pt x="3253383" y="1887769"/>
                    <a:pt x="3252560" y="1702771"/>
                  </a:cubicBezTo>
                  <a:cubicBezTo>
                    <a:pt x="3246616" y="1432399"/>
                    <a:pt x="3238617" y="1127891"/>
                    <a:pt x="3560402" y="950934"/>
                  </a:cubicBezTo>
                  <a:cubicBezTo>
                    <a:pt x="3676105" y="887447"/>
                    <a:pt x="3774513" y="864996"/>
                    <a:pt x="3862313" y="868540"/>
                  </a:cubicBezTo>
                  <a:close/>
                  <a:moveTo>
                    <a:pt x="5223073" y="381"/>
                  </a:moveTo>
                  <a:cubicBezTo>
                    <a:pt x="5297572" y="-2886"/>
                    <a:pt x="5376002" y="15177"/>
                    <a:pt x="5456666" y="44369"/>
                  </a:cubicBezTo>
                  <a:lnTo>
                    <a:pt x="5485326" y="55829"/>
                  </a:lnTo>
                  <a:lnTo>
                    <a:pt x="5485326" y="872815"/>
                  </a:lnTo>
                  <a:lnTo>
                    <a:pt x="5462682" y="874218"/>
                  </a:lnTo>
                  <a:cubicBezTo>
                    <a:pt x="5398939" y="884523"/>
                    <a:pt x="5329491" y="908610"/>
                    <a:pt x="5252356" y="950934"/>
                  </a:cubicBezTo>
                  <a:cubicBezTo>
                    <a:pt x="4930571" y="1127891"/>
                    <a:pt x="4938569" y="1432399"/>
                    <a:pt x="4944512" y="1702771"/>
                  </a:cubicBezTo>
                  <a:lnTo>
                    <a:pt x="4944527" y="1758849"/>
                  </a:lnTo>
                  <a:lnTo>
                    <a:pt x="4722177" y="1373727"/>
                  </a:lnTo>
                  <a:lnTo>
                    <a:pt x="4612506" y="1183771"/>
                  </a:lnTo>
                  <a:lnTo>
                    <a:pt x="4635605" y="1165925"/>
                  </a:lnTo>
                  <a:cubicBezTo>
                    <a:pt x="4688053" y="1119084"/>
                    <a:pt x="4740839" y="1042237"/>
                    <a:pt x="4742201" y="922212"/>
                  </a:cubicBezTo>
                  <a:lnTo>
                    <a:pt x="4743016" y="873752"/>
                  </a:lnTo>
                  <a:lnTo>
                    <a:pt x="4741662" y="865770"/>
                  </a:lnTo>
                  <a:lnTo>
                    <a:pt x="4744863" y="804326"/>
                  </a:lnTo>
                  <a:lnTo>
                    <a:pt x="4753289" y="595779"/>
                  </a:lnTo>
                  <a:cubicBezTo>
                    <a:pt x="4771743" y="365284"/>
                    <a:pt x="4832742" y="161151"/>
                    <a:pt x="5079817" y="38373"/>
                  </a:cubicBezTo>
                  <a:cubicBezTo>
                    <a:pt x="5125487" y="14215"/>
                    <a:pt x="5173406" y="2558"/>
                    <a:pt x="5223073" y="381"/>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8" name="Freeform: Shape 7">
              <a:extLst>
                <a:ext uri="{FF2B5EF4-FFF2-40B4-BE49-F238E27FC236}">
                  <a16:creationId xmlns:a16="http://schemas.microsoft.com/office/drawing/2014/main" id="{7942C339-A8DC-4E9C-8E18-CEAEF41974A3}"/>
                </a:ext>
              </a:extLst>
            </p:cNvPr>
            <p:cNvSpPr/>
            <p:nvPr userDrawn="1"/>
          </p:nvSpPr>
          <p:spPr>
            <a:xfrm flipH="1">
              <a:off x="1" y="6320364"/>
              <a:ext cx="689528" cy="537636"/>
            </a:xfrm>
            <a:custGeom>
              <a:avLst/>
              <a:gdLst>
                <a:gd name="connsiteX0" fmla="*/ 529229 w 689528"/>
                <a:gd name="connsiteY0" fmla="*/ 648 h 537636"/>
                <a:gd name="connsiteX1" fmla="*/ 677847 w 689528"/>
                <a:gd name="connsiteY1" fmla="*/ 14798 h 537636"/>
                <a:gd name="connsiteX2" fmla="*/ 689528 w 689528"/>
                <a:gd name="connsiteY2" fmla="*/ 18286 h 537636"/>
                <a:gd name="connsiteX3" fmla="*/ 689528 w 689528"/>
                <a:gd name="connsiteY3" fmla="*/ 537636 h 537636"/>
                <a:gd name="connsiteX4" fmla="*/ 0 w 689528"/>
                <a:gd name="connsiteY4" fmla="*/ 537636 h 537636"/>
                <a:gd name="connsiteX5" fmla="*/ 22353 w 689528"/>
                <a:gd name="connsiteY5" fmla="*/ 393263 h 537636"/>
                <a:gd name="connsiteX6" fmla="*/ 284210 w 689528"/>
                <a:gd name="connsiteY6" fmla="*/ 74271 h 537636"/>
                <a:gd name="connsiteX7" fmla="*/ 529229 w 689528"/>
                <a:gd name="connsiteY7" fmla="*/ 648 h 53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9528" h="537636">
                  <a:moveTo>
                    <a:pt x="529229" y="648"/>
                  </a:moveTo>
                  <a:cubicBezTo>
                    <a:pt x="580549" y="-1971"/>
                    <a:pt x="629967" y="3476"/>
                    <a:pt x="677847" y="14798"/>
                  </a:cubicBezTo>
                  <a:lnTo>
                    <a:pt x="689528" y="18286"/>
                  </a:lnTo>
                  <a:lnTo>
                    <a:pt x="689528" y="537636"/>
                  </a:lnTo>
                  <a:lnTo>
                    <a:pt x="0" y="537636"/>
                  </a:lnTo>
                  <a:lnTo>
                    <a:pt x="22353" y="393263"/>
                  </a:lnTo>
                  <a:cubicBezTo>
                    <a:pt x="58562" y="268578"/>
                    <a:pt x="133253" y="157007"/>
                    <a:pt x="284210" y="74271"/>
                  </a:cubicBezTo>
                  <a:cubicBezTo>
                    <a:pt x="370987" y="26653"/>
                    <a:pt x="452248" y="4577"/>
                    <a:pt x="529229" y="648"/>
                  </a:cubicBezTo>
                  <a:close/>
                </a:path>
              </a:pathLst>
            </a:custGeom>
            <a:solidFill>
              <a:schemeClr val="accent2">
                <a:lumMod val="50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0" name="TextBox 9">
            <a:extLst>
              <a:ext uri="{FF2B5EF4-FFF2-40B4-BE49-F238E27FC236}">
                <a16:creationId xmlns:a16="http://schemas.microsoft.com/office/drawing/2014/main" id="{04DDC962-B9ED-4978-B06F-FEFAA00EA89F}"/>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mj-lt"/>
                <a:ea typeface="Roboto Condensed" panose="02000000000000000000" pitchFamily="2" charset="0"/>
                <a:cs typeface="Segoe UI" panose="020B0502040204020203" pitchFamily="34" charset="0"/>
              </a:rPr>
              <a:pPr algn="ctr"/>
              <a:t>‹#›</a:t>
            </a:fld>
            <a:endParaRPr lang="id-ID" sz="4400" i="0">
              <a:solidFill>
                <a:schemeClr val="bg1"/>
              </a:solidFill>
              <a:latin typeface="+mj-lt"/>
              <a:ea typeface="Roboto Condensed" panose="02000000000000000000" pitchFamily="2" charset="0"/>
              <a:cs typeface="Segoe UI" panose="020B0502040204020203" pitchFamily="34" charset="0"/>
            </a:endParaRPr>
          </a:p>
        </p:txBody>
      </p:sp>
      <p:sp>
        <p:nvSpPr>
          <p:cNvPr id="19" name="Freeform: Shape 18">
            <a:extLst>
              <a:ext uri="{FF2B5EF4-FFF2-40B4-BE49-F238E27FC236}">
                <a16:creationId xmlns:a16="http://schemas.microsoft.com/office/drawing/2014/main" id="{47125CF6-839A-48DD-9B5C-9E087C487F4B}"/>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23" name="Gráfico 22">
            <a:extLst>
              <a:ext uri="{FF2B5EF4-FFF2-40B4-BE49-F238E27FC236}">
                <a16:creationId xmlns:a16="http://schemas.microsoft.com/office/drawing/2014/main" id="{B29774FF-522F-C3E9-3B80-D084D42746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45000" y="241591"/>
            <a:ext cx="758823" cy="834705"/>
          </a:xfrm>
          <a:prstGeom prst="rect">
            <a:avLst/>
          </a:prstGeom>
        </p:spPr>
      </p:pic>
      <p:pic>
        <p:nvPicPr>
          <p:cNvPr id="24" name="Gráfico 23">
            <a:extLst>
              <a:ext uri="{FF2B5EF4-FFF2-40B4-BE49-F238E27FC236}">
                <a16:creationId xmlns:a16="http://schemas.microsoft.com/office/drawing/2014/main" id="{C33D3B91-148E-4EDC-381C-FFC7F2D4BE6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45000" y="1593526"/>
            <a:ext cx="758823" cy="834705"/>
          </a:xfrm>
          <a:prstGeom prst="rect">
            <a:avLst/>
          </a:prstGeom>
        </p:spPr>
      </p:pic>
      <p:pic>
        <p:nvPicPr>
          <p:cNvPr id="25" name="Gráfico 24">
            <a:extLst>
              <a:ext uri="{FF2B5EF4-FFF2-40B4-BE49-F238E27FC236}">
                <a16:creationId xmlns:a16="http://schemas.microsoft.com/office/drawing/2014/main" id="{768CB258-A39D-8256-757B-27B2F87A19D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44999" y="2945461"/>
            <a:ext cx="758823" cy="834705"/>
          </a:xfrm>
          <a:prstGeom prst="rect">
            <a:avLst/>
          </a:prstGeom>
        </p:spPr>
      </p:pic>
      <p:pic>
        <p:nvPicPr>
          <p:cNvPr id="26" name="Gráfico 25">
            <a:extLst>
              <a:ext uri="{FF2B5EF4-FFF2-40B4-BE49-F238E27FC236}">
                <a16:creationId xmlns:a16="http://schemas.microsoft.com/office/drawing/2014/main" id="{4933ADDF-8A2B-25D7-CBA2-19A89BBDAA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44998" y="4247775"/>
            <a:ext cx="758823" cy="834705"/>
          </a:xfrm>
          <a:prstGeom prst="rect">
            <a:avLst/>
          </a:prstGeom>
        </p:spPr>
      </p:pic>
      <p:pic>
        <p:nvPicPr>
          <p:cNvPr id="28" name="Gráfico 27">
            <a:extLst>
              <a:ext uri="{FF2B5EF4-FFF2-40B4-BE49-F238E27FC236}">
                <a16:creationId xmlns:a16="http://schemas.microsoft.com/office/drawing/2014/main" id="{C5A3920D-DF3A-292B-6A65-FA32F4FE00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269200" y="689621"/>
            <a:ext cx="758823" cy="834705"/>
          </a:xfrm>
          <a:prstGeom prst="rect">
            <a:avLst/>
          </a:prstGeom>
        </p:spPr>
      </p:pic>
      <p:pic>
        <p:nvPicPr>
          <p:cNvPr id="30" name="Gráfico 29">
            <a:extLst>
              <a:ext uri="{FF2B5EF4-FFF2-40B4-BE49-F238E27FC236}">
                <a16:creationId xmlns:a16="http://schemas.microsoft.com/office/drawing/2014/main" id="{77D00A42-C679-BA3D-F522-359BED1C797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03681" y="241591"/>
            <a:ext cx="758823" cy="834705"/>
          </a:xfrm>
          <a:prstGeom prst="rect">
            <a:avLst/>
          </a:prstGeom>
        </p:spPr>
      </p:pic>
      <p:pic>
        <p:nvPicPr>
          <p:cNvPr id="31" name="Gráfico 30">
            <a:extLst>
              <a:ext uri="{FF2B5EF4-FFF2-40B4-BE49-F238E27FC236}">
                <a16:creationId xmlns:a16="http://schemas.microsoft.com/office/drawing/2014/main" id="{69DB9A2E-E99A-EC8D-0A01-B44AD30ED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03681" y="1593526"/>
            <a:ext cx="758823" cy="834705"/>
          </a:xfrm>
          <a:prstGeom prst="rect">
            <a:avLst/>
          </a:prstGeom>
        </p:spPr>
      </p:pic>
      <p:pic>
        <p:nvPicPr>
          <p:cNvPr id="32" name="Gráfico 31">
            <a:extLst>
              <a:ext uri="{FF2B5EF4-FFF2-40B4-BE49-F238E27FC236}">
                <a16:creationId xmlns:a16="http://schemas.microsoft.com/office/drawing/2014/main" id="{B592667B-C876-B86E-EF9E-4F929AD0926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503680" y="2945461"/>
            <a:ext cx="758823" cy="834705"/>
          </a:xfrm>
          <a:prstGeom prst="rect">
            <a:avLst/>
          </a:prstGeom>
        </p:spPr>
      </p:pic>
      <p:pic>
        <p:nvPicPr>
          <p:cNvPr id="35" name="Gráfico 34">
            <a:extLst>
              <a:ext uri="{FF2B5EF4-FFF2-40B4-BE49-F238E27FC236}">
                <a16:creationId xmlns:a16="http://schemas.microsoft.com/office/drawing/2014/main" id="{AF72EBFA-343A-0D3C-B95C-0CAE376B99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27883" y="711239"/>
            <a:ext cx="758823" cy="834705"/>
          </a:xfrm>
          <a:prstGeom prst="rect">
            <a:avLst/>
          </a:prstGeom>
        </p:spPr>
      </p:pic>
      <p:pic>
        <p:nvPicPr>
          <p:cNvPr id="36" name="Gráfico 35">
            <a:extLst>
              <a:ext uri="{FF2B5EF4-FFF2-40B4-BE49-F238E27FC236}">
                <a16:creationId xmlns:a16="http://schemas.microsoft.com/office/drawing/2014/main" id="{5DAEE7E3-75BC-4B50-9B62-DB9EF9EA9F9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27883" y="2128464"/>
            <a:ext cx="758823" cy="834705"/>
          </a:xfrm>
          <a:prstGeom prst="rect">
            <a:avLst/>
          </a:prstGeom>
        </p:spPr>
      </p:pic>
      <p:pic>
        <p:nvPicPr>
          <p:cNvPr id="37" name="Gráfico 36">
            <a:extLst>
              <a:ext uri="{FF2B5EF4-FFF2-40B4-BE49-F238E27FC236}">
                <a16:creationId xmlns:a16="http://schemas.microsoft.com/office/drawing/2014/main" id="{A1DFD8AD-8045-D5BC-9CE4-D45DA798B1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17677" y="3545689"/>
            <a:ext cx="758823" cy="834705"/>
          </a:xfrm>
          <a:prstGeom prst="rect">
            <a:avLst/>
          </a:prstGeom>
        </p:spPr>
      </p:pic>
      <p:pic>
        <p:nvPicPr>
          <p:cNvPr id="41" name="Imagen 40" descr="Logotipo&#10;&#10;El contenido generado por IA puede ser incorrecto.">
            <a:extLst>
              <a:ext uri="{FF2B5EF4-FFF2-40B4-BE49-F238E27FC236}">
                <a16:creationId xmlns:a16="http://schemas.microsoft.com/office/drawing/2014/main" id="{3ACC8A67-8AE0-5865-2286-E0A2B848547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91707" y="6182190"/>
            <a:ext cx="1399441" cy="291970"/>
          </a:xfrm>
          <a:prstGeom prst="rect">
            <a:avLst/>
          </a:prstGeom>
        </p:spPr>
      </p:pic>
      <p:sp>
        <p:nvSpPr>
          <p:cNvPr id="42" name="TextBox 7">
            <a:extLst>
              <a:ext uri="{FF2B5EF4-FFF2-40B4-BE49-F238E27FC236}">
                <a16:creationId xmlns:a16="http://schemas.microsoft.com/office/drawing/2014/main" id="{3A75D47C-9747-468A-0728-A1BBD0DE4B4E}"/>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pic>
        <p:nvPicPr>
          <p:cNvPr id="44" name="Gráfico 43">
            <a:extLst>
              <a:ext uri="{FF2B5EF4-FFF2-40B4-BE49-F238E27FC236}">
                <a16:creationId xmlns:a16="http://schemas.microsoft.com/office/drawing/2014/main" id="{78E4B039-D47A-2B91-E017-CD6F4835437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5108" y="709200"/>
            <a:ext cx="758823" cy="834705"/>
          </a:xfrm>
          <a:prstGeom prst="rect">
            <a:avLst/>
          </a:prstGeom>
        </p:spPr>
      </p:pic>
      <p:pic>
        <p:nvPicPr>
          <p:cNvPr id="45" name="Gráfico 44">
            <a:extLst>
              <a:ext uri="{FF2B5EF4-FFF2-40B4-BE49-F238E27FC236}">
                <a16:creationId xmlns:a16="http://schemas.microsoft.com/office/drawing/2014/main" id="{C4D67617-EDFF-B1EC-F509-931FB1FC93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5108" y="2061135"/>
            <a:ext cx="758823" cy="834705"/>
          </a:xfrm>
          <a:prstGeom prst="rect">
            <a:avLst/>
          </a:prstGeom>
        </p:spPr>
      </p:pic>
      <p:pic>
        <p:nvPicPr>
          <p:cNvPr id="46" name="Gráfico 45">
            <a:extLst>
              <a:ext uri="{FF2B5EF4-FFF2-40B4-BE49-F238E27FC236}">
                <a16:creationId xmlns:a16="http://schemas.microsoft.com/office/drawing/2014/main" id="{6B60269F-C6A6-5EAE-D0BA-1BB85BBC8A0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5107" y="3413070"/>
            <a:ext cx="758823" cy="834705"/>
          </a:xfrm>
          <a:prstGeom prst="rect">
            <a:avLst/>
          </a:prstGeom>
        </p:spPr>
      </p:pic>
      <p:pic>
        <p:nvPicPr>
          <p:cNvPr id="48" name="Gráfico 47">
            <a:extLst>
              <a:ext uri="{FF2B5EF4-FFF2-40B4-BE49-F238E27FC236}">
                <a16:creationId xmlns:a16="http://schemas.microsoft.com/office/drawing/2014/main" id="{8E07B6F1-FE74-90A8-F9E5-E95B2F33D4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30904" y="255213"/>
            <a:ext cx="758823" cy="834705"/>
          </a:xfrm>
          <a:prstGeom prst="rect">
            <a:avLst/>
          </a:prstGeom>
        </p:spPr>
      </p:pic>
      <p:pic>
        <p:nvPicPr>
          <p:cNvPr id="49" name="Gráfico 48">
            <a:extLst>
              <a:ext uri="{FF2B5EF4-FFF2-40B4-BE49-F238E27FC236}">
                <a16:creationId xmlns:a16="http://schemas.microsoft.com/office/drawing/2014/main" id="{27D212E7-049B-7034-BDB6-3DBB5F1D58A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30904" y="1607148"/>
            <a:ext cx="758823" cy="834705"/>
          </a:xfrm>
          <a:prstGeom prst="rect">
            <a:avLst/>
          </a:prstGeom>
        </p:spPr>
      </p:pic>
      <p:pic>
        <p:nvPicPr>
          <p:cNvPr id="51" name="Gráfico 50">
            <a:extLst>
              <a:ext uri="{FF2B5EF4-FFF2-40B4-BE49-F238E27FC236}">
                <a16:creationId xmlns:a16="http://schemas.microsoft.com/office/drawing/2014/main" id="{6C032A56-6678-CA1F-B852-2674F9CA8D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90991" y="709200"/>
            <a:ext cx="758823" cy="834705"/>
          </a:xfrm>
          <a:prstGeom prst="rect">
            <a:avLst/>
          </a:prstGeom>
        </p:spPr>
      </p:pic>
      <p:pic>
        <p:nvPicPr>
          <p:cNvPr id="53" name="Gráfico 52">
            <a:extLst>
              <a:ext uri="{FF2B5EF4-FFF2-40B4-BE49-F238E27FC236}">
                <a16:creationId xmlns:a16="http://schemas.microsoft.com/office/drawing/2014/main" id="{5B620D51-882F-078C-A7FE-5B397480D3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86808" y="241591"/>
            <a:ext cx="758823" cy="834705"/>
          </a:xfrm>
          <a:prstGeom prst="rect">
            <a:avLst/>
          </a:prstGeom>
        </p:spPr>
      </p:pic>
      <p:pic>
        <p:nvPicPr>
          <p:cNvPr id="56" name="Gráfico 55">
            <a:extLst>
              <a:ext uri="{FF2B5EF4-FFF2-40B4-BE49-F238E27FC236}">
                <a16:creationId xmlns:a16="http://schemas.microsoft.com/office/drawing/2014/main" id="{AC4EE173-AA68-F4DE-615C-322A676823F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46599" y="689621"/>
            <a:ext cx="758823" cy="834705"/>
          </a:xfrm>
          <a:prstGeom prst="rect">
            <a:avLst/>
          </a:prstGeom>
        </p:spPr>
      </p:pic>
    </p:spTree>
    <p:extLst>
      <p:ext uri="{BB962C8B-B14F-4D97-AF65-F5344CB8AC3E}">
        <p14:creationId xmlns:p14="http://schemas.microsoft.com/office/powerpoint/2010/main" val="402114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416207C-FF11-40DE-B9C0-CEB4888F4E26}"/>
              </a:ext>
            </a:extLst>
          </p:cNvPr>
          <p:cNvSpPr txBox="1"/>
          <p:nvPr userDrawn="1"/>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tx1">
                    <a:lumMod val="50000"/>
                    <a:lumOff val="50000"/>
                  </a:schemeClr>
                </a:solidFill>
                <a:latin typeface="+mj-lt"/>
                <a:ea typeface="Roboto Condensed" panose="02000000000000000000" pitchFamily="2" charset="0"/>
                <a:cs typeface="Segoe UI" panose="020B0502040204020203" pitchFamily="34" charset="0"/>
              </a:rPr>
              <a:pPr algn="ctr"/>
              <a:t>‹#›</a:t>
            </a:fld>
            <a:endParaRPr lang="id-ID" sz="4400" i="0">
              <a:solidFill>
                <a:schemeClr val="tx1">
                  <a:lumMod val="50000"/>
                  <a:lumOff val="50000"/>
                </a:schemeClr>
              </a:solidFill>
              <a:latin typeface="+mj-lt"/>
              <a:ea typeface="Roboto Condensed" panose="02000000000000000000" pitchFamily="2" charset="0"/>
              <a:cs typeface="Segoe UI" panose="020B0502040204020203" pitchFamily="34" charset="0"/>
            </a:endParaRPr>
          </a:p>
        </p:txBody>
      </p:sp>
      <p:sp>
        <p:nvSpPr>
          <p:cNvPr id="8" name="TextBox 7">
            <a:extLst>
              <a:ext uri="{FF2B5EF4-FFF2-40B4-BE49-F238E27FC236}">
                <a16:creationId xmlns:a16="http://schemas.microsoft.com/office/drawing/2014/main" id="{CE9DEFE9-F2E2-4331-AFC6-5ABE82E6A5F7}"/>
              </a:ext>
            </a:extLst>
          </p:cNvPr>
          <p:cNvSpPr txBox="1"/>
          <p:nvPr userDrawn="1"/>
        </p:nvSpPr>
        <p:spPr>
          <a:xfrm>
            <a:off x="10294951" y="6335935"/>
            <a:ext cx="1355580" cy="261610"/>
          </a:xfrm>
          <a:prstGeom prst="rect">
            <a:avLst/>
          </a:prstGeom>
          <a:noFill/>
        </p:spPr>
        <p:txBody>
          <a:bodyPr wrap="square" rtlCol="0">
            <a:spAutoFit/>
          </a:bodyPr>
          <a:lstStyle/>
          <a:p>
            <a:r>
              <a:rPr lang="en-US" sz="1100" b="0">
                <a:solidFill>
                  <a:schemeClr val="tx1">
                    <a:lumMod val="75000"/>
                    <a:lumOff val="25000"/>
                  </a:schemeClr>
                </a:solidFill>
                <a:latin typeface="Segoe UI" panose="020B0502040204020203" pitchFamily="34" charset="0"/>
                <a:cs typeface="Segoe UI" panose="020B0502040204020203" pitchFamily="34" charset="0"/>
              </a:rPr>
              <a:t>#BizzSummit2025</a:t>
            </a:r>
            <a:endParaRPr lang="en-GB" sz="1100" b="0">
              <a:solidFill>
                <a:schemeClr val="tx1">
                  <a:lumMod val="75000"/>
                  <a:lumOff val="25000"/>
                </a:schemeClr>
              </a:solidFill>
              <a:latin typeface="Segoe UI" panose="020B0502040204020203" pitchFamily="34" charset="0"/>
              <a:cs typeface="Segoe UI" panose="020B0502040204020203" pitchFamily="34" charset="0"/>
            </a:endParaRPr>
          </a:p>
        </p:txBody>
      </p:sp>
      <p:sp>
        <p:nvSpPr>
          <p:cNvPr id="25" name="Freeform: Shape 24">
            <a:extLst>
              <a:ext uri="{FF2B5EF4-FFF2-40B4-BE49-F238E27FC236}">
                <a16:creationId xmlns:a16="http://schemas.microsoft.com/office/drawing/2014/main" id="{023CAFE7-6A74-4343-8542-B856EF27BD7E}"/>
              </a:ext>
            </a:extLst>
          </p:cNvPr>
          <p:cNvSpPr/>
          <p:nvPr userDrawn="1"/>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4" name="Imagen 23" descr="Logotipo&#10;&#10;El contenido generado por IA puede ser incorrecto.">
            <a:extLst>
              <a:ext uri="{FF2B5EF4-FFF2-40B4-BE49-F238E27FC236}">
                <a16:creationId xmlns:a16="http://schemas.microsoft.com/office/drawing/2014/main" id="{561FFF6A-3E14-EF5B-FE90-AAD61F730520}"/>
              </a:ext>
            </a:extLst>
          </p:cNvPr>
          <p:cNvPicPr>
            <a:picLocks noChangeAspect="1"/>
          </p:cNvPicPr>
          <p:nvPr userDrawn="1"/>
        </p:nvPicPr>
        <p:blipFill>
          <a:blip r:embed="rId53">
            <a:extLst>
              <a:ext uri="{28A0092B-C50C-407E-A947-70E740481C1C}">
                <a14:useLocalDpi xmlns:a14="http://schemas.microsoft.com/office/drawing/2010/main" val="0"/>
              </a:ext>
            </a:extLst>
          </a:blip>
          <a:stretch>
            <a:fillRect/>
          </a:stretch>
        </p:blipFill>
        <p:spPr>
          <a:xfrm>
            <a:off x="263997" y="6177177"/>
            <a:ext cx="1536779" cy="317516"/>
          </a:xfrm>
          <a:prstGeom prst="rect">
            <a:avLst/>
          </a:prstGeom>
        </p:spPr>
      </p:pic>
    </p:spTree>
    <p:extLst>
      <p:ext uri="{BB962C8B-B14F-4D97-AF65-F5344CB8AC3E}">
        <p14:creationId xmlns:p14="http://schemas.microsoft.com/office/powerpoint/2010/main" val="2859822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4" r:id="rId4"/>
    <p:sldLayoutId id="2147483686" r:id="rId5"/>
    <p:sldLayoutId id="2147483655" r:id="rId6"/>
    <p:sldLayoutId id="2147483654" r:id="rId7"/>
    <p:sldLayoutId id="2147483675" r:id="rId8"/>
    <p:sldLayoutId id="2147483656" r:id="rId9"/>
    <p:sldLayoutId id="2147483657" r:id="rId10"/>
    <p:sldLayoutId id="2147483673" r:id="rId11"/>
    <p:sldLayoutId id="2147483685" r:id="rId12"/>
    <p:sldLayoutId id="2147483696" r:id="rId13"/>
    <p:sldLayoutId id="2147483698" r:id="rId14"/>
    <p:sldLayoutId id="2147483660" r:id="rId15"/>
    <p:sldLayoutId id="2147483661" r:id="rId16"/>
    <p:sldLayoutId id="2147483663" r:id="rId17"/>
    <p:sldLayoutId id="2147483664" r:id="rId18"/>
    <p:sldLayoutId id="2147483665" r:id="rId19"/>
    <p:sldLayoutId id="2147483666" r:id="rId20"/>
    <p:sldLayoutId id="2147483667" r:id="rId21"/>
    <p:sldLayoutId id="2147483653" r:id="rId22"/>
    <p:sldLayoutId id="2147483668" r:id="rId23"/>
    <p:sldLayoutId id="2147483669" r:id="rId24"/>
    <p:sldLayoutId id="2147483670" r:id="rId25"/>
    <p:sldLayoutId id="2147483671" r:id="rId26"/>
    <p:sldLayoutId id="2147483672" r:id="rId27"/>
    <p:sldLayoutId id="2147483676" r:id="rId28"/>
    <p:sldLayoutId id="2147483677" r:id="rId29"/>
    <p:sldLayoutId id="2147483678" r:id="rId30"/>
    <p:sldLayoutId id="2147483679" r:id="rId31"/>
    <p:sldLayoutId id="2147483680" r:id="rId32"/>
    <p:sldLayoutId id="2147483682" r:id="rId33"/>
    <p:sldLayoutId id="2147483683" r:id="rId34"/>
    <p:sldLayoutId id="2147483684" r:id="rId35"/>
    <p:sldLayoutId id="2147483687" r:id="rId36"/>
    <p:sldLayoutId id="2147483688" r:id="rId37"/>
    <p:sldLayoutId id="2147483689" r:id="rId38"/>
    <p:sldLayoutId id="2147483690" r:id="rId39"/>
    <p:sldLayoutId id="2147483691" r:id="rId40"/>
    <p:sldLayoutId id="2147483693" r:id="rId41"/>
    <p:sldLayoutId id="2147483695" r:id="rId42"/>
    <p:sldLayoutId id="2147483700" r:id="rId43"/>
    <p:sldLayoutId id="2147483705" r:id="rId44"/>
    <p:sldLayoutId id="2147483706" r:id="rId45"/>
    <p:sldLayoutId id="2147483707" r:id="rId46"/>
    <p:sldLayoutId id="2147483708" r:id="rId47"/>
    <p:sldLayoutId id="2147483709" r:id="rId48"/>
    <p:sldLayoutId id="2147483710" r:id="rId49"/>
    <p:sldLayoutId id="2147483711" r:id="rId50"/>
    <p:sldLayoutId id="2147483713" r:id="rId5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2.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1.sv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image" Target="../media/image35.sv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svg"/><Relationship Id="rId24" Type="http://schemas.openxmlformats.org/officeDocument/2006/relationships/image" Target="../media/image30.png"/><Relationship Id="rId32" Type="http://schemas.openxmlformats.org/officeDocument/2006/relationships/image" Target="../media/image38.png"/><Relationship Id="rId5" Type="http://schemas.openxmlformats.org/officeDocument/2006/relationships/image" Target="../media/image12.png"/><Relationship Id="rId15" Type="http://schemas.openxmlformats.org/officeDocument/2006/relationships/image" Target="../media/image22.svg"/><Relationship Id="rId23" Type="http://schemas.microsoft.com/office/2007/relationships/hdphoto" Target="../media/hdphoto1.wdp"/><Relationship Id="rId28" Type="http://schemas.openxmlformats.org/officeDocument/2006/relationships/image" Target="../media/image34.png"/><Relationship Id="rId10" Type="http://schemas.openxmlformats.org/officeDocument/2006/relationships/image" Target="../media/image17.png"/><Relationship Id="rId19" Type="http://schemas.openxmlformats.org/officeDocument/2006/relationships/image" Target="../media/image26.svg"/><Relationship Id="rId31" Type="http://schemas.openxmlformats.org/officeDocument/2006/relationships/image" Target="../media/image37.png"/><Relationship Id="rId4" Type="http://schemas.openxmlformats.org/officeDocument/2006/relationships/image" Target="../media/image11.svg"/><Relationship Id="rId9" Type="http://schemas.openxmlformats.org/officeDocument/2006/relationships/image" Target="../media/image16.gif"/><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3.svg"/><Relationship Id="rId30" Type="http://schemas.openxmlformats.org/officeDocument/2006/relationships/image" Target="../media/image36.png"/></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16.gif"/><Relationship Id="rId2" Type="http://schemas.openxmlformats.org/officeDocument/2006/relationships/image" Target="../media/image39.jpeg"/><Relationship Id="rId1" Type="http://schemas.openxmlformats.org/officeDocument/2006/relationships/slideLayout" Target="../slideLayouts/slideLayout36.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5.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40.png"/><Relationship Id="rId1" Type="http://schemas.openxmlformats.org/officeDocument/2006/relationships/slideLayout" Target="../slideLayouts/slideLayout36.xml"/><Relationship Id="rId4" Type="http://schemas.openxmlformats.org/officeDocument/2006/relationships/image" Target="../media/image4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39.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39.jpeg"/></Relationships>
</file>

<file path=ppt/slides/_rels/slide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xml"/><Relationship Id="rId1" Type="http://schemas.openxmlformats.org/officeDocument/2006/relationships/slideLayout" Target="../slideLayouts/slideLayout47.xml"/><Relationship Id="rId5" Type="http://schemas.openxmlformats.org/officeDocument/2006/relationships/image" Target="../media/image39.jpeg"/><Relationship Id="rId4" Type="http://schemas.openxmlformats.org/officeDocument/2006/relationships/image" Target="../media/image54.jpeg"/></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9.jpeg"/><Relationship Id="rId5" Type="http://schemas.openxmlformats.org/officeDocument/2006/relationships/image" Target="../media/image63.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power-platform/admin/customer-managed-key?tabs=new"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3" Type="http://schemas.openxmlformats.org/officeDocument/2006/relationships/hyperlink" Target="https://learn.microsoft.com/en-us/power-platform/admin/create-manage-masking-rule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54.jpeg"/><Relationship Id="rId5" Type="http://schemas.openxmlformats.org/officeDocument/2006/relationships/image" Target="../media/image66.png"/><Relationship Id="rId4" Type="http://schemas.openxmlformats.org/officeDocument/2006/relationships/image" Target="../media/image65.png"/></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en-us/power-platform/admin/create-manage-masking-rules"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54.jpeg"/><Relationship Id="rId5" Type="http://schemas.openxmlformats.org/officeDocument/2006/relationships/image" Target="../media/image68.png"/><Relationship Id="rId4" Type="http://schemas.openxmlformats.org/officeDocument/2006/relationships/image" Target="../media/image67.png"/></Relationships>
</file>

<file path=ppt/slides/_rels/slide1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9.jpeg"/><Relationship Id="rId5" Type="http://schemas.openxmlformats.org/officeDocument/2006/relationships/image" Target="../media/image71.png"/><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power-platform/admin/dlp-impact-policies-apps-flows" TargetMode="External"/><Relationship Id="rId7" Type="http://schemas.openxmlformats.org/officeDocument/2006/relationships/image" Target="../media/image54.jpe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en-us/power-platform/admin/dlp-impact-policies-apps-flow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54.jpeg"/><Relationship Id="rId5" Type="http://schemas.openxmlformats.org/officeDocument/2006/relationships/image" Target="../media/image76.png"/><Relationship Id="rId4" Type="http://schemas.openxmlformats.org/officeDocument/2006/relationships/image" Target="../media/image75.png"/></Relationships>
</file>

<file path=ppt/slides/_rels/slide22.xml.rels><?xml version="1.0" encoding="UTF-8" standalone="yes"?>
<Relationships xmlns="http://schemas.openxmlformats.org/package/2006/relationships"><Relationship Id="rId3" Type="http://schemas.openxmlformats.org/officeDocument/2006/relationships/hyperlink" Target="https://learn.microsoft.com/en-us/power-platform/admin/connector-action-control" TargetMode="External"/><Relationship Id="rId7" Type="http://schemas.openxmlformats.org/officeDocument/2006/relationships/image" Target="../media/image54.jpe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hyperlink" Target="https://learn.microsoft.com/en-us/power-platform/admin/connector-endpoint-filtering"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learn.microsoft.com/en-us/power-platform/admin/advanced-connector-policies?tabs=new"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image" Target="../media/image79.png"/></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hyperlink" Target="https://learn.microsoft.com/en-us/power-platform/admin/vnet-support-overview"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47.xml"/><Relationship Id="rId5" Type="http://schemas.openxmlformats.org/officeDocument/2006/relationships/image" Target="../media/image39.jpeg"/><Relationship Id="rId4" Type="http://schemas.openxmlformats.org/officeDocument/2006/relationships/image" Target="../media/image54.jpeg"/></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39.jpe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3" Type="http://schemas.openxmlformats.org/officeDocument/2006/relationships/hyperlink" Target="https://learn.microsoft.com/en-us/power-platform/admin/ip-firewall"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84.png"/></Relationships>
</file>

<file path=ppt/slides/_rels/slide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54.jpeg"/></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learn.microsoft.com/en-us/power-platform/admin/managed-environment-sharing-limits?tabs=new" TargetMode="External"/><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image" Target="../media/image87.png"/></Relationships>
</file>

<file path=ppt/slides/_rels/slide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54.jpeg"/></Relationships>
</file>

<file path=ppt/slides/_rels/slide32.xml.rels><?xml version="1.0" encoding="UTF-8" standalone="yes"?>
<Relationships xmlns="http://schemas.openxmlformats.org/package/2006/relationships"><Relationship Id="rId3" Type="http://schemas.openxmlformats.org/officeDocument/2006/relationships/hyperlink" Target="https://learn.microsoft.com/en-us/power-platform/admin/block-cookie-replay-attack" TargetMode="External"/><Relationship Id="rId2" Type="http://schemas.openxmlformats.org/officeDocument/2006/relationships/notesSlide" Target="../notesSlides/notesSlide27.xml"/><Relationship Id="rId1" Type="http://schemas.openxmlformats.org/officeDocument/2006/relationships/slideLayout" Target="../slideLayouts/slideLayout3.xml"/><Relationship Id="rId6" Type="http://schemas.openxmlformats.org/officeDocument/2006/relationships/image" Target="../media/image39.jpeg"/><Relationship Id="rId5" Type="http://schemas.openxmlformats.org/officeDocument/2006/relationships/image" Target="../media/image90.png"/><Relationship Id="rId4" Type="http://schemas.openxmlformats.org/officeDocument/2006/relationships/image" Target="../media/image89.png"/></Relationships>
</file>

<file path=ppt/slides/_rels/slide33.xml.rels><?xml version="1.0" encoding="UTF-8" standalone="yes"?>
<Relationships xmlns="http://schemas.openxmlformats.org/package/2006/relationships"><Relationship Id="rId3" Type="http://schemas.openxmlformats.org/officeDocument/2006/relationships/hyperlink" Target="https://learn.microsoft.com/en-us/power-platform/admin/cross-tenant-restrictions?tabs=new" TargetMode="External"/><Relationship Id="rId7" Type="http://schemas.openxmlformats.org/officeDocument/2006/relationships/image" Target="../media/image39.jpe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4.xml.rels><?xml version="1.0" encoding="UTF-8" standalone="yes"?>
<Relationships xmlns="http://schemas.openxmlformats.org/package/2006/relationships"><Relationship Id="rId3" Type="http://schemas.openxmlformats.org/officeDocument/2006/relationships/hyperlink" Target="https://learn.microsoft.com/en-us/power-platform/admin/cross-tenant-restrictions?tabs=new"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94.png"/></Relationships>
</file>

<file path=ppt/slides/_rels/slide3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image" Target="../media/image96.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47.xml"/><Relationship Id="rId5" Type="http://schemas.openxmlformats.org/officeDocument/2006/relationships/image" Target="../media/image39.jpeg"/><Relationship Id="rId4" Type="http://schemas.openxmlformats.org/officeDocument/2006/relationships/image" Target="../media/image54.jpeg"/></Relationships>
</file>

<file path=ppt/slides/_rels/slide37.xml.rels><?xml version="1.0" encoding="UTF-8" standalone="yes"?>
<Relationships xmlns="http://schemas.openxmlformats.org/package/2006/relationships"><Relationship Id="rId3" Type="http://schemas.openxmlformats.org/officeDocument/2006/relationships/image" Target="../media/image97.png"/><Relationship Id="rId7" Type="http://schemas.openxmlformats.org/officeDocument/2006/relationships/image" Target="../media/image39.jpe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3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39.jpeg"/></Relationships>
</file>

<file path=ppt/slides/_rels/slide39.xml.rels><?xml version="1.0" encoding="UTF-8" standalone="yes"?>
<Relationships xmlns="http://schemas.openxmlformats.org/package/2006/relationships"><Relationship Id="rId3" Type="http://schemas.openxmlformats.org/officeDocument/2006/relationships/hyperlink" Target="https://learn.microsoft.com/en-us/power-platform/admin/manage-high-privileged-admin-roles?tabs=new"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image" Target="../media/image102.png"/></Relationships>
</file>

<file path=ppt/slides/_rels/slide40.xml.rels><?xml version="1.0" encoding="UTF-8" standalone="yes"?>
<Relationships xmlns="http://schemas.openxmlformats.org/package/2006/relationships"><Relationship Id="rId3" Type="http://schemas.openxmlformats.org/officeDocument/2006/relationships/hyperlink" Target="https://learn.microsoft.com/en-us/power-platform/admin/control-app-access-environment?tabs=new"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03.png"/></Relationships>
</file>

<file path=ppt/slides/_rels/slide41.xml.rels><?xml version="1.0" encoding="UTF-8" standalone="yes"?>
<Relationships xmlns="http://schemas.openxmlformats.org/package/2006/relationships"><Relationship Id="rId3" Type="http://schemas.openxmlformats.org/officeDocument/2006/relationships/hyperlink" Target="https://learn.microsoft.com/en-us/power-platform/admin/restrict-access-online-trusted-ip-rules"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04.png"/></Relationships>
</file>

<file path=ppt/slides/_rels/slide4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54.jpeg"/></Relationships>
</file>

<file path=ppt/slides/_rels/slide43.xml.rels><?xml version="1.0" encoding="UTF-8" standalone="yes"?>
<Relationships xmlns="http://schemas.openxmlformats.org/package/2006/relationships"><Relationship Id="rId3" Type="http://schemas.openxmlformats.org/officeDocument/2006/relationships/hyperlink" Target="https://learn.microsoft.com/en-us/power-platform/release-plan/2024wave2/power-platform-governance-administration/permit-or-deny-guest-access-environment"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54.jpeg"/><Relationship Id="rId4" Type="http://schemas.openxmlformats.org/officeDocument/2006/relationships/image" Target="../media/image106.png"/></Relationships>
</file>

<file path=ppt/slides/_rels/slide44.xml.rels><?xml version="1.0" encoding="UTF-8" standalone="yes"?>
<Relationships xmlns="http://schemas.openxmlformats.org/package/2006/relationships"><Relationship Id="rId3" Type="http://schemas.openxmlformats.org/officeDocument/2006/relationships/hyperlink" Target="https://learn.microsoft.com/en-us/power-platform/release-plan/2025wave1/power-platform-governance-administration/manage-copilot-security-enhanced-admin-controls"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07.png"/></Relationships>
</file>

<file path=ppt/slides/_rels/slide45.xml.rels><?xml version="1.0" encoding="UTF-8" standalone="yes"?>
<Relationships xmlns="http://schemas.openxmlformats.org/package/2006/relationships"><Relationship Id="rId3" Type="http://schemas.openxmlformats.org/officeDocument/2006/relationships/hyperlink" Target="https://learn.microsoft.com/en-us/power-platform/release-plan/2025wave1/power-platform-governance-administration/manage-copilot-security-enhanced-admin-controls" TargetMode="External"/><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47.xml"/><Relationship Id="rId5" Type="http://schemas.openxmlformats.org/officeDocument/2006/relationships/image" Target="../media/image39.jpeg"/><Relationship Id="rId4" Type="http://schemas.openxmlformats.org/officeDocument/2006/relationships/image" Target="../media/image54.jpeg"/></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39.jpe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48.xml.rels><?xml version="1.0" encoding="UTF-8" standalone="yes"?>
<Relationships xmlns="http://schemas.openxmlformats.org/package/2006/relationships"><Relationship Id="rId3" Type="http://schemas.openxmlformats.org/officeDocument/2006/relationships/hyperlink" Target="https://learn.microsoft.com/en-us/power-platform/admin/about-lockbox" TargetMode="External"/><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12.png"/></Relationships>
</file>

<file path=ppt/slides/_rels/slide49.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39.jpe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5.xml"/><Relationship Id="rId1" Type="http://schemas.openxmlformats.org/officeDocument/2006/relationships/slideLayout" Target="../slideLayouts/slideLayout47.xml"/><Relationship Id="rId5" Type="http://schemas.openxmlformats.org/officeDocument/2006/relationships/image" Target="../media/image39.jpeg"/><Relationship Id="rId4" Type="http://schemas.openxmlformats.org/officeDocument/2006/relationships/image" Target="../media/image54.jpeg"/></Relationships>
</file>

<file path=ppt/slides/_rels/slide51.xml.rels><?xml version="1.0" encoding="UTF-8" standalone="yes"?>
<Relationships xmlns="http://schemas.openxmlformats.org/package/2006/relationships"><Relationship Id="rId3" Type="http://schemas.openxmlformats.org/officeDocument/2006/relationships/image" Target="../media/image117.png"/><Relationship Id="rId7" Type="http://schemas.openxmlformats.org/officeDocument/2006/relationships/image" Target="../media/image39.jpe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52.xml.rels><?xml version="1.0" encoding="UTF-8" standalone="yes"?>
<Relationships xmlns="http://schemas.openxmlformats.org/package/2006/relationships"><Relationship Id="rId3" Type="http://schemas.openxmlformats.org/officeDocument/2006/relationships/hyperlink" Target="https://learn.microsoft.com/en-us/power-platform/admin/managed-environment-solution-checker" TargetMode="External"/><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21.png"/></Relationships>
</file>

<file path=ppt/slides/_rels/slide53.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48.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22.png"/></Relationships>
</file>

<file path=ppt/slides/_rels/slide54.xml.rels><?xml version="1.0" encoding="UTF-8" standalone="yes"?>
<Relationships xmlns="http://schemas.openxmlformats.org/package/2006/relationships"><Relationship Id="rId3"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23.png"/></Relationships>
</file>

<file path=ppt/slides/_rels/slide55.xml.rels><?xml version="1.0" encoding="UTF-8" standalone="yes"?>
<Relationships xmlns="http://schemas.openxmlformats.org/package/2006/relationships"><Relationship Id="rId3" Type="http://schemas.openxmlformats.org/officeDocument/2006/relationships/hyperlink" Target="https://learn.microsoft.com/en-us/defender-cloud-apps/real-time-agent-protection-during-runtime" TargetMode="External"/><Relationship Id="rId2" Type="http://schemas.openxmlformats.org/officeDocument/2006/relationships/notesSlide" Target="../notesSlides/notesSlide50.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124.png"/></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1.xml"/><Relationship Id="rId1" Type="http://schemas.openxmlformats.org/officeDocument/2006/relationships/slideLayout" Target="../slideLayouts/slideLayout47.xml"/><Relationship Id="rId5" Type="http://schemas.openxmlformats.org/officeDocument/2006/relationships/image" Target="../media/image39.jpeg"/><Relationship Id="rId4" Type="http://schemas.openxmlformats.org/officeDocument/2006/relationships/image" Target="../media/image54.jpeg"/></Relationships>
</file>

<file path=ppt/slides/_rels/slide57.xml.rels><?xml version="1.0" encoding="UTF-8" standalone="yes"?>
<Relationships xmlns="http://schemas.openxmlformats.org/package/2006/relationships"><Relationship Id="rId8" Type="http://schemas.openxmlformats.org/officeDocument/2006/relationships/hyperlink" Target="https://learn.microsoft.com/en-us/power-platform/admin/connector-action-control" TargetMode="External"/><Relationship Id="rId3" Type="http://schemas.openxmlformats.org/officeDocument/2006/relationships/hyperlink" Target="https://learn.microsoft.com/en-us/power-platform/admin/security/managed-security" TargetMode="External"/><Relationship Id="rId7" Type="http://schemas.openxmlformats.org/officeDocument/2006/relationships/hyperlink" Target="https://learn.microsoft.com/en-us/power-platform/admin/managed-environment-data-policies" TargetMode="External"/><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hyperlink" Target="https://learn.microsoft.com/en-us/purview/register-scan-dataverse?tabs=MI" TargetMode="External"/><Relationship Id="rId11" Type="http://schemas.openxmlformats.org/officeDocument/2006/relationships/hyperlink" Target="https://learn.microsoft.com/en-us/power-platform/admin/security/identity-access-management" TargetMode="External"/><Relationship Id="rId5" Type="http://schemas.openxmlformats.org/officeDocument/2006/relationships/hyperlink" Target="https://learn.microsoft.com/en-us/power-platform/admin/create-manage-masking-rules" TargetMode="External"/><Relationship Id="rId10" Type="http://schemas.openxmlformats.org/officeDocument/2006/relationships/hyperlink" Target="https://learn.microsoft.com/en-us/power-platform/admin/vnet-support-overview" TargetMode="External"/><Relationship Id="rId4" Type="http://schemas.openxmlformats.org/officeDocument/2006/relationships/hyperlink" Target="https://learn.microsoft.com/en-us/power-platform/admin/customer-managed-key?tabs=new" TargetMode="External"/><Relationship Id="rId9" Type="http://schemas.openxmlformats.org/officeDocument/2006/relationships/hyperlink" Target="https://learn.microsoft.com/en-us/power-platform/admin/connector-endpoint-filtering" TargetMode="External"/></Relationships>
</file>

<file path=ppt/slides/_rels/slide58.xml.rels><?xml version="1.0" encoding="UTF-8" standalone="yes"?>
<Relationships xmlns="http://schemas.openxmlformats.org/package/2006/relationships"><Relationship Id="rId8" Type="http://schemas.openxmlformats.org/officeDocument/2006/relationships/hyperlink" Target="https://learn.microsoft.com/en-us/power-platform/release-plan/2024wave2/power-platform-governance-administration/permit-or-deny-guest-access-environment" TargetMode="External"/><Relationship Id="rId3" Type="http://schemas.openxmlformats.org/officeDocument/2006/relationships/hyperlink" Target="https://learn.microsoft.com/en-us/power-platform/admin/ip-firewall" TargetMode="External"/><Relationship Id="rId7" Type="http://schemas.openxmlformats.org/officeDocument/2006/relationships/hyperlink" Target="https://learn.microsoft.com/en-us/power-platform/admin/restrict-access-online-trusted-ip-rules" TargetMode="External"/><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hyperlink" Target="https://learn.microsoft.com/en-us/power-platform/admin/manage-high-privileged-admin-roles?tabs=new" TargetMode="External"/><Relationship Id="rId5" Type="http://schemas.openxmlformats.org/officeDocument/2006/relationships/hyperlink" Target="https://learn.microsoft.com/en-us/power-platform/admin/block-cookie-replay-attack" TargetMode="External"/><Relationship Id="rId4" Type="http://schemas.openxmlformats.org/officeDocument/2006/relationships/hyperlink" Target="https://learn.microsoft.com/en-us/power-platform/admin/managed-environment-sharing-limits?tabs=new" TargetMode="External"/><Relationship Id="rId9" Type="http://schemas.openxmlformats.org/officeDocument/2006/relationships/hyperlink" Target="https://learn.microsoft.com/en-us/power-platform/admin/security/identity-access-management" TargetMode="External"/></Relationships>
</file>

<file path=ppt/slides/_rels/slide59.xml.rels><?xml version="1.0" encoding="UTF-8" standalone="yes"?>
<Relationships xmlns="http://schemas.openxmlformats.org/package/2006/relationships"><Relationship Id="rId8" Type="http://schemas.openxmlformats.org/officeDocument/2006/relationships/hyperlink" Target="https://learn.microsoft.com/en-us/defender-cloud-apps/real-time-agent-protection-during-runtime" TargetMode="External"/><Relationship Id="rId3" Type="http://schemas.openxmlformats.org/officeDocument/2006/relationships/hyperlink" Target="https://learn.microsoft.com/en-us/power-platform/admin/about-lockbox" TargetMode="External"/><Relationship Id="rId7" Type="http://schemas.openxmlformats.org/officeDocument/2006/relationships/hyperlink" Target="https://learn.microsoft.com/en-us/microsoft-copilot-studio/external-security-provider" TargetMode="External"/><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hyperlink" Target="https://learn.microsoft.com/en-us/azure/sentinel/business-applications/solution-overview" TargetMode="External"/><Relationship Id="rId5" Type="http://schemas.openxmlformats.org/officeDocument/2006/relationships/hyperlink" Target="https://learn.microsoft.com/en-us/power-platform/admin/managed-environment-solution-checker" TargetMode="External"/><Relationship Id="rId4" Type="http://schemas.openxmlformats.org/officeDocument/2006/relationships/hyperlink" Target="https://learn.microsoft.com/en-us/power-platform/admin/manage-dataverse-auditing?tabs=new" TargetMode="External"/></Relationships>
</file>

<file path=ppt/slides/_rels/slide60.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image" Target="../media/image125.jpe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7.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94A6248F-F569-EE63-6B2C-45AB84398F39}"/>
            </a:ext>
          </a:extLst>
        </p:cNvPr>
        <p:cNvGrpSpPr/>
        <p:nvPr/>
      </p:nvGrpSpPr>
      <p:grpSpPr>
        <a:xfrm>
          <a:off x="0" y="0"/>
          <a:ext cx="0" cy="0"/>
          <a:chOff x="0" y="0"/>
          <a:chExt cx="0" cy="0"/>
        </a:xfrm>
      </p:grpSpPr>
      <p:sp>
        <p:nvSpPr>
          <p:cNvPr id="56" name="Freeform: Shape 55">
            <a:extLst>
              <a:ext uri="{FF2B5EF4-FFF2-40B4-BE49-F238E27FC236}">
                <a16:creationId xmlns:a16="http://schemas.microsoft.com/office/drawing/2014/main" id="{0DA43BA1-59C4-FF50-E26F-F1CC2C9857FC}"/>
              </a:ext>
            </a:extLst>
          </p:cNvPr>
          <p:cNvSpPr/>
          <p:nvPr/>
        </p:nvSpPr>
        <p:spPr>
          <a:xfrm rot="522837">
            <a:off x="-2314985" y="-1534939"/>
            <a:ext cx="5801540" cy="6044718"/>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4">
              <a:alpha val="15000"/>
            </a:schemeClr>
          </a:solidFill>
          <a:ln w="9525"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233AEAF9-F7FD-D6AF-6A1F-9299F80A84FB}"/>
              </a:ext>
            </a:extLst>
          </p:cNvPr>
          <p:cNvSpPr/>
          <p:nvPr/>
        </p:nvSpPr>
        <p:spPr>
          <a:xfrm>
            <a:off x="8039682" y="2866025"/>
            <a:ext cx="5847749" cy="5317595"/>
          </a:xfrm>
          <a:custGeom>
            <a:avLst/>
            <a:gdLst>
              <a:gd name="connsiteX0" fmla="*/ 3209951 w 3467100"/>
              <a:gd name="connsiteY0" fmla="*/ 1102921 h 3152775"/>
              <a:gd name="connsiteX1" fmla="*/ 2526056 w 3467100"/>
              <a:gd name="connsiteY1" fmla="*/ 759068 h 3152775"/>
              <a:gd name="connsiteX2" fmla="*/ 2387943 w 3467100"/>
              <a:gd name="connsiteY2" fmla="*/ 725731 h 3152775"/>
              <a:gd name="connsiteX3" fmla="*/ 1954556 w 3467100"/>
              <a:gd name="connsiteY3" fmla="*/ 497131 h 3152775"/>
              <a:gd name="connsiteX4" fmla="*/ 1952651 w 3467100"/>
              <a:gd name="connsiteY4" fmla="*/ 495226 h 3152775"/>
              <a:gd name="connsiteX5" fmla="*/ 1560221 w 3467100"/>
              <a:gd name="connsiteY5" fmla="*/ 127561 h 3152775"/>
              <a:gd name="connsiteX6" fmla="*/ 829653 w 3467100"/>
              <a:gd name="connsiteY6" fmla="*/ 60886 h 3152775"/>
              <a:gd name="connsiteX7" fmla="*/ 398171 w 3467100"/>
              <a:gd name="connsiteY7" fmla="*/ 648578 h 3152775"/>
              <a:gd name="connsiteX8" fmla="*/ 479133 w 3467100"/>
              <a:gd name="connsiteY8" fmla="*/ 1555358 h 3152775"/>
              <a:gd name="connsiteX9" fmla="*/ 26 w 3467100"/>
              <a:gd name="connsiteY9" fmla="*/ 2563103 h 3152775"/>
              <a:gd name="connsiteX10" fmla="*/ 255296 w 3467100"/>
              <a:gd name="connsiteY10" fmla="*/ 3033639 h 3152775"/>
              <a:gd name="connsiteX11" fmla="*/ 787743 w 3467100"/>
              <a:gd name="connsiteY11" fmla="*/ 3151748 h 3152775"/>
              <a:gd name="connsiteX12" fmla="*/ 1568793 w 3467100"/>
              <a:gd name="connsiteY12" fmla="*/ 2828851 h 3152775"/>
              <a:gd name="connsiteX13" fmla="*/ 2439378 w 3467100"/>
              <a:gd name="connsiteY13" fmla="*/ 2565008 h 3152775"/>
              <a:gd name="connsiteX14" fmla="*/ 3042311 w 3467100"/>
              <a:gd name="connsiteY14" fmla="*/ 2438326 h 3152775"/>
              <a:gd name="connsiteX15" fmla="*/ 3469983 w 3467100"/>
              <a:gd name="connsiteY15" fmla="*/ 1817296 h 3152775"/>
              <a:gd name="connsiteX16" fmla="*/ 3209951 w 3467100"/>
              <a:gd name="connsiteY16" fmla="*/ 1102921 h 3152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7100" h="3152775">
                <a:moveTo>
                  <a:pt x="3209951" y="1102921"/>
                </a:moveTo>
                <a:cubicBezTo>
                  <a:pt x="3027071" y="920993"/>
                  <a:pt x="2776563" y="822886"/>
                  <a:pt x="2526056" y="759068"/>
                </a:cubicBezTo>
                <a:cubicBezTo>
                  <a:pt x="2480336" y="747638"/>
                  <a:pt x="2433663" y="736208"/>
                  <a:pt x="2387943" y="725731"/>
                </a:cubicBezTo>
                <a:cubicBezTo>
                  <a:pt x="2226018" y="689536"/>
                  <a:pt x="2075523" y="611431"/>
                  <a:pt x="1954556" y="497131"/>
                </a:cubicBezTo>
                <a:cubicBezTo>
                  <a:pt x="1953603" y="496178"/>
                  <a:pt x="1952651" y="496178"/>
                  <a:pt x="1952651" y="495226"/>
                </a:cubicBezTo>
                <a:cubicBezTo>
                  <a:pt x="1822158" y="371401"/>
                  <a:pt x="1709763" y="225668"/>
                  <a:pt x="1560221" y="127561"/>
                </a:cubicBezTo>
                <a:cubicBezTo>
                  <a:pt x="1347813" y="-12457"/>
                  <a:pt x="1063016" y="-41032"/>
                  <a:pt x="829653" y="60886"/>
                </a:cubicBezTo>
                <a:cubicBezTo>
                  <a:pt x="596291" y="162803"/>
                  <a:pt x="422936" y="394261"/>
                  <a:pt x="398171" y="648578"/>
                </a:cubicBezTo>
                <a:cubicBezTo>
                  <a:pt x="368643" y="952426"/>
                  <a:pt x="538188" y="1255321"/>
                  <a:pt x="479133" y="1555358"/>
                </a:cubicBezTo>
                <a:cubicBezTo>
                  <a:pt x="406743" y="1924928"/>
                  <a:pt x="3836" y="2186866"/>
                  <a:pt x="26" y="2563103"/>
                </a:cubicBezTo>
                <a:cubicBezTo>
                  <a:pt x="-1879" y="2748841"/>
                  <a:pt x="102896" y="2927911"/>
                  <a:pt x="255296" y="3033639"/>
                </a:cubicBezTo>
                <a:cubicBezTo>
                  <a:pt x="407696" y="3139366"/>
                  <a:pt x="602958" y="3175561"/>
                  <a:pt x="787743" y="3151748"/>
                </a:cubicBezTo>
                <a:cubicBezTo>
                  <a:pt x="1068731" y="3115553"/>
                  <a:pt x="1314476" y="2952676"/>
                  <a:pt x="1568793" y="2828851"/>
                </a:cubicBezTo>
                <a:cubicBezTo>
                  <a:pt x="1843113" y="2696453"/>
                  <a:pt x="2138388" y="2606918"/>
                  <a:pt x="2439378" y="2565008"/>
                </a:cubicBezTo>
                <a:cubicBezTo>
                  <a:pt x="2644166" y="2536433"/>
                  <a:pt x="2856573" y="2527861"/>
                  <a:pt x="3042311" y="2438326"/>
                </a:cubicBezTo>
                <a:cubicBezTo>
                  <a:pt x="3278531" y="2324026"/>
                  <a:pt x="3442361" y="2078281"/>
                  <a:pt x="3469983" y="1817296"/>
                </a:cubicBezTo>
                <a:cubicBezTo>
                  <a:pt x="3499511" y="1556311"/>
                  <a:pt x="3396641" y="1287706"/>
                  <a:pt x="3209951" y="1102921"/>
                </a:cubicBezTo>
                <a:close/>
              </a:path>
            </a:pathLst>
          </a:custGeom>
          <a:solidFill>
            <a:schemeClr val="accent1"/>
          </a:solidFill>
          <a:ln w="9525"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14E350D4-4101-BB23-F2BA-39B23084D11A}"/>
              </a:ext>
            </a:extLst>
          </p:cNvPr>
          <p:cNvSpPr/>
          <p:nvPr/>
        </p:nvSpPr>
        <p:spPr>
          <a:xfrm rot="14400000">
            <a:off x="-271950" y="5343369"/>
            <a:ext cx="2068608" cy="2225320"/>
          </a:xfrm>
          <a:custGeom>
            <a:avLst/>
            <a:gdLst>
              <a:gd name="connsiteX0" fmla="*/ 7 w 628650"/>
              <a:gd name="connsiteY0" fmla="*/ 536473 h 676275"/>
              <a:gd name="connsiteX1" fmla="*/ 176219 w 628650"/>
              <a:gd name="connsiteY1" fmla="*/ 674586 h 676275"/>
              <a:gd name="connsiteX2" fmla="*/ 323857 w 628650"/>
              <a:gd name="connsiteY2" fmla="*/ 486943 h 676275"/>
              <a:gd name="connsiteX3" fmla="*/ 559124 w 628650"/>
              <a:gd name="connsiteY3" fmla="*/ 405028 h 676275"/>
              <a:gd name="connsiteX4" fmla="*/ 632467 w 628650"/>
              <a:gd name="connsiteY4" fmla="*/ 244056 h 676275"/>
              <a:gd name="connsiteX5" fmla="*/ 305759 w 628650"/>
              <a:gd name="connsiteY5" fmla="*/ 81178 h 676275"/>
              <a:gd name="connsiteX6" fmla="*/ 180029 w 628650"/>
              <a:gd name="connsiteY6" fmla="*/ 279298 h 676275"/>
              <a:gd name="connsiteX7" fmla="*/ 7 w 628650"/>
              <a:gd name="connsiteY7" fmla="*/ 536473 h 676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650" h="676275">
                <a:moveTo>
                  <a:pt x="7" y="536473"/>
                </a:moveTo>
                <a:cubicBezTo>
                  <a:pt x="959" y="625056"/>
                  <a:pt x="96209" y="711733"/>
                  <a:pt x="176219" y="674586"/>
                </a:cubicBezTo>
                <a:cubicBezTo>
                  <a:pt x="249562" y="640296"/>
                  <a:pt x="260992" y="537426"/>
                  <a:pt x="323857" y="486943"/>
                </a:cubicBezTo>
                <a:cubicBezTo>
                  <a:pt x="388627" y="433603"/>
                  <a:pt x="488639" y="450748"/>
                  <a:pt x="559124" y="405028"/>
                </a:cubicBezTo>
                <a:cubicBezTo>
                  <a:pt x="610559" y="370738"/>
                  <a:pt x="636277" y="305968"/>
                  <a:pt x="632467" y="244056"/>
                </a:cubicBezTo>
                <a:cubicBezTo>
                  <a:pt x="621989" y="51651"/>
                  <a:pt x="419107" y="-99797"/>
                  <a:pt x="305759" y="81178"/>
                </a:cubicBezTo>
                <a:cubicBezTo>
                  <a:pt x="256229" y="161188"/>
                  <a:pt x="255277" y="208813"/>
                  <a:pt x="180029" y="279298"/>
                </a:cubicBezTo>
                <a:cubicBezTo>
                  <a:pt x="100972" y="352641"/>
                  <a:pt x="-946" y="412648"/>
                  <a:pt x="7" y="536473"/>
                </a:cubicBezTo>
                <a:close/>
              </a:path>
            </a:pathLst>
          </a:custGeom>
          <a:solidFill>
            <a:schemeClr val="accent2"/>
          </a:solidFill>
          <a:ln w="9525" cap="flat">
            <a:noFill/>
            <a:prstDash val="solid"/>
            <a:miter/>
          </a:ln>
        </p:spPr>
        <p:txBody>
          <a:bodyPr rtlCol="0" anchor="ctr"/>
          <a:lstStyle/>
          <a:p>
            <a:endParaRPr lang="en-US"/>
          </a:p>
          <a:p>
            <a:endParaRPr lang="en-GB"/>
          </a:p>
          <a:p>
            <a:endParaRPr lang="en-GB"/>
          </a:p>
          <a:p>
            <a:endParaRPr lang="en-GB"/>
          </a:p>
          <a:p>
            <a:endParaRPr lang="en-GB"/>
          </a:p>
          <a:p>
            <a:endParaRPr lang="en-GB"/>
          </a:p>
          <a:p>
            <a:endParaRPr lang="en-GB"/>
          </a:p>
        </p:txBody>
      </p:sp>
      <p:sp>
        <p:nvSpPr>
          <p:cNvPr id="45" name="Freeform: Shape 44">
            <a:extLst>
              <a:ext uri="{FF2B5EF4-FFF2-40B4-BE49-F238E27FC236}">
                <a16:creationId xmlns:a16="http://schemas.microsoft.com/office/drawing/2014/main" id="{546E7E4E-032B-A33A-ED3F-4A9DF84ACCFA}"/>
              </a:ext>
            </a:extLst>
          </p:cNvPr>
          <p:cNvSpPr/>
          <p:nvPr/>
        </p:nvSpPr>
        <p:spPr>
          <a:xfrm rot="522837">
            <a:off x="-452881" y="405217"/>
            <a:ext cx="2077332" cy="2164406"/>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1"/>
          </a:solidFill>
          <a:ln w="9525" cap="flat">
            <a:noFill/>
            <a:prstDash val="solid"/>
            <a:miter/>
          </a:ln>
        </p:spPr>
        <p:txBody>
          <a:bodyPr rtlCol="0" anchor="ctr"/>
          <a:lstStyle/>
          <a:p>
            <a:endParaRPr lang="en-GB"/>
          </a:p>
        </p:txBody>
      </p:sp>
      <p:sp>
        <p:nvSpPr>
          <p:cNvPr id="12" name="Graphic 37">
            <a:extLst>
              <a:ext uri="{FF2B5EF4-FFF2-40B4-BE49-F238E27FC236}">
                <a16:creationId xmlns:a16="http://schemas.microsoft.com/office/drawing/2014/main" id="{E3E0E291-0458-4F73-F258-DE9F9E32D48E}"/>
              </a:ext>
            </a:extLst>
          </p:cNvPr>
          <p:cNvSpPr/>
          <p:nvPr/>
        </p:nvSpPr>
        <p:spPr>
          <a:xfrm rot="5400000">
            <a:off x="7002526" y="-4265008"/>
            <a:ext cx="5595226" cy="6730404"/>
          </a:xfrm>
          <a:custGeom>
            <a:avLst/>
            <a:gdLst>
              <a:gd name="connsiteX0" fmla="*/ 5592222 w 5595226"/>
              <a:gd name="connsiteY0" fmla="*/ 68300 h 6730404"/>
              <a:gd name="connsiteX1" fmla="*/ 5475065 w 5595226"/>
              <a:gd name="connsiteY1" fmla="*/ 1816 h 6730404"/>
              <a:gd name="connsiteX2" fmla="*/ 4790693 w 5595226"/>
              <a:gd name="connsiteY2" fmla="*/ 647896 h 6730404"/>
              <a:gd name="connsiteX3" fmla="*/ 4710017 w 5595226"/>
              <a:gd name="connsiteY3" fmla="*/ 1822519 h 6730404"/>
              <a:gd name="connsiteX4" fmla="*/ 4677822 w 5595226"/>
              <a:gd name="connsiteY4" fmla="*/ 2493175 h 6730404"/>
              <a:gd name="connsiteX5" fmla="*/ 4458747 w 5595226"/>
              <a:gd name="connsiteY5" fmla="*/ 2965043 h 6730404"/>
              <a:gd name="connsiteX6" fmla="*/ 3607688 w 5595226"/>
              <a:gd name="connsiteY6" fmla="*/ 3474345 h 6730404"/>
              <a:gd name="connsiteX7" fmla="*/ 2672333 w 5595226"/>
              <a:gd name="connsiteY7" fmla="*/ 3227933 h 6730404"/>
              <a:gd name="connsiteX8" fmla="*/ 2777965 w 5595226"/>
              <a:gd name="connsiteY8" fmla="*/ 2606522 h 6730404"/>
              <a:gd name="connsiteX9" fmla="*/ 2285714 w 5595226"/>
              <a:gd name="connsiteY9" fmla="*/ 2437168 h 6730404"/>
              <a:gd name="connsiteX10" fmla="*/ 2202751 w 5595226"/>
              <a:gd name="connsiteY10" fmla="*/ 2990094 h 6730404"/>
              <a:gd name="connsiteX11" fmla="*/ 2421254 w 5595226"/>
              <a:gd name="connsiteY11" fmla="*/ 3266224 h 6730404"/>
              <a:gd name="connsiteX12" fmla="*/ 2123407 w 5595226"/>
              <a:gd name="connsiteY12" fmla="*/ 3613791 h 6730404"/>
              <a:gd name="connsiteX13" fmla="*/ 1165859 w 5595226"/>
              <a:gd name="connsiteY13" fmla="*/ 4379220 h 6730404"/>
              <a:gd name="connsiteX14" fmla="*/ 284416 w 5595226"/>
              <a:gd name="connsiteY14" fmla="*/ 5260663 h 6730404"/>
              <a:gd name="connsiteX15" fmla="*/ 15334 w 5595226"/>
              <a:gd name="connsiteY15" fmla="*/ 6387566 h 6730404"/>
              <a:gd name="connsiteX16" fmla="*/ 92296 w 5595226"/>
              <a:gd name="connsiteY16" fmla="*/ 6660362 h 6730404"/>
              <a:gd name="connsiteX17" fmla="*/ 209454 w 5595226"/>
              <a:gd name="connsiteY17" fmla="*/ 6726847 h 6730404"/>
              <a:gd name="connsiteX18" fmla="*/ 275938 w 5595226"/>
              <a:gd name="connsiteY18" fmla="*/ 6609689 h 6730404"/>
              <a:gd name="connsiteX19" fmla="*/ 379380 w 5595226"/>
              <a:gd name="connsiteY19" fmla="*/ 5475833 h 6730404"/>
              <a:gd name="connsiteX20" fmla="*/ 1242631 w 5595226"/>
              <a:gd name="connsiteY20" fmla="*/ 4558576 h 6730404"/>
              <a:gd name="connsiteX21" fmla="*/ 2258281 w 5595226"/>
              <a:gd name="connsiteY21" fmla="*/ 3748475 h 6730404"/>
              <a:gd name="connsiteX22" fmla="*/ 2569178 w 5595226"/>
              <a:gd name="connsiteY22" fmla="*/ 3387001 h 6730404"/>
              <a:gd name="connsiteX23" fmla="*/ 2620613 w 5595226"/>
              <a:gd name="connsiteY23" fmla="*/ 3422815 h 6730404"/>
              <a:gd name="connsiteX24" fmla="*/ 3155060 w 5595226"/>
              <a:gd name="connsiteY24" fmla="*/ 3643700 h 6730404"/>
              <a:gd name="connsiteX25" fmla="*/ 4255103 w 5595226"/>
              <a:gd name="connsiteY25" fmla="*/ 3420148 h 6730404"/>
              <a:gd name="connsiteX26" fmla="*/ 4875942 w 5595226"/>
              <a:gd name="connsiteY26" fmla="*/ 2473649 h 6730404"/>
              <a:gd name="connsiteX27" fmla="*/ 4882991 w 5595226"/>
              <a:gd name="connsiteY27" fmla="*/ 1075759 h 6730404"/>
              <a:gd name="connsiteX28" fmla="*/ 5311711 w 5595226"/>
              <a:gd name="connsiteY28" fmla="*/ 261943 h 6730404"/>
              <a:gd name="connsiteX29" fmla="*/ 5525738 w 5595226"/>
              <a:gd name="connsiteY29" fmla="*/ 185362 h 6730404"/>
              <a:gd name="connsiteX30" fmla="*/ 5592222 w 5595226"/>
              <a:gd name="connsiteY30" fmla="*/ 68300 h 6730404"/>
              <a:gd name="connsiteX31" fmla="*/ 2325147 w 5595226"/>
              <a:gd name="connsiteY31" fmla="*/ 2750826 h 6730404"/>
              <a:gd name="connsiteX32" fmla="*/ 2408110 w 5595226"/>
              <a:gd name="connsiteY32" fmla="*/ 2584615 h 6730404"/>
              <a:gd name="connsiteX33" fmla="*/ 2573083 w 5595226"/>
              <a:gd name="connsiteY33" fmla="*/ 2637193 h 6730404"/>
              <a:gd name="connsiteX34" fmla="*/ 2525934 w 5595226"/>
              <a:gd name="connsiteY34" fmla="*/ 3100870 h 6730404"/>
              <a:gd name="connsiteX35" fmla="*/ 2431446 w 5595226"/>
              <a:gd name="connsiteY35" fmla="*/ 2993428 h 6730404"/>
              <a:gd name="connsiteX36" fmla="*/ 2325147 w 5595226"/>
              <a:gd name="connsiteY36" fmla="*/ 2750826 h 6730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595226" h="6730404">
                <a:moveTo>
                  <a:pt x="5592222" y="68300"/>
                </a:moveTo>
                <a:cubicBezTo>
                  <a:pt x="5577458" y="14389"/>
                  <a:pt x="5526023" y="-6662"/>
                  <a:pt x="5475065" y="1816"/>
                </a:cubicBezTo>
                <a:cubicBezTo>
                  <a:pt x="5135308" y="58204"/>
                  <a:pt x="4908613" y="342811"/>
                  <a:pt x="4790693" y="647896"/>
                </a:cubicBezTo>
                <a:cubicBezTo>
                  <a:pt x="4644389" y="1026420"/>
                  <a:pt x="4688014" y="1426946"/>
                  <a:pt x="4710017" y="1822519"/>
                </a:cubicBezTo>
                <a:cubicBezTo>
                  <a:pt x="4722494" y="2045881"/>
                  <a:pt x="4728400" y="2273814"/>
                  <a:pt x="4677822" y="2493175"/>
                </a:cubicBezTo>
                <a:cubicBezTo>
                  <a:pt x="4638293" y="2664720"/>
                  <a:pt x="4563332" y="2823502"/>
                  <a:pt x="4458747" y="2965043"/>
                </a:cubicBezTo>
                <a:cubicBezTo>
                  <a:pt x="4258436" y="3236220"/>
                  <a:pt x="3943540" y="3431292"/>
                  <a:pt x="3607688" y="3474345"/>
                </a:cubicBezTo>
                <a:cubicBezTo>
                  <a:pt x="3282124" y="3516065"/>
                  <a:pt x="2936176" y="3424148"/>
                  <a:pt x="2672333" y="3227933"/>
                </a:cubicBezTo>
                <a:cubicBezTo>
                  <a:pt x="2780728" y="3043243"/>
                  <a:pt x="2873787" y="2814739"/>
                  <a:pt x="2777965" y="2606522"/>
                </a:cubicBezTo>
                <a:cubicBezTo>
                  <a:pt x="2694812" y="2425833"/>
                  <a:pt x="2462116" y="2312295"/>
                  <a:pt x="2285714" y="2437168"/>
                </a:cubicBezTo>
                <a:cubicBezTo>
                  <a:pt x="2104072" y="2565851"/>
                  <a:pt x="2107215" y="2810071"/>
                  <a:pt x="2202751" y="2990094"/>
                </a:cubicBezTo>
                <a:cubicBezTo>
                  <a:pt x="2257139" y="3092583"/>
                  <a:pt x="2334101" y="3185166"/>
                  <a:pt x="2421254" y="3266224"/>
                </a:cubicBezTo>
                <a:cubicBezTo>
                  <a:pt x="2333529" y="3391287"/>
                  <a:pt x="2232373" y="3506254"/>
                  <a:pt x="2123407" y="3613791"/>
                </a:cubicBezTo>
                <a:cubicBezTo>
                  <a:pt x="1831561" y="3901922"/>
                  <a:pt x="1491043" y="4131570"/>
                  <a:pt x="1165859" y="4379220"/>
                </a:cubicBezTo>
                <a:cubicBezTo>
                  <a:pt x="835056" y="4631156"/>
                  <a:pt x="509491" y="4905953"/>
                  <a:pt x="284416" y="5260663"/>
                </a:cubicBezTo>
                <a:cubicBezTo>
                  <a:pt x="74199" y="5592229"/>
                  <a:pt x="-44102" y="5994755"/>
                  <a:pt x="15334" y="6387566"/>
                </a:cubicBezTo>
                <a:cubicBezTo>
                  <a:pt x="29527" y="6481578"/>
                  <a:pt x="55339" y="6572732"/>
                  <a:pt x="92296" y="6660362"/>
                </a:cubicBezTo>
                <a:cubicBezTo>
                  <a:pt x="112204" y="6707701"/>
                  <a:pt x="155257" y="6741801"/>
                  <a:pt x="209454" y="6726847"/>
                </a:cubicBezTo>
                <a:cubicBezTo>
                  <a:pt x="254126" y="6714560"/>
                  <a:pt x="296036" y="6657410"/>
                  <a:pt x="275938" y="6609689"/>
                </a:cubicBezTo>
                <a:cubicBezTo>
                  <a:pt x="119633" y="6238405"/>
                  <a:pt x="193357" y="5822258"/>
                  <a:pt x="379380" y="5475833"/>
                </a:cubicBezTo>
                <a:cubicBezTo>
                  <a:pt x="580357" y="5101406"/>
                  <a:pt x="909541" y="4813465"/>
                  <a:pt x="1242631" y="4558576"/>
                </a:cubicBezTo>
                <a:cubicBezTo>
                  <a:pt x="1586293" y="4295495"/>
                  <a:pt x="1949195" y="4053655"/>
                  <a:pt x="2258281" y="3748475"/>
                </a:cubicBezTo>
                <a:cubicBezTo>
                  <a:pt x="2371248" y="3636937"/>
                  <a:pt x="2476880" y="3516636"/>
                  <a:pt x="2569178" y="3387001"/>
                </a:cubicBezTo>
                <a:cubicBezTo>
                  <a:pt x="2586227" y="3399288"/>
                  <a:pt x="2603372" y="3411290"/>
                  <a:pt x="2620613" y="3422815"/>
                </a:cubicBezTo>
                <a:cubicBezTo>
                  <a:pt x="2781204" y="3529971"/>
                  <a:pt x="2965798" y="3605885"/>
                  <a:pt x="3155060" y="3643700"/>
                </a:cubicBezTo>
                <a:cubicBezTo>
                  <a:pt x="3536822" y="3719900"/>
                  <a:pt x="3934586" y="3643318"/>
                  <a:pt x="4255103" y="3420148"/>
                </a:cubicBezTo>
                <a:cubicBezTo>
                  <a:pt x="4574857" y="3197453"/>
                  <a:pt x="4806124" y="2859030"/>
                  <a:pt x="4875942" y="2473649"/>
                </a:cubicBezTo>
                <a:cubicBezTo>
                  <a:pt x="4960238" y="2008352"/>
                  <a:pt x="4836413" y="1541913"/>
                  <a:pt x="4882991" y="1075759"/>
                </a:cubicBezTo>
                <a:cubicBezTo>
                  <a:pt x="4912994" y="775055"/>
                  <a:pt x="5041868" y="424059"/>
                  <a:pt x="5311711" y="261943"/>
                </a:cubicBezTo>
                <a:cubicBezTo>
                  <a:pt x="5378481" y="221843"/>
                  <a:pt x="5447919" y="198316"/>
                  <a:pt x="5525738" y="185362"/>
                </a:cubicBezTo>
                <a:cubicBezTo>
                  <a:pt x="5576506" y="177076"/>
                  <a:pt x="5604890" y="114211"/>
                  <a:pt x="5592222" y="68300"/>
                </a:cubicBezTo>
                <a:close/>
                <a:moveTo>
                  <a:pt x="2325147" y="2750826"/>
                </a:moveTo>
                <a:cubicBezTo>
                  <a:pt x="2323909" y="2689104"/>
                  <a:pt x="2348864" y="2613571"/>
                  <a:pt x="2408110" y="2584615"/>
                </a:cubicBezTo>
                <a:cubicBezTo>
                  <a:pt x="2467831" y="2555468"/>
                  <a:pt x="2531554" y="2590520"/>
                  <a:pt x="2573083" y="2637193"/>
                </a:cubicBezTo>
                <a:cubicBezTo>
                  <a:pt x="2689478" y="2768161"/>
                  <a:pt x="2604801" y="2961805"/>
                  <a:pt x="2525934" y="3100870"/>
                </a:cubicBezTo>
                <a:cubicBezTo>
                  <a:pt x="2492120" y="3066961"/>
                  <a:pt x="2460307" y="3031242"/>
                  <a:pt x="2431446" y="2993428"/>
                </a:cubicBezTo>
                <a:cubicBezTo>
                  <a:pt x="2378963" y="2924657"/>
                  <a:pt x="2326861" y="2840075"/>
                  <a:pt x="2325147" y="2750826"/>
                </a:cubicBezTo>
                <a:close/>
              </a:path>
            </a:pathLst>
          </a:custGeom>
          <a:solidFill>
            <a:schemeClr val="accent2"/>
          </a:solidFill>
          <a:ln w="9525" cap="flat">
            <a:noFill/>
            <a:prstDash val="solid"/>
            <a:miter/>
          </a:ln>
        </p:spPr>
        <p:txBody>
          <a:bodyPr rtlCol="0" anchor="ctr"/>
          <a:lstStyle/>
          <a:p>
            <a:endParaRPr lang="en-US">
              <a:solidFill>
                <a:schemeClr val="accent3"/>
              </a:solidFill>
            </a:endParaRPr>
          </a:p>
        </p:txBody>
      </p:sp>
      <p:sp>
        <p:nvSpPr>
          <p:cNvPr id="14" name="CuadroTexto 13">
            <a:extLst>
              <a:ext uri="{FF2B5EF4-FFF2-40B4-BE49-F238E27FC236}">
                <a16:creationId xmlns:a16="http://schemas.microsoft.com/office/drawing/2014/main" id="{87FE065D-E768-D5D7-6A95-4730418126D6}"/>
              </a:ext>
            </a:extLst>
          </p:cNvPr>
          <p:cNvSpPr txBox="1"/>
          <p:nvPr/>
        </p:nvSpPr>
        <p:spPr>
          <a:xfrm>
            <a:off x="1768525" y="3597181"/>
            <a:ext cx="8023721" cy="1323439"/>
          </a:xfrm>
          <a:prstGeom prst="rect">
            <a:avLst/>
          </a:prstGeom>
          <a:noFill/>
        </p:spPr>
        <p:txBody>
          <a:bodyPr wrap="square" rtlCol="0">
            <a:spAutoFit/>
          </a:bodyPr>
          <a:lstStyle/>
          <a:p>
            <a:r>
              <a:rPr lang="es-ES" sz="4000" b="1" err="1">
                <a:solidFill>
                  <a:schemeClr val="bg1"/>
                </a:solidFill>
                <a:latin typeface="Segoe UI" panose="020B0502040204020203" pitchFamily="34" charset="0"/>
                <a:cs typeface="Segoe UI" panose="020B0502040204020203" pitchFamily="34" charset="0"/>
              </a:rPr>
              <a:t>Managed</a:t>
            </a:r>
            <a:r>
              <a:rPr lang="es-ES" sz="4000" b="1">
                <a:solidFill>
                  <a:schemeClr val="bg1"/>
                </a:solidFill>
                <a:latin typeface="Segoe UI" panose="020B0502040204020203" pitchFamily="34" charset="0"/>
                <a:cs typeface="Segoe UI" panose="020B0502040204020203" pitchFamily="34" charset="0"/>
              </a:rPr>
              <a:t> Security con la Power Platform: ¿De qué va esto?</a:t>
            </a:r>
          </a:p>
        </p:txBody>
      </p:sp>
      <p:sp>
        <p:nvSpPr>
          <p:cNvPr id="15" name="CuadroTexto 14">
            <a:extLst>
              <a:ext uri="{FF2B5EF4-FFF2-40B4-BE49-F238E27FC236}">
                <a16:creationId xmlns:a16="http://schemas.microsoft.com/office/drawing/2014/main" id="{20A76BE3-227B-C961-B3E1-E38F648D98BC}"/>
              </a:ext>
            </a:extLst>
          </p:cNvPr>
          <p:cNvSpPr txBox="1"/>
          <p:nvPr/>
        </p:nvSpPr>
        <p:spPr>
          <a:xfrm>
            <a:off x="1776418" y="4970384"/>
            <a:ext cx="8023721" cy="523220"/>
          </a:xfrm>
          <a:prstGeom prst="rect">
            <a:avLst/>
          </a:prstGeom>
          <a:noFill/>
        </p:spPr>
        <p:txBody>
          <a:bodyPr wrap="square" rtlCol="0">
            <a:spAutoFit/>
          </a:bodyPr>
          <a:lstStyle/>
          <a:p>
            <a:r>
              <a:rPr lang="es-ES" sz="2800">
                <a:solidFill>
                  <a:schemeClr val="bg1"/>
                </a:solidFill>
                <a:latin typeface="Segoe UI" panose="020B0502040204020203" pitchFamily="34" charset="0"/>
                <a:cs typeface="Segoe UI" panose="020B0502040204020203" pitchFamily="34" charset="0"/>
              </a:rPr>
              <a:t>Juan Carlos Gonzalez &amp; Enrique Arribas</a:t>
            </a:r>
          </a:p>
        </p:txBody>
      </p:sp>
      <p:pic>
        <p:nvPicPr>
          <p:cNvPr id="20" name="Imagen 19" descr="Un dibujo con letras&#10;&#10;El contenido generado por IA puede ser incorrecto.">
            <a:extLst>
              <a:ext uri="{FF2B5EF4-FFF2-40B4-BE49-F238E27FC236}">
                <a16:creationId xmlns:a16="http://schemas.microsoft.com/office/drawing/2014/main" id="{DF97A0FC-441E-510A-1456-26B2E7C81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081" y="771421"/>
            <a:ext cx="2817559" cy="1307808"/>
          </a:xfrm>
          <a:prstGeom prst="rect">
            <a:avLst/>
          </a:prstGeom>
        </p:spPr>
      </p:pic>
      <p:sp>
        <p:nvSpPr>
          <p:cNvPr id="71" name="TextBox 7">
            <a:extLst>
              <a:ext uri="{FF2B5EF4-FFF2-40B4-BE49-F238E27FC236}">
                <a16:creationId xmlns:a16="http://schemas.microsoft.com/office/drawing/2014/main" id="{C0D09BAB-0E15-2340-CB9F-729DA67AE981}"/>
              </a:ext>
            </a:extLst>
          </p:cNvPr>
          <p:cNvSpPr txBox="1"/>
          <p:nvPr/>
        </p:nvSpPr>
        <p:spPr>
          <a:xfrm>
            <a:off x="10294951" y="6335935"/>
            <a:ext cx="1355580" cy="261610"/>
          </a:xfrm>
          <a:prstGeom prst="rect">
            <a:avLst/>
          </a:prstGeom>
          <a:noFill/>
        </p:spPr>
        <p:txBody>
          <a:bodyPr wrap="square" rtlCol="0">
            <a:spAutoFit/>
          </a:bodyPr>
          <a:lstStyle/>
          <a:p>
            <a:r>
              <a:rPr lang="en-US" sz="1100" b="0">
                <a:solidFill>
                  <a:schemeClr val="bg1"/>
                </a:solidFill>
                <a:latin typeface="Segoe UI" panose="020B0502040204020203" pitchFamily="34" charset="0"/>
                <a:cs typeface="Segoe UI" panose="020B0502040204020203" pitchFamily="34" charset="0"/>
              </a:rPr>
              <a:t>#BizzSummit2025</a:t>
            </a:r>
            <a:endParaRPr lang="en-GB" sz="1100" b="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1215282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8" presetClass="emph" presetSubtype="0" repeatCount="indefinite" accel="50000" decel="50000" autoRev="1" fill="hold" grpId="1" nodeType="withEffect">
                                  <p:stCondLst>
                                    <p:cond delay="0"/>
                                  </p:stCondLst>
                                  <p:childTnLst>
                                    <p:animRot by="10800000">
                                      <p:cBhvr>
                                        <p:cTn id="9" dur="20000" fill="hold"/>
                                        <p:tgtEl>
                                          <p:spTgt spid="38"/>
                                        </p:tgtEl>
                                        <p:attrNameLst>
                                          <p:attrName>r</p:attrName>
                                        </p:attrNameLst>
                                      </p:cBhvr>
                                    </p:animRot>
                                  </p:childTnLst>
                                </p:cTn>
                              </p:par>
                              <p:par>
                                <p:cTn id="10" presetID="10" presetClass="entr" presetSubtype="0"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fade">
                                      <p:cBhvr>
                                        <p:cTn id="12" dur="750"/>
                                        <p:tgtEl>
                                          <p:spTgt spid="45"/>
                                        </p:tgtEl>
                                      </p:cBhvr>
                                    </p:animEffect>
                                  </p:childTnLst>
                                </p:cTn>
                              </p:par>
                              <p:par>
                                <p:cTn id="13" presetID="8" presetClass="emph" presetSubtype="0" repeatCount="indefinite" accel="50000" decel="50000" autoRev="1" fill="hold" grpId="1" nodeType="withEffect">
                                  <p:stCondLst>
                                    <p:cond delay="0"/>
                                  </p:stCondLst>
                                  <p:childTnLst>
                                    <p:animRot by="5400000">
                                      <p:cBhvr>
                                        <p:cTn id="14" dur="20000" fill="hold"/>
                                        <p:tgtEl>
                                          <p:spTgt spid="45"/>
                                        </p:tgtEl>
                                        <p:attrNameLst>
                                          <p:attrName>r</p:attrName>
                                        </p:attrNameLst>
                                      </p:cBhvr>
                                    </p:animRot>
                                  </p:childTnLst>
                                </p:cTn>
                              </p:par>
                              <p:par>
                                <p:cTn id="15" presetID="10"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animEffect transition="in" filter="fade">
                                      <p:cBhvr>
                                        <p:cTn id="17" dur="750"/>
                                        <p:tgtEl>
                                          <p:spTgt spid="56"/>
                                        </p:tgtEl>
                                      </p:cBhvr>
                                    </p:animEffect>
                                  </p:childTnLst>
                                </p:cTn>
                              </p:par>
                              <p:par>
                                <p:cTn id="18" presetID="8" presetClass="emph" presetSubtype="0" repeatCount="indefinite" accel="50000" decel="50000" autoRev="1" fill="hold" grpId="1" nodeType="withEffect">
                                  <p:stCondLst>
                                    <p:cond delay="0"/>
                                  </p:stCondLst>
                                  <p:childTnLst>
                                    <p:animRot by="-5400000">
                                      <p:cBhvr>
                                        <p:cTn id="19" dur="20000" fill="hold"/>
                                        <p:tgtEl>
                                          <p:spTgt spid="56"/>
                                        </p:tgtEl>
                                        <p:attrNameLst>
                                          <p:attrName>r</p:attrName>
                                        </p:attrNameLst>
                                      </p:cBhvr>
                                    </p:animRot>
                                  </p:childTnLst>
                                </p:cTn>
                              </p:par>
                              <p:par>
                                <p:cTn id="20" presetID="10" presetClass="entr" presetSubtype="0" fill="hold" grpId="0" nodeType="withEffect">
                                  <p:stCondLst>
                                    <p:cond delay="100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26" presetClass="emph" presetSubtype="0" fill="hold" grpId="1" nodeType="withEffect">
                                  <p:stCondLst>
                                    <p:cond delay="1000"/>
                                  </p:stCondLst>
                                  <p:childTnLst>
                                    <p:animEffect transition="out" filter="fade">
                                      <p:cBhvr>
                                        <p:cTn id="24" dur="500" tmFilter="0, 0; .2, .5; .8, .5; 1, 0"/>
                                        <p:tgtEl>
                                          <p:spTgt spid="42"/>
                                        </p:tgtEl>
                                      </p:cBhvr>
                                    </p:animEffect>
                                    <p:animScale>
                                      <p:cBhvr>
                                        <p:cTn id="25" dur="250" autoRev="1" fill="hold"/>
                                        <p:tgtEl>
                                          <p:spTgt spid="42"/>
                                        </p:tgtEl>
                                      </p:cBhvr>
                                      <p:by x="105000" y="105000"/>
                                    </p:animScale>
                                  </p:childTnLst>
                                </p:cTn>
                              </p:par>
                              <p:par>
                                <p:cTn id="26" presetID="10" presetClass="entr" presetSubtype="0" fill="hold" nodeType="with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38" grpId="0" animBg="1"/>
      <p:bldP spid="38" grpId="1" animBg="1"/>
      <p:bldP spid="42" grpId="0" animBg="1"/>
      <p:bldP spid="42" grpId="1" animBg="1"/>
      <p:bldP spid="45" grpId="0" animBg="1"/>
      <p:bldP spid="45" grpId="1" animBg="1"/>
    </p:bld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489D7E60-4742-4CF7-71EF-E248181FF3E1}"/>
              </a:ext>
            </a:extLst>
          </p:cNvPr>
          <p:cNvSpPr txBox="1">
            <a:spLocks/>
          </p:cNvSpPr>
          <p:nvPr/>
        </p:nvSpPr>
        <p:spPr>
          <a:xfrm>
            <a:off x="544286" y="436183"/>
            <a:ext cx="10575308" cy="666903"/>
          </a:xfrm>
          <a:prstGeom prst="rect">
            <a:avLst/>
          </a:prstGeom>
        </p:spPr>
        <p:txBody>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r>
              <a:rPr lang="es-ES" b="1">
                <a:solidFill>
                  <a:schemeClr val="accent1"/>
                </a:solidFill>
                <a:latin typeface="Segoe UI" panose="020B0502040204020203" pitchFamily="34" charset="0"/>
                <a:cs typeface="Segoe UI" panose="020B0502040204020203" pitchFamily="34" charset="0"/>
              </a:rPr>
              <a:t>Instrucciones para el uso de la PPT</a:t>
            </a:r>
          </a:p>
        </p:txBody>
      </p:sp>
      <p:sp>
        <p:nvSpPr>
          <p:cNvPr id="3" name="TextBox 4">
            <a:extLst>
              <a:ext uri="{FF2B5EF4-FFF2-40B4-BE49-F238E27FC236}">
                <a16:creationId xmlns:a16="http://schemas.microsoft.com/office/drawing/2014/main" id="{B4133771-B980-A059-BCBE-CA3D8B40478C}"/>
              </a:ext>
            </a:extLst>
          </p:cNvPr>
          <p:cNvSpPr txBox="1"/>
          <p:nvPr/>
        </p:nvSpPr>
        <p:spPr>
          <a:xfrm>
            <a:off x="708550" y="1251163"/>
            <a:ext cx="10575307" cy="4247317"/>
          </a:xfrm>
          <a:prstGeom prst="rect">
            <a:avLst/>
          </a:prstGeom>
          <a:noFill/>
        </p:spPr>
        <p:txBody>
          <a:bodyPr wrap="square" lIns="91440" tIns="45720" rIns="91440" bIns="45720" rtlCol="0" anchor="t">
            <a:spAutoFit/>
          </a:bodyPr>
          <a:lstStyle/>
          <a:p>
            <a:pPr>
              <a:buClr>
                <a:schemeClr val="bg1"/>
              </a:buClr>
            </a:pPr>
            <a:r>
              <a:rPr lang="es-ES">
                <a:solidFill>
                  <a:schemeClr val="bg1"/>
                </a:solidFill>
                <a:latin typeface="Segoe UI" panose="020B0502040204020203" pitchFamily="34" charset="0"/>
                <a:ea typeface="Roboto" panose="02000000000000000000" pitchFamily="2" charset="0"/>
                <a:cs typeface="Segoe UI" panose="020B0502040204020203" pitchFamily="34" charset="0"/>
              </a:rPr>
              <a:t>Querido Speaker, te recordamos algunas de las reglas básicas:</a:t>
            </a:r>
          </a:p>
          <a:p>
            <a:pPr>
              <a:buClr>
                <a:schemeClr val="bg1"/>
              </a:buCl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a:cs typeface="Segoe UI" panose="020B0502040204020203" pitchFamily="34" charset="0"/>
              </a:rPr>
              <a:t>Si vas a realizar un workshop, la sesión será de 2h. Para las sesiones dispondrás de 50 minutos.</a:t>
            </a: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a:cs typeface="Segoe UI" panose="020B0502040204020203" pitchFamily="34" charset="0"/>
              </a:rPr>
              <a:t>No elimines la </a:t>
            </a:r>
            <a:r>
              <a:rPr lang="es-ES" err="1">
                <a:solidFill>
                  <a:schemeClr val="bg1"/>
                </a:solidFill>
                <a:latin typeface="Segoe UI" panose="020B0502040204020203" pitchFamily="34" charset="0"/>
                <a:ea typeface="Roboto"/>
                <a:cs typeface="Segoe UI" panose="020B0502040204020203" pitchFamily="34" charset="0"/>
              </a:rPr>
              <a:t>slide</a:t>
            </a:r>
            <a:r>
              <a:rPr lang="es-ES">
                <a:solidFill>
                  <a:schemeClr val="bg1"/>
                </a:solidFill>
                <a:latin typeface="Segoe UI" panose="020B0502040204020203" pitchFamily="34" charset="0"/>
                <a:ea typeface="Roboto"/>
                <a:cs typeface="Segoe UI" panose="020B0502040204020203" pitchFamily="34" charset="0"/>
              </a:rPr>
              <a:t> #5, utiliza la </a:t>
            </a:r>
            <a:r>
              <a:rPr lang="es-ES" err="1">
                <a:solidFill>
                  <a:schemeClr val="bg1"/>
                </a:solidFill>
                <a:latin typeface="Segoe UI" panose="020B0502040204020203" pitchFamily="34" charset="0"/>
                <a:ea typeface="Roboto"/>
                <a:cs typeface="Segoe UI" panose="020B0502040204020203" pitchFamily="34" charset="0"/>
              </a:rPr>
              <a:t>slide</a:t>
            </a:r>
            <a:r>
              <a:rPr lang="es-ES">
                <a:solidFill>
                  <a:schemeClr val="bg1"/>
                </a:solidFill>
                <a:latin typeface="Segoe UI" panose="020B0502040204020203" pitchFamily="34" charset="0"/>
                <a:ea typeface="Roboto"/>
                <a:cs typeface="Segoe UI" panose="020B0502040204020203" pitchFamily="34" charset="0"/>
              </a:rPr>
              <a:t> #1 o #2 a tu gusto y mantén la </a:t>
            </a:r>
            <a:r>
              <a:rPr lang="es-ES" err="1">
                <a:solidFill>
                  <a:schemeClr val="bg1"/>
                </a:solidFill>
                <a:latin typeface="Segoe UI" panose="020B0502040204020203" pitchFamily="34" charset="0"/>
                <a:ea typeface="Roboto"/>
                <a:cs typeface="Segoe UI" panose="020B0502040204020203" pitchFamily="34" charset="0"/>
              </a:rPr>
              <a:t>slide</a:t>
            </a:r>
            <a:r>
              <a:rPr lang="es-ES">
                <a:solidFill>
                  <a:schemeClr val="bg1"/>
                </a:solidFill>
                <a:latin typeface="Segoe UI" panose="020B0502040204020203" pitchFamily="34" charset="0"/>
                <a:ea typeface="Roboto"/>
                <a:cs typeface="Segoe UI" panose="020B0502040204020203" pitchFamily="34" charset="0"/>
              </a:rPr>
              <a:t> de patrocinadores. Tómate unos segundos para agradecerles su confianza y apoyo </a:t>
            </a:r>
            <a:r>
              <a:rPr lang="es-ES">
                <a:solidFill>
                  <a:schemeClr val="bg1"/>
                </a:solidFill>
                <a:latin typeface="Segoe UI" panose="020B0502040204020203" pitchFamily="34" charset="0"/>
                <a:ea typeface="Roboto"/>
                <a:cs typeface="Segoe UI" panose="020B0502040204020203" pitchFamily="34" charset="0"/>
                <a:sym typeface="Wingdings" panose="05000000000000000000" pitchFamily="2" charset="2"/>
              </a:rPr>
              <a:t></a:t>
            </a: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a:cs typeface="Segoe UI" panose="020B0502040204020203" pitchFamily="34" charset="0"/>
                <a:sym typeface="Wingdings" panose="05000000000000000000" pitchFamily="2" charset="2"/>
              </a:rPr>
              <a:t>Reutiliza o personaliza a tu gusto la </a:t>
            </a:r>
            <a:r>
              <a:rPr lang="es-ES" err="1">
                <a:solidFill>
                  <a:schemeClr val="bg1"/>
                </a:solidFill>
                <a:latin typeface="Segoe UI" panose="020B0502040204020203" pitchFamily="34" charset="0"/>
                <a:ea typeface="Roboto"/>
                <a:cs typeface="Segoe UI" panose="020B0502040204020203" pitchFamily="34" charset="0"/>
                <a:sym typeface="Wingdings" panose="05000000000000000000" pitchFamily="2" charset="2"/>
              </a:rPr>
              <a:t>slide</a:t>
            </a:r>
            <a:r>
              <a:rPr lang="es-ES">
                <a:solidFill>
                  <a:schemeClr val="bg1"/>
                </a:solidFill>
                <a:latin typeface="Segoe UI" panose="020B0502040204020203" pitchFamily="34" charset="0"/>
                <a:ea typeface="Roboto"/>
                <a:cs typeface="Segoe UI" panose="020B0502040204020203" pitchFamily="34" charset="0"/>
                <a:sym typeface="Wingdings" panose="05000000000000000000" pitchFamily="2" charset="2"/>
              </a:rPr>
              <a:t> #6 con tu información (incluso cambia la fotografía).</a:t>
            </a: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panose="02000000000000000000" pitchFamily="2" charset="0"/>
                <a:cs typeface="Segoe UI" panose="020B0502040204020203" pitchFamily="34" charset="0"/>
                <a:sym typeface="Wingdings" panose="05000000000000000000" pitchFamily="2" charset="2"/>
              </a:rPr>
              <a:t>Nuestra fuente para todo el contenido es Segoe UI.</a:t>
            </a: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panose="02000000000000000000" pitchFamily="2" charset="0"/>
                <a:cs typeface="Segoe UI" panose="020B0502040204020203" pitchFamily="34" charset="0"/>
                <a:sym typeface="Wingdings" panose="05000000000000000000" pitchFamily="2" charset="2"/>
              </a:rPr>
              <a:t>No modifiques el patrón de diapositivas.</a:t>
            </a: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a:cs typeface="Segoe UI" panose="020B0502040204020203" pitchFamily="34" charset="0"/>
              </a:rPr>
              <a:t>Por favor sigue la gama de colores establecida en la plantilla y solo añade colores adicionales cuando sea necesario para tu presentación.</a:t>
            </a: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a:cs typeface="Segoe UI" panose="020B0502040204020203" pitchFamily="34" charset="0"/>
              </a:rPr>
              <a:t>Esta plantilla podría sufrir alguna modificación, no te preocupes si tu sesión queda grabada/preparada con una versión antigua.</a:t>
            </a:r>
          </a:p>
          <a:p>
            <a:pPr>
              <a:buClr>
                <a:schemeClr val="bg1"/>
              </a:buClr>
            </a:pPr>
            <a:endParaRPr lang="es-ES">
              <a:solidFill>
                <a:schemeClr val="bg1"/>
              </a:solidFill>
              <a:latin typeface="Segoe UI" panose="020B0502040204020203" pitchFamily="34" charset="0"/>
              <a:ea typeface="Roboto"/>
              <a:cs typeface="Segoe UI" panose="020B0502040204020203" pitchFamily="34" charset="0"/>
            </a:endParaRPr>
          </a:p>
          <a:p>
            <a:pPr marL="285750" indent="-285750">
              <a:buClr>
                <a:schemeClr val="bg1"/>
              </a:buClr>
              <a:buFont typeface="Arial" panose="020B0604020202020204" pitchFamily="34" charset="0"/>
              <a:buChar char="•"/>
            </a:pPr>
            <a:r>
              <a:rPr lang="es-ES">
                <a:solidFill>
                  <a:schemeClr val="bg1"/>
                </a:solidFill>
                <a:latin typeface="Segoe UI" panose="020B0502040204020203" pitchFamily="34" charset="0"/>
                <a:ea typeface="Roboto" panose="02000000000000000000" pitchFamily="2" charset="0"/>
                <a:cs typeface="Segoe UI" panose="020B0502040204020203" pitchFamily="34" charset="0"/>
              </a:rPr>
              <a:t>Una vez hayas cumplido todo lo listado </a:t>
            </a:r>
            <a:r>
              <a:rPr lang="es-ES">
                <a:solidFill>
                  <a:schemeClr val="bg1"/>
                </a:solidFill>
                <a:latin typeface="Segoe UI" panose="020B0502040204020203" pitchFamily="34" charset="0"/>
                <a:ea typeface="Roboto" panose="02000000000000000000" pitchFamily="2" charset="0"/>
                <a:cs typeface="Segoe UI" panose="020B0502040204020203" pitchFamily="34" charset="0"/>
                <a:sym typeface="Wingdings" panose="05000000000000000000" pitchFamily="2" charset="2"/>
              </a:rPr>
              <a:t> Siéntete libre de eliminar esta </a:t>
            </a:r>
            <a:r>
              <a:rPr lang="es-ES" err="1">
                <a:solidFill>
                  <a:schemeClr val="bg1"/>
                </a:solidFill>
                <a:latin typeface="Segoe UI" panose="020B0502040204020203" pitchFamily="34" charset="0"/>
                <a:ea typeface="Roboto" panose="02000000000000000000" pitchFamily="2" charset="0"/>
                <a:cs typeface="Segoe UI" panose="020B0502040204020203" pitchFamily="34" charset="0"/>
                <a:sym typeface="Wingdings" panose="05000000000000000000" pitchFamily="2" charset="2"/>
              </a:rPr>
              <a:t>slide</a:t>
            </a:r>
            <a:r>
              <a:rPr lang="es-ES">
                <a:solidFill>
                  <a:schemeClr val="bg1"/>
                </a:solidFill>
                <a:latin typeface="Segoe UI" panose="020B0502040204020203" pitchFamily="34" charset="0"/>
                <a:ea typeface="Roboto" panose="02000000000000000000" pitchFamily="2" charset="0"/>
                <a:cs typeface="Segoe UI" panose="020B0502040204020203" pitchFamily="34" charset="0"/>
                <a:sym typeface="Wingdings" panose="05000000000000000000" pitchFamily="2" charset="2"/>
              </a:rPr>
              <a:t> de tu presentación.</a:t>
            </a: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lvl="8"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317542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ABF50102-F2A2-0AFC-04CA-2D1D4C80DB9A}"/>
              </a:ext>
            </a:extLst>
          </p:cNvPr>
          <p:cNvSpPr>
            <a:spLocks noGrp="1" noRot="1" noMove="1" noResize="1" noEditPoints="1" noAdjustHandles="1" noChangeArrowheads="1" noChangeShapeType="1"/>
          </p:cNvSpPr>
          <p:nvPr/>
        </p:nvSpPr>
        <p:spPr>
          <a:xfrm>
            <a:off x="5333003" y="1281329"/>
            <a:ext cx="6481864" cy="2498766"/>
          </a:xfrm>
          <a:prstGeom prst="roundRect">
            <a:avLst>
              <a:gd name="adj" fmla="val 822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Rectángulo: esquinas redondeadas 4">
            <a:extLst>
              <a:ext uri="{FF2B5EF4-FFF2-40B4-BE49-F238E27FC236}">
                <a16:creationId xmlns:a16="http://schemas.microsoft.com/office/drawing/2014/main" id="{1421258A-AB17-2D60-67EC-0D71FC492A91}"/>
              </a:ext>
            </a:extLst>
          </p:cNvPr>
          <p:cNvSpPr>
            <a:spLocks noGrp="1" noRot="1" noMove="1" noResize="1" noEditPoints="1" noAdjustHandles="1" noChangeArrowheads="1" noChangeShapeType="1"/>
          </p:cNvSpPr>
          <p:nvPr/>
        </p:nvSpPr>
        <p:spPr>
          <a:xfrm>
            <a:off x="5333003" y="5125442"/>
            <a:ext cx="6481864" cy="1014100"/>
          </a:xfrm>
          <a:prstGeom prst="roundRect">
            <a:avLst>
              <a:gd name="adj" fmla="val 13926"/>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esquinas redondeadas 5">
            <a:extLst>
              <a:ext uri="{FF2B5EF4-FFF2-40B4-BE49-F238E27FC236}">
                <a16:creationId xmlns:a16="http://schemas.microsoft.com/office/drawing/2014/main" id="{0AEDCCED-F15A-5E34-F6CB-8D773AC58FCC}"/>
              </a:ext>
            </a:extLst>
          </p:cNvPr>
          <p:cNvSpPr>
            <a:spLocks noGrp="1" noRot="1" noMove="1" noResize="1" noEditPoints="1" noAdjustHandles="1" noChangeArrowheads="1" noChangeShapeType="1"/>
          </p:cNvSpPr>
          <p:nvPr/>
        </p:nvSpPr>
        <p:spPr>
          <a:xfrm>
            <a:off x="8090218" y="3945584"/>
            <a:ext cx="3699180" cy="1002849"/>
          </a:xfrm>
          <a:prstGeom prst="roundRect">
            <a:avLst>
              <a:gd name="adj" fmla="val 147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TextBox 32">
            <a:extLst>
              <a:ext uri="{FF2B5EF4-FFF2-40B4-BE49-F238E27FC236}">
                <a16:creationId xmlns:a16="http://schemas.microsoft.com/office/drawing/2014/main" id="{E05541D6-50D3-EAC5-78EA-DEDB2D9074D9}"/>
              </a:ext>
            </a:extLst>
          </p:cNvPr>
          <p:cNvSpPr txBox="1"/>
          <p:nvPr/>
        </p:nvSpPr>
        <p:spPr>
          <a:xfrm>
            <a:off x="377133" y="404661"/>
            <a:ext cx="6946982" cy="646331"/>
          </a:xfrm>
          <a:prstGeom prst="rect">
            <a:avLst/>
          </a:prstGeom>
          <a:noFill/>
        </p:spPr>
        <p:txBody>
          <a:bodyPr wrap="square" rtlCol="0">
            <a:spAutoFit/>
          </a:bodyPr>
          <a:lstStyle/>
          <a:p>
            <a:r>
              <a:rPr lang="en-GB" sz="3600" b="1">
                <a:solidFill>
                  <a:schemeClr val="tx2"/>
                </a:solidFill>
                <a:latin typeface="Segoe UI" panose="020B0502040204020203" pitchFamily="34" charset="0"/>
                <a:cs typeface="Segoe UI" panose="020B0502040204020203" pitchFamily="34" charset="0"/>
              </a:rPr>
              <a:t>¡Gracias a nuestros sponsors!</a:t>
            </a:r>
          </a:p>
        </p:txBody>
      </p:sp>
      <p:sp>
        <p:nvSpPr>
          <p:cNvPr id="9" name="TextBox 32">
            <a:extLst>
              <a:ext uri="{FF2B5EF4-FFF2-40B4-BE49-F238E27FC236}">
                <a16:creationId xmlns:a16="http://schemas.microsoft.com/office/drawing/2014/main" id="{E28C60E8-3BC7-1D6E-BCF9-340BAA85E7C8}"/>
              </a:ext>
            </a:extLst>
          </p:cNvPr>
          <p:cNvSpPr txBox="1"/>
          <p:nvPr/>
        </p:nvSpPr>
        <p:spPr>
          <a:xfrm>
            <a:off x="5472504" y="1406569"/>
            <a:ext cx="2103135" cy="400110"/>
          </a:xfrm>
          <a:prstGeom prst="rect">
            <a:avLst/>
          </a:prstGeom>
          <a:noFill/>
        </p:spPr>
        <p:txBody>
          <a:bodyPr wrap="square" rtlCol="0">
            <a:spAutoFit/>
          </a:bodyPr>
          <a:lstStyle/>
          <a:p>
            <a:r>
              <a:rPr lang="en-GB" sz="2000" b="1">
                <a:solidFill>
                  <a:schemeClr val="bg1"/>
                </a:solidFill>
                <a:latin typeface="Segoe UI" panose="020B0502040204020203" pitchFamily="34" charset="0"/>
                <a:cs typeface="Segoe UI" panose="020B0502040204020203" pitchFamily="34" charset="0"/>
              </a:rPr>
              <a:t>ORO</a:t>
            </a:r>
          </a:p>
        </p:txBody>
      </p:sp>
      <p:sp>
        <p:nvSpPr>
          <p:cNvPr id="12" name="TextBox 32">
            <a:extLst>
              <a:ext uri="{FF2B5EF4-FFF2-40B4-BE49-F238E27FC236}">
                <a16:creationId xmlns:a16="http://schemas.microsoft.com/office/drawing/2014/main" id="{16F146DA-F2C4-7A33-10A2-0BA4AE3F7157}"/>
              </a:ext>
            </a:extLst>
          </p:cNvPr>
          <p:cNvSpPr txBox="1"/>
          <p:nvPr/>
        </p:nvSpPr>
        <p:spPr>
          <a:xfrm>
            <a:off x="5472503" y="5231673"/>
            <a:ext cx="3240932" cy="338554"/>
          </a:xfrm>
          <a:prstGeom prst="rect">
            <a:avLst/>
          </a:prstGeom>
          <a:noFill/>
        </p:spPr>
        <p:txBody>
          <a:bodyPr wrap="square" rtlCol="0">
            <a:spAutoFit/>
          </a:bodyPr>
          <a:lstStyle/>
          <a:p>
            <a:r>
              <a:rPr lang="en-GB" sz="1600" b="1">
                <a:solidFill>
                  <a:schemeClr val="bg1"/>
                </a:solidFill>
                <a:latin typeface="Segoe UI" panose="020B0502040204020203" pitchFamily="34" charset="0"/>
                <a:cs typeface="Segoe UI" panose="020B0502040204020203" pitchFamily="34" charset="0"/>
              </a:rPr>
              <a:t>COLABORAN</a:t>
            </a:r>
          </a:p>
        </p:txBody>
      </p:sp>
      <p:pic>
        <p:nvPicPr>
          <p:cNvPr id="14" name="Imagen 13" descr="Dibujo con letras blancas&#10;&#10;El contenido generado por IA puede ser incorrecto.">
            <a:extLst>
              <a:ext uri="{FF2B5EF4-FFF2-40B4-BE49-F238E27FC236}">
                <a16:creationId xmlns:a16="http://schemas.microsoft.com/office/drawing/2014/main" id="{21ECBF35-B846-D818-3751-73BAB0376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2385" y="3133098"/>
            <a:ext cx="1897524" cy="550633"/>
          </a:xfrm>
          <a:prstGeom prst="rect">
            <a:avLst/>
          </a:prstGeom>
        </p:spPr>
      </p:pic>
      <p:pic>
        <p:nvPicPr>
          <p:cNvPr id="26" name="Gráfico 25">
            <a:extLst>
              <a:ext uri="{FF2B5EF4-FFF2-40B4-BE49-F238E27FC236}">
                <a16:creationId xmlns:a16="http://schemas.microsoft.com/office/drawing/2014/main" id="{7B9D898A-D772-DF4F-1202-6241858F6A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4915" y="2667217"/>
            <a:ext cx="3209694" cy="4542122"/>
          </a:xfrm>
          <a:prstGeom prst="rect">
            <a:avLst/>
          </a:prstGeom>
        </p:spPr>
      </p:pic>
      <p:pic>
        <p:nvPicPr>
          <p:cNvPr id="28" name="Picture 12" descr="Logo&#10;&#10;Description automatically generated">
            <a:extLst>
              <a:ext uri="{FF2B5EF4-FFF2-40B4-BE49-F238E27FC236}">
                <a16:creationId xmlns:a16="http://schemas.microsoft.com/office/drawing/2014/main" id="{818091B7-0827-85AA-0184-F4F62C8235E5}"/>
              </a:ext>
            </a:extLst>
          </p:cNvPr>
          <p:cNvPicPr>
            <a:picLocks noChangeAspect="1"/>
          </p:cNvPicPr>
          <p:nvPr/>
        </p:nvPicPr>
        <p:blipFill>
          <a:blip r:embed="rId5">
            <a:biLevel thresh="25000"/>
          </a:blip>
          <a:stretch>
            <a:fillRect/>
          </a:stretch>
        </p:blipFill>
        <p:spPr>
          <a:xfrm>
            <a:off x="9889644" y="5447199"/>
            <a:ext cx="1655984" cy="742127"/>
          </a:xfrm>
          <a:prstGeom prst="rect">
            <a:avLst/>
          </a:prstGeom>
        </p:spPr>
      </p:pic>
      <p:pic>
        <p:nvPicPr>
          <p:cNvPr id="29" name="Picture 49" descr="A blue text on a black background&#10;&#10;Description automatically generated">
            <a:extLst>
              <a:ext uri="{FF2B5EF4-FFF2-40B4-BE49-F238E27FC236}">
                <a16:creationId xmlns:a16="http://schemas.microsoft.com/office/drawing/2014/main" id="{F315214C-706B-5252-24C3-F9BF92083E1C}"/>
              </a:ext>
            </a:extLst>
          </p:cNvPr>
          <p:cNvPicPr>
            <a:picLocks noChangeAspect="1"/>
          </p:cNvPicPr>
          <p:nvPr/>
        </p:nvPicPr>
        <p:blipFill>
          <a:blip r:embed="rId6">
            <a:biLevel thresh="25000"/>
          </a:blip>
          <a:stretch>
            <a:fillRect/>
          </a:stretch>
        </p:blipFill>
        <p:spPr>
          <a:xfrm>
            <a:off x="6191763" y="5662473"/>
            <a:ext cx="1720494" cy="311580"/>
          </a:xfrm>
          <a:prstGeom prst="rect">
            <a:avLst/>
          </a:prstGeom>
        </p:spPr>
      </p:pic>
      <p:pic>
        <p:nvPicPr>
          <p:cNvPr id="30" name="Picture 2">
            <a:extLst>
              <a:ext uri="{FF2B5EF4-FFF2-40B4-BE49-F238E27FC236}">
                <a16:creationId xmlns:a16="http://schemas.microsoft.com/office/drawing/2014/main" id="{1F32BEE7-E623-CDFD-32BA-11F49BBFBD7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66605" y="2586463"/>
            <a:ext cx="1436905" cy="4305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7" descr="Graphical user interface, logo&#10;&#10;Description automatically generated">
            <a:extLst>
              <a:ext uri="{FF2B5EF4-FFF2-40B4-BE49-F238E27FC236}">
                <a16:creationId xmlns:a16="http://schemas.microsoft.com/office/drawing/2014/main" id="{65E3F12D-9E63-0A78-B2D8-E1CD334FC204}"/>
              </a:ext>
            </a:extLst>
          </p:cNvPr>
          <p:cNvPicPr>
            <a:picLocks noChangeAspect="1"/>
          </p:cNvPicPr>
          <p:nvPr/>
        </p:nvPicPr>
        <p:blipFill>
          <a:blip r:embed="rId8"/>
          <a:stretch>
            <a:fillRect/>
          </a:stretch>
        </p:blipFill>
        <p:spPr>
          <a:xfrm>
            <a:off x="5291031" y="2394637"/>
            <a:ext cx="1879628" cy="783441"/>
          </a:xfrm>
          <a:prstGeom prst="rect">
            <a:avLst/>
          </a:prstGeom>
        </p:spPr>
      </p:pic>
      <p:pic>
        <p:nvPicPr>
          <p:cNvPr id="33" name="Picture 28" descr="A black and white logo&#10;&#10;Description automatically generated">
            <a:extLst>
              <a:ext uri="{FF2B5EF4-FFF2-40B4-BE49-F238E27FC236}">
                <a16:creationId xmlns:a16="http://schemas.microsoft.com/office/drawing/2014/main" id="{519DA0AA-EC82-8081-6208-005641E30956}"/>
              </a:ext>
            </a:extLst>
          </p:cNvPr>
          <p:cNvPicPr>
            <a:picLocks noChangeAspect="1"/>
          </p:cNvPicPr>
          <p:nvPr/>
        </p:nvPicPr>
        <p:blipFill>
          <a:blip r:embed="rId9"/>
          <a:stretch>
            <a:fillRect/>
          </a:stretch>
        </p:blipFill>
        <p:spPr>
          <a:xfrm>
            <a:off x="7241844" y="2581700"/>
            <a:ext cx="1252385" cy="483099"/>
          </a:xfrm>
          <a:prstGeom prst="rect">
            <a:avLst/>
          </a:prstGeom>
        </p:spPr>
      </p:pic>
      <p:pic>
        <p:nvPicPr>
          <p:cNvPr id="34" name="Graphic 43">
            <a:extLst>
              <a:ext uri="{FF2B5EF4-FFF2-40B4-BE49-F238E27FC236}">
                <a16:creationId xmlns:a16="http://schemas.microsoft.com/office/drawing/2014/main" id="{F55EBD28-205D-D91E-2C31-306CFB8AAAB9}"/>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018458" y="1933184"/>
            <a:ext cx="1554416" cy="381631"/>
          </a:xfrm>
          <a:prstGeom prst="rect">
            <a:avLst/>
          </a:prstGeom>
        </p:spPr>
      </p:pic>
      <p:pic>
        <p:nvPicPr>
          <p:cNvPr id="39" name="Imagen 38">
            <a:extLst>
              <a:ext uri="{FF2B5EF4-FFF2-40B4-BE49-F238E27FC236}">
                <a16:creationId xmlns:a16="http://schemas.microsoft.com/office/drawing/2014/main" id="{8E4AF6F4-3F0C-1A11-1421-3FDDD48B40B0}"/>
              </a:ext>
            </a:extLst>
          </p:cNvPr>
          <p:cNvPicPr>
            <a:picLocks noChangeAspect="1"/>
          </p:cNvPicPr>
          <p:nvPr/>
        </p:nvPicPr>
        <p:blipFill>
          <a:blip r:embed="rId12">
            <a:extLst>
              <a:ext uri="{28A0092B-C50C-407E-A947-70E740481C1C}">
                <a14:useLocalDpi xmlns:a14="http://schemas.microsoft.com/office/drawing/2010/main" val="0"/>
              </a:ext>
            </a:extLst>
          </a:blip>
          <a:srcRect/>
          <a:stretch/>
        </p:blipFill>
        <p:spPr>
          <a:xfrm>
            <a:off x="7832216" y="1863499"/>
            <a:ext cx="1584769" cy="491602"/>
          </a:xfrm>
          <a:prstGeom prst="rect">
            <a:avLst/>
          </a:prstGeom>
        </p:spPr>
      </p:pic>
      <p:pic>
        <p:nvPicPr>
          <p:cNvPr id="41" name="Imagen 40" descr="Imagen que contiene dibujo, vajilla, plato&#10;&#10;El contenido generado por IA puede ser incorrecto.">
            <a:extLst>
              <a:ext uri="{FF2B5EF4-FFF2-40B4-BE49-F238E27FC236}">
                <a16:creationId xmlns:a16="http://schemas.microsoft.com/office/drawing/2014/main" id="{6937CDDA-79A9-D99D-4E0C-23C6AA41F28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035884" y="1502885"/>
            <a:ext cx="1396052" cy="416402"/>
          </a:xfrm>
          <a:prstGeom prst="rect">
            <a:avLst/>
          </a:prstGeom>
        </p:spPr>
      </p:pic>
      <p:pic>
        <p:nvPicPr>
          <p:cNvPr id="45" name="Gráfico 44">
            <a:extLst>
              <a:ext uri="{FF2B5EF4-FFF2-40B4-BE49-F238E27FC236}">
                <a16:creationId xmlns:a16="http://schemas.microsoft.com/office/drawing/2014/main" id="{4A457E01-A3B7-AA8D-B626-72F3DD474B1C}"/>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7367493" y="3273575"/>
            <a:ext cx="2075868" cy="291350"/>
          </a:xfrm>
          <a:prstGeom prst="rect">
            <a:avLst/>
          </a:prstGeom>
        </p:spPr>
      </p:pic>
      <p:sp>
        <p:nvSpPr>
          <p:cNvPr id="2" name="Rectángulo: esquinas redondeadas 1">
            <a:extLst>
              <a:ext uri="{FF2B5EF4-FFF2-40B4-BE49-F238E27FC236}">
                <a16:creationId xmlns:a16="http://schemas.microsoft.com/office/drawing/2014/main" id="{B1B73EA2-B68A-C6B5-A0A5-C6F780DDA470}"/>
              </a:ext>
            </a:extLst>
          </p:cNvPr>
          <p:cNvSpPr>
            <a:spLocks noGrp="1" noRot="1" noMove="1" noResize="1" noEditPoints="1" noAdjustHandles="1" noChangeArrowheads="1" noChangeShapeType="1"/>
          </p:cNvSpPr>
          <p:nvPr/>
        </p:nvSpPr>
        <p:spPr>
          <a:xfrm>
            <a:off x="517810" y="1281329"/>
            <a:ext cx="4542817" cy="4858213"/>
          </a:xfrm>
          <a:prstGeom prst="roundRect">
            <a:avLst>
              <a:gd name="adj" fmla="val 444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TextBox 32">
            <a:extLst>
              <a:ext uri="{FF2B5EF4-FFF2-40B4-BE49-F238E27FC236}">
                <a16:creationId xmlns:a16="http://schemas.microsoft.com/office/drawing/2014/main" id="{6E16F4D0-A8C4-BAF5-4503-6756C85810F9}"/>
              </a:ext>
            </a:extLst>
          </p:cNvPr>
          <p:cNvSpPr txBox="1"/>
          <p:nvPr/>
        </p:nvSpPr>
        <p:spPr>
          <a:xfrm>
            <a:off x="609920" y="1359746"/>
            <a:ext cx="2103135" cy="523220"/>
          </a:xfrm>
          <a:prstGeom prst="rect">
            <a:avLst/>
          </a:prstGeom>
          <a:noFill/>
        </p:spPr>
        <p:txBody>
          <a:bodyPr wrap="square" rtlCol="0">
            <a:spAutoFit/>
          </a:bodyPr>
          <a:lstStyle/>
          <a:p>
            <a:r>
              <a:rPr lang="en-GB" sz="2800" b="1">
                <a:solidFill>
                  <a:schemeClr val="tx2"/>
                </a:solidFill>
                <a:latin typeface="Segoe UI" panose="020B0502040204020203" pitchFamily="34" charset="0"/>
                <a:cs typeface="Segoe UI" panose="020B0502040204020203" pitchFamily="34" charset="0"/>
              </a:rPr>
              <a:t>PLATINO</a:t>
            </a:r>
          </a:p>
        </p:txBody>
      </p:sp>
      <p:pic>
        <p:nvPicPr>
          <p:cNvPr id="18" name="Imagen 17">
            <a:extLst>
              <a:ext uri="{FF2B5EF4-FFF2-40B4-BE49-F238E27FC236}">
                <a16:creationId xmlns:a16="http://schemas.microsoft.com/office/drawing/2014/main" id="{014B5252-B766-FBFB-59B7-653E1E6657CE}"/>
              </a:ext>
            </a:extLst>
          </p:cNvPr>
          <p:cNvPicPr>
            <a:picLocks noChangeAspect="1"/>
          </p:cNvPicPr>
          <p:nvPr/>
        </p:nvPicPr>
        <p:blipFill>
          <a:blip r:embed="rId16">
            <a:extLst>
              <a:ext uri="{28A0092B-C50C-407E-A947-70E740481C1C}">
                <a14:useLocalDpi xmlns:a14="http://schemas.microsoft.com/office/drawing/2010/main" val="0"/>
              </a:ext>
            </a:extLst>
          </a:blip>
          <a:srcRect/>
          <a:stretch/>
        </p:blipFill>
        <p:spPr>
          <a:xfrm>
            <a:off x="2575088" y="1769718"/>
            <a:ext cx="2400719" cy="731018"/>
          </a:xfrm>
          <a:prstGeom prst="rect">
            <a:avLst/>
          </a:prstGeom>
        </p:spPr>
      </p:pic>
      <p:pic>
        <p:nvPicPr>
          <p:cNvPr id="20" name="Imagen 19">
            <a:extLst>
              <a:ext uri="{FF2B5EF4-FFF2-40B4-BE49-F238E27FC236}">
                <a16:creationId xmlns:a16="http://schemas.microsoft.com/office/drawing/2014/main" id="{A2BFAE8E-FF34-BD8C-46C0-A175B9AC639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82354" y="2715183"/>
            <a:ext cx="3209694" cy="305939"/>
          </a:xfrm>
          <a:prstGeom prst="rect">
            <a:avLst/>
          </a:prstGeom>
        </p:spPr>
      </p:pic>
      <p:pic>
        <p:nvPicPr>
          <p:cNvPr id="24" name="Gráfico 23">
            <a:extLst>
              <a:ext uri="{FF2B5EF4-FFF2-40B4-BE49-F238E27FC236}">
                <a16:creationId xmlns:a16="http://schemas.microsoft.com/office/drawing/2014/main" id="{D93B0377-610E-D5F6-03C4-C8C2659B96D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804770" y="4555939"/>
            <a:ext cx="3144121" cy="504522"/>
          </a:xfrm>
          <a:prstGeom prst="rect">
            <a:avLst/>
          </a:prstGeom>
        </p:spPr>
      </p:pic>
      <p:pic>
        <p:nvPicPr>
          <p:cNvPr id="48" name="Imagen 47" descr="Logotipo&#10;&#10;El contenido generado por IA puede ser incorrecto.">
            <a:extLst>
              <a:ext uri="{FF2B5EF4-FFF2-40B4-BE49-F238E27FC236}">
                <a16:creationId xmlns:a16="http://schemas.microsoft.com/office/drawing/2014/main" id="{E23B8597-93DB-8C2E-5808-2D1C2A14DF33}"/>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637970" y="3057443"/>
            <a:ext cx="3366095" cy="923778"/>
          </a:xfrm>
          <a:prstGeom prst="rect">
            <a:avLst/>
          </a:prstGeom>
        </p:spPr>
      </p:pic>
      <p:pic>
        <p:nvPicPr>
          <p:cNvPr id="50" name="Imagen 49" descr="Logotipo&#10;&#10;El contenido generado por IA puede ser incorrecto.">
            <a:extLst>
              <a:ext uri="{FF2B5EF4-FFF2-40B4-BE49-F238E27FC236}">
                <a16:creationId xmlns:a16="http://schemas.microsoft.com/office/drawing/2014/main" id="{FD94A6AB-8224-8016-7C23-B0A400BC302F}"/>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517810" y="3579852"/>
            <a:ext cx="3456097" cy="1101326"/>
          </a:xfrm>
          <a:prstGeom prst="rect">
            <a:avLst/>
          </a:prstGeom>
        </p:spPr>
      </p:pic>
      <p:cxnSp>
        <p:nvCxnSpPr>
          <p:cNvPr id="52" name="Conector recto 51">
            <a:extLst>
              <a:ext uri="{FF2B5EF4-FFF2-40B4-BE49-F238E27FC236}">
                <a16:creationId xmlns:a16="http://schemas.microsoft.com/office/drawing/2014/main" id="{C150DC3E-6873-73A9-26BA-568F7FC411BE}"/>
              </a:ext>
            </a:extLst>
          </p:cNvPr>
          <p:cNvCxnSpPr/>
          <p:nvPr/>
        </p:nvCxnSpPr>
        <p:spPr>
          <a:xfrm>
            <a:off x="673241" y="1806679"/>
            <a:ext cx="1722971"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3" name="Conector recto 52">
            <a:extLst>
              <a:ext uri="{FF2B5EF4-FFF2-40B4-BE49-F238E27FC236}">
                <a16:creationId xmlns:a16="http://schemas.microsoft.com/office/drawing/2014/main" id="{C72F574E-86FA-C1BF-4663-B2502422BEA8}"/>
              </a:ext>
            </a:extLst>
          </p:cNvPr>
          <p:cNvCxnSpPr>
            <a:cxnSpLocks/>
          </p:cNvCxnSpPr>
          <p:nvPr/>
        </p:nvCxnSpPr>
        <p:spPr>
          <a:xfrm>
            <a:off x="5538108" y="1774677"/>
            <a:ext cx="114404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4" name="Rectángulo: esquinas redondeadas 3">
            <a:extLst>
              <a:ext uri="{FF2B5EF4-FFF2-40B4-BE49-F238E27FC236}">
                <a16:creationId xmlns:a16="http://schemas.microsoft.com/office/drawing/2014/main" id="{B8ECFAA8-26BE-A8C2-091D-5B3463ECD116}"/>
              </a:ext>
            </a:extLst>
          </p:cNvPr>
          <p:cNvSpPr>
            <a:spLocks noGrp="1" noRot="1" noMove="1" noResize="1" noEditPoints="1" noAdjustHandles="1" noChangeArrowheads="1" noChangeShapeType="1"/>
          </p:cNvSpPr>
          <p:nvPr/>
        </p:nvSpPr>
        <p:spPr>
          <a:xfrm>
            <a:off x="5334625" y="3950192"/>
            <a:ext cx="2593331" cy="1000760"/>
          </a:xfrm>
          <a:prstGeom prst="roundRect">
            <a:avLst>
              <a:gd name="adj" fmla="val 14717"/>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7" name="Picture 5" descr="A blue sign with white letters&#10;&#10;Description automatically generated">
            <a:extLst>
              <a:ext uri="{FF2B5EF4-FFF2-40B4-BE49-F238E27FC236}">
                <a16:creationId xmlns:a16="http://schemas.microsoft.com/office/drawing/2014/main" id="{4A2C7DD4-1549-13A3-29F8-CDA054732A29}"/>
              </a:ext>
            </a:extLst>
          </p:cNvPr>
          <p:cNvPicPr>
            <a:picLocks noChangeAspect="1"/>
          </p:cNvPicPr>
          <p:nvPr/>
        </p:nvPicPr>
        <p:blipFill>
          <a:blip r:embed="rId22">
            <a:extLst>
              <a:ext uri="{BEBA8EAE-BF5A-486C-A8C5-ECC9F3942E4B}">
                <a14:imgProps xmlns:a14="http://schemas.microsoft.com/office/drawing/2010/main">
                  <a14:imgLayer r:embed="rId23">
                    <a14:imgEffect>
                      <a14:backgroundRemoval t="10000" b="90000" l="10000" r="90000">
                        <a14:foregroundMark x1="18253" y1="45106" x2="18253" y2="45106"/>
                        <a14:foregroundMark x1="22042" y1="38492" x2="23370" y2="35185"/>
                        <a14:foregroundMark x1="22558" y1="41093" x2="23887" y2="34436"/>
                        <a14:foregroundMark x1="23887" y1="55776" x2="26556" y2="62390"/>
                        <a14:foregroundMark x1="43063" y1="34832" x2="45424" y2="48060"/>
                        <a14:foregroundMark x1="60812" y1="32628" x2="56396" y2="36287"/>
                        <a14:foregroundMark x1="66654" y1="37390" x2="67368" y2="34832"/>
                        <a14:foregroundMark x1="19274" y1="63139" x2="19889" y2="60935"/>
                        <a14:foregroundMark x1="76704" y1="45855" x2="77626" y2="39991"/>
                      </a14:backgroundRemoval>
                    </a14:imgEffect>
                  </a14:imgLayer>
                </a14:imgProps>
              </a:ext>
            </a:extLst>
          </a:blip>
          <a:stretch>
            <a:fillRect/>
          </a:stretch>
        </p:blipFill>
        <p:spPr>
          <a:xfrm>
            <a:off x="5879987" y="4416014"/>
            <a:ext cx="1417961" cy="395564"/>
          </a:xfrm>
          <a:prstGeom prst="rect">
            <a:avLst/>
          </a:prstGeom>
        </p:spPr>
      </p:pic>
      <p:grpSp>
        <p:nvGrpSpPr>
          <p:cNvPr id="13" name="Group 12">
            <a:extLst>
              <a:ext uri="{FF2B5EF4-FFF2-40B4-BE49-F238E27FC236}">
                <a16:creationId xmlns:a16="http://schemas.microsoft.com/office/drawing/2014/main" id="{94BF950A-44C5-7430-CA1D-CF5DC29E1BA7}"/>
              </a:ext>
            </a:extLst>
          </p:cNvPr>
          <p:cNvGrpSpPr/>
          <p:nvPr/>
        </p:nvGrpSpPr>
        <p:grpSpPr>
          <a:xfrm>
            <a:off x="5467159" y="3981221"/>
            <a:ext cx="2103135" cy="369332"/>
            <a:chOff x="5472503" y="3784534"/>
            <a:chExt cx="2103135" cy="369332"/>
          </a:xfrm>
        </p:grpSpPr>
        <p:sp>
          <p:nvSpPr>
            <p:cNvPr id="10" name="TextBox 32">
              <a:extLst>
                <a:ext uri="{FF2B5EF4-FFF2-40B4-BE49-F238E27FC236}">
                  <a16:creationId xmlns:a16="http://schemas.microsoft.com/office/drawing/2014/main" id="{E51E4615-0CD1-27EB-1CDE-DD3B5B588A79}"/>
                </a:ext>
              </a:extLst>
            </p:cNvPr>
            <p:cNvSpPr txBox="1"/>
            <p:nvPr/>
          </p:nvSpPr>
          <p:spPr>
            <a:xfrm>
              <a:off x="5472503" y="3784534"/>
              <a:ext cx="2103135" cy="369332"/>
            </a:xfrm>
            <a:prstGeom prst="rect">
              <a:avLst/>
            </a:prstGeom>
            <a:noFill/>
          </p:spPr>
          <p:txBody>
            <a:bodyPr wrap="square" rtlCol="0">
              <a:spAutoFit/>
            </a:bodyPr>
            <a:lstStyle/>
            <a:p>
              <a:r>
                <a:rPr lang="en-GB" b="1">
                  <a:solidFill>
                    <a:schemeClr val="bg1"/>
                  </a:solidFill>
                  <a:latin typeface="Segoe UI" panose="020B0502040204020203" pitchFamily="34" charset="0"/>
                  <a:cs typeface="Segoe UI" panose="020B0502040204020203" pitchFamily="34" charset="0"/>
                </a:rPr>
                <a:t>PLATA</a:t>
              </a:r>
            </a:p>
          </p:txBody>
        </p:sp>
        <p:cxnSp>
          <p:nvCxnSpPr>
            <p:cNvPr id="55" name="Conector recto 54">
              <a:extLst>
                <a:ext uri="{FF2B5EF4-FFF2-40B4-BE49-F238E27FC236}">
                  <a16:creationId xmlns:a16="http://schemas.microsoft.com/office/drawing/2014/main" id="{9F101D1E-6B39-0E89-E06B-A013DA604B88}"/>
                </a:ext>
              </a:extLst>
            </p:cNvPr>
            <p:cNvCxnSpPr>
              <a:cxnSpLocks/>
            </p:cNvCxnSpPr>
            <p:nvPr/>
          </p:nvCxnSpPr>
          <p:spPr>
            <a:xfrm>
              <a:off x="5523977" y="4130780"/>
              <a:ext cx="114404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56" name="Conector recto 55">
            <a:extLst>
              <a:ext uri="{FF2B5EF4-FFF2-40B4-BE49-F238E27FC236}">
                <a16:creationId xmlns:a16="http://schemas.microsoft.com/office/drawing/2014/main" id="{4F0DF2E4-7765-3EF9-A363-136A6884F38B}"/>
              </a:ext>
            </a:extLst>
          </p:cNvPr>
          <p:cNvCxnSpPr>
            <a:cxnSpLocks/>
          </p:cNvCxnSpPr>
          <p:nvPr/>
        </p:nvCxnSpPr>
        <p:spPr>
          <a:xfrm>
            <a:off x="5538108" y="5557649"/>
            <a:ext cx="178600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D3F73282-7F6B-21C1-52BA-CE46C2A59477}"/>
              </a:ext>
            </a:extLst>
          </p:cNvPr>
          <p:cNvGrpSpPr/>
          <p:nvPr/>
        </p:nvGrpSpPr>
        <p:grpSpPr>
          <a:xfrm>
            <a:off x="8201954" y="3945584"/>
            <a:ext cx="3633010" cy="338554"/>
            <a:chOff x="8201954" y="3804630"/>
            <a:chExt cx="3633010" cy="338554"/>
          </a:xfrm>
        </p:grpSpPr>
        <p:sp>
          <p:nvSpPr>
            <p:cNvPr id="11" name="TextBox 32">
              <a:extLst>
                <a:ext uri="{FF2B5EF4-FFF2-40B4-BE49-F238E27FC236}">
                  <a16:creationId xmlns:a16="http://schemas.microsoft.com/office/drawing/2014/main" id="{BB8E3634-9DAF-C2A7-C53D-6FD7BD78119D}"/>
                </a:ext>
              </a:extLst>
            </p:cNvPr>
            <p:cNvSpPr txBox="1"/>
            <p:nvPr/>
          </p:nvSpPr>
          <p:spPr>
            <a:xfrm>
              <a:off x="8201954" y="3804630"/>
              <a:ext cx="3633010" cy="338554"/>
            </a:xfrm>
            <a:prstGeom prst="rect">
              <a:avLst/>
            </a:prstGeom>
            <a:noFill/>
          </p:spPr>
          <p:txBody>
            <a:bodyPr wrap="square" rtlCol="0">
              <a:spAutoFit/>
            </a:bodyPr>
            <a:lstStyle/>
            <a:p>
              <a:r>
                <a:rPr lang="en-GB" sz="1600" b="1">
                  <a:solidFill>
                    <a:schemeClr val="bg1"/>
                  </a:solidFill>
                  <a:latin typeface="Segoe UI" panose="020B0502040204020203" pitchFamily="34" charset="0"/>
                  <a:cs typeface="Segoe UI" panose="020B0502040204020203" pitchFamily="34" charset="0"/>
                </a:rPr>
                <a:t>BIZZ SUMMIT TV &amp; CATERING</a:t>
              </a:r>
            </a:p>
          </p:txBody>
        </p:sp>
        <p:cxnSp>
          <p:nvCxnSpPr>
            <p:cNvPr id="58" name="Conector recto 57">
              <a:extLst>
                <a:ext uri="{FF2B5EF4-FFF2-40B4-BE49-F238E27FC236}">
                  <a16:creationId xmlns:a16="http://schemas.microsoft.com/office/drawing/2014/main" id="{8C40BD1E-A3D4-E72B-4A66-1B6F929E05EA}"/>
                </a:ext>
              </a:extLst>
            </p:cNvPr>
            <p:cNvCxnSpPr>
              <a:cxnSpLocks/>
            </p:cNvCxnSpPr>
            <p:nvPr/>
          </p:nvCxnSpPr>
          <p:spPr>
            <a:xfrm>
              <a:off x="8201954" y="4136524"/>
              <a:ext cx="354444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63" name="Gráfico 62">
            <a:extLst>
              <a:ext uri="{FF2B5EF4-FFF2-40B4-BE49-F238E27FC236}">
                <a16:creationId xmlns:a16="http://schemas.microsoft.com/office/drawing/2014/main" id="{DE47EE5E-CACB-658E-4CBE-D802E840BE47}"/>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7632290" y="1385715"/>
            <a:ext cx="1984622" cy="462245"/>
          </a:xfrm>
          <a:prstGeom prst="rect">
            <a:avLst/>
          </a:prstGeom>
        </p:spPr>
      </p:pic>
      <p:pic>
        <p:nvPicPr>
          <p:cNvPr id="2052" name="Gráfico 2051">
            <a:extLst>
              <a:ext uri="{FF2B5EF4-FFF2-40B4-BE49-F238E27FC236}">
                <a16:creationId xmlns:a16="http://schemas.microsoft.com/office/drawing/2014/main" id="{54326494-6FBA-A02F-652E-CF38AD364236}"/>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9889644" y="3315008"/>
            <a:ext cx="1743153" cy="198221"/>
          </a:xfrm>
          <a:prstGeom prst="rect">
            <a:avLst/>
          </a:prstGeom>
        </p:spPr>
      </p:pic>
      <p:pic>
        <p:nvPicPr>
          <p:cNvPr id="2056" name="Gráfico 2055">
            <a:extLst>
              <a:ext uri="{FF2B5EF4-FFF2-40B4-BE49-F238E27FC236}">
                <a16:creationId xmlns:a16="http://schemas.microsoft.com/office/drawing/2014/main" id="{A0BB288D-427F-5090-12E9-069DD6E76987}"/>
              </a:ext>
            </a:extLst>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0439666" y="2568057"/>
            <a:ext cx="1227222" cy="493710"/>
          </a:xfrm>
          <a:prstGeom prst="rect">
            <a:avLst/>
          </a:prstGeom>
        </p:spPr>
      </p:pic>
      <p:pic>
        <p:nvPicPr>
          <p:cNvPr id="2060" name="Imagen 2059">
            <a:extLst>
              <a:ext uri="{FF2B5EF4-FFF2-40B4-BE49-F238E27FC236}">
                <a16:creationId xmlns:a16="http://schemas.microsoft.com/office/drawing/2014/main" id="{FB067BC0-D8A8-58F0-ED77-CE9226E05B29}"/>
              </a:ext>
            </a:extLst>
          </p:cNvPr>
          <p:cNvPicPr>
            <a:picLocks noChangeAspect="1"/>
          </p:cNvPicPr>
          <p:nvPr/>
        </p:nvPicPr>
        <p:blipFill>
          <a:blip r:embed="rId30">
            <a:extLst>
              <a:ext uri="{28A0092B-C50C-407E-A947-70E740481C1C}">
                <a14:useLocalDpi xmlns:a14="http://schemas.microsoft.com/office/drawing/2010/main" val="0"/>
              </a:ext>
            </a:extLst>
          </a:blip>
          <a:srcRect/>
          <a:stretch/>
        </p:blipFill>
        <p:spPr>
          <a:xfrm>
            <a:off x="8894779" y="4482296"/>
            <a:ext cx="1989728" cy="424018"/>
          </a:xfrm>
          <a:prstGeom prst="rect">
            <a:avLst/>
          </a:prstGeom>
        </p:spPr>
      </p:pic>
      <p:pic>
        <p:nvPicPr>
          <p:cNvPr id="2062" name="Imagen 2061" descr="Logotipo&#10;&#10;El contenido generado por IA puede ser incorrecto.">
            <a:extLst>
              <a:ext uri="{FF2B5EF4-FFF2-40B4-BE49-F238E27FC236}">
                <a16:creationId xmlns:a16="http://schemas.microsoft.com/office/drawing/2014/main" id="{777FF957-1876-075A-520C-616D5CAD533A}"/>
              </a:ext>
            </a:extLst>
          </p:cNvPr>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8007829" y="5334217"/>
            <a:ext cx="1823111" cy="911556"/>
          </a:xfrm>
          <a:prstGeom prst="rect">
            <a:avLst/>
          </a:prstGeom>
        </p:spPr>
      </p:pic>
      <p:grpSp>
        <p:nvGrpSpPr>
          <p:cNvPr id="2079" name="Grupo 2078">
            <a:extLst>
              <a:ext uri="{FF2B5EF4-FFF2-40B4-BE49-F238E27FC236}">
                <a16:creationId xmlns:a16="http://schemas.microsoft.com/office/drawing/2014/main" id="{5F4FDBB4-BB1B-C60E-6FBB-51A65D11FEE1}"/>
              </a:ext>
            </a:extLst>
          </p:cNvPr>
          <p:cNvGrpSpPr/>
          <p:nvPr/>
        </p:nvGrpSpPr>
        <p:grpSpPr>
          <a:xfrm>
            <a:off x="709539" y="5297069"/>
            <a:ext cx="2611478" cy="583935"/>
            <a:chOff x="978182" y="4516136"/>
            <a:chExt cx="4167090" cy="931775"/>
          </a:xfrm>
        </p:grpSpPr>
        <p:grpSp>
          <p:nvGrpSpPr>
            <p:cNvPr id="2066" name="Gráfico 2063">
              <a:extLst>
                <a:ext uri="{FF2B5EF4-FFF2-40B4-BE49-F238E27FC236}">
                  <a16:creationId xmlns:a16="http://schemas.microsoft.com/office/drawing/2014/main" id="{DAED3292-BA27-6570-96D8-2711835782D1}"/>
                </a:ext>
              </a:extLst>
            </p:cNvPr>
            <p:cNvGrpSpPr/>
            <p:nvPr/>
          </p:nvGrpSpPr>
          <p:grpSpPr>
            <a:xfrm>
              <a:off x="2255709" y="4636843"/>
              <a:ext cx="2889563" cy="690442"/>
              <a:chOff x="5319628" y="3085448"/>
              <a:chExt cx="2889563" cy="690442"/>
            </a:xfrm>
          </p:grpSpPr>
          <p:sp>
            <p:nvSpPr>
              <p:cNvPr id="2067" name="Forma libre: forma 2066">
                <a:extLst>
                  <a:ext uri="{FF2B5EF4-FFF2-40B4-BE49-F238E27FC236}">
                    <a16:creationId xmlns:a16="http://schemas.microsoft.com/office/drawing/2014/main" id="{E9409E8E-6402-CE3A-1044-D64A3FB36826}"/>
                  </a:ext>
                </a:extLst>
              </p:cNvPr>
              <p:cNvSpPr/>
              <p:nvPr/>
            </p:nvSpPr>
            <p:spPr>
              <a:xfrm>
                <a:off x="5319628"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68" name="Forma libre: forma 2067">
                <a:extLst>
                  <a:ext uri="{FF2B5EF4-FFF2-40B4-BE49-F238E27FC236}">
                    <a16:creationId xmlns:a16="http://schemas.microsoft.com/office/drawing/2014/main" id="{49C7797D-1781-7454-6D14-739082E1293B}"/>
                  </a:ext>
                </a:extLst>
              </p:cNvPr>
              <p:cNvSpPr/>
              <p:nvPr/>
            </p:nvSpPr>
            <p:spPr>
              <a:xfrm>
                <a:off x="5855318" y="3400248"/>
                <a:ext cx="208346" cy="72163"/>
              </a:xfrm>
              <a:custGeom>
                <a:avLst/>
                <a:gdLst>
                  <a:gd name="connsiteX0" fmla="*/ 0 w 208346"/>
                  <a:gd name="connsiteY0" fmla="*/ 0 h 72163"/>
                  <a:gd name="connsiteX1" fmla="*/ 208346 w 208346"/>
                  <a:gd name="connsiteY1" fmla="*/ 0 h 72163"/>
                  <a:gd name="connsiteX2" fmla="*/ 208346 w 208346"/>
                  <a:gd name="connsiteY2" fmla="*/ 72164 h 72163"/>
                  <a:gd name="connsiteX3" fmla="*/ 0 w 208346"/>
                  <a:gd name="connsiteY3" fmla="*/ 72164 h 72163"/>
                  <a:gd name="connsiteX4" fmla="*/ 0 w 208346"/>
                  <a:gd name="connsiteY4" fmla="*/ 0 h 72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346" h="72163">
                    <a:moveTo>
                      <a:pt x="0" y="0"/>
                    </a:moveTo>
                    <a:lnTo>
                      <a:pt x="208346" y="0"/>
                    </a:lnTo>
                    <a:lnTo>
                      <a:pt x="208346" y="72164"/>
                    </a:lnTo>
                    <a:lnTo>
                      <a:pt x="0" y="72164"/>
                    </a:lnTo>
                    <a:lnTo>
                      <a:pt x="0" y="0"/>
                    </a:lnTo>
                    <a:close/>
                  </a:path>
                </a:pathLst>
              </a:custGeom>
              <a:solidFill>
                <a:srgbClr val="00B398"/>
              </a:solidFill>
              <a:ln w="8132" cap="flat">
                <a:noFill/>
                <a:prstDash val="solid"/>
                <a:miter/>
              </a:ln>
            </p:spPr>
            <p:txBody>
              <a:bodyPr rtlCol="0" anchor="ctr"/>
              <a:lstStyle/>
              <a:p>
                <a:endParaRPr lang="es-ES"/>
              </a:p>
            </p:txBody>
          </p:sp>
          <p:sp>
            <p:nvSpPr>
              <p:cNvPr id="2069" name="Forma libre: forma 2068">
                <a:extLst>
                  <a:ext uri="{FF2B5EF4-FFF2-40B4-BE49-F238E27FC236}">
                    <a16:creationId xmlns:a16="http://schemas.microsoft.com/office/drawing/2014/main" id="{6C634579-4DC5-A306-4DFB-A99518C8F97B}"/>
                  </a:ext>
                </a:extLst>
              </p:cNvPr>
              <p:cNvSpPr/>
              <p:nvPr/>
            </p:nvSpPr>
            <p:spPr>
              <a:xfrm>
                <a:off x="6056252" y="3085448"/>
                <a:ext cx="541961" cy="545789"/>
              </a:xfrm>
              <a:custGeom>
                <a:avLst/>
                <a:gdLst>
                  <a:gd name="connsiteX0" fmla="*/ 316755 w 541961"/>
                  <a:gd name="connsiteY0" fmla="*/ 545789 h 545789"/>
                  <a:gd name="connsiteX1" fmla="*/ 225939 w 541961"/>
                  <a:gd name="connsiteY1" fmla="*/ 545789 h 545789"/>
                  <a:gd name="connsiteX2" fmla="*/ 0 w 541961"/>
                  <a:gd name="connsiteY2" fmla="*/ 0 h 545789"/>
                  <a:gd name="connsiteX3" fmla="*/ 97820 w 541961"/>
                  <a:gd name="connsiteY3" fmla="*/ 0 h 545789"/>
                  <a:gd name="connsiteX4" fmla="*/ 270981 w 541961"/>
                  <a:gd name="connsiteY4" fmla="*/ 441779 h 545789"/>
                  <a:gd name="connsiteX5" fmla="*/ 444874 w 541961"/>
                  <a:gd name="connsiteY5" fmla="*/ 0 h 545789"/>
                  <a:gd name="connsiteX6" fmla="*/ 541961 w 541961"/>
                  <a:gd name="connsiteY6" fmla="*/ 0 h 545789"/>
                  <a:gd name="connsiteX7" fmla="*/ 316755 w 541961"/>
                  <a:gd name="connsiteY7" fmla="*/ 545789 h 545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1961" h="545789">
                    <a:moveTo>
                      <a:pt x="316755" y="545789"/>
                    </a:moveTo>
                    <a:lnTo>
                      <a:pt x="225939" y="545789"/>
                    </a:lnTo>
                    <a:lnTo>
                      <a:pt x="0" y="0"/>
                    </a:lnTo>
                    <a:lnTo>
                      <a:pt x="97820" y="0"/>
                    </a:lnTo>
                    <a:lnTo>
                      <a:pt x="270981" y="441779"/>
                    </a:lnTo>
                    <a:lnTo>
                      <a:pt x="444874" y="0"/>
                    </a:lnTo>
                    <a:lnTo>
                      <a:pt x="541961" y="0"/>
                    </a:lnTo>
                    <a:lnTo>
                      <a:pt x="316755" y="545789"/>
                    </a:lnTo>
                    <a:close/>
                  </a:path>
                </a:pathLst>
              </a:custGeom>
              <a:solidFill>
                <a:srgbClr val="000000"/>
              </a:solidFill>
              <a:ln w="8132" cap="flat">
                <a:noFill/>
                <a:prstDash val="solid"/>
                <a:miter/>
              </a:ln>
            </p:spPr>
            <p:txBody>
              <a:bodyPr rtlCol="0" anchor="ctr"/>
              <a:lstStyle/>
              <a:p>
                <a:endParaRPr lang="es-ES"/>
              </a:p>
            </p:txBody>
          </p:sp>
          <p:sp>
            <p:nvSpPr>
              <p:cNvPr id="2070" name="Forma libre: forma 2069">
                <a:extLst>
                  <a:ext uri="{FF2B5EF4-FFF2-40B4-BE49-F238E27FC236}">
                    <a16:creationId xmlns:a16="http://schemas.microsoft.com/office/drawing/2014/main" id="{9409D334-BB8E-3C45-FC43-CCC752B0AE83}"/>
                  </a:ext>
                </a:extLst>
              </p:cNvPr>
              <p:cNvSpPr/>
              <p:nvPr/>
            </p:nvSpPr>
            <p:spPr>
              <a:xfrm>
                <a:off x="6572394" y="3237595"/>
                <a:ext cx="408466" cy="401380"/>
              </a:xfrm>
              <a:custGeom>
                <a:avLst/>
                <a:gdLst>
                  <a:gd name="connsiteX0" fmla="*/ 330846 w 408466"/>
                  <a:gd name="connsiteY0" fmla="*/ 8552 h 401380"/>
                  <a:gd name="connsiteX1" fmla="*/ 408467 w 408466"/>
                  <a:gd name="connsiteY1" fmla="*/ 8552 h 401380"/>
                  <a:gd name="connsiteX2" fmla="*/ 408467 w 408466"/>
                  <a:gd name="connsiteY2" fmla="*/ 391362 h 401380"/>
                  <a:gd name="connsiteX3" fmla="*/ 332393 w 408466"/>
                  <a:gd name="connsiteY3" fmla="*/ 391362 h 401380"/>
                  <a:gd name="connsiteX4" fmla="*/ 328484 w 408466"/>
                  <a:gd name="connsiteY4" fmla="*/ 329217 h 401380"/>
                  <a:gd name="connsiteX5" fmla="*/ 196455 w 408466"/>
                  <a:gd name="connsiteY5" fmla="*/ 401380 h 401380"/>
                  <a:gd name="connsiteX6" fmla="*/ 0 w 408466"/>
                  <a:gd name="connsiteY6" fmla="*/ 199550 h 401380"/>
                  <a:gd name="connsiteX7" fmla="*/ 198002 w 408466"/>
                  <a:gd name="connsiteY7" fmla="*/ 0 h 401380"/>
                  <a:gd name="connsiteX8" fmla="*/ 328402 w 408466"/>
                  <a:gd name="connsiteY8" fmla="*/ 69069 h 401380"/>
                  <a:gd name="connsiteX9" fmla="*/ 330846 w 408466"/>
                  <a:gd name="connsiteY9" fmla="*/ 8552 h 401380"/>
                  <a:gd name="connsiteX10" fmla="*/ 80064 w 408466"/>
                  <a:gd name="connsiteY10" fmla="*/ 199550 h 401380"/>
                  <a:gd name="connsiteX11" fmla="*/ 204274 w 408466"/>
                  <a:gd name="connsiteY11" fmla="*/ 326855 h 401380"/>
                  <a:gd name="connsiteX12" fmla="*/ 204274 w 408466"/>
                  <a:gd name="connsiteY12" fmla="*/ 72978 h 401380"/>
                  <a:gd name="connsiteX13" fmla="*/ 80064 w 408466"/>
                  <a:gd name="connsiteY13" fmla="*/ 199550 h 401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8466" h="401380">
                    <a:moveTo>
                      <a:pt x="330846" y="8552"/>
                    </a:moveTo>
                    <a:lnTo>
                      <a:pt x="408467" y="8552"/>
                    </a:lnTo>
                    <a:lnTo>
                      <a:pt x="408467" y="391362"/>
                    </a:lnTo>
                    <a:lnTo>
                      <a:pt x="332393" y="391362"/>
                    </a:lnTo>
                    <a:lnTo>
                      <a:pt x="328484" y="329217"/>
                    </a:lnTo>
                    <a:cubicBezTo>
                      <a:pt x="303642" y="378900"/>
                      <a:pt x="243044" y="401380"/>
                      <a:pt x="196455" y="401380"/>
                    </a:cubicBezTo>
                    <a:cubicBezTo>
                      <a:pt x="84626" y="401380"/>
                      <a:pt x="0" y="329950"/>
                      <a:pt x="0" y="199550"/>
                    </a:cubicBezTo>
                    <a:cubicBezTo>
                      <a:pt x="0" y="71431"/>
                      <a:pt x="88535" y="0"/>
                      <a:pt x="198002" y="0"/>
                    </a:cubicBezTo>
                    <a:cubicBezTo>
                      <a:pt x="253143" y="0"/>
                      <a:pt x="304375" y="25656"/>
                      <a:pt x="328402" y="69069"/>
                    </a:cubicBezTo>
                    <a:lnTo>
                      <a:pt x="330846" y="8552"/>
                    </a:lnTo>
                    <a:close/>
                    <a:moveTo>
                      <a:pt x="80064" y="199550"/>
                    </a:moveTo>
                    <a:cubicBezTo>
                      <a:pt x="80064" y="277985"/>
                      <a:pt x="135938" y="326855"/>
                      <a:pt x="204274" y="326855"/>
                    </a:cubicBezTo>
                    <a:cubicBezTo>
                      <a:pt x="369615" y="326855"/>
                      <a:pt x="369615" y="72978"/>
                      <a:pt x="204274" y="72978"/>
                    </a:cubicBezTo>
                    <a:cubicBezTo>
                      <a:pt x="136020" y="72978"/>
                      <a:pt x="80064" y="121929"/>
                      <a:pt x="80064" y="199550"/>
                    </a:cubicBezTo>
                    <a:close/>
                  </a:path>
                </a:pathLst>
              </a:custGeom>
              <a:solidFill>
                <a:srgbClr val="000000"/>
              </a:solidFill>
              <a:ln w="8132" cap="flat">
                <a:noFill/>
                <a:prstDash val="solid"/>
                <a:miter/>
              </a:ln>
            </p:spPr>
            <p:txBody>
              <a:bodyPr rtlCol="0" anchor="ctr"/>
              <a:lstStyle/>
              <a:p>
                <a:endParaRPr lang="es-ES"/>
              </a:p>
            </p:txBody>
          </p:sp>
          <p:sp>
            <p:nvSpPr>
              <p:cNvPr id="2071" name="Forma libre: forma 2070">
                <a:extLst>
                  <a:ext uri="{FF2B5EF4-FFF2-40B4-BE49-F238E27FC236}">
                    <a16:creationId xmlns:a16="http://schemas.microsoft.com/office/drawing/2014/main" id="{A46FFDCD-97E0-30AF-3FC7-4A2C98490210}"/>
                  </a:ext>
                </a:extLst>
              </p:cNvPr>
              <p:cNvSpPr/>
              <p:nvPr/>
            </p:nvSpPr>
            <p:spPr>
              <a:xfrm>
                <a:off x="7073875"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2" name="Forma libre: forma 2071">
                <a:extLst>
                  <a:ext uri="{FF2B5EF4-FFF2-40B4-BE49-F238E27FC236}">
                    <a16:creationId xmlns:a16="http://schemas.microsoft.com/office/drawing/2014/main" id="{1D1E8DF0-4A5D-E1A0-3AA0-09B4C0CEB440}"/>
                  </a:ext>
                </a:extLst>
              </p:cNvPr>
              <p:cNvSpPr/>
              <p:nvPr/>
            </p:nvSpPr>
            <p:spPr>
              <a:xfrm>
                <a:off x="7246872" y="3086181"/>
                <a:ext cx="79982" cy="542694"/>
              </a:xfrm>
              <a:custGeom>
                <a:avLst/>
                <a:gdLst>
                  <a:gd name="connsiteX0" fmla="*/ 79983 w 79982"/>
                  <a:gd name="connsiteY0" fmla="*/ 0 h 542694"/>
                  <a:gd name="connsiteX1" fmla="*/ 79983 w 79982"/>
                  <a:gd name="connsiteY1" fmla="*/ 542694 h 542694"/>
                  <a:gd name="connsiteX2" fmla="*/ 0 w 79982"/>
                  <a:gd name="connsiteY2" fmla="*/ 542694 h 542694"/>
                  <a:gd name="connsiteX3" fmla="*/ 0 w 79982"/>
                  <a:gd name="connsiteY3" fmla="*/ 34616 h 542694"/>
                  <a:gd name="connsiteX4" fmla="*/ 79983 w 79982"/>
                  <a:gd name="connsiteY4" fmla="*/ 0 h 542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82" h="542694">
                    <a:moveTo>
                      <a:pt x="79983" y="0"/>
                    </a:moveTo>
                    <a:lnTo>
                      <a:pt x="79983" y="542694"/>
                    </a:lnTo>
                    <a:lnTo>
                      <a:pt x="0" y="542694"/>
                    </a:lnTo>
                    <a:lnTo>
                      <a:pt x="0" y="34616"/>
                    </a:lnTo>
                    <a:lnTo>
                      <a:pt x="79983" y="0"/>
                    </a:lnTo>
                    <a:close/>
                  </a:path>
                </a:pathLst>
              </a:custGeom>
              <a:solidFill>
                <a:srgbClr val="000000"/>
              </a:solidFill>
              <a:ln w="8132" cap="flat">
                <a:noFill/>
                <a:prstDash val="solid"/>
                <a:miter/>
              </a:ln>
            </p:spPr>
            <p:txBody>
              <a:bodyPr rtlCol="0" anchor="ctr"/>
              <a:lstStyle/>
              <a:p>
                <a:endParaRPr lang="es-ES"/>
              </a:p>
            </p:txBody>
          </p:sp>
          <p:sp>
            <p:nvSpPr>
              <p:cNvPr id="2073" name="Forma libre: forma 2072">
                <a:extLst>
                  <a:ext uri="{FF2B5EF4-FFF2-40B4-BE49-F238E27FC236}">
                    <a16:creationId xmlns:a16="http://schemas.microsoft.com/office/drawing/2014/main" id="{2D6C5430-77B2-BBC4-7B29-26888FF98091}"/>
                  </a:ext>
                </a:extLst>
              </p:cNvPr>
              <p:cNvSpPr/>
              <p:nvPr/>
            </p:nvSpPr>
            <p:spPr>
              <a:xfrm>
                <a:off x="7398123" y="3237676"/>
                <a:ext cx="395322" cy="402194"/>
              </a:xfrm>
              <a:custGeom>
                <a:avLst/>
                <a:gdLst>
                  <a:gd name="connsiteX0" fmla="*/ 83078 w 395322"/>
                  <a:gd name="connsiteY0" fmla="*/ 231315 h 402194"/>
                  <a:gd name="connsiteX1" fmla="*/ 208102 w 395322"/>
                  <a:gd name="connsiteY1" fmla="*/ 327588 h 402194"/>
                  <a:gd name="connsiteX2" fmla="*/ 319117 w 395322"/>
                  <a:gd name="connsiteY2" fmla="*/ 286456 h 402194"/>
                  <a:gd name="connsiteX3" fmla="*/ 371163 w 395322"/>
                  <a:gd name="connsiteY3" fmla="*/ 336954 h 402194"/>
                  <a:gd name="connsiteX4" fmla="*/ 206555 w 395322"/>
                  <a:gd name="connsiteY4" fmla="*/ 402195 h 402194"/>
                  <a:gd name="connsiteX5" fmla="*/ 0 w 395322"/>
                  <a:gd name="connsiteY5" fmla="*/ 199550 h 402194"/>
                  <a:gd name="connsiteX6" fmla="*/ 201097 w 395322"/>
                  <a:gd name="connsiteY6" fmla="*/ 0 h 402194"/>
                  <a:gd name="connsiteX7" fmla="*/ 393643 w 395322"/>
                  <a:gd name="connsiteY7" fmla="*/ 231396 h 402194"/>
                  <a:gd name="connsiteX8" fmla="*/ 83078 w 395322"/>
                  <a:gd name="connsiteY8" fmla="*/ 231396 h 402194"/>
                  <a:gd name="connsiteX9" fmla="*/ 316755 w 395322"/>
                  <a:gd name="connsiteY9" fmla="*/ 163712 h 402194"/>
                  <a:gd name="connsiteX10" fmla="*/ 203378 w 395322"/>
                  <a:gd name="connsiteY10" fmla="*/ 71349 h 402194"/>
                  <a:gd name="connsiteX11" fmla="*/ 84626 w 395322"/>
                  <a:gd name="connsiteY11" fmla="*/ 163712 h 402194"/>
                  <a:gd name="connsiteX12" fmla="*/ 316755 w 395322"/>
                  <a:gd name="connsiteY12" fmla="*/ 163712 h 40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322" h="402194">
                    <a:moveTo>
                      <a:pt x="83078" y="231315"/>
                    </a:moveTo>
                    <a:cubicBezTo>
                      <a:pt x="90082" y="290284"/>
                      <a:pt x="137404" y="327588"/>
                      <a:pt x="208102" y="327588"/>
                    </a:cubicBezTo>
                    <a:cubicBezTo>
                      <a:pt x="247686" y="327588"/>
                      <a:pt x="295090" y="313578"/>
                      <a:pt x="319117" y="286456"/>
                    </a:cubicBezTo>
                    <a:lnTo>
                      <a:pt x="371163" y="336954"/>
                    </a:lnTo>
                    <a:cubicBezTo>
                      <a:pt x="331579" y="381181"/>
                      <a:pt x="265605" y="402195"/>
                      <a:pt x="206555" y="402195"/>
                    </a:cubicBezTo>
                    <a:cubicBezTo>
                      <a:pt x="80797" y="402195"/>
                      <a:pt x="0" y="322212"/>
                      <a:pt x="0" y="199550"/>
                    </a:cubicBezTo>
                    <a:cubicBezTo>
                      <a:pt x="0" y="83078"/>
                      <a:pt x="81530" y="0"/>
                      <a:pt x="201097" y="0"/>
                    </a:cubicBezTo>
                    <a:cubicBezTo>
                      <a:pt x="324574" y="0"/>
                      <a:pt x="408385" y="76073"/>
                      <a:pt x="393643" y="231396"/>
                    </a:cubicBezTo>
                    <a:lnTo>
                      <a:pt x="83078" y="231396"/>
                    </a:lnTo>
                    <a:close/>
                    <a:moveTo>
                      <a:pt x="316755" y="163712"/>
                    </a:moveTo>
                    <a:cubicBezTo>
                      <a:pt x="311298" y="102381"/>
                      <a:pt x="268619" y="71349"/>
                      <a:pt x="203378" y="71349"/>
                    </a:cubicBezTo>
                    <a:cubicBezTo>
                      <a:pt x="144409" y="71349"/>
                      <a:pt x="97006" y="102381"/>
                      <a:pt x="84626" y="163712"/>
                    </a:cubicBezTo>
                    <a:lnTo>
                      <a:pt x="316755" y="163712"/>
                    </a:lnTo>
                    <a:close/>
                  </a:path>
                </a:pathLst>
              </a:custGeom>
              <a:solidFill>
                <a:srgbClr val="000000"/>
              </a:solidFill>
              <a:ln w="8132" cap="flat">
                <a:noFill/>
                <a:prstDash val="solid"/>
                <a:miter/>
              </a:ln>
            </p:spPr>
            <p:txBody>
              <a:bodyPr rtlCol="0" anchor="ctr"/>
              <a:lstStyle/>
              <a:p>
                <a:endParaRPr lang="es-ES"/>
              </a:p>
            </p:txBody>
          </p:sp>
          <p:sp>
            <p:nvSpPr>
              <p:cNvPr id="2074" name="Forma libre: forma 2073">
                <a:extLst>
                  <a:ext uri="{FF2B5EF4-FFF2-40B4-BE49-F238E27FC236}">
                    <a16:creationId xmlns:a16="http://schemas.microsoft.com/office/drawing/2014/main" id="{0361506D-05DA-5CE5-80E8-D581D566C865}"/>
                  </a:ext>
                </a:extLst>
              </p:cNvPr>
              <p:cNvSpPr/>
              <p:nvPr/>
            </p:nvSpPr>
            <p:spPr>
              <a:xfrm>
                <a:off x="7805449" y="3246147"/>
                <a:ext cx="403742" cy="529743"/>
              </a:xfrm>
              <a:custGeom>
                <a:avLst/>
                <a:gdLst>
                  <a:gd name="connsiteX0" fmla="*/ 87069 w 403742"/>
                  <a:gd name="connsiteY0" fmla="*/ 529744 h 529743"/>
                  <a:gd name="connsiteX1" fmla="*/ 175522 w 403742"/>
                  <a:gd name="connsiteY1" fmla="*/ 529744 h 529743"/>
                  <a:gd name="connsiteX2" fmla="*/ 403742 w 403742"/>
                  <a:gd name="connsiteY2" fmla="*/ 0 h 529743"/>
                  <a:gd name="connsiteX3" fmla="*/ 314393 w 403742"/>
                  <a:gd name="connsiteY3" fmla="*/ 0 h 529743"/>
                  <a:gd name="connsiteX4" fmla="*/ 238320 w 403742"/>
                  <a:gd name="connsiteY4" fmla="*/ 182446 h 529743"/>
                  <a:gd name="connsiteX5" fmla="*/ 197188 w 403742"/>
                  <a:gd name="connsiteY5" fmla="*/ 289632 h 529743"/>
                  <a:gd name="connsiteX6" fmla="*/ 159151 w 403742"/>
                  <a:gd name="connsiteY6" fmla="*/ 180898 h 529743"/>
                  <a:gd name="connsiteX7" fmla="*/ 93178 w 403742"/>
                  <a:gd name="connsiteY7" fmla="*/ 0 h 529743"/>
                  <a:gd name="connsiteX8" fmla="*/ 0 w 403742"/>
                  <a:gd name="connsiteY8" fmla="*/ 0 h 529743"/>
                  <a:gd name="connsiteX9" fmla="*/ 152961 w 403742"/>
                  <a:gd name="connsiteY9" fmla="*/ 377353 h 52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742" h="529743">
                    <a:moveTo>
                      <a:pt x="87069" y="529744"/>
                    </a:moveTo>
                    <a:lnTo>
                      <a:pt x="175522" y="529744"/>
                    </a:lnTo>
                    <a:lnTo>
                      <a:pt x="403742" y="0"/>
                    </a:lnTo>
                    <a:lnTo>
                      <a:pt x="314393" y="0"/>
                    </a:lnTo>
                    <a:lnTo>
                      <a:pt x="238320" y="182446"/>
                    </a:lnTo>
                    <a:lnTo>
                      <a:pt x="197188" y="289632"/>
                    </a:lnTo>
                    <a:lnTo>
                      <a:pt x="159151" y="180898"/>
                    </a:lnTo>
                    <a:lnTo>
                      <a:pt x="93178" y="0"/>
                    </a:lnTo>
                    <a:lnTo>
                      <a:pt x="0" y="0"/>
                    </a:lnTo>
                    <a:lnTo>
                      <a:pt x="152961" y="377353"/>
                    </a:lnTo>
                    <a:close/>
                  </a:path>
                </a:pathLst>
              </a:custGeom>
              <a:solidFill>
                <a:srgbClr val="000000"/>
              </a:solidFill>
              <a:ln w="8132" cap="flat">
                <a:noFill/>
                <a:prstDash val="solid"/>
                <a:miter/>
              </a:ln>
            </p:spPr>
            <p:txBody>
              <a:bodyPr rtlCol="0" anchor="ctr"/>
              <a:lstStyle/>
              <a:p>
                <a:endParaRPr lang="es-ES"/>
              </a:p>
            </p:txBody>
          </p:sp>
        </p:grpSp>
        <p:grpSp>
          <p:nvGrpSpPr>
            <p:cNvPr id="2075" name="Gráfico 2063">
              <a:extLst>
                <a:ext uri="{FF2B5EF4-FFF2-40B4-BE49-F238E27FC236}">
                  <a16:creationId xmlns:a16="http://schemas.microsoft.com/office/drawing/2014/main" id="{55F45809-6AD2-5920-5BB7-84AD99E4FF8B}"/>
                </a:ext>
              </a:extLst>
            </p:cNvPr>
            <p:cNvGrpSpPr/>
            <p:nvPr/>
          </p:nvGrpSpPr>
          <p:grpSpPr>
            <a:xfrm>
              <a:off x="978182" y="4516136"/>
              <a:ext cx="1040835" cy="931775"/>
              <a:chOff x="4042101" y="2964741"/>
              <a:chExt cx="1040835" cy="931775"/>
            </a:xfrm>
          </p:grpSpPr>
          <p:sp>
            <p:nvSpPr>
              <p:cNvPr id="2076" name="Forma libre: forma 2075">
                <a:extLst>
                  <a:ext uri="{FF2B5EF4-FFF2-40B4-BE49-F238E27FC236}">
                    <a16:creationId xmlns:a16="http://schemas.microsoft.com/office/drawing/2014/main" id="{628E8A68-1BEB-3B15-6A60-A3C98CAA3DF0}"/>
                  </a:ext>
                </a:extLst>
              </p:cNvPr>
              <p:cNvSpPr/>
              <p:nvPr/>
            </p:nvSpPr>
            <p:spPr>
              <a:xfrm>
                <a:off x="4107179" y="2964741"/>
                <a:ext cx="910680" cy="335243"/>
              </a:xfrm>
              <a:custGeom>
                <a:avLst/>
                <a:gdLst>
                  <a:gd name="connsiteX0" fmla="*/ 455381 w 910680"/>
                  <a:gd name="connsiteY0" fmla="*/ 335244 h 335243"/>
                  <a:gd name="connsiteX1" fmla="*/ 910680 w 910680"/>
                  <a:gd name="connsiteY1" fmla="*/ 55060 h 335243"/>
                  <a:gd name="connsiteX2" fmla="*/ 868408 w 910680"/>
                  <a:gd name="connsiteY2" fmla="*/ 0 h 335243"/>
                  <a:gd name="connsiteX3" fmla="*/ 42272 w 910680"/>
                  <a:gd name="connsiteY3" fmla="*/ 0 h 335243"/>
                  <a:gd name="connsiteX4" fmla="*/ 0 w 910680"/>
                  <a:gd name="connsiteY4" fmla="*/ 55060 h 335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0680" h="335243">
                    <a:moveTo>
                      <a:pt x="455381" y="335244"/>
                    </a:moveTo>
                    <a:lnTo>
                      <a:pt x="910680" y="55060"/>
                    </a:lnTo>
                    <a:lnTo>
                      <a:pt x="868408" y="0"/>
                    </a:lnTo>
                    <a:lnTo>
                      <a:pt x="42272" y="0"/>
                    </a:lnTo>
                    <a:lnTo>
                      <a:pt x="0" y="55060"/>
                    </a:lnTo>
                    <a:close/>
                  </a:path>
                </a:pathLst>
              </a:custGeom>
              <a:solidFill>
                <a:srgbClr val="64CCC9"/>
              </a:solidFill>
              <a:ln w="8132" cap="flat">
                <a:noFill/>
                <a:prstDash val="solid"/>
                <a:miter/>
              </a:ln>
            </p:spPr>
            <p:txBody>
              <a:bodyPr rtlCol="0" anchor="ctr"/>
              <a:lstStyle/>
              <a:p>
                <a:endParaRPr lang="es-ES"/>
              </a:p>
            </p:txBody>
          </p:sp>
          <p:sp>
            <p:nvSpPr>
              <p:cNvPr id="2077" name="Forma libre: forma 2076">
                <a:extLst>
                  <a:ext uri="{FF2B5EF4-FFF2-40B4-BE49-F238E27FC236}">
                    <a16:creationId xmlns:a16="http://schemas.microsoft.com/office/drawing/2014/main" id="{03D79057-E04E-0853-D962-49DB782E93EE}"/>
                  </a:ext>
                </a:extLst>
              </p:cNvPr>
              <p:cNvSpPr/>
              <p:nvPr/>
            </p:nvSpPr>
            <p:spPr>
              <a:xfrm>
                <a:off x="4042101" y="3065656"/>
                <a:ext cx="493499" cy="830860"/>
              </a:xfrm>
              <a:custGeom>
                <a:avLst/>
                <a:gdLst>
                  <a:gd name="connsiteX0" fmla="*/ 493499 w 493499"/>
                  <a:gd name="connsiteY0" fmla="*/ 280917 h 830860"/>
                  <a:gd name="connsiteX1" fmla="*/ 36896 w 493499"/>
                  <a:gd name="connsiteY1" fmla="*/ 0 h 830860"/>
                  <a:gd name="connsiteX2" fmla="*/ 0 w 493499"/>
                  <a:gd name="connsiteY2" fmla="*/ 82915 h 830860"/>
                  <a:gd name="connsiteX3" fmla="*/ 493499 w 493499"/>
                  <a:gd name="connsiteY3" fmla="*/ 830860 h 830860"/>
                </a:gdLst>
                <a:ahLst/>
                <a:cxnLst>
                  <a:cxn ang="0">
                    <a:pos x="connsiteX0" y="connsiteY0"/>
                  </a:cxn>
                  <a:cxn ang="0">
                    <a:pos x="connsiteX1" y="connsiteY1"/>
                  </a:cxn>
                  <a:cxn ang="0">
                    <a:pos x="connsiteX2" y="connsiteY2"/>
                  </a:cxn>
                  <a:cxn ang="0">
                    <a:pos x="connsiteX3" y="connsiteY3"/>
                  </a:cxn>
                </a:cxnLst>
                <a:rect l="l" t="t" r="r" b="b"/>
                <a:pathLst>
                  <a:path w="493499" h="830860">
                    <a:moveTo>
                      <a:pt x="493499" y="280917"/>
                    </a:moveTo>
                    <a:lnTo>
                      <a:pt x="36896" y="0"/>
                    </a:lnTo>
                    <a:lnTo>
                      <a:pt x="0" y="82915"/>
                    </a:lnTo>
                    <a:lnTo>
                      <a:pt x="493499" y="830860"/>
                    </a:lnTo>
                    <a:close/>
                  </a:path>
                </a:pathLst>
              </a:custGeom>
              <a:solidFill>
                <a:srgbClr val="004F59"/>
              </a:solidFill>
              <a:ln w="8132" cap="flat">
                <a:noFill/>
                <a:prstDash val="solid"/>
                <a:miter/>
              </a:ln>
            </p:spPr>
            <p:txBody>
              <a:bodyPr rtlCol="0" anchor="ctr"/>
              <a:lstStyle/>
              <a:p>
                <a:endParaRPr lang="es-ES"/>
              </a:p>
            </p:txBody>
          </p:sp>
          <p:sp>
            <p:nvSpPr>
              <p:cNvPr id="2078" name="Forma libre: forma 2077">
                <a:extLst>
                  <a:ext uri="{FF2B5EF4-FFF2-40B4-BE49-F238E27FC236}">
                    <a16:creationId xmlns:a16="http://schemas.microsoft.com/office/drawing/2014/main" id="{0DC387E9-B254-499D-ACBD-4FA24D523D9A}"/>
                  </a:ext>
                </a:extLst>
              </p:cNvPr>
              <p:cNvSpPr/>
              <p:nvPr/>
            </p:nvSpPr>
            <p:spPr>
              <a:xfrm>
                <a:off x="4589438" y="3065737"/>
                <a:ext cx="493499" cy="830779"/>
              </a:xfrm>
              <a:custGeom>
                <a:avLst/>
                <a:gdLst>
                  <a:gd name="connsiteX0" fmla="*/ 456603 w 493499"/>
                  <a:gd name="connsiteY0" fmla="*/ 0 h 830779"/>
                  <a:gd name="connsiteX1" fmla="*/ 0 w 493499"/>
                  <a:gd name="connsiteY1" fmla="*/ 280836 h 830779"/>
                  <a:gd name="connsiteX2" fmla="*/ 0 w 493499"/>
                  <a:gd name="connsiteY2" fmla="*/ 830779 h 830779"/>
                  <a:gd name="connsiteX3" fmla="*/ 493499 w 493499"/>
                  <a:gd name="connsiteY3" fmla="*/ 82834 h 830779"/>
                </a:gdLst>
                <a:ahLst/>
                <a:cxnLst>
                  <a:cxn ang="0">
                    <a:pos x="connsiteX0" y="connsiteY0"/>
                  </a:cxn>
                  <a:cxn ang="0">
                    <a:pos x="connsiteX1" y="connsiteY1"/>
                  </a:cxn>
                  <a:cxn ang="0">
                    <a:pos x="connsiteX2" y="connsiteY2"/>
                  </a:cxn>
                  <a:cxn ang="0">
                    <a:pos x="connsiteX3" y="connsiteY3"/>
                  </a:cxn>
                </a:cxnLst>
                <a:rect l="l" t="t" r="r" b="b"/>
                <a:pathLst>
                  <a:path w="493499" h="830779">
                    <a:moveTo>
                      <a:pt x="456603" y="0"/>
                    </a:moveTo>
                    <a:lnTo>
                      <a:pt x="0" y="280836"/>
                    </a:lnTo>
                    <a:lnTo>
                      <a:pt x="0" y="830779"/>
                    </a:lnTo>
                    <a:lnTo>
                      <a:pt x="493499" y="82834"/>
                    </a:lnTo>
                    <a:close/>
                  </a:path>
                </a:pathLst>
              </a:custGeom>
              <a:solidFill>
                <a:srgbClr val="00B398"/>
              </a:solidFill>
              <a:ln w="8132" cap="flat">
                <a:noFill/>
                <a:prstDash val="solid"/>
                <a:miter/>
              </a:ln>
            </p:spPr>
            <p:txBody>
              <a:bodyPr rtlCol="0" anchor="ctr"/>
              <a:lstStyle/>
              <a:p>
                <a:endParaRPr lang="es-ES"/>
              </a:p>
            </p:txBody>
          </p:sp>
        </p:grpSp>
      </p:grpSp>
      <p:pic>
        <p:nvPicPr>
          <p:cNvPr id="19" name="Picture 31" descr="A black and white logo&#10;&#10;Description automatically generated">
            <a:extLst>
              <a:ext uri="{FF2B5EF4-FFF2-40B4-BE49-F238E27FC236}">
                <a16:creationId xmlns:a16="http://schemas.microsoft.com/office/drawing/2014/main" id="{18855620-D9ED-E0A5-F176-1204885FD9BE}"/>
              </a:ext>
            </a:extLst>
          </p:cNvPr>
          <p:cNvPicPr>
            <a:picLocks noChangeAspect="1"/>
          </p:cNvPicPr>
          <p:nvPr/>
        </p:nvPicPr>
        <p:blipFill>
          <a:blip r:embed="rId32"/>
          <a:stretch>
            <a:fillRect/>
          </a:stretch>
        </p:blipFill>
        <p:spPr>
          <a:xfrm>
            <a:off x="5488605" y="2040532"/>
            <a:ext cx="1885012" cy="406819"/>
          </a:xfrm>
          <a:prstGeom prst="rect">
            <a:avLst/>
          </a:prstGeom>
        </p:spPr>
      </p:pic>
    </p:spTree>
    <p:extLst>
      <p:ext uri="{BB962C8B-B14F-4D97-AF65-F5344CB8AC3E}">
        <p14:creationId xmlns:p14="http://schemas.microsoft.com/office/powerpoint/2010/main" val="64717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3" presetClass="entr" presetSubtype="272" fill="hold" grpId="1" nodeType="withEffect">
                                  <p:stCondLst>
                                    <p:cond delay="500"/>
                                  </p:stCondLst>
                                  <p:childTnLst>
                                    <p:set>
                                      <p:cBhvr>
                                        <p:cTn id="9" dur="1" fill="hold">
                                          <p:stCondLst>
                                            <p:cond delay="0"/>
                                          </p:stCondLst>
                                        </p:cTn>
                                        <p:tgtEl>
                                          <p:spTgt spid="7"/>
                                        </p:tgtEl>
                                        <p:attrNameLst>
                                          <p:attrName>style.visibility</p:attrName>
                                        </p:attrNameLst>
                                      </p:cBhvr>
                                      <p:to>
                                        <p:strVal val="visible"/>
                                      </p:to>
                                    </p:set>
                                    <p:anim calcmode="lin" valueType="num">
                                      <p:cBhvr>
                                        <p:cTn id="10" dur="500" fill="hold"/>
                                        <p:tgtEl>
                                          <p:spTgt spid="7"/>
                                        </p:tgtEl>
                                        <p:attrNameLst>
                                          <p:attrName>ppt_w</p:attrName>
                                        </p:attrNameLst>
                                      </p:cBhvr>
                                      <p:tavLst>
                                        <p:tav tm="0">
                                          <p:val>
                                            <p:strVal val="2/3*#ppt_w"/>
                                          </p:val>
                                        </p:tav>
                                        <p:tav tm="100000">
                                          <p:val>
                                            <p:strVal val="#ppt_w"/>
                                          </p:val>
                                        </p:tav>
                                      </p:tavLst>
                                    </p:anim>
                                    <p:anim calcmode="lin" valueType="num">
                                      <p:cBhvr>
                                        <p:cTn id="11" dur="500" fill="hold"/>
                                        <p:tgtEl>
                                          <p:spTgt spid="7"/>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50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23" presetClass="entr" presetSubtype="272" fill="hold" grpId="1" nodeType="withEffect">
                                  <p:stCondLst>
                                    <p:cond delay="50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strVal val="2/3*#ppt_w"/>
                                          </p:val>
                                        </p:tav>
                                        <p:tav tm="100000">
                                          <p:val>
                                            <p:strVal val="#ppt_w"/>
                                          </p:val>
                                        </p:tav>
                                      </p:tavLst>
                                    </p:anim>
                                    <p:anim calcmode="lin" valueType="num">
                                      <p:cBhvr>
                                        <p:cTn id="18" dur="500" fill="hold"/>
                                        <p:tgtEl>
                                          <p:spTgt spid="9"/>
                                        </p:tgtEl>
                                        <p:attrNameLst>
                                          <p:attrName>ppt_h</p:attrName>
                                        </p:attrNameLst>
                                      </p:cBhvr>
                                      <p:tavLst>
                                        <p:tav tm="0">
                                          <p:val>
                                            <p:strVal val="2/3*#ppt_h"/>
                                          </p:val>
                                        </p:tav>
                                        <p:tav tm="100000">
                                          <p:val>
                                            <p:strVal val="#ppt_h"/>
                                          </p:val>
                                        </p:tav>
                                      </p:tavLst>
                                    </p:anim>
                                  </p:childTnLst>
                                </p:cTn>
                              </p:par>
                              <p:par>
                                <p:cTn id="19" presetID="10" presetClass="entr" presetSubtype="0"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23" presetClass="entr" presetSubtype="272" fill="hold" grpId="1" nodeType="withEffect">
                                  <p:stCondLst>
                                    <p:cond delay="50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strVal val="2/3*#ppt_w"/>
                                          </p:val>
                                        </p:tav>
                                        <p:tav tm="100000">
                                          <p:val>
                                            <p:strVal val="#ppt_w"/>
                                          </p:val>
                                        </p:tav>
                                      </p:tavLst>
                                    </p:anim>
                                    <p:anim calcmode="lin" valueType="num">
                                      <p:cBhvr>
                                        <p:cTn id="25" dur="500" fill="hold"/>
                                        <p:tgtEl>
                                          <p:spTgt spid="12"/>
                                        </p:tgtEl>
                                        <p:attrNameLst>
                                          <p:attrName>ppt_h</p:attrName>
                                        </p:attrNameLst>
                                      </p:cBhvr>
                                      <p:tavLst>
                                        <p:tav tm="0">
                                          <p:val>
                                            <p:strVal val="2/3*#ppt_h"/>
                                          </p:val>
                                        </p:tav>
                                        <p:tav tm="100000">
                                          <p:val>
                                            <p:strVal val="#ppt_h"/>
                                          </p:val>
                                        </p:tav>
                                      </p:tavLst>
                                    </p:anim>
                                  </p:childTnLst>
                                </p:cTn>
                              </p:par>
                              <p:par>
                                <p:cTn id="26" presetID="23" presetClass="entr" presetSubtype="16" fill="hold" grpId="0" nodeType="withEffect">
                                  <p:stCondLst>
                                    <p:cond delay="500"/>
                                  </p:stCondLst>
                                  <p:childTnLst>
                                    <p:set>
                                      <p:cBhvr>
                                        <p:cTn id="27" dur="1" fill="hold">
                                          <p:stCondLst>
                                            <p:cond delay="0"/>
                                          </p:stCondLst>
                                        </p:cTn>
                                        <p:tgtEl>
                                          <p:spTgt spid="8"/>
                                        </p:tgtEl>
                                        <p:attrNameLst>
                                          <p:attrName>style.visibility</p:attrName>
                                        </p:attrNameLst>
                                      </p:cBhvr>
                                      <p:to>
                                        <p:strVal val="visible"/>
                                      </p:to>
                                    </p:set>
                                    <p:anim calcmode="lin" valueType="num">
                                      <p:cBhvr>
                                        <p:cTn id="28" dur="500" fill="hold"/>
                                        <p:tgtEl>
                                          <p:spTgt spid="8"/>
                                        </p:tgtEl>
                                        <p:attrNameLst>
                                          <p:attrName>ppt_w</p:attrName>
                                        </p:attrNameLst>
                                      </p:cBhvr>
                                      <p:tavLst>
                                        <p:tav tm="0">
                                          <p:val>
                                            <p:fltVal val="0"/>
                                          </p:val>
                                        </p:tav>
                                        <p:tav tm="100000">
                                          <p:val>
                                            <p:strVal val="#ppt_w"/>
                                          </p:val>
                                        </p:tav>
                                      </p:tavLst>
                                    </p:anim>
                                    <p:anim calcmode="lin" valueType="num">
                                      <p:cBhvr>
                                        <p:cTn id="29" dur="500" fill="hold"/>
                                        <p:tgtEl>
                                          <p:spTgt spid="8"/>
                                        </p:tgtEl>
                                        <p:attrNameLst>
                                          <p:attrName>ppt_h</p:attrName>
                                        </p:attrNameLst>
                                      </p:cBhvr>
                                      <p:tavLst>
                                        <p:tav tm="0">
                                          <p:val>
                                            <p:fltVal val="0"/>
                                          </p:val>
                                        </p:tav>
                                        <p:tav tm="100000">
                                          <p:val>
                                            <p:strVal val="#ppt_h"/>
                                          </p:val>
                                        </p:tav>
                                      </p:tavLst>
                                    </p:anim>
                                  </p:childTnLst>
                                </p:cTn>
                              </p:par>
                              <p:par>
                                <p:cTn id="30" presetID="10" presetClass="entr" presetSubtype="0" fill="hold" nodeType="withEffect">
                                  <p:stCondLst>
                                    <p:cond delay="500"/>
                                  </p:stCondLst>
                                  <p:childTnLst>
                                    <p:set>
                                      <p:cBhvr>
                                        <p:cTn id="31" dur="1" fill="hold">
                                          <p:stCondLst>
                                            <p:cond delay="0"/>
                                          </p:stCondLst>
                                        </p:cTn>
                                        <p:tgtEl>
                                          <p:spTgt spid="52"/>
                                        </p:tgtEl>
                                        <p:attrNameLst>
                                          <p:attrName>style.visibility</p:attrName>
                                        </p:attrNameLst>
                                      </p:cBhvr>
                                      <p:to>
                                        <p:strVal val="visible"/>
                                      </p:to>
                                    </p:set>
                                    <p:animEffect transition="in" filter="fade">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9" grpId="0"/>
      <p:bldP spid="9" grpId="1"/>
      <p:bldP spid="12" grpId="0"/>
      <p:bldP spid="12" grpId="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F743889F-0E2D-48DE-8563-F6406BD0CD5F}"/>
              </a:ext>
            </a:extLst>
          </p:cNvPr>
          <p:cNvSpPr/>
          <p:nvPr/>
        </p:nvSpPr>
        <p:spPr>
          <a:xfrm>
            <a:off x="-2279" y="455"/>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6C1F8D39-4E29-4889-98DC-8548B06400EB}"/>
              </a:ext>
            </a:extLst>
          </p:cNvPr>
          <p:cNvSpPr txBox="1"/>
          <p:nvPr/>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Segoe UI" panose="020B0502040204020203" pitchFamily="34" charset="0"/>
                <a:ea typeface="Roboto Condensed" panose="02000000000000000000" pitchFamily="2" charset="0"/>
                <a:cs typeface="Segoe UI" panose="020B0502040204020203" pitchFamily="34" charset="0"/>
              </a:rPr>
              <a:pPr algn="ctr"/>
              <a:t>4</a:t>
            </a:fld>
            <a:endParaRPr lang="id-ID" sz="4400" i="0">
              <a:solidFill>
                <a:schemeClr val="bg1"/>
              </a:solidFill>
              <a:latin typeface="Segoe UI" panose="020B0502040204020203" pitchFamily="34" charset="0"/>
              <a:ea typeface="Roboto Condensed" panose="02000000000000000000" pitchFamily="2" charset="0"/>
              <a:cs typeface="Segoe UI" panose="020B0502040204020203" pitchFamily="34" charset="0"/>
            </a:endParaRPr>
          </a:p>
        </p:txBody>
      </p:sp>
      <p:sp>
        <p:nvSpPr>
          <p:cNvPr id="28" name="Freeform: Shape 27">
            <a:extLst>
              <a:ext uri="{FF2B5EF4-FFF2-40B4-BE49-F238E27FC236}">
                <a16:creationId xmlns:a16="http://schemas.microsoft.com/office/drawing/2014/main" id="{F3F421B6-D8CF-4E9B-8893-669E9CDB39C2}"/>
              </a:ext>
            </a:extLst>
          </p:cNvPr>
          <p:cNvSpPr/>
          <p:nvPr/>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Segoe UI" panose="020B0502040204020203" pitchFamily="34" charset="0"/>
              <a:cs typeface="Segoe UI" panose="020B0502040204020203" pitchFamily="34" charset="0"/>
            </a:endParaRPr>
          </a:p>
        </p:txBody>
      </p:sp>
      <p:sp>
        <p:nvSpPr>
          <p:cNvPr id="31" name="Freeform: Shape 30">
            <a:extLst>
              <a:ext uri="{FF2B5EF4-FFF2-40B4-BE49-F238E27FC236}">
                <a16:creationId xmlns:a16="http://schemas.microsoft.com/office/drawing/2014/main" id="{1F2C4D64-10DE-46FB-BEC4-5AF3EA26BA20}"/>
              </a:ext>
            </a:extLst>
          </p:cNvPr>
          <p:cNvSpPr/>
          <p:nvPr/>
        </p:nvSpPr>
        <p:spPr>
          <a:xfrm>
            <a:off x="1541386" y="901562"/>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bg1"/>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2" name="Freeform: Shape 31">
            <a:extLst>
              <a:ext uri="{FF2B5EF4-FFF2-40B4-BE49-F238E27FC236}">
                <a16:creationId xmlns:a16="http://schemas.microsoft.com/office/drawing/2014/main" id="{E3D31398-4180-4611-AE52-6CC4D0C5A2FF}"/>
              </a:ext>
            </a:extLst>
          </p:cNvPr>
          <p:cNvSpPr/>
          <p:nvPr/>
        </p:nvSpPr>
        <p:spPr>
          <a:xfrm rot="17892069">
            <a:off x="4361021" y="4687017"/>
            <a:ext cx="649965" cy="688199"/>
          </a:xfrm>
          <a:custGeom>
            <a:avLst/>
            <a:gdLst>
              <a:gd name="connsiteX0" fmla="*/ 789532 w 809625"/>
              <a:gd name="connsiteY0" fmla="*/ 631363 h 857250"/>
              <a:gd name="connsiteX1" fmla="*/ 777149 w 809625"/>
              <a:gd name="connsiteY1" fmla="*/ 807576 h 857250"/>
              <a:gd name="connsiteX2" fmla="*/ 608557 w 809625"/>
              <a:gd name="connsiteY2" fmla="*/ 859011 h 857250"/>
              <a:gd name="connsiteX3" fmla="*/ 411389 w 809625"/>
              <a:gd name="connsiteY3" fmla="*/ 750426 h 857250"/>
              <a:gd name="connsiteX4" fmla="*/ 198029 w 809625"/>
              <a:gd name="connsiteY4" fmla="*/ 785668 h 857250"/>
              <a:gd name="connsiteX5" fmla="*/ 4672 w 809625"/>
              <a:gd name="connsiteY5" fmla="*/ 558973 h 857250"/>
              <a:gd name="connsiteX6" fmla="*/ 257084 w 809625"/>
              <a:gd name="connsiteY6" fmla="*/ 47480 h 857250"/>
              <a:gd name="connsiteX7" fmla="*/ 543787 w 809625"/>
              <a:gd name="connsiteY7" fmla="*/ 237980 h 857250"/>
              <a:gd name="connsiteX8" fmla="*/ 789532 w 809625"/>
              <a:gd name="connsiteY8" fmla="*/ 631363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625" h="857250">
                <a:moveTo>
                  <a:pt x="789532" y="631363"/>
                </a:moveTo>
                <a:cubicBezTo>
                  <a:pt x="820964" y="685655"/>
                  <a:pt x="816202" y="758998"/>
                  <a:pt x="777149" y="807576"/>
                </a:cubicBezTo>
                <a:cubicBezTo>
                  <a:pt x="738097" y="856153"/>
                  <a:pt x="667612" y="878061"/>
                  <a:pt x="608557" y="859011"/>
                </a:cubicBezTo>
                <a:cubicBezTo>
                  <a:pt x="536167" y="836151"/>
                  <a:pt x="485684" y="762808"/>
                  <a:pt x="411389" y="750426"/>
                </a:cubicBezTo>
                <a:cubicBezTo>
                  <a:pt x="339952" y="738995"/>
                  <a:pt x="270419" y="787573"/>
                  <a:pt x="198029" y="785668"/>
                </a:cubicBezTo>
                <a:cubicBezTo>
                  <a:pt x="90397" y="781858"/>
                  <a:pt x="19912" y="666605"/>
                  <a:pt x="4672" y="558973"/>
                </a:cubicBezTo>
                <a:cubicBezTo>
                  <a:pt x="-23903" y="358948"/>
                  <a:pt x="80872" y="146540"/>
                  <a:pt x="257084" y="47480"/>
                </a:cubicBezTo>
                <a:cubicBezTo>
                  <a:pt x="465682" y="-69677"/>
                  <a:pt x="597127" y="43670"/>
                  <a:pt x="543787" y="237980"/>
                </a:cubicBezTo>
                <a:cubicBezTo>
                  <a:pt x="469492" y="511348"/>
                  <a:pt x="670469" y="428480"/>
                  <a:pt x="789532" y="631363"/>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3" name="TextBox 32">
            <a:extLst>
              <a:ext uri="{FF2B5EF4-FFF2-40B4-BE49-F238E27FC236}">
                <a16:creationId xmlns:a16="http://schemas.microsoft.com/office/drawing/2014/main" id="{2F1CFC3B-28DD-4017-8FF9-5CCB34D0DE5E}"/>
              </a:ext>
            </a:extLst>
          </p:cNvPr>
          <p:cNvSpPr txBox="1"/>
          <p:nvPr/>
        </p:nvSpPr>
        <p:spPr>
          <a:xfrm>
            <a:off x="5713941" y="2472795"/>
            <a:ext cx="4984002" cy="646331"/>
          </a:xfrm>
          <a:prstGeom prst="rect">
            <a:avLst/>
          </a:prstGeom>
          <a:noFill/>
        </p:spPr>
        <p:txBody>
          <a:bodyPr wrap="square" rtlCol="0">
            <a:spAutoFit/>
          </a:bodyPr>
          <a:lstStyle/>
          <a:p>
            <a:r>
              <a:rPr lang="en-GB" sz="3600" b="1">
                <a:solidFill>
                  <a:schemeClr val="bg1"/>
                </a:solidFill>
                <a:latin typeface="Segoe UI" panose="020B0502040204020203" pitchFamily="34" charset="0"/>
                <a:cs typeface="Segoe UI" panose="020B0502040204020203" pitchFamily="34" charset="0"/>
              </a:rPr>
              <a:t>Juan Carlos Gonzalez</a:t>
            </a:r>
          </a:p>
        </p:txBody>
      </p:sp>
      <p:sp>
        <p:nvSpPr>
          <p:cNvPr id="34" name="Rectangle: Rounded Corners 33">
            <a:extLst>
              <a:ext uri="{FF2B5EF4-FFF2-40B4-BE49-F238E27FC236}">
                <a16:creationId xmlns:a16="http://schemas.microsoft.com/office/drawing/2014/main" id="{CB7EDB62-BEF3-43D9-A0A9-25B6F9638A54}"/>
              </a:ext>
            </a:extLst>
          </p:cNvPr>
          <p:cNvSpPr/>
          <p:nvPr/>
        </p:nvSpPr>
        <p:spPr>
          <a:xfrm>
            <a:off x="5767367" y="2022641"/>
            <a:ext cx="1662133" cy="319330"/>
          </a:xfrm>
          <a:prstGeom prst="roundRect">
            <a:avLst>
              <a:gd name="adj" fmla="val 50000"/>
            </a:avLst>
          </a:prstGeom>
          <a:solidFill>
            <a:schemeClr val="bg1">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goe UI" panose="020B0502040204020203" pitchFamily="34" charset="0"/>
                <a:cs typeface="Segoe UI" panose="020B0502040204020203" pitchFamily="34" charset="0"/>
              </a:rPr>
              <a:t>SPEAKER</a:t>
            </a:r>
            <a:endParaRPr lang="en-GB" sz="1100">
              <a:solidFill>
                <a:schemeClr val="bg1"/>
              </a:solidFill>
              <a:latin typeface="Segoe UI" panose="020B0502040204020203" pitchFamily="34" charset="0"/>
              <a:cs typeface="Segoe UI" panose="020B0502040204020203" pitchFamily="34" charset="0"/>
            </a:endParaRPr>
          </a:p>
        </p:txBody>
      </p:sp>
      <p:grpSp>
        <p:nvGrpSpPr>
          <p:cNvPr id="30" name="Group 29">
            <a:extLst>
              <a:ext uri="{FF2B5EF4-FFF2-40B4-BE49-F238E27FC236}">
                <a16:creationId xmlns:a16="http://schemas.microsoft.com/office/drawing/2014/main" id="{2049337D-8B91-4640-A931-C79ABDCF64C2}"/>
              </a:ext>
            </a:extLst>
          </p:cNvPr>
          <p:cNvGrpSpPr/>
          <p:nvPr/>
        </p:nvGrpSpPr>
        <p:grpSpPr>
          <a:xfrm>
            <a:off x="9098116" y="5028098"/>
            <a:ext cx="2509684" cy="276999"/>
            <a:chOff x="6000275" y="4980878"/>
            <a:chExt cx="2509684" cy="276999"/>
          </a:xfrm>
        </p:grpSpPr>
        <p:sp>
          <p:nvSpPr>
            <p:cNvPr id="39" name="Graphic 39">
              <a:extLst>
                <a:ext uri="{FF2B5EF4-FFF2-40B4-BE49-F238E27FC236}">
                  <a16:creationId xmlns:a16="http://schemas.microsoft.com/office/drawing/2014/main" id="{F230E37D-EA9C-4280-A82E-C9305286497C}"/>
                </a:ext>
              </a:extLst>
            </p:cNvPr>
            <p:cNvSpPr/>
            <p:nvPr/>
          </p:nvSpPr>
          <p:spPr>
            <a:xfrm>
              <a:off x="6000275" y="5007570"/>
              <a:ext cx="223614" cy="223614"/>
            </a:xfrm>
            <a:custGeom>
              <a:avLst/>
              <a:gdLst>
                <a:gd name="connsiteX0" fmla="*/ 3252788 w 6505575"/>
                <a:gd name="connsiteY0" fmla="*/ 0 h 6505575"/>
                <a:gd name="connsiteX1" fmla="*/ 0 w 6505575"/>
                <a:gd name="connsiteY1" fmla="*/ 3252788 h 6505575"/>
                <a:gd name="connsiteX2" fmla="*/ 3252788 w 6505575"/>
                <a:gd name="connsiteY2" fmla="*/ 6505575 h 6505575"/>
                <a:gd name="connsiteX3" fmla="*/ 6505575 w 6505575"/>
                <a:gd name="connsiteY3" fmla="*/ 3252788 h 6505575"/>
                <a:gd name="connsiteX4" fmla="*/ 3252788 w 6505575"/>
                <a:gd name="connsiteY4" fmla="*/ 0 h 6505575"/>
                <a:gd name="connsiteX5" fmla="*/ 4737974 w 6505575"/>
                <a:gd name="connsiteY5" fmla="*/ 2536178 h 6505575"/>
                <a:gd name="connsiteX6" fmla="*/ 4740108 w 6505575"/>
                <a:gd name="connsiteY6" fmla="*/ 2632665 h 6505575"/>
                <a:gd name="connsiteX7" fmla="*/ 2615840 w 6505575"/>
                <a:gd name="connsiteY7" fmla="*/ 4756934 h 6505575"/>
                <a:gd name="connsiteX8" fmla="*/ 2615889 w 6505575"/>
                <a:gd name="connsiteY8" fmla="*/ 4756934 h 6505575"/>
                <a:gd name="connsiteX9" fmla="*/ 2615840 w 6505575"/>
                <a:gd name="connsiteY9" fmla="*/ 4756934 h 6505575"/>
                <a:gd name="connsiteX10" fmla="*/ 1471438 w 6505575"/>
                <a:gd name="connsiteY10" fmla="*/ 4421560 h 6505575"/>
                <a:gd name="connsiteX11" fmla="*/ 1649523 w 6505575"/>
                <a:gd name="connsiteY11" fmla="*/ 4431884 h 6505575"/>
                <a:gd name="connsiteX12" fmla="*/ 2576828 w 6505575"/>
                <a:gd name="connsiteY12" fmla="*/ 4112293 h 6505575"/>
                <a:gd name="connsiteX13" fmla="*/ 1879327 w 6505575"/>
                <a:gd name="connsiteY13" fmla="*/ 3593721 h 6505575"/>
                <a:gd name="connsiteX14" fmla="*/ 2019641 w 6505575"/>
                <a:gd name="connsiteY14" fmla="*/ 3607221 h 6505575"/>
                <a:gd name="connsiteX15" fmla="*/ 2216537 w 6505575"/>
                <a:gd name="connsiteY15" fmla="*/ 3580915 h 6505575"/>
                <a:gd name="connsiteX16" fmla="*/ 1617559 w 6505575"/>
                <a:gd name="connsiteY16" fmla="*/ 2849068 h 6505575"/>
                <a:gd name="connsiteX17" fmla="*/ 1617658 w 6505575"/>
                <a:gd name="connsiteY17" fmla="*/ 2839538 h 6505575"/>
                <a:gd name="connsiteX18" fmla="*/ 1955812 w 6505575"/>
                <a:gd name="connsiteY18" fmla="*/ 2932899 h 6505575"/>
                <a:gd name="connsiteX19" fmla="*/ 1623565 w 6505575"/>
                <a:gd name="connsiteY19" fmla="*/ 2311437 h 6505575"/>
                <a:gd name="connsiteX20" fmla="*/ 1724668 w 6505575"/>
                <a:gd name="connsiteY20" fmla="*/ 1936157 h 6505575"/>
                <a:gd name="connsiteX21" fmla="*/ 3263608 w 6505575"/>
                <a:gd name="connsiteY21" fmla="*/ 2716248 h 6505575"/>
                <a:gd name="connsiteX22" fmla="*/ 3244201 w 6505575"/>
                <a:gd name="connsiteY22" fmla="*/ 2546005 h 6505575"/>
                <a:gd name="connsiteX23" fmla="*/ 3990889 w 6505575"/>
                <a:gd name="connsiteY23" fmla="*/ 1799466 h 6505575"/>
                <a:gd name="connsiteX24" fmla="*/ 4535866 w 6505575"/>
                <a:gd name="connsiteY24" fmla="*/ 2035375 h 6505575"/>
                <a:gd name="connsiteX25" fmla="*/ 5009966 w 6505575"/>
                <a:gd name="connsiteY25" fmla="*/ 1854162 h 6505575"/>
                <a:gd name="connsiteX26" fmla="*/ 4681640 w 6505575"/>
                <a:gd name="connsiteY26" fmla="*/ 2267114 h 6505575"/>
                <a:gd name="connsiteX27" fmla="*/ 5110375 w 6505575"/>
                <a:gd name="connsiteY27" fmla="*/ 2149532 h 6505575"/>
                <a:gd name="connsiteX28" fmla="*/ 4737974 w 6505575"/>
                <a:gd name="connsiteY28" fmla="*/ 2536178 h 650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505575" h="6505575">
                  <a:moveTo>
                    <a:pt x="3252788" y="0"/>
                  </a:moveTo>
                  <a:cubicBezTo>
                    <a:pt x="1456597" y="0"/>
                    <a:pt x="0" y="1456597"/>
                    <a:pt x="0" y="3252788"/>
                  </a:cubicBezTo>
                  <a:cubicBezTo>
                    <a:pt x="0" y="5048978"/>
                    <a:pt x="1456597" y="6505575"/>
                    <a:pt x="3252788" y="6505575"/>
                  </a:cubicBezTo>
                  <a:cubicBezTo>
                    <a:pt x="5048978" y="6505575"/>
                    <a:pt x="6505575" y="5048978"/>
                    <a:pt x="6505575" y="3252788"/>
                  </a:cubicBezTo>
                  <a:cubicBezTo>
                    <a:pt x="6505575" y="1456597"/>
                    <a:pt x="5048978" y="0"/>
                    <a:pt x="3252788" y="0"/>
                  </a:cubicBezTo>
                  <a:close/>
                  <a:moveTo>
                    <a:pt x="4737974" y="2536178"/>
                  </a:moveTo>
                  <a:cubicBezTo>
                    <a:pt x="4739413" y="2568191"/>
                    <a:pt x="4740108" y="2600354"/>
                    <a:pt x="4740108" y="2632665"/>
                  </a:cubicBezTo>
                  <a:cubicBezTo>
                    <a:pt x="4740108" y="3619232"/>
                    <a:pt x="3989152" y="4756884"/>
                    <a:pt x="2615840" y="4756934"/>
                  </a:cubicBezTo>
                  <a:lnTo>
                    <a:pt x="2615889" y="4756934"/>
                  </a:lnTo>
                  <a:lnTo>
                    <a:pt x="2615840" y="4756934"/>
                  </a:lnTo>
                  <a:cubicBezTo>
                    <a:pt x="2194202" y="4756934"/>
                    <a:pt x="1801849" y="4633346"/>
                    <a:pt x="1471438" y="4421560"/>
                  </a:cubicBezTo>
                  <a:cubicBezTo>
                    <a:pt x="1529856" y="4428459"/>
                    <a:pt x="1589318" y="4431884"/>
                    <a:pt x="1649523" y="4431884"/>
                  </a:cubicBezTo>
                  <a:cubicBezTo>
                    <a:pt x="1999341" y="4431884"/>
                    <a:pt x="2321264" y="4312564"/>
                    <a:pt x="2576828" y="4112293"/>
                  </a:cubicBezTo>
                  <a:cubicBezTo>
                    <a:pt x="2249990" y="4106237"/>
                    <a:pt x="1974425" y="3890381"/>
                    <a:pt x="1879327" y="3593721"/>
                  </a:cubicBezTo>
                  <a:cubicBezTo>
                    <a:pt x="1924841" y="3602456"/>
                    <a:pt x="1971645" y="3607221"/>
                    <a:pt x="2019641" y="3607221"/>
                  </a:cubicBezTo>
                  <a:cubicBezTo>
                    <a:pt x="2087788" y="3607221"/>
                    <a:pt x="2153800" y="3598039"/>
                    <a:pt x="2216537" y="3580915"/>
                  </a:cubicBezTo>
                  <a:cubicBezTo>
                    <a:pt x="1874909" y="3512520"/>
                    <a:pt x="1617559" y="3210599"/>
                    <a:pt x="1617559" y="2849068"/>
                  </a:cubicBezTo>
                  <a:cubicBezTo>
                    <a:pt x="1617559" y="2845693"/>
                    <a:pt x="1617559" y="2842665"/>
                    <a:pt x="1617658" y="2839538"/>
                  </a:cubicBezTo>
                  <a:cubicBezTo>
                    <a:pt x="1718266" y="2895475"/>
                    <a:pt x="1833316" y="2929127"/>
                    <a:pt x="1955812" y="2932899"/>
                  </a:cubicBezTo>
                  <a:cubicBezTo>
                    <a:pt x="1755342" y="2799137"/>
                    <a:pt x="1623565" y="2570475"/>
                    <a:pt x="1623565" y="2311437"/>
                  </a:cubicBezTo>
                  <a:cubicBezTo>
                    <a:pt x="1623565" y="2174647"/>
                    <a:pt x="1660542" y="2046493"/>
                    <a:pt x="1724668" y="1936157"/>
                  </a:cubicBezTo>
                  <a:cubicBezTo>
                    <a:pt x="2092850" y="2387922"/>
                    <a:pt x="2643089" y="2685029"/>
                    <a:pt x="3263608" y="2716248"/>
                  </a:cubicBezTo>
                  <a:cubicBezTo>
                    <a:pt x="3250802" y="2661552"/>
                    <a:pt x="3244201" y="2604573"/>
                    <a:pt x="3244201" y="2546005"/>
                  </a:cubicBezTo>
                  <a:cubicBezTo>
                    <a:pt x="3244201" y="2133848"/>
                    <a:pt x="3578583" y="1799466"/>
                    <a:pt x="3990889" y="1799466"/>
                  </a:cubicBezTo>
                  <a:cubicBezTo>
                    <a:pt x="4205654" y="1799466"/>
                    <a:pt x="4399622" y="1890246"/>
                    <a:pt x="4535866" y="2035375"/>
                  </a:cubicBezTo>
                  <a:cubicBezTo>
                    <a:pt x="4705960" y="2001822"/>
                    <a:pt x="4865681" y="1939681"/>
                    <a:pt x="5009966" y="1854162"/>
                  </a:cubicBezTo>
                  <a:cubicBezTo>
                    <a:pt x="4954128" y="2028426"/>
                    <a:pt x="4835802" y="2174647"/>
                    <a:pt x="4681640" y="2267114"/>
                  </a:cubicBezTo>
                  <a:cubicBezTo>
                    <a:pt x="4832675" y="2249047"/>
                    <a:pt x="4976612" y="2208993"/>
                    <a:pt x="5110375" y="2149532"/>
                  </a:cubicBezTo>
                  <a:cubicBezTo>
                    <a:pt x="5010462" y="2299277"/>
                    <a:pt x="4883748" y="2430806"/>
                    <a:pt x="4737974" y="2536178"/>
                  </a:cubicBezTo>
                  <a:close/>
                </a:path>
              </a:pathLst>
            </a:custGeom>
            <a:solidFill>
              <a:schemeClr val="bg1"/>
            </a:solidFill>
            <a:ln w="31750" cap="flat">
              <a:noFill/>
              <a:prstDash val="solid"/>
              <a:miter/>
            </a:ln>
            <a:effectLst/>
          </p:spPr>
          <p:txBody>
            <a:bodyPr rtlCol="0" anchor="ctr"/>
            <a:lstStyle/>
            <a:p>
              <a:endParaRPr lang="en-GB" sz="1800">
                <a:solidFill>
                  <a:schemeClr val="bg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A31D13D6-93B0-443D-A7B0-C731EEFFF726}"/>
                </a:ext>
              </a:extLst>
            </p:cNvPr>
            <p:cNvSpPr txBox="1"/>
            <p:nvPr/>
          </p:nvSpPr>
          <p:spPr>
            <a:xfrm>
              <a:off x="6280841" y="4980878"/>
              <a:ext cx="2229118" cy="276999"/>
            </a:xfrm>
            <a:prstGeom prst="rect">
              <a:avLst/>
            </a:prstGeom>
            <a:noFill/>
          </p:spPr>
          <p:txBody>
            <a:bodyPr wrap="square" rtlCol="0">
              <a:spAutoFit/>
            </a:bodyPr>
            <a:lstStyle/>
            <a:p>
              <a:r>
                <a:rPr lang="en-US" sz="1200">
                  <a:solidFill>
                    <a:schemeClr val="bg1"/>
                  </a:solidFill>
                  <a:latin typeface="Segoe UI" panose="020B0502040204020203" pitchFamily="34" charset="0"/>
                  <a:cs typeface="Segoe UI" panose="020B0502040204020203" pitchFamily="34" charset="0"/>
                </a:rPr>
                <a:t>https://x.com/jcgm1978</a:t>
              </a:r>
              <a:endParaRPr lang="en-GB" sz="1200">
                <a:solidFill>
                  <a:schemeClr val="bg1"/>
                </a:solidFill>
                <a:latin typeface="Segoe UI" panose="020B0502040204020203" pitchFamily="34" charset="0"/>
                <a:cs typeface="Segoe UI" panose="020B0502040204020203" pitchFamily="34" charset="0"/>
              </a:endParaRPr>
            </a:p>
          </p:txBody>
        </p:sp>
      </p:grpSp>
      <p:sp>
        <p:nvSpPr>
          <p:cNvPr id="50" name="TextBox 49">
            <a:extLst>
              <a:ext uri="{FF2B5EF4-FFF2-40B4-BE49-F238E27FC236}">
                <a16:creationId xmlns:a16="http://schemas.microsoft.com/office/drawing/2014/main" id="{03CEF454-9B60-461F-8CD6-73AD6F50D27D}"/>
              </a:ext>
            </a:extLst>
          </p:cNvPr>
          <p:cNvSpPr txBox="1"/>
          <p:nvPr/>
        </p:nvSpPr>
        <p:spPr>
          <a:xfrm>
            <a:off x="5713941" y="3120817"/>
            <a:ext cx="4984002" cy="1659237"/>
          </a:xfrm>
          <a:prstGeom prst="rect">
            <a:avLst/>
          </a:prstGeom>
          <a:noFill/>
        </p:spPr>
        <p:txBody>
          <a:bodyPr wrap="square" rtlCol="0">
            <a:spAutoFit/>
          </a:bodyPr>
          <a:lstStyle/>
          <a:p>
            <a:pPr>
              <a:lnSpc>
                <a:spcPct val="130000"/>
              </a:lnSpc>
            </a:pPr>
            <a:r>
              <a:rPr lang="es-ES" sz="1600" noProof="0">
                <a:solidFill>
                  <a:schemeClr val="bg1"/>
                </a:solidFill>
                <a:latin typeface="Segoe UI" panose="020B0502040204020203" pitchFamily="34" charset="0"/>
                <a:cs typeface="Segoe UI" panose="020B0502040204020203" pitchFamily="34" charset="0"/>
              </a:rPr>
              <a:t>Microsoft 365 SME &amp; </a:t>
            </a:r>
            <a:r>
              <a:rPr lang="es-ES" sz="1600" noProof="0" err="1">
                <a:solidFill>
                  <a:schemeClr val="bg1"/>
                </a:solidFill>
                <a:latin typeface="Segoe UI" panose="020B0502040204020203" pitchFamily="34" charset="0"/>
                <a:cs typeface="Segoe UI" panose="020B0502040204020203" pitchFamily="34" charset="0"/>
              </a:rPr>
              <a:t>Delivery</a:t>
            </a:r>
            <a:r>
              <a:rPr lang="es-ES" sz="1600" noProof="0">
                <a:solidFill>
                  <a:schemeClr val="bg1"/>
                </a:solidFill>
                <a:latin typeface="Segoe UI" panose="020B0502040204020203" pitchFamily="34" charset="0"/>
                <a:cs typeface="Segoe UI" panose="020B0502040204020203" pitchFamily="34" charset="0"/>
              </a:rPr>
              <a:t> Manager en @Ricoh España con + de 22 Años de experiencia trabajando con plataformas y productos de Microsoft</a:t>
            </a:r>
          </a:p>
          <a:p>
            <a:pPr>
              <a:lnSpc>
                <a:spcPct val="130000"/>
              </a:lnSpc>
            </a:pPr>
            <a:r>
              <a:rPr lang="es-ES" sz="1600" noProof="0">
                <a:solidFill>
                  <a:schemeClr val="bg1"/>
                </a:solidFill>
                <a:latin typeface="Segoe UI" panose="020B0502040204020203" pitchFamily="34" charset="0"/>
                <a:cs typeface="Segoe UI" panose="020B0502040204020203" pitchFamily="34" charset="0"/>
              </a:rPr>
              <a:t>Microsoft 365 &amp; Microsoft 365 </a:t>
            </a:r>
            <a:r>
              <a:rPr lang="es-ES" sz="1600" noProof="0" err="1">
                <a:solidFill>
                  <a:schemeClr val="bg1"/>
                </a:solidFill>
                <a:latin typeface="Segoe UI" panose="020B0502040204020203" pitchFamily="34" charset="0"/>
                <a:cs typeface="Segoe UI" panose="020B0502040204020203" pitchFamily="34" charset="0"/>
              </a:rPr>
              <a:t>Copilot</a:t>
            </a:r>
            <a:r>
              <a:rPr lang="es-ES" sz="1600" noProof="0">
                <a:solidFill>
                  <a:schemeClr val="bg1"/>
                </a:solidFill>
                <a:latin typeface="Segoe UI" panose="020B0502040204020203" pitchFamily="34" charset="0"/>
                <a:cs typeface="Segoe UI" panose="020B0502040204020203" pitchFamily="34" charset="0"/>
              </a:rPr>
              <a:t> MVP | Creador de Contenidos en youtube.com/@jcgonzalezmartin</a:t>
            </a:r>
          </a:p>
        </p:txBody>
      </p:sp>
      <p:sp>
        <p:nvSpPr>
          <p:cNvPr id="51" name="Freeform: Shape 50">
            <a:extLst>
              <a:ext uri="{FF2B5EF4-FFF2-40B4-BE49-F238E27FC236}">
                <a16:creationId xmlns:a16="http://schemas.microsoft.com/office/drawing/2014/main" id="{07681F4F-4226-4D87-9983-3124EAA2BD30}"/>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B105B0E5-EBC5-45D6-9534-62B97B9F5C38}"/>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pic>
        <p:nvPicPr>
          <p:cNvPr id="3" name="Picture Placeholder 2" descr="A person smiling for a picture&#10;&#10;AI-generated content may be incorrect.">
            <a:extLst>
              <a:ext uri="{FF2B5EF4-FFF2-40B4-BE49-F238E27FC236}">
                <a16:creationId xmlns:a16="http://schemas.microsoft.com/office/drawing/2014/main" id="{B35531EF-962A-734B-AC2C-3912E724E352}"/>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l="6042" r="6042"/>
          <a:stretch>
            <a:fillRect/>
          </a:stretch>
        </p:blipFill>
        <p:spPr/>
      </p:pic>
      <p:grpSp>
        <p:nvGrpSpPr>
          <p:cNvPr id="13" name="Grupo 12">
            <a:extLst>
              <a:ext uri="{FF2B5EF4-FFF2-40B4-BE49-F238E27FC236}">
                <a16:creationId xmlns:a16="http://schemas.microsoft.com/office/drawing/2014/main" id="{E3CA36B6-1142-B4E1-352E-97132630991A}"/>
              </a:ext>
            </a:extLst>
          </p:cNvPr>
          <p:cNvGrpSpPr/>
          <p:nvPr/>
        </p:nvGrpSpPr>
        <p:grpSpPr>
          <a:xfrm>
            <a:off x="5853650" y="5025995"/>
            <a:ext cx="3156999" cy="279102"/>
            <a:chOff x="5853650" y="4765645"/>
            <a:chExt cx="3156999" cy="279102"/>
          </a:xfrm>
        </p:grpSpPr>
        <p:sp>
          <p:nvSpPr>
            <p:cNvPr id="43" name="TextBox 42">
              <a:extLst>
                <a:ext uri="{FF2B5EF4-FFF2-40B4-BE49-F238E27FC236}">
                  <a16:creationId xmlns:a16="http://schemas.microsoft.com/office/drawing/2014/main" id="{A05D4458-F817-4A89-9855-0D5D475C8FAB}"/>
                </a:ext>
              </a:extLst>
            </p:cNvPr>
            <p:cNvSpPr txBox="1"/>
            <p:nvPr/>
          </p:nvSpPr>
          <p:spPr>
            <a:xfrm>
              <a:off x="6047932" y="4767748"/>
              <a:ext cx="2962717" cy="276999"/>
            </a:xfrm>
            <a:prstGeom prst="rect">
              <a:avLst/>
            </a:prstGeom>
            <a:noFill/>
          </p:spPr>
          <p:txBody>
            <a:bodyPr wrap="square" rtlCol="0">
              <a:spAutoFit/>
            </a:bodyPr>
            <a:lstStyle/>
            <a:p>
              <a:r>
                <a:rPr lang="en-US" sz="1200">
                  <a:solidFill>
                    <a:schemeClr val="bg1"/>
                  </a:solidFill>
                  <a:latin typeface="Segoe UI" panose="020B0502040204020203" pitchFamily="34" charset="0"/>
                  <a:cs typeface="Segoe UI" panose="020B0502040204020203" pitchFamily="34" charset="0"/>
                </a:rPr>
                <a:t>  https://www.linkedin.com/in/juagon/</a:t>
              </a:r>
              <a:endParaRPr lang="en-GB" sz="1200">
                <a:solidFill>
                  <a:schemeClr val="bg1"/>
                </a:solidFill>
                <a:latin typeface="Segoe UI" panose="020B0502040204020203" pitchFamily="34" charset="0"/>
                <a:cs typeface="Segoe UI" panose="020B0502040204020203" pitchFamily="34" charset="0"/>
              </a:endParaRPr>
            </a:p>
          </p:txBody>
        </p:sp>
        <p:pic>
          <p:nvPicPr>
            <p:cNvPr id="1028" name="Picture 4" descr="linkedin-icon-png-transparent-background-8 - Ytpr.co.ke">
              <a:extLst>
                <a:ext uri="{FF2B5EF4-FFF2-40B4-BE49-F238E27FC236}">
                  <a16:creationId xmlns:a16="http://schemas.microsoft.com/office/drawing/2014/main" id="{BE9074F4-DA8C-A4EC-214A-10A028393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3650" y="4765645"/>
              <a:ext cx="265471" cy="26547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Group 6">
            <a:extLst>
              <a:ext uri="{FF2B5EF4-FFF2-40B4-BE49-F238E27FC236}">
                <a16:creationId xmlns:a16="http://schemas.microsoft.com/office/drawing/2014/main" id="{5FDE50DF-7CF5-C8F4-7ADC-629EC5ACF029}"/>
              </a:ext>
            </a:extLst>
          </p:cNvPr>
          <p:cNvGrpSpPr/>
          <p:nvPr/>
        </p:nvGrpSpPr>
        <p:grpSpPr>
          <a:xfrm>
            <a:off x="5834981" y="5517892"/>
            <a:ext cx="3263135" cy="276999"/>
            <a:chOff x="5834981" y="5517892"/>
            <a:chExt cx="3263135" cy="276999"/>
          </a:xfrm>
        </p:grpSpPr>
        <p:pic>
          <p:nvPicPr>
            <p:cNvPr id="1026" name="Picture 2" descr="cdn3.iconfinder.com/data/icons/social-network-30/5...">
              <a:extLst>
                <a:ext uri="{FF2B5EF4-FFF2-40B4-BE49-F238E27FC236}">
                  <a16:creationId xmlns:a16="http://schemas.microsoft.com/office/drawing/2014/main" id="{98536BD8-FBEE-929E-4671-80B504D0F8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1811" b="12077"/>
            <a:stretch>
              <a:fillRect/>
            </a:stretch>
          </p:blipFill>
          <p:spPr bwMode="auto">
            <a:xfrm>
              <a:off x="5834981" y="5530243"/>
              <a:ext cx="284140" cy="2162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ABB6581-7E7D-11A5-20E4-012D10CC3DA8}"/>
                </a:ext>
              </a:extLst>
            </p:cNvPr>
            <p:cNvSpPr txBox="1"/>
            <p:nvPr/>
          </p:nvSpPr>
          <p:spPr>
            <a:xfrm>
              <a:off x="6047932" y="5517892"/>
              <a:ext cx="3050184" cy="276999"/>
            </a:xfrm>
            <a:prstGeom prst="rect">
              <a:avLst/>
            </a:prstGeom>
            <a:noFill/>
          </p:spPr>
          <p:txBody>
            <a:bodyPr wrap="square" rtlCol="0">
              <a:spAutoFit/>
            </a:bodyPr>
            <a:lstStyle/>
            <a:p>
              <a:r>
                <a:rPr lang="en-US" sz="1200">
                  <a:solidFill>
                    <a:schemeClr val="bg1"/>
                  </a:solidFill>
                  <a:latin typeface="Segoe UI" panose="020B0502040204020203" pitchFamily="34" charset="0"/>
                  <a:cs typeface="Segoe UI" panose="020B0502040204020203" pitchFamily="34" charset="0"/>
                </a:rPr>
                <a:t>  https://youtube.com/@jcgonzalezmartin</a:t>
              </a:r>
              <a:endParaRPr lang="en-GB" sz="1200">
                <a:solidFill>
                  <a:schemeClr val="bg1"/>
                </a:solidFill>
                <a:latin typeface="Segoe UI" panose="020B0502040204020203" pitchFamily="34" charset="0"/>
                <a:cs typeface="Segoe UI" panose="020B0502040204020203" pitchFamily="34" charset="0"/>
              </a:endParaRPr>
            </a:p>
          </p:txBody>
        </p:sp>
      </p:grpSp>
      <p:pic>
        <p:nvPicPr>
          <p:cNvPr id="5" name="Imagen 11">
            <a:extLst>
              <a:ext uri="{FF2B5EF4-FFF2-40B4-BE49-F238E27FC236}">
                <a16:creationId xmlns:a16="http://schemas.microsoft.com/office/drawing/2014/main" id="{8D3F1DFA-E12F-8EB7-813A-BEA8FF8AF43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64289" y="5656880"/>
            <a:ext cx="1023335" cy="1023335"/>
          </a:xfrm>
          <a:prstGeom prst="rect">
            <a:avLst/>
          </a:prstGeom>
        </p:spPr>
      </p:pic>
      <p:pic>
        <p:nvPicPr>
          <p:cNvPr id="6" name="Imagen 12">
            <a:extLst>
              <a:ext uri="{FF2B5EF4-FFF2-40B4-BE49-F238E27FC236}">
                <a16:creationId xmlns:a16="http://schemas.microsoft.com/office/drawing/2014/main" id="{ECB3E225-B36F-BA1A-E65C-2C91E9B4231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08894" y="5488031"/>
            <a:ext cx="813845" cy="1288589"/>
          </a:xfrm>
          <a:prstGeom prst="rect">
            <a:avLst/>
          </a:prstGeom>
        </p:spPr>
      </p:pic>
      <p:pic>
        <p:nvPicPr>
          <p:cNvPr id="8" name="Picture 28" descr="A black and white logo&#10;&#10;Description automatically generated">
            <a:extLst>
              <a:ext uri="{FF2B5EF4-FFF2-40B4-BE49-F238E27FC236}">
                <a16:creationId xmlns:a16="http://schemas.microsoft.com/office/drawing/2014/main" id="{699529C8-2910-39CF-F8BB-BF3D2F94ECF8}"/>
              </a:ext>
            </a:extLst>
          </p:cNvPr>
          <p:cNvPicPr>
            <a:picLocks noChangeAspect="1"/>
          </p:cNvPicPr>
          <p:nvPr/>
        </p:nvPicPr>
        <p:blipFill>
          <a:blip r:embed="rId7"/>
          <a:stretch>
            <a:fillRect/>
          </a:stretch>
        </p:blipFill>
        <p:spPr>
          <a:xfrm>
            <a:off x="4229174" y="5926997"/>
            <a:ext cx="1252385" cy="483099"/>
          </a:xfrm>
          <a:prstGeom prst="rect">
            <a:avLst/>
          </a:prstGeom>
        </p:spPr>
      </p:pic>
    </p:spTree>
    <p:extLst>
      <p:ext uri="{BB962C8B-B14F-4D97-AF65-F5344CB8AC3E}">
        <p14:creationId xmlns:p14="http://schemas.microsoft.com/office/powerpoint/2010/main" val="323983526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750"/>
                                        <p:tgtEl>
                                          <p:spTgt spid="50"/>
                                        </p:tgtEl>
                                      </p:cBhvr>
                                    </p:animEffect>
                                  </p:childTnLst>
                                </p:cTn>
                              </p:par>
                              <p:par>
                                <p:cTn id="8" presetID="2" presetClass="entr" presetSubtype="4" decel="10000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1000" fill="hold"/>
                                        <p:tgtEl>
                                          <p:spTgt spid="18"/>
                                        </p:tgtEl>
                                        <p:attrNameLst>
                                          <p:attrName>ppt_x</p:attrName>
                                        </p:attrNameLst>
                                      </p:cBhvr>
                                      <p:tavLst>
                                        <p:tav tm="0">
                                          <p:val>
                                            <p:strVal val="#ppt_x"/>
                                          </p:val>
                                        </p:tav>
                                        <p:tav tm="100000">
                                          <p:val>
                                            <p:strVal val="#ppt_x"/>
                                          </p:val>
                                        </p:tav>
                                      </p:tavLst>
                                    </p:anim>
                                    <p:anim calcmode="lin" valueType="num">
                                      <p:cBhvr additive="base">
                                        <p:cTn id="11" dur="1000" fill="hold"/>
                                        <p:tgtEl>
                                          <p:spTgt spid="18"/>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26" presetClass="emph" presetSubtype="0" fill="hold" grpId="1" nodeType="withEffect">
                                  <p:stCondLst>
                                    <p:cond delay="1250"/>
                                  </p:stCondLst>
                                  <p:childTnLst>
                                    <p:animEffect transition="out" filter="fade">
                                      <p:cBhvr>
                                        <p:cTn id="22" dur="500" tmFilter="0, 0; .2, .5; .8, .5; 1, 0"/>
                                        <p:tgtEl>
                                          <p:spTgt spid="51"/>
                                        </p:tgtEl>
                                      </p:cBhvr>
                                    </p:animEffect>
                                    <p:animScale>
                                      <p:cBhvr>
                                        <p:cTn id="23" dur="250" autoRev="1" fill="hold"/>
                                        <p:tgtEl>
                                          <p:spTgt spid="51"/>
                                        </p:tgtEl>
                                      </p:cBhvr>
                                      <p:by x="105000" y="105000"/>
                                    </p:animScale>
                                  </p:childTnLst>
                                </p:cTn>
                              </p:par>
                              <p:par>
                                <p:cTn id="24" presetID="10" presetClass="entr" presetSubtype="0" fill="hold" grpId="0" nodeType="withEffect">
                                  <p:stCondLst>
                                    <p:cond delay="150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par>
                                <p:cTn id="27" presetID="26" presetClass="emph" presetSubtype="0" fill="hold" grpId="1" nodeType="withEffect">
                                  <p:stCondLst>
                                    <p:cond delay="1500"/>
                                  </p:stCondLst>
                                  <p:childTnLst>
                                    <p:animEffect transition="out" filter="fade">
                                      <p:cBhvr>
                                        <p:cTn id="28" dur="500" tmFilter="0, 0; .2, .5; .8, .5; 1, 0"/>
                                        <p:tgtEl>
                                          <p:spTgt spid="52"/>
                                        </p:tgtEl>
                                      </p:cBhvr>
                                    </p:animEffect>
                                    <p:animScale>
                                      <p:cBhvr>
                                        <p:cTn id="29" dur="250" autoRev="1" fill="hold"/>
                                        <p:tgtEl>
                                          <p:spTgt spid="52"/>
                                        </p:tgtEl>
                                      </p:cBhvr>
                                      <p:by x="105000" y="105000"/>
                                    </p:animScale>
                                  </p:childTnLst>
                                </p:cTn>
                              </p:par>
                              <p:par>
                                <p:cTn id="30" presetID="10" presetClass="entr" presetSubtype="0" fill="hold" grpId="0" nodeType="withEffect">
                                  <p:stCondLst>
                                    <p:cond delay="10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26" presetClass="emph" presetSubtype="0" fill="hold" grpId="1" nodeType="withEffect">
                                  <p:stCondLst>
                                    <p:cond delay="1000"/>
                                  </p:stCondLst>
                                  <p:childTnLst>
                                    <p:animEffect transition="out" filter="fade">
                                      <p:cBhvr>
                                        <p:cTn id="34" dur="500" tmFilter="0, 0; .2, .5; .8, .5; 1, 0"/>
                                        <p:tgtEl>
                                          <p:spTgt spid="31"/>
                                        </p:tgtEl>
                                      </p:cBhvr>
                                    </p:animEffect>
                                    <p:animScale>
                                      <p:cBhvr>
                                        <p:cTn id="35" dur="250" autoRev="1" fill="hold"/>
                                        <p:tgtEl>
                                          <p:spTgt spid="31"/>
                                        </p:tgtEl>
                                      </p:cBhvr>
                                      <p:by x="105000" y="105000"/>
                                    </p:animScale>
                                  </p:childTnLst>
                                </p:cTn>
                              </p:par>
                              <p:par>
                                <p:cTn id="36" presetID="10" presetClass="entr" presetSubtype="0" fill="hold" grpId="0" nodeType="withEffect">
                                  <p:stCondLst>
                                    <p:cond delay="10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26" presetClass="emph" presetSubtype="0" fill="hold" grpId="1" nodeType="withEffect">
                                  <p:stCondLst>
                                    <p:cond delay="1000"/>
                                  </p:stCondLst>
                                  <p:childTnLst>
                                    <p:animEffect transition="out" filter="fade">
                                      <p:cBhvr>
                                        <p:cTn id="40" dur="500" tmFilter="0, 0; .2, .5; .8, .5; 1, 0"/>
                                        <p:tgtEl>
                                          <p:spTgt spid="32"/>
                                        </p:tgtEl>
                                      </p:cBhvr>
                                    </p:animEffect>
                                    <p:animScale>
                                      <p:cBhvr>
                                        <p:cTn id="41" dur="250" autoRev="1" fill="hold"/>
                                        <p:tgtEl>
                                          <p:spTgt spid="32"/>
                                        </p:tgtEl>
                                      </p:cBhvr>
                                      <p:by x="105000" y="105000"/>
                                    </p:animScale>
                                  </p:childTnLst>
                                </p:cTn>
                              </p:par>
                              <p:par>
                                <p:cTn id="42" presetID="10" presetClass="entr" presetSubtype="0" fill="hold" grpId="0" nodeType="withEffect">
                                  <p:stCondLst>
                                    <p:cond delay="5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par>
                                <p:cTn id="45" presetID="26" presetClass="emph" presetSubtype="0" fill="hold" grpId="1" nodeType="withEffect">
                                  <p:stCondLst>
                                    <p:cond delay="500"/>
                                  </p:stCondLst>
                                  <p:childTnLst>
                                    <p:animEffect transition="out" filter="fade">
                                      <p:cBhvr>
                                        <p:cTn id="46" dur="500" tmFilter="0, 0; .2, .5; .8, .5; 1, 0"/>
                                        <p:tgtEl>
                                          <p:spTgt spid="34"/>
                                        </p:tgtEl>
                                      </p:cBhvr>
                                    </p:animEffect>
                                    <p:animScale>
                                      <p:cBhvr>
                                        <p:cTn id="47" dur="250" autoRev="1" fill="hold"/>
                                        <p:tgtEl>
                                          <p:spTgt spid="34"/>
                                        </p:tgtEl>
                                      </p:cBhvr>
                                      <p:by x="105000" y="105000"/>
                                    </p:animScale>
                                  </p:childTnLst>
                                </p:cTn>
                              </p:par>
                              <p:par>
                                <p:cTn id="48" presetID="10" presetClass="entr" presetSubtype="0" fill="hold" grpId="0" nodeType="withEffect">
                                  <p:stCondLst>
                                    <p:cond delay="50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23" presetClass="entr" presetSubtype="272" fill="hold" grpId="1" nodeType="withEffect">
                                  <p:stCondLst>
                                    <p:cond delay="50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00" fill="hold"/>
                                        <p:tgtEl>
                                          <p:spTgt spid="33"/>
                                        </p:tgtEl>
                                        <p:attrNameLst>
                                          <p:attrName>ppt_w</p:attrName>
                                        </p:attrNameLst>
                                      </p:cBhvr>
                                      <p:tavLst>
                                        <p:tav tm="0">
                                          <p:val>
                                            <p:strVal val="2/3*#ppt_w"/>
                                          </p:val>
                                        </p:tav>
                                        <p:tav tm="100000">
                                          <p:val>
                                            <p:strVal val="#ppt_w"/>
                                          </p:val>
                                        </p:tav>
                                      </p:tavLst>
                                    </p:anim>
                                    <p:anim calcmode="lin" valueType="num">
                                      <p:cBhvr>
                                        <p:cTn id="54" dur="500" fill="hold"/>
                                        <p:tgtEl>
                                          <p:spTgt spid="33"/>
                                        </p:tgtEl>
                                        <p:attrNameLst>
                                          <p:attrName>ppt_h</p:attrName>
                                        </p:attrNameLst>
                                      </p:cBhvr>
                                      <p:tavLst>
                                        <p:tav tm="0">
                                          <p:val>
                                            <p:strVal val="2/3*#ppt_h"/>
                                          </p:val>
                                        </p:tav>
                                        <p:tav tm="100000">
                                          <p:val>
                                            <p:strVal val="#ppt_h"/>
                                          </p:val>
                                        </p:tav>
                                      </p:tavLst>
                                    </p:anim>
                                  </p:childTnLst>
                                </p:cTn>
                              </p:par>
                              <p:par>
                                <p:cTn id="55" presetID="10" presetClass="entr" presetSubtype="0" fill="hold" nodeType="withEffect">
                                  <p:stCondLst>
                                    <p:cond delay="15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500"/>
                                        <p:tgtEl>
                                          <p:spTgt spid="30"/>
                                        </p:tgtEl>
                                      </p:cBhvr>
                                    </p:animEffect>
                                  </p:childTnLst>
                                </p:cTn>
                              </p:par>
                              <p:par>
                                <p:cTn id="58" presetID="26" presetClass="emph" presetSubtype="0" fill="hold" nodeType="withEffect">
                                  <p:stCondLst>
                                    <p:cond delay="1500"/>
                                  </p:stCondLst>
                                  <p:childTnLst>
                                    <p:animEffect transition="out" filter="fade">
                                      <p:cBhvr>
                                        <p:cTn id="59" dur="500" tmFilter="0, 0; .2, .5; .8, .5; 1, 0"/>
                                        <p:tgtEl>
                                          <p:spTgt spid="30"/>
                                        </p:tgtEl>
                                      </p:cBhvr>
                                    </p:animEffect>
                                    <p:animScale>
                                      <p:cBhvr>
                                        <p:cTn id="60" dur="250" autoRev="1" fill="hold"/>
                                        <p:tgtEl>
                                          <p:spTgt spid="30"/>
                                        </p:tgtEl>
                                      </p:cBhvr>
                                      <p:by x="105000" y="105000"/>
                                    </p:animScale>
                                  </p:childTnLst>
                                </p:cTn>
                              </p:par>
                              <p:par>
                                <p:cTn id="61" presetID="10" presetClass="entr" presetSubtype="0" fill="hold" nodeType="withEffect">
                                  <p:stCondLst>
                                    <p:cond delay="150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par>
                                <p:cTn id="64" presetID="26" presetClass="emph" presetSubtype="0" fill="hold" nodeType="withEffect">
                                  <p:stCondLst>
                                    <p:cond delay="1500"/>
                                  </p:stCondLst>
                                  <p:childTnLst>
                                    <p:animEffect transition="out" filter="fade">
                                      <p:cBhvr>
                                        <p:cTn id="65" dur="500" tmFilter="0, 0; .2, .5; .8, .5; 1, 0"/>
                                        <p:tgtEl>
                                          <p:spTgt spid="13"/>
                                        </p:tgtEl>
                                      </p:cBhvr>
                                    </p:animEffect>
                                    <p:animScale>
                                      <p:cBhvr>
                                        <p:cTn id="66" dur="250" autoRev="1" fill="hold"/>
                                        <p:tgtEl>
                                          <p:spTgt spid="13"/>
                                        </p:tgtEl>
                                      </p:cBhvr>
                                      <p:by x="105000" y="105000"/>
                                    </p:animScale>
                                  </p:childTnLst>
                                </p:cTn>
                              </p:par>
                              <p:par>
                                <p:cTn id="67" presetID="10" presetClass="entr" presetSubtype="0" fill="hold" nodeType="withEffect">
                                  <p:stCondLst>
                                    <p:cond delay="150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500"/>
                                        <p:tgtEl>
                                          <p:spTgt spid="7"/>
                                        </p:tgtEl>
                                      </p:cBhvr>
                                    </p:animEffect>
                                  </p:childTnLst>
                                </p:cTn>
                              </p:par>
                            </p:childTnLst>
                          </p:cTn>
                        </p:par>
                        <p:par>
                          <p:cTn id="70" fill="hold">
                            <p:stCondLst>
                              <p:cond delay="2000"/>
                            </p:stCondLst>
                            <p:childTnLst>
                              <p:par>
                                <p:cTn id="71" presetID="10" presetClass="entr" presetSubtype="0" fill="hold" nodeType="after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fade">
                                      <p:cBhvr>
                                        <p:cTn id="73" dur="500"/>
                                        <p:tgtEl>
                                          <p:spTgt spid="6"/>
                                        </p:tgtEl>
                                      </p:cBhvr>
                                    </p:animEffect>
                                  </p:childTnLst>
                                </p:cTn>
                              </p:par>
                              <p:par>
                                <p:cTn id="74" presetID="10" presetClass="entr" presetSubtype="0" fill="hold" nodeType="with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fade">
                                      <p:cBhvr>
                                        <p:cTn id="76" dur="500"/>
                                        <p:tgtEl>
                                          <p:spTgt spid="5"/>
                                        </p:tgtEl>
                                      </p:cBhvr>
                                    </p:animEffect>
                                  </p:childTnLst>
                                </p:cTn>
                              </p:par>
                              <p:par>
                                <p:cTn id="77" presetID="10" presetClass="entr" presetSubtype="0" fill="hold" nodeType="withEffect">
                                  <p:stCondLst>
                                    <p:cond delay="0"/>
                                  </p:stCondLst>
                                  <p:childTnLst>
                                    <p:set>
                                      <p:cBhvr>
                                        <p:cTn id="78" dur="1" fill="hold">
                                          <p:stCondLst>
                                            <p:cond delay="0"/>
                                          </p:stCondLst>
                                        </p:cTn>
                                        <p:tgtEl>
                                          <p:spTgt spid="8"/>
                                        </p:tgtEl>
                                        <p:attrNameLst>
                                          <p:attrName>style.visibility</p:attrName>
                                        </p:attrNameLst>
                                      </p:cBhvr>
                                      <p:to>
                                        <p:strVal val="visible"/>
                                      </p:to>
                                    </p:set>
                                    <p:animEffect transition="in" filter="fade">
                                      <p:cBhvr>
                                        <p:cTn id="7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8" grpId="0" animBg="1"/>
      <p:bldP spid="31" grpId="0" animBg="1"/>
      <p:bldP spid="31" grpId="1" animBg="1"/>
      <p:bldP spid="32" grpId="0" animBg="1"/>
      <p:bldP spid="32" grpId="1" animBg="1"/>
      <p:bldP spid="33" grpId="0"/>
      <p:bldP spid="33" grpId="1"/>
      <p:bldP spid="34" grpId="0" animBg="1"/>
      <p:bldP spid="34" grpId="1" animBg="1"/>
      <p:bldP spid="50" grpId="0"/>
      <p:bldP spid="51" grpId="0" animBg="1"/>
      <p:bldP spid="51" grpId="1" animBg="1"/>
      <p:bldP spid="52" grpId="0" animBg="1"/>
      <p:bldP spid="5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FAE86-DF24-947B-75AA-A18419672CD6}"/>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id="{670F5EB4-A682-4375-272D-941D87EFF0EB}"/>
              </a:ext>
            </a:extLst>
          </p:cNvPr>
          <p:cNvSpPr/>
          <p:nvPr/>
        </p:nvSpPr>
        <p:spPr>
          <a:xfrm>
            <a:off x="-2279" y="455"/>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FC3C8E0D-3510-00B2-1FFE-4AF902FB4A14}"/>
              </a:ext>
            </a:extLst>
          </p:cNvPr>
          <p:cNvSpPr txBox="1"/>
          <p:nvPr/>
        </p:nvSpPr>
        <p:spPr>
          <a:xfrm rot="10800000" flipV="1">
            <a:off x="5625360" y="6336040"/>
            <a:ext cx="941283" cy="261610"/>
          </a:xfrm>
          <a:prstGeom prst="rect">
            <a:avLst/>
          </a:prstGeom>
          <a:noFill/>
        </p:spPr>
        <p:txBody>
          <a:bodyPr wrap="square" rtlCol="0">
            <a:spAutoFit/>
          </a:bodyPr>
          <a:lstStyle/>
          <a:p>
            <a:pPr algn="ctr"/>
            <a:fld id="{260E2A6B-A809-4840-BF14-8648BC0BDF87}" type="slidenum">
              <a:rPr lang="id-ID" sz="1100" i="0" smtClean="0">
                <a:solidFill>
                  <a:schemeClr val="bg1"/>
                </a:solidFill>
                <a:latin typeface="Segoe UI" panose="020B0502040204020203" pitchFamily="34" charset="0"/>
                <a:ea typeface="Roboto Condensed" panose="02000000000000000000" pitchFamily="2" charset="0"/>
                <a:cs typeface="Segoe UI" panose="020B0502040204020203" pitchFamily="34" charset="0"/>
              </a:rPr>
              <a:pPr algn="ctr"/>
              <a:t>5</a:t>
            </a:fld>
            <a:endParaRPr lang="id-ID" sz="4400" i="0">
              <a:solidFill>
                <a:schemeClr val="bg1"/>
              </a:solidFill>
              <a:latin typeface="Segoe UI" panose="020B0502040204020203" pitchFamily="34" charset="0"/>
              <a:ea typeface="Roboto Condensed" panose="02000000000000000000" pitchFamily="2" charset="0"/>
              <a:cs typeface="Segoe UI" panose="020B0502040204020203" pitchFamily="34" charset="0"/>
            </a:endParaRPr>
          </a:p>
        </p:txBody>
      </p:sp>
      <p:sp>
        <p:nvSpPr>
          <p:cNvPr id="28" name="Freeform: Shape 27">
            <a:extLst>
              <a:ext uri="{FF2B5EF4-FFF2-40B4-BE49-F238E27FC236}">
                <a16:creationId xmlns:a16="http://schemas.microsoft.com/office/drawing/2014/main" id="{48397E58-6EEF-D0F8-0FDA-51ECBDD975AD}"/>
              </a:ext>
            </a:extLst>
          </p:cNvPr>
          <p:cNvSpPr/>
          <p:nvPr/>
        </p:nvSpPr>
        <p:spPr>
          <a:xfrm>
            <a:off x="11471504" y="6083574"/>
            <a:ext cx="720496" cy="774426"/>
          </a:xfrm>
          <a:custGeom>
            <a:avLst/>
            <a:gdLst>
              <a:gd name="connsiteX0" fmla="*/ 720496 w 720496"/>
              <a:gd name="connsiteY0" fmla="*/ 0 h 774426"/>
              <a:gd name="connsiteX1" fmla="*/ 720496 w 720496"/>
              <a:gd name="connsiteY1" fmla="*/ 774426 h 774426"/>
              <a:gd name="connsiteX2" fmla="*/ 1095 w 720496"/>
              <a:gd name="connsiteY2" fmla="*/ 774426 h 774426"/>
              <a:gd name="connsiteX3" fmla="*/ 2 w 720496"/>
              <a:gd name="connsiteY3" fmla="*/ 766534 h 774426"/>
              <a:gd name="connsiteX4" fmla="*/ 36630 w 720496"/>
              <a:gd name="connsiteY4" fmla="*/ 666469 h 774426"/>
              <a:gd name="connsiteX5" fmla="*/ 359988 w 720496"/>
              <a:gd name="connsiteY5" fmla="*/ 537877 h 774426"/>
              <a:gd name="connsiteX6" fmla="*/ 586799 w 720496"/>
              <a:gd name="connsiteY6" fmla="*/ 62436 h 774426"/>
              <a:gd name="connsiteX7" fmla="*/ 699797 w 720496"/>
              <a:gd name="connsiteY7" fmla="*/ 1402 h 774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496" h="774426">
                <a:moveTo>
                  <a:pt x="720496" y="0"/>
                </a:moveTo>
                <a:lnTo>
                  <a:pt x="720496" y="774426"/>
                </a:lnTo>
                <a:lnTo>
                  <a:pt x="1095" y="774426"/>
                </a:lnTo>
                <a:lnTo>
                  <a:pt x="2" y="766534"/>
                </a:lnTo>
                <a:cubicBezTo>
                  <a:pt x="-122" y="732835"/>
                  <a:pt x="9938" y="699389"/>
                  <a:pt x="36630" y="666469"/>
                </a:cubicBezTo>
                <a:cubicBezTo>
                  <a:pt x="111242" y="574709"/>
                  <a:pt x="262465" y="603724"/>
                  <a:pt x="359988" y="537877"/>
                </a:cubicBezTo>
                <a:cubicBezTo>
                  <a:pt x="509339" y="438815"/>
                  <a:pt x="461054" y="189724"/>
                  <a:pt x="586799" y="62436"/>
                </a:cubicBezTo>
                <a:cubicBezTo>
                  <a:pt x="617165" y="31251"/>
                  <a:pt x="657251" y="10390"/>
                  <a:pt x="699797" y="14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latin typeface="Segoe UI" panose="020B0502040204020203" pitchFamily="34" charset="0"/>
              <a:cs typeface="Segoe UI" panose="020B0502040204020203" pitchFamily="34" charset="0"/>
            </a:endParaRPr>
          </a:p>
        </p:txBody>
      </p:sp>
      <p:sp>
        <p:nvSpPr>
          <p:cNvPr id="31" name="Freeform: Shape 30">
            <a:extLst>
              <a:ext uri="{FF2B5EF4-FFF2-40B4-BE49-F238E27FC236}">
                <a16:creationId xmlns:a16="http://schemas.microsoft.com/office/drawing/2014/main" id="{D42CB0D2-3C00-5450-C085-C198E5B875C0}"/>
              </a:ext>
            </a:extLst>
          </p:cNvPr>
          <p:cNvSpPr/>
          <p:nvPr/>
        </p:nvSpPr>
        <p:spPr>
          <a:xfrm>
            <a:off x="1541386" y="901562"/>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bg1"/>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2" name="Freeform: Shape 31">
            <a:extLst>
              <a:ext uri="{FF2B5EF4-FFF2-40B4-BE49-F238E27FC236}">
                <a16:creationId xmlns:a16="http://schemas.microsoft.com/office/drawing/2014/main" id="{426CABF5-D38F-E13D-72B1-D8A7B68464A6}"/>
              </a:ext>
            </a:extLst>
          </p:cNvPr>
          <p:cNvSpPr/>
          <p:nvPr/>
        </p:nvSpPr>
        <p:spPr>
          <a:xfrm rot="17892069">
            <a:off x="4361021" y="4687017"/>
            <a:ext cx="649965" cy="688199"/>
          </a:xfrm>
          <a:custGeom>
            <a:avLst/>
            <a:gdLst>
              <a:gd name="connsiteX0" fmla="*/ 789532 w 809625"/>
              <a:gd name="connsiteY0" fmla="*/ 631363 h 857250"/>
              <a:gd name="connsiteX1" fmla="*/ 777149 w 809625"/>
              <a:gd name="connsiteY1" fmla="*/ 807576 h 857250"/>
              <a:gd name="connsiteX2" fmla="*/ 608557 w 809625"/>
              <a:gd name="connsiteY2" fmla="*/ 859011 h 857250"/>
              <a:gd name="connsiteX3" fmla="*/ 411389 w 809625"/>
              <a:gd name="connsiteY3" fmla="*/ 750426 h 857250"/>
              <a:gd name="connsiteX4" fmla="*/ 198029 w 809625"/>
              <a:gd name="connsiteY4" fmla="*/ 785668 h 857250"/>
              <a:gd name="connsiteX5" fmla="*/ 4672 w 809625"/>
              <a:gd name="connsiteY5" fmla="*/ 558973 h 857250"/>
              <a:gd name="connsiteX6" fmla="*/ 257084 w 809625"/>
              <a:gd name="connsiteY6" fmla="*/ 47480 h 857250"/>
              <a:gd name="connsiteX7" fmla="*/ 543787 w 809625"/>
              <a:gd name="connsiteY7" fmla="*/ 237980 h 857250"/>
              <a:gd name="connsiteX8" fmla="*/ 789532 w 809625"/>
              <a:gd name="connsiteY8" fmla="*/ 631363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625" h="857250">
                <a:moveTo>
                  <a:pt x="789532" y="631363"/>
                </a:moveTo>
                <a:cubicBezTo>
                  <a:pt x="820964" y="685655"/>
                  <a:pt x="816202" y="758998"/>
                  <a:pt x="777149" y="807576"/>
                </a:cubicBezTo>
                <a:cubicBezTo>
                  <a:pt x="738097" y="856153"/>
                  <a:pt x="667612" y="878061"/>
                  <a:pt x="608557" y="859011"/>
                </a:cubicBezTo>
                <a:cubicBezTo>
                  <a:pt x="536167" y="836151"/>
                  <a:pt x="485684" y="762808"/>
                  <a:pt x="411389" y="750426"/>
                </a:cubicBezTo>
                <a:cubicBezTo>
                  <a:pt x="339952" y="738995"/>
                  <a:pt x="270419" y="787573"/>
                  <a:pt x="198029" y="785668"/>
                </a:cubicBezTo>
                <a:cubicBezTo>
                  <a:pt x="90397" y="781858"/>
                  <a:pt x="19912" y="666605"/>
                  <a:pt x="4672" y="558973"/>
                </a:cubicBezTo>
                <a:cubicBezTo>
                  <a:pt x="-23903" y="358948"/>
                  <a:pt x="80872" y="146540"/>
                  <a:pt x="257084" y="47480"/>
                </a:cubicBezTo>
                <a:cubicBezTo>
                  <a:pt x="465682" y="-69677"/>
                  <a:pt x="597127" y="43670"/>
                  <a:pt x="543787" y="237980"/>
                </a:cubicBezTo>
                <a:cubicBezTo>
                  <a:pt x="469492" y="511348"/>
                  <a:pt x="670469" y="428480"/>
                  <a:pt x="789532" y="631363"/>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sp>
        <p:nvSpPr>
          <p:cNvPr id="33" name="TextBox 32">
            <a:extLst>
              <a:ext uri="{FF2B5EF4-FFF2-40B4-BE49-F238E27FC236}">
                <a16:creationId xmlns:a16="http://schemas.microsoft.com/office/drawing/2014/main" id="{BE6A83B1-DF1D-6AA9-D7D5-9DC405236D8C}"/>
              </a:ext>
            </a:extLst>
          </p:cNvPr>
          <p:cNvSpPr txBox="1"/>
          <p:nvPr/>
        </p:nvSpPr>
        <p:spPr>
          <a:xfrm>
            <a:off x="5713941" y="2472795"/>
            <a:ext cx="4984002" cy="646331"/>
          </a:xfrm>
          <a:prstGeom prst="rect">
            <a:avLst/>
          </a:prstGeom>
          <a:noFill/>
        </p:spPr>
        <p:txBody>
          <a:bodyPr wrap="square" rtlCol="0">
            <a:spAutoFit/>
          </a:bodyPr>
          <a:lstStyle/>
          <a:p>
            <a:r>
              <a:rPr lang="en-GB" sz="3600" b="1">
                <a:solidFill>
                  <a:schemeClr val="bg1"/>
                </a:solidFill>
                <a:latin typeface="Segoe UI" panose="020B0502040204020203" pitchFamily="34" charset="0"/>
                <a:cs typeface="Segoe UI" panose="020B0502040204020203" pitchFamily="34" charset="0"/>
              </a:rPr>
              <a:t>Enrique Arribas</a:t>
            </a:r>
          </a:p>
        </p:txBody>
      </p:sp>
      <p:sp>
        <p:nvSpPr>
          <p:cNvPr id="34" name="Rectangle: Rounded Corners 33">
            <a:extLst>
              <a:ext uri="{FF2B5EF4-FFF2-40B4-BE49-F238E27FC236}">
                <a16:creationId xmlns:a16="http://schemas.microsoft.com/office/drawing/2014/main" id="{EAEEEA8B-6C2C-498C-1A37-76624E81B390}"/>
              </a:ext>
            </a:extLst>
          </p:cNvPr>
          <p:cNvSpPr/>
          <p:nvPr/>
        </p:nvSpPr>
        <p:spPr>
          <a:xfrm>
            <a:off x="5767367" y="2022641"/>
            <a:ext cx="1662133" cy="319330"/>
          </a:xfrm>
          <a:prstGeom prst="roundRect">
            <a:avLst>
              <a:gd name="adj" fmla="val 50000"/>
            </a:avLst>
          </a:prstGeom>
          <a:solidFill>
            <a:schemeClr val="bg1">
              <a:alpha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solidFill>
                  <a:schemeClr val="bg1"/>
                </a:solidFill>
                <a:latin typeface="Segoe UI" panose="020B0502040204020203" pitchFamily="34" charset="0"/>
                <a:cs typeface="Segoe UI" panose="020B0502040204020203" pitchFamily="34" charset="0"/>
              </a:rPr>
              <a:t>SPEAKER</a:t>
            </a:r>
            <a:endParaRPr lang="en-GB" sz="1100">
              <a:solidFill>
                <a:schemeClr val="bg1"/>
              </a:solidFill>
              <a:latin typeface="Segoe UI" panose="020B0502040204020203" pitchFamily="34" charset="0"/>
              <a:cs typeface="Segoe UI" panose="020B0502040204020203" pitchFamily="34" charset="0"/>
            </a:endParaRPr>
          </a:p>
        </p:txBody>
      </p:sp>
      <p:sp>
        <p:nvSpPr>
          <p:cNvPr id="50" name="TextBox 49">
            <a:extLst>
              <a:ext uri="{FF2B5EF4-FFF2-40B4-BE49-F238E27FC236}">
                <a16:creationId xmlns:a16="http://schemas.microsoft.com/office/drawing/2014/main" id="{6E572D8E-B222-3CD3-D0E4-C8DFFA69B4D2}"/>
              </a:ext>
            </a:extLst>
          </p:cNvPr>
          <p:cNvSpPr txBox="1"/>
          <p:nvPr/>
        </p:nvSpPr>
        <p:spPr>
          <a:xfrm>
            <a:off x="5713941" y="3120817"/>
            <a:ext cx="4984002" cy="1339149"/>
          </a:xfrm>
          <a:prstGeom prst="rect">
            <a:avLst/>
          </a:prstGeom>
          <a:noFill/>
        </p:spPr>
        <p:txBody>
          <a:bodyPr wrap="square" rtlCol="0">
            <a:spAutoFit/>
          </a:bodyPr>
          <a:lstStyle/>
          <a:p>
            <a:pPr>
              <a:lnSpc>
                <a:spcPct val="130000"/>
              </a:lnSpc>
            </a:pPr>
            <a:r>
              <a:rPr lang="en-GB" sz="1600" err="1">
                <a:solidFill>
                  <a:schemeClr val="bg1"/>
                </a:solidFill>
                <a:latin typeface="Segoe UI" panose="020B0502040204020203" pitchFamily="34" charset="0"/>
                <a:cs typeface="Segoe UI" panose="020B0502040204020203" pitchFamily="34" charset="0"/>
              </a:rPr>
              <a:t>Arquitecto</a:t>
            </a:r>
            <a:r>
              <a:rPr lang="en-GB" sz="1600">
                <a:solidFill>
                  <a:schemeClr val="bg1"/>
                </a:solidFill>
                <a:latin typeface="Segoe UI" panose="020B0502040204020203" pitchFamily="34" charset="0"/>
                <a:cs typeface="Segoe UI" panose="020B0502040204020203" pitchFamily="34" charset="0"/>
              </a:rPr>
              <a:t> de IA &amp; Power Platform </a:t>
            </a:r>
            <a:r>
              <a:rPr lang="en-GB" sz="1600" err="1">
                <a:solidFill>
                  <a:schemeClr val="bg1"/>
                </a:solidFill>
                <a:latin typeface="Segoe UI" panose="020B0502040204020203" pitchFamily="34" charset="0"/>
                <a:cs typeface="Segoe UI" panose="020B0502040204020203" pitchFamily="34" charset="0"/>
              </a:rPr>
              <a:t>en</a:t>
            </a:r>
            <a:r>
              <a:rPr lang="en-GB" sz="1600">
                <a:solidFill>
                  <a:schemeClr val="bg1"/>
                </a:solidFill>
                <a:latin typeface="Segoe UI" panose="020B0502040204020203" pitchFamily="34" charset="0"/>
                <a:cs typeface="Segoe UI" panose="020B0502040204020203" pitchFamily="34" charset="0"/>
              </a:rPr>
              <a:t> @Ricoh España con </a:t>
            </a:r>
            <a:r>
              <a:rPr lang="es-ES" sz="1600">
                <a:solidFill>
                  <a:schemeClr val="bg1"/>
                </a:solidFill>
                <a:latin typeface="Segoe UI" panose="020B0502040204020203" pitchFamily="34" charset="0"/>
                <a:cs typeface="Segoe UI" panose="020B0502040204020203" pitchFamily="34" charset="0"/>
              </a:rPr>
              <a:t>+ de 10 Años de experiencia trabajando con plataformas y productos de Microsoft</a:t>
            </a:r>
          </a:p>
          <a:p>
            <a:pPr>
              <a:lnSpc>
                <a:spcPct val="130000"/>
              </a:lnSpc>
            </a:pPr>
            <a:r>
              <a:rPr lang="en-GB" sz="1600">
                <a:solidFill>
                  <a:schemeClr val="bg1"/>
                </a:solidFill>
                <a:latin typeface="Segoe UI" panose="020B0502040204020203" pitchFamily="34" charset="0"/>
                <a:cs typeface="Segoe UI" panose="020B0502040204020203" pitchFamily="34" charset="0"/>
              </a:rPr>
              <a:t>  </a:t>
            </a:r>
          </a:p>
        </p:txBody>
      </p:sp>
      <p:sp>
        <p:nvSpPr>
          <p:cNvPr id="51" name="Freeform: Shape 50">
            <a:extLst>
              <a:ext uri="{FF2B5EF4-FFF2-40B4-BE49-F238E27FC236}">
                <a16:creationId xmlns:a16="http://schemas.microsoft.com/office/drawing/2014/main" id="{0AAA4AB5-AAC2-255C-A7DF-06E186D3B837}"/>
              </a:ext>
            </a:extLst>
          </p:cNvPr>
          <p:cNvSpPr/>
          <p:nvPr/>
        </p:nvSpPr>
        <p:spPr>
          <a:xfrm>
            <a:off x="10640567" y="-119359"/>
            <a:ext cx="2300585" cy="2152595"/>
          </a:xfrm>
          <a:custGeom>
            <a:avLst/>
            <a:gdLst>
              <a:gd name="connsiteX0" fmla="*/ 776480 w 1628775"/>
              <a:gd name="connsiteY0" fmla="*/ 1212872 h 1524000"/>
              <a:gd name="connsiteX1" fmla="*/ 1105093 w 1628775"/>
              <a:gd name="connsiteY1" fmla="*/ 1530054 h 1524000"/>
              <a:gd name="connsiteX2" fmla="*/ 1335598 w 1628775"/>
              <a:gd name="connsiteY2" fmla="*/ 1034754 h 1524000"/>
              <a:gd name="connsiteX3" fmla="*/ 1584200 w 1628775"/>
              <a:gd name="connsiteY3" fmla="*/ 756624 h 1524000"/>
              <a:gd name="connsiteX4" fmla="*/ 1159385 w 1628775"/>
              <a:gd name="connsiteY4" fmla="*/ 339 h 1524000"/>
              <a:gd name="connsiteX5" fmla="*/ 506923 w 1628775"/>
              <a:gd name="connsiteY5" fmla="*/ 468017 h 1524000"/>
              <a:gd name="connsiteX6" fmla="*/ 154498 w 1628775"/>
              <a:gd name="connsiteY6" fmla="*/ 670899 h 1524000"/>
              <a:gd name="connsiteX7" fmla="*/ 189740 w 1628775"/>
              <a:gd name="connsiteY7" fmla="*/ 1261449 h 1524000"/>
              <a:gd name="connsiteX8" fmla="*/ 776480 w 1628775"/>
              <a:gd name="connsiteY8" fmla="*/ 1212872 h 15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775" h="1524000">
                <a:moveTo>
                  <a:pt x="776480" y="1212872"/>
                </a:moveTo>
                <a:cubicBezTo>
                  <a:pt x="886970" y="1256687"/>
                  <a:pt x="873635" y="1562439"/>
                  <a:pt x="1105093" y="1530054"/>
                </a:cubicBezTo>
                <a:cubicBezTo>
                  <a:pt x="1320358" y="1498622"/>
                  <a:pt x="1244158" y="1238589"/>
                  <a:pt x="1335598" y="1034754"/>
                </a:cubicBezTo>
                <a:cubicBezTo>
                  <a:pt x="1382270" y="930932"/>
                  <a:pt x="1524193" y="889974"/>
                  <a:pt x="1584200" y="756624"/>
                </a:cubicBezTo>
                <a:cubicBezTo>
                  <a:pt x="1751840" y="382292"/>
                  <a:pt x="1499428" y="10817"/>
                  <a:pt x="1159385" y="339"/>
                </a:cubicBezTo>
                <a:cubicBezTo>
                  <a:pt x="775528" y="-11091"/>
                  <a:pt x="536450" y="268944"/>
                  <a:pt x="506923" y="468017"/>
                </a:cubicBezTo>
                <a:cubicBezTo>
                  <a:pt x="473585" y="693759"/>
                  <a:pt x="244985" y="640419"/>
                  <a:pt x="154498" y="670899"/>
                </a:cubicBezTo>
                <a:cubicBezTo>
                  <a:pt x="-67435" y="746147"/>
                  <a:pt x="-45527" y="1176677"/>
                  <a:pt x="189740" y="1261449"/>
                </a:cubicBezTo>
                <a:cubicBezTo>
                  <a:pt x="455488" y="1357652"/>
                  <a:pt x="540260" y="1120479"/>
                  <a:pt x="776480" y="1212872"/>
                </a:cubicBezTo>
                <a:close/>
              </a:path>
            </a:pathLst>
          </a:custGeom>
          <a:solidFill>
            <a:schemeClr val="accent2"/>
          </a:solidFill>
          <a:ln w="9525"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0F0A3F16-A328-6CF1-BD51-9D94EBFE3D20}"/>
              </a:ext>
            </a:extLst>
          </p:cNvPr>
          <p:cNvSpPr/>
          <p:nvPr/>
        </p:nvSpPr>
        <p:spPr>
          <a:xfrm>
            <a:off x="11676502" y="1974491"/>
            <a:ext cx="228713" cy="228713"/>
          </a:xfrm>
          <a:custGeom>
            <a:avLst/>
            <a:gdLst>
              <a:gd name="connsiteX0" fmla="*/ 163830 w 161925"/>
              <a:gd name="connsiteY0" fmla="*/ 81915 h 161925"/>
              <a:gd name="connsiteX1" fmla="*/ 81915 w 161925"/>
              <a:gd name="connsiteY1" fmla="*/ 163830 h 161925"/>
              <a:gd name="connsiteX2" fmla="*/ 0 w 161925"/>
              <a:gd name="connsiteY2" fmla="*/ 81915 h 161925"/>
              <a:gd name="connsiteX3" fmla="*/ 81915 w 161925"/>
              <a:gd name="connsiteY3" fmla="*/ 0 h 161925"/>
              <a:gd name="connsiteX4" fmla="*/ 163830 w 161925"/>
              <a:gd name="connsiteY4" fmla="*/ 81915 h 16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925" h="161925">
                <a:moveTo>
                  <a:pt x="163830" y="81915"/>
                </a:moveTo>
                <a:cubicBezTo>
                  <a:pt x="163830" y="127155"/>
                  <a:pt x="127155" y="163830"/>
                  <a:pt x="81915" y="163830"/>
                </a:cubicBezTo>
                <a:cubicBezTo>
                  <a:pt x="36675" y="163830"/>
                  <a:pt x="0" y="127155"/>
                  <a:pt x="0" y="81915"/>
                </a:cubicBezTo>
                <a:cubicBezTo>
                  <a:pt x="0" y="36675"/>
                  <a:pt x="36675" y="0"/>
                  <a:pt x="81915" y="0"/>
                </a:cubicBezTo>
                <a:cubicBezTo>
                  <a:pt x="127155" y="0"/>
                  <a:pt x="163830" y="36675"/>
                  <a:pt x="163830" y="81915"/>
                </a:cubicBezTo>
                <a:close/>
              </a:path>
            </a:pathLst>
          </a:custGeom>
          <a:solidFill>
            <a:schemeClr val="accent2"/>
          </a:solidFill>
          <a:ln w="9525" cap="flat">
            <a:noFill/>
            <a:prstDash val="solid"/>
            <a:miter/>
          </a:ln>
        </p:spPr>
        <p:txBody>
          <a:bodyPr rtlCol="0" anchor="ctr"/>
          <a:lstStyle/>
          <a:p>
            <a:endParaRPr lang="en-GB">
              <a:latin typeface="Segoe UI" panose="020B0502040204020203" pitchFamily="34" charset="0"/>
              <a:cs typeface="Segoe UI" panose="020B0502040204020203" pitchFamily="34" charset="0"/>
            </a:endParaRPr>
          </a:p>
        </p:txBody>
      </p:sp>
      <p:grpSp>
        <p:nvGrpSpPr>
          <p:cNvPr id="13" name="Grupo 12">
            <a:extLst>
              <a:ext uri="{FF2B5EF4-FFF2-40B4-BE49-F238E27FC236}">
                <a16:creationId xmlns:a16="http://schemas.microsoft.com/office/drawing/2014/main" id="{2F334D64-8645-4C16-83CA-3291BC5F471F}"/>
              </a:ext>
            </a:extLst>
          </p:cNvPr>
          <p:cNvGrpSpPr/>
          <p:nvPr/>
        </p:nvGrpSpPr>
        <p:grpSpPr>
          <a:xfrm>
            <a:off x="5853650" y="5025995"/>
            <a:ext cx="5040227" cy="279102"/>
            <a:chOff x="5853650" y="4765645"/>
            <a:chExt cx="5040227" cy="279102"/>
          </a:xfrm>
        </p:grpSpPr>
        <p:sp>
          <p:nvSpPr>
            <p:cNvPr id="43" name="TextBox 42">
              <a:extLst>
                <a:ext uri="{FF2B5EF4-FFF2-40B4-BE49-F238E27FC236}">
                  <a16:creationId xmlns:a16="http://schemas.microsoft.com/office/drawing/2014/main" id="{6B356AE2-4BB3-4B98-E8A8-7DA6415F4104}"/>
                </a:ext>
              </a:extLst>
            </p:cNvPr>
            <p:cNvSpPr txBox="1"/>
            <p:nvPr/>
          </p:nvSpPr>
          <p:spPr>
            <a:xfrm>
              <a:off x="6080589" y="4767748"/>
              <a:ext cx="4813288" cy="276999"/>
            </a:xfrm>
            <a:prstGeom prst="rect">
              <a:avLst/>
            </a:prstGeom>
            <a:noFill/>
          </p:spPr>
          <p:txBody>
            <a:bodyPr wrap="square" lIns="91440" tIns="45720" rIns="91440" bIns="45720" rtlCol="0" anchor="t">
              <a:spAutoFit/>
            </a:bodyPr>
            <a:lstStyle/>
            <a:p>
              <a:r>
                <a:rPr lang="en-GB" sz="1200">
                  <a:solidFill>
                    <a:schemeClr val="bg1"/>
                  </a:solidFill>
                  <a:ea typeface="+mn-lt"/>
                  <a:cs typeface="+mn-lt"/>
                </a:rPr>
                <a:t>https://es.linkedin.com/in/enrique-arribas-bueno-2b3b4975</a:t>
              </a:r>
              <a:endParaRPr lang="en-US">
                <a:solidFill>
                  <a:schemeClr val="bg1"/>
                </a:solidFill>
              </a:endParaRPr>
            </a:p>
          </p:txBody>
        </p:sp>
        <p:pic>
          <p:nvPicPr>
            <p:cNvPr id="1028" name="Picture 4" descr="linkedin-icon-png-transparent-background-8 - Ytpr.co.ke">
              <a:extLst>
                <a:ext uri="{FF2B5EF4-FFF2-40B4-BE49-F238E27FC236}">
                  <a16:creationId xmlns:a16="http://schemas.microsoft.com/office/drawing/2014/main" id="{D791A8BE-368A-2E5D-A95A-45ECE24AE9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3650" y="4765645"/>
              <a:ext cx="265471" cy="265471"/>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28" descr="A black and white logo&#10;&#10;Description automatically generated">
            <a:extLst>
              <a:ext uri="{FF2B5EF4-FFF2-40B4-BE49-F238E27FC236}">
                <a16:creationId xmlns:a16="http://schemas.microsoft.com/office/drawing/2014/main" id="{4E0B996D-DA05-A328-894F-A442FC3E332D}"/>
              </a:ext>
            </a:extLst>
          </p:cNvPr>
          <p:cNvPicPr>
            <a:picLocks noChangeAspect="1"/>
          </p:cNvPicPr>
          <p:nvPr/>
        </p:nvPicPr>
        <p:blipFill>
          <a:blip r:embed="rId3"/>
          <a:stretch>
            <a:fillRect/>
          </a:stretch>
        </p:blipFill>
        <p:spPr>
          <a:xfrm>
            <a:off x="2696707" y="5714888"/>
            <a:ext cx="1252385" cy="483099"/>
          </a:xfrm>
          <a:prstGeom prst="rect">
            <a:avLst/>
          </a:prstGeom>
        </p:spPr>
      </p:pic>
      <p:pic>
        <p:nvPicPr>
          <p:cNvPr id="2" name="Picture Placeholder 1" descr="A toy figure in a package&#10;&#10;AI-generated content may be incorrect.">
            <a:extLst>
              <a:ext uri="{FF2B5EF4-FFF2-40B4-BE49-F238E27FC236}">
                <a16:creationId xmlns:a16="http://schemas.microsoft.com/office/drawing/2014/main" id="{8A4433B2-DD50-C7D9-27A4-04076BE6E842}"/>
              </a:ext>
            </a:extLst>
          </p:cNvPr>
          <p:cNvPicPr>
            <a:picLocks noGrp="1" noChangeAspect="1"/>
          </p:cNvPicPr>
          <p:nvPr>
            <p:ph type="pic" sz="quarter" idx="11"/>
          </p:nvPr>
        </p:nvPicPr>
        <p:blipFill>
          <a:blip r:embed="rId4"/>
          <a:srcRect t="13168" b="13168"/>
          <a:stretch/>
        </p:blipFill>
        <p:spPr>
          <a:custGeom>
            <a:avLst/>
            <a:gdLst>
              <a:gd name="connsiteX0" fmla="*/ 496539 w 2979174"/>
              <a:gd name="connsiteY0" fmla="*/ 0 h 3292400"/>
              <a:gd name="connsiteX1" fmla="*/ 2482635 w 2979174"/>
              <a:gd name="connsiteY1" fmla="*/ 0 h 3292400"/>
              <a:gd name="connsiteX2" fmla="*/ 2979174 w 2979174"/>
              <a:gd name="connsiteY2" fmla="*/ 496539 h 3292400"/>
              <a:gd name="connsiteX3" fmla="*/ 2979174 w 2979174"/>
              <a:gd name="connsiteY3" fmla="*/ 2795861 h 3292400"/>
              <a:gd name="connsiteX4" fmla="*/ 2482635 w 2979174"/>
              <a:gd name="connsiteY4" fmla="*/ 3292400 h 3292400"/>
              <a:gd name="connsiteX5" fmla="*/ 496539 w 2979174"/>
              <a:gd name="connsiteY5" fmla="*/ 3292400 h 3292400"/>
              <a:gd name="connsiteX6" fmla="*/ 0 w 2979174"/>
              <a:gd name="connsiteY6" fmla="*/ 2795861 h 3292400"/>
              <a:gd name="connsiteX7" fmla="*/ 0 w 2979174"/>
              <a:gd name="connsiteY7" fmla="*/ 496539 h 3292400"/>
              <a:gd name="connsiteX8" fmla="*/ 496539 w 2979174"/>
              <a:gd name="connsiteY8" fmla="*/ 0 h 32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9174" h="3292400">
                <a:moveTo>
                  <a:pt x="496539" y="0"/>
                </a:moveTo>
                <a:lnTo>
                  <a:pt x="2482635" y="0"/>
                </a:lnTo>
                <a:cubicBezTo>
                  <a:pt x="2756866" y="0"/>
                  <a:pt x="2979174" y="222308"/>
                  <a:pt x="2979174" y="496539"/>
                </a:cubicBezTo>
                <a:lnTo>
                  <a:pt x="2979174" y="2795861"/>
                </a:lnTo>
                <a:cubicBezTo>
                  <a:pt x="2979174" y="3070092"/>
                  <a:pt x="2756866" y="3292400"/>
                  <a:pt x="2482635" y="3292400"/>
                </a:cubicBezTo>
                <a:lnTo>
                  <a:pt x="496539" y="3292400"/>
                </a:lnTo>
                <a:cubicBezTo>
                  <a:pt x="222308" y="3292400"/>
                  <a:pt x="0" y="3070092"/>
                  <a:pt x="0" y="2795861"/>
                </a:cubicBezTo>
                <a:lnTo>
                  <a:pt x="0" y="496539"/>
                </a:lnTo>
                <a:cubicBezTo>
                  <a:pt x="0" y="222308"/>
                  <a:pt x="222308" y="0"/>
                  <a:pt x="496539" y="0"/>
                </a:cubicBezTo>
                <a:close/>
              </a:path>
            </a:pathLst>
          </a:custGeom>
          <a:solidFill>
            <a:srgbClr val="FFFFFF">
              <a:lumMod val="95000"/>
              <a:alpha val="25000"/>
            </a:srgbClr>
          </a:solidFill>
          <a:ln w="114300">
            <a:solidFill>
              <a:srgbClr val="FFFFFF"/>
            </a:solidFill>
          </a:ln>
          <a:effectLst>
            <a:outerShdw blurRad="1016000" dist="685800" dir="5400000" sx="88000" sy="88000" algn="t" rotWithShape="0">
              <a:prstClr val="black">
                <a:alpha val="19000"/>
              </a:prstClr>
            </a:outerShdw>
          </a:effectLst>
        </p:spPr>
      </p:pic>
    </p:spTree>
    <p:extLst>
      <p:ext uri="{BB962C8B-B14F-4D97-AF65-F5344CB8AC3E}">
        <p14:creationId xmlns:p14="http://schemas.microsoft.com/office/powerpoint/2010/main" val="3890194661"/>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750"/>
                                        <p:tgtEl>
                                          <p:spTgt spid="50"/>
                                        </p:tgtEl>
                                      </p:cBhvr>
                                    </p:animEffect>
                                  </p:childTnLst>
                                </p:cTn>
                              </p:par>
                              <p:par>
                                <p:cTn id="8" presetID="2" presetClass="entr" presetSubtype="4" decel="10000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1000" fill="hold"/>
                                        <p:tgtEl>
                                          <p:spTgt spid="18"/>
                                        </p:tgtEl>
                                        <p:attrNameLst>
                                          <p:attrName>ppt_x</p:attrName>
                                        </p:attrNameLst>
                                      </p:cBhvr>
                                      <p:tavLst>
                                        <p:tav tm="0">
                                          <p:val>
                                            <p:strVal val="#ppt_x"/>
                                          </p:val>
                                        </p:tav>
                                        <p:tav tm="100000">
                                          <p:val>
                                            <p:strVal val="#ppt_x"/>
                                          </p:val>
                                        </p:tav>
                                      </p:tavLst>
                                    </p:anim>
                                    <p:anim calcmode="lin" valueType="num">
                                      <p:cBhvr additive="base">
                                        <p:cTn id="11" dur="1000" fill="hold"/>
                                        <p:tgtEl>
                                          <p:spTgt spid="18"/>
                                        </p:tgtEl>
                                        <p:attrNameLst>
                                          <p:attrName>ppt_y</p:attrName>
                                        </p:attrNameLst>
                                      </p:cBhvr>
                                      <p:tavLst>
                                        <p:tav tm="0">
                                          <p:val>
                                            <p:strVal val="1+#ppt_h/2"/>
                                          </p:val>
                                        </p:tav>
                                        <p:tav tm="100000">
                                          <p:val>
                                            <p:strVal val="#ppt_y"/>
                                          </p:val>
                                        </p:tav>
                                      </p:tavLst>
                                    </p:anim>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51"/>
                                        </p:tgtEl>
                                        <p:attrNameLst>
                                          <p:attrName>style.visibility</p:attrName>
                                        </p:attrNameLst>
                                      </p:cBhvr>
                                      <p:to>
                                        <p:strVal val="visible"/>
                                      </p:to>
                                    </p:set>
                                    <p:animEffect transition="in" filter="fade">
                                      <p:cBhvr>
                                        <p:cTn id="20" dur="500"/>
                                        <p:tgtEl>
                                          <p:spTgt spid="51"/>
                                        </p:tgtEl>
                                      </p:cBhvr>
                                    </p:animEffect>
                                  </p:childTnLst>
                                </p:cTn>
                              </p:par>
                              <p:par>
                                <p:cTn id="21" presetID="26" presetClass="emph" presetSubtype="0" fill="hold" grpId="1" nodeType="withEffect">
                                  <p:stCondLst>
                                    <p:cond delay="1250"/>
                                  </p:stCondLst>
                                  <p:childTnLst>
                                    <p:animEffect transition="out" filter="fade">
                                      <p:cBhvr>
                                        <p:cTn id="22" dur="500" tmFilter="0, 0; .2, .5; .8, .5; 1, 0"/>
                                        <p:tgtEl>
                                          <p:spTgt spid="51"/>
                                        </p:tgtEl>
                                      </p:cBhvr>
                                    </p:animEffect>
                                    <p:animScale>
                                      <p:cBhvr>
                                        <p:cTn id="23" dur="250" autoRev="1" fill="hold"/>
                                        <p:tgtEl>
                                          <p:spTgt spid="51"/>
                                        </p:tgtEl>
                                      </p:cBhvr>
                                      <p:by x="105000" y="105000"/>
                                    </p:animScale>
                                  </p:childTnLst>
                                </p:cTn>
                              </p:par>
                              <p:par>
                                <p:cTn id="24" presetID="10" presetClass="entr" presetSubtype="0" fill="hold" grpId="0" nodeType="withEffect">
                                  <p:stCondLst>
                                    <p:cond delay="1500"/>
                                  </p:stCondLst>
                                  <p:childTnLst>
                                    <p:set>
                                      <p:cBhvr>
                                        <p:cTn id="25" dur="1" fill="hold">
                                          <p:stCondLst>
                                            <p:cond delay="0"/>
                                          </p:stCondLst>
                                        </p:cTn>
                                        <p:tgtEl>
                                          <p:spTgt spid="52"/>
                                        </p:tgtEl>
                                        <p:attrNameLst>
                                          <p:attrName>style.visibility</p:attrName>
                                        </p:attrNameLst>
                                      </p:cBhvr>
                                      <p:to>
                                        <p:strVal val="visible"/>
                                      </p:to>
                                    </p:set>
                                    <p:animEffect transition="in" filter="fade">
                                      <p:cBhvr>
                                        <p:cTn id="26" dur="500"/>
                                        <p:tgtEl>
                                          <p:spTgt spid="52"/>
                                        </p:tgtEl>
                                      </p:cBhvr>
                                    </p:animEffect>
                                  </p:childTnLst>
                                </p:cTn>
                              </p:par>
                              <p:par>
                                <p:cTn id="27" presetID="26" presetClass="emph" presetSubtype="0" fill="hold" grpId="1" nodeType="withEffect">
                                  <p:stCondLst>
                                    <p:cond delay="1500"/>
                                  </p:stCondLst>
                                  <p:childTnLst>
                                    <p:animEffect transition="out" filter="fade">
                                      <p:cBhvr>
                                        <p:cTn id="28" dur="500" tmFilter="0, 0; .2, .5; .8, .5; 1, 0"/>
                                        <p:tgtEl>
                                          <p:spTgt spid="52"/>
                                        </p:tgtEl>
                                      </p:cBhvr>
                                    </p:animEffect>
                                    <p:animScale>
                                      <p:cBhvr>
                                        <p:cTn id="29" dur="250" autoRev="1" fill="hold"/>
                                        <p:tgtEl>
                                          <p:spTgt spid="52"/>
                                        </p:tgtEl>
                                      </p:cBhvr>
                                      <p:by x="105000" y="105000"/>
                                    </p:animScale>
                                  </p:childTnLst>
                                </p:cTn>
                              </p:par>
                              <p:par>
                                <p:cTn id="30" presetID="10" presetClass="entr" presetSubtype="0" fill="hold" grpId="0" nodeType="withEffect">
                                  <p:stCondLst>
                                    <p:cond delay="10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26" presetClass="emph" presetSubtype="0" fill="hold" grpId="1" nodeType="withEffect">
                                  <p:stCondLst>
                                    <p:cond delay="1000"/>
                                  </p:stCondLst>
                                  <p:childTnLst>
                                    <p:animEffect transition="out" filter="fade">
                                      <p:cBhvr>
                                        <p:cTn id="34" dur="500" tmFilter="0, 0; .2, .5; .8, .5; 1, 0"/>
                                        <p:tgtEl>
                                          <p:spTgt spid="31"/>
                                        </p:tgtEl>
                                      </p:cBhvr>
                                    </p:animEffect>
                                    <p:animScale>
                                      <p:cBhvr>
                                        <p:cTn id="35" dur="250" autoRev="1" fill="hold"/>
                                        <p:tgtEl>
                                          <p:spTgt spid="31"/>
                                        </p:tgtEl>
                                      </p:cBhvr>
                                      <p:by x="105000" y="105000"/>
                                    </p:animScale>
                                  </p:childTnLst>
                                </p:cTn>
                              </p:par>
                              <p:par>
                                <p:cTn id="36" presetID="10" presetClass="entr" presetSubtype="0" fill="hold" grpId="0" nodeType="withEffect">
                                  <p:stCondLst>
                                    <p:cond delay="100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26" presetClass="emph" presetSubtype="0" fill="hold" grpId="1" nodeType="withEffect">
                                  <p:stCondLst>
                                    <p:cond delay="1000"/>
                                  </p:stCondLst>
                                  <p:childTnLst>
                                    <p:animEffect transition="out" filter="fade">
                                      <p:cBhvr>
                                        <p:cTn id="40" dur="500" tmFilter="0, 0; .2, .5; .8, .5; 1, 0"/>
                                        <p:tgtEl>
                                          <p:spTgt spid="32"/>
                                        </p:tgtEl>
                                      </p:cBhvr>
                                    </p:animEffect>
                                    <p:animScale>
                                      <p:cBhvr>
                                        <p:cTn id="41" dur="250" autoRev="1" fill="hold"/>
                                        <p:tgtEl>
                                          <p:spTgt spid="32"/>
                                        </p:tgtEl>
                                      </p:cBhvr>
                                      <p:by x="105000" y="105000"/>
                                    </p:animScale>
                                  </p:childTnLst>
                                </p:cTn>
                              </p:par>
                              <p:par>
                                <p:cTn id="42" presetID="10" presetClass="entr" presetSubtype="0" fill="hold" grpId="0" nodeType="withEffect">
                                  <p:stCondLst>
                                    <p:cond delay="500"/>
                                  </p:stCondLst>
                                  <p:childTnLst>
                                    <p:set>
                                      <p:cBhvr>
                                        <p:cTn id="43" dur="1" fill="hold">
                                          <p:stCondLst>
                                            <p:cond delay="0"/>
                                          </p:stCondLst>
                                        </p:cTn>
                                        <p:tgtEl>
                                          <p:spTgt spid="34"/>
                                        </p:tgtEl>
                                        <p:attrNameLst>
                                          <p:attrName>style.visibility</p:attrName>
                                        </p:attrNameLst>
                                      </p:cBhvr>
                                      <p:to>
                                        <p:strVal val="visible"/>
                                      </p:to>
                                    </p:set>
                                    <p:animEffect transition="in" filter="fade">
                                      <p:cBhvr>
                                        <p:cTn id="44" dur="500"/>
                                        <p:tgtEl>
                                          <p:spTgt spid="34"/>
                                        </p:tgtEl>
                                      </p:cBhvr>
                                    </p:animEffect>
                                  </p:childTnLst>
                                </p:cTn>
                              </p:par>
                              <p:par>
                                <p:cTn id="45" presetID="26" presetClass="emph" presetSubtype="0" fill="hold" grpId="1" nodeType="withEffect">
                                  <p:stCondLst>
                                    <p:cond delay="500"/>
                                  </p:stCondLst>
                                  <p:childTnLst>
                                    <p:animEffect transition="out" filter="fade">
                                      <p:cBhvr>
                                        <p:cTn id="46" dur="500" tmFilter="0, 0; .2, .5; .8, .5; 1, 0"/>
                                        <p:tgtEl>
                                          <p:spTgt spid="34"/>
                                        </p:tgtEl>
                                      </p:cBhvr>
                                    </p:animEffect>
                                    <p:animScale>
                                      <p:cBhvr>
                                        <p:cTn id="47" dur="250" autoRev="1" fill="hold"/>
                                        <p:tgtEl>
                                          <p:spTgt spid="34"/>
                                        </p:tgtEl>
                                      </p:cBhvr>
                                      <p:by x="105000" y="105000"/>
                                    </p:animScale>
                                  </p:childTnLst>
                                </p:cTn>
                              </p:par>
                              <p:par>
                                <p:cTn id="48" presetID="10" presetClass="entr" presetSubtype="0" fill="hold" grpId="0" nodeType="withEffect">
                                  <p:stCondLst>
                                    <p:cond delay="50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par>
                                <p:cTn id="51" presetID="23" presetClass="entr" presetSubtype="272" fill="hold" grpId="1" nodeType="withEffect">
                                  <p:stCondLst>
                                    <p:cond delay="500"/>
                                  </p:stCondLst>
                                  <p:childTnLst>
                                    <p:set>
                                      <p:cBhvr>
                                        <p:cTn id="52" dur="1" fill="hold">
                                          <p:stCondLst>
                                            <p:cond delay="0"/>
                                          </p:stCondLst>
                                        </p:cTn>
                                        <p:tgtEl>
                                          <p:spTgt spid="33"/>
                                        </p:tgtEl>
                                        <p:attrNameLst>
                                          <p:attrName>style.visibility</p:attrName>
                                        </p:attrNameLst>
                                      </p:cBhvr>
                                      <p:to>
                                        <p:strVal val="visible"/>
                                      </p:to>
                                    </p:set>
                                    <p:anim calcmode="lin" valueType="num">
                                      <p:cBhvr>
                                        <p:cTn id="53" dur="500" fill="hold"/>
                                        <p:tgtEl>
                                          <p:spTgt spid="33"/>
                                        </p:tgtEl>
                                        <p:attrNameLst>
                                          <p:attrName>ppt_w</p:attrName>
                                        </p:attrNameLst>
                                      </p:cBhvr>
                                      <p:tavLst>
                                        <p:tav tm="0">
                                          <p:val>
                                            <p:strVal val="2/3*#ppt_w"/>
                                          </p:val>
                                        </p:tav>
                                        <p:tav tm="100000">
                                          <p:val>
                                            <p:strVal val="#ppt_w"/>
                                          </p:val>
                                        </p:tav>
                                      </p:tavLst>
                                    </p:anim>
                                    <p:anim calcmode="lin" valueType="num">
                                      <p:cBhvr>
                                        <p:cTn id="54" dur="500" fill="hold"/>
                                        <p:tgtEl>
                                          <p:spTgt spid="33"/>
                                        </p:tgtEl>
                                        <p:attrNameLst>
                                          <p:attrName>ppt_h</p:attrName>
                                        </p:attrNameLst>
                                      </p:cBhvr>
                                      <p:tavLst>
                                        <p:tav tm="0">
                                          <p:val>
                                            <p:strVal val="2/3*#ppt_h"/>
                                          </p:val>
                                        </p:tav>
                                        <p:tav tm="100000">
                                          <p:val>
                                            <p:strVal val="#ppt_h"/>
                                          </p:val>
                                        </p:tav>
                                      </p:tavLst>
                                    </p:anim>
                                  </p:childTnLst>
                                </p:cTn>
                              </p:par>
                              <p:par>
                                <p:cTn id="55" presetID="10" presetClass="entr" presetSubtype="0" fill="hold" nodeType="withEffect">
                                  <p:stCondLst>
                                    <p:cond delay="150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500"/>
                                        <p:tgtEl>
                                          <p:spTgt spid="13"/>
                                        </p:tgtEl>
                                      </p:cBhvr>
                                    </p:animEffect>
                                  </p:childTnLst>
                                </p:cTn>
                              </p:par>
                              <p:par>
                                <p:cTn id="58" presetID="26" presetClass="emph" presetSubtype="0" fill="hold" nodeType="withEffect">
                                  <p:stCondLst>
                                    <p:cond delay="1500"/>
                                  </p:stCondLst>
                                  <p:childTnLst>
                                    <p:animEffect transition="out" filter="fade">
                                      <p:cBhvr>
                                        <p:cTn id="59" dur="500" tmFilter="0, 0; .2, .5; .8, .5; 1, 0"/>
                                        <p:tgtEl>
                                          <p:spTgt spid="13"/>
                                        </p:tgtEl>
                                      </p:cBhvr>
                                    </p:animEffect>
                                    <p:animScale>
                                      <p:cBhvr>
                                        <p:cTn id="60" dur="250" autoRev="1" fill="hold"/>
                                        <p:tgtEl>
                                          <p:spTgt spid="13"/>
                                        </p:tgtEl>
                                      </p:cBhvr>
                                      <p:by x="105000" y="105000"/>
                                    </p:animScale>
                                  </p:childTnLst>
                                </p:cTn>
                              </p:par>
                              <p:par>
                                <p:cTn id="61" presetID="10" presetClass="entr" presetSubtype="0" fill="hold" nodeType="with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8" grpId="0" animBg="1"/>
      <p:bldP spid="31" grpId="0" animBg="1"/>
      <p:bldP spid="31" grpId="1" animBg="1"/>
      <p:bldP spid="32" grpId="0" animBg="1"/>
      <p:bldP spid="32" grpId="1" animBg="1"/>
      <p:bldP spid="33" grpId="0"/>
      <p:bldP spid="33" grpId="1"/>
      <p:bldP spid="34" grpId="0" animBg="1"/>
      <p:bldP spid="34" grpId="1" animBg="1"/>
      <p:bldP spid="50" grpId="0"/>
      <p:bldP spid="51" grpId="0" animBg="1"/>
      <p:bldP spid="51" grpId="1" animBg="1"/>
      <p:bldP spid="52" grpId="0" animBg="1"/>
      <p:bldP spid="5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9A091C-8F7D-4462-9675-A1299472B9B0}"/>
              </a:ext>
            </a:extLst>
          </p:cNvPr>
          <p:cNvSpPr txBox="1"/>
          <p:nvPr/>
        </p:nvSpPr>
        <p:spPr>
          <a:xfrm>
            <a:off x="-2309368" y="244226"/>
            <a:ext cx="9360311" cy="707886"/>
          </a:xfrm>
          <a:prstGeom prst="rect">
            <a:avLst/>
          </a:prstGeom>
          <a:noFill/>
        </p:spPr>
        <p:txBody>
          <a:bodyPr wrap="square" rtlCol="0">
            <a:spAutoFit/>
          </a:bodyPr>
          <a:lstStyle/>
          <a:p>
            <a:pPr algn="ctr"/>
            <a:r>
              <a:rPr lang="en-US" sz="4000" b="1">
                <a:solidFill>
                  <a:schemeClr val="tx1">
                    <a:lumMod val="75000"/>
                    <a:lumOff val="25000"/>
                  </a:schemeClr>
                </a:solidFill>
                <a:latin typeface="Segoe UI" panose="020B0502040204020203" pitchFamily="34" charset="0"/>
                <a:cs typeface="Segoe UI" panose="020B0502040204020203" pitchFamily="34" charset="0"/>
              </a:rPr>
              <a:t>Agenda</a:t>
            </a:r>
            <a:endParaRPr lang="en-GB" sz="4000" b="1">
              <a:solidFill>
                <a:schemeClr val="tx1">
                  <a:lumMod val="75000"/>
                  <a:lumOff val="25000"/>
                </a:schemeClr>
              </a:solidFill>
              <a:latin typeface="Segoe UI" panose="020B0502040204020203" pitchFamily="34" charset="0"/>
              <a:cs typeface="Segoe UI" panose="020B0502040204020203" pitchFamily="34" charset="0"/>
            </a:endParaRPr>
          </a:p>
        </p:txBody>
      </p:sp>
      <p:grpSp>
        <p:nvGrpSpPr>
          <p:cNvPr id="162" name="Group 161">
            <a:extLst>
              <a:ext uri="{FF2B5EF4-FFF2-40B4-BE49-F238E27FC236}">
                <a16:creationId xmlns:a16="http://schemas.microsoft.com/office/drawing/2014/main" id="{88E5CC9A-42E1-49D1-BA2E-F0186074E13C}"/>
              </a:ext>
            </a:extLst>
          </p:cNvPr>
          <p:cNvGrpSpPr/>
          <p:nvPr/>
        </p:nvGrpSpPr>
        <p:grpSpPr>
          <a:xfrm>
            <a:off x="1075575" y="4205515"/>
            <a:ext cx="1018770" cy="983151"/>
            <a:chOff x="2244928" y="3314699"/>
            <a:chExt cx="1018770" cy="983151"/>
          </a:xfrm>
        </p:grpSpPr>
        <p:sp>
          <p:nvSpPr>
            <p:cNvPr id="172" name="Rectangle: Rounded Corners 171">
              <a:extLst>
                <a:ext uri="{FF2B5EF4-FFF2-40B4-BE49-F238E27FC236}">
                  <a16:creationId xmlns:a16="http://schemas.microsoft.com/office/drawing/2014/main" id="{AA730FC1-676B-4908-BE39-22A399909452}"/>
                </a:ext>
              </a:extLst>
            </p:cNvPr>
            <p:cNvSpPr/>
            <p:nvPr/>
          </p:nvSpPr>
          <p:spPr>
            <a:xfrm>
              <a:off x="2262738" y="3314699"/>
              <a:ext cx="983151" cy="983151"/>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74" name="TextBox 173">
              <a:extLst>
                <a:ext uri="{FF2B5EF4-FFF2-40B4-BE49-F238E27FC236}">
                  <a16:creationId xmlns:a16="http://schemas.microsoft.com/office/drawing/2014/main" id="{F6235340-4B0F-463F-8649-E114A35D7F0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3</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sp>
        <p:nvSpPr>
          <p:cNvPr id="170" name="TextBox 169">
            <a:extLst>
              <a:ext uri="{FF2B5EF4-FFF2-40B4-BE49-F238E27FC236}">
                <a16:creationId xmlns:a16="http://schemas.microsoft.com/office/drawing/2014/main" id="{E69F27D0-9DFB-4818-A789-173EC4448776}"/>
              </a:ext>
            </a:extLst>
          </p:cNvPr>
          <p:cNvSpPr txBox="1"/>
          <p:nvPr/>
        </p:nvSpPr>
        <p:spPr>
          <a:xfrm>
            <a:off x="2354164" y="4467803"/>
            <a:ext cx="3755340" cy="338554"/>
          </a:xfrm>
          <a:prstGeom prst="rect">
            <a:avLst/>
          </a:prstGeom>
          <a:noFill/>
        </p:spPr>
        <p:txBody>
          <a:bodyPr wrap="square" rtlCol="0">
            <a:spAutoFit/>
          </a:bodyPr>
          <a:lstStyle/>
          <a:p>
            <a:r>
              <a:rPr lang="es-ES" sz="1600" b="1">
                <a:solidFill>
                  <a:schemeClr val="tx1">
                    <a:lumMod val="75000"/>
                    <a:lumOff val="25000"/>
                  </a:schemeClr>
                </a:solidFill>
                <a:latin typeface="Segoe UI" panose="020B0502040204020203" pitchFamily="34" charset="0"/>
                <a:cs typeface="Segoe UI" panose="020B0502040204020203" pitchFamily="34" charset="0"/>
              </a:rPr>
              <a:t>Privacidad y Protección de Datos</a:t>
            </a:r>
          </a:p>
        </p:txBody>
      </p:sp>
      <p:grpSp>
        <p:nvGrpSpPr>
          <p:cNvPr id="177" name="Group 176">
            <a:extLst>
              <a:ext uri="{FF2B5EF4-FFF2-40B4-BE49-F238E27FC236}">
                <a16:creationId xmlns:a16="http://schemas.microsoft.com/office/drawing/2014/main" id="{17702604-391B-4452-9615-6F356A8489A8}"/>
              </a:ext>
            </a:extLst>
          </p:cNvPr>
          <p:cNvGrpSpPr/>
          <p:nvPr/>
        </p:nvGrpSpPr>
        <p:grpSpPr>
          <a:xfrm>
            <a:off x="1075575" y="2826722"/>
            <a:ext cx="1018770" cy="983151"/>
            <a:chOff x="2244928" y="3314699"/>
            <a:chExt cx="1018770" cy="983151"/>
          </a:xfrm>
        </p:grpSpPr>
        <p:sp>
          <p:nvSpPr>
            <p:cNvPr id="187" name="Rectangle: Rounded Corners 186">
              <a:extLst>
                <a:ext uri="{FF2B5EF4-FFF2-40B4-BE49-F238E27FC236}">
                  <a16:creationId xmlns:a16="http://schemas.microsoft.com/office/drawing/2014/main" id="{54E9FD33-95C7-43F0-9C86-DB866A17A8E3}"/>
                </a:ext>
              </a:extLst>
            </p:cNvPr>
            <p:cNvSpPr/>
            <p:nvPr/>
          </p:nvSpPr>
          <p:spPr>
            <a:xfrm>
              <a:off x="2262738" y="3314699"/>
              <a:ext cx="983151" cy="983151"/>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189" name="TextBox 188">
              <a:extLst>
                <a:ext uri="{FF2B5EF4-FFF2-40B4-BE49-F238E27FC236}">
                  <a16:creationId xmlns:a16="http://schemas.microsoft.com/office/drawing/2014/main" id="{A445A842-3B1E-41B2-8BC2-7EC3EDE329D9}"/>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2</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sp>
        <p:nvSpPr>
          <p:cNvPr id="185" name="TextBox 184">
            <a:extLst>
              <a:ext uri="{FF2B5EF4-FFF2-40B4-BE49-F238E27FC236}">
                <a16:creationId xmlns:a16="http://schemas.microsoft.com/office/drawing/2014/main" id="{E89DACA1-A5D0-43F5-A436-761A105B917C}"/>
              </a:ext>
            </a:extLst>
          </p:cNvPr>
          <p:cNvSpPr txBox="1"/>
          <p:nvPr/>
        </p:nvSpPr>
        <p:spPr>
          <a:xfrm>
            <a:off x="2354164" y="3089011"/>
            <a:ext cx="3885376" cy="584775"/>
          </a:xfrm>
          <a:prstGeom prst="rect">
            <a:avLst/>
          </a:prstGeom>
          <a:noFill/>
        </p:spPr>
        <p:txBody>
          <a:bodyPr wrap="square" rtlCol="0">
            <a:spAutoFit/>
          </a:bodyPr>
          <a:lstStyle/>
          <a:p>
            <a:r>
              <a:rPr lang="es-ES" sz="1600" b="1" noProof="0">
                <a:solidFill>
                  <a:schemeClr val="tx1">
                    <a:lumMod val="75000"/>
                    <a:lumOff val="25000"/>
                  </a:schemeClr>
                </a:solidFill>
                <a:latin typeface="Segoe UI" panose="020B0502040204020203" pitchFamily="34" charset="0"/>
                <a:cs typeface="Segoe UI" panose="020B0502040204020203" pitchFamily="34" charset="0"/>
              </a:rPr>
              <a:t>Postura de Seguridad y </a:t>
            </a:r>
            <a:r>
              <a:rPr lang="es-ES" sz="1600" b="1" noProof="0" err="1">
                <a:solidFill>
                  <a:schemeClr val="tx1">
                    <a:lumMod val="75000"/>
                    <a:lumOff val="25000"/>
                  </a:schemeClr>
                </a:solidFill>
                <a:latin typeface="Segoe UI" panose="020B0502040204020203" pitchFamily="34" charset="0"/>
                <a:cs typeface="Segoe UI" panose="020B0502040204020203" pitchFamily="34" charset="0"/>
              </a:rPr>
              <a:t>Managed</a:t>
            </a:r>
            <a:r>
              <a:rPr lang="es-ES" sz="1600" b="1" noProof="0">
                <a:solidFill>
                  <a:schemeClr val="tx1">
                    <a:lumMod val="75000"/>
                    <a:lumOff val="25000"/>
                  </a:schemeClr>
                </a:solidFill>
                <a:latin typeface="Segoe UI" panose="020B0502040204020203" pitchFamily="34" charset="0"/>
                <a:cs typeface="Segoe UI" panose="020B0502040204020203" pitchFamily="34" charset="0"/>
              </a:rPr>
              <a:t> Security en la Power Platform</a:t>
            </a:r>
          </a:p>
        </p:txBody>
      </p:sp>
      <p:grpSp>
        <p:nvGrpSpPr>
          <p:cNvPr id="192" name="Group 191">
            <a:extLst>
              <a:ext uri="{FF2B5EF4-FFF2-40B4-BE49-F238E27FC236}">
                <a16:creationId xmlns:a16="http://schemas.microsoft.com/office/drawing/2014/main" id="{3C1954FF-2AD0-4518-934B-4C485DCE7CDC}"/>
              </a:ext>
            </a:extLst>
          </p:cNvPr>
          <p:cNvGrpSpPr/>
          <p:nvPr/>
        </p:nvGrpSpPr>
        <p:grpSpPr>
          <a:xfrm>
            <a:off x="1093385" y="1447929"/>
            <a:ext cx="1018770" cy="983151"/>
            <a:chOff x="2262738" y="3314699"/>
            <a:chExt cx="1018770" cy="983151"/>
          </a:xfrm>
        </p:grpSpPr>
        <p:sp>
          <p:nvSpPr>
            <p:cNvPr id="202" name="Rectangle: Rounded Corners 201">
              <a:extLst>
                <a:ext uri="{FF2B5EF4-FFF2-40B4-BE49-F238E27FC236}">
                  <a16:creationId xmlns:a16="http://schemas.microsoft.com/office/drawing/2014/main" id="{2A657D8D-211F-43DA-A726-8E62F65F75EC}"/>
                </a:ext>
              </a:extLst>
            </p:cNvPr>
            <p:cNvSpPr/>
            <p:nvPr/>
          </p:nvSpPr>
          <p:spPr>
            <a:xfrm>
              <a:off x="2262738" y="3314699"/>
              <a:ext cx="983151" cy="983151"/>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04" name="TextBox 203">
              <a:extLst>
                <a:ext uri="{FF2B5EF4-FFF2-40B4-BE49-F238E27FC236}">
                  <a16:creationId xmlns:a16="http://schemas.microsoft.com/office/drawing/2014/main" id="{84CA598F-7C1B-400D-800D-24F09175ABB4}"/>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1</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sp>
        <p:nvSpPr>
          <p:cNvPr id="200" name="TextBox 199">
            <a:extLst>
              <a:ext uri="{FF2B5EF4-FFF2-40B4-BE49-F238E27FC236}">
                <a16:creationId xmlns:a16="http://schemas.microsoft.com/office/drawing/2014/main" id="{2737A2E9-A9A9-45E4-BF13-6E6CFD9CCFDB}"/>
              </a:ext>
            </a:extLst>
          </p:cNvPr>
          <p:cNvSpPr txBox="1"/>
          <p:nvPr/>
        </p:nvSpPr>
        <p:spPr>
          <a:xfrm>
            <a:off x="2354164" y="1710218"/>
            <a:ext cx="3737532" cy="584775"/>
          </a:xfrm>
          <a:prstGeom prst="rect">
            <a:avLst/>
          </a:prstGeom>
          <a:noFill/>
        </p:spPr>
        <p:txBody>
          <a:bodyPr wrap="square" rtlCol="0">
            <a:spAutoFit/>
          </a:bodyPr>
          <a:lstStyle/>
          <a:p>
            <a:r>
              <a:rPr lang="es-ES" sz="1600" b="1" noProof="0">
                <a:solidFill>
                  <a:schemeClr val="tx1">
                    <a:lumMod val="75000"/>
                    <a:lumOff val="25000"/>
                  </a:schemeClr>
                </a:solidFill>
                <a:latin typeface="Segoe UI" panose="020B0502040204020203" pitchFamily="34" charset="0"/>
                <a:cs typeface="Segoe UI" panose="020B0502040204020203" pitchFamily="34" charset="0"/>
              </a:rPr>
              <a:t>Proteger Datos y Plataformas: ¿Compromiso u obligación?</a:t>
            </a:r>
          </a:p>
        </p:txBody>
      </p:sp>
      <p:cxnSp>
        <p:nvCxnSpPr>
          <p:cNvPr id="216" name="Straight Connector 215">
            <a:extLst>
              <a:ext uri="{FF2B5EF4-FFF2-40B4-BE49-F238E27FC236}">
                <a16:creationId xmlns:a16="http://schemas.microsoft.com/office/drawing/2014/main" id="{D4BF8DAF-652C-41E5-BA3A-714203940373}"/>
              </a:ext>
            </a:extLst>
          </p:cNvPr>
          <p:cNvCxnSpPr>
            <a:cxnSpLocks/>
          </p:cNvCxnSpPr>
          <p:nvPr/>
        </p:nvCxnSpPr>
        <p:spPr>
          <a:xfrm>
            <a:off x="701950" y="1962319"/>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17" name="Oval 216">
            <a:extLst>
              <a:ext uri="{FF2B5EF4-FFF2-40B4-BE49-F238E27FC236}">
                <a16:creationId xmlns:a16="http://schemas.microsoft.com/office/drawing/2014/main" id="{99C6DBA3-5EF6-4D3F-AAE5-75BF0569BC73}"/>
              </a:ext>
            </a:extLst>
          </p:cNvPr>
          <p:cNvSpPr/>
          <p:nvPr/>
        </p:nvSpPr>
        <p:spPr>
          <a:xfrm>
            <a:off x="637058" y="1874612"/>
            <a:ext cx="129785" cy="129785"/>
          </a:xfrm>
          <a:prstGeom prst="ellipse">
            <a:avLst/>
          </a:prstGeom>
          <a:solidFill>
            <a:schemeClr val="tx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19" name="Oval 218">
            <a:extLst>
              <a:ext uri="{FF2B5EF4-FFF2-40B4-BE49-F238E27FC236}">
                <a16:creationId xmlns:a16="http://schemas.microsoft.com/office/drawing/2014/main" id="{A9601130-C84D-44C2-A591-1759592C53AE}"/>
              </a:ext>
            </a:extLst>
          </p:cNvPr>
          <p:cNvSpPr/>
          <p:nvPr/>
        </p:nvSpPr>
        <p:spPr>
          <a:xfrm>
            <a:off x="637058" y="3253405"/>
            <a:ext cx="129785" cy="129785"/>
          </a:xfrm>
          <a:prstGeom prst="ellipse">
            <a:avLst/>
          </a:prstGeom>
          <a:solidFill>
            <a:schemeClr val="accent1"/>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220" name="Oval 219">
            <a:extLst>
              <a:ext uri="{FF2B5EF4-FFF2-40B4-BE49-F238E27FC236}">
                <a16:creationId xmlns:a16="http://schemas.microsoft.com/office/drawing/2014/main" id="{201307F4-0720-4B51-8BE7-76C6CD232982}"/>
              </a:ext>
            </a:extLst>
          </p:cNvPr>
          <p:cNvSpPr/>
          <p:nvPr/>
        </p:nvSpPr>
        <p:spPr>
          <a:xfrm>
            <a:off x="637058" y="4632198"/>
            <a:ext cx="129785" cy="129785"/>
          </a:xfrm>
          <a:prstGeom prst="ellipse">
            <a:avLst/>
          </a:prstGeom>
          <a:solidFill>
            <a:schemeClr val="accent3"/>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grpSp>
        <p:nvGrpSpPr>
          <p:cNvPr id="28" name="Group 161">
            <a:extLst>
              <a:ext uri="{FF2B5EF4-FFF2-40B4-BE49-F238E27FC236}">
                <a16:creationId xmlns:a16="http://schemas.microsoft.com/office/drawing/2014/main" id="{190ED1F3-D80A-EE4D-2AA5-CC28420C1E03}"/>
              </a:ext>
            </a:extLst>
          </p:cNvPr>
          <p:cNvGrpSpPr/>
          <p:nvPr/>
        </p:nvGrpSpPr>
        <p:grpSpPr>
          <a:xfrm>
            <a:off x="6742950" y="4249890"/>
            <a:ext cx="1018770" cy="983151"/>
            <a:chOff x="2244928" y="3314699"/>
            <a:chExt cx="1018770" cy="983151"/>
          </a:xfrm>
        </p:grpSpPr>
        <p:sp>
          <p:nvSpPr>
            <p:cNvPr id="29" name="Rectangle: Rounded Corners 171">
              <a:extLst>
                <a:ext uri="{FF2B5EF4-FFF2-40B4-BE49-F238E27FC236}">
                  <a16:creationId xmlns:a16="http://schemas.microsoft.com/office/drawing/2014/main" id="{DF4205BB-B4DE-DA0E-1F8D-60BCCCF621C7}"/>
                </a:ext>
              </a:extLst>
            </p:cNvPr>
            <p:cNvSpPr/>
            <p:nvPr/>
          </p:nvSpPr>
          <p:spPr>
            <a:xfrm>
              <a:off x="2262738" y="3314699"/>
              <a:ext cx="983151" cy="983151"/>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0" name="TextBox 173">
              <a:extLst>
                <a:ext uri="{FF2B5EF4-FFF2-40B4-BE49-F238E27FC236}">
                  <a16:creationId xmlns:a16="http://schemas.microsoft.com/office/drawing/2014/main" id="{1551E69C-4B15-6D25-3573-98D00EAF6944}"/>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6</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sp>
        <p:nvSpPr>
          <p:cNvPr id="32" name="TextBox 169">
            <a:extLst>
              <a:ext uri="{FF2B5EF4-FFF2-40B4-BE49-F238E27FC236}">
                <a16:creationId xmlns:a16="http://schemas.microsoft.com/office/drawing/2014/main" id="{E32C69AB-1DF0-D521-C52E-B86BA81698EE}"/>
              </a:ext>
            </a:extLst>
          </p:cNvPr>
          <p:cNvSpPr txBox="1"/>
          <p:nvPr/>
        </p:nvSpPr>
        <p:spPr>
          <a:xfrm>
            <a:off x="8021539" y="4512178"/>
            <a:ext cx="4056128" cy="350919"/>
          </a:xfrm>
          <a:prstGeom prst="rect">
            <a:avLst/>
          </a:prstGeom>
          <a:noFill/>
        </p:spPr>
        <p:txBody>
          <a:bodyPr wrap="square" rtlCol="0">
            <a:spAutoFit/>
          </a:bodyPr>
          <a:lstStyle/>
          <a:p>
            <a:r>
              <a:rPr lang="es-ES" sz="1600" b="1" noProof="0">
                <a:solidFill>
                  <a:schemeClr val="tx1">
                    <a:lumMod val="75000"/>
                    <a:lumOff val="25000"/>
                  </a:schemeClr>
                </a:solidFill>
                <a:latin typeface="Segoe UI" panose="020B0502040204020203" pitchFamily="34" charset="0"/>
                <a:cs typeface="Segoe UI" panose="020B0502040204020203" pitchFamily="34" charset="0"/>
              </a:rPr>
              <a:t>Protección frente a amenazas</a:t>
            </a:r>
          </a:p>
        </p:txBody>
      </p:sp>
      <p:grpSp>
        <p:nvGrpSpPr>
          <p:cNvPr id="34" name="Group 176">
            <a:extLst>
              <a:ext uri="{FF2B5EF4-FFF2-40B4-BE49-F238E27FC236}">
                <a16:creationId xmlns:a16="http://schemas.microsoft.com/office/drawing/2014/main" id="{019EE28A-F7A7-AB69-F64E-E3B46572A14D}"/>
              </a:ext>
            </a:extLst>
          </p:cNvPr>
          <p:cNvGrpSpPr/>
          <p:nvPr/>
        </p:nvGrpSpPr>
        <p:grpSpPr>
          <a:xfrm>
            <a:off x="6742950" y="2871097"/>
            <a:ext cx="1018770" cy="983151"/>
            <a:chOff x="2244928" y="3314699"/>
            <a:chExt cx="1018770" cy="983151"/>
          </a:xfrm>
        </p:grpSpPr>
        <p:sp>
          <p:nvSpPr>
            <p:cNvPr id="35" name="Rectangle: Rounded Corners 186">
              <a:extLst>
                <a:ext uri="{FF2B5EF4-FFF2-40B4-BE49-F238E27FC236}">
                  <a16:creationId xmlns:a16="http://schemas.microsoft.com/office/drawing/2014/main" id="{ED97634B-C0F8-FF35-80D8-485AA68CAAA2}"/>
                </a:ext>
              </a:extLst>
            </p:cNvPr>
            <p:cNvSpPr/>
            <p:nvPr/>
          </p:nvSpPr>
          <p:spPr>
            <a:xfrm>
              <a:off x="2262738" y="3314699"/>
              <a:ext cx="983151" cy="98315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36" name="TextBox 188">
              <a:extLst>
                <a:ext uri="{FF2B5EF4-FFF2-40B4-BE49-F238E27FC236}">
                  <a16:creationId xmlns:a16="http://schemas.microsoft.com/office/drawing/2014/main" id="{0BA8A846-D1AA-409F-EE6C-D240D68FE38E}"/>
                </a:ext>
              </a:extLst>
            </p:cNvPr>
            <p:cNvSpPr txBox="1"/>
            <p:nvPr/>
          </p:nvSpPr>
          <p:spPr>
            <a:xfrm>
              <a:off x="224492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5</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sp>
        <p:nvSpPr>
          <p:cNvPr id="38" name="TextBox 184">
            <a:extLst>
              <a:ext uri="{FF2B5EF4-FFF2-40B4-BE49-F238E27FC236}">
                <a16:creationId xmlns:a16="http://schemas.microsoft.com/office/drawing/2014/main" id="{19D83CA5-7630-4913-8991-E80AD731213C}"/>
              </a:ext>
            </a:extLst>
          </p:cNvPr>
          <p:cNvSpPr txBox="1"/>
          <p:nvPr/>
        </p:nvSpPr>
        <p:spPr>
          <a:xfrm>
            <a:off x="8021539" y="3133386"/>
            <a:ext cx="4056130" cy="338554"/>
          </a:xfrm>
          <a:prstGeom prst="rect">
            <a:avLst/>
          </a:prstGeom>
          <a:noFill/>
        </p:spPr>
        <p:txBody>
          <a:bodyPr wrap="square" rtlCol="0">
            <a:spAutoFit/>
          </a:bodyPr>
          <a:lstStyle/>
          <a:p>
            <a:r>
              <a:rPr lang="es-ES" sz="1600" b="1" noProof="0">
                <a:solidFill>
                  <a:schemeClr val="tx1">
                    <a:lumMod val="75000"/>
                    <a:lumOff val="25000"/>
                  </a:schemeClr>
                </a:solidFill>
                <a:latin typeface="Segoe UI" panose="020B0502040204020203" pitchFamily="34" charset="0"/>
                <a:cs typeface="Segoe UI" panose="020B0502040204020203" pitchFamily="34" charset="0"/>
              </a:rPr>
              <a:t>Auditoría y Cumplimiento</a:t>
            </a:r>
          </a:p>
        </p:txBody>
      </p:sp>
      <p:grpSp>
        <p:nvGrpSpPr>
          <p:cNvPr id="40" name="Group 191">
            <a:extLst>
              <a:ext uri="{FF2B5EF4-FFF2-40B4-BE49-F238E27FC236}">
                <a16:creationId xmlns:a16="http://schemas.microsoft.com/office/drawing/2014/main" id="{504AC61D-DC6E-4B14-F10B-A8FE6B2DCCB3}"/>
              </a:ext>
            </a:extLst>
          </p:cNvPr>
          <p:cNvGrpSpPr/>
          <p:nvPr/>
        </p:nvGrpSpPr>
        <p:grpSpPr>
          <a:xfrm>
            <a:off x="6760760" y="1492304"/>
            <a:ext cx="1018770" cy="983151"/>
            <a:chOff x="2262738" y="3314699"/>
            <a:chExt cx="1018770" cy="983151"/>
          </a:xfrm>
        </p:grpSpPr>
        <p:sp>
          <p:nvSpPr>
            <p:cNvPr id="41" name="Rectangle: Rounded Corners 201">
              <a:extLst>
                <a:ext uri="{FF2B5EF4-FFF2-40B4-BE49-F238E27FC236}">
                  <a16:creationId xmlns:a16="http://schemas.microsoft.com/office/drawing/2014/main" id="{B5695B62-9746-A11F-E5D1-0C6F333F599A}"/>
                </a:ext>
              </a:extLst>
            </p:cNvPr>
            <p:cNvSpPr/>
            <p:nvPr/>
          </p:nvSpPr>
          <p:spPr>
            <a:xfrm>
              <a:off x="2262738" y="3314699"/>
              <a:ext cx="983151" cy="98315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2" name="TextBox 203">
              <a:extLst>
                <a:ext uri="{FF2B5EF4-FFF2-40B4-BE49-F238E27FC236}">
                  <a16:creationId xmlns:a16="http://schemas.microsoft.com/office/drawing/2014/main" id="{630DF5F5-F29D-132F-8BAA-3462D6C011F9}"/>
                </a:ext>
              </a:extLst>
            </p:cNvPr>
            <p:cNvSpPr txBox="1"/>
            <p:nvPr/>
          </p:nvSpPr>
          <p:spPr>
            <a:xfrm>
              <a:off x="2262738" y="3483108"/>
              <a:ext cx="1018770" cy="646331"/>
            </a:xfrm>
            <a:prstGeom prst="rect">
              <a:avLst/>
            </a:prstGeom>
            <a:noFill/>
          </p:spPr>
          <p:txBody>
            <a:bodyPr wrap="square" rtlCol="0">
              <a:spAutoFit/>
            </a:bodyPr>
            <a:lstStyle/>
            <a:p>
              <a:pPr algn="ctr"/>
              <a:r>
                <a:rPr lang="en-US" sz="3600" b="1">
                  <a:solidFill>
                    <a:schemeClr val="bg1"/>
                  </a:solidFill>
                  <a:latin typeface="Segoe UI" panose="020B0502040204020203" pitchFamily="34" charset="0"/>
                  <a:ea typeface="Liberation Sans" panose="020B0604020202020204" pitchFamily="34" charset="0"/>
                  <a:cs typeface="Segoe UI" panose="020B0502040204020203" pitchFamily="34" charset="0"/>
                </a:rPr>
                <a:t>4</a:t>
              </a:r>
              <a:endParaRPr lang="id-ID" sz="3600" b="1">
                <a:solidFill>
                  <a:schemeClr val="bg1"/>
                </a:solidFill>
                <a:latin typeface="Segoe UI" panose="020B0502040204020203" pitchFamily="34" charset="0"/>
                <a:ea typeface="Liberation Sans" panose="020B0604020202020204" pitchFamily="34" charset="0"/>
                <a:cs typeface="Segoe UI" panose="020B0502040204020203" pitchFamily="34" charset="0"/>
              </a:endParaRPr>
            </a:p>
          </p:txBody>
        </p:sp>
      </p:grpSp>
      <p:sp>
        <p:nvSpPr>
          <p:cNvPr id="44" name="TextBox 199">
            <a:extLst>
              <a:ext uri="{FF2B5EF4-FFF2-40B4-BE49-F238E27FC236}">
                <a16:creationId xmlns:a16="http://schemas.microsoft.com/office/drawing/2014/main" id="{55307E6B-ECD7-1621-47E3-998BE4FBE0AA}"/>
              </a:ext>
            </a:extLst>
          </p:cNvPr>
          <p:cNvSpPr txBox="1"/>
          <p:nvPr/>
        </p:nvSpPr>
        <p:spPr>
          <a:xfrm>
            <a:off x="8021538" y="1754593"/>
            <a:ext cx="4056129" cy="584775"/>
          </a:xfrm>
          <a:prstGeom prst="rect">
            <a:avLst/>
          </a:prstGeom>
          <a:noFill/>
        </p:spPr>
        <p:txBody>
          <a:bodyPr wrap="square" rtlCol="0">
            <a:spAutoFit/>
          </a:bodyPr>
          <a:lstStyle/>
          <a:p>
            <a:r>
              <a:rPr lang="es-ES" sz="1600" b="1" err="1">
                <a:solidFill>
                  <a:schemeClr val="tx1">
                    <a:lumMod val="75000"/>
                    <a:lumOff val="25000"/>
                  </a:schemeClr>
                </a:solidFill>
                <a:latin typeface="Segoe UI" panose="020B0502040204020203" pitchFamily="34" charset="0"/>
                <a:cs typeface="Segoe UI" panose="020B0502040204020203" pitchFamily="34" charset="0"/>
              </a:rPr>
              <a:t>Securizando</a:t>
            </a:r>
            <a:r>
              <a:rPr lang="es-ES" sz="1600" b="1">
                <a:solidFill>
                  <a:schemeClr val="tx1">
                    <a:lumMod val="75000"/>
                    <a:lumOff val="25000"/>
                  </a:schemeClr>
                </a:solidFill>
                <a:latin typeface="Segoe UI" panose="020B0502040204020203" pitchFamily="34" charset="0"/>
                <a:cs typeface="Segoe UI" panose="020B0502040204020203" pitchFamily="34" charset="0"/>
              </a:rPr>
              <a:t> la Identidad, el Acceso y la Red en la Power Platform</a:t>
            </a:r>
          </a:p>
        </p:txBody>
      </p:sp>
      <p:cxnSp>
        <p:nvCxnSpPr>
          <p:cNvPr id="46" name="Straight Connector 215">
            <a:extLst>
              <a:ext uri="{FF2B5EF4-FFF2-40B4-BE49-F238E27FC236}">
                <a16:creationId xmlns:a16="http://schemas.microsoft.com/office/drawing/2014/main" id="{FA8B5E3A-8635-108C-5A55-955A82F693B1}"/>
              </a:ext>
            </a:extLst>
          </p:cNvPr>
          <p:cNvCxnSpPr>
            <a:cxnSpLocks/>
          </p:cNvCxnSpPr>
          <p:nvPr/>
        </p:nvCxnSpPr>
        <p:spPr>
          <a:xfrm>
            <a:off x="6369325" y="2006694"/>
            <a:ext cx="0" cy="5076656"/>
          </a:xfrm>
          <a:prstGeom prst="line">
            <a:avLst/>
          </a:prstGeom>
          <a:ln w="158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7" name="Oval 216">
            <a:extLst>
              <a:ext uri="{FF2B5EF4-FFF2-40B4-BE49-F238E27FC236}">
                <a16:creationId xmlns:a16="http://schemas.microsoft.com/office/drawing/2014/main" id="{54EBDAC6-DDBA-7751-4243-FF3A73972523}"/>
              </a:ext>
            </a:extLst>
          </p:cNvPr>
          <p:cNvSpPr/>
          <p:nvPr/>
        </p:nvSpPr>
        <p:spPr>
          <a:xfrm>
            <a:off x="6304433" y="1918987"/>
            <a:ext cx="129785" cy="129785"/>
          </a:xfrm>
          <a:prstGeom prst="ellipse">
            <a:avLst/>
          </a:prstGeom>
          <a:solidFill>
            <a:schemeClr val="accent2"/>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8" name="Oval 218">
            <a:extLst>
              <a:ext uri="{FF2B5EF4-FFF2-40B4-BE49-F238E27FC236}">
                <a16:creationId xmlns:a16="http://schemas.microsoft.com/office/drawing/2014/main" id="{98D04922-2BC7-72FC-892D-2DC78E4A9EDD}"/>
              </a:ext>
            </a:extLst>
          </p:cNvPr>
          <p:cNvSpPr/>
          <p:nvPr/>
        </p:nvSpPr>
        <p:spPr>
          <a:xfrm>
            <a:off x="6304433" y="3297780"/>
            <a:ext cx="129785" cy="129785"/>
          </a:xfrm>
          <a:prstGeom prst="ellipse">
            <a:avLst/>
          </a:prstGeom>
          <a:solidFill>
            <a:schemeClr val="accent4"/>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49" name="Oval 219">
            <a:extLst>
              <a:ext uri="{FF2B5EF4-FFF2-40B4-BE49-F238E27FC236}">
                <a16:creationId xmlns:a16="http://schemas.microsoft.com/office/drawing/2014/main" id="{29F68434-CAA1-8A88-762D-472FDEDCCD2E}"/>
              </a:ext>
            </a:extLst>
          </p:cNvPr>
          <p:cNvSpPr/>
          <p:nvPr/>
        </p:nvSpPr>
        <p:spPr>
          <a:xfrm>
            <a:off x="6304433" y="4676573"/>
            <a:ext cx="129785" cy="129785"/>
          </a:xfrm>
          <a:prstGeom prst="ellipse">
            <a:avLst/>
          </a:prstGeom>
          <a:solidFill>
            <a:schemeClr val="bg2">
              <a:lumMod val="50000"/>
            </a:schemeClr>
          </a:solidFill>
          <a:ln w="38100">
            <a:solidFill>
              <a:schemeClr val="bg1"/>
            </a:solidFill>
          </a:ln>
          <a:effectLst>
            <a:outerShdw blurRad="1397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90770231"/>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7585-CAB8-3D92-3250-174CDFD18ACC}"/>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37E8F36B-66DD-68BF-2239-E5E4C7F7F30A}"/>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2" name="TextBox 1" descr="Evolving regulatory and legal requirement &#10;">
            <a:extLst>
              <a:ext uri="{FF2B5EF4-FFF2-40B4-BE49-F238E27FC236}">
                <a16:creationId xmlns:a16="http://schemas.microsoft.com/office/drawing/2014/main" id="{9400C35C-D4D1-A9CB-6034-43CEE1F7F0AE}"/>
              </a:ext>
            </a:extLst>
          </p:cNvPr>
          <p:cNvSpPr txBox="1"/>
          <p:nvPr/>
        </p:nvSpPr>
        <p:spPr>
          <a:xfrm>
            <a:off x="8606209" y="4337583"/>
            <a:ext cx="2011680" cy="984885"/>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Requerimientos legales y regulatorios en constante evolución</a:t>
            </a:r>
          </a:p>
        </p:txBody>
      </p:sp>
      <p:sp>
        <p:nvSpPr>
          <p:cNvPr id="3" name="TextBox 2">
            <a:extLst>
              <a:ext uri="{FF2B5EF4-FFF2-40B4-BE49-F238E27FC236}">
                <a16:creationId xmlns:a16="http://schemas.microsoft.com/office/drawing/2014/main" id="{14F7C49E-A1C3-3AB6-BAD4-DADA539170F7}"/>
              </a:ext>
            </a:extLst>
          </p:cNvPr>
          <p:cNvSpPr txBox="1"/>
          <p:nvPr/>
        </p:nvSpPr>
        <p:spPr>
          <a:xfrm>
            <a:off x="1482090" y="4337583"/>
            <a:ext cx="2011680" cy="738664"/>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Los ataques son cada vez más y más sofisticados</a:t>
            </a:r>
          </a:p>
        </p:txBody>
      </p:sp>
      <p:sp>
        <p:nvSpPr>
          <p:cNvPr id="4" name="TextBox 3" descr="Drive to leverage data to unlock AI-driven scenarios &#10;">
            <a:extLst>
              <a:ext uri="{FF2B5EF4-FFF2-40B4-BE49-F238E27FC236}">
                <a16:creationId xmlns:a16="http://schemas.microsoft.com/office/drawing/2014/main" id="{CC4DC965-AC19-E130-3F09-4F4887081CB2}"/>
              </a:ext>
            </a:extLst>
          </p:cNvPr>
          <p:cNvSpPr txBox="1"/>
          <p:nvPr/>
        </p:nvSpPr>
        <p:spPr>
          <a:xfrm>
            <a:off x="3901019" y="4337583"/>
            <a:ext cx="2011680" cy="1231106"/>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rPr>
              <a:t>La explosión de escenarios de IA requiere</a:t>
            </a:r>
            <a:r>
              <a:rPr lang="es-ES" sz="1600">
                <a:solidFill>
                  <a:schemeClr val="bg1"/>
                </a:solidFill>
                <a:latin typeface="Segoe UI" panose="020B0502040204020203" pitchFamily="34" charset="0"/>
                <a:cs typeface="Segoe UI" panose="020B0502040204020203" pitchFamily="34" charset="0"/>
              </a:rPr>
              <a:t> asegurar un acceso correcto y seguro a los datos</a:t>
            </a:r>
            <a:endParaRPr kumimoji="0" lang="es-ES" sz="1600" b="0" i="0" u="none" strike="noStrike" kern="1200" cap="none" spc="0" normalizeH="0" baseline="0" noProof="0">
              <a:ln>
                <a:noFill/>
              </a:ln>
              <a:solidFill>
                <a:schemeClr val="bg1"/>
              </a:solidFill>
              <a:effectLst/>
              <a:uLnTx/>
              <a:uFillTx/>
              <a:latin typeface="Segoe UI" panose="020B0502040204020203" pitchFamily="34" charset="0"/>
              <a:cs typeface="Segoe UI" panose="020B0502040204020203" pitchFamily="34" charset="0"/>
            </a:endParaRPr>
          </a:p>
        </p:txBody>
      </p:sp>
      <p:sp>
        <p:nvSpPr>
          <p:cNvPr id="5" name="TextBox 4" descr="Data access demands from an increasingly dynamic workforce&#10;">
            <a:extLst>
              <a:ext uri="{FF2B5EF4-FFF2-40B4-BE49-F238E27FC236}">
                <a16:creationId xmlns:a16="http://schemas.microsoft.com/office/drawing/2014/main" id="{1D779FCC-7DF2-AD03-74C1-34E69E8CC840}"/>
              </a:ext>
            </a:extLst>
          </p:cNvPr>
          <p:cNvSpPr txBox="1"/>
          <p:nvPr/>
        </p:nvSpPr>
        <p:spPr>
          <a:xfrm>
            <a:off x="6237465" y="4337583"/>
            <a:ext cx="2011680" cy="984885"/>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Demanda de acceso a datos por un número creciente y dinámico de usuarios</a:t>
            </a:r>
          </a:p>
        </p:txBody>
      </p:sp>
      <p:pic>
        <p:nvPicPr>
          <p:cNvPr id="6" name="Picture 5" descr="A computer hacker with a hoodie and a computer&#10;&#10;Description automatically generated">
            <a:extLst>
              <a:ext uri="{FF2B5EF4-FFF2-40B4-BE49-F238E27FC236}">
                <a16:creationId xmlns:a16="http://schemas.microsoft.com/office/drawing/2014/main" id="{07A03608-08FF-B1BB-0256-54FEC276F8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1917" y="2693471"/>
            <a:ext cx="1326842" cy="1326842"/>
          </a:xfrm>
          <a:prstGeom prst="rect">
            <a:avLst/>
          </a:prstGeom>
        </p:spPr>
      </p:pic>
      <p:pic>
        <p:nvPicPr>
          <p:cNvPr id="7" name="Picture 6" descr="A hand touching a finger&#10;&#10;Description automatically generated">
            <a:extLst>
              <a:ext uri="{FF2B5EF4-FFF2-40B4-BE49-F238E27FC236}">
                <a16:creationId xmlns:a16="http://schemas.microsoft.com/office/drawing/2014/main" id="{EB5F63F7-4B8E-EBC9-129B-B45F6F57B0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11622" y="2693471"/>
            <a:ext cx="1325880" cy="1325880"/>
          </a:xfrm>
          <a:prstGeom prst="rect">
            <a:avLst/>
          </a:prstGeom>
        </p:spPr>
      </p:pic>
      <p:pic>
        <p:nvPicPr>
          <p:cNvPr id="11" name="Picture 10">
            <a:extLst>
              <a:ext uri="{FF2B5EF4-FFF2-40B4-BE49-F238E27FC236}">
                <a16:creationId xmlns:a16="http://schemas.microsoft.com/office/drawing/2014/main" id="{74D90C33-DF70-4F06-477A-CD769BE89D05}"/>
              </a:ext>
            </a:extLst>
          </p:cNvPr>
          <p:cNvPicPr>
            <a:picLocks noChangeAspect="1"/>
          </p:cNvPicPr>
          <p:nvPr/>
        </p:nvPicPr>
        <p:blipFill>
          <a:blip r:embed="rId5"/>
          <a:stretch>
            <a:fillRect/>
          </a:stretch>
        </p:blipFill>
        <p:spPr>
          <a:xfrm>
            <a:off x="6580365" y="2693471"/>
            <a:ext cx="1325880" cy="1325880"/>
          </a:xfrm>
          <a:prstGeom prst="rect">
            <a:avLst/>
          </a:prstGeom>
        </p:spPr>
      </p:pic>
      <p:pic>
        <p:nvPicPr>
          <p:cNvPr id="12" name="Picture 11">
            <a:extLst>
              <a:ext uri="{FF2B5EF4-FFF2-40B4-BE49-F238E27FC236}">
                <a16:creationId xmlns:a16="http://schemas.microsoft.com/office/drawing/2014/main" id="{67A9ECB0-85B9-56EA-52B9-A7F9DC8314FF}"/>
              </a:ext>
            </a:extLst>
          </p:cNvPr>
          <p:cNvPicPr>
            <a:picLocks noChangeAspect="1"/>
          </p:cNvPicPr>
          <p:nvPr/>
        </p:nvPicPr>
        <p:blipFill>
          <a:blip r:embed="rId6"/>
          <a:stretch>
            <a:fillRect/>
          </a:stretch>
        </p:blipFill>
        <p:spPr>
          <a:xfrm>
            <a:off x="8949109" y="2693471"/>
            <a:ext cx="1325880" cy="1325880"/>
          </a:xfrm>
          <a:prstGeom prst="rect">
            <a:avLst/>
          </a:prstGeom>
        </p:spPr>
      </p:pic>
      <p:sp>
        <p:nvSpPr>
          <p:cNvPr id="13" name="TextBox 12">
            <a:extLst>
              <a:ext uri="{FF2B5EF4-FFF2-40B4-BE49-F238E27FC236}">
                <a16:creationId xmlns:a16="http://schemas.microsoft.com/office/drawing/2014/main" id="{4FF8ADA4-7F08-F355-C553-41BF38064C2A}"/>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Proteger Datos y Plataformas: ¿Compromiso u Obligación?</a:t>
            </a:r>
          </a:p>
        </p:txBody>
      </p:sp>
      <p:pic>
        <p:nvPicPr>
          <p:cNvPr id="8" name="Picture Placeholder 2" descr="A person smiling for a picture&#10;&#10;AI-generated content may be incorrect.">
            <a:extLst>
              <a:ext uri="{FF2B5EF4-FFF2-40B4-BE49-F238E27FC236}">
                <a16:creationId xmlns:a16="http://schemas.microsoft.com/office/drawing/2014/main" id="{47B80C4F-8DB8-70C5-241C-427606D6A328}"/>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281851" y="5315"/>
            <a:ext cx="910149" cy="1005840"/>
          </a:xfrm>
          <a:prstGeom prst="ellipse">
            <a:avLst/>
          </a:prstGeom>
          <a:ln>
            <a:noFill/>
          </a:ln>
          <a:effectLst>
            <a:softEdge rad="112500"/>
          </a:effectLst>
        </p:spPr>
      </p:pic>
    </p:spTree>
    <p:extLst>
      <p:ext uri="{BB962C8B-B14F-4D97-AF65-F5344CB8AC3E}">
        <p14:creationId xmlns:p14="http://schemas.microsoft.com/office/powerpoint/2010/main" val="71661767"/>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1000"/>
                                        <p:tgtEl>
                                          <p:spTgt spid="2"/>
                                        </p:tgtEl>
                                      </p:cBhvr>
                                    </p:animEffect>
                                    <p:anim calcmode="lin" valueType="num">
                                      <p:cBhvr>
                                        <p:cTn id="44" dur="1000" fill="hold"/>
                                        <p:tgtEl>
                                          <p:spTgt spid="2"/>
                                        </p:tgtEl>
                                        <p:attrNameLst>
                                          <p:attrName>ppt_x</p:attrName>
                                        </p:attrNameLst>
                                      </p:cBhvr>
                                      <p:tavLst>
                                        <p:tav tm="0">
                                          <p:val>
                                            <p:strVal val="#ppt_x"/>
                                          </p:val>
                                        </p:tav>
                                        <p:tav tm="100000">
                                          <p:val>
                                            <p:strVal val="#ppt_x"/>
                                          </p:val>
                                        </p:tav>
                                      </p:tavLst>
                                    </p:anim>
                                    <p:anim calcmode="lin" valueType="num">
                                      <p:cBhvr>
                                        <p:cTn id="45" dur="1000" fill="hold"/>
                                        <p:tgtEl>
                                          <p:spTgt spid="2"/>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C73B9-E1E1-E26E-2767-3609E7AC371A}"/>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FB150DC0-8681-02CA-4A2E-386E80D9AA98}"/>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8" name="TextBox 7">
            <a:extLst>
              <a:ext uri="{FF2B5EF4-FFF2-40B4-BE49-F238E27FC236}">
                <a16:creationId xmlns:a16="http://schemas.microsoft.com/office/drawing/2014/main" id="{0C08F387-E805-6D19-C783-C84B097D6A92}"/>
              </a:ext>
            </a:extLst>
          </p:cNvPr>
          <p:cNvSpPr txBox="1"/>
          <p:nvPr/>
        </p:nvSpPr>
        <p:spPr>
          <a:xfrm>
            <a:off x="1981766" y="3573744"/>
            <a:ext cx="2194560" cy="492443"/>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Controlando y limitando el acceso a los datos</a:t>
            </a:r>
          </a:p>
        </p:txBody>
      </p:sp>
      <p:sp>
        <p:nvSpPr>
          <p:cNvPr id="10" name="TextBox 9">
            <a:extLst>
              <a:ext uri="{FF2B5EF4-FFF2-40B4-BE49-F238E27FC236}">
                <a16:creationId xmlns:a16="http://schemas.microsoft.com/office/drawing/2014/main" id="{86823D6A-C28B-9F37-A1C3-2E2F22EEF687}"/>
              </a:ext>
            </a:extLst>
          </p:cNvPr>
          <p:cNvSpPr txBox="1"/>
          <p:nvPr/>
        </p:nvSpPr>
        <p:spPr>
          <a:xfrm>
            <a:off x="4998720" y="3573744"/>
            <a:ext cx="2194560" cy="492443"/>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Previniendo filtraciones de datos</a:t>
            </a:r>
          </a:p>
        </p:txBody>
      </p:sp>
      <p:sp>
        <p:nvSpPr>
          <p:cNvPr id="13" name="TextBox 12">
            <a:extLst>
              <a:ext uri="{FF2B5EF4-FFF2-40B4-BE49-F238E27FC236}">
                <a16:creationId xmlns:a16="http://schemas.microsoft.com/office/drawing/2014/main" id="{2F8317B4-A8E8-D3DE-5801-9E5587C37BB4}"/>
              </a:ext>
            </a:extLst>
          </p:cNvPr>
          <p:cNvSpPr txBox="1"/>
          <p:nvPr/>
        </p:nvSpPr>
        <p:spPr>
          <a:xfrm>
            <a:off x="8259562" y="3573744"/>
            <a:ext cx="2194560" cy="492443"/>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Cumpliendo las regulaciones  y normas</a:t>
            </a:r>
          </a:p>
        </p:txBody>
      </p:sp>
      <p:sp>
        <p:nvSpPr>
          <p:cNvPr id="14" name="TextBox 13">
            <a:extLst>
              <a:ext uri="{FF2B5EF4-FFF2-40B4-BE49-F238E27FC236}">
                <a16:creationId xmlns:a16="http://schemas.microsoft.com/office/drawing/2014/main" id="{3D56B3C5-6AE4-33B7-ED07-46AFEA32D70A}"/>
              </a:ext>
            </a:extLst>
          </p:cNvPr>
          <p:cNvSpPr txBox="1"/>
          <p:nvPr/>
        </p:nvSpPr>
        <p:spPr>
          <a:xfrm>
            <a:off x="1981766" y="5561155"/>
            <a:ext cx="2194560" cy="738664"/>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lang="es-ES" sz="1600">
                <a:solidFill>
                  <a:schemeClr val="bg1"/>
                </a:solidFill>
                <a:latin typeface="Segoe UI" panose="020B0502040204020203" pitchFamily="34" charset="0"/>
                <a:cs typeface="Segoe UI" panose="020B0502040204020203" pitchFamily="34" charset="0"/>
              </a:rPr>
              <a:t>Protegiendo los datos frente a amenazas externas</a:t>
            </a:r>
            <a:endPar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96AEB5E8-E299-0EE7-6D49-DBE40D350072}"/>
              </a:ext>
            </a:extLst>
          </p:cNvPr>
          <p:cNvSpPr txBox="1"/>
          <p:nvPr/>
        </p:nvSpPr>
        <p:spPr>
          <a:xfrm>
            <a:off x="5120664" y="5561155"/>
            <a:ext cx="2194560" cy="492443"/>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lang="es-ES" sz="1600">
                <a:solidFill>
                  <a:schemeClr val="bg1"/>
                </a:solidFill>
                <a:latin typeface="Segoe UI" panose="020B0502040204020203" pitchFamily="34" charset="0"/>
                <a:cs typeface="Segoe UI" panose="020B0502040204020203" pitchFamily="34" charset="0"/>
              </a:rPr>
              <a:t>Con visibilidad de la actividad de usuario</a:t>
            </a:r>
            <a:endPar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endParaRPr>
          </a:p>
        </p:txBody>
      </p:sp>
      <p:sp>
        <p:nvSpPr>
          <p:cNvPr id="16" name="TextBox 15">
            <a:extLst>
              <a:ext uri="{FF2B5EF4-FFF2-40B4-BE49-F238E27FC236}">
                <a16:creationId xmlns:a16="http://schemas.microsoft.com/office/drawing/2014/main" id="{4CDC68ED-D247-4334-BBAB-426FF4598172}"/>
              </a:ext>
            </a:extLst>
          </p:cNvPr>
          <p:cNvSpPr txBox="1"/>
          <p:nvPr/>
        </p:nvSpPr>
        <p:spPr>
          <a:xfrm>
            <a:off x="8259562" y="5561155"/>
            <a:ext cx="2194560" cy="492443"/>
          </a:xfrm>
          <a:prstGeom prst="rect">
            <a:avLst/>
          </a:prstGeom>
          <a:noFill/>
        </p:spPr>
        <p:txBody>
          <a:bodyPr wrap="square" lIns="0" tIns="0" rIns="0" bIns="0" rtlCol="0">
            <a:spAutoFit/>
          </a:bodyPr>
          <a:lstStyle/>
          <a:p>
            <a:pPr marL="0" marR="0" lvl="0" indent="0" algn="ctr" defTabSz="851306" rtl="0" eaLnBrk="1" fontAlgn="auto" latinLnBrk="0" hangingPunct="1">
              <a:lnSpc>
                <a:spcPct val="100000"/>
              </a:lnSpc>
              <a:spcBef>
                <a:spcPts val="0"/>
              </a:spcBef>
              <a:spcAft>
                <a:spcPts val="570"/>
              </a:spcAft>
              <a:buClrTx/>
              <a:buSzTx/>
              <a:buFontTx/>
              <a:buNone/>
              <a:tabLst/>
              <a:defRPr/>
            </a:pPr>
            <a:r>
              <a:rPr kumimoji="0" lang="es-ES" sz="1600" b="0" i="0" u="none" strike="noStrike" kern="1200" cap="none" spc="0" normalizeH="0" baseline="0">
                <a:ln>
                  <a:noFill/>
                </a:ln>
                <a:solidFill>
                  <a:schemeClr val="bg1"/>
                </a:solidFill>
                <a:effectLst/>
                <a:uLnTx/>
                <a:uFillTx/>
                <a:latin typeface="Segoe UI" panose="020B0502040204020203" pitchFamily="34" charset="0"/>
                <a:cs typeface="Segoe UI" panose="020B0502040204020203" pitchFamily="34" charset="0"/>
              </a:rPr>
              <a:t>Realizando evaluaciones de riesgos</a:t>
            </a:r>
          </a:p>
        </p:txBody>
      </p:sp>
      <p:pic>
        <p:nvPicPr>
          <p:cNvPr id="17" name="Picture 16">
            <a:extLst>
              <a:ext uri="{FF2B5EF4-FFF2-40B4-BE49-F238E27FC236}">
                <a16:creationId xmlns:a16="http://schemas.microsoft.com/office/drawing/2014/main" id="{4DA163DB-2531-AC80-7793-621D9A0BE8C1}"/>
              </a:ext>
            </a:extLst>
          </p:cNvPr>
          <p:cNvPicPr>
            <a:picLocks noChangeAspect="1"/>
          </p:cNvPicPr>
          <p:nvPr/>
        </p:nvPicPr>
        <p:blipFill>
          <a:blip r:embed="rId3"/>
          <a:stretch>
            <a:fillRect/>
          </a:stretch>
        </p:blipFill>
        <p:spPr>
          <a:xfrm>
            <a:off x="2530406" y="2363591"/>
            <a:ext cx="1097280" cy="1097280"/>
          </a:xfrm>
          <a:prstGeom prst="rect">
            <a:avLst/>
          </a:prstGeom>
        </p:spPr>
      </p:pic>
      <p:pic>
        <p:nvPicPr>
          <p:cNvPr id="18" name="Picture 17">
            <a:extLst>
              <a:ext uri="{FF2B5EF4-FFF2-40B4-BE49-F238E27FC236}">
                <a16:creationId xmlns:a16="http://schemas.microsoft.com/office/drawing/2014/main" id="{421EDA86-C8BD-1806-3803-18EEBFD52BEE}"/>
              </a:ext>
            </a:extLst>
          </p:cNvPr>
          <p:cNvPicPr>
            <a:picLocks noChangeAspect="1"/>
          </p:cNvPicPr>
          <p:nvPr/>
        </p:nvPicPr>
        <p:blipFill>
          <a:blip r:embed="rId4"/>
          <a:stretch>
            <a:fillRect/>
          </a:stretch>
        </p:blipFill>
        <p:spPr>
          <a:xfrm>
            <a:off x="5669304" y="2363591"/>
            <a:ext cx="1097280" cy="1097280"/>
          </a:xfrm>
          <a:prstGeom prst="rect">
            <a:avLst/>
          </a:prstGeom>
        </p:spPr>
      </p:pic>
      <p:pic>
        <p:nvPicPr>
          <p:cNvPr id="19" name="Picture 18">
            <a:extLst>
              <a:ext uri="{FF2B5EF4-FFF2-40B4-BE49-F238E27FC236}">
                <a16:creationId xmlns:a16="http://schemas.microsoft.com/office/drawing/2014/main" id="{05BC5F70-AE98-B027-8F9D-39CF30E7F256}"/>
              </a:ext>
            </a:extLst>
          </p:cNvPr>
          <p:cNvPicPr>
            <a:picLocks noChangeAspect="1"/>
          </p:cNvPicPr>
          <p:nvPr/>
        </p:nvPicPr>
        <p:blipFill>
          <a:blip r:embed="rId5"/>
          <a:stretch>
            <a:fillRect/>
          </a:stretch>
        </p:blipFill>
        <p:spPr>
          <a:xfrm>
            <a:off x="8808202" y="2363591"/>
            <a:ext cx="1097280" cy="1097280"/>
          </a:xfrm>
          <a:prstGeom prst="rect">
            <a:avLst/>
          </a:prstGeom>
        </p:spPr>
      </p:pic>
      <p:pic>
        <p:nvPicPr>
          <p:cNvPr id="20" name="Picture 19" descr="A computer hacker with a hoodie and a computer&#10;&#10;Description automatically generated">
            <a:extLst>
              <a:ext uri="{FF2B5EF4-FFF2-40B4-BE49-F238E27FC236}">
                <a16:creationId xmlns:a16="http://schemas.microsoft.com/office/drawing/2014/main" id="{0A4D10A9-7966-151A-2015-56A93041FA7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30406" y="4446969"/>
            <a:ext cx="1097280" cy="1097280"/>
          </a:xfrm>
          <a:prstGeom prst="rect">
            <a:avLst/>
          </a:prstGeom>
        </p:spPr>
      </p:pic>
      <p:pic>
        <p:nvPicPr>
          <p:cNvPr id="21" name="Picture 20">
            <a:extLst>
              <a:ext uri="{FF2B5EF4-FFF2-40B4-BE49-F238E27FC236}">
                <a16:creationId xmlns:a16="http://schemas.microsoft.com/office/drawing/2014/main" id="{C38EADD5-3017-2AC2-8A22-6919A1FE2390}"/>
              </a:ext>
            </a:extLst>
          </p:cNvPr>
          <p:cNvPicPr>
            <a:picLocks noChangeAspect="1"/>
          </p:cNvPicPr>
          <p:nvPr/>
        </p:nvPicPr>
        <p:blipFill>
          <a:blip r:embed="rId7"/>
          <a:stretch>
            <a:fillRect/>
          </a:stretch>
        </p:blipFill>
        <p:spPr>
          <a:xfrm>
            <a:off x="5669304" y="4400936"/>
            <a:ext cx="1097280" cy="1097280"/>
          </a:xfrm>
          <a:prstGeom prst="rect">
            <a:avLst/>
          </a:prstGeom>
        </p:spPr>
      </p:pic>
      <p:pic>
        <p:nvPicPr>
          <p:cNvPr id="22" name="Picture 21">
            <a:extLst>
              <a:ext uri="{FF2B5EF4-FFF2-40B4-BE49-F238E27FC236}">
                <a16:creationId xmlns:a16="http://schemas.microsoft.com/office/drawing/2014/main" id="{D1217823-35EB-8B96-643A-DAE3A529C781}"/>
              </a:ext>
            </a:extLst>
          </p:cNvPr>
          <p:cNvPicPr>
            <a:picLocks noChangeAspect="1"/>
          </p:cNvPicPr>
          <p:nvPr/>
        </p:nvPicPr>
        <p:blipFill>
          <a:blip r:embed="rId8"/>
          <a:stretch>
            <a:fillRect/>
          </a:stretch>
        </p:blipFill>
        <p:spPr>
          <a:xfrm>
            <a:off x="8808202" y="4400936"/>
            <a:ext cx="1097280" cy="1097280"/>
          </a:xfrm>
          <a:prstGeom prst="rect">
            <a:avLst/>
          </a:prstGeom>
        </p:spPr>
      </p:pic>
      <p:sp>
        <p:nvSpPr>
          <p:cNvPr id="23" name="TextBox 22">
            <a:extLst>
              <a:ext uri="{FF2B5EF4-FFF2-40B4-BE49-F238E27FC236}">
                <a16:creationId xmlns:a16="http://schemas.microsoft.com/office/drawing/2014/main" id="{C4E48B13-36AB-4D35-0F08-026988492E81}"/>
              </a:ext>
            </a:extLst>
          </p:cNvPr>
          <p:cNvSpPr txBox="1"/>
          <p:nvPr/>
        </p:nvSpPr>
        <p:spPr>
          <a:xfrm>
            <a:off x="1415846" y="511017"/>
            <a:ext cx="9360311" cy="1323439"/>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¿Cómo </a:t>
            </a:r>
            <a:r>
              <a:rPr lang="es-ES" sz="4000" b="1" noProof="0" err="1">
                <a:solidFill>
                  <a:schemeClr val="bg1"/>
                </a:solidFill>
                <a:latin typeface="Segoe UI" panose="020B0502040204020203" pitchFamily="34" charset="0"/>
                <a:cs typeface="Segoe UI" panose="020B0502040204020203" pitchFamily="34" charset="0"/>
              </a:rPr>
              <a:t>securizo</a:t>
            </a:r>
            <a:r>
              <a:rPr lang="es-ES" sz="4000" b="1" noProof="0">
                <a:solidFill>
                  <a:schemeClr val="bg1"/>
                </a:solidFill>
                <a:latin typeface="Segoe UI" panose="020B0502040204020203" pitchFamily="34" charset="0"/>
                <a:cs typeface="Segoe UI" panose="020B0502040204020203" pitchFamily="34" charset="0"/>
              </a:rPr>
              <a:t> datos y aplicaciones en la Power Platform?</a:t>
            </a:r>
          </a:p>
        </p:txBody>
      </p:sp>
      <p:pic>
        <p:nvPicPr>
          <p:cNvPr id="2" name="Picture Placeholder 2" descr="A person smiling for a picture&#10;&#10;AI-generated content may be incorrect.">
            <a:extLst>
              <a:ext uri="{FF2B5EF4-FFF2-40B4-BE49-F238E27FC236}">
                <a16:creationId xmlns:a16="http://schemas.microsoft.com/office/drawing/2014/main" id="{E66FBC5A-86D4-8BF5-D059-189C556F509B}"/>
              </a:ext>
            </a:extLst>
          </p:cNvPr>
          <p:cNvPicPr>
            <a:picLocks noChangeAspect="1"/>
          </p:cNvPicPr>
          <p:nvPr/>
        </p:nvPicPr>
        <p:blipFill>
          <a:blip r:embed="rId9">
            <a:extLst>
              <a:ext uri="{28A0092B-C50C-407E-A947-70E740481C1C}">
                <a14:useLocalDpi xmlns:a14="http://schemas.microsoft.com/office/drawing/2010/main" val="0"/>
              </a:ext>
            </a:extLst>
          </a:blip>
          <a:srcRect l="6042" r="6042"/>
          <a:stretch>
            <a:fillRect/>
          </a:stretch>
        </p:blipFill>
        <p:spPr>
          <a:xfrm>
            <a:off x="11281851" y="5315"/>
            <a:ext cx="910149" cy="1005840"/>
          </a:xfrm>
          <a:prstGeom prst="ellipse">
            <a:avLst/>
          </a:prstGeom>
          <a:ln>
            <a:noFill/>
          </a:ln>
          <a:effectLst>
            <a:softEdge rad="112500"/>
          </a:effectLst>
        </p:spPr>
      </p:pic>
    </p:spTree>
    <p:extLst>
      <p:ext uri="{BB962C8B-B14F-4D97-AF65-F5344CB8AC3E}">
        <p14:creationId xmlns:p14="http://schemas.microsoft.com/office/powerpoint/2010/main" val="2714483895"/>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1000"/>
                                        <p:tgtEl>
                                          <p:spTgt spid="14"/>
                                        </p:tgtEl>
                                      </p:cBhvr>
                                    </p:animEffect>
                                    <p:anim calcmode="lin" valueType="num">
                                      <p:cBhvr>
                                        <p:cTn id="28" dur="1000" fill="hold"/>
                                        <p:tgtEl>
                                          <p:spTgt spid="14"/>
                                        </p:tgtEl>
                                        <p:attrNameLst>
                                          <p:attrName>ppt_x</p:attrName>
                                        </p:attrNameLst>
                                      </p:cBhvr>
                                      <p:tavLst>
                                        <p:tav tm="0">
                                          <p:val>
                                            <p:strVal val="#ppt_x"/>
                                          </p:val>
                                        </p:tav>
                                        <p:tav tm="100000">
                                          <p:val>
                                            <p:strVal val="#ppt_x"/>
                                          </p:val>
                                        </p:tav>
                                      </p:tavLst>
                                    </p:anim>
                                    <p:anim calcmode="lin" valueType="num">
                                      <p:cBhvr>
                                        <p:cTn id="29" dur="1000" fill="hold"/>
                                        <p:tgtEl>
                                          <p:spTgt spid="14"/>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1000"/>
                                        <p:tgtEl>
                                          <p:spTgt spid="15"/>
                                        </p:tgtEl>
                                      </p:cBhvr>
                                    </p:animEffect>
                                    <p:anim calcmode="lin" valueType="num">
                                      <p:cBhvr>
                                        <p:cTn id="33" dur="1000" fill="hold"/>
                                        <p:tgtEl>
                                          <p:spTgt spid="15"/>
                                        </p:tgtEl>
                                        <p:attrNameLst>
                                          <p:attrName>ppt_x</p:attrName>
                                        </p:attrNameLst>
                                      </p:cBhvr>
                                      <p:tavLst>
                                        <p:tav tm="0">
                                          <p:val>
                                            <p:strVal val="#ppt_x"/>
                                          </p:val>
                                        </p:tav>
                                        <p:tav tm="100000">
                                          <p:val>
                                            <p:strVal val="#ppt_x"/>
                                          </p:val>
                                        </p:tav>
                                      </p:tavLst>
                                    </p:anim>
                                    <p:anim calcmode="lin" valueType="num">
                                      <p:cBhvr>
                                        <p:cTn id="34" dur="1000" fill="hold"/>
                                        <p:tgtEl>
                                          <p:spTgt spid="15"/>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1000"/>
                                        <p:tgtEl>
                                          <p:spTgt spid="17"/>
                                        </p:tgtEl>
                                      </p:cBhvr>
                                    </p:animEffect>
                                    <p:anim calcmode="lin" valueType="num">
                                      <p:cBhvr>
                                        <p:cTn id="43" dur="1000" fill="hold"/>
                                        <p:tgtEl>
                                          <p:spTgt spid="17"/>
                                        </p:tgtEl>
                                        <p:attrNameLst>
                                          <p:attrName>ppt_x</p:attrName>
                                        </p:attrNameLst>
                                      </p:cBhvr>
                                      <p:tavLst>
                                        <p:tav tm="0">
                                          <p:val>
                                            <p:strVal val="#ppt_x"/>
                                          </p:val>
                                        </p:tav>
                                        <p:tav tm="100000">
                                          <p:val>
                                            <p:strVal val="#ppt_x"/>
                                          </p:val>
                                        </p:tav>
                                      </p:tavLst>
                                    </p:anim>
                                    <p:anim calcmode="lin" valueType="num">
                                      <p:cBhvr>
                                        <p:cTn id="44" dur="1000" fill="hold"/>
                                        <p:tgtEl>
                                          <p:spTgt spid="17"/>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1000"/>
                                        <p:tgtEl>
                                          <p:spTgt spid="18"/>
                                        </p:tgtEl>
                                      </p:cBhvr>
                                    </p:animEffect>
                                    <p:anim calcmode="lin" valueType="num">
                                      <p:cBhvr>
                                        <p:cTn id="48" dur="1000" fill="hold"/>
                                        <p:tgtEl>
                                          <p:spTgt spid="18"/>
                                        </p:tgtEl>
                                        <p:attrNameLst>
                                          <p:attrName>ppt_x</p:attrName>
                                        </p:attrNameLst>
                                      </p:cBhvr>
                                      <p:tavLst>
                                        <p:tav tm="0">
                                          <p:val>
                                            <p:strVal val="#ppt_x"/>
                                          </p:val>
                                        </p:tav>
                                        <p:tav tm="100000">
                                          <p:val>
                                            <p:strVal val="#ppt_x"/>
                                          </p:val>
                                        </p:tav>
                                      </p:tavLst>
                                    </p:anim>
                                    <p:anim calcmode="lin" valueType="num">
                                      <p:cBhvr>
                                        <p:cTn id="49" dur="1000" fill="hold"/>
                                        <p:tgtEl>
                                          <p:spTgt spid="1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1000"/>
                                        <p:tgtEl>
                                          <p:spTgt spid="19"/>
                                        </p:tgtEl>
                                      </p:cBhvr>
                                    </p:animEffect>
                                    <p:anim calcmode="lin" valueType="num">
                                      <p:cBhvr>
                                        <p:cTn id="53" dur="1000" fill="hold"/>
                                        <p:tgtEl>
                                          <p:spTgt spid="19"/>
                                        </p:tgtEl>
                                        <p:attrNameLst>
                                          <p:attrName>ppt_x</p:attrName>
                                        </p:attrNameLst>
                                      </p:cBhvr>
                                      <p:tavLst>
                                        <p:tav tm="0">
                                          <p:val>
                                            <p:strVal val="#ppt_x"/>
                                          </p:val>
                                        </p:tav>
                                        <p:tav tm="100000">
                                          <p:val>
                                            <p:strVal val="#ppt_x"/>
                                          </p:val>
                                        </p:tav>
                                      </p:tavLst>
                                    </p:anim>
                                    <p:anim calcmode="lin" valueType="num">
                                      <p:cBhvr>
                                        <p:cTn id="54" dur="1000" fill="hold"/>
                                        <p:tgtEl>
                                          <p:spTgt spid="19"/>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1000"/>
                                        <p:tgtEl>
                                          <p:spTgt spid="21"/>
                                        </p:tgtEl>
                                      </p:cBhvr>
                                    </p:animEffect>
                                    <p:anim calcmode="lin" valueType="num">
                                      <p:cBhvr>
                                        <p:cTn id="58" dur="1000" fill="hold"/>
                                        <p:tgtEl>
                                          <p:spTgt spid="21"/>
                                        </p:tgtEl>
                                        <p:attrNameLst>
                                          <p:attrName>ppt_x</p:attrName>
                                        </p:attrNameLst>
                                      </p:cBhvr>
                                      <p:tavLst>
                                        <p:tav tm="0">
                                          <p:val>
                                            <p:strVal val="#ppt_x"/>
                                          </p:val>
                                        </p:tav>
                                        <p:tav tm="100000">
                                          <p:val>
                                            <p:strVal val="#ppt_x"/>
                                          </p:val>
                                        </p:tav>
                                      </p:tavLst>
                                    </p:anim>
                                    <p:anim calcmode="lin" valueType="num">
                                      <p:cBhvr>
                                        <p:cTn id="59" dur="1000" fill="hold"/>
                                        <p:tgtEl>
                                          <p:spTgt spid="21"/>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1000"/>
                                        <p:tgtEl>
                                          <p:spTgt spid="22"/>
                                        </p:tgtEl>
                                      </p:cBhvr>
                                    </p:animEffect>
                                    <p:anim calcmode="lin" valueType="num">
                                      <p:cBhvr>
                                        <p:cTn id="63" dur="1000" fill="hold"/>
                                        <p:tgtEl>
                                          <p:spTgt spid="22"/>
                                        </p:tgtEl>
                                        <p:attrNameLst>
                                          <p:attrName>ppt_x</p:attrName>
                                        </p:attrNameLst>
                                      </p:cBhvr>
                                      <p:tavLst>
                                        <p:tav tm="0">
                                          <p:val>
                                            <p:strVal val="#ppt_x"/>
                                          </p:val>
                                        </p:tav>
                                        <p:tav tm="100000">
                                          <p:val>
                                            <p:strVal val="#ppt_x"/>
                                          </p:val>
                                        </p:tav>
                                      </p:tavLst>
                                    </p:anim>
                                    <p:anim calcmode="lin" valueType="num">
                                      <p:cBhvr>
                                        <p:cTn id="6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3"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E57B6-D42A-35D7-C705-C77E70A847BB}"/>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25A47295-452E-EBD8-18E2-525231A76A5B}"/>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AB71EE25-F40E-2845-A1AA-1E434F46C105}"/>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Las 10 vulnerabilidades de seguridad top en Low </a:t>
            </a:r>
            <a:r>
              <a:rPr lang="es-ES" sz="4000" b="1" noProof="0" err="1">
                <a:solidFill>
                  <a:schemeClr val="bg1"/>
                </a:solidFill>
                <a:latin typeface="Segoe UI" panose="020B0502040204020203" pitchFamily="34" charset="0"/>
                <a:cs typeface="Segoe UI" panose="020B0502040204020203" pitchFamily="34" charset="0"/>
              </a:rPr>
              <a:t>Code</a:t>
            </a:r>
            <a:r>
              <a:rPr lang="es-ES" sz="4000" b="1" noProof="0">
                <a:solidFill>
                  <a:schemeClr val="bg1"/>
                </a:solidFill>
                <a:latin typeface="Segoe UI" panose="020B0502040204020203" pitchFamily="34" charset="0"/>
                <a:cs typeface="Segoe UI" panose="020B0502040204020203" pitchFamily="34" charset="0"/>
              </a:rPr>
              <a:t>/No </a:t>
            </a:r>
            <a:r>
              <a:rPr lang="es-ES" sz="4000" b="1" noProof="0" err="1">
                <a:solidFill>
                  <a:schemeClr val="bg1"/>
                </a:solidFill>
                <a:latin typeface="Segoe UI" panose="020B0502040204020203" pitchFamily="34" charset="0"/>
                <a:cs typeface="Segoe UI" panose="020B0502040204020203" pitchFamily="34" charset="0"/>
              </a:rPr>
              <a:t>Code</a:t>
            </a:r>
            <a:r>
              <a:rPr lang="es-ES" sz="4000" b="1" noProof="0">
                <a:solidFill>
                  <a:schemeClr val="bg1"/>
                </a:solidFill>
                <a:latin typeface="Segoe UI" panose="020B0502040204020203" pitchFamily="34" charset="0"/>
                <a:cs typeface="Segoe UI" panose="020B0502040204020203" pitchFamily="34" charset="0"/>
              </a:rPr>
              <a:t> </a:t>
            </a:r>
          </a:p>
        </p:txBody>
      </p:sp>
      <p:sp>
        <p:nvSpPr>
          <p:cNvPr id="2" name="TextBox 4">
            <a:extLst>
              <a:ext uri="{FF2B5EF4-FFF2-40B4-BE49-F238E27FC236}">
                <a16:creationId xmlns:a16="http://schemas.microsoft.com/office/drawing/2014/main" id="{EF7BF801-EBD9-F979-BC78-729708BFA073}"/>
              </a:ext>
            </a:extLst>
          </p:cNvPr>
          <p:cNvSpPr txBox="1"/>
          <p:nvPr/>
        </p:nvSpPr>
        <p:spPr>
          <a:xfrm>
            <a:off x="1415846" y="2140162"/>
            <a:ext cx="4846320" cy="3693319"/>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lvl="0">
              <a:defRPr/>
            </a:pPr>
            <a:r>
              <a:rPr lang="en-US">
                <a:solidFill>
                  <a:schemeClr val="bg1"/>
                </a:solidFill>
                <a:latin typeface="Segoe UI" panose="020B0502040204020203" pitchFamily="34" charset="0"/>
                <a:cs typeface="Segoe UI" panose="020B0502040204020203" pitchFamily="34" charset="0"/>
              </a:rPr>
              <a:t>Account impersonation </a:t>
            </a:r>
          </a:p>
          <a:p>
            <a:pPr marL="171450" lvl="0" indent="-171450">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lvl="0">
              <a:defRPr/>
            </a:pPr>
            <a:r>
              <a:rPr lang="en-US">
                <a:solidFill>
                  <a:schemeClr val="bg1"/>
                </a:solidFill>
                <a:latin typeface="Segoe UI" panose="020B0502040204020203" pitchFamily="34" charset="0"/>
                <a:cs typeface="Segoe UI" panose="020B0502040204020203" pitchFamily="34" charset="0"/>
              </a:rPr>
              <a:t>Misuse of authorization</a:t>
            </a:r>
          </a:p>
          <a:p>
            <a:pPr marL="171450" lvl="0" indent="-171450">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lvl="0">
              <a:defRPr/>
            </a:pPr>
            <a:r>
              <a:rPr lang="en-US">
                <a:solidFill>
                  <a:schemeClr val="bg1"/>
                </a:solidFill>
                <a:latin typeface="Segoe UI" panose="020B0502040204020203" pitchFamily="34" charset="0"/>
                <a:cs typeface="Segoe UI" panose="020B0502040204020203" pitchFamily="34" charset="0"/>
              </a:rPr>
              <a:t>Data leakage and unexpected consequences</a:t>
            </a:r>
          </a:p>
          <a:p>
            <a:pPr lvl="0">
              <a:defRPr/>
            </a:pPr>
            <a:r>
              <a:rPr lang="en-US">
                <a:solidFill>
                  <a:schemeClr val="bg1"/>
                </a:solidFill>
                <a:latin typeface="Segoe UI" panose="020B0502040204020203" pitchFamily="34" charset="0"/>
                <a:cs typeface="Segoe UI" panose="020B0502040204020203" pitchFamily="34" charset="0"/>
              </a:rPr>
              <a:t> </a:t>
            </a:r>
          </a:p>
          <a:p>
            <a:pPr lvl="0">
              <a:defRPr/>
            </a:pPr>
            <a:r>
              <a:rPr lang="en-US">
                <a:solidFill>
                  <a:schemeClr val="bg1"/>
                </a:solidFill>
                <a:latin typeface="Segoe UI" panose="020B0502040204020203" pitchFamily="34" charset="0"/>
                <a:cs typeface="Segoe UI" panose="020B0502040204020203" pitchFamily="34" charset="0"/>
              </a:rPr>
              <a:t>Failures of authentication and secure communication</a:t>
            </a:r>
          </a:p>
          <a:p>
            <a:pPr marL="171450" lvl="0" indent="-171450">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lvl="0">
              <a:defRPr/>
            </a:pPr>
            <a:r>
              <a:rPr lang="en-US">
                <a:solidFill>
                  <a:schemeClr val="bg1"/>
                </a:solidFill>
                <a:latin typeface="Segoe UI" panose="020B0502040204020203" pitchFamily="34" charset="0"/>
                <a:cs typeface="Segoe UI" panose="020B0502040204020203" pitchFamily="34" charset="0"/>
              </a:rPr>
              <a:t>Misconfigured security </a:t>
            </a:r>
          </a:p>
          <a:p>
            <a:pPr marL="285750" indent="-285750">
              <a:buClr>
                <a:schemeClr val="bg1"/>
              </a:buClr>
              <a:buFont typeface="Arial" panose="020B0604020202020204" pitchFamily="34" charset="0"/>
              <a:buChar char="•"/>
            </a:pPr>
            <a:endParaRPr lang="en-US"/>
          </a:p>
          <a:p>
            <a:pPr marL="285750" lvl="8"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
        <p:nvSpPr>
          <p:cNvPr id="3" name="Flowchart: Connector 2">
            <a:extLst>
              <a:ext uri="{FF2B5EF4-FFF2-40B4-BE49-F238E27FC236}">
                <a16:creationId xmlns:a16="http://schemas.microsoft.com/office/drawing/2014/main" id="{DBAA13D0-095E-F50C-F441-FEF559CD67B5}"/>
              </a:ext>
            </a:extLst>
          </p:cNvPr>
          <p:cNvSpPr/>
          <p:nvPr/>
        </p:nvSpPr>
        <p:spPr>
          <a:xfrm>
            <a:off x="884241" y="239194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4" name="Flowchart: Connector 3">
            <a:extLst>
              <a:ext uri="{FF2B5EF4-FFF2-40B4-BE49-F238E27FC236}">
                <a16:creationId xmlns:a16="http://schemas.microsoft.com/office/drawing/2014/main" id="{9AE24439-BB3E-F83F-3B3A-0F0A976B1B41}"/>
              </a:ext>
            </a:extLst>
          </p:cNvPr>
          <p:cNvSpPr/>
          <p:nvPr/>
        </p:nvSpPr>
        <p:spPr>
          <a:xfrm>
            <a:off x="884241" y="298984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5" name="Flowchart: Connector 4">
            <a:extLst>
              <a:ext uri="{FF2B5EF4-FFF2-40B4-BE49-F238E27FC236}">
                <a16:creationId xmlns:a16="http://schemas.microsoft.com/office/drawing/2014/main" id="{91FEC235-80CC-4FBA-41DE-AC2E6FBBE31D}"/>
              </a:ext>
            </a:extLst>
          </p:cNvPr>
          <p:cNvSpPr/>
          <p:nvPr/>
        </p:nvSpPr>
        <p:spPr>
          <a:xfrm>
            <a:off x="884241" y="357534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
        <p:nvSpPr>
          <p:cNvPr id="6" name="Flowchart: Connector 5">
            <a:extLst>
              <a:ext uri="{FF2B5EF4-FFF2-40B4-BE49-F238E27FC236}">
                <a16:creationId xmlns:a16="http://schemas.microsoft.com/office/drawing/2014/main" id="{4CCDF63F-A38D-4A5B-CC3A-F997EFC3B94B}"/>
              </a:ext>
            </a:extLst>
          </p:cNvPr>
          <p:cNvSpPr/>
          <p:nvPr/>
        </p:nvSpPr>
        <p:spPr>
          <a:xfrm>
            <a:off x="884241" y="416083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4</a:t>
            </a:r>
            <a:endParaRPr lang="en-US" sz="1400"/>
          </a:p>
        </p:txBody>
      </p:sp>
      <p:sp>
        <p:nvSpPr>
          <p:cNvPr id="7" name="Flowchart: Connector 6">
            <a:extLst>
              <a:ext uri="{FF2B5EF4-FFF2-40B4-BE49-F238E27FC236}">
                <a16:creationId xmlns:a16="http://schemas.microsoft.com/office/drawing/2014/main" id="{85E82C0D-1DDF-0C42-C815-722089815A76}"/>
              </a:ext>
            </a:extLst>
          </p:cNvPr>
          <p:cNvSpPr/>
          <p:nvPr/>
        </p:nvSpPr>
        <p:spPr>
          <a:xfrm>
            <a:off x="892700" y="485822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5</a:t>
            </a:r>
            <a:endParaRPr lang="en-US" sz="1400"/>
          </a:p>
        </p:txBody>
      </p:sp>
      <p:sp>
        <p:nvSpPr>
          <p:cNvPr id="8" name="TextBox 4">
            <a:extLst>
              <a:ext uri="{FF2B5EF4-FFF2-40B4-BE49-F238E27FC236}">
                <a16:creationId xmlns:a16="http://schemas.microsoft.com/office/drawing/2014/main" id="{6F8A3E5C-D58E-C76C-69D7-3A2222FC6FB0}"/>
              </a:ext>
            </a:extLst>
          </p:cNvPr>
          <p:cNvSpPr txBox="1"/>
          <p:nvPr/>
        </p:nvSpPr>
        <p:spPr>
          <a:xfrm>
            <a:off x="6827077" y="2131284"/>
            <a:ext cx="4846320" cy="3416320"/>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Injection handling failures </a:t>
            </a:r>
          </a:p>
          <a:p>
            <a:pP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Vulnerable and untrusted components </a:t>
            </a:r>
          </a:p>
          <a:p>
            <a:pP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Failure to handle data and secrets properly</a:t>
            </a:r>
          </a:p>
          <a:p>
            <a:pPr marL="171450" indent="-171450">
              <a:buFont typeface="Arial" panose="020B0604020202020204" pitchFamily="34" charset="0"/>
              <a:buChar cha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Failure to manage assets securely </a:t>
            </a:r>
          </a:p>
          <a:p>
            <a:pPr>
              <a:defRPr/>
            </a:pPr>
            <a:endParaRPr lang="en-US">
              <a:solidFill>
                <a:schemeClr val="bg1"/>
              </a:solidFill>
              <a:latin typeface="Segoe UI" panose="020B0502040204020203" pitchFamily="34" charset="0"/>
              <a:cs typeface="Segoe UI" panose="020B0502040204020203" pitchFamily="34" charset="0"/>
            </a:endParaRPr>
          </a:p>
          <a:p>
            <a:pPr>
              <a:defRPr/>
            </a:pPr>
            <a:r>
              <a:rPr lang="en-US">
                <a:solidFill>
                  <a:schemeClr val="bg1"/>
                </a:solidFill>
                <a:latin typeface="Segoe UI" panose="020B0502040204020203" pitchFamily="34" charset="0"/>
                <a:cs typeface="Segoe UI" panose="020B0502040204020203" pitchFamily="34" charset="0"/>
              </a:rPr>
              <a:t>Failures of security logging and monitoring </a:t>
            </a:r>
          </a:p>
          <a:p>
            <a:pPr marL="285750" indent="-285750">
              <a:buClr>
                <a:schemeClr val="bg1"/>
              </a:buClr>
              <a:buFont typeface="Arial" panose="020B0604020202020204" pitchFamily="34" charset="0"/>
              <a:buChar char="•"/>
            </a:pPr>
            <a:endParaRPr lang="en-US"/>
          </a:p>
          <a:p>
            <a:pPr marL="285750" lvl="8"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
        <p:nvSpPr>
          <p:cNvPr id="9" name="Flowchart: Connector 8">
            <a:extLst>
              <a:ext uri="{FF2B5EF4-FFF2-40B4-BE49-F238E27FC236}">
                <a16:creationId xmlns:a16="http://schemas.microsoft.com/office/drawing/2014/main" id="{FC512F63-1EB5-1007-46A7-AF28F42D350B}"/>
              </a:ext>
            </a:extLst>
          </p:cNvPr>
          <p:cNvSpPr/>
          <p:nvPr/>
        </p:nvSpPr>
        <p:spPr>
          <a:xfrm>
            <a:off x="6326193" y="239194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6</a:t>
            </a:r>
            <a:endParaRPr lang="en-US" sz="1400"/>
          </a:p>
        </p:txBody>
      </p:sp>
      <p:sp>
        <p:nvSpPr>
          <p:cNvPr id="10" name="Flowchart: Connector 9">
            <a:extLst>
              <a:ext uri="{FF2B5EF4-FFF2-40B4-BE49-F238E27FC236}">
                <a16:creationId xmlns:a16="http://schemas.microsoft.com/office/drawing/2014/main" id="{2A09A17A-9867-06BA-3503-B9C50005770A}"/>
              </a:ext>
            </a:extLst>
          </p:cNvPr>
          <p:cNvSpPr/>
          <p:nvPr/>
        </p:nvSpPr>
        <p:spPr>
          <a:xfrm>
            <a:off x="6326193" y="298984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7</a:t>
            </a:r>
            <a:endParaRPr lang="en-US" sz="1400"/>
          </a:p>
        </p:txBody>
      </p:sp>
      <p:sp>
        <p:nvSpPr>
          <p:cNvPr id="11" name="Flowchart: Connector 10">
            <a:extLst>
              <a:ext uri="{FF2B5EF4-FFF2-40B4-BE49-F238E27FC236}">
                <a16:creationId xmlns:a16="http://schemas.microsoft.com/office/drawing/2014/main" id="{54A63362-E640-B15C-BD75-4F81F2D55642}"/>
              </a:ext>
            </a:extLst>
          </p:cNvPr>
          <p:cNvSpPr/>
          <p:nvPr/>
        </p:nvSpPr>
        <p:spPr>
          <a:xfrm>
            <a:off x="6326193" y="355094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8</a:t>
            </a:r>
            <a:endParaRPr lang="en-US" sz="1400"/>
          </a:p>
        </p:txBody>
      </p:sp>
      <p:sp>
        <p:nvSpPr>
          <p:cNvPr id="12" name="Flowchart: Connector 11">
            <a:extLst>
              <a:ext uri="{FF2B5EF4-FFF2-40B4-BE49-F238E27FC236}">
                <a16:creationId xmlns:a16="http://schemas.microsoft.com/office/drawing/2014/main" id="{147A8204-36D1-1C28-DE62-F84BF855F582}"/>
              </a:ext>
            </a:extLst>
          </p:cNvPr>
          <p:cNvSpPr/>
          <p:nvPr/>
        </p:nvSpPr>
        <p:spPr>
          <a:xfrm>
            <a:off x="6326193" y="409138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9</a:t>
            </a:r>
            <a:endParaRPr lang="en-US" sz="1400"/>
          </a:p>
        </p:txBody>
      </p:sp>
      <p:sp>
        <p:nvSpPr>
          <p:cNvPr id="14" name="Flowchart: Connector 13">
            <a:extLst>
              <a:ext uri="{FF2B5EF4-FFF2-40B4-BE49-F238E27FC236}">
                <a16:creationId xmlns:a16="http://schemas.microsoft.com/office/drawing/2014/main" id="{21C28B47-4332-A04D-1C39-DD72298B3D21}"/>
              </a:ext>
            </a:extLst>
          </p:cNvPr>
          <p:cNvSpPr/>
          <p:nvPr/>
        </p:nvSpPr>
        <p:spPr>
          <a:xfrm>
            <a:off x="6253430" y="4652482"/>
            <a:ext cx="557006"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10</a:t>
            </a:r>
            <a:endParaRPr lang="en-US" sz="1400"/>
          </a:p>
        </p:txBody>
      </p:sp>
      <p:pic>
        <p:nvPicPr>
          <p:cNvPr id="1026" name="Picture 2" descr="Profile photo of Enrique Arribas Bueno">
            <a:extLst>
              <a:ext uri="{FF2B5EF4-FFF2-40B4-BE49-F238E27FC236}">
                <a16:creationId xmlns:a16="http://schemas.microsoft.com/office/drawing/2014/main" id="{14482A36-4C5B-B97A-E92E-581B789FEC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262931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1000"/>
                                        <p:tgtEl>
                                          <p:spTgt spid="2"/>
                                        </p:tgtEl>
                                      </p:cBhvr>
                                    </p:animEffect>
                                    <p:anim calcmode="lin" valueType="num">
                                      <p:cBhvr>
                                        <p:cTn id="33" dur="1000" fill="hold"/>
                                        <p:tgtEl>
                                          <p:spTgt spid="2"/>
                                        </p:tgtEl>
                                        <p:attrNameLst>
                                          <p:attrName>ppt_x</p:attrName>
                                        </p:attrNameLst>
                                      </p:cBhvr>
                                      <p:tavLst>
                                        <p:tav tm="0">
                                          <p:val>
                                            <p:strVal val="#ppt_x"/>
                                          </p:val>
                                        </p:tav>
                                        <p:tav tm="100000">
                                          <p:val>
                                            <p:strVal val="#ppt_x"/>
                                          </p:val>
                                        </p:tav>
                                      </p:tavLst>
                                    </p:anim>
                                    <p:anim calcmode="lin" valueType="num">
                                      <p:cBhvr>
                                        <p:cTn id="3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0"/>
                                        <p:tgtEl>
                                          <p:spTgt spid="9"/>
                                        </p:tgtEl>
                                      </p:cBhvr>
                                    </p:animEffect>
                                    <p:anim calcmode="lin" valueType="num">
                                      <p:cBhvr>
                                        <p:cTn id="45" dur="1000" fill="hold"/>
                                        <p:tgtEl>
                                          <p:spTgt spid="9"/>
                                        </p:tgtEl>
                                        <p:attrNameLst>
                                          <p:attrName>ppt_x</p:attrName>
                                        </p:attrNameLst>
                                      </p:cBhvr>
                                      <p:tavLst>
                                        <p:tav tm="0">
                                          <p:val>
                                            <p:strVal val="#ppt_x"/>
                                          </p:val>
                                        </p:tav>
                                        <p:tav tm="100000">
                                          <p:val>
                                            <p:strVal val="#ppt_x"/>
                                          </p:val>
                                        </p:tav>
                                      </p:tavLst>
                                    </p:anim>
                                    <p:anim calcmode="lin" valueType="num">
                                      <p:cBhvr>
                                        <p:cTn id="46" dur="10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anim calcmode="lin" valueType="num">
                                      <p:cBhvr>
                                        <p:cTn id="55" dur="1000" fill="hold"/>
                                        <p:tgtEl>
                                          <p:spTgt spid="11"/>
                                        </p:tgtEl>
                                        <p:attrNameLst>
                                          <p:attrName>ppt_x</p:attrName>
                                        </p:attrNameLst>
                                      </p:cBhvr>
                                      <p:tavLst>
                                        <p:tav tm="0">
                                          <p:val>
                                            <p:strVal val="#ppt_x"/>
                                          </p:val>
                                        </p:tav>
                                        <p:tav tm="100000">
                                          <p:val>
                                            <p:strVal val="#ppt_x"/>
                                          </p:val>
                                        </p:tav>
                                      </p:tavLst>
                                    </p:anim>
                                    <p:anim calcmode="lin" valueType="num">
                                      <p:cBhvr>
                                        <p:cTn id="56" dur="10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1000"/>
                                        <p:tgtEl>
                                          <p:spTgt spid="12"/>
                                        </p:tgtEl>
                                      </p:cBhvr>
                                    </p:animEffect>
                                    <p:anim calcmode="lin" valueType="num">
                                      <p:cBhvr>
                                        <p:cTn id="60" dur="1000" fill="hold"/>
                                        <p:tgtEl>
                                          <p:spTgt spid="12"/>
                                        </p:tgtEl>
                                        <p:attrNameLst>
                                          <p:attrName>ppt_x</p:attrName>
                                        </p:attrNameLst>
                                      </p:cBhvr>
                                      <p:tavLst>
                                        <p:tav tm="0">
                                          <p:val>
                                            <p:strVal val="#ppt_x"/>
                                          </p:val>
                                        </p:tav>
                                        <p:tav tm="100000">
                                          <p:val>
                                            <p:strVal val="#ppt_x"/>
                                          </p:val>
                                        </p:tav>
                                      </p:tavLst>
                                    </p:anim>
                                    <p:anim calcmode="lin" valueType="num">
                                      <p:cBhvr>
                                        <p:cTn id="61" dur="1000" fill="hold"/>
                                        <p:tgtEl>
                                          <p:spTgt spid="1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animBg="1"/>
      <p:bldP spid="5" grpId="0" animBg="1"/>
      <p:bldP spid="6" grpId="0" animBg="1"/>
      <p:bldP spid="7" grpId="0" animBg="1"/>
      <p:bldP spid="8" grpId="0"/>
      <p:bldP spid="9" grpId="0" animBg="1"/>
      <p:bldP spid="10" grpId="0" animBg="1"/>
      <p:bldP spid="11" grpId="0" animBg="1"/>
      <p:bldP spid="12"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3798C-AB27-087A-80EC-2738CF030773}"/>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AFD9E3DC-EF9D-1179-C1DC-0905EA4478DB}"/>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B9B94CCB-4C01-435B-2BB7-3817F9BF6165}"/>
              </a:ext>
            </a:extLst>
          </p:cNvPr>
          <p:cNvSpPr txBox="1"/>
          <p:nvPr/>
        </p:nvSpPr>
        <p:spPr>
          <a:xfrm>
            <a:off x="1098513" y="1407144"/>
            <a:ext cx="4382144" cy="1754327"/>
          </a:xfrm>
          <a:prstGeom prst="rect">
            <a:avLst/>
          </a:prstGeom>
          <a:noFill/>
        </p:spPr>
        <p:txBody>
          <a:bodyPr wrap="square" rtlCol="0">
            <a:spAutoFit/>
          </a:bodyPr>
          <a:lstStyle/>
          <a:p>
            <a:r>
              <a:rPr lang="es-ES" sz="3600" b="1" noProof="0" err="1">
                <a:solidFill>
                  <a:schemeClr val="bg1"/>
                </a:solidFill>
                <a:latin typeface="+mj-lt"/>
                <a:cs typeface="Poppins ExtraBold" panose="00000900000000000000" pitchFamily="2" charset="0"/>
              </a:rPr>
              <a:t>Managed</a:t>
            </a:r>
            <a:r>
              <a:rPr lang="es-ES" sz="3600" b="1" noProof="0">
                <a:solidFill>
                  <a:schemeClr val="bg1"/>
                </a:solidFill>
                <a:latin typeface="+mj-lt"/>
                <a:cs typeface="Poppins ExtraBold" panose="00000900000000000000" pitchFamily="2" charset="0"/>
              </a:rPr>
              <a:t> Security en la </a:t>
            </a:r>
            <a:r>
              <a:rPr lang="es-ES" sz="3600" b="1" noProof="0" err="1">
                <a:solidFill>
                  <a:schemeClr val="bg1"/>
                </a:solidFill>
                <a:latin typeface="+mj-lt"/>
                <a:cs typeface="Poppins ExtraBold" panose="00000900000000000000" pitchFamily="2" charset="0"/>
              </a:rPr>
              <a:t>Power</a:t>
            </a:r>
            <a:r>
              <a:rPr lang="es-ES" sz="3600" b="1" noProof="0">
                <a:solidFill>
                  <a:schemeClr val="bg1"/>
                </a:solidFill>
                <a:latin typeface="+mj-lt"/>
                <a:cs typeface="Poppins ExtraBold" panose="00000900000000000000" pitchFamily="2" charset="0"/>
              </a:rPr>
              <a:t> </a:t>
            </a:r>
            <a:r>
              <a:rPr lang="es-ES" sz="3600" b="1" noProof="0" err="1">
                <a:solidFill>
                  <a:schemeClr val="bg1"/>
                </a:solidFill>
                <a:latin typeface="+mj-lt"/>
                <a:cs typeface="Poppins ExtraBold" panose="00000900000000000000" pitchFamily="2" charset="0"/>
              </a:rPr>
              <a:t>Platform</a:t>
            </a:r>
            <a:endParaRPr lang="es-ES" sz="3600" b="1" noProof="0">
              <a:solidFill>
                <a:schemeClr val="bg1"/>
              </a:solidFill>
              <a:latin typeface="+mj-lt"/>
              <a:cs typeface="Poppins ExtraBold" panose="00000900000000000000" pitchFamily="2" charset="0"/>
            </a:endParaRPr>
          </a:p>
        </p:txBody>
      </p:sp>
      <p:sp>
        <p:nvSpPr>
          <p:cNvPr id="3" name="TextBox 2">
            <a:extLst>
              <a:ext uri="{FF2B5EF4-FFF2-40B4-BE49-F238E27FC236}">
                <a16:creationId xmlns:a16="http://schemas.microsoft.com/office/drawing/2014/main" id="{8838B95E-753C-0CFA-1E1F-812A6BEE0B02}"/>
              </a:ext>
            </a:extLst>
          </p:cNvPr>
          <p:cNvSpPr txBox="1"/>
          <p:nvPr/>
        </p:nvSpPr>
        <p:spPr>
          <a:xfrm>
            <a:off x="1384943" y="4235954"/>
            <a:ext cx="3547151"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effectLst/>
                <a:uLnTx/>
                <a:uFillTx/>
                <a:latin typeface="Segoe UI" panose="020B0502040204020203" pitchFamily="34" charset="0"/>
                <a:ea typeface="+mn-ea"/>
                <a:cs typeface="Segoe UI" panose="020B0502040204020203" pitchFamily="34" charset="0"/>
              </a:rPr>
              <a:t>Advanced protection for an AI-driven world</a:t>
            </a:r>
          </a:p>
        </p:txBody>
      </p:sp>
      <p:sp>
        <p:nvSpPr>
          <p:cNvPr id="4" name="TextBox 3">
            <a:extLst>
              <a:ext uri="{FF2B5EF4-FFF2-40B4-BE49-F238E27FC236}">
                <a16:creationId xmlns:a16="http://schemas.microsoft.com/office/drawing/2014/main" id="{49520941-F948-9798-080F-29B02A5CE2FF}"/>
              </a:ext>
            </a:extLst>
          </p:cNvPr>
          <p:cNvSpPr txBox="1"/>
          <p:nvPr/>
        </p:nvSpPr>
        <p:spPr>
          <a:xfrm>
            <a:off x="6357333" y="1269014"/>
            <a:ext cx="4698819" cy="510778"/>
          </a:xfrm>
          <a:prstGeom prst="roundRect">
            <a:avLst/>
          </a:prstGeom>
          <a:noFill/>
          <a:ln w="25400">
            <a:gradFill>
              <a:gsLst>
                <a:gs pos="68000">
                  <a:srgbClr val="9ED49E"/>
                </a:gs>
                <a:gs pos="35000">
                  <a:srgbClr val="8A99E1"/>
                </a:gs>
                <a:gs pos="0">
                  <a:srgbClr val="71C0D2"/>
                </a:gs>
                <a:gs pos="100000">
                  <a:srgbClr val="D7B03F"/>
                </a:gs>
              </a:gsLst>
              <a:lin ang="5400000" scaled="1"/>
            </a:gradFill>
          </a:ln>
          <a:effectLst/>
        </p:spPr>
        <p:txBody>
          <a:bodyPr wrap="square">
            <a:spAutoFit/>
          </a:bodyPr>
          <a:lstStyle>
            <a:defPPr>
              <a:defRPr lang="en-US"/>
            </a:defPPr>
            <a:lvl1pPr algn="ctr">
              <a:defRPr sz="2400" b="0" i="0">
                <a:solidFill>
                  <a:schemeClr val="bg1"/>
                </a:solidFill>
                <a:latin typeface="Segoe UI" panose="020B0502040204020203" pitchFamily="34" charset="0"/>
                <a:cs typeface="Segoe UI" panose="020B0502040204020203" pitchFamily="34" charset="0"/>
              </a:defRPr>
            </a:lvl1pPr>
          </a:lstStyle>
          <a:p>
            <a:r>
              <a:rPr lang="en-US">
                <a:solidFill>
                  <a:schemeClr val="tx1"/>
                </a:solidFill>
              </a:rPr>
              <a:t>Security posture management</a:t>
            </a:r>
          </a:p>
        </p:txBody>
      </p:sp>
      <p:sp>
        <p:nvSpPr>
          <p:cNvPr id="5" name="TextBox 4">
            <a:extLst>
              <a:ext uri="{FF2B5EF4-FFF2-40B4-BE49-F238E27FC236}">
                <a16:creationId xmlns:a16="http://schemas.microsoft.com/office/drawing/2014/main" id="{32E0D603-D8ED-682F-BC28-1D69CE44E08D}"/>
              </a:ext>
            </a:extLst>
          </p:cNvPr>
          <p:cNvSpPr txBox="1"/>
          <p:nvPr/>
        </p:nvSpPr>
        <p:spPr>
          <a:xfrm>
            <a:off x="6357333" y="5212639"/>
            <a:ext cx="4698819" cy="510778"/>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spAutoFit/>
          </a:bodyPr>
          <a:lstStyle>
            <a:defPPr>
              <a:defRPr lang="en-US"/>
            </a:defPPr>
            <a:lvl1pPr algn="ctr">
              <a:defRPr sz="2400" b="0" i="0">
                <a:solidFill>
                  <a:schemeClr val="bg1"/>
                </a:solidFill>
                <a:latin typeface="Segoe UI" panose="020B0502040204020203" pitchFamily="34" charset="0"/>
                <a:cs typeface="Segoe UI" panose="020B0502040204020203" pitchFamily="34" charset="0"/>
              </a:defRPr>
            </a:lvl1pPr>
          </a:lstStyle>
          <a:p>
            <a:r>
              <a:rPr lang="en-US">
                <a:solidFill>
                  <a:schemeClr val="tx1"/>
                </a:solidFill>
              </a:rPr>
              <a:t>Threat protection</a:t>
            </a:r>
          </a:p>
        </p:txBody>
      </p:sp>
      <p:sp>
        <p:nvSpPr>
          <p:cNvPr id="6" name="TextBox 5">
            <a:extLst>
              <a:ext uri="{FF2B5EF4-FFF2-40B4-BE49-F238E27FC236}">
                <a16:creationId xmlns:a16="http://schemas.microsoft.com/office/drawing/2014/main" id="{3D60E9F9-8196-7012-85F8-DF77E002ADB7}"/>
              </a:ext>
            </a:extLst>
          </p:cNvPr>
          <p:cNvSpPr txBox="1"/>
          <p:nvPr/>
        </p:nvSpPr>
        <p:spPr>
          <a:xfrm>
            <a:off x="6357333" y="2282584"/>
            <a:ext cx="4698819" cy="510778"/>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spAutoFit/>
          </a:bodyPr>
          <a:lstStyle>
            <a:defPPr>
              <a:defRPr lang="en-US"/>
            </a:defPPr>
            <a:lvl1pPr algn="ctr">
              <a:defRPr sz="2400" b="0" i="0">
                <a:solidFill>
                  <a:schemeClr val="bg1"/>
                </a:solidFill>
                <a:latin typeface="Segoe UI" panose="020B0502040204020203" pitchFamily="34" charset="0"/>
                <a:cs typeface="Segoe UI" panose="020B0502040204020203" pitchFamily="34" charset="0"/>
              </a:defRPr>
            </a:lvl1pPr>
          </a:lstStyle>
          <a:p>
            <a:r>
              <a:rPr lang="en-US">
                <a:solidFill>
                  <a:schemeClr val="tx1"/>
                </a:solidFill>
              </a:rPr>
              <a:t>Data protection and privacy</a:t>
            </a:r>
          </a:p>
        </p:txBody>
      </p:sp>
      <p:sp>
        <p:nvSpPr>
          <p:cNvPr id="7" name="TextBox 6">
            <a:extLst>
              <a:ext uri="{FF2B5EF4-FFF2-40B4-BE49-F238E27FC236}">
                <a16:creationId xmlns:a16="http://schemas.microsoft.com/office/drawing/2014/main" id="{E861B872-E60F-23F9-6CF8-75E944F55B6B}"/>
              </a:ext>
            </a:extLst>
          </p:cNvPr>
          <p:cNvSpPr txBox="1"/>
          <p:nvPr/>
        </p:nvSpPr>
        <p:spPr>
          <a:xfrm>
            <a:off x="6357333" y="3259269"/>
            <a:ext cx="4698819" cy="510778"/>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spAutoFit/>
          </a:bodyPr>
          <a:lstStyle>
            <a:defPPr>
              <a:defRPr lang="en-US"/>
            </a:defPPr>
            <a:lvl1pPr algn="ctr">
              <a:defRPr sz="2400" b="0" i="0">
                <a:solidFill>
                  <a:schemeClr val="bg1"/>
                </a:solidFill>
                <a:latin typeface="Segoe UI" panose="020B0502040204020203" pitchFamily="34" charset="0"/>
                <a:cs typeface="Segoe UI" panose="020B0502040204020203" pitchFamily="34" charset="0"/>
              </a:defRPr>
            </a:lvl1pPr>
          </a:lstStyle>
          <a:p>
            <a:r>
              <a:rPr lang="en-US">
                <a:solidFill>
                  <a:schemeClr val="tx1"/>
                </a:solidFill>
              </a:rPr>
              <a:t>Identity and access management</a:t>
            </a:r>
          </a:p>
        </p:txBody>
      </p:sp>
      <p:sp>
        <p:nvSpPr>
          <p:cNvPr id="8" name="TextBox 7">
            <a:extLst>
              <a:ext uri="{FF2B5EF4-FFF2-40B4-BE49-F238E27FC236}">
                <a16:creationId xmlns:a16="http://schemas.microsoft.com/office/drawing/2014/main" id="{B0D97007-6E4E-9278-52D1-0C7BC7F387DE}"/>
              </a:ext>
            </a:extLst>
          </p:cNvPr>
          <p:cNvSpPr txBox="1"/>
          <p:nvPr/>
        </p:nvSpPr>
        <p:spPr>
          <a:xfrm>
            <a:off x="6357333" y="4235954"/>
            <a:ext cx="4698819" cy="510778"/>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spAutoFit/>
          </a:bodyPr>
          <a:lstStyle/>
          <a:p>
            <a:pPr algn="ctr"/>
            <a:r>
              <a:rPr lang="en-US" sz="2400" b="0" i="0">
                <a:latin typeface="Segoe UI" panose="020B0502040204020203" pitchFamily="34" charset="0"/>
                <a:cs typeface="Segoe UI" panose="020B0502040204020203" pitchFamily="34" charset="0"/>
              </a:rPr>
              <a:t>Compliance</a:t>
            </a:r>
          </a:p>
        </p:txBody>
      </p:sp>
      <p:pic>
        <p:nvPicPr>
          <p:cNvPr id="2" name="Picture 2" descr="Profile photo of Enrique Arribas Bueno">
            <a:extLst>
              <a:ext uri="{FF2B5EF4-FFF2-40B4-BE49-F238E27FC236}">
                <a16:creationId xmlns:a16="http://schemas.microsoft.com/office/drawing/2014/main" id="{AC8A66E8-9E1A-679A-E091-94B7D826E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73540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2DDB7B2-1B63-1073-8005-DD89A012A83F}"/>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993E7929-DED8-35F9-D0A1-87C70AA64C79}"/>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2" name="Rectangle: Rounded Corners 1">
            <a:extLst>
              <a:ext uri="{FF2B5EF4-FFF2-40B4-BE49-F238E27FC236}">
                <a16:creationId xmlns:a16="http://schemas.microsoft.com/office/drawing/2014/main" id="{08360E5D-3E72-F5C4-CD24-7B8EF2A72ACC}"/>
              </a:ext>
            </a:extLst>
          </p:cNvPr>
          <p:cNvSpPr/>
          <p:nvPr/>
        </p:nvSpPr>
        <p:spPr>
          <a:xfrm>
            <a:off x="1359280" y="4342093"/>
            <a:ext cx="2011680" cy="731520"/>
          </a:xfrm>
          <a:prstGeom prst="roundRect">
            <a:avLst>
              <a:gd name="adj" fmla="val 50000"/>
            </a:avLst>
          </a:prstGeom>
          <a:solidFill>
            <a:srgbClr val="CF142B"/>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buClr>
                <a:srgbClr val="000000"/>
              </a:buClr>
              <a:buFont typeface="Arial"/>
              <a:buNone/>
              <a:defRPr/>
            </a:pPr>
            <a:r>
              <a:rPr lang="es-ES" sz="1400" b="1" kern="0">
                <a:solidFill>
                  <a:srgbClr val="FFFFFF"/>
                </a:solidFill>
                <a:latin typeface="Segoe UI" panose="020B0502040204020203" pitchFamily="34" charset="0"/>
                <a:cs typeface="Segoe UI" panose="020B0502040204020203" pitchFamily="34" charset="0"/>
                <a:sym typeface="Arial"/>
              </a:rPr>
              <a:t>Gestión de Identidades y Seguridad de Red</a:t>
            </a:r>
          </a:p>
        </p:txBody>
      </p:sp>
      <p:sp>
        <p:nvSpPr>
          <p:cNvPr id="3" name="Rectangle: Rounded Corners 2">
            <a:extLst>
              <a:ext uri="{FF2B5EF4-FFF2-40B4-BE49-F238E27FC236}">
                <a16:creationId xmlns:a16="http://schemas.microsoft.com/office/drawing/2014/main" id="{C2EBA048-6A13-E730-8F76-F95BEC275176}"/>
              </a:ext>
            </a:extLst>
          </p:cNvPr>
          <p:cNvSpPr/>
          <p:nvPr/>
        </p:nvSpPr>
        <p:spPr>
          <a:xfrm>
            <a:off x="3721540" y="4342093"/>
            <a:ext cx="2011680" cy="731520"/>
          </a:xfrm>
          <a:prstGeom prst="roundRect">
            <a:avLst>
              <a:gd name="adj" fmla="val 50000"/>
            </a:avLst>
          </a:prstGeom>
          <a:solidFill>
            <a:srgbClr val="EC7505"/>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buClr>
                <a:srgbClr val="000000"/>
              </a:buClr>
              <a:buFont typeface="Arial"/>
              <a:buNone/>
              <a:defRPr/>
            </a:pPr>
            <a:r>
              <a:rPr lang="es-ES" sz="1400" b="1" kern="0">
                <a:solidFill>
                  <a:srgbClr val="FFFFFF"/>
                </a:solidFill>
                <a:latin typeface="Segoe UI" panose="020B0502040204020203" pitchFamily="34" charset="0"/>
                <a:cs typeface="Segoe UI" panose="020B0502040204020203" pitchFamily="34" charset="0"/>
                <a:sym typeface="Arial"/>
              </a:rPr>
              <a:t>Gestión de Acceso de Usuarios y Seguridad del Dato</a:t>
            </a:r>
          </a:p>
        </p:txBody>
      </p:sp>
      <p:sp>
        <p:nvSpPr>
          <p:cNvPr id="4" name="Rectangle: Rounded Corners 3">
            <a:extLst>
              <a:ext uri="{FF2B5EF4-FFF2-40B4-BE49-F238E27FC236}">
                <a16:creationId xmlns:a16="http://schemas.microsoft.com/office/drawing/2014/main" id="{14E7664E-ACD8-BAFB-2864-286CCE596948}"/>
              </a:ext>
            </a:extLst>
          </p:cNvPr>
          <p:cNvSpPr/>
          <p:nvPr/>
        </p:nvSpPr>
        <p:spPr>
          <a:xfrm>
            <a:off x="8446061" y="4342093"/>
            <a:ext cx="2011680" cy="731520"/>
          </a:xfrm>
          <a:prstGeom prst="roundRect">
            <a:avLst>
              <a:gd name="adj" fmla="val 50000"/>
            </a:avLst>
          </a:prstGeom>
          <a:solidFill>
            <a:srgbClr val="227AB0"/>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buClr>
                <a:srgbClr val="000000"/>
              </a:buClr>
              <a:buFont typeface="Arial"/>
              <a:buNone/>
              <a:defRPr/>
            </a:pPr>
            <a:r>
              <a:rPr lang="es-ES" sz="1400" b="1" kern="0">
                <a:solidFill>
                  <a:srgbClr val="FFFFFF"/>
                </a:solidFill>
                <a:latin typeface="Segoe UI" panose="020B0502040204020203" pitchFamily="34" charset="0"/>
                <a:cs typeface="Segoe UI" panose="020B0502040204020203" pitchFamily="34" charset="0"/>
                <a:sym typeface="Arial"/>
              </a:rPr>
              <a:t>Encriptado de Datos y Cumplimiento</a:t>
            </a:r>
          </a:p>
        </p:txBody>
      </p:sp>
      <p:sp>
        <p:nvSpPr>
          <p:cNvPr id="5" name="Rectangle: Rounded Corners 4">
            <a:extLst>
              <a:ext uri="{FF2B5EF4-FFF2-40B4-BE49-F238E27FC236}">
                <a16:creationId xmlns:a16="http://schemas.microsoft.com/office/drawing/2014/main" id="{06066D5C-14E6-3CB7-EBC5-FF6F73D5469B}"/>
              </a:ext>
            </a:extLst>
          </p:cNvPr>
          <p:cNvSpPr/>
          <p:nvPr/>
        </p:nvSpPr>
        <p:spPr>
          <a:xfrm>
            <a:off x="6083800" y="4342093"/>
            <a:ext cx="2011680" cy="731520"/>
          </a:xfrm>
          <a:prstGeom prst="roundRect">
            <a:avLst>
              <a:gd name="adj" fmla="val 50000"/>
            </a:avLst>
          </a:prstGeom>
          <a:solidFill>
            <a:srgbClr val="92AF04"/>
          </a:solidFill>
          <a:ln w="25400" cap="flat" cmpd="sng" algn="ctr">
            <a:noFill/>
            <a:prstDash val="solid"/>
          </a:ln>
          <a:effectLst>
            <a:outerShdw blurRad="165100" sx="102000" sy="102000" algn="ctr" rotWithShape="0">
              <a:prstClr val="black">
                <a:alpha val="40000"/>
              </a:prstClr>
            </a:outerShdw>
          </a:effectLst>
        </p:spPr>
        <p:txBody>
          <a:bodyPr rtlCol="0" anchor="ctr"/>
          <a:lstStyle/>
          <a:p>
            <a:pPr algn="ctr">
              <a:lnSpc>
                <a:spcPct val="85000"/>
              </a:lnSpc>
              <a:buClr>
                <a:srgbClr val="000000"/>
              </a:buClr>
              <a:buFont typeface="Arial"/>
              <a:buNone/>
              <a:defRPr/>
            </a:pPr>
            <a:r>
              <a:rPr lang="es-ES" sz="1400" b="1" kern="0">
                <a:solidFill>
                  <a:srgbClr val="FFFFFF"/>
                </a:solidFill>
                <a:latin typeface="Segoe UI" panose="020B0502040204020203" pitchFamily="34" charset="0"/>
                <a:cs typeface="Segoe UI" panose="020B0502040204020203" pitchFamily="34" charset="0"/>
                <a:sym typeface="Arial"/>
              </a:rPr>
              <a:t>Prevención de fugas de Datos + Monitorización </a:t>
            </a:r>
          </a:p>
        </p:txBody>
      </p:sp>
      <p:sp>
        <p:nvSpPr>
          <p:cNvPr id="6" name="Rounded Rectangle 5">
            <a:extLst>
              <a:ext uri="{FF2B5EF4-FFF2-40B4-BE49-F238E27FC236}">
                <a16:creationId xmlns:a16="http://schemas.microsoft.com/office/drawing/2014/main" id="{A9A2C44C-447A-4920-6ABA-A3A1DAF4B3E4}"/>
              </a:ext>
            </a:extLst>
          </p:cNvPr>
          <p:cNvSpPr/>
          <p:nvPr/>
        </p:nvSpPr>
        <p:spPr>
          <a:xfrm>
            <a:off x="1404488" y="2901543"/>
            <a:ext cx="9052560" cy="822680"/>
          </a:xfrm>
          <a:prstGeom prst="roundRect">
            <a:avLst>
              <a:gd name="adj" fmla="val 8527"/>
            </a:avLst>
          </a:prstGeom>
          <a:solidFill>
            <a:srgbClr val="717171">
              <a:lumMod val="20000"/>
              <a:lumOff val="80000"/>
            </a:srgbClr>
          </a:solidFill>
          <a:ln w="9525" cap="flat" cmpd="sng" algn="ctr">
            <a:noFill/>
            <a:prstDash val="solid"/>
          </a:ln>
          <a:effectLst/>
        </p:spPr>
        <p:txBody>
          <a:bodyPr rtlCol="0" anchor="ctr"/>
          <a:lstStyle/>
          <a:p>
            <a:pPr algn="ctr">
              <a:buClr>
                <a:srgbClr val="000000"/>
              </a:buClr>
              <a:buFont typeface="Arial"/>
              <a:buNone/>
              <a:defRPr/>
            </a:pPr>
            <a:endParaRPr lang="en-GB" sz="1400" kern="0">
              <a:solidFill>
                <a:prstClr val="white"/>
              </a:solidFill>
              <a:latin typeface="Arial"/>
              <a:cs typeface="Arial"/>
              <a:sym typeface="Arial"/>
            </a:endParaRPr>
          </a:p>
        </p:txBody>
      </p:sp>
      <p:sp>
        <p:nvSpPr>
          <p:cNvPr id="7" name="Freeform 6">
            <a:extLst>
              <a:ext uri="{FF2B5EF4-FFF2-40B4-BE49-F238E27FC236}">
                <a16:creationId xmlns:a16="http://schemas.microsoft.com/office/drawing/2014/main" id="{62B9E353-D19C-EAD5-DEDA-D7B47FAA5CAF}"/>
              </a:ext>
            </a:extLst>
          </p:cNvPr>
          <p:cNvSpPr>
            <a:spLocks noChangeAspect="1"/>
          </p:cNvSpPr>
          <p:nvPr/>
        </p:nvSpPr>
        <p:spPr bwMode="auto">
          <a:xfrm>
            <a:off x="8145715" y="3117863"/>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000000"/>
              </a:buClr>
              <a:buFont typeface="Arial"/>
              <a:buNone/>
            </a:pPr>
            <a:endParaRPr lang="en-GB" sz="1400" kern="0">
              <a:solidFill>
                <a:srgbClr val="000000"/>
              </a:solidFill>
              <a:latin typeface="Arial"/>
              <a:cs typeface="Arial"/>
              <a:sym typeface="Arial"/>
            </a:endParaRPr>
          </a:p>
        </p:txBody>
      </p:sp>
      <p:sp>
        <p:nvSpPr>
          <p:cNvPr id="11" name="Freeform 6">
            <a:extLst>
              <a:ext uri="{FF2B5EF4-FFF2-40B4-BE49-F238E27FC236}">
                <a16:creationId xmlns:a16="http://schemas.microsoft.com/office/drawing/2014/main" id="{246C72CD-72E4-5F37-9639-3BCA1D5B7693}"/>
              </a:ext>
            </a:extLst>
          </p:cNvPr>
          <p:cNvSpPr>
            <a:spLocks noChangeAspect="1"/>
          </p:cNvSpPr>
          <p:nvPr/>
        </p:nvSpPr>
        <p:spPr bwMode="auto">
          <a:xfrm>
            <a:off x="5791754" y="3117863"/>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000000"/>
              </a:buClr>
              <a:buFont typeface="Arial"/>
              <a:buNone/>
            </a:pPr>
            <a:endParaRPr lang="en-GB" sz="1400" kern="0">
              <a:solidFill>
                <a:srgbClr val="000000"/>
              </a:solidFill>
              <a:latin typeface="Arial"/>
              <a:cs typeface="Arial"/>
              <a:sym typeface="Arial"/>
            </a:endParaRPr>
          </a:p>
        </p:txBody>
      </p:sp>
      <p:sp>
        <p:nvSpPr>
          <p:cNvPr id="12" name="Freeform 6">
            <a:extLst>
              <a:ext uri="{FF2B5EF4-FFF2-40B4-BE49-F238E27FC236}">
                <a16:creationId xmlns:a16="http://schemas.microsoft.com/office/drawing/2014/main" id="{750DDE6C-6575-C880-317C-F3CCD5390559}"/>
              </a:ext>
            </a:extLst>
          </p:cNvPr>
          <p:cNvSpPr>
            <a:spLocks noChangeAspect="1"/>
          </p:cNvSpPr>
          <p:nvPr/>
        </p:nvSpPr>
        <p:spPr bwMode="auto">
          <a:xfrm>
            <a:off x="3466187" y="3117863"/>
            <a:ext cx="235756" cy="390043"/>
          </a:xfrm>
          <a:custGeom>
            <a:avLst/>
            <a:gdLst>
              <a:gd name="T0" fmla="*/ 0 w 202"/>
              <a:gd name="T1" fmla="*/ 27 h 126"/>
              <a:gd name="T2" fmla="*/ 31 w 202"/>
              <a:gd name="T3" fmla="*/ 5 h 126"/>
              <a:gd name="T4" fmla="*/ 185 w 202"/>
              <a:gd name="T5" fmla="*/ 53 h 126"/>
              <a:gd name="T6" fmla="*/ 185 w 202"/>
              <a:gd name="T7" fmla="*/ 72 h 126"/>
              <a:gd name="T8" fmla="*/ 31 w 202"/>
              <a:gd name="T9" fmla="*/ 121 h 126"/>
              <a:gd name="T10" fmla="*/ 0 w 202"/>
              <a:gd name="T11" fmla="*/ 98 h 126"/>
              <a:gd name="T12" fmla="*/ 0 w 202"/>
              <a:gd name="T13" fmla="*/ 27 h 126"/>
            </a:gdLst>
            <a:ahLst/>
            <a:cxnLst>
              <a:cxn ang="0">
                <a:pos x="T0" y="T1"/>
              </a:cxn>
              <a:cxn ang="0">
                <a:pos x="T2" y="T3"/>
              </a:cxn>
              <a:cxn ang="0">
                <a:pos x="T4" y="T5"/>
              </a:cxn>
              <a:cxn ang="0">
                <a:pos x="T6" y="T7"/>
              </a:cxn>
              <a:cxn ang="0">
                <a:pos x="T8" y="T9"/>
              </a:cxn>
              <a:cxn ang="0">
                <a:pos x="T10" y="T11"/>
              </a:cxn>
              <a:cxn ang="0">
                <a:pos x="T12" y="T13"/>
              </a:cxn>
            </a:cxnLst>
            <a:rect l="0" t="0" r="r" b="b"/>
            <a:pathLst>
              <a:path w="202" h="126">
                <a:moveTo>
                  <a:pt x="0" y="27"/>
                </a:moveTo>
                <a:cubicBezTo>
                  <a:pt x="0" y="10"/>
                  <a:pt x="14" y="0"/>
                  <a:pt x="31" y="5"/>
                </a:cubicBezTo>
                <a:cubicBezTo>
                  <a:pt x="185" y="53"/>
                  <a:pt x="185" y="53"/>
                  <a:pt x="185" y="53"/>
                </a:cubicBezTo>
                <a:cubicBezTo>
                  <a:pt x="202" y="59"/>
                  <a:pt x="202" y="67"/>
                  <a:pt x="185" y="72"/>
                </a:cubicBezTo>
                <a:cubicBezTo>
                  <a:pt x="31" y="121"/>
                  <a:pt x="31" y="121"/>
                  <a:pt x="31" y="121"/>
                </a:cubicBezTo>
                <a:cubicBezTo>
                  <a:pt x="14" y="126"/>
                  <a:pt x="0" y="116"/>
                  <a:pt x="0" y="98"/>
                </a:cubicBezTo>
                <a:lnTo>
                  <a:pt x="0" y="2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buClr>
                <a:srgbClr val="000000"/>
              </a:buClr>
              <a:buFont typeface="Arial"/>
              <a:buNone/>
            </a:pPr>
            <a:endParaRPr lang="en-GB" sz="1400" kern="0">
              <a:solidFill>
                <a:srgbClr val="000000"/>
              </a:solidFill>
              <a:latin typeface="Arial"/>
              <a:cs typeface="Arial"/>
              <a:sym typeface="Arial"/>
            </a:endParaRPr>
          </a:p>
        </p:txBody>
      </p:sp>
      <p:grpSp>
        <p:nvGrpSpPr>
          <p:cNvPr id="23" name="Group 22">
            <a:extLst>
              <a:ext uri="{FF2B5EF4-FFF2-40B4-BE49-F238E27FC236}">
                <a16:creationId xmlns:a16="http://schemas.microsoft.com/office/drawing/2014/main" id="{5C2D7299-B72D-D9FE-057F-A73D9ED8D15E}"/>
              </a:ext>
            </a:extLst>
          </p:cNvPr>
          <p:cNvGrpSpPr/>
          <p:nvPr/>
        </p:nvGrpSpPr>
        <p:grpSpPr>
          <a:xfrm>
            <a:off x="1573682" y="2471697"/>
            <a:ext cx="1683868" cy="1682375"/>
            <a:chOff x="638403" y="2237154"/>
            <a:chExt cx="1450663" cy="1449377"/>
          </a:xfrm>
        </p:grpSpPr>
        <p:sp>
          <p:nvSpPr>
            <p:cNvPr id="24" name="Freeform 5">
              <a:extLst>
                <a:ext uri="{FF2B5EF4-FFF2-40B4-BE49-F238E27FC236}">
                  <a16:creationId xmlns:a16="http://schemas.microsoft.com/office/drawing/2014/main" id="{656E0158-5D34-B67C-58CD-1780ABE80D7A}"/>
                </a:ext>
              </a:extLst>
            </p:cNvPr>
            <p:cNvSpPr>
              <a:spLocks noEditPoints="1"/>
            </p:cNvSpPr>
            <p:nvPr/>
          </p:nvSpPr>
          <p:spPr bwMode="auto">
            <a:xfrm>
              <a:off x="638403" y="2237154"/>
              <a:ext cx="1450663" cy="1449377"/>
            </a:xfrm>
            <a:prstGeom prst="donut">
              <a:avLst>
                <a:gd name="adj" fmla="val 10103"/>
              </a:avLst>
            </a:prstGeom>
            <a:solidFill>
              <a:srgbClr val="CF142B"/>
            </a:solidFill>
          </p:spPr>
          <p:txBody>
            <a:bodyPr/>
            <a:lstStyle/>
            <a:p>
              <a:pPr>
                <a:buClr>
                  <a:srgbClr val="000000"/>
                </a:buClr>
                <a:buFont typeface="Arial"/>
                <a:buNone/>
                <a:defRPr/>
              </a:pPr>
              <a:endParaRPr lang="en-US" sz="1600" b="1" kern="0">
                <a:solidFill>
                  <a:srgbClr val="000000"/>
                </a:solidFill>
                <a:latin typeface="Arial"/>
                <a:cs typeface="Arial"/>
                <a:sym typeface="Arial"/>
              </a:endParaRPr>
            </a:p>
          </p:txBody>
        </p:sp>
        <p:sp>
          <p:nvSpPr>
            <p:cNvPr id="25" name="Oval 30">
              <a:extLst>
                <a:ext uri="{FF2B5EF4-FFF2-40B4-BE49-F238E27FC236}">
                  <a16:creationId xmlns:a16="http://schemas.microsoft.com/office/drawing/2014/main" id="{7217FAF3-DA6F-83B4-51D5-4015E173BBF6}"/>
                </a:ext>
              </a:extLst>
            </p:cNvPr>
            <p:cNvSpPr>
              <a:spLocks noChangeArrowheads="1"/>
            </p:cNvSpPr>
            <p:nvPr/>
          </p:nvSpPr>
          <p:spPr bwMode="auto">
            <a:xfrm>
              <a:off x="785317" y="2374190"/>
              <a:ext cx="1159818" cy="1159332"/>
            </a:xfrm>
            <a:prstGeom prst="ellipse">
              <a:avLst/>
            </a:prstGeom>
            <a:solidFill>
              <a:srgbClr val="FFFFFF"/>
            </a:solidFill>
            <a:ln w="9525" algn="ctr">
              <a:noFill/>
              <a:round/>
              <a:headEnd/>
              <a:tailEnd/>
            </a:ln>
          </p:spPr>
          <p:txBody>
            <a:bodyPr wrap="none" lIns="0" tIns="36000" rIns="0" bIns="36000" anchor="ctr"/>
            <a:lstStyle/>
            <a:p>
              <a:pPr algn="ctr">
                <a:buClr>
                  <a:srgbClr val="000000"/>
                </a:buClr>
                <a:buFont typeface="Arial"/>
                <a:buNone/>
                <a:defRPr/>
              </a:pPr>
              <a:endParaRPr lang="en-GB" sz="1600" kern="0">
                <a:solidFill>
                  <a:srgbClr val="000000"/>
                </a:solidFill>
                <a:latin typeface="Arial"/>
                <a:cs typeface="Arial"/>
                <a:sym typeface="Arial"/>
              </a:endParaRPr>
            </a:p>
          </p:txBody>
        </p:sp>
      </p:grpSp>
      <p:grpSp>
        <p:nvGrpSpPr>
          <p:cNvPr id="26" name="Group 25">
            <a:extLst>
              <a:ext uri="{FF2B5EF4-FFF2-40B4-BE49-F238E27FC236}">
                <a16:creationId xmlns:a16="http://schemas.microsoft.com/office/drawing/2014/main" id="{5F6E09F0-0842-3569-4A57-9C0563987DB3}"/>
              </a:ext>
            </a:extLst>
          </p:cNvPr>
          <p:cNvGrpSpPr/>
          <p:nvPr/>
        </p:nvGrpSpPr>
        <p:grpSpPr>
          <a:xfrm>
            <a:off x="3880556" y="2471697"/>
            <a:ext cx="1683868" cy="1682375"/>
            <a:chOff x="2281504" y="2237154"/>
            <a:chExt cx="1450663" cy="1449377"/>
          </a:xfrm>
        </p:grpSpPr>
        <p:sp>
          <p:nvSpPr>
            <p:cNvPr id="27" name="Freeform 5">
              <a:extLst>
                <a:ext uri="{FF2B5EF4-FFF2-40B4-BE49-F238E27FC236}">
                  <a16:creationId xmlns:a16="http://schemas.microsoft.com/office/drawing/2014/main" id="{E14F917F-E932-BD75-9C1F-B784B77A7130}"/>
                </a:ext>
              </a:extLst>
            </p:cNvPr>
            <p:cNvSpPr>
              <a:spLocks noEditPoints="1"/>
            </p:cNvSpPr>
            <p:nvPr/>
          </p:nvSpPr>
          <p:spPr bwMode="auto">
            <a:xfrm>
              <a:off x="2281504" y="2237154"/>
              <a:ext cx="1450663" cy="1449377"/>
            </a:xfrm>
            <a:prstGeom prst="donut">
              <a:avLst>
                <a:gd name="adj" fmla="val 10103"/>
              </a:avLst>
            </a:prstGeom>
            <a:solidFill>
              <a:srgbClr val="EC7505"/>
            </a:solidFill>
            <a:ln w="9525">
              <a:noFill/>
              <a:round/>
              <a:headEnd/>
              <a:tailEnd/>
            </a:ln>
          </p:spPr>
          <p:txBody>
            <a:bodyPr/>
            <a:lstStyle/>
            <a:p>
              <a:pPr>
                <a:buClr>
                  <a:srgbClr val="000000"/>
                </a:buClr>
                <a:buFont typeface="Arial"/>
                <a:buNone/>
                <a:defRPr/>
              </a:pPr>
              <a:endParaRPr lang="en-US" sz="1600" b="1" kern="0">
                <a:solidFill>
                  <a:srgbClr val="000000"/>
                </a:solidFill>
                <a:latin typeface="Arial"/>
                <a:cs typeface="Arial"/>
                <a:sym typeface="Arial"/>
              </a:endParaRPr>
            </a:p>
          </p:txBody>
        </p:sp>
        <p:sp>
          <p:nvSpPr>
            <p:cNvPr id="28" name="Oval 30">
              <a:extLst>
                <a:ext uri="{FF2B5EF4-FFF2-40B4-BE49-F238E27FC236}">
                  <a16:creationId xmlns:a16="http://schemas.microsoft.com/office/drawing/2014/main" id="{8D77FF23-FDBD-BCFD-A508-AB770EF7ABC0}"/>
                </a:ext>
              </a:extLst>
            </p:cNvPr>
            <p:cNvSpPr>
              <a:spLocks noChangeArrowheads="1"/>
            </p:cNvSpPr>
            <p:nvPr/>
          </p:nvSpPr>
          <p:spPr bwMode="auto">
            <a:xfrm>
              <a:off x="2428418" y="2374190"/>
              <a:ext cx="1159818" cy="1159332"/>
            </a:xfrm>
            <a:prstGeom prst="ellipse">
              <a:avLst/>
            </a:prstGeom>
            <a:solidFill>
              <a:srgbClr val="FFFFFF"/>
            </a:solidFill>
            <a:ln w="9525" algn="ctr">
              <a:noFill/>
              <a:round/>
              <a:headEnd/>
              <a:tailEnd/>
            </a:ln>
          </p:spPr>
          <p:txBody>
            <a:bodyPr wrap="none" lIns="0" tIns="36000" rIns="0" bIns="36000" anchor="ctr"/>
            <a:lstStyle/>
            <a:p>
              <a:pPr algn="ctr">
                <a:buClr>
                  <a:srgbClr val="000000"/>
                </a:buClr>
                <a:buFont typeface="Arial"/>
                <a:buNone/>
                <a:defRPr/>
              </a:pPr>
              <a:endParaRPr lang="en-GB" sz="1600" kern="0">
                <a:solidFill>
                  <a:srgbClr val="000000"/>
                </a:solidFill>
                <a:latin typeface="Arial"/>
                <a:cs typeface="Arial"/>
                <a:sym typeface="Arial"/>
              </a:endParaRPr>
            </a:p>
          </p:txBody>
        </p:sp>
      </p:grpSp>
      <p:grpSp>
        <p:nvGrpSpPr>
          <p:cNvPr id="29" name="Group 28">
            <a:extLst>
              <a:ext uri="{FF2B5EF4-FFF2-40B4-BE49-F238E27FC236}">
                <a16:creationId xmlns:a16="http://schemas.microsoft.com/office/drawing/2014/main" id="{E66A59C1-62D1-777A-BC41-1C5AB4CF410B}"/>
              </a:ext>
            </a:extLst>
          </p:cNvPr>
          <p:cNvGrpSpPr/>
          <p:nvPr/>
        </p:nvGrpSpPr>
        <p:grpSpPr>
          <a:xfrm>
            <a:off x="6241835" y="2471697"/>
            <a:ext cx="1683868" cy="1682375"/>
            <a:chOff x="3924603" y="2237154"/>
            <a:chExt cx="1450663" cy="1449377"/>
          </a:xfrm>
        </p:grpSpPr>
        <p:sp>
          <p:nvSpPr>
            <p:cNvPr id="30" name="Freeform 5">
              <a:extLst>
                <a:ext uri="{FF2B5EF4-FFF2-40B4-BE49-F238E27FC236}">
                  <a16:creationId xmlns:a16="http://schemas.microsoft.com/office/drawing/2014/main" id="{5B78A66B-4164-EC6A-3829-C87CD8CD5130}"/>
                </a:ext>
              </a:extLst>
            </p:cNvPr>
            <p:cNvSpPr>
              <a:spLocks noEditPoints="1"/>
            </p:cNvSpPr>
            <p:nvPr/>
          </p:nvSpPr>
          <p:spPr bwMode="auto">
            <a:xfrm>
              <a:off x="3924603" y="2237154"/>
              <a:ext cx="1450663" cy="1449377"/>
            </a:xfrm>
            <a:prstGeom prst="donut">
              <a:avLst>
                <a:gd name="adj" fmla="val 10103"/>
              </a:avLst>
            </a:prstGeom>
            <a:solidFill>
              <a:srgbClr val="92AF04"/>
            </a:solidFill>
            <a:ln w="9525">
              <a:noFill/>
              <a:round/>
              <a:headEnd/>
              <a:tailEnd/>
            </a:ln>
          </p:spPr>
          <p:txBody>
            <a:bodyPr/>
            <a:lstStyle/>
            <a:p>
              <a:pPr>
                <a:buClr>
                  <a:srgbClr val="000000"/>
                </a:buClr>
                <a:buFont typeface="Arial"/>
                <a:buNone/>
                <a:defRPr/>
              </a:pPr>
              <a:endParaRPr lang="en-US" sz="2400" b="1" kern="0">
                <a:solidFill>
                  <a:srgbClr val="000000"/>
                </a:solidFill>
                <a:latin typeface="Arial"/>
                <a:cs typeface="Arial"/>
                <a:sym typeface="Arial"/>
              </a:endParaRPr>
            </a:p>
          </p:txBody>
        </p:sp>
        <p:sp>
          <p:nvSpPr>
            <p:cNvPr id="31" name="Oval 30">
              <a:extLst>
                <a:ext uri="{FF2B5EF4-FFF2-40B4-BE49-F238E27FC236}">
                  <a16:creationId xmlns:a16="http://schemas.microsoft.com/office/drawing/2014/main" id="{EB2B0AB6-9086-F9D6-C74F-5726412858CF}"/>
                </a:ext>
              </a:extLst>
            </p:cNvPr>
            <p:cNvSpPr>
              <a:spLocks noChangeArrowheads="1"/>
            </p:cNvSpPr>
            <p:nvPr/>
          </p:nvSpPr>
          <p:spPr bwMode="auto">
            <a:xfrm>
              <a:off x="4071517" y="2374190"/>
              <a:ext cx="1159818" cy="1159332"/>
            </a:xfrm>
            <a:prstGeom prst="ellipse">
              <a:avLst/>
            </a:prstGeom>
            <a:solidFill>
              <a:srgbClr val="FFFFFF"/>
            </a:solidFill>
            <a:ln w="9525" algn="ctr">
              <a:noFill/>
              <a:round/>
              <a:headEnd/>
              <a:tailEnd/>
            </a:ln>
          </p:spPr>
          <p:txBody>
            <a:bodyPr wrap="none" lIns="0" tIns="36000" rIns="0" bIns="36000" anchor="ctr"/>
            <a:lstStyle/>
            <a:p>
              <a:pPr algn="ctr">
                <a:buClr>
                  <a:srgbClr val="000000"/>
                </a:buClr>
                <a:buFont typeface="Arial"/>
                <a:buNone/>
                <a:defRPr/>
              </a:pPr>
              <a:endParaRPr lang="en-GB" sz="1600" kern="0">
                <a:solidFill>
                  <a:srgbClr val="000000"/>
                </a:solidFill>
                <a:latin typeface="Arial"/>
                <a:cs typeface="Arial"/>
                <a:sym typeface="Arial"/>
              </a:endParaRPr>
            </a:p>
          </p:txBody>
        </p:sp>
      </p:grpSp>
      <p:grpSp>
        <p:nvGrpSpPr>
          <p:cNvPr id="32" name="Group 31">
            <a:extLst>
              <a:ext uri="{FF2B5EF4-FFF2-40B4-BE49-F238E27FC236}">
                <a16:creationId xmlns:a16="http://schemas.microsoft.com/office/drawing/2014/main" id="{8E655812-A509-1D97-06E2-B40744DA1BCD}"/>
              </a:ext>
            </a:extLst>
          </p:cNvPr>
          <p:cNvGrpSpPr/>
          <p:nvPr/>
        </p:nvGrpSpPr>
        <p:grpSpPr>
          <a:xfrm>
            <a:off x="8590128" y="2471697"/>
            <a:ext cx="1683868" cy="1682375"/>
            <a:chOff x="7202269" y="2237154"/>
            <a:chExt cx="1450663" cy="1449377"/>
          </a:xfrm>
        </p:grpSpPr>
        <p:sp>
          <p:nvSpPr>
            <p:cNvPr id="33" name="Freeform 5">
              <a:extLst>
                <a:ext uri="{FF2B5EF4-FFF2-40B4-BE49-F238E27FC236}">
                  <a16:creationId xmlns:a16="http://schemas.microsoft.com/office/drawing/2014/main" id="{6D2FB6EF-F30F-2D41-0404-500037C3AB1E}"/>
                </a:ext>
              </a:extLst>
            </p:cNvPr>
            <p:cNvSpPr>
              <a:spLocks noEditPoints="1"/>
            </p:cNvSpPr>
            <p:nvPr/>
          </p:nvSpPr>
          <p:spPr bwMode="auto">
            <a:xfrm>
              <a:off x="7202269" y="2237154"/>
              <a:ext cx="1450663" cy="1449377"/>
            </a:xfrm>
            <a:prstGeom prst="donut">
              <a:avLst>
                <a:gd name="adj" fmla="val 10103"/>
              </a:avLst>
            </a:prstGeom>
            <a:solidFill>
              <a:srgbClr val="227AB0"/>
            </a:solidFill>
            <a:ln w="9525">
              <a:noFill/>
              <a:round/>
              <a:headEnd/>
              <a:tailEnd/>
            </a:ln>
          </p:spPr>
          <p:txBody>
            <a:bodyPr/>
            <a:lstStyle/>
            <a:p>
              <a:pPr>
                <a:buClr>
                  <a:srgbClr val="000000"/>
                </a:buClr>
                <a:buFont typeface="Arial"/>
                <a:buNone/>
                <a:defRPr/>
              </a:pPr>
              <a:endParaRPr lang="en-US" sz="2400" b="1" kern="0">
                <a:solidFill>
                  <a:srgbClr val="000000"/>
                </a:solidFill>
                <a:latin typeface="Arial"/>
                <a:cs typeface="Arial"/>
                <a:sym typeface="Arial"/>
              </a:endParaRPr>
            </a:p>
          </p:txBody>
        </p:sp>
        <p:sp>
          <p:nvSpPr>
            <p:cNvPr id="34" name="Oval 30">
              <a:extLst>
                <a:ext uri="{FF2B5EF4-FFF2-40B4-BE49-F238E27FC236}">
                  <a16:creationId xmlns:a16="http://schemas.microsoft.com/office/drawing/2014/main" id="{874EF4D7-CC14-4938-DF3C-FEE18346011E}"/>
                </a:ext>
              </a:extLst>
            </p:cNvPr>
            <p:cNvSpPr>
              <a:spLocks noChangeArrowheads="1"/>
            </p:cNvSpPr>
            <p:nvPr/>
          </p:nvSpPr>
          <p:spPr bwMode="auto">
            <a:xfrm>
              <a:off x="7349183" y="2374190"/>
              <a:ext cx="1159818" cy="1159332"/>
            </a:xfrm>
            <a:prstGeom prst="ellipse">
              <a:avLst/>
            </a:prstGeom>
            <a:solidFill>
              <a:srgbClr val="FFFFFF"/>
            </a:solidFill>
            <a:ln w="9525" algn="ctr">
              <a:noFill/>
              <a:round/>
              <a:headEnd/>
              <a:tailEnd/>
            </a:ln>
          </p:spPr>
          <p:txBody>
            <a:bodyPr wrap="none" lIns="0" tIns="36000" rIns="0" bIns="36000" anchor="ctr"/>
            <a:lstStyle/>
            <a:p>
              <a:pPr algn="ctr">
                <a:buClr>
                  <a:srgbClr val="000000"/>
                </a:buClr>
                <a:buFont typeface="Arial"/>
                <a:buNone/>
                <a:defRPr/>
              </a:pPr>
              <a:endParaRPr lang="en-GB" sz="1600" kern="0">
                <a:solidFill>
                  <a:srgbClr val="000000"/>
                </a:solidFill>
                <a:latin typeface="Arial"/>
                <a:cs typeface="Arial"/>
                <a:sym typeface="Arial"/>
              </a:endParaRPr>
            </a:p>
          </p:txBody>
        </p:sp>
      </p:grpSp>
      <p:pic>
        <p:nvPicPr>
          <p:cNvPr id="35" name="Picture 34">
            <a:extLst>
              <a:ext uri="{FF2B5EF4-FFF2-40B4-BE49-F238E27FC236}">
                <a16:creationId xmlns:a16="http://schemas.microsoft.com/office/drawing/2014/main" id="{C19EA8E8-F9EA-9BF2-B6A0-6E61891CC3EC}"/>
              </a:ext>
            </a:extLst>
          </p:cNvPr>
          <p:cNvPicPr>
            <a:picLocks noChangeAspect="1"/>
          </p:cNvPicPr>
          <p:nvPr/>
        </p:nvPicPr>
        <p:blipFill>
          <a:blip r:embed="rId3"/>
          <a:stretch>
            <a:fillRect/>
          </a:stretch>
        </p:blipFill>
        <p:spPr>
          <a:xfrm>
            <a:off x="1973870" y="2898101"/>
            <a:ext cx="914400" cy="914400"/>
          </a:xfrm>
          <a:prstGeom prst="rect">
            <a:avLst/>
          </a:prstGeom>
        </p:spPr>
      </p:pic>
      <p:pic>
        <p:nvPicPr>
          <p:cNvPr id="36" name="Picture 35">
            <a:extLst>
              <a:ext uri="{FF2B5EF4-FFF2-40B4-BE49-F238E27FC236}">
                <a16:creationId xmlns:a16="http://schemas.microsoft.com/office/drawing/2014/main" id="{C3DC556E-ADED-BBC3-A019-386ADD58E1FB}"/>
              </a:ext>
            </a:extLst>
          </p:cNvPr>
          <p:cNvPicPr>
            <a:picLocks noChangeAspect="1"/>
          </p:cNvPicPr>
          <p:nvPr/>
        </p:nvPicPr>
        <p:blipFill>
          <a:blip r:embed="rId4"/>
          <a:stretch>
            <a:fillRect/>
          </a:stretch>
        </p:blipFill>
        <p:spPr>
          <a:xfrm>
            <a:off x="4265290" y="2855683"/>
            <a:ext cx="914400" cy="914400"/>
          </a:xfrm>
          <a:prstGeom prst="rect">
            <a:avLst/>
          </a:prstGeom>
        </p:spPr>
      </p:pic>
      <p:pic>
        <p:nvPicPr>
          <p:cNvPr id="37" name="Picture 36">
            <a:extLst>
              <a:ext uri="{FF2B5EF4-FFF2-40B4-BE49-F238E27FC236}">
                <a16:creationId xmlns:a16="http://schemas.microsoft.com/office/drawing/2014/main" id="{9547559C-2C85-6502-0215-B8B1AABA5186}"/>
              </a:ext>
            </a:extLst>
          </p:cNvPr>
          <p:cNvPicPr>
            <a:picLocks noChangeAspect="1"/>
          </p:cNvPicPr>
          <p:nvPr/>
        </p:nvPicPr>
        <p:blipFill>
          <a:blip r:embed="rId5"/>
          <a:stretch>
            <a:fillRect/>
          </a:stretch>
        </p:blipFill>
        <p:spPr>
          <a:xfrm>
            <a:off x="6626568" y="2871275"/>
            <a:ext cx="914400" cy="914400"/>
          </a:xfrm>
          <a:prstGeom prst="rect">
            <a:avLst/>
          </a:prstGeom>
        </p:spPr>
      </p:pic>
      <p:pic>
        <p:nvPicPr>
          <p:cNvPr id="38" name="Picture 37">
            <a:extLst>
              <a:ext uri="{FF2B5EF4-FFF2-40B4-BE49-F238E27FC236}">
                <a16:creationId xmlns:a16="http://schemas.microsoft.com/office/drawing/2014/main" id="{0255544E-EC7B-9B90-8F3A-5B3060322277}"/>
              </a:ext>
            </a:extLst>
          </p:cNvPr>
          <p:cNvPicPr>
            <a:picLocks noChangeAspect="1"/>
          </p:cNvPicPr>
          <p:nvPr/>
        </p:nvPicPr>
        <p:blipFill>
          <a:blip r:embed="rId6"/>
          <a:stretch>
            <a:fillRect/>
          </a:stretch>
        </p:blipFill>
        <p:spPr>
          <a:xfrm>
            <a:off x="8985931" y="2859152"/>
            <a:ext cx="914400" cy="914400"/>
          </a:xfrm>
          <a:prstGeom prst="rect">
            <a:avLst/>
          </a:prstGeom>
        </p:spPr>
      </p:pic>
      <p:sp>
        <p:nvSpPr>
          <p:cNvPr id="39" name="Explosion: 8 Points 38">
            <a:extLst>
              <a:ext uri="{FF2B5EF4-FFF2-40B4-BE49-F238E27FC236}">
                <a16:creationId xmlns:a16="http://schemas.microsoft.com/office/drawing/2014/main" id="{9875B460-9B7E-B305-5771-27A12871E7B5}"/>
              </a:ext>
            </a:extLst>
          </p:cNvPr>
          <p:cNvSpPr/>
          <p:nvPr/>
        </p:nvSpPr>
        <p:spPr>
          <a:xfrm>
            <a:off x="10031104" y="306245"/>
            <a:ext cx="1969827" cy="1586917"/>
          </a:xfrm>
          <a:prstGeom prst="irregularSeal1">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600" err="1"/>
              <a:t>Update</a:t>
            </a:r>
            <a:r>
              <a:rPr lang="es-ES" sz="1600"/>
              <a:t>?</a:t>
            </a:r>
            <a:endParaRPr lang="en-US" sz="1600"/>
          </a:p>
        </p:txBody>
      </p:sp>
      <p:sp>
        <p:nvSpPr>
          <p:cNvPr id="40" name="TextBox 39">
            <a:extLst>
              <a:ext uri="{FF2B5EF4-FFF2-40B4-BE49-F238E27FC236}">
                <a16:creationId xmlns:a16="http://schemas.microsoft.com/office/drawing/2014/main" id="{A23BDAA6-9F4F-6918-C84B-5126E53FFE51}"/>
              </a:ext>
            </a:extLst>
          </p:cNvPr>
          <p:cNvSpPr txBox="1"/>
          <p:nvPr/>
        </p:nvSpPr>
        <p:spPr>
          <a:xfrm>
            <a:off x="1415846" y="511019"/>
            <a:ext cx="9360311" cy="1323439"/>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Capas de Seguridad en la Power Platform</a:t>
            </a:r>
          </a:p>
        </p:txBody>
      </p:sp>
    </p:spTree>
    <p:extLst>
      <p:ext uri="{BB962C8B-B14F-4D97-AF65-F5344CB8AC3E}">
        <p14:creationId xmlns:p14="http://schemas.microsoft.com/office/powerpoint/2010/main" val="379118695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150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260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100"/>
                                        <p:tgtEl>
                                          <p:spTgt spid="5"/>
                                        </p:tgtEl>
                                      </p:cBhvr>
                                    </p:animEffect>
                                    <p:anim calcmode="lin" valueType="num">
                                      <p:cBhvr>
                                        <p:cTn id="18" dur="1100" fill="hold"/>
                                        <p:tgtEl>
                                          <p:spTgt spid="5"/>
                                        </p:tgtEl>
                                        <p:attrNameLst>
                                          <p:attrName>ppt_x</p:attrName>
                                        </p:attrNameLst>
                                      </p:cBhvr>
                                      <p:tavLst>
                                        <p:tav tm="0">
                                          <p:val>
                                            <p:strVal val="#ppt_x"/>
                                          </p:val>
                                        </p:tav>
                                        <p:tav tm="100000">
                                          <p:val>
                                            <p:strVal val="#ppt_x"/>
                                          </p:val>
                                        </p:tav>
                                      </p:tavLst>
                                    </p:anim>
                                    <p:anim calcmode="lin" valueType="num">
                                      <p:cBhvr>
                                        <p:cTn id="19" dur="1100" fill="hold"/>
                                        <p:tgtEl>
                                          <p:spTgt spid="5"/>
                                        </p:tgtEl>
                                        <p:attrNameLst>
                                          <p:attrName>ppt_y</p:attrName>
                                        </p:attrNameLst>
                                      </p:cBhvr>
                                      <p:tavLst>
                                        <p:tav tm="0">
                                          <p:val>
                                            <p:strVal val="#ppt_y-.1"/>
                                          </p:val>
                                        </p:tav>
                                        <p:tav tm="100000">
                                          <p:val>
                                            <p:strVal val="#ppt_y"/>
                                          </p:val>
                                        </p:tav>
                                      </p:tavLst>
                                    </p:anim>
                                  </p:childTnLst>
                                </p:cTn>
                              </p:par>
                              <p:par>
                                <p:cTn id="20" presetID="47" presetClass="entr" presetSubtype="0" fill="hold" grpId="0" nodeType="withEffect">
                                  <p:stCondLst>
                                    <p:cond delay="370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D65F-7479-A344-1A37-05EBEDA5DB74}"/>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65BB0E8-E3E6-0FE4-0CD7-9E9C8DC0173C}"/>
              </a:ext>
            </a:extLst>
          </p:cNvPr>
          <p:cNvSpPr txBox="1"/>
          <p:nvPr/>
        </p:nvSpPr>
        <p:spPr>
          <a:xfrm>
            <a:off x="832513" y="475105"/>
            <a:ext cx="10461008" cy="707886"/>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Managed</a:t>
            </a:r>
            <a:r>
              <a:rPr lang="es-ES" sz="4000" b="1" noProof="0">
                <a:solidFill>
                  <a:schemeClr val="bg1"/>
                </a:solidFill>
                <a:latin typeface="Segoe UI" panose="020B0502040204020203" pitchFamily="34" charset="0"/>
                <a:cs typeface="Segoe UI" panose="020B0502040204020203" pitchFamily="34" charset="0"/>
              </a:rPr>
              <a:t> Security en la Power Platform</a:t>
            </a:r>
          </a:p>
        </p:txBody>
      </p:sp>
      <p:sp>
        <p:nvSpPr>
          <p:cNvPr id="58" name="Freeform: Shape 57">
            <a:extLst>
              <a:ext uri="{FF2B5EF4-FFF2-40B4-BE49-F238E27FC236}">
                <a16:creationId xmlns:a16="http://schemas.microsoft.com/office/drawing/2014/main" id="{00D31C3F-034E-AFE0-03B9-865D8DC83368}"/>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8" name="Rounded Rectangle 23">
            <a:extLst>
              <a:ext uri="{FF2B5EF4-FFF2-40B4-BE49-F238E27FC236}">
                <a16:creationId xmlns:a16="http://schemas.microsoft.com/office/drawing/2014/main" id="{01E15708-02DF-F8C6-7FCF-0F0F99D06EA5}"/>
              </a:ext>
            </a:extLst>
          </p:cNvPr>
          <p:cNvSpPr/>
          <p:nvPr/>
        </p:nvSpPr>
        <p:spPr>
          <a:xfrm>
            <a:off x="9493866" y="1444239"/>
            <a:ext cx="2143759" cy="5312159"/>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chemeClr val="bg1"/>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AI-powered detection and monitoring to address and prevent security risks.</a:t>
            </a: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rgbClr val="000000"/>
                </a:solidFill>
                <a:latin typeface="Segoe UI" panose="020B0502040204020203" pitchFamily="34" charset="0"/>
                <a:cs typeface="Segoe UI" panose="020B0502040204020203" pitchFamily="34" charset="0"/>
              </a:rPr>
              <a:t> </a:t>
            </a:r>
          </a:p>
        </p:txBody>
      </p:sp>
      <p:sp>
        <p:nvSpPr>
          <p:cNvPr id="10" name="Rounded Rectangle 23">
            <a:extLst>
              <a:ext uri="{FF2B5EF4-FFF2-40B4-BE49-F238E27FC236}">
                <a16:creationId xmlns:a16="http://schemas.microsoft.com/office/drawing/2014/main" id="{7C5E1253-6582-82C0-3154-A3F198C81499}"/>
              </a:ext>
            </a:extLst>
          </p:cNvPr>
          <p:cNvSpPr/>
          <p:nvPr/>
        </p:nvSpPr>
        <p:spPr>
          <a:xfrm>
            <a:off x="2746702" y="1445376"/>
            <a:ext cx="2143759" cy="5311022"/>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Robust controls to ensure confidentiality and encryption, ensuring security of sensitive information. </a:t>
            </a:r>
          </a:p>
          <a:p>
            <a:pPr algn="ctr" defTabSz="914367"/>
            <a:endParaRPr lang="en-US" sz="1200">
              <a:solidFill>
                <a:srgbClr val="000000"/>
              </a:solidFill>
              <a:latin typeface="Segoe UI" panose="020B0502040204020203" pitchFamily="34" charset="0"/>
              <a:cs typeface="Segoe UI" panose="020B0502040204020203" pitchFamily="34" charset="0"/>
            </a:endParaRPr>
          </a:p>
          <a:p>
            <a:pPr>
              <a:defRPr/>
            </a:pPr>
            <a:endParaRPr lang="en-US" sz="1200" b="1">
              <a:solidFill>
                <a:srgbClr val="000000"/>
              </a:solidFill>
              <a:latin typeface="Segoe UI" panose="020B0502040204020203" pitchFamily="34" charset="0"/>
              <a:cs typeface="Segoe UI" panose="020B0502040204020203" pitchFamily="34" charset="0"/>
            </a:endParaRPr>
          </a:p>
          <a:p>
            <a:pPr algn="ctr">
              <a:defRPr/>
            </a:pPr>
            <a:endParaRPr lang="en-US" sz="1200">
              <a:solidFill>
                <a:srgbClr val="000000"/>
              </a:solidFill>
              <a:latin typeface="Segoe UI" panose="020B0502040204020203" pitchFamily="34" charset="0"/>
              <a:cs typeface="Segoe UI" panose="020B0502040204020203" pitchFamily="34" charset="0"/>
            </a:endParaRPr>
          </a:p>
        </p:txBody>
      </p:sp>
      <p:sp>
        <p:nvSpPr>
          <p:cNvPr id="13" name="Rounded Rectangle 23">
            <a:extLst>
              <a:ext uri="{FF2B5EF4-FFF2-40B4-BE49-F238E27FC236}">
                <a16:creationId xmlns:a16="http://schemas.microsoft.com/office/drawing/2014/main" id="{D4750184-4CD4-F8DC-F7F6-83E6B569CEEB}"/>
              </a:ext>
            </a:extLst>
          </p:cNvPr>
          <p:cNvSpPr/>
          <p:nvPr/>
        </p:nvSpPr>
        <p:spPr>
          <a:xfrm>
            <a:off x="4991138" y="1443722"/>
            <a:ext cx="2143759" cy="5312677"/>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a:defRPr/>
            </a:pPr>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Seamless and adaptive tools to ensure only authorized resource and data access. </a:t>
            </a: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p:txBody>
      </p:sp>
      <p:sp>
        <p:nvSpPr>
          <p:cNvPr id="14" name="Rounded Rectangle 23">
            <a:extLst>
              <a:ext uri="{FF2B5EF4-FFF2-40B4-BE49-F238E27FC236}">
                <a16:creationId xmlns:a16="http://schemas.microsoft.com/office/drawing/2014/main" id="{4B3B3E4E-D995-FBAC-9BCD-78FAA50918BB}"/>
              </a:ext>
            </a:extLst>
          </p:cNvPr>
          <p:cNvSpPr/>
          <p:nvPr/>
        </p:nvSpPr>
        <p:spPr>
          <a:xfrm>
            <a:off x="7239126" y="1443725"/>
            <a:ext cx="2143759" cy="5312674"/>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rgbClr val="000000"/>
              </a:solidFill>
              <a:latin typeface="Segoe UI" panose="020B0502040204020203" pitchFamily="34" charset="0"/>
              <a:cs typeface="Segoe UI" panose="020B0502040204020203" pitchFamily="34" charset="0"/>
            </a:endParaRPr>
          </a:p>
          <a:p>
            <a:pPr algn="ctr" defTabSz="914367"/>
            <a:endParaRPr lang="en-US" sz="1200" b="1">
              <a:solidFill>
                <a:schemeClr val="bg1"/>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Assured visibility and adherence to industry and regional regulatory requirements</a:t>
            </a:r>
            <a:r>
              <a:rPr lang="en-US" sz="1200">
                <a:solidFill>
                  <a:srgbClr val="000000"/>
                </a:solidFill>
                <a:latin typeface="Segoe UI" panose="020B0502040204020203" pitchFamily="34" charset="0"/>
                <a:cs typeface="Segoe UI" panose="020B0502040204020203" pitchFamily="34" charset="0"/>
              </a:rPr>
              <a:t>. </a:t>
            </a:r>
          </a:p>
          <a:p>
            <a:pPr algn="ctr" defTabSz="914367"/>
            <a:endParaRPr lang="en-US" sz="1200">
              <a:solidFill>
                <a:srgbClr val="000000"/>
              </a:solidFill>
              <a:latin typeface="Segoe UI" panose="020B0502040204020203" pitchFamily="34" charset="0"/>
              <a:cs typeface="Segoe UI" panose="020B0502040204020203" pitchFamily="34" charset="0"/>
            </a:endParaRPr>
          </a:p>
        </p:txBody>
      </p:sp>
      <p:sp>
        <p:nvSpPr>
          <p:cNvPr id="15" name="Rounded Rectangle 23">
            <a:extLst>
              <a:ext uri="{FF2B5EF4-FFF2-40B4-BE49-F238E27FC236}">
                <a16:creationId xmlns:a16="http://schemas.microsoft.com/office/drawing/2014/main" id="{7B4E0FDE-A4DC-280A-A323-8B83DC0EBF5F}"/>
              </a:ext>
            </a:extLst>
          </p:cNvPr>
          <p:cNvSpPr/>
          <p:nvPr/>
        </p:nvSpPr>
        <p:spPr>
          <a:xfrm>
            <a:off x="477910" y="1445994"/>
            <a:ext cx="2143759" cy="5310404"/>
          </a:xfrm>
          <a:prstGeom prst="roundRect">
            <a:avLst/>
          </a:prstGeom>
          <a:noFill/>
          <a:ln w="25400">
            <a:gradFill>
              <a:gsLst>
                <a:gs pos="68000">
                  <a:srgbClr val="9ED49E"/>
                </a:gs>
                <a:gs pos="35000">
                  <a:srgbClr val="8A99E1"/>
                </a:gs>
                <a:gs pos="0">
                  <a:srgbClr val="71C0D2"/>
                </a:gs>
                <a:gs pos="100000">
                  <a:srgbClr val="D7B03F"/>
                </a:gs>
              </a:gsLst>
              <a:lin ang="5400000" scaled="1"/>
            </a:gradFill>
          </a:ln>
        </p:spPr>
        <p:txBody>
          <a:bodyPr wrap="square" anchor="t">
            <a:noAutofit/>
          </a:bodyPr>
          <a:lstStyle/>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chemeClr val="bg1"/>
                </a:solidFill>
                <a:latin typeface="Segoe UI" panose="020B0502040204020203" pitchFamily="34" charset="0"/>
                <a:cs typeface="Segoe UI" panose="020B0502040204020203" pitchFamily="34" charset="0"/>
              </a:rPr>
              <a:t>Intelligent guidance for scalable and efficient enterprise-grade security</a:t>
            </a:r>
            <a:r>
              <a:rPr lang="en-US" sz="1200">
                <a:solidFill>
                  <a:srgbClr val="000000"/>
                </a:solidFill>
                <a:latin typeface="Segoe UI" panose="020B0502040204020203" pitchFamily="34" charset="0"/>
                <a:cs typeface="Segoe UI" panose="020B0502040204020203" pitchFamily="34" charset="0"/>
              </a:rPr>
              <a:t>.</a:t>
            </a:r>
          </a:p>
          <a:p>
            <a:pPr algn="ctr" defTabSz="914367"/>
            <a:endParaRPr lang="en-US" sz="1200">
              <a:solidFill>
                <a:srgbClr val="000000"/>
              </a:solidFill>
              <a:latin typeface="Segoe UI" panose="020B0502040204020203" pitchFamily="34" charset="0"/>
              <a:cs typeface="Segoe UI" panose="020B0502040204020203" pitchFamily="34" charset="0"/>
            </a:endParaRPr>
          </a:p>
          <a:p>
            <a:pPr algn="ctr" defTabSz="914367"/>
            <a:r>
              <a:rPr lang="en-US" sz="1200">
                <a:solidFill>
                  <a:srgbClr val="000000"/>
                </a:solidFill>
                <a:latin typeface="Segoe UI" panose="020B0502040204020203" pitchFamily="34" charset="0"/>
                <a:cs typeface="Segoe UI" panose="020B0502040204020203" pitchFamily="34" charset="0"/>
              </a:rPr>
              <a:t> </a:t>
            </a:r>
          </a:p>
        </p:txBody>
      </p:sp>
      <p:sp>
        <p:nvSpPr>
          <p:cNvPr id="16" name="TextBox 15">
            <a:extLst>
              <a:ext uri="{FF2B5EF4-FFF2-40B4-BE49-F238E27FC236}">
                <a16:creationId xmlns:a16="http://schemas.microsoft.com/office/drawing/2014/main" id="{A1ED1801-A9A5-028C-7599-62EB76A50D4E}"/>
              </a:ext>
              <a:ext uri="{C183D7F6-B498-43B3-948B-1728B52AA6E4}">
                <adec:decorative xmlns:adec="http://schemas.microsoft.com/office/drawing/2017/decorative" val="1"/>
              </a:ext>
            </a:extLst>
          </p:cNvPr>
          <p:cNvSpPr txBox="1"/>
          <p:nvPr/>
        </p:nvSpPr>
        <p:spPr>
          <a:xfrm>
            <a:off x="9733256" y="1636464"/>
            <a:ext cx="1720806" cy="307777"/>
          </a:xfrm>
          <a:prstGeom prst="rect">
            <a:avLst/>
          </a:prstGeom>
          <a:noFill/>
        </p:spPr>
        <p:txBody>
          <a:bodyPr wrap="square">
            <a:spAutoFit/>
          </a:bodyPr>
          <a:lstStyle/>
          <a:p>
            <a:pPr algn="ctr" defTabSz="914367"/>
            <a:endParaRPr lang="en-US" sz="1400" b="1">
              <a:solidFill>
                <a:srgbClr val="000000"/>
              </a:solidFill>
              <a:latin typeface="Segoe UI" panose="020B0502040204020203" pitchFamily="34" charset="0"/>
              <a:cs typeface="Segoe UI" panose="020B0502040204020203" pitchFamily="34" charset="0"/>
            </a:endParaRPr>
          </a:p>
        </p:txBody>
      </p:sp>
      <p:sp>
        <p:nvSpPr>
          <p:cNvPr id="17" name="TextBox 16">
            <a:extLst>
              <a:ext uri="{FF2B5EF4-FFF2-40B4-BE49-F238E27FC236}">
                <a16:creationId xmlns:a16="http://schemas.microsoft.com/office/drawing/2014/main" id="{E1A4042E-567B-7591-40B4-2AB7A2CCEFF3}"/>
              </a:ext>
              <a:ext uri="{C183D7F6-B498-43B3-948B-1728B52AA6E4}">
                <adec:decorative xmlns:adec="http://schemas.microsoft.com/office/drawing/2017/decorative" val="1"/>
              </a:ext>
            </a:extLst>
          </p:cNvPr>
          <p:cNvSpPr txBox="1"/>
          <p:nvPr/>
        </p:nvSpPr>
        <p:spPr>
          <a:xfrm>
            <a:off x="2946074" y="1528742"/>
            <a:ext cx="1720806" cy="307777"/>
          </a:xfrm>
          <a:prstGeom prst="rect">
            <a:avLst/>
          </a:prstGeom>
          <a:noFill/>
        </p:spPr>
        <p:txBody>
          <a:bodyPr wrap="square">
            <a:spAutoFit/>
          </a:bodyPr>
          <a:lstStyle/>
          <a:p>
            <a:pPr algn="ctr" defTabSz="914367"/>
            <a:endParaRPr lang="en-US" sz="1400" b="1">
              <a:solidFill>
                <a:srgbClr val="000000"/>
              </a:solidFill>
              <a:latin typeface="Segoe UI" panose="020B0502040204020203" pitchFamily="34" charset="0"/>
              <a:cs typeface="Segoe UI" panose="020B0502040204020203" pitchFamily="34" charset="0"/>
            </a:endParaRPr>
          </a:p>
        </p:txBody>
      </p:sp>
      <p:sp>
        <p:nvSpPr>
          <p:cNvPr id="18" name="TextBox 17">
            <a:extLst>
              <a:ext uri="{FF2B5EF4-FFF2-40B4-BE49-F238E27FC236}">
                <a16:creationId xmlns:a16="http://schemas.microsoft.com/office/drawing/2014/main" id="{14E0DE6C-0588-FF63-C8EC-8B9F5ABCE8C9}"/>
              </a:ext>
              <a:ext uri="{C183D7F6-B498-43B3-948B-1728B52AA6E4}">
                <adec:decorative xmlns:adec="http://schemas.microsoft.com/office/drawing/2017/decorative" val="1"/>
              </a:ext>
            </a:extLst>
          </p:cNvPr>
          <p:cNvSpPr txBox="1"/>
          <p:nvPr/>
        </p:nvSpPr>
        <p:spPr>
          <a:xfrm>
            <a:off x="5010640" y="1470344"/>
            <a:ext cx="1720806" cy="307777"/>
          </a:xfrm>
          <a:prstGeom prst="rect">
            <a:avLst/>
          </a:prstGeom>
          <a:noFill/>
        </p:spPr>
        <p:txBody>
          <a:bodyPr wrap="square">
            <a:spAutoFit/>
          </a:bodyPr>
          <a:lstStyle/>
          <a:p>
            <a:pPr algn="ctr">
              <a:defRPr/>
            </a:pPr>
            <a:endParaRPr lang="en-US" sz="1400" b="1">
              <a:solidFill>
                <a:srgbClr val="000000"/>
              </a:solidFill>
              <a:latin typeface="Segoe UI" panose="020B0502040204020203" pitchFamily="34" charset="0"/>
              <a:cs typeface="Segoe UI" panose="020B0502040204020203" pitchFamily="34" charset="0"/>
            </a:endParaRPr>
          </a:p>
        </p:txBody>
      </p:sp>
      <p:sp>
        <p:nvSpPr>
          <p:cNvPr id="19" name="TextBox 18">
            <a:extLst>
              <a:ext uri="{FF2B5EF4-FFF2-40B4-BE49-F238E27FC236}">
                <a16:creationId xmlns:a16="http://schemas.microsoft.com/office/drawing/2014/main" id="{17E7E9DC-AE08-AE80-F920-9C02C49E97AD}"/>
              </a:ext>
              <a:ext uri="{C183D7F6-B498-43B3-948B-1728B52AA6E4}">
                <adec:decorative xmlns:adec="http://schemas.microsoft.com/office/drawing/2017/decorative" val="1"/>
              </a:ext>
            </a:extLst>
          </p:cNvPr>
          <p:cNvSpPr txBox="1"/>
          <p:nvPr/>
        </p:nvSpPr>
        <p:spPr>
          <a:xfrm>
            <a:off x="7415192" y="1636463"/>
            <a:ext cx="1720806" cy="307777"/>
          </a:xfrm>
          <a:prstGeom prst="rect">
            <a:avLst/>
          </a:prstGeom>
          <a:noFill/>
        </p:spPr>
        <p:txBody>
          <a:bodyPr wrap="square">
            <a:spAutoFit/>
          </a:bodyPr>
          <a:lstStyle/>
          <a:p>
            <a:pPr algn="ctr" defTabSz="914367"/>
            <a:endParaRPr lang="en-US" sz="1400" b="1">
              <a:solidFill>
                <a:srgbClr val="000000"/>
              </a:solidFill>
              <a:latin typeface="Segoe UI" panose="020B0502040204020203" pitchFamily="34" charset="0"/>
              <a:cs typeface="Segoe UI" panose="020B0502040204020203" pitchFamily="34" charset="0"/>
            </a:endParaRPr>
          </a:p>
        </p:txBody>
      </p:sp>
      <p:sp>
        <p:nvSpPr>
          <p:cNvPr id="20" name="Rectangle: Rounded Corners 102">
            <a:extLst>
              <a:ext uri="{FF2B5EF4-FFF2-40B4-BE49-F238E27FC236}">
                <a16:creationId xmlns:a16="http://schemas.microsoft.com/office/drawing/2014/main" id="{4380BE09-9128-D6FA-1719-B00B36832790}"/>
              </a:ext>
              <a:ext uri="{C183D7F6-B498-43B3-948B-1728B52AA6E4}">
                <adec:decorative xmlns:adec="http://schemas.microsoft.com/office/drawing/2017/decorative" val="0"/>
              </a:ext>
            </a:extLst>
          </p:cNvPr>
          <p:cNvSpPr/>
          <p:nvPr/>
        </p:nvSpPr>
        <p:spPr bwMode="auto">
          <a:xfrm>
            <a:off x="2753202" y="1423494"/>
            <a:ext cx="2130758" cy="578334"/>
          </a:xfrm>
          <a:prstGeom prst="roundRect">
            <a:avLst>
              <a:gd name="adj" fmla="val 36259"/>
            </a:avLst>
          </a:prstGeom>
          <a:solidFill>
            <a:srgbClr val="9ED49E"/>
          </a:solidFill>
          <a:ln>
            <a:noFill/>
          </a:ln>
          <a:effectLst/>
        </p:spPr>
        <p:txBody>
          <a:bodyPr wrap="square" lIns="0" tIns="0" rIns="0" bIns="27432" anchor="ctr" anchorCtr="0">
            <a:spAutoFit/>
          </a:bodyPr>
          <a:lstStyle/>
          <a:p>
            <a:pPr algn="ctr" defTabSz="914367"/>
            <a:r>
              <a:rPr lang="en-US" sz="1400" b="1">
                <a:solidFill>
                  <a:srgbClr val="000000"/>
                </a:solidFill>
                <a:latin typeface="Segoe UI" panose="020B0502040204020203" pitchFamily="34" charset="0"/>
                <a:cs typeface="Segoe UI" panose="020B0502040204020203" pitchFamily="34" charset="0"/>
              </a:rPr>
              <a:t>Data Protection</a:t>
            </a:r>
          </a:p>
          <a:p>
            <a:pPr algn="ctr" defTabSz="914367"/>
            <a:r>
              <a:rPr lang="en-US" sz="1400" b="1">
                <a:solidFill>
                  <a:srgbClr val="000000"/>
                </a:solidFill>
                <a:latin typeface="Segoe UI" panose="020B0502040204020203" pitchFamily="34" charset="0"/>
                <a:cs typeface="Segoe UI" panose="020B0502040204020203" pitchFamily="34" charset="0"/>
              </a:rPr>
              <a:t>and Privacy</a:t>
            </a:r>
          </a:p>
        </p:txBody>
      </p:sp>
      <p:sp>
        <p:nvSpPr>
          <p:cNvPr id="21" name="Rectangle: Rounded Corners 102">
            <a:extLst>
              <a:ext uri="{FF2B5EF4-FFF2-40B4-BE49-F238E27FC236}">
                <a16:creationId xmlns:a16="http://schemas.microsoft.com/office/drawing/2014/main" id="{718C2A8A-942B-8C71-6891-2D433385FCF5}"/>
              </a:ext>
              <a:ext uri="{C183D7F6-B498-43B3-948B-1728B52AA6E4}">
                <adec:decorative xmlns:adec="http://schemas.microsoft.com/office/drawing/2017/decorative" val="0"/>
              </a:ext>
            </a:extLst>
          </p:cNvPr>
          <p:cNvSpPr/>
          <p:nvPr/>
        </p:nvSpPr>
        <p:spPr bwMode="auto">
          <a:xfrm>
            <a:off x="9500366" y="1430162"/>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defTabSz="914367"/>
            <a:r>
              <a:rPr lang="en-US" sz="1400" b="1">
                <a:solidFill>
                  <a:srgbClr val="000000"/>
                </a:solidFill>
                <a:latin typeface="Segoe UI" panose="020B0502040204020203" pitchFamily="34" charset="0"/>
                <a:cs typeface="Segoe UI" panose="020B0502040204020203" pitchFamily="34" charset="0"/>
              </a:rPr>
              <a:t>Threat Protection</a:t>
            </a:r>
          </a:p>
        </p:txBody>
      </p:sp>
      <p:sp>
        <p:nvSpPr>
          <p:cNvPr id="22" name="Rectangle: Rounded Corners 102">
            <a:extLst>
              <a:ext uri="{FF2B5EF4-FFF2-40B4-BE49-F238E27FC236}">
                <a16:creationId xmlns:a16="http://schemas.microsoft.com/office/drawing/2014/main" id="{44F7A129-3590-A7F3-DD01-2FD070E3067B}"/>
              </a:ext>
              <a:ext uri="{C183D7F6-B498-43B3-948B-1728B52AA6E4}">
                <adec:decorative xmlns:adec="http://schemas.microsoft.com/office/drawing/2017/decorative" val="0"/>
              </a:ext>
            </a:extLst>
          </p:cNvPr>
          <p:cNvSpPr/>
          <p:nvPr/>
        </p:nvSpPr>
        <p:spPr bwMode="auto">
          <a:xfrm>
            <a:off x="4997638" y="1423494"/>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a:defRPr/>
            </a:pPr>
            <a:r>
              <a:rPr lang="en-US" sz="1400" b="1">
                <a:solidFill>
                  <a:srgbClr val="000000"/>
                </a:solidFill>
                <a:latin typeface="Segoe UI" panose="020B0502040204020203" pitchFamily="34" charset="0"/>
                <a:cs typeface="Segoe UI" panose="020B0502040204020203" pitchFamily="34" charset="0"/>
              </a:rPr>
              <a:t>Identity and Access </a:t>
            </a:r>
          </a:p>
          <a:p>
            <a:pPr algn="ctr">
              <a:defRPr/>
            </a:pPr>
            <a:r>
              <a:rPr lang="en-US" sz="1400" b="1">
                <a:solidFill>
                  <a:srgbClr val="000000"/>
                </a:solidFill>
                <a:latin typeface="Segoe UI" panose="020B0502040204020203" pitchFamily="34" charset="0"/>
                <a:cs typeface="Segoe UI" panose="020B0502040204020203" pitchFamily="34" charset="0"/>
              </a:rPr>
              <a:t>Management + Network Security</a:t>
            </a:r>
          </a:p>
        </p:txBody>
      </p:sp>
      <p:sp>
        <p:nvSpPr>
          <p:cNvPr id="40" name="Rectangle: Rounded Corners 102">
            <a:extLst>
              <a:ext uri="{FF2B5EF4-FFF2-40B4-BE49-F238E27FC236}">
                <a16:creationId xmlns:a16="http://schemas.microsoft.com/office/drawing/2014/main" id="{9D02AC2B-1AAC-8CCB-D94C-7AEDEBA09BDC}"/>
              </a:ext>
              <a:ext uri="{C183D7F6-B498-43B3-948B-1728B52AA6E4}">
                <adec:decorative xmlns:adec="http://schemas.microsoft.com/office/drawing/2017/decorative" val="0"/>
              </a:ext>
            </a:extLst>
          </p:cNvPr>
          <p:cNvSpPr/>
          <p:nvPr/>
        </p:nvSpPr>
        <p:spPr bwMode="auto">
          <a:xfrm>
            <a:off x="7245626" y="1423494"/>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defTabSz="914367"/>
            <a:r>
              <a:rPr lang="en-US" sz="1400" b="1">
                <a:solidFill>
                  <a:srgbClr val="000000"/>
                </a:solidFill>
                <a:latin typeface="Segoe UI" panose="020B0502040204020203" pitchFamily="34" charset="0"/>
                <a:cs typeface="Segoe UI" panose="020B0502040204020203" pitchFamily="34" charset="0"/>
              </a:rPr>
              <a:t>Compliance</a:t>
            </a:r>
          </a:p>
        </p:txBody>
      </p:sp>
      <p:sp>
        <p:nvSpPr>
          <p:cNvPr id="41" name="Rectangle: Rounded Corners 102">
            <a:extLst>
              <a:ext uri="{FF2B5EF4-FFF2-40B4-BE49-F238E27FC236}">
                <a16:creationId xmlns:a16="http://schemas.microsoft.com/office/drawing/2014/main" id="{151DB5BD-3747-9030-1052-56443C28C1A4}"/>
              </a:ext>
              <a:ext uri="{C183D7F6-B498-43B3-948B-1728B52AA6E4}">
                <adec:decorative xmlns:adec="http://schemas.microsoft.com/office/drawing/2017/decorative" val="0"/>
              </a:ext>
            </a:extLst>
          </p:cNvPr>
          <p:cNvSpPr/>
          <p:nvPr/>
        </p:nvSpPr>
        <p:spPr bwMode="auto">
          <a:xfrm>
            <a:off x="484410" y="1423494"/>
            <a:ext cx="2130758" cy="571666"/>
          </a:xfrm>
          <a:prstGeom prst="roundRect">
            <a:avLst>
              <a:gd name="adj" fmla="val 36259"/>
            </a:avLst>
          </a:prstGeom>
          <a:solidFill>
            <a:srgbClr val="9ED49E"/>
          </a:solidFill>
          <a:ln>
            <a:noFill/>
          </a:ln>
          <a:effectLst/>
        </p:spPr>
        <p:txBody>
          <a:bodyPr wrap="square" lIns="0" tIns="0" rIns="0" bIns="27432" anchor="ctr" anchorCtr="0">
            <a:noAutofit/>
          </a:bodyPr>
          <a:lstStyle/>
          <a:p>
            <a:pPr algn="ctr">
              <a:defRPr/>
            </a:pPr>
            <a:r>
              <a:rPr lang="en-US" sz="1400" b="1">
                <a:solidFill>
                  <a:srgbClr val="000000"/>
                </a:solidFill>
                <a:latin typeface="Segoe UI" panose="020B0502040204020203" pitchFamily="34" charset="0"/>
                <a:cs typeface="Segoe UI" panose="020B0502040204020203" pitchFamily="34" charset="0"/>
              </a:rPr>
              <a:t>Security Posture Management </a:t>
            </a:r>
          </a:p>
        </p:txBody>
      </p:sp>
      <p:sp>
        <p:nvSpPr>
          <p:cNvPr id="42" name="Rounded Rectangle 1">
            <a:extLst>
              <a:ext uri="{FF2B5EF4-FFF2-40B4-BE49-F238E27FC236}">
                <a16:creationId xmlns:a16="http://schemas.microsoft.com/office/drawing/2014/main" id="{8EBAF0B1-6754-7041-BC2D-6DA1A044A978}"/>
              </a:ext>
            </a:extLst>
          </p:cNvPr>
          <p:cNvSpPr/>
          <p:nvPr/>
        </p:nvSpPr>
        <p:spPr>
          <a:xfrm>
            <a:off x="2904181" y="5322440"/>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Network </a:t>
            </a:r>
          </a:p>
          <a:p>
            <a:pPr algn="ctr">
              <a:defRPr/>
            </a:pPr>
            <a:r>
              <a:rPr lang="en-US" sz="1100" kern="0">
                <a:solidFill>
                  <a:srgbClr val="000000"/>
                </a:solidFill>
                <a:latin typeface="Segoe UI" panose="020B0502040204020203" pitchFamily="34" charset="0"/>
                <a:cs typeface="Segoe UI" panose="020B0502040204020203" pitchFamily="34" charset="0"/>
              </a:rPr>
              <a:t>Isolation (v-Net)</a:t>
            </a:r>
          </a:p>
        </p:txBody>
      </p:sp>
      <p:sp>
        <p:nvSpPr>
          <p:cNvPr id="43" name="Rounded Rectangle 2">
            <a:extLst>
              <a:ext uri="{FF2B5EF4-FFF2-40B4-BE49-F238E27FC236}">
                <a16:creationId xmlns:a16="http://schemas.microsoft.com/office/drawing/2014/main" id="{2A34A608-6A25-151C-0703-FC79858C4581}"/>
              </a:ext>
            </a:extLst>
          </p:cNvPr>
          <p:cNvSpPr/>
          <p:nvPr/>
        </p:nvSpPr>
        <p:spPr>
          <a:xfrm>
            <a:off x="2904181" y="3112048"/>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Customer </a:t>
            </a:r>
            <a:br>
              <a:rPr lang="en-US" sz="1100" kern="0">
                <a:solidFill>
                  <a:srgbClr val="000000"/>
                </a:solidFill>
                <a:latin typeface="Segoe UI" panose="020B0502040204020203" pitchFamily="34" charset="0"/>
                <a:cs typeface="Segoe UI" panose="020B0502040204020203" pitchFamily="34" charset="0"/>
              </a:rPr>
            </a:br>
            <a:r>
              <a:rPr lang="en-US" sz="1100" kern="0">
                <a:solidFill>
                  <a:srgbClr val="000000"/>
                </a:solidFill>
                <a:latin typeface="Segoe UI" panose="020B0502040204020203" pitchFamily="34" charset="0"/>
                <a:cs typeface="Segoe UI" panose="020B0502040204020203" pitchFamily="34" charset="0"/>
              </a:rPr>
              <a:t>managed keys</a:t>
            </a:r>
          </a:p>
        </p:txBody>
      </p:sp>
      <p:sp>
        <p:nvSpPr>
          <p:cNvPr id="44" name="Rounded Rectangle 3">
            <a:extLst>
              <a:ext uri="{FF2B5EF4-FFF2-40B4-BE49-F238E27FC236}">
                <a16:creationId xmlns:a16="http://schemas.microsoft.com/office/drawing/2014/main" id="{6997C18C-CFF8-6610-C97D-AFDC1956B5AF}"/>
              </a:ext>
            </a:extLst>
          </p:cNvPr>
          <p:cNvSpPr/>
          <p:nvPr/>
        </p:nvSpPr>
        <p:spPr>
          <a:xfrm>
            <a:off x="5148617" y="3099940"/>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IP Firewall</a:t>
            </a:r>
          </a:p>
        </p:txBody>
      </p:sp>
      <p:sp>
        <p:nvSpPr>
          <p:cNvPr id="45" name="Rounded Rectangle 4">
            <a:extLst>
              <a:ext uri="{FF2B5EF4-FFF2-40B4-BE49-F238E27FC236}">
                <a16:creationId xmlns:a16="http://schemas.microsoft.com/office/drawing/2014/main" id="{BB01C6EA-5A85-47CB-9AE6-91C50C9BCFF5}"/>
              </a:ext>
            </a:extLst>
          </p:cNvPr>
          <p:cNvSpPr/>
          <p:nvPr/>
        </p:nvSpPr>
        <p:spPr>
          <a:xfrm>
            <a:off x="9651345" y="3554293"/>
            <a:ext cx="1828800" cy="365760"/>
          </a:xfrm>
          <a:prstGeom prst="roundRect">
            <a:avLst>
              <a:gd name="adj" fmla="val 17622"/>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Microsoft Sentinel integration</a:t>
            </a:r>
          </a:p>
        </p:txBody>
      </p:sp>
      <p:sp>
        <p:nvSpPr>
          <p:cNvPr id="46" name="Rounded Rectangle 7">
            <a:extLst>
              <a:ext uri="{FF2B5EF4-FFF2-40B4-BE49-F238E27FC236}">
                <a16:creationId xmlns:a16="http://schemas.microsoft.com/office/drawing/2014/main" id="{AF856742-89F5-69AF-53CF-A85EDDFB34BD}"/>
              </a:ext>
            </a:extLst>
          </p:cNvPr>
          <p:cNvSpPr/>
          <p:nvPr/>
        </p:nvSpPr>
        <p:spPr>
          <a:xfrm>
            <a:off x="2904181" y="3999272"/>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Microsoft Purview Data map integration </a:t>
            </a:r>
          </a:p>
        </p:txBody>
      </p:sp>
      <p:sp>
        <p:nvSpPr>
          <p:cNvPr id="47" name="Rounded Rectangle 18">
            <a:extLst>
              <a:ext uri="{FF2B5EF4-FFF2-40B4-BE49-F238E27FC236}">
                <a16:creationId xmlns:a16="http://schemas.microsoft.com/office/drawing/2014/main" id="{D9F4F0BB-4BD1-6B9E-B83E-5F9687E804E0}"/>
              </a:ext>
            </a:extLst>
          </p:cNvPr>
          <p:cNvSpPr/>
          <p:nvPr/>
        </p:nvSpPr>
        <p:spPr>
          <a:xfrm>
            <a:off x="7396605" y="3099940"/>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Lockbox</a:t>
            </a:r>
          </a:p>
        </p:txBody>
      </p:sp>
      <p:sp>
        <p:nvSpPr>
          <p:cNvPr id="48" name="Rounded Rectangle 3">
            <a:extLst>
              <a:ext uri="{FF2B5EF4-FFF2-40B4-BE49-F238E27FC236}">
                <a16:creationId xmlns:a16="http://schemas.microsoft.com/office/drawing/2014/main" id="{41AF45A0-5F1A-18CC-F2BD-D8DEF7839258}"/>
              </a:ext>
            </a:extLst>
          </p:cNvPr>
          <p:cNvSpPr/>
          <p:nvPr/>
        </p:nvSpPr>
        <p:spPr>
          <a:xfrm>
            <a:off x="5148617" y="3543848"/>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Resource sharing limits</a:t>
            </a:r>
          </a:p>
        </p:txBody>
      </p:sp>
      <p:sp>
        <p:nvSpPr>
          <p:cNvPr id="49" name="Rounded Rectangle 3">
            <a:extLst>
              <a:ext uri="{FF2B5EF4-FFF2-40B4-BE49-F238E27FC236}">
                <a16:creationId xmlns:a16="http://schemas.microsoft.com/office/drawing/2014/main" id="{F5451643-471A-6CA9-493A-20544E0DA164}"/>
              </a:ext>
            </a:extLst>
          </p:cNvPr>
          <p:cNvSpPr/>
          <p:nvPr/>
        </p:nvSpPr>
        <p:spPr>
          <a:xfrm>
            <a:off x="5148617" y="3987756"/>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IP cookie binding</a:t>
            </a:r>
          </a:p>
        </p:txBody>
      </p:sp>
      <p:sp>
        <p:nvSpPr>
          <p:cNvPr id="50" name="Rounded Rectangle 11">
            <a:extLst>
              <a:ext uri="{FF2B5EF4-FFF2-40B4-BE49-F238E27FC236}">
                <a16:creationId xmlns:a16="http://schemas.microsoft.com/office/drawing/2014/main" id="{EA48F82E-04C3-7C4E-3E49-CAC7F658CDDC}"/>
              </a:ext>
            </a:extLst>
          </p:cNvPr>
          <p:cNvSpPr/>
          <p:nvPr/>
        </p:nvSpPr>
        <p:spPr>
          <a:xfrm>
            <a:off x="9651345" y="3099940"/>
            <a:ext cx="1828800" cy="365760"/>
          </a:xfrm>
          <a:prstGeom prst="roundRect">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Enforceable solution checker</a:t>
            </a:r>
          </a:p>
        </p:txBody>
      </p:sp>
      <p:sp>
        <p:nvSpPr>
          <p:cNvPr id="51" name="Rounded Rectangle 2">
            <a:extLst>
              <a:ext uri="{FF2B5EF4-FFF2-40B4-BE49-F238E27FC236}">
                <a16:creationId xmlns:a16="http://schemas.microsoft.com/office/drawing/2014/main" id="{13713CB1-00EC-243B-1D2B-C8C4D7E7BFBD}"/>
              </a:ext>
            </a:extLst>
          </p:cNvPr>
          <p:cNvSpPr/>
          <p:nvPr/>
        </p:nvSpPr>
        <p:spPr>
          <a:xfrm>
            <a:off x="2904181" y="4457656"/>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Data policies (desktop flows)</a:t>
            </a:r>
          </a:p>
        </p:txBody>
      </p:sp>
      <p:sp>
        <p:nvSpPr>
          <p:cNvPr id="52" name="Rounded Rectangle 3">
            <a:extLst>
              <a:ext uri="{FF2B5EF4-FFF2-40B4-BE49-F238E27FC236}">
                <a16:creationId xmlns:a16="http://schemas.microsoft.com/office/drawing/2014/main" id="{0883BCE4-4C69-1D75-FEAD-778E08F66926}"/>
              </a:ext>
            </a:extLst>
          </p:cNvPr>
          <p:cNvSpPr/>
          <p:nvPr/>
        </p:nvSpPr>
        <p:spPr>
          <a:xfrm>
            <a:off x="5148617" y="5375107"/>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Client app access</a:t>
            </a:r>
          </a:p>
        </p:txBody>
      </p:sp>
      <p:sp>
        <p:nvSpPr>
          <p:cNvPr id="53" name="Rounded Rectangle 7">
            <a:extLst>
              <a:ext uri="{FF2B5EF4-FFF2-40B4-BE49-F238E27FC236}">
                <a16:creationId xmlns:a16="http://schemas.microsoft.com/office/drawing/2014/main" id="{D58FEBBA-0F96-9361-4757-F0A52788D25A}"/>
              </a:ext>
            </a:extLst>
          </p:cNvPr>
          <p:cNvSpPr/>
          <p:nvPr/>
        </p:nvSpPr>
        <p:spPr>
          <a:xfrm>
            <a:off x="2904181" y="3555364"/>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Data masking</a:t>
            </a:r>
          </a:p>
        </p:txBody>
      </p:sp>
      <p:sp>
        <p:nvSpPr>
          <p:cNvPr id="54" name="Rounded Rectangle 3">
            <a:extLst>
              <a:ext uri="{FF2B5EF4-FFF2-40B4-BE49-F238E27FC236}">
                <a16:creationId xmlns:a16="http://schemas.microsoft.com/office/drawing/2014/main" id="{F00318E5-83DD-72EA-CC59-5D1A00164CAA}"/>
              </a:ext>
            </a:extLst>
          </p:cNvPr>
          <p:cNvSpPr/>
          <p:nvPr/>
        </p:nvSpPr>
        <p:spPr>
          <a:xfrm>
            <a:off x="5148617" y="4931199"/>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Privileged Access Management</a:t>
            </a:r>
          </a:p>
        </p:txBody>
      </p:sp>
      <p:sp>
        <p:nvSpPr>
          <p:cNvPr id="55" name="Rounded Rectangle 3">
            <a:extLst>
              <a:ext uri="{FF2B5EF4-FFF2-40B4-BE49-F238E27FC236}">
                <a16:creationId xmlns:a16="http://schemas.microsoft.com/office/drawing/2014/main" id="{63F92E4F-92D1-AEA8-6C16-26C61EFD92DA}"/>
              </a:ext>
            </a:extLst>
          </p:cNvPr>
          <p:cNvSpPr/>
          <p:nvPr/>
        </p:nvSpPr>
        <p:spPr>
          <a:xfrm>
            <a:off x="5148617" y="5819016"/>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Conditional Access</a:t>
            </a:r>
          </a:p>
        </p:txBody>
      </p:sp>
      <p:sp>
        <p:nvSpPr>
          <p:cNvPr id="56" name="Rounded Rectangle 2">
            <a:extLst>
              <a:ext uri="{FF2B5EF4-FFF2-40B4-BE49-F238E27FC236}">
                <a16:creationId xmlns:a16="http://schemas.microsoft.com/office/drawing/2014/main" id="{FB672139-BAA5-E0CD-4D11-A3D371D05162}"/>
              </a:ext>
            </a:extLst>
          </p:cNvPr>
          <p:cNvSpPr/>
          <p:nvPr/>
        </p:nvSpPr>
        <p:spPr>
          <a:xfrm>
            <a:off x="2916881" y="4889456"/>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Advanced connector policies</a:t>
            </a:r>
          </a:p>
        </p:txBody>
      </p:sp>
      <p:sp>
        <p:nvSpPr>
          <p:cNvPr id="57" name="Rounded Rectangle 18">
            <a:extLst>
              <a:ext uri="{FF2B5EF4-FFF2-40B4-BE49-F238E27FC236}">
                <a16:creationId xmlns:a16="http://schemas.microsoft.com/office/drawing/2014/main" id="{CF500979-FBCD-0F94-FCA2-9B7F5F8A0E7B}"/>
              </a:ext>
            </a:extLst>
          </p:cNvPr>
          <p:cNvSpPr/>
          <p:nvPr/>
        </p:nvSpPr>
        <p:spPr>
          <a:xfrm>
            <a:off x="7415192" y="3541556"/>
            <a:ext cx="1828800" cy="365760"/>
          </a:xfrm>
          <a:prstGeom prst="roundRect">
            <a:avLst>
              <a:gd name="adj" fmla="val 16776"/>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Dataverse audit</a:t>
            </a:r>
          </a:p>
        </p:txBody>
      </p:sp>
      <p:sp>
        <p:nvSpPr>
          <p:cNvPr id="59" name="Rounded Rectangle 2">
            <a:extLst>
              <a:ext uri="{FF2B5EF4-FFF2-40B4-BE49-F238E27FC236}">
                <a16:creationId xmlns:a16="http://schemas.microsoft.com/office/drawing/2014/main" id="{3A1B89C1-ED31-7274-47C5-8410696E976B}"/>
              </a:ext>
            </a:extLst>
          </p:cNvPr>
          <p:cNvSpPr/>
          <p:nvPr/>
        </p:nvSpPr>
        <p:spPr>
          <a:xfrm>
            <a:off x="633594" y="3099940"/>
            <a:ext cx="1828800" cy="365760"/>
          </a:xfrm>
          <a:prstGeom prst="roundRect">
            <a:avLst>
              <a:gd name="adj" fmla="val 12593"/>
            </a:avLst>
          </a:prstGeom>
          <a:solidFill>
            <a:srgbClr val="71C0D2"/>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Security guidance</a:t>
            </a:r>
          </a:p>
        </p:txBody>
      </p:sp>
      <p:sp>
        <p:nvSpPr>
          <p:cNvPr id="61" name="TextBox 60">
            <a:extLst>
              <a:ext uri="{FF2B5EF4-FFF2-40B4-BE49-F238E27FC236}">
                <a16:creationId xmlns:a16="http://schemas.microsoft.com/office/drawing/2014/main" id="{5843EF4F-AFEF-272E-9F40-39BA1B23BCD3}"/>
              </a:ext>
            </a:extLst>
          </p:cNvPr>
          <p:cNvSpPr txBox="1"/>
          <p:nvPr/>
        </p:nvSpPr>
        <p:spPr>
          <a:xfrm>
            <a:off x="3592485" y="1145650"/>
            <a:ext cx="4947314" cy="584775"/>
          </a:xfrm>
          <a:prstGeom prst="rect">
            <a:avLst/>
          </a:prstGeom>
          <a:noFill/>
        </p:spPr>
        <p:txBody>
          <a:bodyPr wrap="square" rtlCol="0">
            <a:spAutoFit/>
          </a:bodyPr>
          <a:lstStyle/>
          <a:p>
            <a:pPr algn="ctr"/>
            <a:r>
              <a:rPr lang="en-US" sz="1600">
                <a:solidFill>
                  <a:schemeClr val="accent3"/>
                </a:solidFill>
                <a:latin typeface="Segoe UI" panose="020B0502040204020203" pitchFamily="34" charset="0"/>
                <a:cs typeface="Segoe UI" panose="020B0502040204020203" pitchFamily="34" charset="0"/>
              </a:rPr>
              <a:t>Advanced protection for an AI-driven world</a:t>
            </a:r>
          </a:p>
          <a:p>
            <a:pPr algn="ctr"/>
            <a:endParaRPr lang="en-GB" sz="1600">
              <a:solidFill>
                <a:schemeClr val="accent3"/>
              </a:solidFill>
              <a:latin typeface="Segoe UI" panose="020B0502040204020203" pitchFamily="34" charset="0"/>
              <a:cs typeface="Segoe UI" panose="020B0502040204020203" pitchFamily="34" charset="0"/>
            </a:endParaRPr>
          </a:p>
        </p:txBody>
      </p:sp>
      <p:sp>
        <p:nvSpPr>
          <p:cNvPr id="2" name="Rounded Rectangle 3">
            <a:extLst>
              <a:ext uri="{FF2B5EF4-FFF2-40B4-BE49-F238E27FC236}">
                <a16:creationId xmlns:a16="http://schemas.microsoft.com/office/drawing/2014/main" id="{EDF8AB46-4717-C21F-76E5-394D014DA8BE}"/>
              </a:ext>
            </a:extLst>
          </p:cNvPr>
          <p:cNvSpPr/>
          <p:nvPr/>
        </p:nvSpPr>
        <p:spPr>
          <a:xfrm>
            <a:off x="5145242" y="6239120"/>
            <a:ext cx="1828800" cy="365760"/>
          </a:xfrm>
          <a:prstGeom prst="roundRect">
            <a:avLst>
              <a:gd name="adj" fmla="val 16776"/>
            </a:avLst>
          </a:prstGeom>
          <a:solidFill>
            <a:srgbClr val="FFC000"/>
          </a:solidFill>
          <a:ln w="10795" cap="flat" cmpd="sng" algn="ctr">
            <a:noFill/>
            <a:prstDash val="solid"/>
          </a:ln>
          <a:effectLst/>
        </p:spPr>
        <p:txBody>
          <a:bodyPr tIns="0" bIns="0" rtlCol="0" anchor="ctr"/>
          <a:lstStyle/>
          <a:p>
            <a:pPr algn="ctr">
              <a:defRPr/>
            </a:pPr>
            <a:r>
              <a:rPr lang="es-ES" sz="1100" kern="0">
                <a:solidFill>
                  <a:srgbClr val="000000"/>
                </a:solidFill>
                <a:latin typeface="Segoe UI" panose="020B0502040204020203" pitchFamily="34" charset="0"/>
                <a:cs typeface="Segoe UI" panose="020B0502040204020203" pitchFamily="34" charset="0"/>
              </a:rPr>
              <a:t>Acceso a Agentes y Autenticación</a:t>
            </a:r>
            <a:endParaRPr lang="en-US" sz="1100" kern="0">
              <a:solidFill>
                <a:srgbClr val="000000"/>
              </a:solidFill>
              <a:latin typeface="Segoe UI" panose="020B0502040204020203" pitchFamily="34" charset="0"/>
              <a:cs typeface="Segoe UI" panose="020B0502040204020203" pitchFamily="34" charset="0"/>
            </a:endParaRPr>
          </a:p>
        </p:txBody>
      </p:sp>
      <p:sp>
        <p:nvSpPr>
          <p:cNvPr id="3" name="Rounded Rectangle 3">
            <a:extLst>
              <a:ext uri="{FF2B5EF4-FFF2-40B4-BE49-F238E27FC236}">
                <a16:creationId xmlns:a16="http://schemas.microsoft.com/office/drawing/2014/main" id="{7FD78696-F234-04CD-E39D-AFEC5F4BF18A}"/>
              </a:ext>
            </a:extLst>
          </p:cNvPr>
          <p:cNvSpPr/>
          <p:nvPr/>
        </p:nvSpPr>
        <p:spPr>
          <a:xfrm>
            <a:off x="5151742" y="4456447"/>
            <a:ext cx="1828800" cy="365760"/>
          </a:xfrm>
          <a:prstGeom prst="roundRect">
            <a:avLst>
              <a:gd name="adj" fmla="val 16776"/>
            </a:avLst>
          </a:prstGeom>
          <a:solidFill>
            <a:srgbClr val="FFC000"/>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Tenant Isolation</a:t>
            </a:r>
          </a:p>
        </p:txBody>
      </p:sp>
      <p:sp>
        <p:nvSpPr>
          <p:cNvPr id="4" name="Rounded Rectangle 4">
            <a:extLst>
              <a:ext uri="{FF2B5EF4-FFF2-40B4-BE49-F238E27FC236}">
                <a16:creationId xmlns:a16="http://schemas.microsoft.com/office/drawing/2014/main" id="{BCAE731A-AE9E-A0E3-960E-295221030C57}"/>
              </a:ext>
            </a:extLst>
          </p:cNvPr>
          <p:cNvSpPr/>
          <p:nvPr/>
        </p:nvSpPr>
        <p:spPr>
          <a:xfrm>
            <a:off x="9683516" y="4013353"/>
            <a:ext cx="1828800" cy="365760"/>
          </a:xfrm>
          <a:prstGeom prst="roundRect">
            <a:avLst>
              <a:gd name="adj" fmla="val 17622"/>
            </a:avLst>
          </a:prstGeom>
          <a:solidFill>
            <a:srgbClr val="FFC000"/>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Thread Detection for Copilot Agents</a:t>
            </a:r>
          </a:p>
        </p:txBody>
      </p:sp>
      <p:sp>
        <p:nvSpPr>
          <p:cNvPr id="5" name="Rounded Rectangle 4">
            <a:extLst>
              <a:ext uri="{FF2B5EF4-FFF2-40B4-BE49-F238E27FC236}">
                <a16:creationId xmlns:a16="http://schemas.microsoft.com/office/drawing/2014/main" id="{03B60F6D-E6EE-B2E8-09F4-C06162C68D2F}"/>
              </a:ext>
            </a:extLst>
          </p:cNvPr>
          <p:cNvSpPr/>
          <p:nvPr/>
        </p:nvSpPr>
        <p:spPr>
          <a:xfrm>
            <a:off x="9683516" y="4492810"/>
            <a:ext cx="1828800" cy="365760"/>
          </a:xfrm>
          <a:prstGeom prst="roundRect">
            <a:avLst>
              <a:gd name="adj" fmla="val 17622"/>
            </a:avLst>
          </a:prstGeom>
          <a:solidFill>
            <a:srgbClr val="FFC000"/>
          </a:solidFill>
          <a:ln w="10795" cap="flat" cmpd="sng" algn="ctr">
            <a:noFill/>
            <a:prstDash val="solid"/>
          </a:ln>
          <a:effectLst/>
        </p:spPr>
        <p:txBody>
          <a:bodyPr tIns="0" bIns="0" rtlCol="0" anchor="ctr"/>
          <a:lstStyle/>
          <a:p>
            <a:pPr algn="ctr">
              <a:defRPr/>
            </a:pPr>
            <a:r>
              <a:rPr lang="en-US" sz="1100" kern="0">
                <a:solidFill>
                  <a:srgbClr val="000000"/>
                </a:solidFill>
                <a:latin typeface="Segoe UI" panose="020B0502040204020203" pitchFamily="34" charset="0"/>
                <a:cs typeface="Segoe UI" panose="020B0502040204020203" pitchFamily="34" charset="0"/>
              </a:rPr>
              <a:t>Microsoft Defender for Copilot Agents</a:t>
            </a:r>
          </a:p>
        </p:txBody>
      </p:sp>
      <p:pic>
        <p:nvPicPr>
          <p:cNvPr id="7" name="Picture Placeholder 2" descr="A person smiling for a picture&#10;&#10;AI-generated content may be incorrect.">
            <a:extLst>
              <a:ext uri="{FF2B5EF4-FFF2-40B4-BE49-F238E27FC236}">
                <a16:creationId xmlns:a16="http://schemas.microsoft.com/office/drawing/2014/main" id="{315FF684-0D91-3A6E-9D91-55A5F48790EA}"/>
              </a:ext>
            </a:extLst>
          </p:cNvPr>
          <p:cNvPicPr>
            <a:picLocks noChangeAspect="1"/>
          </p:cNvPicPr>
          <p:nvPr/>
        </p:nvPicPr>
        <p:blipFill>
          <a:blip r:embed="rId3">
            <a:extLst>
              <a:ext uri="{28A0092B-C50C-407E-A947-70E740481C1C}">
                <a14:useLocalDpi xmlns:a14="http://schemas.microsoft.com/office/drawing/2010/main" val="0"/>
              </a:ext>
            </a:extLst>
          </a:blip>
          <a:srcRect l="6042" r="6042"/>
          <a:stretch>
            <a:fillRect/>
          </a:stretch>
        </p:blipFill>
        <p:spPr>
          <a:xfrm>
            <a:off x="11176049" y="101602"/>
            <a:ext cx="910149" cy="1005840"/>
          </a:xfrm>
          <a:prstGeom prst="ellipse">
            <a:avLst/>
          </a:prstGeom>
          <a:ln>
            <a:noFill/>
          </a:ln>
          <a:effectLst>
            <a:softEdge rad="112500"/>
          </a:effectLst>
        </p:spPr>
      </p:pic>
    </p:spTree>
    <p:extLst>
      <p:ext uri="{BB962C8B-B14F-4D97-AF65-F5344CB8AC3E}">
        <p14:creationId xmlns:p14="http://schemas.microsoft.com/office/powerpoint/2010/main" val="413105307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4735-855B-D060-C7F9-6E13AA591B86}"/>
            </a:ext>
          </a:extLst>
        </p:cNvPr>
        <p:cNvGrpSpPr/>
        <p:nvPr/>
      </p:nvGrpSpPr>
      <p:grpSpPr>
        <a:xfrm>
          <a:off x="0" y="0"/>
          <a:ext cx="0" cy="0"/>
          <a:chOff x="0" y="0"/>
          <a:chExt cx="0" cy="0"/>
        </a:xfrm>
      </p:grpSpPr>
      <p:sp>
        <p:nvSpPr>
          <p:cNvPr id="26" name="Freeform: Shape 25">
            <a:extLst>
              <a:ext uri="{FF2B5EF4-FFF2-40B4-BE49-F238E27FC236}">
                <a16:creationId xmlns:a16="http://schemas.microsoft.com/office/drawing/2014/main" id="{159BECDA-CB76-93BD-E9BA-BDC4F1FB265C}"/>
              </a:ext>
            </a:extLst>
          </p:cNvPr>
          <p:cNvSpPr/>
          <p:nvPr/>
        </p:nvSpPr>
        <p:spPr>
          <a:xfrm>
            <a:off x="10369401" y="733468"/>
            <a:ext cx="2181523" cy="2272964"/>
          </a:xfrm>
          <a:custGeom>
            <a:avLst/>
            <a:gdLst>
              <a:gd name="connsiteX0" fmla="*/ 127835 w 1590675"/>
              <a:gd name="connsiteY0" fmla="*/ 692754 h 1657350"/>
              <a:gd name="connsiteX1" fmla="*/ 77353 w 1590675"/>
              <a:gd name="connsiteY1" fmla="*/ 1431894 h 1657350"/>
              <a:gd name="connsiteX2" fmla="*/ 1012708 w 1590675"/>
              <a:gd name="connsiteY2" fmla="*/ 1276636 h 1657350"/>
              <a:gd name="connsiteX3" fmla="*/ 1316556 w 1590675"/>
              <a:gd name="connsiteY3" fmla="*/ 1147096 h 1657350"/>
              <a:gd name="connsiteX4" fmla="*/ 1569920 w 1590675"/>
              <a:gd name="connsiteY4" fmla="*/ 755619 h 1657350"/>
              <a:gd name="connsiteX5" fmla="*/ 764105 w 1590675"/>
              <a:gd name="connsiteY5" fmla="*/ 424149 h 1657350"/>
              <a:gd name="connsiteX6" fmla="*/ 224990 w 1590675"/>
              <a:gd name="connsiteY6" fmla="*/ 15526 h 1657350"/>
              <a:gd name="connsiteX7" fmla="*/ 127835 w 1590675"/>
              <a:gd name="connsiteY7" fmla="*/ 692754 h 165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675" h="1657350">
                <a:moveTo>
                  <a:pt x="127835" y="692754"/>
                </a:moveTo>
                <a:cubicBezTo>
                  <a:pt x="184985" y="850869"/>
                  <a:pt x="-143627" y="1093756"/>
                  <a:pt x="77353" y="1431894"/>
                </a:cubicBezTo>
                <a:cubicBezTo>
                  <a:pt x="325003" y="1810989"/>
                  <a:pt x="853640" y="1710024"/>
                  <a:pt x="1012708" y="1276636"/>
                </a:cubicBezTo>
                <a:cubicBezTo>
                  <a:pt x="1052713" y="1167099"/>
                  <a:pt x="1183206" y="1151859"/>
                  <a:pt x="1316556" y="1147096"/>
                </a:cubicBezTo>
                <a:cubicBezTo>
                  <a:pt x="1577540" y="1138524"/>
                  <a:pt x="1644215" y="880396"/>
                  <a:pt x="1569920" y="755619"/>
                </a:cubicBezTo>
                <a:cubicBezTo>
                  <a:pt x="1391803" y="457486"/>
                  <a:pt x="887930" y="581311"/>
                  <a:pt x="764105" y="424149"/>
                </a:cubicBezTo>
                <a:cubicBezTo>
                  <a:pt x="663140" y="296514"/>
                  <a:pt x="498358" y="-80676"/>
                  <a:pt x="224990" y="15526"/>
                </a:cubicBezTo>
                <a:cubicBezTo>
                  <a:pt x="-116005" y="135541"/>
                  <a:pt x="65923" y="522256"/>
                  <a:pt x="127835" y="69275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DA37"/>
              </a:solidFill>
              <a:effectLst/>
              <a:uLnTx/>
              <a:uFillTx/>
              <a:latin typeface="Open Sans Light"/>
              <a:ea typeface="+mn-ea"/>
              <a:cs typeface="+mn-cs"/>
            </a:endParaRPr>
          </a:p>
        </p:txBody>
      </p:sp>
      <p:grpSp>
        <p:nvGrpSpPr>
          <p:cNvPr id="32" name="Group 31">
            <a:extLst>
              <a:ext uri="{FF2B5EF4-FFF2-40B4-BE49-F238E27FC236}">
                <a16:creationId xmlns:a16="http://schemas.microsoft.com/office/drawing/2014/main" id="{8532BB49-D1AE-95EE-839A-733F437CAA95}"/>
              </a:ext>
            </a:extLst>
          </p:cNvPr>
          <p:cNvGrpSpPr/>
          <p:nvPr/>
        </p:nvGrpSpPr>
        <p:grpSpPr>
          <a:xfrm>
            <a:off x="1312912" y="3132482"/>
            <a:ext cx="354681" cy="296531"/>
            <a:chOff x="356813" y="4730723"/>
            <a:chExt cx="244804" cy="204668"/>
          </a:xfrm>
          <a:solidFill>
            <a:schemeClr val="accent6"/>
          </a:solidFill>
        </p:grpSpPr>
        <p:sp>
          <p:nvSpPr>
            <p:cNvPr id="33" name="Freeform: Shape 32">
              <a:extLst>
                <a:ext uri="{FF2B5EF4-FFF2-40B4-BE49-F238E27FC236}">
                  <a16:creationId xmlns:a16="http://schemas.microsoft.com/office/drawing/2014/main" id="{E7256EBB-D384-0344-E8A3-9485DF8A6446}"/>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DA37"/>
                </a:solidFill>
                <a:effectLst/>
                <a:uLnTx/>
                <a:uFillTx/>
                <a:latin typeface="Open Sans Light"/>
                <a:ea typeface="+mn-ea"/>
                <a:cs typeface="+mn-cs"/>
              </a:endParaRPr>
            </a:p>
          </p:txBody>
        </p:sp>
        <p:sp>
          <p:nvSpPr>
            <p:cNvPr id="34" name="Freeform: Shape 33">
              <a:extLst>
                <a:ext uri="{FF2B5EF4-FFF2-40B4-BE49-F238E27FC236}">
                  <a16:creationId xmlns:a16="http://schemas.microsoft.com/office/drawing/2014/main" id="{AA7530D3-62CF-75C9-2842-30BF8115E449}"/>
                </a:ext>
              </a:extLst>
            </p:cNvPr>
            <p:cNvSpPr/>
            <p:nvPr/>
          </p:nvSpPr>
          <p:spPr>
            <a:xfrm>
              <a:off x="554341" y="4730723"/>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DA37"/>
                </a:solidFill>
                <a:effectLst/>
                <a:uLnTx/>
                <a:uFillTx/>
                <a:latin typeface="Open Sans Light"/>
                <a:ea typeface="+mn-ea"/>
                <a:cs typeface="+mn-cs"/>
              </a:endParaRPr>
            </a:p>
          </p:txBody>
        </p:sp>
      </p:grpSp>
      <p:sp>
        <p:nvSpPr>
          <p:cNvPr id="3" name="TextBox 2">
            <a:extLst>
              <a:ext uri="{FF2B5EF4-FFF2-40B4-BE49-F238E27FC236}">
                <a16:creationId xmlns:a16="http://schemas.microsoft.com/office/drawing/2014/main" id="{445C636D-2E23-7CB6-A32E-6E36D684E47C}"/>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Postura de Seguridad de la Power Platform</a:t>
            </a:r>
          </a:p>
        </p:txBody>
      </p:sp>
      <p:pic>
        <p:nvPicPr>
          <p:cNvPr id="5" name="Picture 4">
            <a:extLst>
              <a:ext uri="{FF2B5EF4-FFF2-40B4-BE49-F238E27FC236}">
                <a16:creationId xmlns:a16="http://schemas.microsoft.com/office/drawing/2014/main" id="{F817A86F-2D60-616B-730B-45F1FFC9ED9D}"/>
              </a:ext>
            </a:extLst>
          </p:cNvPr>
          <p:cNvPicPr>
            <a:picLocks noChangeAspect="1"/>
          </p:cNvPicPr>
          <p:nvPr/>
        </p:nvPicPr>
        <p:blipFill>
          <a:blip r:embed="rId2"/>
          <a:stretch>
            <a:fillRect/>
          </a:stretch>
        </p:blipFill>
        <p:spPr>
          <a:xfrm>
            <a:off x="1765514" y="1769001"/>
            <a:ext cx="8518402" cy="4992366"/>
          </a:xfrm>
          <a:prstGeom prst="rect">
            <a:avLst/>
          </a:prstGeom>
        </p:spPr>
      </p:pic>
    </p:spTree>
    <p:extLst>
      <p:ext uri="{BB962C8B-B14F-4D97-AF65-F5344CB8AC3E}">
        <p14:creationId xmlns:p14="http://schemas.microsoft.com/office/powerpoint/2010/main" val="1605587721"/>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C3C1B023-D271-4195-BA69-7C6ED2180C39}"/>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5392650B-84DD-4CE8-BAB1-928605F9D0B9}"/>
              </a:ext>
            </a:extLst>
          </p:cNvPr>
          <p:cNvGrpSpPr/>
          <p:nvPr/>
        </p:nvGrpSpPr>
        <p:grpSpPr>
          <a:xfrm>
            <a:off x="1098513" y="1099367"/>
            <a:ext cx="4382144" cy="2062104"/>
            <a:chOff x="1092200" y="1859895"/>
            <a:chExt cx="4382144" cy="2062101"/>
          </a:xfrm>
        </p:grpSpPr>
        <p:sp>
          <p:nvSpPr>
            <p:cNvPr id="45" name="TextBox 44">
              <a:extLst>
                <a:ext uri="{FF2B5EF4-FFF2-40B4-BE49-F238E27FC236}">
                  <a16:creationId xmlns:a16="http://schemas.microsoft.com/office/drawing/2014/main" id="{27239E6C-4917-4619-ACA5-A01CD54A9054}"/>
                </a:ext>
              </a:extLst>
            </p:cNvPr>
            <p:cNvSpPr txBox="1"/>
            <p:nvPr/>
          </p:nvSpPr>
          <p:spPr>
            <a:xfrm>
              <a:off x="1092200" y="2167672"/>
              <a:ext cx="4382144" cy="1754324"/>
            </a:xfrm>
            <a:prstGeom prst="rect">
              <a:avLst/>
            </a:prstGeom>
            <a:noFill/>
          </p:spPr>
          <p:txBody>
            <a:bodyPr wrap="square" rtlCol="0">
              <a:spAutoFit/>
            </a:bodyPr>
            <a:lstStyle/>
            <a:p>
              <a:r>
                <a:rPr lang="es-ES" sz="3600" b="1" noProof="0">
                  <a:solidFill>
                    <a:schemeClr val="bg1"/>
                  </a:solidFill>
                  <a:latin typeface="+mj-lt"/>
                  <a:cs typeface="Poppins ExtraBold" panose="00000900000000000000" pitchFamily="2" charset="0"/>
                </a:rPr>
                <a:t>Postura de Seguridad en la Power Platform</a:t>
              </a:r>
            </a:p>
          </p:txBody>
        </p:sp>
        <p:grpSp>
          <p:nvGrpSpPr>
            <p:cNvPr id="46" name="Group 45">
              <a:extLst>
                <a:ext uri="{FF2B5EF4-FFF2-40B4-BE49-F238E27FC236}">
                  <a16:creationId xmlns:a16="http://schemas.microsoft.com/office/drawing/2014/main" id="{32961122-D106-496E-98D1-B44A66C50491}"/>
                </a:ext>
              </a:extLst>
            </p:cNvPr>
            <p:cNvGrpSpPr/>
            <p:nvPr/>
          </p:nvGrpSpPr>
          <p:grpSpPr>
            <a:xfrm>
              <a:off x="1190922" y="1859895"/>
              <a:ext cx="3089364" cy="338554"/>
              <a:chOff x="1630681" y="1859895"/>
              <a:chExt cx="3089364" cy="338554"/>
            </a:xfrm>
          </p:grpSpPr>
          <p:sp>
            <p:nvSpPr>
              <p:cNvPr id="47" name="TextBox 46">
                <a:extLst>
                  <a:ext uri="{FF2B5EF4-FFF2-40B4-BE49-F238E27FC236}">
                    <a16:creationId xmlns:a16="http://schemas.microsoft.com/office/drawing/2014/main" id="{48E72B24-6BF1-4B8A-AE79-5BC46365703F}"/>
                  </a:ext>
                </a:extLst>
              </p:cNvPr>
              <p:cNvSpPr txBox="1"/>
              <p:nvPr/>
            </p:nvSpPr>
            <p:spPr>
              <a:xfrm>
                <a:off x="2013833" y="1859895"/>
                <a:ext cx="2706212" cy="338554"/>
              </a:xfrm>
              <a:prstGeom prst="rect">
                <a:avLst/>
              </a:prstGeom>
              <a:noFill/>
            </p:spPr>
            <p:txBody>
              <a:bodyPr wrap="square" rtlCol="0">
                <a:spAutoFit/>
              </a:bodyPr>
              <a:lstStyle/>
              <a:p>
                <a:r>
                  <a:rPr lang="en-US" sz="1600" b="1">
                    <a:solidFill>
                      <a:schemeClr val="bg1"/>
                    </a:solidFill>
                    <a:latin typeface="+mj-lt"/>
                    <a:cs typeface="Poppins ExtraBold" panose="00000900000000000000" pitchFamily="2" charset="0"/>
                  </a:rPr>
                  <a:t>DEMO #1</a:t>
                </a:r>
                <a:endParaRPr lang="en-GB" sz="1600" b="1">
                  <a:solidFill>
                    <a:schemeClr val="bg1"/>
                  </a:solidFill>
                  <a:latin typeface="+mj-lt"/>
                  <a:cs typeface="Poppins ExtraBold" panose="00000900000000000000" pitchFamily="2" charset="0"/>
                </a:endParaRPr>
              </a:p>
            </p:txBody>
          </p:sp>
          <p:cxnSp>
            <p:nvCxnSpPr>
              <p:cNvPr id="48" name="Straight Connector 47">
                <a:extLst>
                  <a:ext uri="{FF2B5EF4-FFF2-40B4-BE49-F238E27FC236}">
                    <a16:creationId xmlns:a16="http://schemas.microsoft.com/office/drawing/2014/main" id="{84D974F3-A3EF-4F74-85C3-67DE313BC359}"/>
                  </a:ext>
                </a:extLst>
              </p:cNvPr>
              <p:cNvCxnSpPr>
                <a:cxnSpLocks/>
              </p:cNvCxnSpPr>
              <p:nvPr/>
            </p:nvCxnSpPr>
            <p:spPr>
              <a:xfrm flipH="1">
                <a:off x="1630681" y="2006163"/>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9" name="Picture 18" descr="Minion clipart transparent background, Minion transparent background  Transparent FREE for download on WebStockReview 2021">
            <a:extLst>
              <a:ext uri="{FF2B5EF4-FFF2-40B4-BE49-F238E27FC236}">
                <a16:creationId xmlns:a16="http://schemas.microsoft.com/office/drawing/2014/main" id="{0194E42C-5F12-EAC6-91F7-059CBD62B7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1" y="532342"/>
            <a:ext cx="4492646" cy="52582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0BE0F6F4-ADA5-BC18-CAD0-CBFDF04EDC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67FE0C49-C296-4179-1F87-1442BE2F4DD7}"/>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0186493" y="139602"/>
            <a:ext cx="910149" cy="1005840"/>
          </a:xfrm>
          <a:prstGeom prst="ellipse">
            <a:avLst/>
          </a:prstGeom>
          <a:ln>
            <a:noFill/>
          </a:ln>
          <a:effectLst>
            <a:softEdge rad="112500"/>
          </a:effectLst>
        </p:spPr>
      </p:pic>
    </p:spTree>
    <p:extLst>
      <p:ext uri="{BB962C8B-B14F-4D97-AF65-F5344CB8AC3E}">
        <p14:creationId xmlns:p14="http://schemas.microsoft.com/office/powerpoint/2010/main" val="182092458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23" presetClass="entr" presetSubtype="272"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 calcmode="lin" valueType="num">
                                      <p:cBhvr>
                                        <p:cTn id="10" dur="500" fill="hold"/>
                                        <p:tgtEl>
                                          <p:spTgt spid="44"/>
                                        </p:tgtEl>
                                        <p:attrNameLst>
                                          <p:attrName>ppt_w</p:attrName>
                                        </p:attrNameLst>
                                      </p:cBhvr>
                                      <p:tavLst>
                                        <p:tav tm="0">
                                          <p:val>
                                            <p:strVal val="2/3*#ppt_w"/>
                                          </p:val>
                                        </p:tav>
                                        <p:tav tm="100000">
                                          <p:val>
                                            <p:strVal val="#ppt_w"/>
                                          </p:val>
                                        </p:tav>
                                      </p:tavLst>
                                    </p:anim>
                                    <p:anim calcmode="lin" valueType="num">
                                      <p:cBhvr>
                                        <p:cTn id="11" dur="500" fill="hold"/>
                                        <p:tgtEl>
                                          <p:spTgt spid="44"/>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125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80">
                                          <p:stCondLst>
                                            <p:cond delay="0"/>
                                          </p:stCondLst>
                                        </p:cTn>
                                        <p:tgtEl>
                                          <p:spTgt spid="9"/>
                                        </p:tgtEl>
                                      </p:cBhvr>
                                    </p:animEffect>
                                    <p:anim calcmode="lin" valueType="num">
                                      <p:cBhvr>
                                        <p:cTn id="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5" dur="26">
                                          <p:stCondLst>
                                            <p:cond delay="650"/>
                                          </p:stCondLst>
                                        </p:cTn>
                                        <p:tgtEl>
                                          <p:spTgt spid="9"/>
                                        </p:tgtEl>
                                      </p:cBhvr>
                                      <p:to x="100000" y="60000"/>
                                    </p:animScale>
                                    <p:animScale>
                                      <p:cBhvr>
                                        <p:cTn id="26" dur="166" decel="50000">
                                          <p:stCondLst>
                                            <p:cond delay="676"/>
                                          </p:stCondLst>
                                        </p:cTn>
                                        <p:tgtEl>
                                          <p:spTgt spid="9"/>
                                        </p:tgtEl>
                                      </p:cBhvr>
                                      <p:to x="100000" y="100000"/>
                                    </p:animScale>
                                    <p:animScale>
                                      <p:cBhvr>
                                        <p:cTn id="27" dur="26">
                                          <p:stCondLst>
                                            <p:cond delay="1312"/>
                                          </p:stCondLst>
                                        </p:cTn>
                                        <p:tgtEl>
                                          <p:spTgt spid="9"/>
                                        </p:tgtEl>
                                      </p:cBhvr>
                                      <p:to x="100000" y="80000"/>
                                    </p:animScale>
                                    <p:animScale>
                                      <p:cBhvr>
                                        <p:cTn id="28" dur="166" decel="50000">
                                          <p:stCondLst>
                                            <p:cond delay="1338"/>
                                          </p:stCondLst>
                                        </p:cTn>
                                        <p:tgtEl>
                                          <p:spTgt spid="9"/>
                                        </p:tgtEl>
                                      </p:cBhvr>
                                      <p:to x="100000" y="100000"/>
                                    </p:animScale>
                                    <p:animScale>
                                      <p:cBhvr>
                                        <p:cTn id="29" dur="26">
                                          <p:stCondLst>
                                            <p:cond delay="1642"/>
                                          </p:stCondLst>
                                        </p:cTn>
                                        <p:tgtEl>
                                          <p:spTgt spid="9"/>
                                        </p:tgtEl>
                                      </p:cBhvr>
                                      <p:to x="100000" y="90000"/>
                                    </p:animScale>
                                    <p:animScale>
                                      <p:cBhvr>
                                        <p:cTn id="30" dur="166" decel="50000">
                                          <p:stCondLst>
                                            <p:cond delay="1668"/>
                                          </p:stCondLst>
                                        </p:cTn>
                                        <p:tgtEl>
                                          <p:spTgt spid="9"/>
                                        </p:tgtEl>
                                      </p:cBhvr>
                                      <p:to x="100000" y="100000"/>
                                    </p:animScale>
                                    <p:animScale>
                                      <p:cBhvr>
                                        <p:cTn id="31" dur="26">
                                          <p:stCondLst>
                                            <p:cond delay="1808"/>
                                          </p:stCondLst>
                                        </p:cTn>
                                        <p:tgtEl>
                                          <p:spTgt spid="9"/>
                                        </p:tgtEl>
                                      </p:cBhvr>
                                      <p:to x="100000" y="95000"/>
                                    </p:animScale>
                                    <p:animScale>
                                      <p:cBhvr>
                                        <p:cTn id="3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8A88F-2F07-FB80-F9C7-9BF081577155}"/>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0C604F8B-2918-5F58-000E-A2D32B736DE0}"/>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AA2D2024-DDED-3562-97EA-CEF5C0675956}"/>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grpSp>
        <p:nvGrpSpPr>
          <p:cNvPr id="2" name="Group 1">
            <a:extLst>
              <a:ext uri="{FF2B5EF4-FFF2-40B4-BE49-F238E27FC236}">
                <a16:creationId xmlns:a16="http://schemas.microsoft.com/office/drawing/2014/main" id="{23CC5FB3-3BCE-F769-EFA9-D39FFC46E60F}"/>
              </a:ext>
            </a:extLst>
          </p:cNvPr>
          <p:cNvGrpSpPr/>
          <p:nvPr/>
        </p:nvGrpSpPr>
        <p:grpSpPr>
          <a:xfrm>
            <a:off x="2303736" y="2286000"/>
            <a:ext cx="2468880" cy="2011680"/>
            <a:chOff x="6941" y="1161888"/>
            <a:chExt cx="2461366" cy="1837358"/>
          </a:xfrm>
        </p:grpSpPr>
        <p:sp>
          <p:nvSpPr>
            <p:cNvPr id="3" name="Rectangle: Top Corners Rounded 2">
              <a:extLst>
                <a:ext uri="{FF2B5EF4-FFF2-40B4-BE49-F238E27FC236}">
                  <a16:creationId xmlns:a16="http://schemas.microsoft.com/office/drawing/2014/main" id="{343B3665-6F56-7C7B-2ADF-1883B2620972}"/>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 name="Rectangle: Top Corners Rounded 4">
              <a:extLst>
                <a:ext uri="{FF2B5EF4-FFF2-40B4-BE49-F238E27FC236}">
                  <a16:creationId xmlns:a16="http://schemas.microsoft.com/office/drawing/2014/main" id="{41A30C16-DED1-A548-9613-2586DDED1655}"/>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Clave de encriptación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auto-gestionada</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Impide el acceso a los datos corporativos a todo el mundo “ajeno” a la organización</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4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5" name="Group 4">
            <a:extLst>
              <a:ext uri="{FF2B5EF4-FFF2-40B4-BE49-F238E27FC236}">
                <a16:creationId xmlns:a16="http://schemas.microsoft.com/office/drawing/2014/main" id="{18401612-BB2E-CFB4-DE26-EF5AAD479F9C}"/>
              </a:ext>
            </a:extLst>
          </p:cNvPr>
          <p:cNvGrpSpPr/>
          <p:nvPr/>
        </p:nvGrpSpPr>
        <p:grpSpPr>
          <a:xfrm>
            <a:off x="2303736" y="4278976"/>
            <a:ext cx="2468880" cy="790063"/>
            <a:chOff x="6941" y="2999246"/>
            <a:chExt cx="2461366" cy="790063"/>
          </a:xfrm>
          <a:solidFill>
            <a:srgbClr val="ED7D31"/>
          </a:solidFill>
        </p:grpSpPr>
        <p:sp>
          <p:nvSpPr>
            <p:cNvPr id="6" name="Rectangle 5">
              <a:extLst>
                <a:ext uri="{FF2B5EF4-FFF2-40B4-BE49-F238E27FC236}">
                  <a16:creationId xmlns:a16="http://schemas.microsoft.com/office/drawing/2014/main" id="{0DDD8A63-19FF-5DED-7446-7DEF441F49B5}"/>
                </a:ext>
              </a:extLst>
            </p:cNvPr>
            <p:cNvSpPr/>
            <p:nvPr/>
          </p:nvSpPr>
          <p:spPr>
            <a:xfrm>
              <a:off x="6941" y="2999246"/>
              <a:ext cx="2461366" cy="790063"/>
            </a:xfrm>
            <a:prstGeom prst="rect">
              <a:avLst/>
            </a:prstGeom>
            <a:grp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E5EAEB68-B9D9-6F91-5D30-3D9EB88F26BC}"/>
                </a:ext>
              </a:extLst>
            </p:cNvPr>
            <p:cNvSpPr txBox="1"/>
            <p:nvPr/>
          </p:nvSpPr>
          <p:spPr>
            <a:xfrm>
              <a:off x="6941" y="2999246"/>
              <a:ext cx="1733356" cy="790063"/>
            </a:xfrm>
            <a:prstGeom prst="rect">
              <a:avLst/>
            </a:prstGeom>
            <a:grp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a:solidFill>
                    <a:prstClr val="white"/>
                  </a:solidFill>
                  <a:latin typeface="Segoe UI" panose="020B0502040204020203" pitchFamily="34" charset="0"/>
                  <a:cs typeface="Segoe UI" panose="020B0502040204020203" pitchFamily="34" charset="0"/>
                </a:rPr>
                <a:t>Customer Managed Keys</a:t>
              </a:r>
            </a:p>
          </p:txBody>
        </p:sp>
      </p:grpSp>
      <p:grpSp>
        <p:nvGrpSpPr>
          <p:cNvPr id="8" name="Group 7">
            <a:extLst>
              <a:ext uri="{FF2B5EF4-FFF2-40B4-BE49-F238E27FC236}">
                <a16:creationId xmlns:a16="http://schemas.microsoft.com/office/drawing/2014/main" id="{917B8F4B-7825-5CB8-5C62-F71DEB85E3DD}"/>
              </a:ext>
            </a:extLst>
          </p:cNvPr>
          <p:cNvGrpSpPr/>
          <p:nvPr/>
        </p:nvGrpSpPr>
        <p:grpSpPr>
          <a:xfrm>
            <a:off x="5027049" y="2275848"/>
            <a:ext cx="2468880" cy="2011680"/>
            <a:chOff x="2884829" y="1161888"/>
            <a:chExt cx="2461366" cy="1837358"/>
          </a:xfrm>
        </p:grpSpPr>
        <p:sp>
          <p:nvSpPr>
            <p:cNvPr id="9" name="Rectangle: Top Corners Rounded 8">
              <a:extLst>
                <a:ext uri="{FF2B5EF4-FFF2-40B4-BE49-F238E27FC236}">
                  <a16:creationId xmlns:a16="http://schemas.microsoft.com/office/drawing/2014/main" id="{A12A19B9-C50E-34D8-961F-8399865CB733}"/>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0" name="Rectangle: Top Corners Rounded 4">
              <a:extLst>
                <a:ext uri="{FF2B5EF4-FFF2-40B4-BE49-F238E27FC236}">
                  <a16:creationId xmlns:a16="http://schemas.microsoft.com/office/drawing/2014/main" id="{AB6DCBC9-4582-CB26-81E5-3A364589CB80}"/>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250" kern="0">
                  <a:solidFill>
                    <a:sysClr val="windowText" lastClr="000000">
                      <a:hueOff val="0"/>
                      <a:satOff val="0"/>
                      <a:lumOff val="0"/>
                      <a:alphaOff val="0"/>
                    </a:sysClr>
                  </a:solidFill>
                  <a:latin typeface="Segoe UI" panose="020B0502040204020203" pitchFamily="34" charset="0"/>
                  <a:cs typeface="Segoe UI" panose="020B0502040204020203" pitchFamily="34" charset="0"/>
                </a:rPr>
                <a:t>Proteger información sensible cuando el usuario interactúa con esta + Prevenir fugas de datos</a:t>
              </a:r>
            </a:p>
            <a:p>
              <a:pPr marL="114300" lvl="1" indent="-114300" defTabSz="533400">
                <a:lnSpc>
                  <a:spcPct val="90000"/>
                </a:lnSpc>
                <a:spcBef>
                  <a:spcPct val="0"/>
                </a:spcBef>
                <a:spcAft>
                  <a:spcPct val="15000"/>
                </a:spcAft>
                <a:buFontTx/>
                <a:buChar char="•"/>
                <a:defRPr/>
              </a:pPr>
              <a:r>
                <a:rPr lang="es-ES" sz="1250" kern="0">
                  <a:solidFill>
                    <a:sysClr val="windowText" lastClr="000000">
                      <a:hueOff val="0"/>
                      <a:satOff val="0"/>
                      <a:lumOff val="0"/>
                      <a:alphaOff val="0"/>
                    </a:sysClr>
                  </a:solidFill>
                  <a:latin typeface="Segoe UI" panose="020B0502040204020203" pitchFamily="34" charset="0"/>
                  <a:cs typeface="Segoe UI" panose="020B0502040204020203" pitchFamily="34" charset="0"/>
                </a:rPr>
                <a:t>Ofusca los datos remplazando los datos sensibles con cadenas de texto</a:t>
              </a:r>
            </a:p>
            <a:p>
              <a:pPr marL="114300" lvl="1" indent="-114300" defTabSz="533400">
                <a:lnSpc>
                  <a:spcPct val="90000"/>
                </a:lnSpc>
                <a:spcBef>
                  <a:spcPct val="0"/>
                </a:spcBef>
                <a:spcAft>
                  <a:spcPct val="15000"/>
                </a:spcAft>
                <a:buFontTx/>
                <a:buChar char="•"/>
                <a:defRPr/>
              </a:pPr>
              <a:r>
                <a:rPr lang="es-ES" sz="1250" kern="0">
                  <a:solidFill>
                    <a:sysClr val="windowText" lastClr="000000">
                      <a:hueOff val="0"/>
                      <a:satOff val="0"/>
                      <a:lumOff val="0"/>
                      <a:alphaOff val="0"/>
                    </a:sysClr>
                  </a:solidFill>
                  <a:latin typeface="Segoe UI" panose="020B0502040204020203" pitchFamily="34" charset="0"/>
                  <a:cs typeface="Segoe UI" panose="020B0502040204020203" pitchFamily="34" charset="0"/>
                </a:rPr>
                <a:t>Se basa en definir reglas de ofuscación usando expresiones regulares y caracteres para ocultar los datos sensibles</a:t>
              </a:r>
            </a:p>
          </p:txBody>
        </p:sp>
      </p:grpSp>
      <p:grpSp>
        <p:nvGrpSpPr>
          <p:cNvPr id="11" name="Group 10">
            <a:extLst>
              <a:ext uri="{FF2B5EF4-FFF2-40B4-BE49-F238E27FC236}">
                <a16:creationId xmlns:a16="http://schemas.microsoft.com/office/drawing/2014/main" id="{462EB843-EB25-8194-1994-9C6868FBCB11}"/>
              </a:ext>
            </a:extLst>
          </p:cNvPr>
          <p:cNvGrpSpPr/>
          <p:nvPr/>
        </p:nvGrpSpPr>
        <p:grpSpPr>
          <a:xfrm>
            <a:off x="5027129" y="4287528"/>
            <a:ext cx="2468880" cy="790063"/>
            <a:chOff x="2884829" y="2999246"/>
            <a:chExt cx="2461366" cy="790063"/>
          </a:xfrm>
        </p:grpSpPr>
        <p:sp>
          <p:nvSpPr>
            <p:cNvPr id="12" name="Rectangle 11">
              <a:extLst>
                <a:ext uri="{FF2B5EF4-FFF2-40B4-BE49-F238E27FC236}">
                  <a16:creationId xmlns:a16="http://schemas.microsoft.com/office/drawing/2014/main" id="{92EFD823-39E0-BAFE-6DEB-850DFE2F16FA}"/>
                </a:ext>
              </a:extLst>
            </p:cNvPr>
            <p:cNvSpPr/>
            <p:nvPr/>
          </p:nvSpPr>
          <p:spPr>
            <a:xfrm>
              <a:off x="2884829" y="2999246"/>
              <a:ext cx="2461366" cy="790063"/>
            </a:xfrm>
            <a:prstGeom prst="rect">
              <a:avLst/>
            </a:prstGeom>
            <a:solidFill>
              <a:srgbClr val="A5A5A5">
                <a:hueOff val="0"/>
                <a:satOff val="0"/>
                <a:lumOff val="0"/>
                <a:alphaOff val="0"/>
              </a:srgb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6A44F7D5-4404-848E-7346-B2DF9AA670D3}"/>
                </a:ext>
              </a:extLst>
            </p:cNvPr>
            <p:cNvSpPr txBox="1"/>
            <p:nvPr/>
          </p:nvSpPr>
          <p:spPr>
            <a:xfrm>
              <a:off x="2884829"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n-US" sz="1600" b="1" kern="0">
                  <a:solidFill>
                    <a:prstClr val="white"/>
                  </a:solidFill>
                  <a:latin typeface="Segoe UI" panose="020B0502040204020203" pitchFamily="34" charset="0"/>
                  <a:cs typeface="Segoe UI" panose="020B0502040204020203" pitchFamily="34" charset="0"/>
                </a:rPr>
                <a:t>Data Masking (Preview)</a:t>
              </a:r>
            </a:p>
          </p:txBody>
        </p:sp>
      </p:grpSp>
      <p:grpSp>
        <p:nvGrpSpPr>
          <p:cNvPr id="15" name="Group 14">
            <a:extLst>
              <a:ext uri="{FF2B5EF4-FFF2-40B4-BE49-F238E27FC236}">
                <a16:creationId xmlns:a16="http://schemas.microsoft.com/office/drawing/2014/main" id="{B6ECEF12-0A17-3343-C9C6-3231F2A2C20F}"/>
              </a:ext>
            </a:extLst>
          </p:cNvPr>
          <p:cNvGrpSpPr/>
          <p:nvPr/>
        </p:nvGrpSpPr>
        <p:grpSpPr>
          <a:xfrm>
            <a:off x="7733680" y="2270701"/>
            <a:ext cx="2468880" cy="2011680"/>
            <a:chOff x="5762718" y="1161888"/>
            <a:chExt cx="2461366" cy="1837358"/>
          </a:xfrm>
        </p:grpSpPr>
        <p:sp>
          <p:nvSpPr>
            <p:cNvPr id="16" name="Rectangle: Top Corners Rounded 15">
              <a:extLst>
                <a:ext uri="{FF2B5EF4-FFF2-40B4-BE49-F238E27FC236}">
                  <a16:creationId xmlns:a16="http://schemas.microsoft.com/office/drawing/2014/main" id="{067070B8-54AB-A0A3-9B3A-102484C923D2}"/>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7" name="Rectangle: Top Corners Rounded 4">
              <a:extLst>
                <a:ext uri="{FF2B5EF4-FFF2-40B4-BE49-F238E27FC236}">
                  <a16:creationId xmlns:a16="http://schemas.microsoft.com/office/drawing/2014/main" id="{24BB94BF-BF80-ED28-8B26-E5E3A7793869}"/>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Gobierno y Descubrimiento de Datos de la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Dataverse</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Clasificación de los Datos + Aplicación de Etiquetas de Sensibilidad y políticas de cumplimiento</a:t>
              </a:r>
            </a:p>
          </p:txBody>
        </p:sp>
      </p:grpSp>
      <p:grpSp>
        <p:nvGrpSpPr>
          <p:cNvPr id="18" name="Group 17">
            <a:extLst>
              <a:ext uri="{FF2B5EF4-FFF2-40B4-BE49-F238E27FC236}">
                <a16:creationId xmlns:a16="http://schemas.microsoft.com/office/drawing/2014/main" id="{78C537C0-B6A4-3317-C597-119C21E313A5}"/>
              </a:ext>
            </a:extLst>
          </p:cNvPr>
          <p:cNvGrpSpPr/>
          <p:nvPr/>
        </p:nvGrpSpPr>
        <p:grpSpPr>
          <a:xfrm>
            <a:off x="7733686" y="4271835"/>
            <a:ext cx="2468881" cy="790063"/>
            <a:chOff x="5762717" y="2999246"/>
            <a:chExt cx="2461367" cy="790063"/>
          </a:xfrm>
          <a:solidFill>
            <a:srgbClr val="FFC000"/>
          </a:solidFill>
        </p:grpSpPr>
        <p:sp>
          <p:nvSpPr>
            <p:cNvPr id="19" name="Rectangle 18">
              <a:extLst>
                <a:ext uri="{FF2B5EF4-FFF2-40B4-BE49-F238E27FC236}">
                  <a16:creationId xmlns:a16="http://schemas.microsoft.com/office/drawing/2014/main" id="{7C38EF78-4E00-E160-00E9-461F8FC272E8}"/>
                </a:ext>
              </a:extLst>
            </p:cNvPr>
            <p:cNvSpPr/>
            <p:nvPr/>
          </p:nvSpPr>
          <p:spPr>
            <a:xfrm>
              <a:off x="5762718" y="2999246"/>
              <a:ext cx="2461366" cy="790063"/>
            </a:xfrm>
            <a:prstGeom prst="rect">
              <a:avLst/>
            </a:prstGeom>
            <a:grp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CF072C45-C35B-8D9A-07EE-A4AE9C187EA4}"/>
                </a:ext>
              </a:extLst>
            </p:cNvPr>
            <p:cNvSpPr txBox="1"/>
            <p:nvPr/>
          </p:nvSpPr>
          <p:spPr>
            <a:xfrm>
              <a:off x="5762717" y="2999246"/>
              <a:ext cx="1906653" cy="790063"/>
            </a:xfrm>
            <a:prstGeom prst="rect">
              <a:avLst/>
            </a:prstGeom>
            <a:grpFill/>
            <a:ln>
              <a:noFill/>
            </a:ln>
            <a:effectLst/>
          </p:spPr>
          <p:txBody>
            <a:bodyPr spcFirstLastPara="0" vert="horz" wrap="square" lIns="68580" tIns="0" rIns="22860" bIns="0" numCol="1" spcCol="1270" anchor="ctr" anchorCtr="0">
              <a:noAutofit/>
            </a:bodyPr>
            <a:lstStyle/>
            <a:p>
              <a:pPr defTabSz="800100">
                <a:lnSpc>
                  <a:spcPct val="90000"/>
                </a:lnSpc>
                <a:spcBef>
                  <a:spcPct val="0"/>
                </a:spcBef>
                <a:spcAft>
                  <a:spcPct val="35000"/>
                </a:spcAft>
                <a:defRPr/>
              </a:pPr>
              <a:r>
                <a:rPr lang="fr-FR" sz="1600" b="1" kern="0">
                  <a:solidFill>
                    <a:prstClr val="white"/>
                  </a:solidFill>
                  <a:latin typeface="Segoe UI" panose="020B0502040204020203" pitchFamily="34" charset="0"/>
                  <a:cs typeface="Segoe UI" panose="020B0502040204020203" pitchFamily="34" charset="0"/>
                </a:rPr>
                <a:t>Microsoft </a:t>
              </a:r>
              <a:r>
                <a:rPr lang="fr-FR" sz="1600" b="1" kern="0" err="1">
                  <a:solidFill>
                    <a:prstClr val="white"/>
                  </a:solidFill>
                  <a:latin typeface="Segoe UI" panose="020B0502040204020203" pitchFamily="34" charset="0"/>
                  <a:cs typeface="Segoe UI" panose="020B0502040204020203" pitchFamily="34" charset="0"/>
                </a:rPr>
                <a:t>Purview</a:t>
              </a:r>
              <a:r>
                <a:rPr lang="fr-FR" sz="1600" b="1" kern="0">
                  <a:solidFill>
                    <a:prstClr val="white"/>
                  </a:solidFill>
                  <a:latin typeface="Segoe UI" panose="020B0502040204020203" pitchFamily="34" charset="0"/>
                  <a:cs typeface="Segoe UI" panose="020B0502040204020203" pitchFamily="34" charset="0"/>
                </a:rPr>
                <a:t> Data </a:t>
              </a:r>
              <a:r>
                <a:rPr lang="fr-FR" sz="1600" b="1" kern="0" err="1">
                  <a:solidFill>
                    <a:prstClr val="white"/>
                  </a:solidFill>
                  <a:latin typeface="Segoe UI" panose="020B0502040204020203" pitchFamily="34" charset="0"/>
                  <a:cs typeface="Segoe UI" panose="020B0502040204020203" pitchFamily="34" charset="0"/>
                </a:rPr>
                <a:t>Map</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31" name="Picture 30">
            <a:extLst>
              <a:ext uri="{FF2B5EF4-FFF2-40B4-BE49-F238E27FC236}">
                <a16:creationId xmlns:a16="http://schemas.microsoft.com/office/drawing/2014/main" id="{C2C49545-A1A8-BEA4-3B9C-F82EED27E1E4}"/>
              </a:ext>
            </a:extLst>
          </p:cNvPr>
          <p:cNvPicPr>
            <a:picLocks noChangeAspect="1"/>
          </p:cNvPicPr>
          <p:nvPr/>
        </p:nvPicPr>
        <p:blipFill>
          <a:blip r:embed="rId3"/>
          <a:stretch>
            <a:fillRect/>
          </a:stretch>
        </p:blipFill>
        <p:spPr>
          <a:xfrm>
            <a:off x="4067009" y="4362519"/>
            <a:ext cx="640080" cy="640080"/>
          </a:xfrm>
          <a:prstGeom prst="rect">
            <a:avLst/>
          </a:prstGeom>
        </p:spPr>
      </p:pic>
      <p:sp>
        <p:nvSpPr>
          <p:cNvPr id="35" name="TextBox 34">
            <a:extLst>
              <a:ext uri="{FF2B5EF4-FFF2-40B4-BE49-F238E27FC236}">
                <a16:creationId xmlns:a16="http://schemas.microsoft.com/office/drawing/2014/main" id="{6DABAE91-8A2A-553D-2EC5-78B3ECD387B1}"/>
              </a:ext>
            </a:extLst>
          </p:cNvPr>
          <p:cNvSpPr txBox="1"/>
          <p:nvPr/>
        </p:nvSpPr>
        <p:spPr>
          <a:xfrm>
            <a:off x="1415846" y="1266600"/>
            <a:ext cx="9202058" cy="698974"/>
          </a:xfrm>
          <a:prstGeom prst="rect">
            <a:avLst/>
          </a:prstGeom>
          <a:noFill/>
        </p:spPr>
        <p:txBody>
          <a:bodyPr wrap="square" rtlCol="0">
            <a:spAutoFit/>
          </a:bodyPr>
          <a:lstStyle/>
          <a:p>
            <a:pPr algn="ctr">
              <a:lnSpc>
                <a:spcPct val="130000"/>
              </a:lnSpc>
            </a:pPr>
            <a:r>
              <a:rPr lang="es-ES" sz="1600" noProof="0">
                <a:solidFill>
                  <a:schemeClr val="bg1"/>
                </a:solidFill>
                <a:latin typeface="Segoe UI" panose="020B0502040204020203" pitchFamily="34" charset="0"/>
                <a:cs typeface="Segoe UI" panose="020B0502040204020203" pitchFamily="34" charset="0"/>
              </a:rPr>
              <a:t>Se trata de asegurar que la información personal se gestiona, almacena y protege de forma segura manteniendo su confidencialidad e integridad, así como previniendo accesos no autorizados</a:t>
            </a:r>
          </a:p>
        </p:txBody>
      </p:sp>
      <p:pic>
        <p:nvPicPr>
          <p:cNvPr id="21" name="Picture 20">
            <a:extLst>
              <a:ext uri="{FF2B5EF4-FFF2-40B4-BE49-F238E27FC236}">
                <a16:creationId xmlns:a16="http://schemas.microsoft.com/office/drawing/2014/main" id="{C01543F6-1B56-D175-3921-8E4E2E6E495F}"/>
              </a:ext>
            </a:extLst>
          </p:cNvPr>
          <p:cNvPicPr>
            <a:picLocks noChangeAspect="1"/>
          </p:cNvPicPr>
          <p:nvPr/>
        </p:nvPicPr>
        <p:blipFill>
          <a:blip r:embed="rId4"/>
          <a:stretch>
            <a:fillRect/>
          </a:stretch>
        </p:blipFill>
        <p:spPr>
          <a:xfrm>
            <a:off x="6792497" y="4362519"/>
            <a:ext cx="640080" cy="640080"/>
          </a:xfrm>
          <a:prstGeom prst="rect">
            <a:avLst/>
          </a:prstGeom>
        </p:spPr>
      </p:pic>
      <p:pic>
        <p:nvPicPr>
          <p:cNvPr id="22" name="Picture 21">
            <a:extLst>
              <a:ext uri="{FF2B5EF4-FFF2-40B4-BE49-F238E27FC236}">
                <a16:creationId xmlns:a16="http://schemas.microsoft.com/office/drawing/2014/main" id="{874FB25A-3925-F8BB-43E1-56720C260D3D}"/>
              </a:ext>
            </a:extLst>
          </p:cNvPr>
          <p:cNvPicPr>
            <a:picLocks noChangeAspect="1"/>
          </p:cNvPicPr>
          <p:nvPr/>
        </p:nvPicPr>
        <p:blipFill>
          <a:blip r:embed="rId5"/>
          <a:stretch>
            <a:fillRect/>
          </a:stretch>
        </p:blipFill>
        <p:spPr>
          <a:xfrm>
            <a:off x="9568224" y="4362519"/>
            <a:ext cx="640080" cy="640080"/>
          </a:xfrm>
          <a:prstGeom prst="rect">
            <a:avLst/>
          </a:prstGeom>
        </p:spPr>
      </p:pic>
      <p:pic>
        <p:nvPicPr>
          <p:cNvPr id="24" name="Picture Placeholder 2" descr="A person smiling for a picture&#10;&#10;AI-generated content may be incorrect.">
            <a:extLst>
              <a:ext uri="{FF2B5EF4-FFF2-40B4-BE49-F238E27FC236}">
                <a16:creationId xmlns:a16="http://schemas.microsoft.com/office/drawing/2014/main" id="{CE01F799-3292-BEF6-2378-AAE4E312A457}"/>
              </a:ext>
            </a:extLst>
          </p:cNvPr>
          <p:cNvPicPr>
            <a:picLocks noChangeAspect="1"/>
          </p:cNvPicPr>
          <p:nvPr/>
        </p:nvPicPr>
        <p:blipFill>
          <a:blip r:embed="rId6">
            <a:extLst>
              <a:ext uri="{28A0092B-C50C-407E-A947-70E740481C1C}">
                <a14:useLocalDpi xmlns:a14="http://schemas.microsoft.com/office/drawing/2010/main" val="0"/>
              </a:ext>
            </a:extLst>
          </a:blip>
          <a:srcRect l="6042" r="6042"/>
          <a:stretch>
            <a:fillRect/>
          </a:stretch>
        </p:blipFill>
        <p:spPr>
          <a:xfrm>
            <a:off x="11134945" y="160368"/>
            <a:ext cx="910149" cy="1005840"/>
          </a:xfrm>
          <a:prstGeom prst="ellipse">
            <a:avLst/>
          </a:prstGeom>
          <a:ln>
            <a:noFill/>
          </a:ln>
          <a:effectLst>
            <a:softEdge rad="112500"/>
          </a:effectLst>
        </p:spPr>
      </p:pic>
    </p:spTree>
    <p:extLst>
      <p:ext uri="{BB962C8B-B14F-4D97-AF65-F5344CB8AC3E}">
        <p14:creationId xmlns:p14="http://schemas.microsoft.com/office/powerpoint/2010/main" val="119105401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1000"/>
                                        <p:tgtEl>
                                          <p:spTgt spid="31"/>
                                        </p:tgtEl>
                                      </p:cBhvr>
                                    </p:animEffec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1000"/>
                                        <p:tgtEl>
                                          <p:spTgt spid="22"/>
                                        </p:tgtEl>
                                      </p:cBhvr>
                                    </p:animEffect>
                                    <p:anim calcmode="lin" valueType="num">
                                      <p:cBhvr>
                                        <p:cTn id="48" dur="1000" fill="hold"/>
                                        <p:tgtEl>
                                          <p:spTgt spid="22"/>
                                        </p:tgtEl>
                                        <p:attrNameLst>
                                          <p:attrName>ppt_x</p:attrName>
                                        </p:attrNameLst>
                                      </p:cBhvr>
                                      <p:tavLst>
                                        <p:tav tm="0">
                                          <p:val>
                                            <p:strVal val="#ppt_x"/>
                                          </p:val>
                                        </p:tav>
                                        <p:tav tm="100000">
                                          <p:val>
                                            <p:strVal val="#ppt_x"/>
                                          </p:val>
                                        </p:tav>
                                      </p:tavLst>
                                    </p:anim>
                                    <p:anim calcmode="lin" valueType="num">
                                      <p:cBhvr>
                                        <p:cTn id="4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D2208-5543-D820-A54A-3D91A1B59D39}"/>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6AC94F7A-A17C-5A53-37E5-7F3BB15673DF}"/>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C15587C5-1917-5872-79B2-6BAC7AF1932F}"/>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4" name="TextBox 23">
            <a:extLst>
              <a:ext uri="{FF2B5EF4-FFF2-40B4-BE49-F238E27FC236}">
                <a16:creationId xmlns:a16="http://schemas.microsoft.com/office/drawing/2014/main" id="{83244A09-64BA-B09A-8920-AC1C3B2D6954}"/>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Manage your customer-managed encryption key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3074" name="Picture 2" descr="Customer-managed encryption key in the Power Platform">
            <a:extLst>
              <a:ext uri="{FF2B5EF4-FFF2-40B4-BE49-F238E27FC236}">
                <a16:creationId xmlns:a16="http://schemas.microsoft.com/office/drawing/2014/main" id="{C00B2E10-EFAF-E13A-1451-0AA62F54E7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9426" y="1650680"/>
            <a:ext cx="8633147" cy="483478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13CE5CD3-783D-1512-9EDB-5A84E65CAC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688628"/>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4C82-2F7B-2463-7EE3-ED75DE47F9CA}"/>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1AAEF6B6-5137-2546-AA66-06D823EBB2FE}"/>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F30DC3F5-9BBA-ECD2-04E8-961E12A89691}"/>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1" name="TextBox 20">
            <a:extLst>
              <a:ext uri="{FF2B5EF4-FFF2-40B4-BE49-F238E27FC236}">
                <a16:creationId xmlns:a16="http://schemas.microsoft.com/office/drawing/2014/main" id="{266782B7-6388-B303-4CDF-FF5DE0603A68}"/>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Create and manage masking rules (preview)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2" name="Picture 2" descr="Screenshot showing the location of the Secured masking rule button in Power Apps.">
            <a:extLst>
              <a:ext uri="{FF2B5EF4-FFF2-40B4-BE49-F238E27FC236}">
                <a16:creationId xmlns:a16="http://schemas.microsoft.com/office/drawing/2014/main" id="{2D085749-C645-D184-0B0A-05CE79AE76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438" y="1792969"/>
            <a:ext cx="5195625" cy="36849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Speech Bubble: Rectangle with Corners Rounded 2">
            <a:extLst>
              <a:ext uri="{FF2B5EF4-FFF2-40B4-BE49-F238E27FC236}">
                <a16:creationId xmlns:a16="http://schemas.microsoft.com/office/drawing/2014/main" id="{53261893-2B89-ED18-9B0D-8C3DCEC9B83E}"/>
              </a:ext>
            </a:extLst>
          </p:cNvPr>
          <p:cNvSpPr/>
          <p:nvPr/>
        </p:nvSpPr>
        <p:spPr>
          <a:xfrm>
            <a:off x="365077" y="5300966"/>
            <a:ext cx="2640589" cy="638512"/>
          </a:xfrm>
          <a:prstGeom prst="wedgeRoundRectCallout">
            <a:avLst>
              <a:gd name="adj1" fmla="val 24451"/>
              <a:gd name="adj2" fmla="val -8230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Creamos regla de ofuscación en la Solución</a:t>
            </a:r>
          </a:p>
        </p:txBody>
      </p:sp>
      <p:sp>
        <p:nvSpPr>
          <p:cNvPr id="4" name="Flowchart: Connector 3">
            <a:extLst>
              <a:ext uri="{FF2B5EF4-FFF2-40B4-BE49-F238E27FC236}">
                <a16:creationId xmlns:a16="http://schemas.microsoft.com/office/drawing/2014/main" id="{C94E1DBF-1580-4087-E334-707CDF77FE4F}"/>
              </a:ext>
            </a:extLst>
          </p:cNvPr>
          <p:cNvSpPr/>
          <p:nvPr/>
        </p:nvSpPr>
        <p:spPr>
          <a:xfrm>
            <a:off x="2203633" y="461260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pic>
        <p:nvPicPr>
          <p:cNvPr id="1028" name="Picture 4" descr="Screenshot that shows the New masking rule form and some example column values.">
            <a:extLst>
              <a:ext uri="{FF2B5EF4-FFF2-40B4-BE49-F238E27FC236}">
                <a16:creationId xmlns:a16="http://schemas.microsoft.com/office/drawing/2014/main" id="{CB3E75BD-1D90-673B-7084-296E508969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5066" y="1999779"/>
            <a:ext cx="6306470" cy="327476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Speech Bubble: Rectangle with Corners Rounded 4">
            <a:extLst>
              <a:ext uri="{FF2B5EF4-FFF2-40B4-BE49-F238E27FC236}">
                <a16:creationId xmlns:a16="http://schemas.microsoft.com/office/drawing/2014/main" id="{5DC5FEA4-6AFB-D990-45AB-3079581FB75C}"/>
              </a:ext>
            </a:extLst>
          </p:cNvPr>
          <p:cNvSpPr/>
          <p:nvPr/>
        </p:nvSpPr>
        <p:spPr>
          <a:xfrm>
            <a:off x="6285546" y="5623644"/>
            <a:ext cx="2441426" cy="638512"/>
          </a:xfrm>
          <a:prstGeom prst="wedgeRoundRectCallout">
            <a:avLst>
              <a:gd name="adj1" fmla="val 31387"/>
              <a:gd name="adj2" fmla="val -91589"/>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Configuramos la regla de ofuscación</a:t>
            </a:r>
          </a:p>
        </p:txBody>
      </p:sp>
      <p:sp>
        <p:nvSpPr>
          <p:cNvPr id="6" name="Flowchart: Connector 5">
            <a:extLst>
              <a:ext uri="{FF2B5EF4-FFF2-40B4-BE49-F238E27FC236}">
                <a16:creationId xmlns:a16="http://schemas.microsoft.com/office/drawing/2014/main" id="{6863EC5A-E39D-61B2-B885-B89B9CA4D30D}"/>
              </a:ext>
            </a:extLst>
          </p:cNvPr>
          <p:cNvSpPr/>
          <p:nvPr/>
        </p:nvSpPr>
        <p:spPr>
          <a:xfrm>
            <a:off x="8176260" y="483775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pic>
        <p:nvPicPr>
          <p:cNvPr id="7" name="Picture 2" descr="Profile photo of Enrique Arribas Bueno">
            <a:extLst>
              <a:ext uri="{FF2B5EF4-FFF2-40B4-BE49-F238E27FC236}">
                <a16:creationId xmlns:a16="http://schemas.microsoft.com/office/drawing/2014/main" id="{DE49DD03-4A44-346E-EEDA-D9C6436B39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207066"/>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028"/>
                                        </p:tgtEl>
                                        <p:attrNameLst>
                                          <p:attrName>style.visibility</p:attrName>
                                        </p:attrNameLst>
                                      </p:cBhvr>
                                      <p:to>
                                        <p:strVal val="visible"/>
                                      </p:to>
                                    </p:set>
                                    <p:animEffect transition="in" filter="fade">
                                      <p:cBhvr>
                                        <p:cTn id="34" dur="1000"/>
                                        <p:tgtEl>
                                          <p:spTgt spid="1028"/>
                                        </p:tgtEl>
                                      </p:cBhvr>
                                    </p:animEffect>
                                    <p:anim calcmode="lin" valueType="num">
                                      <p:cBhvr>
                                        <p:cTn id="35" dur="1000" fill="hold"/>
                                        <p:tgtEl>
                                          <p:spTgt spid="1028"/>
                                        </p:tgtEl>
                                        <p:attrNameLst>
                                          <p:attrName>ppt_x</p:attrName>
                                        </p:attrNameLst>
                                      </p:cBhvr>
                                      <p:tavLst>
                                        <p:tav tm="0">
                                          <p:val>
                                            <p:strVal val="#ppt_x"/>
                                          </p:val>
                                        </p:tav>
                                        <p:tav tm="100000">
                                          <p:val>
                                            <p:strVal val="#ppt_x"/>
                                          </p:val>
                                        </p:tav>
                                      </p:tavLst>
                                    </p:anim>
                                    <p:anim calcmode="lin" valueType="num">
                                      <p:cBhvr>
                                        <p:cTn id="36"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0B507-FACA-F62D-5F4C-40A2DC57FB77}"/>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66C73175-F88E-5C56-C48C-20E390E95365}"/>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DE79413F-A74C-4711-CBAA-58715AE13501}"/>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1" name="TextBox 20">
            <a:extLst>
              <a:ext uri="{FF2B5EF4-FFF2-40B4-BE49-F238E27FC236}">
                <a16:creationId xmlns:a16="http://schemas.microsoft.com/office/drawing/2014/main" id="{44EAFB56-38AE-F977-C058-37D82FD5B3FF}"/>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Create and manage masking rules (preview)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54F05B3C-073D-B931-D47E-042EADB61A04}"/>
              </a:ext>
            </a:extLst>
          </p:cNvPr>
          <p:cNvPicPr>
            <a:picLocks noChangeAspect="1"/>
          </p:cNvPicPr>
          <p:nvPr/>
        </p:nvPicPr>
        <p:blipFill>
          <a:blip r:embed="rId4"/>
          <a:stretch>
            <a:fillRect/>
          </a:stretch>
        </p:blipFill>
        <p:spPr>
          <a:xfrm>
            <a:off x="208314" y="1999779"/>
            <a:ext cx="5038249" cy="2886931"/>
          </a:xfrm>
          <a:prstGeom prst="rect">
            <a:avLst/>
          </a:prstGeom>
        </p:spPr>
      </p:pic>
      <p:sp>
        <p:nvSpPr>
          <p:cNvPr id="9" name="Speech Bubble: Rectangle with Corners Rounded 8">
            <a:extLst>
              <a:ext uri="{FF2B5EF4-FFF2-40B4-BE49-F238E27FC236}">
                <a16:creationId xmlns:a16="http://schemas.microsoft.com/office/drawing/2014/main" id="{CBD8E315-3480-BF4E-7692-528FE3C29A49}"/>
              </a:ext>
            </a:extLst>
          </p:cNvPr>
          <p:cNvSpPr/>
          <p:nvPr/>
        </p:nvSpPr>
        <p:spPr>
          <a:xfrm>
            <a:off x="585211" y="5300966"/>
            <a:ext cx="2441426" cy="638512"/>
          </a:xfrm>
          <a:prstGeom prst="wedgeRoundRectCallout">
            <a:avLst>
              <a:gd name="adj1" fmla="val 24451"/>
              <a:gd name="adj2" fmla="val -8230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Ejemplos de ofuscación</a:t>
            </a:r>
          </a:p>
        </p:txBody>
      </p:sp>
      <p:sp>
        <p:nvSpPr>
          <p:cNvPr id="10" name="Flowchart: Connector 9">
            <a:extLst>
              <a:ext uri="{FF2B5EF4-FFF2-40B4-BE49-F238E27FC236}">
                <a16:creationId xmlns:a16="http://schemas.microsoft.com/office/drawing/2014/main" id="{9A579D27-160B-E618-D930-F98AC2A87626}"/>
              </a:ext>
            </a:extLst>
          </p:cNvPr>
          <p:cNvSpPr/>
          <p:nvPr/>
        </p:nvSpPr>
        <p:spPr>
          <a:xfrm>
            <a:off x="2203633" y="461260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2050" name="Picture 2" descr="Screenshot showing the result of applying the masking rule in the body of the email.">
            <a:extLst>
              <a:ext uri="{FF2B5EF4-FFF2-40B4-BE49-F238E27FC236}">
                <a16:creationId xmlns:a16="http://schemas.microsoft.com/office/drawing/2014/main" id="{74614A25-A53C-A918-731A-57512BB7EA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4222" y="1847379"/>
            <a:ext cx="4565002" cy="4715346"/>
          </a:xfrm>
          <a:prstGeom prst="rect">
            <a:avLst/>
          </a:prstGeom>
          <a:noFill/>
          <a:extLst>
            <a:ext uri="{909E8E84-426E-40DD-AFC4-6F175D3DCCD1}">
              <a14:hiddenFill xmlns:a14="http://schemas.microsoft.com/office/drawing/2010/main">
                <a:solidFill>
                  <a:srgbClr val="FFFFFF"/>
                </a:solidFill>
              </a14:hiddenFill>
            </a:ext>
          </a:extLst>
        </p:spPr>
      </p:pic>
      <p:sp>
        <p:nvSpPr>
          <p:cNvPr id="11" name="Speech Bubble: Rectangle with Corners Rounded 10">
            <a:extLst>
              <a:ext uri="{FF2B5EF4-FFF2-40B4-BE49-F238E27FC236}">
                <a16:creationId xmlns:a16="http://schemas.microsoft.com/office/drawing/2014/main" id="{6E85D0F4-4E13-1185-8B66-B0A5CF1DB402}"/>
              </a:ext>
            </a:extLst>
          </p:cNvPr>
          <p:cNvSpPr/>
          <p:nvPr/>
        </p:nvSpPr>
        <p:spPr>
          <a:xfrm>
            <a:off x="3556353" y="5591400"/>
            <a:ext cx="2441426" cy="638512"/>
          </a:xfrm>
          <a:prstGeom prst="wedgeRoundRectCallout">
            <a:avLst>
              <a:gd name="adj1" fmla="val 51848"/>
              <a:gd name="adj2" fmla="val -78329"/>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Lo que ve el usuario</a:t>
            </a:r>
          </a:p>
        </p:txBody>
      </p:sp>
      <p:sp>
        <p:nvSpPr>
          <p:cNvPr id="12" name="Flowchart: Connector 11">
            <a:extLst>
              <a:ext uri="{FF2B5EF4-FFF2-40B4-BE49-F238E27FC236}">
                <a16:creationId xmlns:a16="http://schemas.microsoft.com/office/drawing/2014/main" id="{0DCD7146-CAF2-06B6-0006-8EACE128B39A}"/>
              </a:ext>
            </a:extLst>
          </p:cNvPr>
          <p:cNvSpPr/>
          <p:nvPr/>
        </p:nvSpPr>
        <p:spPr>
          <a:xfrm>
            <a:off x="6096000" y="517992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4</a:t>
            </a:r>
            <a:endParaRPr lang="en-US" sz="1400"/>
          </a:p>
        </p:txBody>
      </p:sp>
      <p:pic>
        <p:nvPicPr>
          <p:cNvPr id="2" name="Picture 2" descr="Profile photo of Enrique Arribas Bueno">
            <a:extLst>
              <a:ext uri="{FF2B5EF4-FFF2-40B4-BE49-F238E27FC236}">
                <a16:creationId xmlns:a16="http://schemas.microsoft.com/office/drawing/2014/main" id="{C4755DA7-C89D-6C1B-0364-0A77CC43734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211558"/>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050"/>
                                        </p:tgtEl>
                                        <p:attrNameLst>
                                          <p:attrName>style.visibility</p:attrName>
                                        </p:attrNameLst>
                                      </p:cBhvr>
                                      <p:to>
                                        <p:strVal val="visible"/>
                                      </p:to>
                                    </p:set>
                                    <p:animEffect transition="in" filter="fade">
                                      <p:cBhvr>
                                        <p:cTn id="24" dur="1000"/>
                                        <p:tgtEl>
                                          <p:spTgt spid="2050"/>
                                        </p:tgtEl>
                                      </p:cBhvr>
                                    </p:animEffect>
                                    <p:anim calcmode="lin" valueType="num">
                                      <p:cBhvr>
                                        <p:cTn id="25" dur="1000" fill="hold"/>
                                        <p:tgtEl>
                                          <p:spTgt spid="2050"/>
                                        </p:tgtEl>
                                        <p:attrNameLst>
                                          <p:attrName>ppt_x</p:attrName>
                                        </p:attrNameLst>
                                      </p:cBhvr>
                                      <p:tavLst>
                                        <p:tav tm="0">
                                          <p:val>
                                            <p:strVal val="#ppt_x"/>
                                          </p:val>
                                        </p:tav>
                                        <p:tav tm="100000">
                                          <p:val>
                                            <p:strVal val="#ppt_x"/>
                                          </p:val>
                                        </p:tav>
                                      </p:tavLst>
                                    </p:anim>
                                    <p:anim calcmode="lin" valueType="num">
                                      <p:cBhvr>
                                        <p:cTn id="26" dur="1000" fill="hold"/>
                                        <p:tgtEl>
                                          <p:spTgt spid="205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0BA1A-3B44-B0F0-C208-87EC76524A3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933206A-8E4E-75F8-B0CC-F77F48D5C349}"/>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grpSp>
        <p:nvGrpSpPr>
          <p:cNvPr id="83" name="Group 82">
            <a:extLst>
              <a:ext uri="{FF2B5EF4-FFF2-40B4-BE49-F238E27FC236}">
                <a16:creationId xmlns:a16="http://schemas.microsoft.com/office/drawing/2014/main" id="{C475EEEC-28ED-2AFE-FDAB-E696D4DAD8B3}"/>
              </a:ext>
            </a:extLst>
          </p:cNvPr>
          <p:cNvGrpSpPr/>
          <p:nvPr/>
        </p:nvGrpSpPr>
        <p:grpSpPr>
          <a:xfrm>
            <a:off x="5015638" y="2277847"/>
            <a:ext cx="2468880" cy="2011680"/>
            <a:chOff x="6941" y="1161888"/>
            <a:chExt cx="2461366" cy="1837358"/>
          </a:xfrm>
        </p:grpSpPr>
        <p:sp>
          <p:nvSpPr>
            <p:cNvPr id="84" name="Rectangle: Top Corners Rounded 83">
              <a:extLst>
                <a:ext uri="{FF2B5EF4-FFF2-40B4-BE49-F238E27FC236}">
                  <a16:creationId xmlns:a16="http://schemas.microsoft.com/office/drawing/2014/main" id="{AAB792F7-831E-7DFB-2AB3-6847586AA72C}"/>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85" name="Rectangle: Top Corners Rounded 4">
              <a:extLst>
                <a:ext uri="{FF2B5EF4-FFF2-40B4-BE49-F238E27FC236}">
                  <a16:creationId xmlns:a16="http://schemas.microsoft.com/office/drawing/2014/main" id="{FB93EED0-A801-CFB1-2967-E5CE8F9C5D8C}"/>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eaLnBrk="1" fontAlgn="auto" latinLnBrk="0" hangingPunct="1">
                <a:lnSpc>
                  <a:spcPct val="90000"/>
                </a:lnSpc>
                <a:spcBef>
                  <a:spcPct val="0"/>
                </a:spcBef>
                <a:spcAft>
                  <a:spcPct val="15000"/>
                </a:spcAft>
                <a:buClrTx/>
                <a:buSzTx/>
                <a:buFontTx/>
                <a:buChar char="•"/>
                <a:tabLst/>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(En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Preview</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Administrar y aplicar políticas de conectores permitidos/bloqueados a escala (Grupo de Entornos)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86" name="Group 85">
            <a:extLst>
              <a:ext uri="{FF2B5EF4-FFF2-40B4-BE49-F238E27FC236}">
                <a16:creationId xmlns:a16="http://schemas.microsoft.com/office/drawing/2014/main" id="{23903D27-3859-E3E9-D903-A51B19A4BD07}"/>
              </a:ext>
            </a:extLst>
          </p:cNvPr>
          <p:cNvGrpSpPr/>
          <p:nvPr/>
        </p:nvGrpSpPr>
        <p:grpSpPr>
          <a:xfrm>
            <a:off x="5015633" y="4258509"/>
            <a:ext cx="2468881" cy="790063"/>
            <a:chOff x="6940" y="2999246"/>
            <a:chExt cx="2461367" cy="790063"/>
          </a:xfrm>
          <a:solidFill>
            <a:srgbClr val="ED7D31"/>
          </a:solidFill>
        </p:grpSpPr>
        <p:sp>
          <p:nvSpPr>
            <p:cNvPr id="87" name="Rectangle 86">
              <a:extLst>
                <a:ext uri="{FF2B5EF4-FFF2-40B4-BE49-F238E27FC236}">
                  <a16:creationId xmlns:a16="http://schemas.microsoft.com/office/drawing/2014/main" id="{73BF435E-A47F-2D0D-7EF9-E627121A3C1B}"/>
                </a:ext>
              </a:extLst>
            </p:cNvPr>
            <p:cNvSpPr/>
            <p:nvPr/>
          </p:nvSpPr>
          <p:spPr>
            <a:xfrm>
              <a:off x="6941" y="2999246"/>
              <a:ext cx="2461366" cy="790063"/>
            </a:xfrm>
            <a:prstGeom prst="rect">
              <a:avLst/>
            </a:prstGeom>
            <a:grpFill/>
            <a:ln w="12700" cap="flat" cmpd="sng" algn="ctr">
              <a:solidFill>
                <a:srgbClr val="ED7D31">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8" name="TextBox 87">
              <a:extLst>
                <a:ext uri="{FF2B5EF4-FFF2-40B4-BE49-F238E27FC236}">
                  <a16:creationId xmlns:a16="http://schemas.microsoft.com/office/drawing/2014/main" id="{AEEB4E46-C44C-8EFB-48B2-68F54B1AD985}"/>
                </a:ext>
              </a:extLst>
            </p:cNvPr>
            <p:cNvSpPr txBox="1"/>
            <p:nvPr/>
          </p:nvSpPr>
          <p:spPr>
            <a:xfrm>
              <a:off x="6940" y="2999246"/>
              <a:ext cx="1870523" cy="790063"/>
            </a:xfrm>
            <a:prstGeom prst="rect">
              <a:avLst/>
            </a:prstGeom>
            <a:grpFill/>
            <a:ln>
              <a:no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Directivas de Conector Avanzadas</a:t>
              </a:r>
            </a:p>
          </p:txBody>
        </p:sp>
      </p:grpSp>
      <p:grpSp>
        <p:nvGrpSpPr>
          <p:cNvPr id="89" name="Group 88">
            <a:extLst>
              <a:ext uri="{FF2B5EF4-FFF2-40B4-BE49-F238E27FC236}">
                <a16:creationId xmlns:a16="http://schemas.microsoft.com/office/drawing/2014/main" id="{0177EB52-C004-09C7-16AA-7818DAA6A228}"/>
              </a:ext>
            </a:extLst>
          </p:cNvPr>
          <p:cNvGrpSpPr/>
          <p:nvPr/>
        </p:nvGrpSpPr>
        <p:grpSpPr>
          <a:xfrm>
            <a:off x="7739027" y="2272751"/>
            <a:ext cx="2468880" cy="2011680"/>
            <a:chOff x="2884829" y="1161888"/>
            <a:chExt cx="2461366" cy="1837358"/>
          </a:xfrm>
        </p:grpSpPr>
        <p:sp>
          <p:nvSpPr>
            <p:cNvPr id="90" name="Rectangle: Top Corners Rounded 89">
              <a:extLst>
                <a:ext uri="{FF2B5EF4-FFF2-40B4-BE49-F238E27FC236}">
                  <a16:creationId xmlns:a16="http://schemas.microsoft.com/office/drawing/2014/main" id="{8252F14E-1D8D-77E9-3D31-BA3C80765CEF}"/>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91" name="Rectangle: Top Corners Rounded 4">
              <a:extLst>
                <a:ext uri="{FF2B5EF4-FFF2-40B4-BE49-F238E27FC236}">
                  <a16:creationId xmlns:a16="http://schemas.microsoft.com/office/drawing/2014/main" id="{C48A600B-5BB0-5E8E-0F56-69AE82900B34}"/>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Conexión desde la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 recursos privados sin exponerlos en Internet</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La conectividad se realiza sin necesidad de rangos de IP de la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o de Tags de Servicio</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Soporte para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PlugIns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y Conectores de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Dataverse</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(solo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Managed</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Environments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a:t>
              </a:r>
            </a:p>
          </p:txBody>
        </p:sp>
      </p:grpSp>
      <p:grpSp>
        <p:nvGrpSpPr>
          <p:cNvPr id="92" name="Group 91">
            <a:extLst>
              <a:ext uri="{FF2B5EF4-FFF2-40B4-BE49-F238E27FC236}">
                <a16:creationId xmlns:a16="http://schemas.microsoft.com/office/drawing/2014/main" id="{02CF82E1-4980-5EF1-FB7E-88F3075B5006}"/>
              </a:ext>
            </a:extLst>
          </p:cNvPr>
          <p:cNvGrpSpPr/>
          <p:nvPr/>
        </p:nvGrpSpPr>
        <p:grpSpPr>
          <a:xfrm>
            <a:off x="7739027" y="4267061"/>
            <a:ext cx="2468880" cy="790063"/>
            <a:chOff x="2884829" y="2999246"/>
            <a:chExt cx="2461366" cy="790063"/>
          </a:xfrm>
          <a:solidFill>
            <a:srgbClr val="A5A5A5"/>
          </a:solidFill>
        </p:grpSpPr>
        <p:sp>
          <p:nvSpPr>
            <p:cNvPr id="93" name="Rectangle 92">
              <a:extLst>
                <a:ext uri="{FF2B5EF4-FFF2-40B4-BE49-F238E27FC236}">
                  <a16:creationId xmlns:a16="http://schemas.microsoft.com/office/drawing/2014/main" id="{C6E59342-5EBF-D3CE-5F4B-B2BA70E177BF}"/>
                </a:ext>
              </a:extLst>
            </p:cNvPr>
            <p:cNvSpPr/>
            <p:nvPr/>
          </p:nvSpPr>
          <p:spPr>
            <a:xfrm>
              <a:off x="2884829" y="2999246"/>
              <a:ext cx="2461366" cy="790063"/>
            </a:xfrm>
            <a:prstGeom prst="rect">
              <a:avLst/>
            </a:prstGeom>
            <a:grpFill/>
            <a:ln w="12700" cap="flat" cmpd="sng" algn="ctr">
              <a:solidFill>
                <a:srgbClr val="A5A5A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4" name="TextBox 93">
              <a:extLst>
                <a:ext uri="{FF2B5EF4-FFF2-40B4-BE49-F238E27FC236}">
                  <a16:creationId xmlns:a16="http://schemas.microsoft.com/office/drawing/2014/main" id="{B681875A-79A3-8B88-5607-E61F9B346087}"/>
                </a:ext>
              </a:extLst>
            </p:cNvPr>
            <p:cNvSpPr txBox="1"/>
            <p:nvPr/>
          </p:nvSpPr>
          <p:spPr>
            <a:xfrm>
              <a:off x="2884829" y="2999246"/>
              <a:ext cx="1733356" cy="790063"/>
            </a:xfrm>
            <a:prstGeom prst="rect">
              <a:avLst/>
            </a:prstGeom>
            <a:grp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a:solidFill>
                    <a:prstClr val="white"/>
                  </a:solidFill>
                  <a:latin typeface="Segoe UI" panose="020B0502040204020203" pitchFamily="34" charset="0"/>
                  <a:cs typeface="Segoe UI" panose="020B0502040204020203" pitchFamily="34" charset="0"/>
                </a:rPr>
                <a:t>Azure Virtual Network</a:t>
              </a:r>
            </a:p>
          </p:txBody>
        </p:sp>
      </p:grpSp>
      <p:grpSp>
        <p:nvGrpSpPr>
          <p:cNvPr id="95" name="Group 94">
            <a:extLst>
              <a:ext uri="{FF2B5EF4-FFF2-40B4-BE49-F238E27FC236}">
                <a16:creationId xmlns:a16="http://schemas.microsoft.com/office/drawing/2014/main" id="{25D5C042-4452-788C-328C-CE4B861C0929}"/>
              </a:ext>
            </a:extLst>
          </p:cNvPr>
          <p:cNvGrpSpPr/>
          <p:nvPr/>
        </p:nvGrpSpPr>
        <p:grpSpPr>
          <a:xfrm>
            <a:off x="2265603" y="2265526"/>
            <a:ext cx="2468880" cy="2011680"/>
            <a:chOff x="8640607" y="1161888"/>
            <a:chExt cx="2461366" cy="1837358"/>
          </a:xfrm>
        </p:grpSpPr>
        <p:sp>
          <p:nvSpPr>
            <p:cNvPr id="96" name="Rectangle: Top Corners Rounded 95">
              <a:extLst>
                <a:ext uri="{FF2B5EF4-FFF2-40B4-BE49-F238E27FC236}">
                  <a16:creationId xmlns:a16="http://schemas.microsoft.com/office/drawing/2014/main" id="{18F79E16-790B-8772-EF21-67150CCF54D4}"/>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97" name="Rectangle: Top Corners Rounded 4">
              <a:extLst>
                <a:ext uri="{FF2B5EF4-FFF2-40B4-BE49-F238E27FC236}">
                  <a16:creationId xmlns:a16="http://schemas.microsoft.com/office/drawing/2014/main" id="{2FC64A79-3D5A-D020-88B8-6104A475B89C}"/>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Prevenir que los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makers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puedan exponer información corporativa en tiempo de ejecución/en tiempo de diseño</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Prevenir el uso de conectores bloqueados en Apps y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Flows</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3 ámbitos/niveles de aplicación: Global vs. Grupo de Entornos vs. Entorno</a:t>
              </a:r>
            </a:p>
          </p:txBody>
        </p:sp>
      </p:grpSp>
      <p:grpSp>
        <p:nvGrpSpPr>
          <p:cNvPr id="98" name="Group 97">
            <a:extLst>
              <a:ext uri="{FF2B5EF4-FFF2-40B4-BE49-F238E27FC236}">
                <a16:creationId xmlns:a16="http://schemas.microsoft.com/office/drawing/2014/main" id="{6007BF80-0CCC-01AA-A91F-C77F728374EC}"/>
              </a:ext>
            </a:extLst>
          </p:cNvPr>
          <p:cNvGrpSpPr/>
          <p:nvPr/>
        </p:nvGrpSpPr>
        <p:grpSpPr>
          <a:xfrm>
            <a:off x="2262994" y="4262112"/>
            <a:ext cx="2468880" cy="790063"/>
            <a:chOff x="8632682" y="3002849"/>
            <a:chExt cx="2461366" cy="790063"/>
          </a:xfrm>
          <a:solidFill>
            <a:srgbClr val="5B9BD5"/>
          </a:solidFill>
        </p:grpSpPr>
        <p:sp>
          <p:nvSpPr>
            <p:cNvPr id="99" name="Rectangle 98">
              <a:extLst>
                <a:ext uri="{FF2B5EF4-FFF2-40B4-BE49-F238E27FC236}">
                  <a16:creationId xmlns:a16="http://schemas.microsoft.com/office/drawing/2014/main" id="{CB61B990-E9E7-7B84-6BDB-87B4040D35FD}"/>
                </a:ext>
              </a:extLst>
            </p:cNvPr>
            <p:cNvSpPr/>
            <p:nvPr/>
          </p:nvSpPr>
          <p:spPr>
            <a:xfrm>
              <a:off x="8632682" y="3002849"/>
              <a:ext cx="2461366" cy="790063"/>
            </a:xfrm>
            <a:prstGeom prst="rect">
              <a:avLst/>
            </a:prstGeom>
            <a:grpFill/>
            <a:ln w="12700" cap="flat" cmpd="sng" algn="ctr">
              <a:solidFill>
                <a:srgbClr val="5B9BD5">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0" name="TextBox 99">
              <a:extLst>
                <a:ext uri="{FF2B5EF4-FFF2-40B4-BE49-F238E27FC236}">
                  <a16:creationId xmlns:a16="http://schemas.microsoft.com/office/drawing/2014/main" id="{E86CCECD-6521-ACBC-EF88-5E1C57AEEB34}"/>
                </a:ext>
              </a:extLst>
            </p:cNvPr>
            <p:cNvSpPr txBox="1"/>
            <p:nvPr/>
          </p:nvSpPr>
          <p:spPr>
            <a:xfrm>
              <a:off x="8632683" y="3002849"/>
              <a:ext cx="1863051" cy="790063"/>
            </a:xfrm>
            <a:prstGeom prst="rect">
              <a:avLst/>
            </a:prstGeom>
            <a:grpFill/>
            <a:ln>
              <a:no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a:solidFill>
                    <a:prstClr val="white"/>
                  </a:solidFill>
                  <a:latin typeface="Segoe UI" panose="020B0502040204020203" pitchFamily="34" charset="0"/>
                  <a:cs typeface="Segoe UI" panose="020B0502040204020203" pitchFamily="34" charset="0"/>
                </a:rPr>
                <a:t>Directivas de Datos + (en tiempo de diseño</a:t>
              </a:r>
              <a:r>
                <a:rPr lang="fr-FR" sz="1600" b="1" kern="0">
                  <a:solidFill>
                    <a:prstClr val="white"/>
                  </a:solidFill>
                  <a:latin typeface="Segoe UI" panose="020B0502040204020203" pitchFamily="34" charset="0"/>
                  <a:cs typeface="Segoe UI" panose="020B0502040204020203" pitchFamily="34" charset="0"/>
                </a:rPr>
                <a:t>)</a:t>
              </a:r>
            </a:p>
          </p:txBody>
        </p:sp>
      </p:grpSp>
      <p:pic>
        <p:nvPicPr>
          <p:cNvPr id="6" name="Picture 5">
            <a:extLst>
              <a:ext uri="{FF2B5EF4-FFF2-40B4-BE49-F238E27FC236}">
                <a16:creationId xmlns:a16="http://schemas.microsoft.com/office/drawing/2014/main" id="{CBA362B4-A279-8ED0-464C-CA446B84F020}"/>
              </a:ext>
            </a:extLst>
          </p:cNvPr>
          <p:cNvPicPr>
            <a:picLocks noChangeAspect="1"/>
          </p:cNvPicPr>
          <p:nvPr/>
        </p:nvPicPr>
        <p:blipFill>
          <a:blip r:embed="rId3"/>
          <a:stretch>
            <a:fillRect/>
          </a:stretch>
        </p:blipFill>
        <p:spPr>
          <a:xfrm>
            <a:off x="4066202" y="4344650"/>
            <a:ext cx="640080" cy="640080"/>
          </a:xfrm>
          <a:prstGeom prst="rect">
            <a:avLst/>
          </a:prstGeom>
        </p:spPr>
      </p:pic>
      <p:pic>
        <p:nvPicPr>
          <p:cNvPr id="4" name="Picture 3">
            <a:extLst>
              <a:ext uri="{FF2B5EF4-FFF2-40B4-BE49-F238E27FC236}">
                <a16:creationId xmlns:a16="http://schemas.microsoft.com/office/drawing/2014/main" id="{95499B4C-0313-41E0-B328-592E21A9761B}"/>
              </a:ext>
            </a:extLst>
          </p:cNvPr>
          <p:cNvPicPr>
            <a:picLocks noChangeAspect="1"/>
          </p:cNvPicPr>
          <p:nvPr/>
        </p:nvPicPr>
        <p:blipFill>
          <a:blip r:embed="rId4"/>
          <a:stretch>
            <a:fillRect/>
          </a:stretch>
        </p:blipFill>
        <p:spPr>
          <a:xfrm>
            <a:off x="6783032" y="4331568"/>
            <a:ext cx="640080" cy="640080"/>
          </a:xfrm>
          <a:prstGeom prst="rect">
            <a:avLst/>
          </a:prstGeom>
        </p:spPr>
      </p:pic>
      <p:pic>
        <p:nvPicPr>
          <p:cNvPr id="9" name="Picture 8">
            <a:extLst>
              <a:ext uri="{FF2B5EF4-FFF2-40B4-BE49-F238E27FC236}">
                <a16:creationId xmlns:a16="http://schemas.microsoft.com/office/drawing/2014/main" id="{91ED51CF-3FF4-6EF1-F257-EA124493D6D2}"/>
              </a:ext>
            </a:extLst>
          </p:cNvPr>
          <p:cNvPicPr>
            <a:picLocks noChangeAspect="1"/>
          </p:cNvPicPr>
          <p:nvPr/>
        </p:nvPicPr>
        <p:blipFill>
          <a:blip r:embed="rId5"/>
          <a:stretch>
            <a:fillRect/>
          </a:stretch>
        </p:blipFill>
        <p:spPr>
          <a:xfrm>
            <a:off x="9501159" y="4331568"/>
            <a:ext cx="640080" cy="640080"/>
          </a:xfrm>
          <a:prstGeom prst="rect">
            <a:avLst/>
          </a:prstGeom>
        </p:spPr>
      </p:pic>
      <p:pic>
        <p:nvPicPr>
          <p:cNvPr id="3" name="Picture Placeholder 2" descr="A person smiling for a picture&#10;&#10;AI-generated content may be incorrect.">
            <a:extLst>
              <a:ext uri="{FF2B5EF4-FFF2-40B4-BE49-F238E27FC236}">
                <a16:creationId xmlns:a16="http://schemas.microsoft.com/office/drawing/2014/main" id="{5563D777-7545-9EE8-14C6-9DBB93F80B30}"/>
              </a:ext>
            </a:extLst>
          </p:cNvPr>
          <p:cNvPicPr>
            <a:picLocks noChangeAspect="1"/>
          </p:cNvPicPr>
          <p:nvPr/>
        </p:nvPicPr>
        <p:blipFill>
          <a:blip r:embed="rId6">
            <a:extLst>
              <a:ext uri="{28A0092B-C50C-407E-A947-70E740481C1C}">
                <a14:useLocalDpi xmlns:a14="http://schemas.microsoft.com/office/drawing/2010/main" val="0"/>
              </a:ext>
            </a:extLst>
          </a:blip>
          <a:srcRect l="6042" r="6042"/>
          <a:stretch>
            <a:fillRect/>
          </a:stretch>
        </p:blipFill>
        <p:spPr>
          <a:xfrm>
            <a:off x="11126296" y="139602"/>
            <a:ext cx="910149" cy="1005840"/>
          </a:xfrm>
          <a:prstGeom prst="ellipse">
            <a:avLst/>
          </a:prstGeom>
          <a:ln>
            <a:noFill/>
          </a:ln>
          <a:effectLst>
            <a:softEdge rad="112500"/>
          </a:effectLst>
        </p:spPr>
      </p:pic>
    </p:spTree>
    <p:extLst>
      <p:ext uri="{BB962C8B-B14F-4D97-AF65-F5344CB8AC3E}">
        <p14:creationId xmlns:p14="http://schemas.microsoft.com/office/powerpoint/2010/main" val="380545192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anim calcmode="lin" valueType="num">
                                      <p:cBhvr>
                                        <p:cTn id="8" dur="1000" fill="hold"/>
                                        <p:tgtEl>
                                          <p:spTgt spid="83"/>
                                        </p:tgtEl>
                                        <p:attrNameLst>
                                          <p:attrName>ppt_x</p:attrName>
                                        </p:attrNameLst>
                                      </p:cBhvr>
                                      <p:tavLst>
                                        <p:tav tm="0">
                                          <p:val>
                                            <p:strVal val="#ppt_x"/>
                                          </p:val>
                                        </p:tav>
                                        <p:tav tm="100000">
                                          <p:val>
                                            <p:strVal val="#ppt_x"/>
                                          </p:val>
                                        </p:tav>
                                      </p:tavLst>
                                    </p:anim>
                                    <p:anim calcmode="lin" valueType="num">
                                      <p:cBhvr>
                                        <p:cTn id="9" dur="1000" fill="hold"/>
                                        <p:tgtEl>
                                          <p:spTgt spid="8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fade">
                                      <p:cBhvr>
                                        <p:cTn id="12" dur="1000"/>
                                        <p:tgtEl>
                                          <p:spTgt spid="86"/>
                                        </p:tgtEl>
                                      </p:cBhvr>
                                    </p:animEffect>
                                    <p:anim calcmode="lin" valueType="num">
                                      <p:cBhvr>
                                        <p:cTn id="13" dur="1000" fill="hold"/>
                                        <p:tgtEl>
                                          <p:spTgt spid="86"/>
                                        </p:tgtEl>
                                        <p:attrNameLst>
                                          <p:attrName>ppt_x</p:attrName>
                                        </p:attrNameLst>
                                      </p:cBhvr>
                                      <p:tavLst>
                                        <p:tav tm="0">
                                          <p:val>
                                            <p:strVal val="#ppt_x"/>
                                          </p:val>
                                        </p:tav>
                                        <p:tav tm="100000">
                                          <p:val>
                                            <p:strVal val="#ppt_x"/>
                                          </p:val>
                                        </p:tav>
                                      </p:tavLst>
                                    </p:anim>
                                    <p:anim calcmode="lin" valueType="num">
                                      <p:cBhvr>
                                        <p:cTn id="14" dur="1000" fill="hold"/>
                                        <p:tgtEl>
                                          <p:spTgt spid="8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fade">
                                      <p:cBhvr>
                                        <p:cTn id="17" dur="1000"/>
                                        <p:tgtEl>
                                          <p:spTgt spid="89"/>
                                        </p:tgtEl>
                                      </p:cBhvr>
                                    </p:animEffect>
                                    <p:anim calcmode="lin" valueType="num">
                                      <p:cBhvr>
                                        <p:cTn id="18" dur="1000" fill="hold"/>
                                        <p:tgtEl>
                                          <p:spTgt spid="89"/>
                                        </p:tgtEl>
                                        <p:attrNameLst>
                                          <p:attrName>ppt_x</p:attrName>
                                        </p:attrNameLst>
                                      </p:cBhvr>
                                      <p:tavLst>
                                        <p:tav tm="0">
                                          <p:val>
                                            <p:strVal val="#ppt_x"/>
                                          </p:val>
                                        </p:tav>
                                        <p:tav tm="100000">
                                          <p:val>
                                            <p:strVal val="#ppt_x"/>
                                          </p:val>
                                        </p:tav>
                                      </p:tavLst>
                                    </p:anim>
                                    <p:anim calcmode="lin" valueType="num">
                                      <p:cBhvr>
                                        <p:cTn id="19" dur="1000" fill="hold"/>
                                        <p:tgtEl>
                                          <p:spTgt spid="8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92"/>
                                        </p:tgtEl>
                                        <p:attrNameLst>
                                          <p:attrName>style.visibility</p:attrName>
                                        </p:attrNameLst>
                                      </p:cBhvr>
                                      <p:to>
                                        <p:strVal val="visible"/>
                                      </p:to>
                                    </p:set>
                                    <p:animEffect transition="in" filter="fade">
                                      <p:cBhvr>
                                        <p:cTn id="22" dur="1000"/>
                                        <p:tgtEl>
                                          <p:spTgt spid="92"/>
                                        </p:tgtEl>
                                      </p:cBhvr>
                                    </p:animEffect>
                                    <p:anim calcmode="lin" valueType="num">
                                      <p:cBhvr>
                                        <p:cTn id="23" dur="1000" fill="hold"/>
                                        <p:tgtEl>
                                          <p:spTgt spid="92"/>
                                        </p:tgtEl>
                                        <p:attrNameLst>
                                          <p:attrName>ppt_x</p:attrName>
                                        </p:attrNameLst>
                                      </p:cBhvr>
                                      <p:tavLst>
                                        <p:tav tm="0">
                                          <p:val>
                                            <p:strVal val="#ppt_x"/>
                                          </p:val>
                                        </p:tav>
                                        <p:tav tm="100000">
                                          <p:val>
                                            <p:strVal val="#ppt_x"/>
                                          </p:val>
                                        </p:tav>
                                      </p:tavLst>
                                    </p:anim>
                                    <p:anim calcmode="lin" valueType="num">
                                      <p:cBhvr>
                                        <p:cTn id="24" dur="1000" fill="hold"/>
                                        <p:tgtEl>
                                          <p:spTgt spid="9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95"/>
                                        </p:tgtEl>
                                        <p:attrNameLst>
                                          <p:attrName>style.visibility</p:attrName>
                                        </p:attrNameLst>
                                      </p:cBhvr>
                                      <p:to>
                                        <p:strVal val="visible"/>
                                      </p:to>
                                    </p:set>
                                    <p:animEffect transition="in" filter="fade">
                                      <p:cBhvr>
                                        <p:cTn id="27" dur="1000"/>
                                        <p:tgtEl>
                                          <p:spTgt spid="95"/>
                                        </p:tgtEl>
                                      </p:cBhvr>
                                    </p:animEffect>
                                    <p:anim calcmode="lin" valueType="num">
                                      <p:cBhvr>
                                        <p:cTn id="28" dur="1000" fill="hold"/>
                                        <p:tgtEl>
                                          <p:spTgt spid="95"/>
                                        </p:tgtEl>
                                        <p:attrNameLst>
                                          <p:attrName>ppt_x</p:attrName>
                                        </p:attrNameLst>
                                      </p:cBhvr>
                                      <p:tavLst>
                                        <p:tav tm="0">
                                          <p:val>
                                            <p:strVal val="#ppt_x"/>
                                          </p:val>
                                        </p:tav>
                                        <p:tav tm="100000">
                                          <p:val>
                                            <p:strVal val="#ppt_x"/>
                                          </p:val>
                                        </p:tav>
                                      </p:tavLst>
                                    </p:anim>
                                    <p:anim calcmode="lin" valueType="num">
                                      <p:cBhvr>
                                        <p:cTn id="29" dur="1000" fill="hold"/>
                                        <p:tgtEl>
                                          <p:spTgt spid="9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98"/>
                                        </p:tgtEl>
                                        <p:attrNameLst>
                                          <p:attrName>style.visibility</p:attrName>
                                        </p:attrNameLst>
                                      </p:cBhvr>
                                      <p:to>
                                        <p:strVal val="visible"/>
                                      </p:to>
                                    </p:set>
                                    <p:animEffect transition="in" filter="fade">
                                      <p:cBhvr>
                                        <p:cTn id="32" dur="1000"/>
                                        <p:tgtEl>
                                          <p:spTgt spid="98"/>
                                        </p:tgtEl>
                                      </p:cBhvr>
                                    </p:animEffect>
                                    <p:anim calcmode="lin" valueType="num">
                                      <p:cBhvr>
                                        <p:cTn id="33" dur="1000" fill="hold"/>
                                        <p:tgtEl>
                                          <p:spTgt spid="98"/>
                                        </p:tgtEl>
                                        <p:attrNameLst>
                                          <p:attrName>ppt_x</p:attrName>
                                        </p:attrNameLst>
                                      </p:cBhvr>
                                      <p:tavLst>
                                        <p:tav tm="0">
                                          <p:val>
                                            <p:strVal val="#ppt_x"/>
                                          </p:val>
                                        </p:tav>
                                        <p:tav tm="100000">
                                          <p:val>
                                            <p:strVal val="#ppt_x"/>
                                          </p:val>
                                        </p:tav>
                                      </p:tavLst>
                                    </p:anim>
                                    <p:anim calcmode="lin" valueType="num">
                                      <p:cBhvr>
                                        <p:cTn id="34" dur="1000" fill="hold"/>
                                        <p:tgtEl>
                                          <p:spTgt spid="9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1000" fill="hold"/>
                                        <p:tgtEl>
                                          <p:spTgt spid="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1000"/>
                                        <p:tgtEl>
                                          <p:spTgt spid="9"/>
                                        </p:tgtEl>
                                      </p:cBhvr>
                                    </p:animEffect>
                                    <p:anim calcmode="lin" valueType="num">
                                      <p:cBhvr>
                                        <p:cTn id="48" dur="1000" fill="hold"/>
                                        <p:tgtEl>
                                          <p:spTgt spid="9"/>
                                        </p:tgtEl>
                                        <p:attrNameLst>
                                          <p:attrName>ppt_x</p:attrName>
                                        </p:attrNameLst>
                                      </p:cBhvr>
                                      <p:tavLst>
                                        <p:tav tm="0">
                                          <p:val>
                                            <p:strVal val="#ppt_x"/>
                                          </p:val>
                                        </p:tav>
                                        <p:tav tm="100000">
                                          <p:val>
                                            <p:strVal val="#ppt_x"/>
                                          </p:val>
                                        </p:tav>
                                      </p:tavLst>
                                    </p:anim>
                                    <p:anim calcmode="lin" valueType="num">
                                      <p:cBhvr>
                                        <p:cTn id="4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3DDF6-75F7-73D2-C12A-CAC1E238255E}"/>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C5E139B8-4A40-D28A-00EB-77200167900F}"/>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FBA02C23-DF57-8D3B-2B7A-5B9475A409C2}"/>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1" name="TextBox 20">
            <a:extLst>
              <a:ext uri="{FF2B5EF4-FFF2-40B4-BE49-F238E27FC236}">
                <a16:creationId xmlns:a16="http://schemas.microsoft.com/office/drawing/2014/main" id="{7054D112-66A5-9358-1C77-26654DB54B4E}"/>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Impact of data policies on apps and flows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4098" name="Picture 2" descr="First example of a conflict error message: Using these connections together conflicts with the company data loss prevention policies, with a link to learn more.">
            <a:extLst>
              <a:ext uri="{FF2B5EF4-FFF2-40B4-BE49-F238E27FC236}">
                <a16:creationId xmlns:a16="http://schemas.microsoft.com/office/drawing/2014/main" id="{7A061B22-ABF5-8DEC-811F-F0DB23FDF7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04" y="1681564"/>
            <a:ext cx="4063166" cy="193112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low checker panel showing errors.">
            <a:extLst>
              <a:ext uri="{FF2B5EF4-FFF2-40B4-BE49-F238E27FC236}">
                <a16:creationId xmlns:a16="http://schemas.microsoft.com/office/drawing/2014/main" id="{8E7B0EEF-B99A-E0DE-A8F9-EE186969D97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8979" y="1800624"/>
            <a:ext cx="5057888" cy="325675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8" name="Picture 4" descr="Second example of a conflict error message: It looks like this app isn't compliant with the latest data loss prevention policies.">
            <a:extLst>
              <a:ext uri="{FF2B5EF4-FFF2-40B4-BE49-F238E27FC236}">
                <a16:creationId xmlns:a16="http://schemas.microsoft.com/office/drawing/2014/main" id="{81268DFB-9087-F2EA-CD33-7D3040CD2D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178751"/>
            <a:ext cx="7010400" cy="3581400"/>
          </a:xfrm>
          <a:prstGeom prst="rect">
            <a:avLst/>
          </a:prstGeom>
          <a:noFill/>
          <a:extLst>
            <a:ext uri="{909E8E84-426E-40DD-AFC4-6F175D3DCCD1}">
              <a14:hiddenFill xmlns:a14="http://schemas.microsoft.com/office/drawing/2010/main">
                <a:solidFill>
                  <a:srgbClr val="FFFFFF"/>
                </a:solidFill>
              </a14:hiddenFill>
            </a:ext>
          </a:extLst>
        </p:spPr>
      </p:pic>
      <p:sp>
        <p:nvSpPr>
          <p:cNvPr id="9" name="Speech Bubble: Rectangle with Corners Rounded 8">
            <a:extLst>
              <a:ext uri="{FF2B5EF4-FFF2-40B4-BE49-F238E27FC236}">
                <a16:creationId xmlns:a16="http://schemas.microsoft.com/office/drawing/2014/main" id="{9B7F578C-4465-2C89-0282-03CCCA9D32CD}"/>
              </a:ext>
            </a:extLst>
          </p:cNvPr>
          <p:cNvSpPr/>
          <p:nvPr/>
        </p:nvSpPr>
        <p:spPr>
          <a:xfrm>
            <a:off x="4306111" y="2250480"/>
            <a:ext cx="2441426" cy="638512"/>
          </a:xfrm>
          <a:prstGeom prst="wedgeRoundRectCallout">
            <a:avLst>
              <a:gd name="adj1" fmla="val 25491"/>
              <a:gd name="adj2" fmla="val 8344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a:solidFill>
                  <a:prstClr val="white"/>
                </a:solidFill>
                <a:latin typeface="Segoe UI" panose="020B0502040204020203" pitchFamily="34" charset="0"/>
                <a:cs typeface="Segoe UI" panose="020B0502040204020203" pitchFamily="34" charset="0"/>
              </a:rPr>
              <a:t>Directiva de Datos en tiempo de diseño</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2" name="Picture 2" descr="Profile photo of Enrique Arribas Bueno">
            <a:extLst>
              <a:ext uri="{FF2B5EF4-FFF2-40B4-BE49-F238E27FC236}">
                <a16:creationId xmlns:a16="http://schemas.microsoft.com/office/drawing/2014/main" id="{2F22D36F-38AE-0BD8-1471-639ACF65BE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368852"/>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1000"/>
                                        <p:tgtEl>
                                          <p:spTgt spid="4098"/>
                                        </p:tgtEl>
                                      </p:cBhvr>
                                    </p:animEffect>
                                    <p:anim calcmode="lin" valueType="num">
                                      <p:cBhvr>
                                        <p:cTn id="8" dur="1000" fill="hold"/>
                                        <p:tgtEl>
                                          <p:spTgt spid="4098"/>
                                        </p:tgtEl>
                                        <p:attrNameLst>
                                          <p:attrName>ppt_x</p:attrName>
                                        </p:attrNameLst>
                                      </p:cBhvr>
                                      <p:tavLst>
                                        <p:tav tm="0">
                                          <p:val>
                                            <p:strVal val="#ppt_x"/>
                                          </p:val>
                                        </p:tav>
                                        <p:tav tm="100000">
                                          <p:val>
                                            <p:strVal val="#ppt_x"/>
                                          </p:val>
                                        </p:tav>
                                      </p:tavLst>
                                    </p:anim>
                                    <p:anim calcmode="lin" valueType="num">
                                      <p:cBhvr>
                                        <p:cTn id="9" dur="1000" fill="hold"/>
                                        <p:tgtEl>
                                          <p:spTgt spid="409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6"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80">
                                          <p:stCondLst>
                                            <p:cond delay="0"/>
                                          </p:stCondLst>
                                        </p:cTn>
                                        <p:tgtEl>
                                          <p:spTgt spid="9"/>
                                        </p:tgtEl>
                                      </p:cBhvr>
                                    </p:animEffect>
                                    <p:anim calcmode="lin" valueType="num">
                                      <p:cBhvr>
                                        <p:cTn id="25"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0" dur="26">
                                          <p:stCondLst>
                                            <p:cond delay="650"/>
                                          </p:stCondLst>
                                        </p:cTn>
                                        <p:tgtEl>
                                          <p:spTgt spid="9"/>
                                        </p:tgtEl>
                                      </p:cBhvr>
                                      <p:to x="100000" y="60000"/>
                                    </p:animScale>
                                    <p:animScale>
                                      <p:cBhvr>
                                        <p:cTn id="31" dur="166" decel="50000">
                                          <p:stCondLst>
                                            <p:cond delay="676"/>
                                          </p:stCondLst>
                                        </p:cTn>
                                        <p:tgtEl>
                                          <p:spTgt spid="9"/>
                                        </p:tgtEl>
                                      </p:cBhvr>
                                      <p:to x="100000" y="100000"/>
                                    </p:animScale>
                                    <p:animScale>
                                      <p:cBhvr>
                                        <p:cTn id="32" dur="26">
                                          <p:stCondLst>
                                            <p:cond delay="1312"/>
                                          </p:stCondLst>
                                        </p:cTn>
                                        <p:tgtEl>
                                          <p:spTgt spid="9"/>
                                        </p:tgtEl>
                                      </p:cBhvr>
                                      <p:to x="100000" y="80000"/>
                                    </p:animScale>
                                    <p:animScale>
                                      <p:cBhvr>
                                        <p:cTn id="33" dur="166" decel="50000">
                                          <p:stCondLst>
                                            <p:cond delay="1338"/>
                                          </p:stCondLst>
                                        </p:cTn>
                                        <p:tgtEl>
                                          <p:spTgt spid="9"/>
                                        </p:tgtEl>
                                      </p:cBhvr>
                                      <p:to x="100000" y="100000"/>
                                    </p:animScale>
                                    <p:animScale>
                                      <p:cBhvr>
                                        <p:cTn id="34" dur="26">
                                          <p:stCondLst>
                                            <p:cond delay="1642"/>
                                          </p:stCondLst>
                                        </p:cTn>
                                        <p:tgtEl>
                                          <p:spTgt spid="9"/>
                                        </p:tgtEl>
                                      </p:cBhvr>
                                      <p:to x="100000" y="90000"/>
                                    </p:animScale>
                                    <p:animScale>
                                      <p:cBhvr>
                                        <p:cTn id="35" dur="166" decel="50000">
                                          <p:stCondLst>
                                            <p:cond delay="1668"/>
                                          </p:stCondLst>
                                        </p:cTn>
                                        <p:tgtEl>
                                          <p:spTgt spid="9"/>
                                        </p:tgtEl>
                                      </p:cBhvr>
                                      <p:to x="100000" y="100000"/>
                                    </p:animScale>
                                    <p:animScale>
                                      <p:cBhvr>
                                        <p:cTn id="36" dur="26">
                                          <p:stCondLst>
                                            <p:cond delay="1808"/>
                                          </p:stCondLst>
                                        </p:cTn>
                                        <p:tgtEl>
                                          <p:spTgt spid="9"/>
                                        </p:tgtEl>
                                      </p:cBhvr>
                                      <p:to x="100000" y="95000"/>
                                    </p:animScale>
                                    <p:animScale>
                                      <p:cBhvr>
                                        <p:cTn id="37"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B13C9-4128-4071-F703-DEA7FB3ABE06}"/>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656B6600-9B16-BA62-4FDF-E86876695F6E}"/>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94C0B9ED-E6DC-552B-CA11-14627F930C0A}"/>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1" name="TextBox 20">
            <a:extLst>
              <a:ext uri="{FF2B5EF4-FFF2-40B4-BE49-F238E27FC236}">
                <a16:creationId xmlns:a16="http://schemas.microsoft.com/office/drawing/2014/main" id="{6D7B0692-D215-63FC-5EF3-CD0936ABAF20}"/>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Impact of data policies on apps and flows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4102" name="Picture 6" descr="App opening error.">
            <a:extLst>
              <a:ext uri="{FF2B5EF4-FFF2-40B4-BE49-F238E27FC236}">
                <a16:creationId xmlns:a16="http://schemas.microsoft.com/office/drawing/2014/main" id="{7EA8F75C-1F69-6A60-CBDA-3379D53088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94" y="2121232"/>
            <a:ext cx="4884375" cy="2756328"/>
          </a:xfrm>
          <a:prstGeom prst="rect">
            <a:avLst/>
          </a:prstGeom>
          <a:noFill/>
          <a:extLst>
            <a:ext uri="{909E8E84-426E-40DD-AFC4-6F175D3DCCD1}">
              <a14:hiddenFill xmlns:a14="http://schemas.microsoft.com/office/drawing/2010/main">
                <a:solidFill>
                  <a:srgbClr val="FFFFFF"/>
                </a:solidFill>
              </a14:hiddenFill>
            </a:ext>
          </a:extLst>
        </p:spPr>
      </p:pic>
      <p:sp>
        <p:nvSpPr>
          <p:cNvPr id="7" name="Speech Bubble: Rectangle with Corners Rounded 6">
            <a:extLst>
              <a:ext uri="{FF2B5EF4-FFF2-40B4-BE49-F238E27FC236}">
                <a16:creationId xmlns:a16="http://schemas.microsoft.com/office/drawing/2014/main" id="{C545078D-9817-AC33-C4CC-351FE9FB93E4}"/>
              </a:ext>
            </a:extLst>
          </p:cNvPr>
          <p:cNvSpPr/>
          <p:nvPr/>
        </p:nvSpPr>
        <p:spPr>
          <a:xfrm>
            <a:off x="4796162" y="5114545"/>
            <a:ext cx="2441426" cy="638512"/>
          </a:xfrm>
          <a:prstGeom prst="wedgeRoundRectCallout">
            <a:avLst>
              <a:gd name="adj1" fmla="val -17511"/>
              <a:gd name="adj2" fmla="val -10352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Directivas</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de Datos en tiempo de ejecución</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1028" name="Picture 4" descr="Flow suspension.">
            <a:extLst>
              <a:ext uri="{FF2B5EF4-FFF2-40B4-BE49-F238E27FC236}">
                <a16:creationId xmlns:a16="http://schemas.microsoft.com/office/drawing/2014/main" id="{AE437C1F-DD4E-C79B-F967-8CE0D95BE3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5756" y="2799308"/>
            <a:ext cx="6115050" cy="14001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6550ADE6-8472-35F1-4A00-BA059A7A2B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94563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02"/>
                                        </p:tgtEl>
                                        <p:attrNameLst>
                                          <p:attrName>style.visibility</p:attrName>
                                        </p:attrNameLst>
                                      </p:cBhvr>
                                      <p:to>
                                        <p:strVal val="visible"/>
                                      </p:to>
                                    </p:set>
                                    <p:animEffect transition="in" filter="fade">
                                      <p:cBhvr>
                                        <p:cTn id="7" dur="1000"/>
                                        <p:tgtEl>
                                          <p:spTgt spid="4102"/>
                                        </p:tgtEl>
                                      </p:cBhvr>
                                    </p:animEffect>
                                    <p:anim calcmode="lin" valueType="num">
                                      <p:cBhvr>
                                        <p:cTn id="8" dur="1000" fill="hold"/>
                                        <p:tgtEl>
                                          <p:spTgt spid="4102"/>
                                        </p:tgtEl>
                                        <p:attrNameLst>
                                          <p:attrName>ppt_x</p:attrName>
                                        </p:attrNameLst>
                                      </p:cBhvr>
                                      <p:tavLst>
                                        <p:tav tm="0">
                                          <p:val>
                                            <p:strVal val="#ppt_x"/>
                                          </p:val>
                                        </p:tav>
                                        <p:tav tm="100000">
                                          <p:val>
                                            <p:strVal val="#ppt_x"/>
                                          </p:val>
                                        </p:tav>
                                      </p:tavLst>
                                    </p:anim>
                                    <p:anim calcmode="lin" valueType="num">
                                      <p:cBhvr>
                                        <p:cTn id="9" dur="1000" fill="hold"/>
                                        <p:tgtEl>
                                          <p:spTgt spid="410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fade">
                                      <p:cBhvr>
                                        <p:cTn id="12" dur="1000"/>
                                        <p:tgtEl>
                                          <p:spTgt spid="1028"/>
                                        </p:tgtEl>
                                      </p:cBhvr>
                                    </p:animEffect>
                                    <p:anim calcmode="lin" valueType="num">
                                      <p:cBhvr>
                                        <p:cTn id="13" dur="1000" fill="hold"/>
                                        <p:tgtEl>
                                          <p:spTgt spid="1028"/>
                                        </p:tgtEl>
                                        <p:attrNameLst>
                                          <p:attrName>ppt_x</p:attrName>
                                        </p:attrNameLst>
                                      </p:cBhvr>
                                      <p:tavLst>
                                        <p:tav tm="0">
                                          <p:val>
                                            <p:strVal val="#ppt_x"/>
                                          </p:val>
                                        </p:tav>
                                        <p:tav tm="100000">
                                          <p:val>
                                            <p:strVal val="#ppt_x"/>
                                          </p:val>
                                        </p:tav>
                                      </p:tavLst>
                                    </p:anim>
                                    <p:anim calcmode="lin" valueType="num">
                                      <p:cBhvr>
                                        <p:cTn id="14"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80">
                                          <p:stCondLst>
                                            <p:cond delay="0"/>
                                          </p:stCondLst>
                                        </p:cTn>
                                        <p:tgtEl>
                                          <p:spTgt spid="7"/>
                                        </p:tgtEl>
                                      </p:cBhvr>
                                    </p:animEffect>
                                    <p:anim calcmode="lin" valueType="num">
                                      <p:cBhvr>
                                        <p:cTn id="2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25" dur="26">
                                          <p:stCondLst>
                                            <p:cond delay="650"/>
                                          </p:stCondLst>
                                        </p:cTn>
                                        <p:tgtEl>
                                          <p:spTgt spid="7"/>
                                        </p:tgtEl>
                                      </p:cBhvr>
                                      <p:to x="100000" y="60000"/>
                                    </p:animScale>
                                    <p:animScale>
                                      <p:cBhvr>
                                        <p:cTn id="26" dur="166" decel="50000">
                                          <p:stCondLst>
                                            <p:cond delay="676"/>
                                          </p:stCondLst>
                                        </p:cTn>
                                        <p:tgtEl>
                                          <p:spTgt spid="7"/>
                                        </p:tgtEl>
                                      </p:cBhvr>
                                      <p:to x="100000" y="100000"/>
                                    </p:animScale>
                                    <p:animScale>
                                      <p:cBhvr>
                                        <p:cTn id="27" dur="26">
                                          <p:stCondLst>
                                            <p:cond delay="1312"/>
                                          </p:stCondLst>
                                        </p:cTn>
                                        <p:tgtEl>
                                          <p:spTgt spid="7"/>
                                        </p:tgtEl>
                                      </p:cBhvr>
                                      <p:to x="100000" y="80000"/>
                                    </p:animScale>
                                    <p:animScale>
                                      <p:cBhvr>
                                        <p:cTn id="28" dur="166" decel="50000">
                                          <p:stCondLst>
                                            <p:cond delay="1338"/>
                                          </p:stCondLst>
                                        </p:cTn>
                                        <p:tgtEl>
                                          <p:spTgt spid="7"/>
                                        </p:tgtEl>
                                      </p:cBhvr>
                                      <p:to x="100000" y="100000"/>
                                    </p:animScale>
                                    <p:animScale>
                                      <p:cBhvr>
                                        <p:cTn id="29" dur="26">
                                          <p:stCondLst>
                                            <p:cond delay="1642"/>
                                          </p:stCondLst>
                                        </p:cTn>
                                        <p:tgtEl>
                                          <p:spTgt spid="7"/>
                                        </p:tgtEl>
                                      </p:cBhvr>
                                      <p:to x="100000" y="90000"/>
                                    </p:animScale>
                                    <p:animScale>
                                      <p:cBhvr>
                                        <p:cTn id="30" dur="166" decel="50000">
                                          <p:stCondLst>
                                            <p:cond delay="1668"/>
                                          </p:stCondLst>
                                        </p:cTn>
                                        <p:tgtEl>
                                          <p:spTgt spid="7"/>
                                        </p:tgtEl>
                                      </p:cBhvr>
                                      <p:to x="100000" y="100000"/>
                                    </p:animScale>
                                    <p:animScale>
                                      <p:cBhvr>
                                        <p:cTn id="31" dur="26">
                                          <p:stCondLst>
                                            <p:cond delay="1808"/>
                                          </p:stCondLst>
                                        </p:cTn>
                                        <p:tgtEl>
                                          <p:spTgt spid="7"/>
                                        </p:tgtEl>
                                      </p:cBhvr>
                                      <p:to x="100000" y="95000"/>
                                    </p:animScale>
                                    <p:animScale>
                                      <p:cBhvr>
                                        <p:cTn id="32"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2DE9C-A346-26A4-398A-F599BCFD25B9}"/>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541B18B6-D757-65AD-1B13-7489D93387E9}"/>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D8E7AF6C-513B-B6F5-0322-39EB85DE77C8}"/>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1" name="TextBox 20">
            <a:extLst>
              <a:ext uri="{FF2B5EF4-FFF2-40B4-BE49-F238E27FC236}">
                <a16:creationId xmlns:a16="http://schemas.microsoft.com/office/drawing/2014/main" id="{568772AD-E829-7665-E019-84DAB126C28F}"/>
              </a:ext>
            </a:extLst>
          </p:cNvPr>
          <p:cNvSpPr txBox="1"/>
          <p:nvPr/>
        </p:nvSpPr>
        <p:spPr>
          <a:xfrm>
            <a:off x="1415846" y="1266600"/>
            <a:ext cx="9202058" cy="704167"/>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Connector action control - Power Platform | Microsoft Learn</a:t>
            </a:r>
            <a:r>
              <a:rPr lang="en-US" sz="1600">
                <a:latin typeface="Segoe UI" panose="020B0502040204020203" pitchFamily="34" charset="0"/>
                <a:cs typeface="Segoe UI" panose="020B0502040204020203" pitchFamily="34" charset="0"/>
              </a:rPr>
              <a:t> </a:t>
            </a:r>
            <a:r>
              <a:rPr lang="en-US" sz="1600">
                <a:solidFill>
                  <a:schemeClr val="bg1"/>
                </a:solidFill>
                <a:latin typeface="Segoe UI" panose="020B0502040204020203" pitchFamily="34" charset="0"/>
                <a:cs typeface="Segoe UI" panose="020B0502040204020203" pitchFamily="34" charset="0"/>
              </a:rPr>
              <a:t>&amp; </a:t>
            </a:r>
            <a:r>
              <a:rPr lang="en-US" sz="1600">
                <a:latin typeface="Segoe UI" panose="020B0502040204020203" pitchFamily="34" charset="0"/>
                <a:cs typeface="Segoe UI" panose="020B0502040204020203" pitchFamily="34" charset="0"/>
                <a:hlinkClick r:id="rId4"/>
              </a:rPr>
              <a:t>Connector endpoint filtering (preview)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16208E56-0E54-9C50-BB0F-937F401C9E6A}"/>
              </a:ext>
            </a:extLst>
          </p:cNvPr>
          <p:cNvPicPr>
            <a:picLocks noChangeAspect="1"/>
          </p:cNvPicPr>
          <p:nvPr/>
        </p:nvPicPr>
        <p:blipFill>
          <a:blip r:embed="rId5"/>
          <a:stretch>
            <a:fillRect/>
          </a:stretch>
        </p:blipFill>
        <p:spPr>
          <a:xfrm>
            <a:off x="2150533" y="1966895"/>
            <a:ext cx="8190246" cy="4794558"/>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0363B858-1A0C-EBC5-2536-3F8526CBBFC5}"/>
              </a:ext>
            </a:extLst>
          </p:cNvPr>
          <p:cNvPicPr>
            <a:picLocks noChangeAspect="1"/>
          </p:cNvPicPr>
          <p:nvPr/>
        </p:nvPicPr>
        <p:blipFill>
          <a:blip r:embed="rId6"/>
          <a:stretch>
            <a:fillRect/>
          </a:stretch>
        </p:blipFill>
        <p:spPr>
          <a:xfrm>
            <a:off x="2150533" y="1966895"/>
            <a:ext cx="8327777" cy="4898267"/>
          </a:xfrm>
          <a:prstGeom prst="rect">
            <a:avLst/>
          </a:prstGeom>
        </p:spPr>
      </p:pic>
      <p:sp>
        <p:nvSpPr>
          <p:cNvPr id="5" name="Speech Bubble: Rectangle with Corners Rounded 4">
            <a:extLst>
              <a:ext uri="{FF2B5EF4-FFF2-40B4-BE49-F238E27FC236}">
                <a16:creationId xmlns:a16="http://schemas.microsoft.com/office/drawing/2014/main" id="{2AEF0EA1-E2DF-BB3D-8B01-A511D7B8AFE8}"/>
              </a:ext>
            </a:extLst>
          </p:cNvPr>
          <p:cNvSpPr/>
          <p:nvPr/>
        </p:nvSpPr>
        <p:spPr>
          <a:xfrm>
            <a:off x="1713690" y="3552630"/>
            <a:ext cx="2302629"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Configuraciones</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de Acceso a Datos &amp; Privacidad</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6" name="Flowchart: Connector 5">
            <a:extLst>
              <a:ext uri="{FF2B5EF4-FFF2-40B4-BE49-F238E27FC236}">
                <a16:creationId xmlns:a16="http://schemas.microsoft.com/office/drawing/2014/main" id="{92FC8F65-9EB4-A3CB-13D9-76E97E96DF0F}"/>
              </a:ext>
            </a:extLst>
          </p:cNvPr>
          <p:cNvSpPr/>
          <p:nvPr/>
        </p:nvSpPr>
        <p:spPr>
          <a:xfrm>
            <a:off x="2659265" y="440682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17" name="Speech Bubble: Rectangle with Corners Rounded 16">
            <a:extLst>
              <a:ext uri="{FF2B5EF4-FFF2-40B4-BE49-F238E27FC236}">
                <a16:creationId xmlns:a16="http://schemas.microsoft.com/office/drawing/2014/main" id="{DD8E564E-61A6-2CBE-E788-9DF4C073811F}"/>
              </a:ext>
            </a:extLst>
          </p:cNvPr>
          <p:cNvSpPr/>
          <p:nvPr/>
        </p:nvSpPr>
        <p:spPr>
          <a:xfrm>
            <a:off x="2693420" y="5185621"/>
            <a:ext cx="2494824" cy="657180"/>
          </a:xfrm>
          <a:prstGeom prst="wedgeRoundRectCallout">
            <a:avLst>
              <a:gd name="adj1" fmla="val 58429"/>
              <a:gd name="adj2" fmla="val -45158"/>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Seleccionar un conector que se puede bloquear</a:t>
            </a:r>
          </a:p>
        </p:txBody>
      </p:sp>
      <p:sp>
        <p:nvSpPr>
          <p:cNvPr id="18" name="Flowchart: Connector 17">
            <a:extLst>
              <a:ext uri="{FF2B5EF4-FFF2-40B4-BE49-F238E27FC236}">
                <a16:creationId xmlns:a16="http://schemas.microsoft.com/office/drawing/2014/main" id="{2FC394D3-8A85-9E53-CC7C-FE2E5D226B6B}"/>
              </a:ext>
            </a:extLst>
          </p:cNvPr>
          <p:cNvSpPr/>
          <p:nvPr/>
        </p:nvSpPr>
        <p:spPr>
          <a:xfrm>
            <a:off x="2191470" y="534616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19" name="Speech Bubble: Rectangle with Corners Rounded 18">
            <a:extLst>
              <a:ext uri="{FF2B5EF4-FFF2-40B4-BE49-F238E27FC236}">
                <a16:creationId xmlns:a16="http://schemas.microsoft.com/office/drawing/2014/main" id="{8E4DD72F-D12E-F970-5C7D-E11763964671}"/>
              </a:ext>
            </a:extLst>
          </p:cNvPr>
          <p:cNvSpPr/>
          <p:nvPr/>
        </p:nvSpPr>
        <p:spPr>
          <a:xfrm>
            <a:off x="8279696" y="5248848"/>
            <a:ext cx="2494824" cy="789733"/>
          </a:xfrm>
          <a:prstGeom prst="wedgeRoundRectCallout">
            <a:avLst>
              <a:gd name="adj1" fmla="val -6445"/>
              <a:gd name="adj2" fmla="val -7851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noProof="0" err="1">
                <a:solidFill>
                  <a:prstClr val="white"/>
                </a:solidFill>
                <a:latin typeface="Segoe UI" panose="020B0502040204020203" pitchFamily="34" charset="0"/>
                <a:cs typeface="Segoe UI" panose="020B0502040204020203" pitchFamily="34" charset="0"/>
              </a:rPr>
              <a:t>Setup</a:t>
            </a:r>
            <a:r>
              <a:rPr lang="es-ES" sz="1600" noProof="0">
                <a:solidFill>
                  <a:prstClr val="white"/>
                </a:solidFill>
                <a:latin typeface="Segoe UI" panose="020B0502040204020203" pitchFamily="34" charset="0"/>
                <a:cs typeface="Segoe UI" panose="020B0502040204020203" pitchFamily="34" charset="0"/>
              </a:rPr>
              <a:t> granular en acciones del conector</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 name="Flowchart: Connector 19">
            <a:extLst>
              <a:ext uri="{FF2B5EF4-FFF2-40B4-BE49-F238E27FC236}">
                <a16:creationId xmlns:a16="http://schemas.microsoft.com/office/drawing/2014/main" id="{BA45329C-B73D-BCEE-9BD0-1A367CA1989E}"/>
              </a:ext>
            </a:extLst>
          </p:cNvPr>
          <p:cNvSpPr/>
          <p:nvPr/>
        </p:nvSpPr>
        <p:spPr>
          <a:xfrm>
            <a:off x="10870496" y="543797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
        <p:nvSpPr>
          <p:cNvPr id="22" name="Speech Bubble: Rectangle with Corners Rounded 21">
            <a:extLst>
              <a:ext uri="{FF2B5EF4-FFF2-40B4-BE49-F238E27FC236}">
                <a16:creationId xmlns:a16="http://schemas.microsoft.com/office/drawing/2014/main" id="{B726BC04-6DBC-958F-A1E3-B09232533D08}"/>
              </a:ext>
            </a:extLst>
          </p:cNvPr>
          <p:cNvSpPr/>
          <p:nvPr/>
        </p:nvSpPr>
        <p:spPr>
          <a:xfrm>
            <a:off x="3912305" y="5971720"/>
            <a:ext cx="2494824" cy="789733"/>
          </a:xfrm>
          <a:prstGeom prst="wedgeRoundRectCallout">
            <a:avLst>
              <a:gd name="adj1" fmla="val 59482"/>
              <a:gd name="adj2" fmla="val -2244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noProof="0">
                <a:solidFill>
                  <a:prstClr val="white"/>
                </a:solidFill>
                <a:latin typeface="Segoe UI" panose="020B0502040204020203" pitchFamily="34" charset="0"/>
                <a:cs typeface="Segoe UI" panose="020B0502040204020203" pitchFamily="34" charset="0"/>
              </a:rPr>
              <a:t>Permitir/Bloquear nuevas acciones de conector</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3" name="Flowchart: Connector 22">
            <a:extLst>
              <a:ext uri="{FF2B5EF4-FFF2-40B4-BE49-F238E27FC236}">
                <a16:creationId xmlns:a16="http://schemas.microsoft.com/office/drawing/2014/main" id="{ED307E86-887B-B64D-C697-7CDEAFE4A937}"/>
              </a:ext>
            </a:extLst>
          </p:cNvPr>
          <p:cNvSpPr/>
          <p:nvPr/>
        </p:nvSpPr>
        <p:spPr>
          <a:xfrm>
            <a:off x="3410355" y="616853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4</a:t>
            </a:r>
            <a:endParaRPr lang="en-US" sz="1400">
              <a:latin typeface="Segoe UI" panose="020B0502040204020203" pitchFamily="34" charset="0"/>
              <a:cs typeface="Segoe UI" panose="020B0502040204020203" pitchFamily="34" charset="0"/>
            </a:endParaRPr>
          </a:p>
        </p:txBody>
      </p:sp>
      <p:pic>
        <p:nvPicPr>
          <p:cNvPr id="2" name="Picture 2" descr="Profile photo of Enrique Arribas Bueno">
            <a:extLst>
              <a:ext uri="{FF2B5EF4-FFF2-40B4-BE49-F238E27FC236}">
                <a16:creationId xmlns:a16="http://schemas.microsoft.com/office/drawing/2014/main" id="{7E5B35F9-A849-E35C-3194-2E5C322CC56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92818"/>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1000"/>
                                        <p:tgtEl>
                                          <p:spTgt spid="23"/>
                                        </p:tgtEl>
                                      </p:cBhvr>
                                    </p:animEffect>
                                    <p:anim calcmode="lin" valueType="num">
                                      <p:cBhvr>
                                        <p:cTn id="44" dur="1000" fill="hold"/>
                                        <p:tgtEl>
                                          <p:spTgt spid="23"/>
                                        </p:tgtEl>
                                        <p:attrNameLst>
                                          <p:attrName>ppt_x</p:attrName>
                                        </p:attrNameLst>
                                      </p:cBhvr>
                                      <p:tavLst>
                                        <p:tav tm="0">
                                          <p:val>
                                            <p:strVal val="#ppt_x"/>
                                          </p:val>
                                        </p:tav>
                                        <p:tav tm="100000">
                                          <p:val>
                                            <p:strVal val="#ppt_x"/>
                                          </p:val>
                                        </p:tav>
                                      </p:tavLst>
                                    </p:anim>
                                    <p:anim calcmode="lin" valueType="num">
                                      <p:cBhvr>
                                        <p:cTn id="45" dur="1000" fill="hold"/>
                                        <p:tgtEl>
                                          <p:spTgt spid="2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1000"/>
                                        <p:tgtEl>
                                          <p:spTgt spid="22"/>
                                        </p:tgtEl>
                                      </p:cBhvr>
                                    </p:animEffect>
                                    <p:anim calcmode="lin" valueType="num">
                                      <p:cBhvr>
                                        <p:cTn id="49" dur="1000" fill="hold"/>
                                        <p:tgtEl>
                                          <p:spTgt spid="22"/>
                                        </p:tgtEl>
                                        <p:attrNameLst>
                                          <p:attrName>ppt_x</p:attrName>
                                        </p:attrNameLst>
                                      </p:cBhvr>
                                      <p:tavLst>
                                        <p:tav tm="0">
                                          <p:val>
                                            <p:strVal val="#ppt_x"/>
                                          </p:val>
                                        </p:tav>
                                        <p:tav tm="100000">
                                          <p:val>
                                            <p:strVal val="#ppt_x"/>
                                          </p:val>
                                        </p:tav>
                                      </p:tavLst>
                                    </p:anim>
                                    <p:anim calcmode="lin" valueType="num">
                                      <p:cBhvr>
                                        <p:cTn id="5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7" grpId="0" animBg="1"/>
      <p:bldP spid="18" grpId="0" animBg="1"/>
      <p:bldP spid="19" grpId="0" animBg="1"/>
      <p:bldP spid="20" grpId="0" animBg="1"/>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0EB84-E3D5-57D6-A5B1-BDABCF7D82EA}"/>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DE2195FD-D0A4-F65F-44D7-9665AE8CEEE8}"/>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922350B4-9F15-9B37-6AD1-B732BEA1565F}"/>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sp>
        <p:nvSpPr>
          <p:cNvPr id="21" name="TextBox 20">
            <a:extLst>
              <a:ext uri="{FF2B5EF4-FFF2-40B4-BE49-F238E27FC236}">
                <a16:creationId xmlns:a16="http://schemas.microsoft.com/office/drawing/2014/main" id="{0D513002-B104-E154-9D66-E10BA080A1D6}"/>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Advanced connector policies (preview)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A78106FE-D5BD-1BCB-C772-DF6C41937238}"/>
              </a:ext>
            </a:extLst>
          </p:cNvPr>
          <p:cNvPicPr>
            <a:picLocks noChangeAspect="1"/>
          </p:cNvPicPr>
          <p:nvPr/>
        </p:nvPicPr>
        <p:blipFill>
          <a:blip r:embed="rId4"/>
          <a:stretch>
            <a:fillRect/>
          </a:stretch>
        </p:blipFill>
        <p:spPr>
          <a:xfrm>
            <a:off x="1946809" y="1712664"/>
            <a:ext cx="8212995" cy="4816484"/>
          </a:xfrm>
          <a:prstGeom prst="rect">
            <a:avLst/>
          </a:prstGeom>
        </p:spPr>
      </p:pic>
      <p:sp>
        <p:nvSpPr>
          <p:cNvPr id="15" name="Speech Bubble: Rectangle with Corners Rounded 14">
            <a:extLst>
              <a:ext uri="{FF2B5EF4-FFF2-40B4-BE49-F238E27FC236}">
                <a16:creationId xmlns:a16="http://schemas.microsoft.com/office/drawing/2014/main" id="{20AC4AEE-B45B-BDEA-47EA-E16679D5E3B4}"/>
              </a:ext>
            </a:extLst>
          </p:cNvPr>
          <p:cNvSpPr/>
          <p:nvPr/>
        </p:nvSpPr>
        <p:spPr>
          <a:xfrm>
            <a:off x="1827618" y="3097310"/>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Acceso a Grupos de Entornos</a:t>
            </a:r>
          </a:p>
        </p:txBody>
      </p:sp>
      <p:sp>
        <p:nvSpPr>
          <p:cNvPr id="16" name="Flowchart: Connector 15">
            <a:extLst>
              <a:ext uri="{FF2B5EF4-FFF2-40B4-BE49-F238E27FC236}">
                <a16:creationId xmlns:a16="http://schemas.microsoft.com/office/drawing/2014/main" id="{5E826519-4BAA-4221-442D-595411C89882}"/>
              </a:ext>
            </a:extLst>
          </p:cNvPr>
          <p:cNvSpPr/>
          <p:nvPr/>
        </p:nvSpPr>
        <p:spPr>
          <a:xfrm>
            <a:off x="2455802" y="397916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19" name="Speech Bubble: Rectangle with Corners Rounded 18">
            <a:extLst>
              <a:ext uri="{FF2B5EF4-FFF2-40B4-BE49-F238E27FC236}">
                <a16:creationId xmlns:a16="http://schemas.microsoft.com/office/drawing/2014/main" id="{2D1927EF-70C7-D2B8-F6C1-239FF5A90082}"/>
              </a:ext>
            </a:extLst>
          </p:cNvPr>
          <p:cNvSpPr/>
          <p:nvPr/>
        </p:nvSpPr>
        <p:spPr>
          <a:xfrm>
            <a:off x="2320006" y="1714210"/>
            <a:ext cx="2494824" cy="657180"/>
          </a:xfrm>
          <a:prstGeom prst="wedgeRoundRectCallout">
            <a:avLst>
              <a:gd name="adj1" fmla="val 36096"/>
              <a:gd name="adj2" fmla="val 9327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Directivas</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de Conectores Avanzadas</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 name="Flowchart: Connector 19">
            <a:extLst>
              <a:ext uri="{FF2B5EF4-FFF2-40B4-BE49-F238E27FC236}">
                <a16:creationId xmlns:a16="http://schemas.microsoft.com/office/drawing/2014/main" id="{AB0115AE-C540-E684-51DF-749912F377BB}"/>
              </a:ext>
            </a:extLst>
          </p:cNvPr>
          <p:cNvSpPr/>
          <p:nvPr/>
        </p:nvSpPr>
        <p:spPr>
          <a:xfrm>
            <a:off x="1827618" y="183706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22" name="Speech Bubble: Rectangle with Corners Rounded 21">
            <a:extLst>
              <a:ext uri="{FF2B5EF4-FFF2-40B4-BE49-F238E27FC236}">
                <a16:creationId xmlns:a16="http://schemas.microsoft.com/office/drawing/2014/main" id="{5E711E76-7315-A585-6EA2-2C9F53164A5A}"/>
              </a:ext>
            </a:extLst>
          </p:cNvPr>
          <p:cNvSpPr/>
          <p:nvPr/>
        </p:nvSpPr>
        <p:spPr>
          <a:xfrm>
            <a:off x="5207000" y="2772664"/>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Añadir/Actualizar Conectores</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permitidos en el Grupo de Entornos</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3" name="Flowchart: Connector 22">
            <a:extLst>
              <a:ext uri="{FF2B5EF4-FFF2-40B4-BE49-F238E27FC236}">
                <a16:creationId xmlns:a16="http://schemas.microsoft.com/office/drawing/2014/main" id="{0532A339-8B42-2FEC-6DF0-6DE716E715F8}"/>
              </a:ext>
            </a:extLst>
          </p:cNvPr>
          <p:cNvSpPr/>
          <p:nvPr/>
        </p:nvSpPr>
        <p:spPr>
          <a:xfrm>
            <a:off x="7874000" y="296179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
        <p:nvSpPr>
          <p:cNvPr id="24" name="Speech Bubble: Rectangle with Corners Rounded 23">
            <a:extLst>
              <a:ext uri="{FF2B5EF4-FFF2-40B4-BE49-F238E27FC236}">
                <a16:creationId xmlns:a16="http://schemas.microsoft.com/office/drawing/2014/main" id="{D2862614-4E61-86D3-8368-3464699D4BB6}"/>
              </a:ext>
            </a:extLst>
          </p:cNvPr>
          <p:cNvSpPr/>
          <p:nvPr/>
        </p:nvSpPr>
        <p:spPr>
          <a:xfrm>
            <a:off x="9194800" y="4542198"/>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Soporte de</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Conectores Certificados, </a:t>
            </a:r>
            <a:r>
              <a:rPr kumimoji="0" lang="es-ES" sz="1600" b="0" i="0" u="none" strike="noStrike" kern="1200" cap="none" spc="0" normalizeH="0" noProof="0" err="1">
                <a:ln>
                  <a:noFill/>
                </a:ln>
                <a:solidFill>
                  <a:prstClr val="white"/>
                </a:solidFill>
                <a:effectLst/>
                <a:uLnTx/>
                <a:uFillTx/>
                <a:latin typeface="Segoe UI" panose="020B0502040204020203" pitchFamily="34" charset="0"/>
                <a:cs typeface="Segoe UI" panose="020B0502040204020203" pitchFamily="34" charset="0"/>
              </a:rPr>
              <a:t>Custom</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Virtuales y MCP</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5" name="Flowchart: Connector 24">
            <a:extLst>
              <a:ext uri="{FF2B5EF4-FFF2-40B4-BE49-F238E27FC236}">
                <a16:creationId xmlns:a16="http://schemas.microsoft.com/office/drawing/2014/main" id="{36989F15-7FC3-90AD-52B2-DB8642EC45E0}"/>
              </a:ext>
            </a:extLst>
          </p:cNvPr>
          <p:cNvSpPr/>
          <p:nvPr/>
        </p:nvSpPr>
        <p:spPr>
          <a:xfrm>
            <a:off x="11780520" y="473132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4</a:t>
            </a:r>
            <a:endParaRPr lang="en-US" sz="1400">
              <a:latin typeface="Segoe UI" panose="020B0502040204020203" pitchFamily="34" charset="0"/>
              <a:cs typeface="Segoe UI" panose="020B0502040204020203" pitchFamily="34" charset="0"/>
            </a:endParaRPr>
          </a:p>
        </p:txBody>
      </p:sp>
      <p:pic>
        <p:nvPicPr>
          <p:cNvPr id="2" name="Picture 2" descr="Profile photo of Enrique Arribas Bueno">
            <a:extLst>
              <a:ext uri="{FF2B5EF4-FFF2-40B4-BE49-F238E27FC236}">
                <a16:creationId xmlns:a16="http://schemas.microsoft.com/office/drawing/2014/main" id="{3DFD1E1D-67DB-F8A9-D123-FA4FCE551B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754956"/>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1000"/>
                                        <p:tgtEl>
                                          <p:spTgt spid="23"/>
                                        </p:tgtEl>
                                      </p:cBhvr>
                                    </p:animEffect>
                                    <p:anim calcmode="lin" valueType="num">
                                      <p:cBhvr>
                                        <p:cTn id="32" dur="1000" fill="hold"/>
                                        <p:tgtEl>
                                          <p:spTgt spid="23"/>
                                        </p:tgtEl>
                                        <p:attrNameLst>
                                          <p:attrName>ppt_x</p:attrName>
                                        </p:attrNameLst>
                                      </p:cBhvr>
                                      <p:tavLst>
                                        <p:tav tm="0">
                                          <p:val>
                                            <p:strVal val="#ppt_x"/>
                                          </p:val>
                                        </p:tav>
                                        <p:tav tm="100000">
                                          <p:val>
                                            <p:strVal val="#ppt_x"/>
                                          </p:val>
                                        </p:tav>
                                      </p:tavLst>
                                    </p:anim>
                                    <p:anim calcmode="lin" valueType="num">
                                      <p:cBhvr>
                                        <p:cTn id="33" dur="1000" fill="hold"/>
                                        <p:tgtEl>
                                          <p:spTgt spid="2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1000"/>
                                        <p:tgtEl>
                                          <p:spTgt spid="22"/>
                                        </p:tgtEl>
                                      </p:cBhvr>
                                    </p:animEffect>
                                    <p:anim calcmode="lin" valueType="num">
                                      <p:cBhvr>
                                        <p:cTn id="37" dur="1000" fill="hold"/>
                                        <p:tgtEl>
                                          <p:spTgt spid="22"/>
                                        </p:tgtEl>
                                        <p:attrNameLst>
                                          <p:attrName>ppt_x</p:attrName>
                                        </p:attrNameLst>
                                      </p:cBhvr>
                                      <p:tavLst>
                                        <p:tav tm="0">
                                          <p:val>
                                            <p:strVal val="#ppt_x"/>
                                          </p:val>
                                        </p:tav>
                                        <p:tav tm="100000">
                                          <p:val>
                                            <p:strVal val="#ppt_x"/>
                                          </p:val>
                                        </p:tav>
                                      </p:tavLst>
                                    </p:anim>
                                    <p:anim calcmode="lin" valueType="num">
                                      <p:cBhvr>
                                        <p:cTn id="3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1000"/>
                                        <p:tgtEl>
                                          <p:spTgt spid="24"/>
                                        </p:tgtEl>
                                      </p:cBhvr>
                                    </p:animEffect>
                                    <p:anim calcmode="lin" valueType="num">
                                      <p:cBhvr>
                                        <p:cTn id="44" dur="1000" fill="hold"/>
                                        <p:tgtEl>
                                          <p:spTgt spid="24"/>
                                        </p:tgtEl>
                                        <p:attrNameLst>
                                          <p:attrName>ppt_x</p:attrName>
                                        </p:attrNameLst>
                                      </p:cBhvr>
                                      <p:tavLst>
                                        <p:tav tm="0">
                                          <p:val>
                                            <p:strVal val="#ppt_x"/>
                                          </p:val>
                                        </p:tav>
                                        <p:tav tm="100000">
                                          <p:val>
                                            <p:strVal val="#ppt_x"/>
                                          </p:val>
                                        </p:tav>
                                      </p:tavLst>
                                    </p:anim>
                                    <p:anim calcmode="lin" valueType="num">
                                      <p:cBhvr>
                                        <p:cTn id="45" dur="1000" fill="hold"/>
                                        <p:tgtEl>
                                          <p:spTgt spid="2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1000"/>
                                        <p:tgtEl>
                                          <p:spTgt spid="25"/>
                                        </p:tgtEl>
                                      </p:cBhvr>
                                    </p:animEffect>
                                    <p:anim calcmode="lin" valueType="num">
                                      <p:cBhvr>
                                        <p:cTn id="49" dur="1000" fill="hold"/>
                                        <p:tgtEl>
                                          <p:spTgt spid="25"/>
                                        </p:tgtEl>
                                        <p:attrNameLst>
                                          <p:attrName>ppt_x</p:attrName>
                                        </p:attrNameLst>
                                      </p:cBhvr>
                                      <p:tavLst>
                                        <p:tav tm="0">
                                          <p:val>
                                            <p:strVal val="#ppt_x"/>
                                          </p:val>
                                        </p:tav>
                                        <p:tav tm="100000">
                                          <p:val>
                                            <p:strVal val="#ppt_x"/>
                                          </p:val>
                                        </p:tav>
                                      </p:tavLst>
                                    </p:anim>
                                    <p:anim calcmode="lin" valueType="num">
                                      <p:cBhvr>
                                        <p:cTn id="5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9" grpId="0" animBg="1"/>
      <p:bldP spid="20" grpId="0" animBg="1"/>
      <p:bldP spid="22" grpId="0" animBg="1"/>
      <p:bldP spid="23" grpId="0" animBg="1"/>
      <p:bldP spid="24" grpId="0" animBg="1"/>
      <p:bldP spid="2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A4F50-04BE-A009-2D8A-6C9BBC11D41B}"/>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1435EE18-9BF2-3758-9AB9-40CCD0B55A0B}"/>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9CA69557-86AA-CA81-7916-7AA30F5FD579}"/>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Privacidad y Protección de Datos</a:t>
            </a:r>
          </a:p>
        </p:txBody>
      </p:sp>
      <p:pic>
        <p:nvPicPr>
          <p:cNvPr id="1026" name="Picture 2" descr="Screenshot that shows how resources inside an enterprise network interact with a Virtual Network.">
            <a:extLst>
              <a:ext uri="{FF2B5EF4-FFF2-40B4-BE49-F238E27FC236}">
                <a16:creationId xmlns:a16="http://schemas.microsoft.com/office/drawing/2014/main" id="{481D796F-0E97-0315-292F-871438DD75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3803" y="1836997"/>
            <a:ext cx="10909110" cy="3606541"/>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8EECB91F-B3E7-F0F5-06D5-51AB636A8101}"/>
              </a:ext>
            </a:extLst>
          </p:cNvPr>
          <p:cNvSpPr txBox="1"/>
          <p:nvPr/>
        </p:nvSpPr>
        <p:spPr>
          <a:xfrm>
            <a:off x="1415846" y="1266600"/>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4"/>
              </a:rPr>
              <a:t>Virtual Network support overview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2" name="Picture 2" descr="Profile photo of Enrique Arribas Bueno">
            <a:extLst>
              <a:ext uri="{FF2B5EF4-FFF2-40B4-BE49-F238E27FC236}">
                <a16:creationId xmlns:a16="http://schemas.microsoft.com/office/drawing/2014/main" id="{2D700080-9BF4-9EFB-70D0-A7FFB2DE3E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087637"/>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5427E-1D3A-3AEB-5C94-8F2A000131BC}"/>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EFBA9DDD-787A-5A3B-4138-AB1F21F4E6F0}"/>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40665042-8B3E-5A94-5D2D-01A1960A5598}"/>
              </a:ext>
            </a:extLst>
          </p:cNvPr>
          <p:cNvGrpSpPr/>
          <p:nvPr/>
        </p:nvGrpSpPr>
        <p:grpSpPr>
          <a:xfrm>
            <a:off x="1098513" y="1099367"/>
            <a:ext cx="4382144" cy="2062104"/>
            <a:chOff x="1092200" y="1859895"/>
            <a:chExt cx="4382144" cy="2062101"/>
          </a:xfrm>
        </p:grpSpPr>
        <p:sp>
          <p:nvSpPr>
            <p:cNvPr id="45" name="TextBox 44">
              <a:extLst>
                <a:ext uri="{FF2B5EF4-FFF2-40B4-BE49-F238E27FC236}">
                  <a16:creationId xmlns:a16="http://schemas.microsoft.com/office/drawing/2014/main" id="{D00730F3-01F8-FDD1-8B03-AD3A3AB145DB}"/>
                </a:ext>
              </a:extLst>
            </p:cNvPr>
            <p:cNvSpPr txBox="1"/>
            <p:nvPr/>
          </p:nvSpPr>
          <p:spPr>
            <a:xfrm>
              <a:off x="1092200" y="2167672"/>
              <a:ext cx="4382144" cy="1754324"/>
            </a:xfrm>
            <a:prstGeom prst="rect">
              <a:avLst/>
            </a:prstGeom>
            <a:noFill/>
          </p:spPr>
          <p:txBody>
            <a:bodyPr wrap="square" rtlCol="0">
              <a:spAutoFit/>
            </a:bodyPr>
            <a:lstStyle/>
            <a:p>
              <a:r>
                <a:rPr lang="es-ES" sz="3600" b="1" noProof="0">
                  <a:solidFill>
                    <a:schemeClr val="bg1"/>
                  </a:solidFill>
                  <a:latin typeface="+mj-lt"/>
                  <a:cs typeface="Poppins ExtraBold" panose="00000900000000000000" pitchFamily="2" charset="0"/>
                </a:rPr>
                <a:t>Privacidad y Protección de los Datos</a:t>
              </a:r>
            </a:p>
          </p:txBody>
        </p:sp>
        <p:grpSp>
          <p:nvGrpSpPr>
            <p:cNvPr id="46" name="Group 45">
              <a:extLst>
                <a:ext uri="{FF2B5EF4-FFF2-40B4-BE49-F238E27FC236}">
                  <a16:creationId xmlns:a16="http://schemas.microsoft.com/office/drawing/2014/main" id="{94FE3090-9430-124A-8E52-544243A4825F}"/>
                </a:ext>
              </a:extLst>
            </p:cNvPr>
            <p:cNvGrpSpPr/>
            <p:nvPr/>
          </p:nvGrpSpPr>
          <p:grpSpPr>
            <a:xfrm>
              <a:off x="1190922" y="1859895"/>
              <a:ext cx="3089364" cy="338554"/>
              <a:chOff x="1630681" y="1859895"/>
              <a:chExt cx="3089364" cy="338554"/>
            </a:xfrm>
          </p:grpSpPr>
          <p:sp>
            <p:nvSpPr>
              <p:cNvPr id="47" name="TextBox 46">
                <a:extLst>
                  <a:ext uri="{FF2B5EF4-FFF2-40B4-BE49-F238E27FC236}">
                    <a16:creationId xmlns:a16="http://schemas.microsoft.com/office/drawing/2014/main" id="{C07B05A1-D2D4-9963-6F5D-05C974500AC5}"/>
                  </a:ext>
                </a:extLst>
              </p:cNvPr>
              <p:cNvSpPr txBox="1"/>
              <p:nvPr/>
            </p:nvSpPr>
            <p:spPr>
              <a:xfrm>
                <a:off x="2013833" y="1859895"/>
                <a:ext cx="2706212" cy="338554"/>
              </a:xfrm>
              <a:prstGeom prst="rect">
                <a:avLst/>
              </a:prstGeom>
              <a:noFill/>
            </p:spPr>
            <p:txBody>
              <a:bodyPr wrap="square" rtlCol="0">
                <a:spAutoFit/>
              </a:bodyPr>
              <a:lstStyle/>
              <a:p>
                <a:r>
                  <a:rPr lang="en-US" sz="1600" b="1">
                    <a:solidFill>
                      <a:schemeClr val="bg1"/>
                    </a:solidFill>
                    <a:latin typeface="+mj-lt"/>
                    <a:cs typeface="Poppins ExtraBold" panose="00000900000000000000" pitchFamily="2" charset="0"/>
                  </a:rPr>
                  <a:t>DEMO #2</a:t>
                </a:r>
                <a:endParaRPr lang="en-GB" sz="1600" b="1">
                  <a:solidFill>
                    <a:schemeClr val="bg1"/>
                  </a:solidFill>
                  <a:latin typeface="+mj-lt"/>
                  <a:cs typeface="Poppins ExtraBold" panose="00000900000000000000" pitchFamily="2" charset="0"/>
                </a:endParaRPr>
              </a:p>
            </p:txBody>
          </p:sp>
          <p:cxnSp>
            <p:nvCxnSpPr>
              <p:cNvPr id="48" name="Straight Connector 47">
                <a:extLst>
                  <a:ext uri="{FF2B5EF4-FFF2-40B4-BE49-F238E27FC236}">
                    <a16:creationId xmlns:a16="http://schemas.microsoft.com/office/drawing/2014/main" id="{75EDEE34-3C11-34D8-F39B-42B563B4400F}"/>
                  </a:ext>
                </a:extLst>
              </p:cNvPr>
              <p:cNvCxnSpPr>
                <a:cxnSpLocks/>
              </p:cNvCxnSpPr>
              <p:nvPr/>
            </p:nvCxnSpPr>
            <p:spPr>
              <a:xfrm flipH="1">
                <a:off x="1630681" y="2006163"/>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9" name="Picture 18" descr="Minion clipart transparent background, Minion transparent background  Transparent FREE for download on WebStockReview 2021">
            <a:extLst>
              <a:ext uri="{FF2B5EF4-FFF2-40B4-BE49-F238E27FC236}">
                <a16:creationId xmlns:a16="http://schemas.microsoft.com/office/drawing/2014/main" id="{81F49B01-3B78-D1E2-F409-9E63F5D08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1" y="532342"/>
            <a:ext cx="4492646" cy="52582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CEEE0312-5775-C71C-D24C-5AC617535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E4BDC744-715B-1150-F0B4-B527B55B9575}"/>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0186493" y="139602"/>
            <a:ext cx="910149" cy="1005840"/>
          </a:xfrm>
          <a:prstGeom prst="ellipse">
            <a:avLst/>
          </a:prstGeom>
          <a:ln>
            <a:noFill/>
          </a:ln>
          <a:effectLst>
            <a:softEdge rad="112500"/>
          </a:effectLst>
        </p:spPr>
      </p:pic>
    </p:spTree>
    <p:extLst>
      <p:ext uri="{BB962C8B-B14F-4D97-AF65-F5344CB8AC3E}">
        <p14:creationId xmlns:p14="http://schemas.microsoft.com/office/powerpoint/2010/main" val="931873187"/>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23" presetClass="entr" presetSubtype="272"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 calcmode="lin" valueType="num">
                                      <p:cBhvr>
                                        <p:cTn id="10" dur="500" fill="hold"/>
                                        <p:tgtEl>
                                          <p:spTgt spid="44"/>
                                        </p:tgtEl>
                                        <p:attrNameLst>
                                          <p:attrName>ppt_w</p:attrName>
                                        </p:attrNameLst>
                                      </p:cBhvr>
                                      <p:tavLst>
                                        <p:tav tm="0">
                                          <p:val>
                                            <p:strVal val="2/3*#ppt_w"/>
                                          </p:val>
                                        </p:tav>
                                        <p:tav tm="100000">
                                          <p:val>
                                            <p:strVal val="#ppt_w"/>
                                          </p:val>
                                        </p:tav>
                                      </p:tavLst>
                                    </p:anim>
                                    <p:anim calcmode="lin" valueType="num">
                                      <p:cBhvr>
                                        <p:cTn id="11" dur="500" fill="hold"/>
                                        <p:tgtEl>
                                          <p:spTgt spid="44"/>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125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80">
                                          <p:stCondLst>
                                            <p:cond delay="0"/>
                                          </p:stCondLst>
                                        </p:cTn>
                                        <p:tgtEl>
                                          <p:spTgt spid="9"/>
                                        </p:tgtEl>
                                      </p:cBhvr>
                                    </p:animEffect>
                                    <p:anim calcmode="lin" valueType="num">
                                      <p:cBhvr>
                                        <p:cTn id="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5" dur="26">
                                          <p:stCondLst>
                                            <p:cond delay="650"/>
                                          </p:stCondLst>
                                        </p:cTn>
                                        <p:tgtEl>
                                          <p:spTgt spid="9"/>
                                        </p:tgtEl>
                                      </p:cBhvr>
                                      <p:to x="100000" y="60000"/>
                                    </p:animScale>
                                    <p:animScale>
                                      <p:cBhvr>
                                        <p:cTn id="26" dur="166" decel="50000">
                                          <p:stCondLst>
                                            <p:cond delay="676"/>
                                          </p:stCondLst>
                                        </p:cTn>
                                        <p:tgtEl>
                                          <p:spTgt spid="9"/>
                                        </p:tgtEl>
                                      </p:cBhvr>
                                      <p:to x="100000" y="100000"/>
                                    </p:animScale>
                                    <p:animScale>
                                      <p:cBhvr>
                                        <p:cTn id="27" dur="26">
                                          <p:stCondLst>
                                            <p:cond delay="1312"/>
                                          </p:stCondLst>
                                        </p:cTn>
                                        <p:tgtEl>
                                          <p:spTgt spid="9"/>
                                        </p:tgtEl>
                                      </p:cBhvr>
                                      <p:to x="100000" y="80000"/>
                                    </p:animScale>
                                    <p:animScale>
                                      <p:cBhvr>
                                        <p:cTn id="28" dur="166" decel="50000">
                                          <p:stCondLst>
                                            <p:cond delay="1338"/>
                                          </p:stCondLst>
                                        </p:cTn>
                                        <p:tgtEl>
                                          <p:spTgt spid="9"/>
                                        </p:tgtEl>
                                      </p:cBhvr>
                                      <p:to x="100000" y="100000"/>
                                    </p:animScale>
                                    <p:animScale>
                                      <p:cBhvr>
                                        <p:cTn id="29" dur="26">
                                          <p:stCondLst>
                                            <p:cond delay="1642"/>
                                          </p:stCondLst>
                                        </p:cTn>
                                        <p:tgtEl>
                                          <p:spTgt spid="9"/>
                                        </p:tgtEl>
                                      </p:cBhvr>
                                      <p:to x="100000" y="90000"/>
                                    </p:animScale>
                                    <p:animScale>
                                      <p:cBhvr>
                                        <p:cTn id="30" dur="166" decel="50000">
                                          <p:stCondLst>
                                            <p:cond delay="1668"/>
                                          </p:stCondLst>
                                        </p:cTn>
                                        <p:tgtEl>
                                          <p:spTgt spid="9"/>
                                        </p:tgtEl>
                                      </p:cBhvr>
                                      <p:to x="100000" y="100000"/>
                                    </p:animScale>
                                    <p:animScale>
                                      <p:cBhvr>
                                        <p:cTn id="31" dur="26">
                                          <p:stCondLst>
                                            <p:cond delay="1808"/>
                                          </p:stCondLst>
                                        </p:cTn>
                                        <p:tgtEl>
                                          <p:spTgt spid="9"/>
                                        </p:tgtEl>
                                      </p:cBhvr>
                                      <p:to x="100000" y="95000"/>
                                    </p:animScale>
                                    <p:animScale>
                                      <p:cBhvr>
                                        <p:cTn id="3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6E43E-DD98-CE3E-574B-174DE1B773D5}"/>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BED382FF-2BA9-8AB2-DE59-3CF2E5E992DB}"/>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50B8C2B5-672D-4A52-2F3B-3050691EB358}"/>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E7BA2A15-73C1-F7BB-98C4-0CA06D38E7C0}"/>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noProof="0">
                <a:solidFill>
                  <a:schemeClr val="bg1"/>
                </a:solidFill>
                <a:latin typeface="Segoe UI" panose="020B0502040204020203" pitchFamily="34" charset="0"/>
                <a:cs typeface="Segoe UI" panose="020B0502040204020203" pitchFamily="34" charset="0"/>
              </a:rPr>
              <a:t>Asegurar que solo los usuarios autorizados pueden acceder a ciertos recursos</a:t>
            </a:r>
          </a:p>
        </p:txBody>
      </p:sp>
      <p:grpSp>
        <p:nvGrpSpPr>
          <p:cNvPr id="53" name="Group 52">
            <a:extLst>
              <a:ext uri="{FF2B5EF4-FFF2-40B4-BE49-F238E27FC236}">
                <a16:creationId xmlns:a16="http://schemas.microsoft.com/office/drawing/2014/main" id="{1BEAE6DC-B992-5F4B-948E-3001FB361348}"/>
              </a:ext>
            </a:extLst>
          </p:cNvPr>
          <p:cNvGrpSpPr/>
          <p:nvPr/>
        </p:nvGrpSpPr>
        <p:grpSpPr>
          <a:xfrm>
            <a:off x="3474720" y="2271562"/>
            <a:ext cx="2468880" cy="2011680"/>
            <a:chOff x="6941" y="1161888"/>
            <a:chExt cx="2461366" cy="1837358"/>
          </a:xfrm>
        </p:grpSpPr>
        <p:sp>
          <p:nvSpPr>
            <p:cNvPr id="54" name="Rectangle: Top Corners Rounded 53">
              <a:extLst>
                <a:ext uri="{FF2B5EF4-FFF2-40B4-BE49-F238E27FC236}">
                  <a16:creationId xmlns:a16="http://schemas.microsoft.com/office/drawing/2014/main" id="{E8F6BF15-4B4B-3545-EA32-B4AECF3E9499}"/>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00B0F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55" name="Rectangle: Top Corners Rounded 4">
              <a:extLst>
                <a:ext uri="{FF2B5EF4-FFF2-40B4-BE49-F238E27FC236}">
                  <a16:creationId xmlns:a16="http://schemas.microsoft.com/office/drawing/2014/main" id="{BBB0CA0E-ADF5-C3EB-3862-CBCE29A35C13}"/>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eaLnBrk="1" fontAlgn="auto" latinLnBrk="0" hangingPunct="1">
                <a:lnSpc>
                  <a:spcPct val="90000"/>
                </a:lnSpc>
                <a:spcBef>
                  <a:spcPct val="0"/>
                </a:spcBef>
                <a:spcAft>
                  <a:spcPct val="15000"/>
                </a:spcAft>
                <a:buClrTx/>
                <a:buSzTx/>
                <a:buFontTx/>
                <a:buChar char="•"/>
                <a:tabLst/>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Limitar como los usuarios pueden compartir Aplicaciones, Flujos y Agentes</a:t>
              </a:r>
            </a:p>
            <a:p>
              <a:pPr marL="114300" marR="0" lvl="1" indent="-114300" defTabSz="533400" eaLnBrk="1" fontAlgn="auto" latinLnBrk="0" hangingPunct="1">
                <a:lnSpc>
                  <a:spcPct val="90000"/>
                </a:lnSpc>
                <a:spcBef>
                  <a:spcPct val="0"/>
                </a:spcBef>
                <a:spcAft>
                  <a:spcPct val="15000"/>
                </a:spcAft>
                <a:buClrTx/>
                <a:buSzTx/>
                <a:buFontTx/>
                <a:buChar char="•"/>
                <a:tabLst/>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2 ámbitos/niveles de aplicación: Entorno vs. Grupo de Entornos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56" name="Group 55">
            <a:extLst>
              <a:ext uri="{FF2B5EF4-FFF2-40B4-BE49-F238E27FC236}">
                <a16:creationId xmlns:a16="http://schemas.microsoft.com/office/drawing/2014/main" id="{8F7A5258-2EA4-52F9-9515-CE3987EA043F}"/>
              </a:ext>
            </a:extLst>
          </p:cNvPr>
          <p:cNvGrpSpPr/>
          <p:nvPr/>
        </p:nvGrpSpPr>
        <p:grpSpPr>
          <a:xfrm>
            <a:off x="3474715" y="4252224"/>
            <a:ext cx="2468881" cy="790063"/>
            <a:chOff x="6940" y="2999246"/>
            <a:chExt cx="2461367" cy="790063"/>
          </a:xfrm>
          <a:solidFill>
            <a:srgbClr val="5B9BD5"/>
          </a:solidFill>
        </p:grpSpPr>
        <p:sp>
          <p:nvSpPr>
            <p:cNvPr id="57" name="Rectangle 56">
              <a:extLst>
                <a:ext uri="{FF2B5EF4-FFF2-40B4-BE49-F238E27FC236}">
                  <a16:creationId xmlns:a16="http://schemas.microsoft.com/office/drawing/2014/main" id="{0F14AAF9-92BB-2D4B-EA88-1E0399F29285}"/>
                </a:ext>
              </a:extLst>
            </p:cNvPr>
            <p:cNvSpPr/>
            <p:nvPr/>
          </p:nvSpPr>
          <p:spPr>
            <a:xfrm>
              <a:off x="6941"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9" name="TextBox 58">
              <a:extLst>
                <a:ext uri="{FF2B5EF4-FFF2-40B4-BE49-F238E27FC236}">
                  <a16:creationId xmlns:a16="http://schemas.microsoft.com/office/drawing/2014/main" id="{B1A711A2-E3FD-7BC7-F80D-4EAD0CD605A6}"/>
                </a:ext>
              </a:extLst>
            </p:cNvPr>
            <p:cNvSpPr txBox="1"/>
            <p:nvPr/>
          </p:nvSpPr>
          <p:spPr>
            <a:xfrm>
              <a:off x="6940" y="2999246"/>
              <a:ext cx="1870523"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Limites en compartición de recursos</a:t>
              </a:r>
            </a:p>
          </p:txBody>
        </p:sp>
      </p:grpSp>
      <p:grpSp>
        <p:nvGrpSpPr>
          <p:cNvPr id="60" name="Group 59">
            <a:extLst>
              <a:ext uri="{FF2B5EF4-FFF2-40B4-BE49-F238E27FC236}">
                <a16:creationId xmlns:a16="http://schemas.microsoft.com/office/drawing/2014/main" id="{BC75EA0F-14D7-F116-A764-27F084575319}"/>
              </a:ext>
            </a:extLst>
          </p:cNvPr>
          <p:cNvGrpSpPr/>
          <p:nvPr/>
        </p:nvGrpSpPr>
        <p:grpSpPr>
          <a:xfrm>
            <a:off x="6198109" y="2266466"/>
            <a:ext cx="2468880" cy="2011680"/>
            <a:chOff x="2884829" y="1161888"/>
            <a:chExt cx="2461366" cy="1837358"/>
          </a:xfrm>
        </p:grpSpPr>
        <p:sp>
          <p:nvSpPr>
            <p:cNvPr id="61" name="Rectangle: Top Corners Rounded 60">
              <a:extLst>
                <a:ext uri="{FF2B5EF4-FFF2-40B4-BE49-F238E27FC236}">
                  <a16:creationId xmlns:a16="http://schemas.microsoft.com/office/drawing/2014/main" id="{09840C88-901A-5873-61A6-072F13CFAD05}"/>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62" name="Rectangle: Top Corners Rounded 4">
              <a:extLst>
                <a:ext uri="{FF2B5EF4-FFF2-40B4-BE49-F238E27FC236}">
                  <a16:creationId xmlns:a16="http://schemas.microsoft.com/office/drawing/2014/main" id="{5D1F9B12-1798-5E89-6930-D8FA29A621EE}"/>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Conexión desde la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 recursos privados sin exponerlos en Internet</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La conectividad se realiza sin necesidad de rangos de IP de la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o de Tags de Servicio</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Soporte para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PlugIns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y Conectores de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Dataverse</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(solo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Managed</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Environments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a:t>
              </a:r>
            </a:p>
          </p:txBody>
        </p:sp>
      </p:grpSp>
      <p:grpSp>
        <p:nvGrpSpPr>
          <p:cNvPr id="63" name="Group 62">
            <a:extLst>
              <a:ext uri="{FF2B5EF4-FFF2-40B4-BE49-F238E27FC236}">
                <a16:creationId xmlns:a16="http://schemas.microsoft.com/office/drawing/2014/main" id="{EB9F51E2-9B0B-3ADA-47D2-D233141DE947}"/>
              </a:ext>
            </a:extLst>
          </p:cNvPr>
          <p:cNvGrpSpPr/>
          <p:nvPr/>
        </p:nvGrpSpPr>
        <p:grpSpPr>
          <a:xfrm>
            <a:off x="6198109" y="4260776"/>
            <a:ext cx="2468880" cy="790063"/>
            <a:chOff x="2884829" y="2999246"/>
            <a:chExt cx="2461366" cy="790063"/>
          </a:xfrm>
          <a:solidFill>
            <a:srgbClr val="ED7D31"/>
          </a:solidFill>
        </p:grpSpPr>
        <p:sp>
          <p:nvSpPr>
            <p:cNvPr id="64" name="Rectangle 63">
              <a:extLst>
                <a:ext uri="{FF2B5EF4-FFF2-40B4-BE49-F238E27FC236}">
                  <a16:creationId xmlns:a16="http://schemas.microsoft.com/office/drawing/2014/main" id="{9AE5D9D9-5196-56EF-2680-8055EA8B635E}"/>
                </a:ext>
              </a:extLst>
            </p:cNvPr>
            <p:cNvSpPr/>
            <p:nvPr/>
          </p:nvSpPr>
          <p:spPr>
            <a:xfrm>
              <a:off x="2884829"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65" name="TextBox 64">
              <a:extLst>
                <a:ext uri="{FF2B5EF4-FFF2-40B4-BE49-F238E27FC236}">
                  <a16:creationId xmlns:a16="http://schemas.microsoft.com/office/drawing/2014/main" id="{9DC9A30C-D16E-FCCF-5DFF-15551B56A955}"/>
                </a:ext>
              </a:extLst>
            </p:cNvPr>
            <p:cNvSpPr txBox="1"/>
            <p:nvPr/>
          </p:nvSpPr>
          <p:spPr>
            <a:xfrm>
              <a:off x="2884829" y="2999246"/>
              <a:ext cx="1733356"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a:solidFill>
                    <a:prstClr val="white"/>
                  </a:solidFill>
                  <a:latin typeface="Segoe UI" panose="020B0502040204020203" pitchFamily="34" charset="0"/>
                  <a:cs typeface="Segoe UI" panose="020B0502040204020203" pitchFamily="34" charset="0"/>
                </a:rPr>
                <a:t>IP Cookie Binding</a:t>
              </a:r>
            </a:p>
          </p:txBody>
        </p:sp>
      </p:grpSp>
      <p:grpSp>
        <p:nvGrpSpPr>
          <p:cNvPr id="66" name="Group 65">
            <a:extLst>
              <a:ext uri="{FF2B5EF4-FFF2-40B4-BE49-F238E27FC236}">
                <a16:creationId xmlns:a16="http://schemas.microsoft.com/office/drawing/2014/main" id="{96079F59-1EA7-F398-ED45-915B1255C93A}"/>
              </a:ext>
            </a:extLst>
          </p:cNvPr>
          <p:cNvGrpSpPr/>
          <p:nvPr/>
        </p:nvGrpSpPr>
        <p:grpSpPr>
          <a:xfrm>
            <a:off x="724685" y="2259241"/>
            <a:ext cx="2468880" cy="2011680"/>
            <a:chOff x="8640607" y="1161888"/>
            <a:chExt cx="2461366" cy="1837358"/>
          </a:xfrm>
        </p:grpSpPr>
        <p:sp>
          <p:nvSpPr>
            <p:cNvPr id="67" name="Rectangle: Top Corners Rounded 66">
              <a:extLst>
                <a:ext uri="{FF2B5EF4-FFF2-40B4-BE49-F238E27FC236}">
                  <a16:creationId xmlns:a16="http://schemas.microsoft.com/office/drawing/2014/main" id="{38C464AD-F93B-A6AB-0677-AEDAF7CEF8E9}"/>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68" name="Rectangle: Top Corners Rounded 4">
              <a:extLst>
                <a:ext uri="{FF2B5EF4-FFF2-40B4-BE49-F238E27FC236}">
                  <a16:creationId xmlns:a16="http://schemas.microsoft.com/office/drawing/2014/main" id="{79B52CE2-03E7-8B92-8DF8-033E757C0CC2}"/>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Prevenir que los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makers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puedan exponer información corporativa en tiempo de ejecución/en tiempo de diseño</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Prevenir el uso de conectores bloqueados en Apps y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Flows</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3 ámbitos/niveles de aplicación: Global vs. Grupo de Entornos vs. Entorno</a:t>
              </a:r>
            </a:p>
          </p:txBody>
        </p:sp>
      </p:grpSp>
      <p:grpSp>
        <p:nvGrpSpPr>
          <p:cNvPr id="69" name="Group 68">
            <a:extLst>
              <a:ext uri="{FF2B5EF4-FFF2-40B4-BE49-F238E27FC236}">
                <a16:creationId xmlns:a16="http://schemas.microsoft.com/office/drawing/2014/main" id="{4D856E57-10E1-D5C0-50B9-1987F4F110B8}"/>
              </a:ext>
            </a:extLst>
          </p:cNvPr>
          <p:cNvGrpSpPr/>
          <p:nvPr/>
        </p:nvGrpSpPr>
        <p:grpSpPr>
          <a:xfrm>
            <a:off x="722076" y="4255827"/>
            <a:ext cx="2468880" cy="790063"/>
            <a:chOff x="8632682" y="3002849"/>
            <a:chExt cx="2461366" cy="790063"/>
          </a:xfrm>
          <a:solidFill>
            <a:srgbClr val="FFC000"/>
          </a:solidFill>
        </p:grpSpPr>
        <p:sp>
          <p:nvSpPr>
            <p:cNvPr id="70" name="Rectangle 69">
              <a:extLst>
                <a:ext uri="{FF2B5EF4-FFF2-40B4-BE49-F238E27FC236}">
                  <a16:creationId xmlns:a16="http://schemas.microsoft.com/office/drawing/2014/main" id="{134AFB55-225D-07C6-740C-74BC88D345AC}"/>
                </a:ext>
              </a:extLst>
            </p:cNvPr>
            <p:cNvSpPr/>
            <p:nvPr/>
          </p:nvSpPr>
          <p:spPr>
            <a:xfrm>
              <a:off x="8632682" y="3002849"/>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1" name="TextBox 70">
              <a:extLst>
                <a:ext uri="{FF2B5EF4-FFF2-40B4-BE49-F238E27FC236}">
                  <a16:creationId xmlns:a16="http://schemas.microsoft.com/office/drawing/2014/main" id="{F9A49282-4EB9-382E-2200-84E861017B53}"/>
                </a:ext>
              </a:extLst>
            </p:cNvPr>
            <p:cNvSpPr txBox="1"/>
            <p:nvPr/>
          </p:nvSpPr>
          <p:spPr>
            <a:xfrm>
              <a:off x="8632683" y="3002849"/>
              <a:ext cx="1863051"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a:solidFill>
                    <a:prstClr val="white"/>
                  </a:solidFill>
                  <a:latin typeface="Segoe UI" panose="020B0502040204020203" pitchFamily="34" charset="0"/>
                  <a:cs typeface="Segoe UI" panose="020B0502040204020203" pitchFamily="34" charset="0"/>
                </a:rPr>
                <a:t>IP Firewall</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72" name="Picture 71">
            <a:extLst>
              <a:ext uri="{FF2B5EF4-FFF2-40B4-BE49-F238E27FC236}">
                <a16:creationId xmlns:a16="http://schemas.microsoft.com/office/drawing/2014/main" id="{895D2B88-AAEC-AF68-A48E-CB9824EBC65A}"/>
              </a:ext>
            </a:extLst>
          </p:cNvPr>
          <p:cNvPicPr>
            <a:picLocks noChangeAspect="1"/>
          </p:cNvPicPr>
          <p:nvPr/>
        </p:nvPicPr>
        <p:blipFill>
          <a:blip r:embed="rId3"/>
          <a:stretch>
            <a:fillRect/>
          </a:stretch>
        </p:blipFill>
        <p:spPr>
          <a:xfrm>
            <a:off x="5242118" y="4327215"/>
            <a:ext cx="640080" cy="640080"/>
          </a:xfrm>
          <a:prstGeom prst="rect">
            <a:avLst/>
          </a:prstGeom>
        </p:spPr>
      </p:pic>
      <p:grpSp>
        <p:nvGrpSpPr>
          <p:cNvPr id="75" name="Group 74">
            <a:extLst>
              <a:ext uri="{FF2B5EF4-FFF2-40B4-BE49-F238E27FC236}">
                <a16:creationId xmlns:a16="http://schemas.microsoft.com/office/drawing/2014/main" id="{6E85E98F-EA4B-C9C6-40D6-DFB7C328B7A1}"/>
              </a:ext>
            </a:extLst>
          </p:cNvPr>
          <p:cNvGrpSpPr/>
          <p:nvPr/>
        </p:nvGrpSpPr>
        <p:grpSpPr>
          <a:xfrm>
            <a:off x="8921498" y="2249096"/>
            <a:ext cx="2468880" cy="2011680"/>
            <a:chOff x="2884829" y="1161888"/>
            <a:chExt cx="2461366" cy="1837358"/>
          </a:xfrm>
        </p:grpSpPr>
        <p:sp>
          <p:nvSpPr>
            <p:cNvPr id="76" name="Rectangle: Top Corners Rounded 75">
              <a:extLst>
                <a:ext uri="{FF2B5EF4-FFF2-40B4-BE49-F238E27FC236}">
                  <a16:creationId xmlns:a16="http://schemas.microsoft.com/office/drawing/2014/main" id="{7DB74BAE-11D5-249B-A49B-AFE1215904DB}"/>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77" name="Rectangle: Top Corners Rounded 4">
              <a:extLst>
                <a:ext uri="{FF2B5EF4-FFF2-40B4-BE49-F238E27FC236}">
                  <a16:creationId xmlns:a16="http://schemas.microsoft.com/office/drawing/2014/main" id="{853C11B9-BE30-FC3E-EC1B-199BC82E594C}"/>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Restringir las conexiones entrantes/salientes del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tenant</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en Aplicaciones y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Flows</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Permitir excepciones en base a necesidades del negocio</a:t>
              </a:r>
            </a:p>
          </p:txBody>
        </p:sp>
      </p:grpSp>
      <p:grpSp>
        <p:nvGrpSpPr>
          <p:cNvPr id="78" name="Group 77">
            <a:extLst>
              <a:ext uri="{FF2B5EF4-FFF2-40B4-BE49-F238E27FC236}">
                <a16:creationId xmlns:a16="http://schemas.microsoft.com/office/drawing/2014/main" id="{2AAFC9AA-CAFA-1A85-AD08-8AB2FA1184F7}"/>
              </a:ext>
            </a:extLst>
          </p:cNvPr>
          <p:cNvGrpSpPr/>
          <p:nvPr/>
        </p:nvGrpSpPr>
        <p:grpSpPr>
          <a:xfrm>
            <a:off x="8921498" y="4243406"/>
            <a:ext cx="2468880" cy="790063"/>
            <a:chOff x="2884829" y="2999246"/>
            <a:chExt cx="2461366" cy="790063"/>
          </a:xfrm>
          <a:solidFill>
            <a:srgbClr val="A5A5A5"/>
          </a:solidFill>
        </p:grpSpPr>
        <p:sp>
          <p:nvSpPr>
            <p:cNvPr id="79" name="Rectangle 78">
              <a:extLst>
                <a:ext uri="{FF2B5EF4-FFF2-40B4-BE49-F238E27FC236}">
                  <a16:creationId xmlns:a16="http://schemas.microsoft.com/office/drawing/2014/main" id="{489AAE12-D79B-43D0-A1A5-7E14082F5BF4}"/>
                </a:ext>
              </a:extLst>
            </p:cNvPr>
            <p:cNvSpPr/>
            <p:nvPr/>
          </p:nvSpPr>
          <p:spPr>
            <a:xfrm>
              <a:off x="2884829"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0" name="TextBox 79">
              <a:extLst>
                <a:ext uri="{FF2B5EF4-FFF2-40B4-BE49-F238E27FC236}">
                  <a16:creationId xmlns:a16="http://schemas.microsoft.com/office/drawing/2014/main" id="{25E786B9-8763-63B3-FC2A-E50CE48B5A3A}"/>
                </a:ext>
              </a:extLst>
            </p:cNvPr>
            <p:cNvSpPr txBox="1"/>
            <p:nvPr/>
          </p:nvSpPr>
          <p:spPr>
            <a:xfrm>
              <a:off x="2884829" y="2999246"/>
              <a:ext cx="1733356"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err="1">
                  <a:solidFill>
                    <a:prstClr val="white"/>
                  </a:solidFill>
                  <a:latin typeface="Segoe UI" panose="020B0502040204020203" pitchFamily="34" charset="0"/>
                  <a:cs typeface="Segoe UI" panose="020B0502040204020203" pitchFamily="34" charset="0"/>
                </a:rPr>
                <a:t>Aislamiento</a:t>
              </a:r>
              <a:r>
                <a:rPr lang="fr-FR" sz="1600" b="1" kern="0">
                  <a:solidFill>
                    <a:prstClr val="white"/>
                  </a:solidFill>
                  <a:latin typeface="Segoe UI" panose="020B0502040204020203" pitchFamily="34" charset="0"/>
                  <a:cs typeface="Segoe UI" panose="020B0502040204020203" pitchFamily="34" charset="0"/>
                </a:rPr>
                <a:t> de Tenant</a:t>
              </a:r>
            </a:p>
          </p:txBody>
        </p:sp>
      </p:grpSp>
      <p:pic>
        <p:nvPicPr>
          <p:cNvPr id="3" name="Picture 2">
            <a:extLst>
              <a:ext uri="{FF2B5EF4-FFF2-40B4-BE49-F238E27FC236}">
                <a16:creationId xmlns:a16="http://schemas.microsoft.com/office/drawing/2014/main" id="{D807DE38-7AC6-7878-1972-6C5FC6D0330D}"/>
              </a:ext>
            </a:extLst>
          </p:cNvPr>
          <p:cNvPicPr>
            <a:picLocks noChangeAspect="1"/>
          </p:cNvPicPr>
          <p:nvPr/>
        </p:nvPicPr>
        <p:blipFill>
          <a:blip r:embed="rId4"/>
          <a:stretch>
            <a:fillRect/>
          </a:stretch>
        </p:blipFill>
        <p:spPr>
          <a:xfrm>
            <a:off x="7986892" y="4352289"/>
            <a:ext cx="640080" cy="640080"/>
          </a:xfrm>
          <a:prstGeom prst="rect">
            <a:avLst/>
          </a:prstGeom>
        </p:spPr>
      </p:pic>
      <p:pic>
        <p:nvPicPr>
          <p:cNvPr id="6" name="Picture 5">
            <a:extLst>
              <a:ext uri="{FF2B5EF4-FFF2-40B4-BE49-F238E27FC236}">
                <a16:creationId xmlns:a16="http://schemas.microsoft.com/office/drawing/2014/main" id="{B9544B1E-9DAB-6BA5-3049-E6422F9264D6}"/>
              </a:ext>
            </a:extLst>
          </p:cNvPr>
          <p:cNvPicPr>
            <a:picLocks noChangeAspect="1"/>
          </p:cNvPicPr>
          <p:nvPr/>
        </p:nvPicPr>
        <p:blipFill>
          <a:blip r:embed="rId5"/>
          <a:stretch>
            <a:fillRect/>
          </a:stretch>
        </p:blipFill>
        <p:spPr>
          <a:xfrm>
            <a:off x="2505570" y="4338365"/>
            <a:ext cx="640080" cy="640080"/>
          </a:xfrm>
          <a:prstGeom prst="rect">
            <a:avLst/>
          </a:prstGeom>
        </p:spPr>
      </p:pic>
      <p:pic>
        <p:nvPicPr>
          <p:cNvPr id="5" name="Picture 4">
            <a:extLst>
              <a:ext uri="{FF2B5EF4-FFF2-40B4-BE49-F238E27FC236}">
                <a16:creationId xmlns:a16="http://schemas.microsoft.com/office/drawing/2014/main" id="{D346B10A-A403-56B1-EC71-4C76D88449AA}"/>
              </a:ext>
            </a:extLst>
          </p:cNvPr>
          <p:cNvPicPr>
            <a:picLocks noChangeAspect="1"/>
          </p:cNvPicPr>
          <p:nvPr/>
        </p:nvPicPr>
        <p:blipFill>
          <a:blip r:embed="rId6"/>
          <a:stretch>
            <a:fillRect/>
          </a:stretch>
        </p:blipFill>
        <p:spPr>
          <a:xfrm>
            <a:off x="10728706" y="4307913"/>
            <a:ext cx="640080" cy="640080"/>
          </a:xfrm>
          <a:prstGeom prst="rect">
            <a:avLst/>
          </a:prstGeom>
        </p:spPr>
      </p:pic>
      <p:pic>
        <p:nvPicPr>
          <p:cNvPr id="7" name="Picture Placeholder 2" descr="A person smiling for a picture&#10;&#10;AI-generated content may be incorrect.">
            <a:extLst>
              <a:ext uri="{FF2B5EF4-FFF2-40B4-BE49-F238E27FC236}">
                <a16:creationId xmlns:a16="http://schemas.microsoft.com/office/drawing/2014/main" id="{3AF1CC9A-6175-1ED1-1477-34393931DFEF}"/>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083965" y="139602"/>
            <a:ext cx="910149" cy="1005840"/>
          </a:xfrm>
          <a:prstGeom prst="ellipse">
            <a:avLst/>
          </a:prstGeom>
          <a:ln>
            <a:noFill/>
          </a:ln>
          <a:effectLst>
            <a:softEdge rad="112500"/>
          </a:effectLst>
        </p:spPr>
      </p:pic>
    </p:spTree>
    <p:extLst>
      <p:ext uri="{BB962C8B-B14F-4D97-AF65-F5344CB8AC3E}">
        <p14:creationId xmlns:p14="http://schemas.microsoft.com/office/powerpoint/2010/main" val="172135176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anim calcmode="lin" valueType="num">
                                      <p:cBhvr>
                                        <p:cTn id="8" dur="1000" fill="hold"/>
                                        <p:tgtEl>
                                          <p:spTgt spid="53"/>
                                        </p:tgtEl>
                                        <p:attrNameLst>
                                          <p:attrName>ppt_x</p:attrName>
                                        </p:attrNameLst>
                                      </p:cBhvr>
                                      <p:tavLst>
                                        <p:tav tm="0">
                                          <p:val>
                                            <p:strVal val="#ppt_x"/>
                                          </p:val>
                                        </p:tav>
                                        <p:tav tm="100000">
                                          <p:val>
                                            <p:strVal val="#ppt_x"/>
                                          </p:val>
                                        </p:tav>
                                      </p:tavLst>
                                    </p:anim>
                                    <p:anim calcmode="lin" valueType="num">
                                      <p:cBhvr>
                                        <p:cTn id="9" dur="1000" fill="hold"/>
                                        <p:tgtEl>
                                          <p:spTgt spid="5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1000"/>
                                        <p:tgtEl>
                                          <p:spTgt spid="56"/>
                                        </p:tgtEl>
                                      </p:cBhvr>
                                    </p:animEffect>
                                    <p:anim calcmode="lin" valueType="num">
                                      <p:cBhvr>
                                        <p:cTn id="13" dur="1000" fill="hold"/>
                                        <p:tgtEl>
                                          <p:spTgt spid="56"/>
                                        </p:tgtEl>
                                        <p:attrNameLst>
                                          <p:attrName>ppt_x</p:attrName>
                                        </p:attrNameLst>
                                      </p:cBhvr>
                                      <p:tavLst>
                                        <p:tav tm="0">
                                          <p:val>
                                            <p:strVal val="#ppt_x"/>
                                          </p:val>
                                        </p:tav>
                                        <p:tav tm="100000">
                                          <p:val>
                                            <p:strVal val="#ppt_x"/>
                                          </p:val>
                                        </p:tav>
                                      </p:tavLst>
                                    </p:anim>
                                    <p:anim calcmode="lin" valueType="num">
                                      <p:cBhvr>
                                        <p:cTn id="14" dur="1000" fill="hold"/>
                                        <p:tgtEl>
                                          <p:spTgt spid="5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1000"/>
                                        <p:tgtEl>
                                          <p:spTgt spid="60"/>
                                        </p:tgtEl>
                                      </p:cBhvr>
                                    </p:animEffect>
                                    <p:anim calcmode="lin" valueType="num">
                                      <p:cBhvr>
                                        <p:cTn id="18" dur="1000" fill="hold"/>
                                        <p:tgtEl>
                                          <p:spTgt spid="60"/>
                                        </p:tgtEl>
                                        <p:attrNameLst>
                                          <p:attrName>ppt_x</p:attrName>
                                        </p:attrNameLst>
                                      </p:cBhvr>
                                      <p:tavLst>
                                        <p:tav tm="0">
                                          <p:val>
                                            <p:strVal val="#ppt_x"/>
                                          </p:val>
                                        </p:tav>
                                        <p:tav tm="100000">
                                          <p:val>
                                            <p:strVal val="#ppt_x"/>
                                          </p:val>
                                        </p:tav>
                                      </p:tavLst>
                                    </p:anim>
                                    <p:anim calcmode="lin" valueType="num">
                                      <p:cBhvr>
                                        <p:cTn id="19" dur="1000" fill="hold"/>
                                        <p:tgtEl>
                                          <p:spTgt spid="6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1000"/>
                                        <p:tgtEl>
                                          <p:spTgt spid="63"/>
                                        </p:tgtEl>
                                      </p:cBhvr>
                                    </p:animEffect>
                                    <p:anim calcmode="lin" valueType="num">
                                      <p:cBhvr>
                                        <p:cTn id="23" dur="1000" fill="hold"/>
                                        <p:tgtEl>
                                          <p:spTgt spid="63"/>
                                        </p:tgtEl>
                                        <p:attrNameLst>
                                          <p:attrName>ppt_x</p:attrName>
                                        </p:attrNameLst>
                                      </p:cBhvr>
                                      <p:tavLst>
                                        <p:tav tm="0">
                                          <p:val>
                                            <p:strVal val="#ppt_x"/>
                                          </p:val>
                                        </p:tav>
                                        <p:tav tm="100000">
                                          <p:val>
                                            <p:strVal val="#ppt_x"/>
                                          </p:val>
                                        </p:tav>
                                      </p:tavLst>
                                    </p:anim>
                                    <p:anim calcmode="lin" valueType="num">
                                      <p:cBhvr>
                                        <p:cTn id="24" dur="1000" fill="hold"/>
                                        <p:tgtEl>
                                          <p:spTgt spid="6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animEffect transition="in" filter="fade">
                                      <p:cBhvr>
                                        <p:cTn id="27" dur="1000"/>
                                        <p:tgtEl>
                                          <p:spTgt spid="66"/>
                                        </p:tgtEl>
                                      </p:cBhvr>
                                    </p:animEffect>
                                    <p:anim calcmode="lin" valueType="num">
                                      <p:cBhvr>
                                        <p:cTn id="28" dur="1000" fill="hold"/>
                                        <p:tgtEl>
                                          <p:spTgt spid="66"/>
                                        </p:tgtEl>
                                        <p:attrNameLst>
                                          <p:attrName>ppt_x</p:attrName>
                                        </p:attrNameLst>
                                      </p:cBhvr>
                                      <p:tavLst>
                                        <p:tav tm="0">
                                          <p:val>
                                            <p:strVal val="#ppt_x"/>
                                          </p:val>
                                        </p:tav>
                                        <p:tav tm="100000">
                                          <p:val>
                                            <p:strVal val="#ppt_x"/>
                                          </p:val>
                                        </p:tav>
                                      </p:tavLst>
                                    </p:anim>
                                    <p:anim calcmode="lin" valueType="num">
                                      <p:cBhvr>
                                        <p:cTn id="29" dur="1000" fill="hold"/>
                                        <p:tgtEl>
                                          <p:spTgt spid="6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1000"/>
                                        <p:tgtEl>
                                          <p:spTgt spid="69"/>
                                        </p:tgtEl>
                                      </p:cBhvr>
                                    </p:animEffect>
                                    <p:anim calcmode="lin" valueType="num">
                                      <p:cBhvr>
                                        <p:cTn id="33" dur="1000" fill="hold"/>
                                        <p:tgtEl>
                                          <p:spTgt spid="69"/>
                                        </p:tgtEl>
                                        <p:attrNameLst>
                                          <p:attrName>ppt_x</p:attrName>
                                        </p:attrNameLst>
                                      </p:cBhvr>
                                      <p:tavLst>
                                        <p:tav tm="0">
                                          <p:val>
                                            <p:strVal val="#ppt_x"/>
                                          </p:val>
                                        </p:tav>
                                        <p:tav tm="100000">
                                          <p:val>
                                            <p:strVal val="#ppt_x"/>
                                          </p:val>
                                        </p:tav>
                                      </p:tavLst>
                                    </p:anim>
                                    <p:anim calcmode="lin" valueType="num">
                                      <p:cBhvr>
                                        <p:cTn id="34" dur="1000" fill="hold"/>
                                        <p:tgtEl>
                                          <p:spTgt spid="6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1000"/>
                                        <p:tgtEl>
                                          <p:spTgt spid="72"/>
                                        </p:tgtEl>
                                      </p:cBhvr>
                                    </p:animEffect>
                                    <p:anim calcmode="lin" valueType="num">
                                      <p:cBhvr>
                                        <p:cTn id="38" dur="1000" fill="hold"/>
                                        <p:tgtEl>
                                          <p:spTgt spid="72"/>
                                        </p:tgtEl>
                                        <p:attrNameLst>
                                          <p:attrName>ppt_x</p:attrName>
                                        </p:attrNameLst>
                                      </p:cBhvr>
                                      <p:tavLst>
                                        <p:tav tm="0">
                                          <p:val>
                                            <p:strVal val="#ppt_x"/>
                                          </p:val>
                                        </p:tav>
                                        <p:tav tm="100000">
                                          <p:val>
                                            <p:strVal val="#ppt_x"/>
                                          </p:val>
                                        </p:tav>
                                      </p:tavLst>
                                    </p:anim>
                                    <p:anim calcmode="lin" valueType="num">
                                      <p:cBhvr>
                                        <p:cTn id="39" dur="1000" fill="hold"/>
                                        <p:tgtEl>
                                          <p:spTgt spid="7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fade">
                                      <p:cBhvr>
                                        <p:cTn id="42" dur="1000"/>
                                        <p:tgtEl>
                                          <p:spTgt spid="75"/>
                                        </p:tgtEl>
                                      </p:cBhvr>
                                    </p:animEffect>
                                    <p:anim calcmode="lin" valueType="num">
                                      <p:cBhvr>
                                        <p:cTn id="43" dur="1000" fill="hold"/>
                                        <p:tgtEl>
                                          <p:spTgt spid="75"/>
                                        </p:tgtEl>
                                        <p:attrNameLst>
                                          <p:attrName>ppt_x</p:attrName>
                                        </p:attrNameLst>
                                      </p:cBhvr>
                                      <p:tavLst>
                                        <p:tav tm="0">
                                          <p:val>
                                            <p:strVal val="#ppt_x"/>
                                          </p:val>
                                        </p:tav>
                                        <p:tav tm="100000">
                                          <p:val>
                                            <p:strVal val="#ppt_x"/>
                                          </p:val>
                                        </p:tav>
                                      </p:tavLst>
                                    </p:anim>
                                    <p:anim calcmode="lin" valueType="num">
                                      <p:cBhvr>
                                        <p:cTn id="44" dur="1000" fill="hold"/>
                                        <p:tgtEl>
                                          <p:spTgt spid="7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78"/>
                                        </p:tgtEl>
                                        <p:attrNameLst>
                                          <p:attrName>style.visibility</p:attrName>
                                        </p:attrNameLst>
                                      </p:cBhvr>
                                      <p:to>
                                        <p:strVal val="visible"/>
                                      </p:to>
                                    </p:set>
                                    <p:animEffect transition="in" filter="fade">
                                      <p:cBhvr>
                                        <p:cTn id="47" dur="1000"/>
                                        <p:tgtEl>
                                          <p:spTgt spid="78"/>
                                        </p:tgtEl>
                                      </p:cBhvr>
                                    </p:animEffect>
                                    <p:anim calcmode="lin" valueType="num">
                                      <p:cBhvr>
                                        <p:cTn id="48" dur="1000" fill="hold"/>
                                        <p:tgtEl>
                                          <p:spTgt spid="78"/>
                                        </p:tgtEl>
                                        <p:attrNameLst>
                                          <p:attrName>ppt_x</p:attrName>
                                        </p:attrNameLst>
                                      </p:cBhvr>
                                      <p:tavLst>
                                        <p:tav tm="0">
                                          <p:val>
                                            <p:strVal val="#ppt_x"/>
                                          </p:val>
                                        </p:tav>
                                        <p:tav tm="100000">
                                          <p:val>
                                            <p:strVal val="#ppt_x"/>
                                          </p:val>
                                        </p:tav>
                                      </p:tavLst>
                                    </p:anim>
                                    <p:anim calcmode="lin" valueType="num">
                                      <p:cBhvr>
                                        <p:cTn id="49" dur="1000" fill="hold"/>
                                        <p:tgtEl>
                                          <p:spTgt spid="78"/>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1000"/>
                                        <p:tgtEl>
                                          <p:spTgt spid="3"/>
                                        </p:tgtEl>
                                      </p:cBhvr>
                                    </p:animEffect>
                                    <p:anim calcmode="lin" valueType="num">
                                      <p:cBhvr>
                                        <p:cTn id="53" dur="1000" fill="hold"/>
                                        <p:tgtEl>
                                          <p:spTgt spid="3"/>
                                        </p:tgtEl>
                                        <p:attrNameLst>
                                          <p:attrName>ppt_x</p:attrName>
                                        </p:attrNameLst>
                                      </p:cBhvr>
                                      <p:tavLst>
                                        <p:tav tm="0">
                                          <p:val>
                                            <p:strVal val="#ppt_x"/>
                                          </p:val>
                                        </p:tav>
                                        <p:tav tm="100000">
                                          <p:val>
                                            <p:strVal val="#ppt_x"/>
                                          </p:val>
                                        </p:tav>
                                      </p:tavLst>
                                    </p:anim>
                                    <p:anim calcmode="lin" valueType="num">
                                      <p:cBhvr>
                                        <p:cTn id="54" dur="1000" fill="hold"/>
                                        <p:tgtEl>
                                          <p:spTgt spid="3"/>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1000"/>
                                        <p:tgtEl>
                                          <p:spTgt spid="6"/>
                                        </p:tgtEl>
                                      </p:cBhvr>
                                    </p:animEffect>
                                    <p:anim calcmode="lin" valueType="num">
                                      <p:cBhvr>
                                        <p:cTn id="58" dur="1000" fill="hold"/>
                                        <p:tgtEl>
                                          <p:spTgt spid="6"/>
                                        </p:tgtEl>
                                        <p:attrNameLst>
                                          <p:attrName>ppt_x</p:attrName>
                                        </p:attrNameLst>
                                      </p:cBhvr>
                                      <p:tavLst>
                                        <p:tav tm="0">
                                          <p:val>
                                            <p:strVal val="#ppt_x"/>
                                          </p:val>
                                        </p:tav>
                                        <p:tav tm="100000">
                                          <p:val>
                                            <p:strVal val="#ppt_x"/>
                                          </p:val>
                                        </p:tav>
                                      </p:tavLst>
                                    </p:anim>
                                    <p:anim calcmode="lin" valueType="num">
                                      <p:cBhvr>
                                        <p:cTn id="59" dur="1000" fill="hold"/>
                                        <p:tgtEl>
                                          <p:spTgt spid="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1000"/>
                                        <p:tgtEl>
                                          <p:spTgt spid="5"/>
                                        </p:tgtEl>
                                      </p:cBhvr>
                                    </p:animEffect>
                                    <p:anim calcmode="lin" valueType="num">
                                      <p:cBhvr>
                                        <p:cTn id="63" dur="1000" fill="hold"/>
                                        <p:tgtEl>
                                          <p:spTgt spid="5"/>
                                        </p:tgtEl>
                                        <p:attrNameLst>
                                          <p:attrName>ppt_x</p:attrName>
                                        </p:attrNameLst>
                                      </p:cBhvr>
                                      <p:tavLst>
                                        <p:tav tm="0">
                                          <p:val>
                                            <p:strVal val="#ppt_x"/>
                                          </p:val>
                                        </p:tav>
                                        <p:tav tm="100000">
                                          <p:val>
                                            <p:strVal val="#ppt_x"/>
                                          </p:val>
                                        </p:tav>
                                      </p:tavLst>
                                    </p:anim>
                                    <p:anim calcmode="lin" valueType="num">
                                      <p:cBhvr>
                                        <p:cTn id="6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87FFA-CC94-D6EE-6C89-FE41672A89D2}"/>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9A539329-9A4D-7ED7-89D0-FAE8BD670479}"/>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CD4762E2-6534-BEEB-90B5-2ACB3E6DA348}"/>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F6B00078-3636-DDC7-0F9A-03B6AAF5D826}"/>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noProof="0">
                <a:solidFill>
                  <a:schemeClr val="bg1"/>
                </a:solidFill>
                <a:latin typeface="Segoe UI" panose="020B0502040204020203" pitchFamily="34" charset="0"/>
                <a:cs typeface="Segoe UI" panose="020B0502040204020203" pitchFamily="34" charset="0"/>
              </a:rPr>
              <a:t>IP Firewall para un entorno</a:t>
            </a:r>
          </a:p>
        </p:txBody>
      </p:sp>
      <p:sp>
        <p:nvSpPr>
          <p:cNvPr id="34" name="TextBox 33">
            <a:extLst>
              <a:ext uri="{FF2B5EF4-FFF2-40B4-BE49-F238E27FC236}">
                <a16:creationId xmlns:a16="http://schemas.microsoft.com/office/drawing/2014/main" id="{8118E568-A3DD-E31D-A9F8-252251ABF479}"/>
              </a:ext>
            </a:extLst>
          </p:cNvPr>
          <p:cNvSpPr txBox="1"/>
          <p:nvPr/>
        </p:nvSpPr>
        <p:spPr>
          <a:xfrm>
            <a:off x="1574099" y="5914898"/>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IP firewall in Power Platform environments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2050" name="Picture 2" descr="Diagram illustrating the IP firewall feature in Dataverse.">
            <a:extLst>
              <a:ext uri="{FF2B5EF4-FFF2-40B4-BE49-F238E27FC236}">
                <a16:creationId xmlns:a16="http://schemas.microsoft.com/office/drawing/2014/main" id="{5BF800A0-65C6-2777-C416-0EA1ECD8A8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2285" y="2153311"/>
            <a:ext cx="8047430" cy="357318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Placeholder 2" descr="A person smiling for a picture&#10;&#10;AI-generated content may be incorrect.">
            <a:extLst>
              <a:ext uri="{FF2B5EF4-FFF2-40B4-BE49-F238E27FC236}">
                <a16:creationId xmlns:a16="http://schemas.microsoft.com/office/drawing/2014/main" id="{3A3897CE-CC49-A0F0-6BB0-89CC3B2E20C7}"/>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092429" y="139602"/>
            <a:ext cx="910149" cy="1005840"/>
          </a:xfrm>
          <a:prstGeom prst="ellipse">
            <a:avLst/>
          </a:prstGeom>
          <a:ln>
            <a:noFill/>
          </a:ln>
          <a:effectLst>
            <a:softEdge rad="112500"/>
          </a:effectLst>
        </p:spPr>
      </p:pic>
    </p:spTree>
    <p:extLst>
      <p:ext uri="{BB962C8B-B14F-4D97-AF65-F5344CB8AC3E}">
        <p14:creationId xmlns:p14="http://schemas.microsoft.com/office/powerpoint/2010/main" val="19498382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EF51-78F8-60D7-CCC5-6FE9B1A3AE66}"/>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EDB94B99-6E62-6B7B-1A1D-35E4BC415259}"/>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64EB7B9B-6EE7-4CB2-1FCE-8C88832D26EA}"/>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pic>
        <p:nvPicPr>
          <p:cNvPr id="5" name="Picture 4">
            <a:extLst>
              <a:ext uri="{FF2B5EF4-FFF2-40B4-BE49-F238E27FC236}">
                <a16:creationId xmlns:a16="http://schemas.microsoft.com/office/drawing/2014/main" id="{833A28EF-6C7D-F711-9F48-2BC85BDEFB07}"/>
              </a:ext>
            </a:extLst>
          </p:cNvPr>
          <p:cNvPicPr>
            <a:picLocks noChangeAspect="1"/>
          </p:cNvPicPr>
          <p:nvPr/>
        </p:nvPicPr>
        <p:blipFill>
          <a:blip r:embed="rId3"/>
          <a:stretch>
            <a:fillRect/>
          </a:stretch>
        </p:blipFill>
        <p:spPr>
          <a:xfrm>
            <a:off x="1415846" y="2217096"/>
            <a:ext cx="9841612" cy="4005904"/>
          </a:xfrm>
          <a:prstGeom prst="rect">
            <a:avLst/>
          </a:prstGeom>
        </p:spPr>
      </p:pic>
      <p:sp>
        <p:nvSpPr>
          <p:cNvPr id="6" name="TextBox 5">
            <a:extLst>
              <a:ext uri="{FF2B5EF4-FFF2-40B4-BE49-F238E27FC236}">
                <a16:creationId xmlns:a16="http://schemas.microsoft.com/office/drawing/2014/main" id="{CBEB5D7E-580D-470C-0D7B-F31719AF78C0}"/>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noProof="0">
                <a:solidFill>
                  <a:schemeClr val="bg1"/>
                </a:solidFill>
                <a:latin typeface="Segoe UI" panose="020B0502040204020203" pitchFamily="34" charset="0"/>
                <a:cs typeface="Segoe UI" panose="020B0502040204020203" pitchFamily="34" charset="0"/>
              </a:rPr>
              <a:t>IP Firewall para un entorno o un Grupo de Entornos</a:t>
            </a:r>
          </a:p>
        </p:txBody>
      </p:sp>
      <p:sp>
        <p:nvSpPr>
          <p:cNvPr id="7" name="Speech Bubble: Rectangle with Corners Rounded 6">
            <a:extLst>
              <a:ext uri="{FF2B5EF4-FFF2-40B4-BE49-F238E27FC236}">
                <a16:creationId xmlns:a16="http://schemas.microsoft.com/office/drawing/2014/main" id="{8C661D42-EB4D-EF33-27B3-C866B420243E}"/>
              </a:ext>
            </a:extLst>
          </p:cNvPr>
          <p:cNvSpPr/>
          <p:nvPr/>
        </p:nvSpPr>
        <p:spPr>
          <a:xfrm>
            <a:off x="1502833" y="4338290"/>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&amp; Access</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Management</a:t>
            </a:r>
            <a:endPar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 name="Flowchart: Connector 7">
            <a:extLst>
              <a:ext uri="{FF2B5EF4-FFF2-40B4-BE49-F238E27FC236}">
                <a16:creationId xmlns:a16="http://schemas.microsoft.com/office/drawing/2014/main" id="{9381C2E6-D416-DD1B-D0B1-0314F690160F}"/>
              </a:ext>
            </a:extLst>
          </p:cNvPr>
          <p:cNvSpPr/>
          <p:nvPr/>
        </p:nvSpPr>
        <p:spPr>
          <a:xfrm>
            <a:off x="2131017" y="522014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9" name="Speech Bubble: Rectangle with Corners Rounded 8">
            <a:extLst>
              <a:ext uri="{FF2B5EF4-FFF2-40B4-BE49-F238E27FC236}">
                <a16:creationId xmlns:a16="http://schemas.microsoft.com/office/drawing/2014/main" id="{CE6FA77E-B94B-E547-3550-4A6CF1C44D2B}"/>
              </a:ext>
            </a:extLst>
          </p:cNvPr>
          <p:cNvSpPr/>
          <p:nvPr/>
        </p:nvSpPr>
        <p:spPr>
          <a:xfrm>
            <a:off x="7220645" y="3088567"/>
            <a:ext cx="2494824" cy="789733"/>
          </a:xfrm>
          <a:prstGeom prst="wedgeRoundRectCallout">
            <a:avLst>
              <a:gd name="adj1" fmla="val -86334"/>
              <a:gd name="adj2" fmla="val -3295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IP</a:t>
            </a:r>
            <a:r>
              <a:rPr kumimoji="0" lang="es-E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Firewall habilitado para el entorno</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 name="Flowchart: Connector 9">
            <a:extLst>
              <a:ext uri="{FF2B5EF4-FFF2-40B4-BE49-F238E27FC236}">
                <a16:creationId xmlns:a16="http://schemas.microsoft.com/office/drawing/2014/main" id="{6C5D8EFE-8A76-2B6A-8F6C-FDFF48C421EB}"/>
              </a:ext>
            </a:extLst>
          </p:cNvPr>
          <p:cNvSpPr/>
          <p:nvPr/>
        </p:nvSpPr>
        <p:spPr>
          <a:xfrm>
            <a:off x="9887645" y="327769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sp>
        <p:nvSpPr>
          <p:cNvPr id="11" name="Speech Bubble: Rectangle with Corners Rounded 10">
            <a:extLst>
              <a:ext uri="{FF2B5EF4-FFF2-40B4-BE49-F238E27FC236}">
                <a16:creationId xmlns:a16="http://schemas.microsoft.com/office/drawing/2014/main" id="{361222E7-2D74-42C9-2D6B-87BB8D5AEDF0}"/>
              </a:ext>
            </a:extLst>
          </p:cNvPr>
          <p:cNvSpPr/>
          <p:nvPr/>
        </p:nvSpPr>
        <p:spPr>
          <a:xfrm>
            <a:off x="6809165" y="4540963"/>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Direcciones IP o Rango de Direcciones IP</a:t>
            </a:r>
          </a:p>
        </p:txBody>
      </p:sp>
      <p:sp>
        <p:nvSpPr>
          <p:cNvPr id="12" name="Flowchart: Connector 11">
            <a:extLst>
              <a:ext uri="{FF2B5EF4-FFF2-40B4-BE49-F238E27FC236}">
                <a16:creationId xmlns:a16="http://schemas.microsoft.com/office/drawing/2014/main" id="{EE321F5C-01A9-7EE5-FFEF-EB24D2672325}"/>
              </a:ext>
            </a:extLst>
          </p:cNvPr>
          <p:cNvSpPr/>
          <p:nvPr/>
        </p:nvSpPr>
        <p:spPr>
          <a:xfrm>
            <a:off x="9476165" y="473008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4</a:t>
            </a:r>
            <a:endParaRPr lang="en-US" sz="1400"/>
          </a:p>
        </p:txBody>
      </p:sp>
      <p:sp>
        <p:nvSpPr>
          <p:cNvPr id="14" name="Speech Bubble: Rectangle with Corners Rounded 13">
            <a:extLst>
              <a:ext uri="{FF2B5EF4-FFF2-40B4-BE49-F238E27FC236}">
                <a16:creationId xmlns:a16="http://schemas.microsoft.com/office/drawing/2014/main" id="{056BE8F3-A052-6A03-E5D9-7ED42CAFF859}"/>
              </a:ext>
            </a:extLst>
          </p:cNvPr>
          <p:cNvSpPr/>
          <p:nvPr/>
        </p:nvSpPr>
        <p:spPr>
          <a:xfrm>
            <a:off x="2303736" y="2409713"/>
            <a:ext cx="1849562" cy="600605"/>
          </a:xfrm>
          <a:prstGeom prst="wedgeRoundRectCallout">
            <a:avLst>
              <a:gd name="adj1" fmla="val 29669"/>
              <a:gd name="adj2" fmla="val 122804"/>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IP Firewall</a:t>
            </a:r>
          </a:p>
        </p:txBody>
      </p:sp>
      <p:sp>
        <p:nvSpPr>
          <p:cNvPr id="15" name="Flowchart: Connector 14">
            <a:extLst>
              <a:ext uri="{FF2B5EF4-FFF2-40B4-BE49-F238E27FC236}">
                <a16:creationId xmlns:a16="http://schemas.microsoft.com/office/drawing/2014/main" id="{1BD81505-8955-3653-F345-60553F59903C}"/>
              </a:ext>
            </a:extLst>
          </p:cNvPr>
          <p:cNvSpPr/>
          <p:nvPr/>
        </p:nvSpPr>
        <p:spPr>
          <a:xfrm>
            <a:off x="4245313" y="246507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pic>
        <p:nvPicPr>
          <p:cNvPr id="2" name="Picture 2" descr="Profile photo of Enrique Arribas Bueno">
            <a:extLst>
              <a:ext uri="{FF2B5EF4-FFF2-40B4-BE49-F238E27FC236}">
                <a16:creationId xmlns:a16="http://schemas.microsoft.com/office/drawing/2014/main" id="{041E5A10-3000-017B-C856-B5DDC9376E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40231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ppt_x</p:attrName>
                                        </p:attrNameLst>
                                      </p:cBhvr>
                                      <p:tavLst>
                                        <p:tav tm="0">
                                          <p:val>
                                            <p:strVal val="#ppt_x"/>
                                          </p:val>
                                        </p:tav>
                                        <p:tav tm="100000">
                                          <p:val>
                                            <p:strVal val="#ppt_x"/>
                                          </p:val>
                                        </p:tav>
                                      </p:tavLst>
                                    </p:anim>
                                    <p:anim calcmode="lin" valueType="num">
                                      <p:cBhvr>
                                        <p:cTn id="45" dur="100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4"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D24988-719A-FD5C-A65A-F439190CC5AC}"/>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337C24C3-524D-E815-6EA7-6C4AE60AE9B5}"/>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D19C08A2-D417-65F0-A3AF-5AA0E5A19618}"/>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24B6F199-F855-1437-A32E-AA26B4811161}"/>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noProof="0">
                <a:solidFill>
                  <a:schemeClr val="bg1"/>
                </a:solidFill>
                <a:latin typeface="Segoe UI" panose="020B0502040204020203" pitchFamily="34" charset="0"/>
                <a:cs typeface="Segoe UI" panose="020B0502040204020203" pitchFamily="34" charset="0"/>
              </a:rPr>
              <a:t>IP Firewall para un grupo de entornos</a:t>
            </a:r>
          </a:p>
        </p:txBody>
      </p:sp>
      <p:pic>
        <p:nvPicPr>
          <p:cNvPr id="53" name="Picture 52">
            <a:extLst>
              <a:ext uri="{FF2B5EF4-FFF2-40B4-BE49-F238E27FC236}">
                <a16:creationId xmlns:a16="http://schemas.microsoft.com/office/drawing/2014/main" id="{1A5103C7-5A90-0473-D305-B613B8F66FAA}"/>
              </a:ext>
            </a:extLst>
          </p:cNvPr>
          <p:cNvPicPr>
            <a:picLocks noChangeAspect="1"/>
          </p:cNvPicPr>
          <p:nvPr/>
        </p:nvPicPr>
        <p:blipFill>
          <a:blip r:embed="rId3"/>
          <a:stretch>
            <a:fillRect/>
          </a:stretch>
        </p:blipFill>
        <p:spPr>
          <a:xfrm>
            <a:off x="2235200" y="2050169"/>
            <a:ext cx="8145685" cy="4780548"/>
          </a:xfrm>
          <a:prstGeom prst="rect">
            <a:avLst/>
          </a:prstGeom>
        </p:spPr>
      </p:pic>
      <p:sp>
        <p:nvSpPr>
          <p:cNvPr id="54" name="Speech Bubble: Rectangle with Corners Rounded 53">
            <a:extLst>
              <a:ext uri="{FF2B5EF4-FFF2-40B4-BE49-F238E27FC236}">
                <a16:creationId xmlns:a16="http://schemas.microsoft.com/office/drawing/2014/main" id="{C4B12FBD-D7E9-B60C-0C2F-6832EBF6B81C}"/>
              </a:ext>
            </a:extLst>
          </p:cNvPr>
          <p:cNvSpPr/>
          <p:nvPr/>
        </p:nvSpPr>
        <p:spPr>
          <a:xfrm>
            <a:off x="5095020" y="5507600"/>
            <a:ext cx="2601180" cy="638512"/>
          </a:xfrm>
          <a:prstGeom prst="wedgeRoundRectCallout">
            <a:avLst>
              <a:gd name="adj1" fmla="val -57358"/>
              <a:gd name="adj2" fmla="val -1733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IP</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Firewall settings for the Env. Group</a:t>
            </a:r>
            <a:endPar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55" name="Flowchart: Connector 54">
            <a:extLst>
              <a:ext uri="{FF2B5EF4-FFF2-40B4-BE49-F238E27FC236}">
                <a16:creationId xmlns:a16="http://schemas.microsoft.com/office/drawing/2014/main" id="{AC0F5F9E-99D5-2250-CCF3-9B1AE649C31D}"/>
              </a:ext>
            </a:extLst>
          </p:cNvPr>
          <p:cNvSpPr/>
          <p:nvPr/>
        </p:nvSpPr>
        <p:spPr>
          <a:xfrm>
            <a:off x="6313595" y="622066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56" name="Speech Bubble: Rectangle with Corners Rounded 55">
            <a:extLst>
              <a:ext uri="{FF2B5EF4-FFF2-40B4-BE49-F238E27FC236}">
                <a16:creationId xmlns:a16="http://schemas.microsoft.com/office/drawing/2014/main" id="{6418ECC4-73F7-BAE8-2C89-BA5B66EFAD29}"/>
              </a:ext>
            </a:extLst>
          </p:cNvPr>
          <p:cNvSpPr/>
          <p:nvPr/>
        </p:nvSpPr>
        <p:spPr>
          <a:xfrm>
            <a:off x="7188200" y="2361392"/>
            <a:ext cx="2573867" cy="638512"/>
          </a:xfrm>
          <a:prstGeom prst="wedgeRoundRectCallout">
            <a:avLst>
              <a:gd name="adj1" fmla="val -92389"/>
              <a:gd name="adj2" fmla="val 16017"/>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s-ES" sz="1600">
                <a:solidFill>
                  <a:prstClr val="white"/>
                </a:solidFill>
                <a:latin typeface="Segoe UI" panose="020B0502040204020203" pitchFamily="34" charset="0"/>
                <a:cs typeface="Segoe UI" panose="020B0502040204020203" pitchFamily="34" charset="0"/>
              </a:rPr>
              <a:t>IP Firewall habilitado para el grupo de entornos</a:t>
            </a:r>
          </a:p>
        </p:txBody>
      </p:sp>
      <p:sp>
        <p:nvSpPr>
          <p:cNvPr id="57" name="Flowchart: Connector 56">
            <a:extLst>
              <a:ext uri="{FF2B5EF4-FFF2-40B4-BE49-F238E27FC236}">
                <a16:creationId xmlns:a16="http://schemas.microsoft.com/office/drawing/2014/main" id="{44A1B0A3-7135-559D-2B48-699B842AD1CA}"/>
              </a:ext>
            </a:extLst>
          </p:cNvPr>
          <p:cNvSpPr/>
          <p:nvPr/>
        </p:nvSpPr>
        <p:spPr>
          <a:xfrm>
            <a:off x="9865736" y="247490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59" name="Speech Bubble: Rectangle with Corners Rounded 58">
            <a:extLst>
              <a:ext uri="{FF2B5EF4-FFF2-40B4-BE49-F238E27FC236}">
                <a16:creationId xmlns:a16="http://schemas.microsoft.com/office/drawing/2014/main" id="{8E92F094-24A9-9BF3-E1E9-C871BF6D99BF}"/>
              </a:ext>
            </a:extLst>
          </p:cNvPr>
          <p:cNvSpPr/>
          <p:nvPr/>
        </p:nvSpPr>
        <p:spPr>
          <a:xfrm>
            <a:off x="6493933" y="3897654"/>
            <a:ext cx="2331501" cy="638512"/>
          </a:xfrm>
          <a:prstGeom prst="wedgeRoundRectCallout">
            <a:avLst>
              <a:gd name="adj1" fmla="val -30963"/>
              <a:gd name="adj2" fmla="val -66570"/>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s-ES" sz="1600">
                <a:solidFill>
                  <a:prstClr val="white"/>
                </a:solidFill>
                <a:latin typeface="Segoe UI" panose="020B0502040204020203" pitchFamily="34" charset="0"/>
                <a:cs typeface="Segoe UI" panose="020B0502040204020203" pitchFamily="34" charset="0"/>
              </a:rPr>
              <a:t>Direcciones IP o Rango de Direcciones IP</a:t>
            </a:r>
          </a:p>
        </p:txBody>
      </p:sp>
      <p:sp>
        <p:nvSpPr>
          <p:cNvPr id="60" name="Flowchart: Connector 59">
            <a:extLst>
              <a:ext uri="{FF2B5EF4-FFF2-40B4-BE49-F238E27FC236}">
                <a16:creationId xmlns:a16="http://schemas.microsoft.com/office/drawing/2014/main" id="{6EA299BE-5623-DAC7-9C5C-4C108B1D449D}"/>
              </a:ext>
            </a:extLst>
          </p:cNvPr>
          <p:cNvSpPr/>
          <p:nvPr/>
        </p:nvSpPr>
        <p:spPr>
          <a:xfrm>
            <a:off x="8912236" y="402896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6246985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1000"/>
                                        <p:tgtEl>
                                          <p:spTgt spid="54"/>
                                        </p:tgtEl>
                                      </p:cBhvr>
                                    </p:animEffect>
                                    <p:anim calcmode="lin" valueType="num">
                                      <p:cBhvr>
                                        <p:cTn id="8" dur="1000" fill="hold"/>
                                        <p:tgtEl>
                                          <p:spTgt spid="54"/>
                                        </p:tgtEl>
                                        <p:attrNameLst>
                                          <p:attrName>ppt_x</p:attrName>
                                        </p:attrNameLst>
                                      </p:cBhvr>
                                      <p:tavLst>
                                        <p:tav tm="0">
                                          <p:val>
                                            <p:strVal val="#ppt_x"/>
                                          </p:val>
                                        </p:tav>
                                        <p:tav tm="100000">
                                          <p:val>
                                            <p:strVal val="#ppt_x"/>
                                          </p:val>
                                        </p:tav>
                                      </p:tavLst>
                                    </p:anim>
                                    <p:anim calcmode="lin" valueType="num">
                                      <p:cBhvr>
                                        <p:cTn id="9" dur="1000" fill="hold"/>
                                        <p:tgtEl>
                                          <p:spTgt spid="5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1000"/>
                                        <p:tgtEl>
                                          <p:spTgt spid="55"/>
                                        </p:tgtEl>
                                      </p:cBhvr>
                                    </p:animEffect>
                                    <p:anim calcmode="lin" valueType="num">
                                      <p:cBhvr>
                                        <p:cTn id="13" dur="1000" fill="hold"/>
                                        <p:tgtEl>
                                          <p:spTgt spid="55"/>
                                        </p:tgtEl>
                                        <p:attrNameLst>
                                          <p:attrName>ppt_x</p:attrName>
                                        </p:attrNameLst>
                                      </p:cBhvr>
                                      <p:tavLst>
                                        <p:tav tm="0">
                                          <p:val>
                                            <p:strVal val="#ppt_x"/>
                                          </p:val>
                                        </p:tav>
                                        <p:tav tm="100000">
                                          <p:val>
                                            <p:strVal val="#ppt_x"/>
                                          </p:val>
                                        </p:tav>
                                      </p:tavLst>
                                    </p:anim>
                                    <p:anim calcmode="lin" valueType="num">
                                      <p:cBhvr>
                                        <p:cTn id="14"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1000"/>
                                        <p:tgtEl>
                                          <p:spTgt spid="56"/>
                                        </p:tgtEl>
                                      </p:cBhvr>
                                    </p:animEffect>
                                    <p:anim calcmode="lin" valueType="num">
                                      <p:cBhvr>
                                        <p:cTn id="20" dur="1000" fill="hold"/>
                                        <p:tgtEl>
                                          <p:spTgt spid="56"/>
                                        </p:tgtEl>
                                        <p:attrNameLst>
                                          <p:attrName>ppt_x</p:attrName>
                                        </p:attrNameLst>
                                      </p:cBhvr>
                                      <p:tavLst>
                                        <p:tav tm="0">
                                          <p:val>
                                            <p:strVal val="#ppt_x"/>
                                          </p:val>
                                        </p:tav>
                                        <p:tav tm="100000">
                                          <p:val>
                                            <p:strVal val="#ppt_x"/>
                                          </p:val>
                                        </p:tav>
                                      </p:tavLst>
                                    </p:anim>
                                    <p:anim calcmode="lin" valueType="num">
                                      <p:cBhvr>
                                        <p:cTn id="21" dur="1000" fill="hold"/>
                                        <p:tgtEl>
                                          <p:spTgt spid="5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fade">
                                      <p:cBhvr>
                                        <p:cTn id="24" dur="1000"/>
                                        <p:tgtEl>
                                          <p:spTgt spid="57"/>
                                        </p:tgtEl>
                                      </p:cBhvr>
                                    </p:animEffect>
                                    <p:anim calcmode="lin" valueType="num">
                                      <p:cBhvr>
                                        <p:cTn id="25" dur="1000" fill="hold"/>
                                        <p:tgtEl>
                                          <p:spTgt spid="57"/>
                                        </p:tgtEl>
                                        <p:attrNameLst>
                                          <p:attrName>ppt_x</p:attrName>
                                        </p:attrNameLst>
                                      </p:cBhvr>
                                      <p:tavLst>
                                        <p:tav tm="0">
                                          <p:val>
                                            <p:strVal val="#ppt_x"/>
                                          </p:val>
                                        </p:tav>
                                        <p:tav tm="100000">
                                          <p:val>
                                            <p:strVal val="#ppt_x"/>
                                          </p:val>
                                        </p:tav>
                                      </p:tavLst>
                                    </p:anim>
                                    <p:anim calcmode="lin" valueType="num">
                                      <p:cBhvr>
                                        <p:cTn id="26"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fade">
                                      <p:cBhvr>
                                        <p:cTn id="31" dur="1000"/>
                                        <p:tgtEl>
                                          <p:spTgt spid="59"/>
                                        </p:tgtEl>
                                      </p:cBhvr>
                                    </p:animEffect>
                                    <p:anim calcmode="lin" valueType="num">
                                      <p:cBhvr>
                                        <p:cTn id="32" dur="1000" fill="hold"/>
                                        <p:tgtEl>
                                          <p:spTgt spid="59"/>
                                        </p:tgtEl>
                                        <p:attrNameLst>
                                          <p:attrName>ppt_x</p:attrName>
                                        </p:attrNameLst>
                                      </p:cBhvr>
                                      <p:tavLst>
                                        <p:tav tm="0">
                                          <p:val>
                                            <p:strVal val="#ppt_x"/>
                                          </p:val>
                                        </p:tav>
                                        <p:tav tm="100000">
                                          <p:val>
                                            <p:strVal val="#ppt_x"/>
                                          </p:val>
                                        </p:tav>
                                      </p:tavLst>
                                    </p:anim>
                                    <p:anim calcmode="lin" valueType="num">
                                      <p:cBhvr>
                                        <p:cTn id="33" dur="1000" fill="hold"/>
                                        <p:tgtEl>
                                          <p:spTgt spid="5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fade">
                                      <p:cBhvr>
                                        <p:cTn id="36" dur="1000"/>
                                        <p:tgtEl>
                                          <p:spTgt spid="60"/>
                                        </p:tgtEl>
                                      </p:cBhvr>
                                    </p:animEffect>
                                    <p:anim calcmode="lin" valueType="num">
                                      <p:cBhvr>
                                        <p:cTn id="37" dur="1000" fill="hold"/>
                                        <p:tgtEl>
                                          <p:spTgt spid="60"/>
                                        </p:tgtEl>
                                        <p:attrNameLst>
                                          <p:attrName>ppt_x</p:attrName>
                                        </p:attrNameLst>
                                      </p:cBhvr>
                                      <p:tavLst>
                                        <p:tav tm="0">
                                          <p:val>
                                            <p:strVal val="#ppt_x"/>
                                          </p:val>
                                        </p:tav>
                                        <p:tav tm="100000">
                                          <p:val>
                                            <p:strVal val="#ppt_x"/>
                                          </p:val>
                                        </p:tav>
                                      </p:tavLst>
                                    </p:anim>
                                    <p:anim calcmode="lin" valueType="num">
                                      <p:cBhvr>
                                        <p:cTn id="38"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animBg="1"/>
      <p:bldP spid="59" grpId="0" animBg="1"/>
      <p:bldP spid="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04385-BCB1-AC71-EB70-56011AE23476}"/>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1EE3FA8A-780A-EA8A-17A8-9A3D1C57C1C4}"/>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9459FD89-0706-B88D-6A09-9DE943A74081}"/>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69329989-DB71-C469-3CFD-8F73603F1EAD}"/>
              </a:ext>
            </a:extLst>
          </p:cNvPr>
          <p:cNvSpPr txBox="1"/>
          <p:nvPr/>
        </p:nvSpPr>
        <p:spPr>
          <a:xfrm>
            <a:off x="1415846" y="1715334"/>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Limit sharing - Power Platform | Microsoft Learn</a:t>
            </a:r>
            <a:r>
              <a:rPr lang="es-ES" sz="1600">
                <a:solidFill>
                  <a:schemeClr val="bg1"/>
                </a:solidFill>
                <a:latin typeface="Segoe UI" panose="020B0502040204020203" pitchFamily="34" charset="0"/>
                <a:cs typeface="Segoe UI" panose="020B0502040204020203" pitchFamily="34" charset="0"/>
              </a:rPr>
              <a:t> – Para un entorno o un Grupo de Entornos</a:t>
            </a:r>
            <a:endParaRPr lang="es-ES" sz="1600" noProof="0">
              <a:solidFill>
                <a:schemeClr val="bg1"/>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7143030B-6C4B-E82A-8E47-1051B73014FC}"/>
              </a:ext>
            </a:extLst>
          </p:cNvPr>
          <p:cNvPicPr>
            <a:picLocks noChangeAspect="1"/>
          </p:cNvPicPr>
          <p:nvPr/>
        </p:nvPicPr>
        <p:blipFill>
          <a:blip r:embed="rId4"/>
          <a:stretch>
            <a:fillRect/>
          </a:stretch>
        </p:blipFill>
        <p:spPr>
          <a:xfrm>
            <a:off x="1951986" y="2076207"/>
            <a:ext cx="8187351" cy="4805001"/>
          </a:xfrm>
          <a:prstGeom prst="rect">
            <a:avLst/>
          </a:prstGeom>
        </p:spPr>
      </p:pic>
      <p:sp>
        <p:nvSpPr>
          <p:cNvPr id="9" name="Speech Bubble: Rectangle with Corners Rounded 8">
            <a:extLst>
              <a:ext uri="{FF2B5EF4-FFF2-40B4-BE49-F238E27FC236}">
                <a16:creationId xmlns:a16="http://schemas.microsoft.com/office/drawing/2014/main" id="{9DB6E434-E395-160C-B11C-18A532786549}"/>
              </a:ext>
            </a:extLst>
          </p:cNvPr>
          <p:cNvSpPr/>
          <p:nvPr/>
        </p:nvSpPr>
        <p:spPr>
          <a:xfrm>
            <a:off x="2023907" y="3882206"/>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22" name="Flowchart: Connector 21">
            <a:extLst>
              <a:ext uri="{FF2B5EF4-FFF2-40B4-BE49-F238E27FC236}">
                <a16:creationId xmlns:a16="http://schemas.microsoft.com/office/drawing/2014/main" id="{2F8490E8-68B5-E599-73BE-D583656F04D9}"/>
              </a:ext>
            </a:extLst>
          </p:cNvPr>
          <p:cNvSpPr/>
          <p:nvPr/>
        </p:nvSpPr>
        <p:spPr>
          <a:xfrm>
            <a:off x="2652091" y="476406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23" name="Speech Bubble: Rectangle with Corners Rounded 22">
            <a:extLst>
              <a:ext uri="{FF2B5EF4-FFF2-40B4-BE49-F238E27FC236}">
                <a16:creationId xmlns:a16="http://schemas.microsoft.com/office/drawing/2014/main" id="{D46F77B4-5923-27FA-BE1E-EEF864F1A03E}"/>
              </a:ext>
            </a:extLst>
          </p:cNvPr>
          <p:cNvSpPr/>
          <p:nvPr/>
        </p:nvSpPr>
        <p:spPr>
          <a:xfrm>
            <a:off x="1473419" y="5444587"/>
            <a:ext cx="2494824" cy="657180"/>
          </a:xfrm>
          <a:prstGeom prst="wedgeRoundRectCallout">
            <a:avLst>
              <a:gd name="adj1" fmla="val 38605"/>
              <a:gd name="adj2" fmla="val -8628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solidFill>
                  <a:prstClr val="white"/>
                </a:solidFill>
                <a:latin typeface="Segoe UI" panose="020B0502040204020203" pitchFamily="34" charset="0"/>
                <a:cs typeface="Segoe UI" panose="020B0502040204020203" pitchFamily="34" charset="0"/>
              </a:rPr>
              <a:t>Manage sharing </a:t>
            </a: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setting</a:t>
            </a:r>
          </a:p>
        </p:txBody>
      </p:sp>
      <p:sp>
        <p:nvSpPr>
          <p:cNvPr id="24" name="Flowchart: Connector 23">
            <a:extLst>
              <a:ext uri="{FF2B5EF4-FFF2-40B4-BE49-F238E27FC236}">
                <a16:creationId xmlns:a16="http://schemas.microsoft.com/office/drawing/2014/main" id="{E17E001A-80A3-A2B5-4F94-5B57FBCC68DA}"/>
              </a:ext>
            </a:extLst>
          </p:cNvPr>
          <p:cNvSpPr/>
          <p:nvPr/>
        </p:nvSpPr>
        <p:spPr>
          <a:xfrm>
            <a:off x="4045438" y="555485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25" name="Speech Bubble: Rectangle with Corners Rounded 24">
            <a:extLst>
              <a:ext uri="{FF2B5EF4-FFF2-40B4-BE49-F238E27FC236}">
                <a16:creationId xmlns:a16="http://schemas.microsoft.com/office/drawing/2014/main" id="{A15B87B0-88D0-E3F9-727E-BE87413B5C79}"/>
              </a:ext>
            </a:extLst>
          </p:cNvPr>
          <p:cNvSpPr/>
          <p:nvPr/>
        </p:nvSpPr>
        <p:spPr>
          <a:xfrm>
            <a:off x="7644513" y="2637149"/>
            <a:ext cx="2494824" cy="789733"/>
          </a:xfrm>
          <a:prstGeom prst="wedgeRoundRectCallout">
            <a:avLst>
              <a:gd name="adj1" fmla="val -72373"/>
              <a:gd name="adj2" fmla="val -715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Canvas Apps Sharing settings</a:t>
            </a:r>
          </a:p>
        </p:txBody>
      </p:sp>
      <p:sp>
        <p:nvSpPr>
          <p:cNvPr id="26" name="Flowchart: Connector 25">
            <a:extLst>
              <a:ext uri="{FF2B5EF4-FFF2-40B4-BE49-F238E27FC236}">
                <a16:creationId xmlns:a16="http://schemas.microsoft.com/office/drawing/2014/main" id="{EA8C5A9A-3205-56F0-E368-F7F5AEC95A20}"/>
              </a:ext>
            </a:extLst>
          </p:cNvPr>
          <p:cNvSpPr/>
          <p:nvPr/>
        </p:nvSpPr>
        <p:spPr>
          <a:xfrm>
            <a:off x="10311513" y="282627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sp>
        <p:nvSpPr>
          <p:cNvPr id="27" name="Speech Bubble: Rectangle with Corners Rounded 26">
            <a:extLst>
              <a:ext uri="{FF2B5EF4-FFF2-40B4-BE49-F238E27FC236}">
                <a16:creationId xmlns:a16="http://schemas.microsoft.com/office/drawing/2014/main" id="{3D7CFD5B-6059-0E5F-7E33-D1833DFF502B}"/>
              </a:ext>
            </a:extLst>
          </p:cNvPr>
          <p:cNvSpPr/>
          <p:nvPr/>
        </p:nvSpPr>
        <p:spPr>
          <a:xfrm>
            <a:off x="7644513" y="3591096"/>
            <a:ext cx="2494824" cy="789733"/>
          </a:xfrm>
          <a:prstGeom prst="wedgeRoundRectCallout">
            <a:avLst>
              <a:gd name="adj1" fmla="val -74216"/>
              <a:gd name="adj2" fmla="val -496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Power Automate Sharing settings</a:t>
            </a:r>
          </a:p>
        </p:txBody>
      </p:sp>
      <p:sp>
        <p:nvSpPr>
          <p:cNvPr id="28" name="Flowchart: Connector 27">
            <a:extLst>
              <a:ext uri="{FF2B5EF4-FFF2-40B4-BE49-F238E27FC236}">
                <a16:creationId xmlns:a16="http://schemas.microsoft.com/office/drawing/2014/main" id="{11B2F6AA-E900-420E-9649-C8F853EA6E4B}"/>
              </a:ext>
            </a:extLst>
          </p:cNvPr>
          <p:cNvSpPr/>
          <p:nvPr/>
        </p:nvSpPr>
        <p:spPr>
          <a:xfrm>
            <a:off x="10311513" y="378022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4</a:t>
            </a:r>
            <a:endParaRPr lang="en-US" sz="1400">
              <a:latin typeface="Segoe UI" panose="020B0502040204020203" pitchFamily="34" charset="0"/>
              <a:cs typeface="Segoe UI" panose="020B0502040204020203" pitchFamily="34" charset="0"/>
            </a:endParaRPr>
          </a:p>
        </p:txBody>
      </p:sp>
      <p:sp>
        <p:nvSpPr>
          <p:cNvPr id="29" name="Speech Bubble: Rectangle with Corners Rounded 28">
            <a:extLst>
              <a:ext uri="{FF2B5EF4-FFF2-40B4-BE49-F238E27FC236}">
                <a16:creationId xmlns:a16="http://schemas.microsoft.com/office/drawing/2014/main" id="{EF201FF3-3E12-3D31-6B02-3AEF4DFD6FA0}"/>
              </a:ext>
            </a:extLst>
          </p:cNvPr>
          <p:cNvSpPr/>
          <p:nvPr/>
        </p:nvSpPr>
        <p:spPr>
          <a:xfrm>
            <a:off x="7644513" y="4575944"/>
            <a:ext cx="2494824" cy="789733"/>
          </a:xfrm>
          <a:prstGeom prst="wedgeRoundRectCallout">
            <a:avLst>
              <a:gd name="adj1" fmla="val -74216"/>
              <a:gd name="adj2" fmla="val -4967"/>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Copilot Studio Sharing settings</a:t>
            </a:r>
          </a:p>
        </p:txBody>
      </p:sp>
      <p:sp>
        <p:nvSpPr>
          <p:cNvPr id="30" name="Flowchart: Connector 29">
            <a:extLst>
              <a:ext uri="{FF2B5EF4-FFF2-40B4-BE49-F238E27FC236}">
                <a16:creationId xmlns:a16="http://schemas.microsoft.com/office/drawing/2014/main" id="{C2124B5D-3E0E-28FB-4A45-C4AB32819DA8}"/>
              </a:ext>
            </a:extLst>
          </p:cNvPr>
          <p:cNvSpPr/>
          <p:nvPr/>
        </p:nvSpPr>
        <p:spPr>
          <a:xfrm>
            <a:off x="10311513" y="476507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5</a:t>
            </a:r>
            <a:endParaRPr lang="en-US" sz="1400">
              <a:latin typeface="Segoe UI" panose="020B0502040204020203" pitchFamily="34" charset="0"/>
              <a:cs typeface="Segoe UI" panose="020B0502040204020203" pitchFamily="34" charset="0"/>
            </a:endParaRPr>
          </a:p>
        </p:txBody>
      </p:sp>
      <p:pic>
        <p:nvPicPr>
          <p:cNvPr id="3" name="Picture 2" descr="Profile photo of Enrique Arribas Bueno">
            <a:extLst>
              <a:ext uri="{FF2B5EF4-FFF2-40B4-BE49-F238E27FC236}">
                <a16:creationId xmlns:a16="http://schemas.microsoft.com/office/drawing/2014/main" id="{427EA4C9-4733-C3B1-D3F4-514CAB735C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00977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anim calcmode="lin" valueType="num">
                                      <p:cBhvr>
                                        <p:cTn id="32" dur="1000" fill="hold"/>
                                        <p:tgtEl>
                                          <p:spTgt spid="26"/>
                                        </p:tgtEl>
                                        <p:attrNameLst>
                                          <p:attrName>ppt_x</p:attrName>
                                        </p:attrNameLst>
                                      </p:cBhvr>
                                      <p:tavLst>
                                        <p:tav tm="0">
                                          <p:val>
                                            <p:strVal val="#ppt_x"/>
                                          </p:val>
                                        </p:tav>
                                        <p:tav tm="100000">
                                          <p:val>
                                            <p:strVal val="#ppt_x"/>
                                          </p:val>
                                        </p:tav>
                                      </p:tavLst>
                                    </p:anim>
                                    <p:anim calcmode="lin" valueType="num">
                                      <p:cBhvr>
                                        <p:cTn id="33" dur="100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1000"/>
                                        <p:tgtEl>
                                          <p:spTgt spid="25"/>
                                        </p:tgtEl>
                                      </p:cBhvr>
                                    </p:animEffect>
                                    <p:anim calcmode="lin" valueType="num">
                                      <p:cBhvr>
                                        <p:cTn id="37" dur="1000" fill="hold"/>
                                        <p:tgtEl>
                                          <p:spTgt spid="25"/>
                                        </p:tgtEl>
                                        <p:attrNameLst>
                                          <p:attrName>ppt_x</p:attrName>
                                        </p:attrNameLst>
                                      </p:cBhvr>
                                      <p:tavLst>
                                        <p:tav tm="0">
                                          <p:val>
                                            <p:strVal val="#ppt_x"/>
                                          </p:val>
                                        </p:tav>
                                        <p:tav tm="100000">
                                          <p:val>
                                            <p:strVal val="#ppt_x"/>
                                          </p:val>
                                        </p:tav>
                                      </p:tavLst>
                                    </p:anim>
                                    <p:anim calcmode="lin" valueType="num">
                                      <p:cBhvr>
                                        <p:cTn id="3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1000"/>
                                        <p:tgtEl>
                                          <p:spTgt spid="28"/>
                                        </p:tgtEl>
                                      </p:cBhvr>
                                    </p:animEffect>
                                    <p:anim calcmode="lin" valueType="num">
                                      <p:cBhvr>
                                        <p:cTn id="44" dur="1000" fill="hold"/>
                                        <p:tgtEl>
                                          <p:spTgt spid="28"/>
                                        </p:tgtEl>
                                        <p:attrNameLst>
                                          <p:attrName>ppt_x</p:attrName>
                                        </p:attrNameLst>
                                      </p:cBhvr>
                                      <p:tavLst>
                                        <p:tav tm="0">
                                          <p:val>
                                            <p:strVal val="#ppt_x"/>
                                          </p:val>
                                        </p:tav>
                                        <p:tav tm="100000">
                                          <p:val>
                                            <p:strVal val="#ppt_x"/>
                                          </p:val>
                                        </p:tav>
                                      </p:tavLst>
                                    </p:anim>
                                    <p:anim calcmode="lin" valueType="num">
                                      <p:cBhvr>
                                        <p:cTn id="45" dur="1000" fill="hold"/>
                                        <p:tgtEl>
                                          <p:spTgt spid="2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1000"/>
                                        <p:tgtEl>
                                          <p:spTgt spid="27"/>
                                        </p:tgtEl>
                                      </p:cBhvr>
                                    </p:animEffect>
                                    <p:anim calcmode="lin" valueType="num">
                                      <p:cBhvr>
                                        <p:cTn id="49" dur="1000" fill="hold"/>
                                        <p:tgtEl>
                                          <p:spTgt spid="27"/>
                                        </p:tgtEl>
                                        <p:attrNameLst>
                                          <p:attrName>ppt_x</p:attrName>
                                        </p:attrNameLst>
                                      </p:cBhvr>
                                      <p:tavLst>
                                        <p:tav tm="0">
                                          <p:val>
                                            <p:strVal val="#ppt_x"/>
                                          </p:val>
                                        </p:tav>
                                        <p:tav tm="100000">
                                          <p:val>
                                            <p:strVal val="#ppt_x"/>
                                          </p:val>
                                        </p:tav>
                                      </p:tavLst>
                                    </p:anim>
                                    <p:anim calcmode="lin" valueType="num">
                                      <p:cBhvr>
                                        <p:cTn id="5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1000"/>
                                        <p:tgtEl>
                                          <p:spTgt spid="30"/>
                                        </p:tgtEl>
                                      </p:cBhvr>
                                    </p:animEffect>
                                    <p:anim calcmode="lin" valueType="num">
                                      <p:cBhvr>
                                        <p:cTn id="56" dur="1000" fill="hold"/>
                                        <p:tgtEl>
                                          <p:spTgt spid="30"/>
                                        </p:tgtEl>
                                        <p:attrNameLst>
                                          <p:attrName>ppt_x</p:attrName>
                                        </p:attrNameLst>
                                      </p:cBhvr>
                                      <p:tavLst>
                                        <p:tav tm="0">
                                          <p:val>
                                            <p:strVal val="#ppt_x"/>
                                          </p:val>
                                        </p:tav>
                                        <p:tav tm="100000">
                                          <p:val>
                                            <p:strVal val="#ppt_x"/>
                                          </p:val>
                                        </p:tav>
                                      </p:tavLst>
                                    </p:anim>
                                    <p:anim calcmode="lin" valueType="num">
                                      <p:cBhvr>
                                        <p:cTn id="57" dur="1000" fill="hold"/>
                                        <p:tgtEl>
                                          <p:spTgt spid="3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1000"/>
                                        <p:tgtEl>
                                          <p:spTgt spid="29"/>
                                        </p:tgtEl>
                                      </p:cBhvr>
                                    </p:animEffect>
                                    <p:anim calcmode="lin" valueType="num">
                                      <p:cBhvr>
                                        <p:cTn id="61" dur="1000" fill="hold"/>
                                        <p:tgtEl>
                                          <p:spTgt spid="29"/>
                                        </p:tgtEl>
                                        <p:attrNameLst>
                                          <p:attrName>ppt_x</p:attrName>
                                        </p:attrNameLst>
                                      </p:cBhvr>
                                      <p:tavLst>
                                        <p:tav tm="0">
                                          <p:val>
                                            <p:strVal val="#ppt_x"/>
                                          </p:val>
                                        </p:tav>
                                        <p:tav tm="100000">
                                          <p:val>
                                            <p:strVal val="#ppt_x"/>
                                          </p:val>
                                        </p:tav>
                                      </p:tavLst>
                                    </p:anim>
                                    <p:anim calcmode="lin" valueType="num">
                                      <p:cBhvr>
                                        <p:cTn id="62"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C774E-49CD-5722-9DF4-4B823639C16D}"/>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72623F65-E60F-58C8-E3F0-B51C4182F973}"/>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6B5DB817-6F8C-7440-80FC-0413D16F96F4}"/>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081E7B1E-AF75-59E5-E788-F3D43FA69222}"/>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Efecto de la configuración de compartir en una App cuando se incumple la configuración aplicada </a:t>
            </a:r>
            <a:endParaRPr lang="es-ES" sz="1600" noProof="0">
              <a:solidFill>
                <a:schemeClr val="bg1"/>
              </a:solidFill>
              <a:latin typeface="Segoe UI" panose="020B0502040204020203" pitchFamily="34" charset="0"/>
              <a:cs typeface="Segoe UI" panose="020B0502040204020203" pitchFamily="34" charset="0"/>
            </a:endParaRPr>
          </a:p>
        </p:txBody>
      </p:sp>
      <p:pic>
        <p:nvPicPr>
          <p:cNvPr id="22" name="Picture 2" descr="If a user tries to share a canvas app, solution-aware cloud flow, or agent that contradicts the sharing rules, an error message is displayed.">
            <a:extLst>
              <a:ext uri="{FF2B5EF4-FFF2-40B4-BE49-F238E27FC236}">
                <a16:creationId xmlns:a16="http://schemas.microsoft.com/office/drawing/2014/main" id="{3E5E2A57-FDAE-D17A-1360-C98B6C48D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875" y="2366202"/>
            <a:ext cx="11430000" cy="17303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Profile photo of Enrique Arribas Bueno">
            <a:extLst>
              <a:ext uri="{FF2B5EF4-FFF2-40B4-BE49-F238E27FC236}">
                <a16:creationId xmlns:a16="http://schemas.microsoft.com/office/drawing/2014/main" id="{89C7F413-BCDC-922B-BD4C-7D86EB40D3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6359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22416-11BA-0B4D-EBEF-FEA693771D7B}"/>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0A50E921-C233-B488-0DD0-177CF780A661}"/>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F2CBD5A7-0F95-A7BC-E250-08294F6224F6}"/>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C9670E8D-E92E-8267-2B3C-C969D70B2E4A}"/>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Safeguarding Dataverse sessions with IP cookie binding - Power Platform | Microsoft Learn</a:t>
            </a:r>
            <a:r>
              <a:rPr lang="en-US" sz="1600">
                <a:latin typeface="Segoe UI" panose="020B0502040204020203" pitchFamily="34" charset="0"/>
                <a:cs typeface="Segoe UI" panose="020B0502040204020203" pitchFamily="34" charset="0"/>
              </a:rPr>
              <a:t> </a:t>
            </a:r>
            <a:r>
              <a:rPr lang="es-ES" sz="1600">
                <a:solidFill>
                  <a:schemeClr val="bg1"/>
                </a:solidFill>
                <a:latin typeface="Segoe UI" panose="020B0502040204020203" pitchFamily="34" charset="0"/>
                <a:cs typeface="Segoe UI" panose="020B0502040204020203" pitchFamily="34" charset="0"/>
              </a:rPr>
              <a:t>– Para un entorno o un Grupo de Entornos</a:t>
            </a:r>
            <a:endParaRPr lang="es-ES" sz="1600" noProof="0">
              <a:solidFill>
                <a:schemeClr val="bg1"/>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BA264C54-C396-D4C3-A170-0EB3C89D9763}"/>
              </a:ext>
            </a:extLst>
          </p:cNvPr>
          <p:cNvPicPr>
            <a:picLocks noChangeAspect="1"/>
          </p:cNvPicPr>
          <p:nvPr/>
        </p:nvPicPr>
        <p:blipFill>
          <a:blip r:embed="rId4"/>
          <a:stretch>
            <a:fillRect/>
          </a:stretch>
        </p:blipFill>
        <p:spPr>
          <a:xfrm>
            <a:off x="-30863" y="2449067"/>
            <a:ext cx="9888264" cy="2929059"/>
          </a:xfrm>
          <a:prstGeom prst="rect">
            <a:avLst/>
          </a:prstGeom>
        </p:spPr>
      </p:pic>
      <p:pic>
        <p:nvPicPr>
          <p:cNvPr id="22" name="Picture 21">
            <a:extLst>
              <a:ext uri="{FF2B5EF4-FFF2-40B4-BE49-F238E27FC236}">
                <a16:creationId xmlns:a16="http://schemas.microsoft.com/office/drawing/2014/main" id="{CC85BFD9-306A-BAC8-A9EB-8B18CF6454C3}"/>
              </a:ext>
            </a:extLst>
          </p:cNvPr>
          <p:cNvPicPr>
            <a:picLocks noChangeAspect="1"/>
          </p:cNvPicPr>
          <p:nvPr/>
        </p:nvPicPr>
        <p:blipFill>
          <a:blip r:embed="rId5"/>
          <a:stretch>
            <a:fillRect/>
          </a:stretch>
        </p:blipFill>
        <p:spPr>
          <a:xfrm>
            <a:off x="3894668" y="4243714"/>
            <a:ext cx="8204200" cy="2505452"/>
          </a:xfrm>
          <a:prstGeom prst="rect">
            <a:avLst/>
          </a:prstGeom>
        </p:spPr>
      </p:pic>
      <p:sp>
        <p:nvSpPr>
          <p:cNvPr id="23" name="Speech Bubble: Rectangle with Corners Rounded 22">
            <a:extLst>
              <a:ext uri="{FF2B5EF4-FFF2-40B4-BE49-F238E27FC236}">
                <a16:creationId xmlns:a16="http://schemas.microsoft.com/office/drawing/2014/main" id="{5BD6A70B-6EFC-3238-5E02-FE9B32DFF190}"/>
              </a:ext>
            </a:extLst>
          </p:cNvPr>
          <p:cNvSpPr/>
          <p:nvPr/>
        </p:nvSpPr>
        <p:spPr>
          <a:xfrm>
            <a:off x="93132" y="4203104"/>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24" name="Flowchart: Connector 23">
            <a:extLst>
              <a:ext uri="{FF2B5EF4-FFF2-40B4-BE49-F238E27FC236}">
                <a16:creationId xmlns:a16="http://schemas.microsoft.com/office/drawing/2014/main" id="{A6E71F03-9391-784A-FFAA-D502A649CE65}"/>
              </a:ext>
            </a:extLst>
          </p:cNvPr>
          <p:cNvSpPr/>
          <p:nvPr/>
        </p:nvSpPr>
        <p:spPr>
          <a:xfrm>
            <a:off x="721316" y="508496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25" name="Speech Bubble: Rectangle with Corners Rounded 24">
            <a:extLst>
              <a:ext uri="{FF2B5EF4-FFF2-40B4-BE49-F238E27FC236}">
                <a16:creationId xmlns:a16="http://schemas.microsoft.com/office/drawing/2014/main" id="{5F061802-808F-39C9-D5A6-CCA5788BE71D}"/>
              </a:ext>
            </a:extLst>
          </p:cNvPr>
          <p:cNvSpPr/>
          <p:nvPr/>
        </p:nvSpPr>
        <p:spPr>
          <a:xfrm>
            <a:off x="1671269" y="5430807"/>
            <a:ext cx="2494824" cy="541810"/>
          </a:xfrm>
          <a:prstGeom prst="wedgeRoundRectCallout">
            <a:avLst>
              <a:gd name="adj1" fmla="val -16549"/>
              <a:gd name="adj2" fmla="val -8718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IP-</a:t>
            </a: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addres</a:t>
            </a:r>
            <a:r>
              <a:rPr lang="en-US" sz="1600">
                <a:solidFill>
                  <a:prstClr val="white"/>
                </a:solidFill>
                <a:latin typeface="Calibri" panose="020F0502020204030204"/>
                <a:cs typeface="Segoe UI" panose="020B0502040204020203" pitchFamily="34" charset="0"/>
              </a:rPr>
              <a:t>s cookie binding</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26" name="Flowchart: Connector 25">
            <a:extLst>
              <a:ext uri="{FF2B5EF4-FFF2-40B4-BE49-F238E27FC236}">
                <a16:creationId xmlns:a16="http://schemas.microsoft.com/office/drawing/2014/main" id="{E6ED64B1-315A-9717-A125-A010137CF2B9}"/>
              </a:ext>
            </a:extLst>
          </p:cNvPr>
          <p:cNvSpPr/>
          <p:nvPr/>
        </p:nvSpPr>
        <p:spPr>
          <a:xfrm>
            <a:off x="2712941" y="609093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27" name="Speech Bubble: Rectangle with Corners Rounded 26">
            <a:extLst>
              <a:ext uri="{FF2B5EF4-FFF2-40B4-BE49-F238E27FC236}">
                <a16:creationId xmlns:a16="http://schemas.microsoft.com/office/drawing/2014/main" id="{8178CCA8-861F-8457-BC75-316A5C80F53E}"/>
              </a:ext>
            </a:extLst>
          </p:cNvPr>
          <p:cNvSpPr/>
          <p:nvPr/>
        </p:nvSpPr>
        <p:spPr>
          <a:xfrm>
            <a:off x="4922409" y="3274193"/>
            <a:ext cx="2494824" cy="541810"/>
          </a:xfrm>
          <a:prstGeom prst="wedgeRoundRectCallout">
            <a:avLst>
              <a:gd name="adj1" fmla="val -62025"/>
              <a:gd name="adj2" fmla="val -4811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Habilitar</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a:t>
            </a: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Deshabilitar</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la </a:t>
            </a: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configuración</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28" name="Flowchart: Connector 27">
            <a:extLst>
              <a:ext uri="{FF2B5EF4-FFF2-40B4-BE49-F238E27FC236}">
                <a16:creationId xmlns:a16="http://schemas.microsoft.com/office/drawing/2014/main" id="{8D6A6338-DAB1-4025-0EF4-AA1140E7D5C2}"/>
              </a:ext>
            </a:extLst>
          </p:cNvPr>
          <p:cNvSpPr/>
          <p:nvPr/>
        </p:nvSpPr>
        <p:spPr>
          <a:xfrm>
            <a:off x="7554380" y="333935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pic>
        <p:nvPicPr>
          <p:cNvPr id="4" name="Picture Placeholder 2" descr="A person smiling for a picture&#10;&#10;AI-generated content may be incorrect.">
            <a:extLst>
              <a:ext uri="{FF2B5EF4-FFF2-40B4-BE49-F238E27FC236}">
                <a16:creationId xmlns:a16="http://schemas.microsoft.com/office/drawing/2014/main" id="{991BF854-4654-7C6F-3052-AB3FD3BD2428}"/>
              </a:ext>
            </a:extLst>
          </p:cNvPr>
          <p:cNvPicPr>
            <a:picLocks noChangeAspect="1"/>
          </p:cNvPicPr>
          <p:nvPr/>
        </p:nvPicPr>
        <p:blipFill>
          <a:blip r:embed="rId6">
            <a:extLst>
              <a:ext uri="{28A0092B-C50C-407E-A947-70E740481C1C}">
                <a14:useLocalDpi xmlns:a14="http://schemas.microsoft.com/office/drawing/2010/main" val="0"/>
              </a:ext>
            </a:extLst>
          </a:blip>
          <a:srcRect l="6042" r="6042"/>
          <a:stretch>
            <a:fillRect/>
          </a:stretch>
        </p:blipFill>
        <p:spPr>
          <a:xfrm>
            <a:off x="11188719" y="108834"/>
            <a:ext cx="910149" cy="1005840"/>
          </a:xfrm>
          <a:prstGeom prst="ellipse">
            <a:avLst/>
          </a:prstGeom>
          <a:ln>
            <a:noFill/>
          </a:ln>
          <a:effectLst>
            <a:softEdge rad="112500"/>
          </a:effectLst>
        </p:spPr>
      </p:pic>
    </p:spTree>
    <p:extLst>
      <p:ext uri="{BB962C8B-B14F-4D97-AF65-F5344CB8AC3E}">
        <p14:creationId xmlns:p14="http://schemas.microsoft.com/office/powerpoint/2010/main" val="197842216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1000"/>
                                        <p:tgtEl>
                                          <p:spTgt spid="24"/>
                                        </p:tgtEl>
                                      </p:cBhvr>
                                    </p:animEffect>
                                    <p:anim calcmode="lin" valueType="num">
                                      <p:cBhvr>
                                        <p:cTn id="13" dur="1000" fill="hold"/>
                                        <p:tgtEl>
                                          <p:spTgt spid="24"/>
                                        </p:tgtEl>
                                        <p:attrNameLst>
                                          <p:attrName>ppt_x</p:attrName>
                                        </p:attrNameLst>
                                      </p:cBhvr>
                                      <p:tavLst>
                                        <p:tav tm="0">
                                          <p:val>
                                            <p:strVal val="#ppt_x"/>
                                          </p:val>
                                        </p:tav>
                                        <p:tav tm="100000">
                                          <p:val>
                                            <p:strVal val="#ppt_x"/>
                                          </p:val>
                                        </p:tav>
                                      </p:tavLst>
                                    </p:anim>
                                    <p:anim calcmode="lin" valueType="num">
                                      <p:cBhvr>
                                        <p:cTn id="14"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1000"/>
                                        <p:tgtEl>
                                          <p:spTgt spid="26"/>
                                        </p:tgtEl>
                                      </p:cBhvr>
                                    </p:animEffect>
                                    <p:anim calcmode="lin" valueType="num">
                                      <p:cBhvr>
                                        <p:cTn id="25" dur="1000" fill="hold"/>
                                        <p:tgtEl>
                                          <p:spTgt spid="26"/>
                                        </p:tgtEl>
                                        <p:attrNameLst>
                                          <p:attrName>ppt_x</p:attrName>
                                        </p:attrNameLst>
                                      </p:cBhvr>
                                      <p:tavLst>
                                        <p:tav tm="0">
                                          <p:val>
                                            <p:strVal val="#ppt_x"/>
                                          </p:val>
                                        </p:tav>
                                        <p:tav tm="100000">
                                          <p:val>
                                            <p:strVal val="#ppt_x"/>
                                          </p:val>
                                        </p:tav>
                                      </p:tavLst>
                                    </p:anim>
                                    <p:anim calcmode="lin" valueType="num">
                                      <p:cBhvr>
                                        <p:cTn id="2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1000"/>
                                        <p:tgtEl>
                                          <p:spTgt spid="27"/>
                                        </p:tgtEl>
                                      </p:cBhvr>
                                    </p:animEffect>
                                    <p:anim calcmode="lin" valueType="num">
                                      <p:cBhvr>
                                        <p:cTn id="32" dur="1000" fill="hold"/>
                                        <p:tgtEl>
                                          <p:spTgt spid="27"/>
                                        </p:tgtEl>
                                        <p:attrNameLst>
                                          <p:attrName>ppt_x</p:attrName>
                                        </p:attrNameLst>
                                      </p:cBhvr>
                                      <p:tavLst>
                                        <p:tav tm="0">
                                          <p:val>
                                            <p:strVal val="#ppt_x"/>
                                          </p:val>
                                        </p:tav>
                                        <p:tav tm="100000">
                                          <p:val>
                                            <p:strVal val="#ppt_x"/>
                                          </p:val>
                                        </p:tav>
                                      </p:tavLst>
                                    </p:anim>
                                    <p:anim calcmode="lin" valueType="num">
                                      <p:cBhvr>
                                        <p:cTn id="33" dur="1000" fill="hold"/>
                                        <p:tgtEl>
                                          <p:spTgt spid="2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1000"/>
                                        <p:tgtEl>
                                          <p:spTgt spid="28"/>
                                        </p:tgtEl>
                                      </p:cBhvr>
                                    </p:animEffect>
                                    <p:anim calcmode="lin" valueType="num">
                                      <p:cBhvr>
                                        <p:cTn id="37" dur="1000" fill="hold"/>
                                        <p:tgtEl>
                                          <p:spTgt spid="28"/>
                                        </p:tgtEl>
                                        <p:attrNameLst>
                                          <p:attrName>ppt_x</p:attrName>
                                        </p:attrNameLst>
                                      </p:cBhvr>
                                      <p:tavLst>
                                        <p:tav tm="0">
                                          <p:val>
                                            <p:strVal val="#ppt_x"/>
                                          </p:val>
                                        </p:tav>
                                        <p:tav tm="100000">
                                          <p:val>
                                            <p:strVal val="#ppt_x"/>
                                          </p:val>
                                        </p:tav>
                                      </p:tavLst>
                                    </p:anim>
                                    <p:anim calcmode="lin" valueType="num">
                                      <p:cBhvr>
                                        <p:cTn id="3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B5893-755B-462B-30C0-CE5E466DCEDD}"/>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C808B942-7380-E275-BA04-C06E3D9DB98C}"/>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1A6A650E-142C-24F5-2222-C34E66972226}"/>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D806DB03-8DF5-45AF-FDEB-E36813AF7F2A}"/>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Restrict cross-tenant inbound and outbound access - Power Platform | Microsoft Learn</a:t>
            </a:r>
            <a:r>
              <a:rPr lang="en-US" sz="1600">
                <a:latin typeface="Segoe UI" panose="020B0502040204020203" pitchFamily="34" charset="0"/>
                <a:cs typeface="Segoe UI" panose="020B0502040204020203" pitchFamily="34" charset="0"/>
              </a:rPr>
              <a:t> </a:t>
            </a:r>
            <a:r>
              <a:rPr lang="es-ES" sz="1600">
                <a:solidFill>
                  <a:schemeClr val="bg1"/>
                </a:solidFill>
                <a:latin typeface="Segoe UI" panose="020B0502040204020203" pitchFamily="34" charset="0"/>
                <a:cs typeface="Segoe UI" panose="020B0502040204020203" pitchFamily="34" charset="0"/>
              </a:rPr>
              <a:t>– Escenarios</a:t>
            </a:r>
            <a:endParaRPr lang="es-ES" sz="1600" noProof="0">
              <a:solidFill>
                <a:schemeClr val="bg1"/>
              </a:solidFill>
              <a:latin typeface="Segoe UI" panose="020B0502040204020203" pitchFamily="34" charset="0"/>
              <a:cs typeface="Segoe UI" panose="020B0502040204020203" pitchFamily="34" charset="0"/>
            </a:endParaRPr>
          </a:p>
        </p:txBody>
      </p:sp>
      <p:pic>
        <p:nvPicPr>
          <p:cNvPr id="3" name="Picture 2" descr="Restrict outbound and inbound cross-tenant access.">
            <a:extLst>
              <a:ext uri="{FF2B5EF4-FFF2-40B4-BE49-F238E27FC236}">
                <a16:creationId xmlns:a16="http://schemas.microsoft.com/office/drawing/2014/main" id="{3DEE535F-1AE2-6CE2-CFD1-3288189E5A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 y="2460309"/>
            <a:ext cx="5253206" cy="201586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4" descr="Restrict inbound connection.">
            <a:extLst>
              <a:ext uri="{FF2B5EF4-FFF2-40B4-BE49-F238E27FC236}">
                <a16:creationId xmlns:a16="http://schemas.microsoft.com/office/drawing/2014/main" id="{AB4A5A4D-5DF4-ED4D-8FFA-79D051BA75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8200" y="2443806"/>
            <a:ext cx="5341477" cy="203236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Picture 5" descr="A diagram of a diagram&#10;&#10;Description automatically generated with medium confidence">
            <a:extLst>
              <a:ext uri="{FF2B5EF4-FFF2-40B4-BE49-F238E27FC236}">
                <a16:creationId xmlns:a16="http://schemas.microsoft.com/office/drawing/2014/main" id="{3221C1EE-A5D8-055C-05B6-49313798A4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51421" y="4695030"/>
            <a:ext cx="5410200" cy="2067312"/>
          </a:xfrm>
          <a:prstGeom prst="rect">
            <a:avLst/>
          </a:prstGeom>
          <a:ln>
            <a:noFill/>
          </a:ln>
          <a:effectLst>
            <a:outerShdw blurRad="292100" dist="139700" dir="2700000" algn="tl" rotWithShape="0">
              <a:srgbClr val="333333">
                <a:alpha val="65000"/>
              </a:srgbClr>
            </a:outerShdw>
          </a:effectLst>
        </p:spPr>
      </p:pic>
      <p:pic>
        <p:nvPicPr>
          <p:cNvPr id="9" name="Picture Placeholder 2" descr="A person smiling for a picture&#10;&#10;AI-generated content may be incorrect.">
            <a:extLst>
              <a:ext uri="{FF2B5EF4-FFF2-40B4-BE49-F238E27FC236}">
                <a16:creationId xmlns:a16="http://schemas.microsoft.com/office/drawing/2014/main" id="{1DFBD37D-55AB-5A0E-9A4E-0C4B11AFAA14}"/>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109360" y="139602"/>
            <a:ext cx="910149" cy="1005840"/>
          </a:xfrm>
          <a:prstGeom prst="ellipse">
            <a:avLst/>
          </a:prstGeom>
          <a:ln>
            <a:noFill/>
          </a:ln>
          <a:effectLst>
            <a:softEdge rad="112500"/>
          </a:effectLst>
        </p:spPr>
      </p:pic>
    </p:spTree>
    <p:extLst>
      <p:ext uri="{BB962C8B-B14F-4D97-AF65-F5344CB8AC3E}">
        <p14:creationId xmlns:p14="http://schemas.microsoft.com/office/powerpoint/2010/main" val="374601430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9CB0D-53E9-C634-BD77-D4242AC5B8EC}"/>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3F6850EB-B265-1B86-D3CC-A78861E635D9}"/>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C6F05772-065B-D64C-7C15-01197339763A}"/>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7A917B1D-6652-1645-794F-564B0DFF2F05}"/>
              </a:ext>
            </a:extLst>
          </p:cNvPr>
          <p:cNvSpPr txBox="1"/>
          <p:nvPr/>
        </p:nvSpPr>
        <p:spPr>
          <a:xfrm>
            <a:off x="1415846" y="1715334"/>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Restrict cross-tenant inbound and outbound access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CEEA7EAF-A76A-86A6-0777-97F824AE39DF}"/>
              </a:ext>
            </a:extLst>
          </p:cNvPr>
          <p:cNvPicPr>
            <a:picLocks noChangeAspect="1"/>
          </p:cNvPicPr>
          <p:nvPr/>
        </p:nvPicPr>
        <p:blipFill>
          <a:blip r:embed="rId4"/>
          <a:stretch>
            <a:fillRect/>
          </a:stretch>
        </p:blipFill>
        <p:spPr>
          <a:xfrm>
            <a:off x="969433" y="2080610"/>
            <a:ext cx="10253133" cy="4293667"/>
          </a:xfrm>
          <a:prstGeom prst="rect">
            <a:avLst/>
          </a:prstGeom>
        </p:spPr>
      </p:pic>
      <p:sp>
        <p:nvSpPr>
          <p:cNvPr id="14" name="Speech Bubble: Rectangle with Corners Rounded 13">
            <a:extLst>
              <a:ext uri="{FF2B5EF4-FFF2-40B4-BE49-F238E27FC236}">
                <a16:creationId xmlns:a16="http://schemas.microsoft.com/office/drawing/2014/main" id="{8BFA182C-796C-4061-D03F-0AD1E0A4D3A9}"/>
              </a:ext>
            </a:extLst>
          </p:cNvPr>
          <p:cNvSpPr/>
          <p:nvPr/>
        </p:nvSpPr>
        <p:spPr>
          <a:xfrm>
            <a:off x="1599131" y="4279550"/>
            <a:ext cx="1849562" cy="638512"/>
          </a:xfrm>
          <a:prstGeom prst="wedgeRoundRectCallout">
            <a:avLst>
              <a:gd name="adj1" fmla="val -30342"/>
              <a:gd name="adj2" fmla="val -8098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and access settings</a:t>
            </a:r>
          </a:p>
        </p:txBody>
      </p:sp>
      <p:sp>
        <p:nvSpPr>
          <p:cNvPr id="15" name="Flowchart: Connector 14">
            <a:extLst>
              <a:ext uri="{FF2B5EF4-FFF2-40B4-BE49-F238E27FC236}">
                <a16:creationId xmlns:a16="http://schemas.microsoft.com/office/drawing/2014/main" id="{07899644-6F56-FF31-91DF-CADEE760E245}"/>
              </a:ext>
            </a:extLst>
          </p:cNvPr>
          <p:cNvSpPr/>
          <p:nvPr/>
        </p:nvSpPr>
        <p:spPr>
          <a:xfrm>
            <a:off x="2318172" y="499525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16" name="Speech Bubble: Rectangle with Corners Rounded 15">
            <a:extLst>
              <a:ext uri="{FF2B5EF4-FFF2-40B4-BE49-F238E27FC236}">
                <a16:creationId xmlns:a16="http://schemas.microsoft.com/office/drawing/2014/main" id="{CF1320CE-F9BA-2FF1-D898-A7575C441601}"/>
              </a:ext>
            </a:extLst>
          </p:cNvPr>
          <p:cNvSpPr/>
          <p:nvPr/>
        </p:nvSpPr>
        <p:spPr>
          <a:xfrm>
            <a:off x="7620870" y="3369759"/>
            <a:ext cx="2494824" cy="638512"/>
          </a:xfrm>
          <a:prstGeom prst="wedgeRoundRectCallout">
            <a:avLst>
              <a:gd name="adj1" fmla="val -84490"/>
              <a:gd name="adj2" fmla="val -446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Tenant</a:t>
            </a: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 </a:t>
            </a:r>
            <a:r>
              <a:rPr kumimoji="0" lang="es-ES" sz="1600" b="0" i="0" u="none" strike="noStrike" kern="120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Isolation</a:t>
            </a: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 habilitado en el </a:t>
            </a:r>
            <a:r>
              <a:rPr kumimoji="0" lang="es-ES" sz="1600" b="0" i="0" u="none" strike="noStrike" kern="120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tenant</a:t>
            </a:r>
            <a:endPar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7" name="Flowchart: Connector 16">
            <a:extLst>
              <a:ext uri="{FF2B5EF4-FFF2-40B4-BE49-F238E27FC236}">
                <a16:creationId xmlns:a16="http://schemas.microsoft.com/office/drawing/2014/main" id="{6D8EE9FA-AF22-9CD7-EB01-4C88CC4FC20D}"/>
              </a:ext>
            </a:extLst>
          </p:cNvPr>
          <p:cNvSpPr/>
          <p:nvPr/>
        </p:nvSpPr>
        <p:spPr>
          <a:xfrm>
            <a:off x="10206424" y="347464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18" name="Speech Bubble: Rectangle with Corners Rounded 17">
            <a:extLst>
              <a:ext uri="{FF2B5EF4-FFF2-40B4-BE49-F238E27FC236}">
                <a16:creationId xmlns:a16="http://schemas.microsoft.com/office/drawing/2014/main" id="{46015238-2282-EBE4-2DFB-D6AA5896D2EF}"/>
              </a:ext>
            </a:extLst>
          </p:cNvPr>
          <p:cNvSpPr/>
          <p:nvPr/>
        </p:nvSpPr>
        <p:spPr>
          <a:xfrm>
            <a:off x="6659735" y="5011869"/>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Las excepciones se pueden configurar en 1 o 2 direcciones</a:t>
            </a:r>
          </a:p>
        </p:txBody>
      </p:sp>
      <p:sp>
        <p:nvSpPr>
          <p:cNvPr id="19" name="Flowchart: Connector 18">
            <a:extLst>
              <a:ext uri="{FF2B5EF4-FFF2-40B4-BE49-F238E27FC236}">
                <a16:creationId xmlns:a16="http://schemas.microsoft.com/office/drawing/2014/main" id="{D9017840-2E63-F920-8373-6D2C4E42BAA8}"/>
              </a:ext>
            </a:extLst>
          </p:cNvPr>
          <p:cNvSpPr/>
          <p:nvPr/>
        </p:nvSpPr>
        <p:spPr>
          <a:xfrm>
            <a:off x="9220200" y="520099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pic>
        <p:nvPicPr>
          <p:cNvPr id="4" name="Picture Placeholder 2" descr="A person smiling for a picture&#10;&#10;AI-generated content may be incorrect.">
            <a:extLst>
              <a:ext uri="{FF2B5EF4-FFF2-40B4-BE49-F238E27FC236}">
                <a16:creationId xmlns:a16="http://schemas.microsoft.com/office/drawing/2014/main" id="{F37AFFE5-8AFE-5F72-E35D-0F88DC022DF0}"/>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075496" y="139602"/>
            <a:ext cx="910149" cy="1005840"/>
          </a:xfrm>
          <a:prstGeom prst="ellipse">
            <a:avLst/>
          </a:prstGeom>
          <a:ln>
            <a:noFill/>
          </a:ln>
          <a:effectLst>
            <a:softEdge rad="112500"/>
          </a:effectLst>
        </p:spPr>
      </p:pic>
    </p:spTree>
    <p:extLst>
      <p:ext uri="{BB962C8B-B14F-4D97-AF65-F5344CB8AC3E}">
        <p14:creationId xmlns:p14="http://schemas.microsoft.com/office/powerpoint/2010/main" val="278723155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1000"/>
                                        <p:tgtEl>
                                          <p:spTgt spid="18"/>
                                        </p:tgtEl>
                                      </p:cBhvr>
                                    </p:animEffect>
                                    <p:anim calcmode="lin" valueType="num">
                                      <p:cBhvr>
                                        <p:cTn id="37" dur="1000" fill="hold"/>
                                        <p:tgtEl>
                                          <p:spTgt spid="18"/>
                                        </p:tgtEl>
                                        <p:attrNameLst>
                                          <p:attrName>ppt_x</p:attrName>
                                        </p:attrNameLst>
                                      </p:cBhvr>
                                      <p:tavLst>
                                        <p:tav tm="0">
                                          <p:val>
                                            <p:strVal val="#ppt_x"/>
                                          </p:val>
                                        </p:tav>
                                        <p:tav tm="100000">
                                          <p:val>
                                            <p:strVal val="#ppt_x"/>
                                          </p:val>
                                        </p:tav>
                                      </p:tavLst>
                                    </p:anim>
                                    <p:anim calcmode="lin" valueType="num">
                                      <p:cBhvr>
                                        <p:cTn id="3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5234E-2430-06CF-033F-B71DFF9D6B9B}"/>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E824D37F-D53F-80CF-8833-8DDCC2BCBE8F}"/>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B8150690-6A12-A6AB-D552-2AB7D4B24811}"/>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4A5796BD-8A48-1DC3-B8DE-BFB5BCD2B0B1}"/>
              </a:ext>
            </a:extLst>
          </p:cNvPr>
          <p:cNvSpPr txBox="1"/>
          <p:nvPr/>
        </p:nvSpPr>
        <p:spPr>
          <a:xfrm>
            <a:off x="1415846" y="1715334"/>
            <a:ext cx="9202058" cy="384080"/>
          </a:xfrm>
          <a:prstGeom prst="rect">
            <a:avLst/>
          </a:prstGeom>
          <a:noFill/>
        </p:spPr>
        <p:txBody>
          <a:bodyPr wrap="square" rtlCol="0">
            <a:spAutoFit/>
          </a:bodyPr>
          <a:lstStyle/>
          <a:p>
            <a:pPr algn="ctr">
              <a:lnSpc>
                <a:spcPct val="130000"/>
              </a:lnSpc>
            </a:pPr>
            <a:r>
              <a:rPr lang="en-US" sz="1600">
                <a:solidFill>
                  <a:schemeClr val="bg1"/>
                </a:solidFill>
                <a:latin typeface="Segoe UI" panose="020B0502040204020203" pitchFamily="34" charset="0"/>
                <a:cs typeface="Segoe UI" panose="020B0502040204020203" pitchFamily="34" charset="0"/>
              </a:rPr>
              <a:t>Impacto </a:t>
            </a:r>
            <a:r>
              <a:rPr lang="en-US" sz="1600" err="1">
                <a:solidFill>
                  <a:schemeClr val="bg1"/>
                </a:solidFill>
                <a:latin typeface="Segoe UI" panose="020B0502040204020203" pitchFamily="34" charset="0"/>
                <a:cs typeface="Segoe UI" panose="020B0502040204020203" pitchFamily="34" charset="0"/>
              </a:rPr>
              <a:t>en</a:t>
            </a:r>
            <a:r>
              <a:rPr lang="en-US" sz="1600">
                <a:solidFill>
                  <a:schemeClr val="bg1"/>
                </a:solidFill>
                <a:latin typeface="Segoe UI" panose="020B0502040204020203" pitchFamily="34" charset="0"/>
                <a:cs typeface="Segoe UI" panose="020B0502040204020203" pitchFamily="34" charset="0"/>
              </a:rPr>
              <a:t> </a:t>
            </a:r>
            <a:r>
              <a:rPr lang="en-US" sz="1600" err="1">
                <a:solidFill>
                  <a:schemeClr val="bg1"/>
                </a:solidFill>
                <a:latin typeface="Segoe UI" panose="020B0502040204020203" pitchFamily="34" charset="0"/>
                <a:cs typeface="Segoe UI" panose="020B0502040204020203" pitchFamily="34" charset="0"/>
              </a:rPr>
              <a:t>Flujos</a:t>
            </a:r>
            <a:r>
              <a:rPr lang="en-US" sz="1600">
                <a:solidFill>
                  <a:schemeClr val="bg1"/>
                </a:solidFill>
                <a:latin typeface="Segoe UI" panose="020B0502040204020203" pitchFamily="34" charset="0"/>
                <a:cs typeface="Segoe UI" panose="020B0502040204020203" pitchFamily="34" charset="0"/>
              </a:rPr>
              <a:t> de Power Automate y </a:t>
            </a:r>
            <a:r>
              <a:rPr lang="en-US" sz="1600" err="1">
                <a:solidFill>
                  <a:schemeClr val="bg1"/>
                </a:solidFill>
                <a:latin typeface="Segoe UI" panose="020B0502040204020203" pitchFamily="34" charset="0"/>
                <a:cs typeface="Segoe UI" panose="020B0502040204020203" pitchFamily="34" charset="0"/>
              </a:rPr>
              <a:t>Aplicaciones</a:t>
            </a:r>
            <a:endParaRPr lang="es-ES" sz="1600" noProof="0">
              <a:solidFill>
                <a:schemeClr val="bg1"/>
              </a:solidFill>
              <a:latin typeface="Segoe UI" panose="020B0502040204020203" pitchFamily="34" charset="0"/>
              <a:cs typeface="Segoe UI" panose="020B0502040204020203" pitchFamily="34" charset="0"/>
            </a:endParaRPr>
          </a:p>
        </p:txBody>
      </p:sp>
      <p:pic>
        <p:nvPicPr>
          <p:cNvPr id="3" name="Picture 2" descr="Error: The data didn't load correctly. Please try again.">
            <a:extLst>
              <a:ext uri="{FF2B5EF4-FFF2-40B4-BE49-F238E27FC236}">
                <a16:creationId xmlns:a16="http://schemas.microsoft.com/office/drawing/2014/main" id="{65788B72-575F-E593-59AE-61EBEF84BE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1" y="2389716"/>
            <a:ext cx="5334000" cy="332466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4" descr="Error: Couldn't retrieve values. The dynamic invocation request failed with error - error text.">
            <a:extLst>
              <a:ext uri="{FF2B5EF4-FFF2-40B4-BE49-F238E27FC236}">
                <a16:creationId xmlns:a16="http://schemas.microsoft.com/office/drawing/2014/main" id="{8D6FD56B-2B34-0A31-D227-58DDBDDA53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389716"/>
            <a:ext cx="5544223" cy="3177337"/>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2" descr="Profile photo of Enrique Arribas Bueno">
            <a:extLst>
              <a:ext uri="{FF2B5EF4-FFF2-40B4-BE49-F238E27FC236}">
                <a16:creationId xmlns:a16="http://schemas.microsoft.com/office/drawing/2014/main" id="{322A05D9-1A52-FA94-78E6-664C98C7E7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28423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83C7-6C04-2DC5-D557-31F65D0EE351}"/>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EF0769C6-7EF5-5EE4-89FB-15028C0CC3C8}"/>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910EB97A-E287-1E3A-C49C-90B42B138C3E}"/>
              </a:ext>
            </a:extLst>
          </p:cNvPr>
          <p:cNvGrpSpPr/>
          <p:nvPr/>
        </p:nvGrpSpPr>
        <p:grpSpPr>
          <a:xfrm>
            <a:off x="1098513" y="1099367"/>
            <a:ext cx="4382144" cy="2062104"/>
            <a:chOff x="1092200" y="1859895"/>
            <a:chExt cx="4382144" cy="2062101"/>
          </a:xfrm>
        </p:grpSpPr>
        <p:sp>
          <p:nvSpPr>
            <p:cNvPr id="45" name="TextBox 44">
              <a:extLst>
                <a:ext uri="{FF2B5EF4-FFF2-40B4-BE49-F238E27FC236}">
                  <a16:creationId xmlns:a16="http://schemas.microsoft.com/office/drawing/2014/main" id="{D9DA7904-0351-163B-1F1D-E9D2A5A74E91}"/>
                </a:ext>
              </a:extLst>
            </p:cNvPr>
            <p:cNvSpPr txBox="1"/>
            <p:nvPr/>
          </p:nvSpPr>
          <p:spPr>
            <a:xfrm>
              <a:off x="1092200" y="2167672"/>
              <a:ext cx="4382144" cy="1754324"/>
            </a:xfrm>
            <a:prstGeom prst="rect">
              <a:avLst/>
            </a:prstGeom>
            <a:noFill/>
          </p:spPr>
          <p:txBody>
            <a:bodyPr wrap="square" rtlCol="0">
              <a:spAutoFit/>
            </a:bodyPr>
            <a:lstStyle/>
            <a:p>
              <a:r>
                <a:rPr lang="es-ES" sz="3600" b="1" noProof="0">
                  <a:solidFill>
                    <a:schemeClr val="bg1"/>
                  </a:solidFill>
                  <a:latin typeface="+mj-lt"/>
                  <a:cs typeface="Poppins ExtraBold" panose="00000900000000000000" pitchFamily="2" charset="0"/>
                </a:rPr>
                <a:t>Seguridad de Identidad y Acceso – Parte I</a:t>
              </a:r>
            </a:p>
          </p:txBody>
        </p:sp>
        <p:grpSp>
          <p:nvGrpSpPr>
            <p:cNvPr id="46" name="Group 45">
              <a:extLst>
                <a:ext uri="{FF2B5EF4-FFF2-40B4-BE49-F238E27FC236}">
                  <a16:creationId xmlns:a16="http://schemas.microsoft.com/office/drawing/2014/main" id="{A886946A-6EF5-9ED0-E03B-2AD46F2EF85A}"/>
                </a:ext>
              </a:extLst>
            </p:cNvPr>
            <p:cNvGrpSpPr/>
            <p:nvPr/>
          </p:nvGrpSpPr>
          <p:grpSpPr>
            <a:xfrm>
              <a:off x="1190922" y="1859895"/>
              <a:ext cx="3089364" cy="338554"/>
              <a:chOff x="1630681" y="1859895"/>
              <a:chExt cx="3089364" cy="338554"/>
            </a:xfrm>
          </p:grpSpPr>
          <p:sp>
            <p:nvSpPr>
              <p:cNvPr id="47" name="TextBox 46">
                <a:extLst>
                  <a:ext uri="{FF2B5EF4-FFF2-40B4-BE49-F238E27FC236}">
                    <a16:creationId xmlns:a16="http://schemas.microsoft.com/office/drawing/2014/main" id="{4575AB89-065E-834D-77B0-795316A70C7F}"/>
                  </a:ext>
                </a:extLst>
              </p:cNvPr>
              <p:cNvSpPr txBox="1"/>
              <p:nvPr/>
            </p:nvSpPr>
            <p:spPr>
              <a:xfrm>
                <a:off x="2013833" y="1859895"/>
                <a:ext cx="2706212" cy="338554"/>
              </a:xfrm>
              <a:prstGeom prst="rect">
                <a:avLst/>
              </a:prstGeom>
              <a:noFill/>
            </p:spPr>
            <p:txBody>
              <a:bodyPr wrap="square" rtlCol="0">
                <a:spAutoFit/>
              </a:bodyPr>
              <a:lstStyle/>
              <a:p>
                <a:r>
                  <a:rPr lang="en-US" sz="1600" b="1">
                    <a:solidFill>
                      <a:schemeClr val="bg1"/>
                    </a:solidFill>
                    <a:latin typeface="+mj-lt"/>
                    <a:cs typeface="Poppins ExtraBold" panose="00000900000000000000" pitchFamily="2" charset="0"/>
                  </a:rPr>
                  <a:t>DEMO #3</a:t>
                </a:r>
                <a:endParaRPr lang="en-GB" sz="1600" b="1">
                  <a:solidFill>
                    <a:schemeClr val="bg1"/>
                  </a:solidFill>
                  <a:latin typeface="+mj-lt"/>
                  <a:cs typeface="Poppins ExtraBold" panose="00000900000000000000" pitchFamily="2" charset="0"/>
                </a:endParaRPr>
              </a:p>
            </p:txBody>
          </p:sp>
          <p:cxnSp>
            <p:nvCxnSpPr>
              <p:cNvPr id="48" name="Straight Connector 47">
                <a:extLst>
                  <a:ext uri="{FF2B5EF4-FFF2-40B4-BE49-F238E27FC236}">
                    <a16:creationId xmlns:a16="http://schemas.microsoft.com/office/drawing/2014/main" id="{A6823165-259F-0D86-7698-E3D94A1B1531}"/>
                  </a:ext>
                </a:extLst>
              </p:cNvPr>
              <p:cNvCxnSpPr>
                <a:cxnSpLocks/>
              </p:cNvCxnSpPr>
              <p:nvPr/>
            </p:nvCxnSpPr>
            <p:spPr>
              <a:xfrm flipH="1">
                <a:off x="1630681" y="2006163"/>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9" name="Picture 18" descr="Minion clipart transparent background, Minion transparent background  Transparent FREE for download on WebStockReview 2021">
            <a:extLst>
              <a:ext uri="{FF2B5EF4-FFF2-40B4-BE49-F238E27FC236}">
                <a16:creationId xmlns:a16="http://schemas.microsoft.com/office/drawing/2014/main" id="{36DD2B6F-AFDE-6E52-8607-71D8DFA8A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1" y="532342"/>
            <a:ext cx="4492646" cy="52582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60E49391-6A51-6A4A-5053-FEC117A87E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E0EB06F2-0F46-E48C-3EBF-9E8E6C6C8186}"/>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0186493" y="139602"/>
            <a:ext cx="910149" cy="1005840"/>
          </a:xfrm>
          <a:prstGeom prst="ellipse">
            <a:avLst/>
          </a:prstGeom>
          <a:ln>
            <a:noFill/>
          </a:ln>
          <a:effectLst>
            <a:softEdge rad="112500"/>
          </a:effectLst>
        </p:spPr>
      </p:pic>
    </p:spTree>
    <p:extLst>
      <p:ext uri="{BB962C8B-B14F-4D97-AF65-F5344CB8AC3E}">
        <p14:creationId xmlns:p14="http://schemas.microsoft.com/office/powerpoint/2010/main" val="244201366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23" presetClass="entr" presetSubtype="272"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 calcmode="lin" valueType="num">
                                      <p:cBhvr>
                                        <p:cTn id="10" dur="500" fill="hold"/>
                                        <p:tgtEl>
                                          <p:spTgt spid="44"/>
                                        </p:tgtEl>
                                        <p:attrNameLst>
                                          <p:attrName>ppt_w</p:attrName>
                                        </p:attrNameLst>
                                      </p:cBhvr>
                                      <p:tavLst>
                                        <p:tav tm="0">
                                          <p:val>
                                            <p:strVal val="2/3*#ppt_w"/>
                                          </p:val>
                                        </p:tav>
                                        <p:tav tm="100000">
                                          <p:val>
                                            <p:strVal val="#ppt_w"/>
                                          </p:val>
                                        </p:tav>
                                      </p:tavLst>
                                    </p:anim>
                                    <p:anim calcmode="lin" valueType="num">
                                      <p:cBhvr>
                                        <p:cTn id="11" dur="500" fill="hold"/>
                                        <p:tgtEl>
                                          <p:spTgt spid="44"/>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125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80">
                                          <p:stCondLst>
                                            <p:cond delay="0"/>
                                          </p:stCondLst>
                                        </p:cTn>
                                        <p:tgtEl>
                                          <p:spTgt spid="9"/>
                                        </p:tgtEl>
                                      </p:cBhvr>
                                    </p:animEffect>
                                    <p:anim calcmode="lin" valueType="num">
                                      <p:cBhvr>
                                        <p:cTn id="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5" dur="26">
                                          <p:stCondLst>
                                            <p:cond delay="650"/>
                                          </p:stCondLst>
                                        </p:cTn>
                                        <p:tgtEl>
                                          <p:spTgt spid="9"/>
                                        </p:tgtEl>
                                      </p:cBhvr>
                                      <p:to x="100000" y="60000"/>
                                    </p:animScale>
                                    <p:animScale>
                                      <p:cBhvr>
                                        <p:cTn id="26" dur="166" decel="50000">
                                          <p:stCondLst>
                                            <p:cond delay="676"/>
                                          </p:stCondLst>
                                        </p:cTn>
                                        <p:tgtEl>
                                          <p:spTgt spid="9"/>
                                        </p:tgtEl>
                                      </p:cBhvr>
                                      <p:to x="100000" y="100000"/>
                                    </p:animScale>
                                    <p:animScale>
                                      <p:cBhvr>
                                        <p:cTn id="27" dur="26">
                                          <p:stCondLst>
                                            <p:cond delay="1312"/>
                                          </p:stCondLst>
                                        </p:cTn>
                                        <p:tgtEl>
                                          <p:spTgt spid="9"/>
                                        </p:tgtEl>
                                      </p:cBhvr>
                                      <p:to x="100000" y="80000"/>
                                    </p:animScale>
                                    <p:animScale>
                                      <p:cBhvr>
                                        <p:cTn id="28" dur="166" decel="50000">
                                          <p:stCondLst>
                                            <p:cond delay="1338"/>
                                          </p:stCondLst>
                                        </p:cTn>
                                        <p:tgtEl>
                                          <p:spTgt spid="9"/>
                                        </p:tgtEl>
                                      </p:cBhvr>
                                      <p:to x="100000" y="100000"/>
                                    </p:animScale>
                                    <p:animScale>
                                      <p:cBhvr>
                                        <p:cTn id="29" dur="26">
                                          <p:stCondLst>
                                            <p:cond delay="1642"/>
                                          </p:stCondLst>
                                        </p:cTn>
                                        <p:tgtEl>
                                          <p:spTgt spid="9"/>
                                        </p:tgtEl>
                                      </p:cBhvr>
                                      <p:to x="100000" y="90000"/>
                                    </p:animScale>
                                    <p:animScale>
                                      <p:cBhvr>
                                        <p:cTn id="30" dur="166" decel="50000">
                                          <p:stCondLst>
                                            <p:cond delay="1668"/>
                                          </p:stCondLst>
                                        </p:cTn>
                                        <p:tgtEl>
                                          <p:spTgt spid="9"/>
                                        </p:tgtEl>
                                      </p:cBhvr>
                                      <p:to x="100000" y="100000"/>
                                    </p:animScale>
                                    <p:animScale>
                                      <p:cBhvr>
                                        <p:cTn id="31" dur="26">
                                          <p:stCondLst>
                                            <p:cond delay="1808"/>
                                          </p:stCondLst>
                                        </p:cTn>
                                        <p:tgtEl>
                                          <p:spTgt spid="9"/>
                                        </p:tgtEl>
                                      </p:cBhvr>
                                      <p:to x="100000" y="95000"/>
                                    </p:animScale>
                                    <p:animScale>
                                      <p:cBhvr>
                                        <p:cTn id="3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00D38-8CB9-72B7-2E46-6333104536A0}"/>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BF8AAF10-7325-71EE-2552-AF6C07AC9278}"/>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F77C2044-D9F1-EC14-227E-B67E59D519FC}"/>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10ACD703-13E9-29F3-A4AC-FE1083970876}"/>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noProof="0">
                <a:solidFill>
                  <a:schemeClr val="bg1"/>
                </a:solidFill>
                <a:latin typeface="Segoe UI" panose="020B0502040204020203" pitchFamily="34" charset="0"/>
                <a:cs typeface="Segoe UI" panose="020B0502040204020203" pitchFamily="34" charset="0"/>
              </a:rPr>
              <a:t>Asegurar que solo los usuarios autorizados pueden acceder a ciertos recursos</a:t>
            </a:r>
          </a:p>
        </p:txBody>
      </p:sp>
      <p:grpSp>
        <p:nvGrpSpPr>
          <p:cNvPr id="112" name="Group 111">
            <a:extLst>
              <a:ext uri="{FF2B5EF4-FFF2-40B4-BE49-F238E27FC236}">
                <a16:creationId xmlns:a16="http://schemas.microsoft.com/office/drawing/2014/main" id="{F596A004-B5F2-C60F-90DC-0CCE60AEFF3F}"/>
              </a:ext>
            </a:extLst>
          </p:cNvPr>
          <p:cNvGrpSpPr/>
          <p:nvPr/>
        </p:nvGrpSpPr>
        <p:grpSpPr>
          <a:xfrm>
            <a:off x="3457786" y="2271562"/>
            <a:ext cx="2468880" cy="2011680"/>
            <a:chOff x="6941" y="1161888"/>
            <a:chExt cx="2461366" cy="1837358"/>
          </a:xfrm>
        </p:grpSpPr>
        <p:sp>
          <p:nvSpPr>
            <p:cNvPr id="113" name="Rectangle: Top Corners Rounded 112">
              <a:extLst>
                <a:ext uri="{FF2B5EF4-FFF2-40B4-BE49-F238E27FC236}">
                  <a16:creationId xmlns:a16="http://schemas.microsoft.com/office/drawing/2014/main" id="{E7BC67AB-0997-F5E2-80CC-CA23BEE613A7}"/>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14" name="Rectangle: Top Corners Rounded 4">
              <a:extLst>
                <a:ext uri="{FF2B5EF4-FFF2-40B4-BE49-F238E27FC236}">
                  <a16:creationId xmlns:a16="http://schemas.microsoft.com/office/drawing/2014/main" id="{2315FDE3-A3BB-E0EF-BFED-026A17B2DC19}"/>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eaLnBrk="1" fontAlgn="auto" latinLnBrk="0" hangingPunct="1">
                <a:lnSpc>
                  <a:spcPct val="90000"/>
                </a:lnSpc>
                <a:spcBef>
                  <a:spcPct val="0"/>
                </a:spcBef>
                <a:spcAft>
                  <a:spcPct val="15000"/>
                </a:spcAft>
                <a:buClrTx/>
                <a:buSzTx/>
                <a:buFontTx/>
                <a:buChar char="•"/>
                <a:tabLst/>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Controlar que aplicaciones se permiten/no se permiten en un entorno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Managed</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Environments</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a:t>
              </a:r>
            </a:p>
            <a:p>
              <a:pPr marL="114300" marR="0" lvl="1" indent="-114300" defTabSz="533400" eaLnBrk="1" fontAlgn="auto" latinLnBrk="0" hangingPunct="1">
                <a:lnSpc>
                  <a:spcPct val="90000"/>
                </a:lnSpc>
                <a:spcBef>
                  <a:spcPct val="0"/>
                </a:spcBef>
                <a:spcAft>
                  <a:spcPct val="15000"/>
                </a:spcAft>
                <a:buClrTx/>
                <a:buSzTx/>
                <a:buFontTx/>
                <a:buChar char="•"/>
                <a:tabLst/>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Previene fugas de datos controlando estas aplicaciones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115" name="Group 114">
            <a:extLst>
              <a:ext uri="{FF2B5EF4-FFF2-40B4-BE49-F238E27FC236}">
                <a16:creationId xmlns:a16="http://schemas.microsoft.com/office/drawing/2014/main" id="{D1F4CC97-E7B7-7311-D7A1-7DF6528D749A}"/>
              </a:ext>
            </a:extLst>
          </p:cNvPr>
          <p:cNvGrpSpPr/>
          <p:nvPr/>
        </p:nvGrpSpPr>
        <p:grpSpPr>
          <a:xfrm>
            <a:off x="3457781" y="4252224"/>
            <a:ext cx="2468881" cy="790063"/>
            <a:chOff x="6940" y="2999246"/>
            <a:chExt cx="2461367" cy="790063"/>
          </a:xfrm>
          <a:solidFill>
            <a:srgbClr val="FFC000"/>
          </a:solidFill>
        </p:grpSpPr>
        <p:sp>
          <p:nvSpPr>
            <p:cNvPr id="116" name="Rectangle 115">
              <a:extLst>
                <a:ext uri="{FF2B5EF4-FFF2-40B4-BE49-F238E27FC236}">
                  <a16:creationId xmlns:a16="http://schemas.microsoft.com/office/drawing/2014/main" id="{30BC8D19-3446-7A32-4127-45A3EC328235}"/>
                </a:ext>
              </a:extLst>
            </p:cNvPr>
            <p:cNvSpPr/>
            <p:nvPr/>
          </p:nvSpPr>
          <p:spPr>
            <a:xfrm>
              <a:off x="6941"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17" name="TextBox 116">
              <a:extLst>
                <a:ext uri="{FF2B5EF4-FFF2-40B4-BE49-F238E27FC236}">
                  <a16:creationId xmlns:a16="http://schemas.microsoft.com/office/drawing/2014/main" id="{AB9CC1E8-3D0C-14FD-0B79-6D8CB61CF1A8}"/>
                </a:ext>
              </a:extLst>
            </p:cNvPr>
            <p:cNvSpPr txBox="1"/>
            <p:nvPr/>
          </p:nvSpPr>
          <p:spPr>
            <a:xfrm>
              <a:off x="6940" y="2999246"/>
              <a:ext cx="1870523"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Acceso de Aplicaciones de Cliente</a:t>
              </a:r>
            </a:p>
          </p:txBody>
        </p:sp>
      </p:grpSp>
      <p:grpSp>
        <p:nvGrpSpPr>
          <p:cNvPr id="118" name="Group 117">
            <a:extLst>
              <a:ext uri="{FF2B5EF4-FFF2-40B4-BE49-F238E27FC236}">
                <a16:creationId xmlns:a16="http://schemas.microsoft.com/office/drawing/2014/main" id="{E3B7ADCF-64F5-0EE7-A9A0-9CC662DF3FC0}"/>
              </a:ext>
            </a:extLst>
          </p:cNvPr>
          <p:cNvGrpSpPr/>
          <p:nvPr/>
        </p:nvGrpSpPr>
        <p:grpSpPr>
          <a:xfrm>
            <a:off x="6181175" y="2266466"/>
            <a:ext cx="2468880" cy="2011680"/>
            <a:chOff x="2884829" y="1161888"/>
            <a:chExt cx="2461366" cy="1837358"/>
          </a:xfrm>
        </p:grpSpPr>
        <p:sp>
          <p:nvSpPr>
            <p:cNvPr id="119" name="Rectangle: Top Corners Rounded 118">
              <a:extLst>
                <a:ext uri="{FF2B5EF4-FFF2-40B4-BE49-F238E27FC236}">
                  <a16:creationId xmlns:a16="http://schemas.microsoft.com/office/drawing/2014/main" id="{600061F9-E30E-D341-8137-F320EF7D88F5}"/>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20" name="Rectangle: Top Corners Rounded 4">
              <a:extLst>
                <a:ext uri="{FF2B5EF4-FFF2-40B4-BE49-F238E27FC236}">
                  <a16:creationId xmlns:a16="http://schemas.microsoft.com/office/drawing/2014/main" id="{C2050F80-5EB4-25DD-CB69-F7BE4D4630D3}"/>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Bloquear/Permitir el acceso en base directicas organizativas relativas a pertenencia, direcciones IP, dispositivo, detección de riesgos,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etc</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Bloquear / Permitir acceso de invitados a entornos de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21" name="Group 120">
            <a:extLst>
              <a:ext uri="{FF2B5EF4-FFF2-40B4-BE49-F238E27FC236}">
                <a16:creationId xmlns:a16="http://schemas.microsoft.com/office/drawing/2014/main" id="{650ECCCA-76AF-0104-EFD5-E46726074C25}"/>
              </a:ext>
            </a:extLst>
          </p:cNvPr>
          <p:cNvGrpSpPr/>
          <p:nvPr/>
        </p:nvGrpSpPr>
        <p:grpSpPr>
          <a:xfrm>
            <a:off x="6181174" y="4260776"/>
            <a:ext cx="2468881" cy="790063"/>
            <a:chOff x="2884828" y="2999246"/>
            <a:chExt cx="2461367" cy="790063"/>
          </a:xfrm>
          <a:solidFill>
            <a:srgbClr val="5B9BD5"/>
          </a:solidFill>
        </p:grpSpPr>
        <p:sp>
          <p:nvSpPr>
            <p:cNvPr id="122" name="Rectangle 121">
              <a:extLst>
                <a:ext uri="{FF2B5EF4-FFF2-40B4-BE49-F238E27FC236}">
                  <a16:creationId xmlns:a16="http://schemas.microsoft.com/office/drawing/2014/main" id="{C90F70CE-26C4-D4B9-B8DD-C4DEE23E2299}"/>
                </a:ext>
              </a:extLst>
            </p:cNvPr>
            <p:cNvSpPr/>
            <p:nvPr/>
          </p:nvSpPr>
          <p:spPr>
            <a:xfrm>
              <a:off x="2884829"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23" name="TextBox 122">
              <a:extLst>
                <a:ext uri="{FF2B5EF4-FFF2-40B4-BE49-F238E27FC236}">
                  <a16:creationId xmlns:a16="http://schemas.microsoft.com/office/drawing/2014/main" id="{044C2EE8-FD3D-F7FA-19AC-B8E09B96B210}"/>
                </a:ext>
              </a:extLst>
            </p:cNvPr>
            <p:cNvSpPr txBox="1"/>
            <p:nvPr/>
          </p:nvSpPr>
          <p:spPr>
            <a:xfrm>
              <a:off x="2884828" y="2999246"/>
              <a:ext cx="2023724"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err="1">
                  <a:solidFill>
                    <a:prstClr val="white"/>
                  </a:solidFill>
                  <a:latin typeface="Segoe UI" panose="020B0502040204020203" pitchFamily="34" charset="0"/>
                  <a:cs typeface="Segoe UI" panose="020B0502040204020203" pitchFamily="34" charset="0"/>
                </a:rPr>
                <a:t>Acceso</a:t>
              </a:r>
              <a:r>
                <a:rPr lang="fr-FR" sz="1600" b="1" kern="0">
                  <a:solidFill>
                    <a:prstClr val="white"/>
                  </a:solidFill>
                  <a:latin typeface="Segoe UI" panose="020B0502040204020203" pitchFamily="34" charset="0"/>
                  <a:cs typeface="Segoe UI" panose="020B0502040204020203" pitchFamily="34" charset="0"/>
                </a:rPr>
                <a:t> </a:t>
              </a:r>
              <a:r>
                <a:rPr lang="fr-FR" sz="1600" b="1" kern="0" err="1">
                  <a:solidFill>
                    <a:prstClr val="white"/>
                  </a:solidFill>
                  <a:latin typeface="Segoe UI" panose="020B0502040204020203" pitchFamily="34" charset="0"/>
                  <a:cs typeface="Segoe UI" panose="020B0502040204020203" pitchFamily="34" charset="0"/>
                </a:rPr>
                <a:t>Condicional</a:t>
              </a:r>
              <a:r>
                <a:rPr lang="fr-FR" sz="1600" b="1" kern="0">
                  <a:solidFill>
                    <a:prstClr val="white"/>
                  </a:solidFill>
                  <a:latin typeface="Segoe UI" panose="020B0502040204020203" pitchFamily="34" charset="0"/>
                  <a:cs typeface="Segoe UI" panose="020B0502040204020203" pitchFamily="34" charset="0"/>
                </a:rPr>
                <a:t> + </a:t>
              </a:r>
              <a:r>
                <a:rPr lang="fr-FR" sz="1600" b="1" kern="0" err="1">
                  <a:solidFill>
                    <a:prstClr val="white"/>
                  </a:solidFill>
                  <a:latin typeface="Segoe UI" panose="020B0502040204020203" pitchFamily="34" charset="0"/>
                  <a:cs typeface="Segoe UI" panose="020B0502040204020203" pitchFamily="34" charset="0"/>
                </a:rPr>
                <a:t>Acceso</a:t>
              </a:r>
              <a:r>
                <a:rPr lang="fr-FR" sz="1600" b="1" kern="0">
                  <a:solidFill>
                    <a:prstClr val="white"/>
                  </a:solidFill>
                  <a:latin typeface="Segoe UI" panose="020B0502040204020203" pitchFamily="34" charset="0"/>
                  <a:cs typeface="Segoe UI" panose="020B0502040204020203" pitchFamily="34" charset="0"/>
                </a:rPr>
                <a:t> de </a:t>
              </a:r>
              <a:r>
                <a:rPr lang="fr-FR" sz="1600" b="1" kern="0" err="1">
                  <a:solidFill>
                    <a:prstClr val="white"/>
                  </a:solidFill>
                  <a:latin typeface="Segoe UI" panose="020B0502040204020203" pitchFamily="34" charset="0"/>
                  <a:cs typeface="Segoe UI" panose="020B0502040204020203" pitchFamily="34" charset="0"/>
                </a:rPr>
                <a:t>Invitados</a:t>
              </a:r>
              <a:endParaRPr lang="fr-FR" sz="1600" b="1" kern="0">
                <a:solidFill>
                  <a:prstClr val="white"/>
                </a:solidFill>
                <a:latin typeface="Segoe UI" panose="020B0502040204020203" pitchFamily="34" charset="0"/>
                <a:cs typeface="Segoe UI" panose="020B0502040204020203" pitchFamily="34" charset="0"/>
              </a:endParaRPr>
            </a:p>
          </p:txBody>
        </p:sp>
      </p:grpSp>
      <p:grpSp>
        <p:nvGrpSpPr>
          <p:cNvPr id="124" name="Group 123">
            <a:extLst>
              <a:ext uri="{FF2B5EF4-FFF2-40B4-BE49-F238E27FC236}">
                <a16:creationId xmlns:a16="http://schemas.microsoft.com/office/drawing/2014/main" id="{C0909E21-4CA9-80BB-3973-3C7559ABB0FF}"/>
              </a:ext>
            </a:extLst>
          </p:cNvPr>
          <p:cNvGrpSpPr/>
          <p:nvPr/>
        </p:nvGrpSpPr>
        <p:grpSpPr>
          <a:xfrm>
            <a:off x="707751" y="2259241"/>
            <a:ext cx="2468880" cy="2011680"/>
            <a:chOff x="8640607" y="1161888"/>
            <a:chExt cx="2461366" cy="1837358"/>
          </a:xfrm>
        </p:grpSpPr>
        <p:sp>
          <p:nvSpPr>
            <p:cNvPr id="125" name="Rectangle: Top Corners Rounded 124">
              <a:extLst>
                <a:ext uri="{FF2B5EF4-FFF2-40B4-BE49-F238E27FC236}">
                  <a16:creationId xmlns:a16="http://schemas.microsoft.com/office/drawing/2014/main" id="{2184DEA0-A94F-BC5D-B6E6-07446D485EB1}"/>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26" name="Rectangle: Top Corners Rounded 4">
              <a:extLst>
                <a:ext uri="{FF2B5EF4-FFF2-40B4-BE49-F238E27FC236}">
                  <a16:creationId xmlns:a16="http://schemas.microsoft.com/office/drawing/2014/main" id="{26CCAB16-1C67-754B-37BF-28C7B3A380E6}"/>
                </a:ext>
              </a:extLst>
            </p:cNvPr>
            <p:cNvSpPr txBox="1"/>
            <p:nvPr/>
          </p:nvSpPr>
          <p:spPr>
            <a:xfrm>
              <a:off x="8683658"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a:t>
              </a:r>
              <a:r>
                <a:rPr lang="en-US" sz="1300" kern="0">
                  <a:solidFill>
                    <a:prstClr val="black">
                      <a:hueOff val="0"/>
                      <a:satOff val="0"/>
                      <a:lumOff val="0"/>
                      <a:alphaOff val="0"/>
                    </a:prstClr>
                  </a:solidFill>
                  <a:latin typeface="Segoe UI" panose="020B0502040204020203" pitchFamily="34" charset="0"/>
                  <a:cs typeface="Segoe UI" panose="020B0502040204020203" pitchFamily="34" charset="0"/>
                </a:rPr>
                <a:t>e </a:t>
              </a:r>
              <a:r>
                <a:rPr lang="es-ES" sz="1300" kern="0" noProof="0">
                  <a:solidFill>
                    <a:prstClr val="black">
                      <a:hueOff val="0"/>
                      <a:satOff val="0"/>
                      <a:lumOff val="0"/>
                      <a:alphaOff val="0"/>
                    </a:prstClr>
                  </a:solidFill>
                  <a:latin typeface="Segoe UI" panose="020B0502040204020203" pitchFamily="34" charset="0"/>
                  <a:cs typeface="Segoe UI" panose="020B0502040204020203" pitchFamily="34" charset="0"/>
                </a:rPr>
                <a:t>fuerza el acceso con rol de administrador justo cuando se necesita</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Se minimiza el # de usuarios con privilegios y el tiempo de acceso</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Se reduce el riesgo de acceso autorizado a datos sensibles / usuarios “maliciosos” ganando acceso</a:t>
              </a:r>
              <a:endParaRPr lang="en-U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27" name="Group 126">
            <a:extLst>
              <a:ext uri="{FF2B5EF4-FFF2-40B4-BE49-F238E27FC236}">
                <a16:creationId xmlns:a16="http://schemas.microsoft.com/office/drawing/2014/main" id="{F8E3DA7A-2ABC-A97A-6DE1-0F124085E36F}"/>
              </a:ext>
            </a:extLst>
          </p:cNvPr>
          <p:cNvGrpSpPr/>
          <p:nvPr/>
        </p:nvGrpSpPr>
        <p:grpSpPr>
          <a:xfrm>
            <a:off x="705142" y="4255827"/>
            <a:ext cx="2468880" cy="790063"/>
            <a:chOff x="8632682" y="3002849"/>
            <a:chExt cx="2461366" cy="790063"/>
          </a:xfrm>
          <a:solidFill>
            <a:srgbClr val="A5A5A5"/>
          </a:solidFill>
        </p:grpSpPr>
        <p:sp>
          <p:nvSpPr>
            <p:cNvPr id="128" name="Rectangle 127">
              <a:extLst>
                <a:ext uri="{FF2B5EF4-FFF2-40B4-BE49-F238E27FC236}">
                  <a16:creationId xmlns:a16="http://schemas.microsoft.com/office/drawing/2014/main" id="{811D6FEC-C57F-555C-1E54-A4956BD4F599}"/>
                </a:ext>
              </a:extLst>
            </p:cNvPr>
            <p:cNvSpPr/>
            <p:nvPr/>
          </p:nvSpPr>
          <p:spPr>
            <a:xfrm>
              <a:off x="8632682" y="3002849"/>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29" name="TextBox 128">
              <a:extLst>
                <a:ext uri="{FF2B5EF4-FFF2-40B4-BE49-F238E27FC236}">
                  <a16:creationId xmlns:a16="http://schemas.microsoft.com/office/drawing/2014/main" id="{C3FC4331-D9B0-595D-7DC6-7CD2F9338379}"/>
                </a:ext>
              </a:extLst>
            </p:cNvPr>
            <p:cNvSpPr txBox="1"/>
            <p:nvPr/>
          </p:nvSpPr>
          <p:spPr>
            <a:xfrm>
              <a:off x="8632683" y="3002849"/>
              <a:ext cx="1863051"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err="1">
                  <a:solidFill>
                    <a:prstClr val="white"/>
                  </a:solidFill>
                  <a:latin typeface="Segoe UI" panose="020B0502040204020203" pitchFamily="34" charset="0"/>
                  <a:cs typeface="Segoe UI" panose="020B0502040204020203" pitchFamily="34" charset="0"/>
                </a:rPr>
                <a:t>Privilege</a:t>
              </a:r>
              <a:r>
                <a:rPr lang="es-ES" sz="1600" b="1" kern="0">
                  <a:solidFill>
                    <a:prstClr val="white"/>
                  </a:solidFill>
                  <a:latin typeface="Segoe UI" panose="020B0502040204020203" pitchFamily="34" charset="0"/>
                  <a:cs typeface="Segoe UI" panose="020B0502040204020203" pitchFamily="34" charset="0"/>
                </a:rPr>
                <a:t> </a:t>
              </a:r>
              <a:r>
                <a:rPr lang="es-ES" sz="1600" b="1" kern="0" err="1">
                  <a:solidFill>
                    <a:prstClr val="white"/>
                  </a:solidFill>
                  <a:latin typeface="Segoe UI" panose="020B0502040204020203" pitchFamily="34" charset="0"/>
                  <a:cs typeface="Segoe UI" panose="020B0502040204020203" pitchFamily="34" charset="0"/>
                </a:rPr>
                <a:t>Identity</a:t>
              </a:r>
              <a:r>
                <a:rPr lang="es-ES" sz="1600" b="1" kern="0">
                  <a:solidFill>
                    <a:prstClr val="white"/>
                  </a:solidFill>
                  <a:latin typeface="Segoe UI" panose="020B0502040204020203" pitchFamily="34" charset="0"/>
                  <a:cs typeface="Segoe UI" panose="020B0502040204020203" pitchFamily="34" charset="0"/>
                </a:rPr>
                <a:t> Management</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132" name="Picture 131">
            <a:extLst>
              <a:ext uri="{FF2B5EF4-FFF2-40B4-BE49-F238E27FC236}">
                <a16:creationId xmlns:a16="http://schemas.microsoft.com/office/drawing/2014/main" id="{3B1029BD-7598-6C48-17CB-85BF9FF0047C}"/>
              </a:ext>
            </a:extLst>
          </p:cNvPr>
          <p:cNvPicPr>
            <a:picLocks noChangeAspect="1"/>
          </p:cNvPicPr>
          <p:nvPr/>
        </p:nvPicPr>
        <p:blipFill>
          <a:blip r:embed="rId3"/>
          <a:stretch>
            <a:fillRect/>
          </a:stretch>
        </p:blipFill>
        <p:spPr>
          <a:xfrm>
            <a:off x="8001508" y="4335767"/>
            <a:ext cx="640080" cy="640080"/>
          </a:xfrm>
          <a:prstGeom prst="rect">
            <a:avLst/>
          </a:prstGeom>
        </p:spPr>
      </p:pic>
      <p:grpSp>
        <p:nvGrpSpPr>
          <p:cNvPr id="133" name="Group 132">
            <a:extLst>
              <a:ext uri="{FF2B5EF4-FFF2-40B4-BE49-F238E27FC236}">
                <a16:creationId xmlns:a16="http://schemas.microsoft.com/office/drawing/2014/main" id="{8B4CB976-2C2A-BC23-5E2F-921E5F6FE49C}"/>
              </a:ext>
            </a:extLst>
          </p:cNvPr>
          <p:cNvGrpSpPr/>
          <p:nvPr/>
        </p:nvGrpSpPr>
        <p:grpSpPr>
          <a:xfrm>
            <a:off x="8941308" y="2240544"/>
            <a:ext cx="2468880" cy="2011680"/>
            <a:chOff x="2884829" y="1161888"/>
            <a:chExt cx="2461366" cy="1837358"/>
          </a:xfrm>
        </p:grpSpPr>
        <p:sp>
          <p:nvSpPr>
            <p:cNvPr id="134" name="Rectangle: Top Corners Rounded 133">
              <a:extLst>
                <a:ext uri="{FF2B5EF4-FFF2-40B4-BE49-F238E27FC236}">
                  <a16:creationId xmlns:a16="http://schemas.microsoft.com/office/drawing/2014/main" id="{EA713105-3CE4-0E42-2214-A51687F05FD6}"/>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35" name="Rectangle: Top Corners Rounded 4">
              <a:extLst>
                <a:ext uri="{FF2B5EF4-FFF2-40B4-BE49-F238E27FC236}">
                  <a16:creationId xmlns:a16="http://schemas.microsoft.com/office/drawing/2014/main" id="{6E2EDAF8-C808-5177-138D-014EEC3A326E}"/>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Deshabilitar el Acceso anónimo a Agentes</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Establecer el método preferido de autenticación para Agentes</a:t>
              </a:r>
            </a:p>
            <a:p>
              <a:pPr marL="114300" lvl="1" indent="-114300" defTabSz="533400">
                <a:lnSpc>
                  <a:spcPct val="90000"/>
                </a:lnSpc>
                <a:spcBef>
                  <a:spcPct val="0"/>
                </a:spcBef>
                <a:spcAft>
                  <a:spcPct val="15000"/>
                </a:spcAft>
                <a:buFontTx/>
                <a:buChar char="•"/>
                <a:defRPr/>
              </a:pP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36" name="Group 135">
            <a:extLst>
              <a:ext uri="{FF2B5EF4-FFF2-40B4-BE49-F238E27FC236}">
                <a16:creationId xmlns:a16="http://schemas.microsoft.com/office/drawing/2014/main" id="{ACCCEB2E-C020-E092-DF52-CD7B0D2CFCDF}"/>
              </a:ext>
            </a:extLst>
          </p:cNvPr>
          <p:cNvGrpSpPr/>
          <p:nvPr/>
        </p:nvGrpSpPr>
        <p:grpSpPr>
          <a:xfrm>
            <a:off x="8941308" y="4234854"/>
            <a:ext cx="2468880" cy="790063"/>
            <a:chOff x="2884829" y="2999246"/>
            <a:chExt cx="2461366" cy="790063"/>
          </a:xfrm>
          <a:solidFill>
            <a:srgbClr val="ED7D31"/>
          </a:solidFill>
        </p:grpSpPr>
        <p:sp>
          <p:nvSpPr>
            <p:cNvPr id="137" name="Rectangle 136">
              <a:extLst>
                <a:ext uri="{FF2B5EF4-FFF2-40B4-BE49-F238E27FC236}">
                  <a16:creationId xmlns:a16="http://schemas.microsoft.com/office/drawing/2014/main" id="{CFA51C38-9361-5C55-172E-4C8D08AD2D7D}"/>
                </a:ext>
              </a:extLst>
            </p:cNvPr>
            <p:cNvSpPr/>
            <p:nvPr/>
          </p:nvSpPr>
          <p:spPr>
            <a:xfrm>
              <a:off x="2884829"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38" name="TextBox 137">
              <a:extLst>
                <a:ext uri="{FF2B5EF4-FFF2-40B4-BE49-F238E27FC236}">
                  <a16:creationId xmlns:a16="http://schemas.microsoft.com/office/drawing/2014/main" id="{BF966222-DF1E-3FB6-D69A-EFC31AD7F6F1}"/>
                </a:ext>
              </a:extLst>
            </p:cNvPr>
            <p:cNvSpPr txBox="1"/>
            <p:nvPr/>
          </p:nvSpPr>
          <p:spPr>
            <a:xfrm>
              <a:off x="2884829" y="2999246"/>
              <a:ext cx="1733356"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err="1">
                  <a:solidFill>
                    <a:prstClr val="white"/>
                  </a:solidFill>
                  <a:latin typeface="Segoe UI" panose="020B0502040204020203" pitchFamily="34" charset="0"/>
                  <a:cs typeface="Segoe UI" panose="020B0502040204020203" pitchFamily="34" charset="0"/>
                </a:rPr>
                <a:t>Acceso</a:t>
              </a:r>
              <a:r>
                <a:rPr lang="fr-FR" sz="1600" b="1" kern="0">
                  <a:solidFill>
                    <a:prstClr val="white"/>
                  </a:solidFill>
                  <a:latin typeface="Segoe UI" panose="020B0502040204020203" pitchFamily="34" charset="0"/>
                  <a:cs typeface="Segoe UI" panose="020B0502040204020203" pitchFamily="34" charset="0"/>
                </a:rPr>
                <a:t> y </a:t>
              </a:r>
              <a:r>
                <a:rPr lang="fr-FR" sz="1600" b="1" kern="0" err="1">
                  <a:solidFill>
                    <a:prstClr val="white"/>
                  </a:solidFill>
                  <a:latin typeface="Segoe UI" panose="020B0502040204020203" pitchFamily="34" charset="0"/>
                  <a:cs typeface="Segoe UI" panose="020B0502040204020203" pitchFamily="34" charset="0"/>
                </a:rPr>
                <a:t>Autenticación</a:t>
              </a:r>
              <a:r>
                <a:rPr lang="fr-FR" sz="1600" b="1" kern="0">
                  <a:solidFill>
                    <a:prstClr val="white"/>
                  </a:solidFill>
                  <a:latin typeface="Segoe UI" panose="020B0502040204020203" pitchFamily="34" charset="0"/>
                  <a:cs typeface="Segoe UI" panose="020B0502040204020203" pitchFamily="34" charset="0"/>
                </a:rPr>
                <a:t> de Agentes</a:t>
              </a:r>
            </a:p>
          </p:txBody>
        </p:sp>
      </p:grpSp>
      <p:pic>
        <p:nvPicPr>
          <p:cNvPr id="142" name="Picture 141">
            <a:extLst>
              <a:ext uri="{FF2B5EF4-FFF2-40B4-BE49-F238E27FC236}">
                <a16:creationId xmlns:a16="http://schemas.microsoft.com/office/drawing/2014/main" id="{7458CA4C-04CC-FA7D-0FAD-528454F9F34B}"/>
              </a:ext>
            </a:extLst>
          </p:cNvPr>
          <p:cNvPicPr>
            <a:picLocks noChangeAspect="1"/>
          </p:cNvPicPr>
          <p:nvPr/>
        </p:nvPicPr>
        <p:blipFill>
          <a:blip r:embed="rId4"/>
          <a:stretch>
            <a:fillRect/>
          </a:stretch>
        </p:blipFill>
        <p:spPr>
          <a:xfrm>
            <a:off x="5242118" y="4309845"/>
            <a:ext cx="640080" cy="640080"/>
          </a:xfrm>
          <a:prstGeom prst="rect">
            <a:avLst/>
          </a:prstGeom>
        </p:spPr>
      </p:pic>
      <p:pic>
        <p:nvPicPr>
          <p:cNvPr id="144" name="Picture 143">
            <a:extLst>
              <a:ext uri="{FF2B5EF4-FFF2-40B4-BE49-F238E27FC236}">
                <a16:creationId xmlns:a16="http://schemas.microsoft.com/office/drawing/2014/main" id="{8D296DFF-BAC9-8722-ECA7-624E7178700E}"/>
              </a:ext>
            </a:extLst>
          </p:cNvPr>
          <p:cNvPicPr>
            <a:picLocks noChangeAspect="1"/>
          </p:cNvPicPr>
          <p:nvPr/>
        </p:nvPicPr>
        <p:blipFill>
          <a:blip r:embed="rId5"/>
          <a:stretch>
            <a:fillRect/>
          </a:stretch>
        </p:blipFill>
        <p:spPr>
          <a:xfrm>
            <a:off x="10726924" y="4309845"/>
            <a:ext cx="640080" cy="640080"/>
          </a:xfrm>
          <a:prstGeom prst="rect">
            <a:avLst/>
          </a:prstGeom>
        </p:spPr>
      </p:pic>
      <p:pic>
        <p:nvPicPr>
          <p:cNvPr id="147" name="Picture 146">
            <a:extLst>
              <a:ext uri="{FF2B5EF4-FFF2-40B4-BE49-F238E27FC236}">
                <a16:creationId xmlns:a16="http://schemas.microsoft.com/office/drawing/2014/main" id="{C746613D-F967-8C94-B651-5C0D6D883C11}"/>
              </a:ext>
            </a:extLst>
          </p:cNvPr>
          <p:cNvPicPr>
            <a:picLocks noChangeAspect="1"/>
          </p:cNvPicPr>
          <p:nvPr/>
        </p:nvPicPr>
        <p:blipFill>
          <a:blip r:embed="rId6"/>
          <a:stretch>
            <a:fillRect/>
          </a:stretch>
        </p:blipFill>
        <p:spPr>
          <a:xfrm>
            <a:off x="2508350" y="4309845"/>
            <a:ext cx="640080" cy="640080"/>
          </a:xfrm>
          <a:prstGeom prst="rect">
            <a:avLst/>
          </a:prstGeom>
        </p:spPr>
      </p:pic>
      <p:pic>
        <p:nvPicPr>
          <p:cNvPr id="4" name="Picture Placeholder 2" descr="A person smiling for a picture&#10;&#10;AI-generated content may be incorrect.">
            <a:extLst>
              <a:ext uri="{FF2B5EF4-FFF2-40B4-BE49-F238E27FC236}">
                <a16:creationId xmlns:a16="http://schemas.microsoft.com/office/drawing/2014/main" id="{C632D687-AA27-189A-30EC-28CAD19A456E}"/>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117827" y="139602"/>
            <a:ext cx="910149" cy="1005840"/>
          </a:xfrm>
          <a:prstGeom prst="ellipse">
            <a:avLst/>
          </a:prstGeom>
          <a:ln>
            <a:noFill/>
          </a:ln>
          <a:effectLst>
            <a:softEdge rad="112500"/>
          </a:effectLst>
        </p:spPr>
      </p:pic>
    </p:spTree>
    <p:extLst>
      <p:ext uri="{BB962C8B-B14F-4D97-AF65-F5344CB8AC3E}">
        <p14:creationId xmlns:p14="http://schemas.microsoft.com/office/powerpoint/2010/main" val="3017693357"/>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1000"/>
                                        <p:tgtEl>
                                          <p:spTgt spid="112"/>
                                        </p:tgtEl>
                                      </p:cBhvr>
                                    </p:animEffect>
                                    <p:anim calcmode="lin" valueType="num">
                                      <p:cBhvr>
                                        <p:cTn id="8" dur="1000" fill="hold"/>
                                        <p:tgtEl>
                                          <p:spTgt spid="112"/>
                                        </p:tgtEl>
                                        <p:attrNameLst>
                                          <p:attrName>ppt_x</p:attrName>
                                        </p:attrNameLst>
                                      </p:cBhvr>
                                      <p:tavLst>
                                        <p:tav tm="0">
                                          <p:val>
                                            <p:strVal val="#ppt_x"/>
                                          </p:val>
                                        </p:tav>
                                        <p:tav tm="100000">
                                          <p:val>
                                            <p:strVal val="#ppt_x"/>
                                          </p:val>
                                        </p:tav>
                                      </p:tavLst>
                                    </p:anim>
                                    <p:anim calcmode="lin" valueType="num">
                                      <p:cBhvr>
                                        <p:cTn id="9" dur="1000" fill="hold"/>
                                        <p:tgtEl>
                                          <p:spTgt spid="1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fade">
                                      <p:cBhvr>
                                        <p:cTn id="12" dur="1000"/>
                                        <p:tgtEl>
                                          <p:spTgt spid="115"/>
                                        </p:tgtEl>
                                      </p:cBhvr>
                                    </p:animEffect>
                                    <p:anim calcmode="lin" valueType="num">
                                      <p:cBhvr>
                                        <p:cTn id="13" dur="1000" fill="hold"/>
                                        <p:tgtEl>
                                          <p:spTgt spid="115"/>
                                        </p:tgtEl>
                                        <p:attrNameLst>
                                          <p:attrName>ppt_x</p:attrName>
                                        </p:attrNameLst>
                                      </p:cBhvr>
                                      <p:tavLst>
                                        <p:tav tm="0">
                                          <p:val>
                                            <p:strVal val="#ppt_x"/>
                                          </p:val>
                                        </p:tav>
                                        <p:tav tm="100000">
                                          <p:val>
                                            <p:strVal val="#ppt_x"/>
                                          </p:val>
                                        </p:tav>
                                      </p:tavLst>
                                    </p:anim>
                                    <p:anim calcmode="lin" valueType="num">
                                      <p:cBhvr>
                                        <p:cTn id="14" dur="1000" fill="hold"/>
                                        <p:tgtEl>
                                          <p:spTgt spid="11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8"/>
                                        </p:tgtEl>
                                        <p:attrNameLst>
                                          <p:attrName>style.visibility</p:attrName>
                                        </p:attrNameLst>
                                      </p:cBhvr>
                                      <p:to>
                                        <p:strVal val="visible"/>
                                      </p:to>
                                    </p:set>
                                    <p:animEffect transition="in" filter="fade">
                                      <p:cBhvr>
                                        <p:cTn id="17" dur="1000"/>
                                        <p:tgtEl>
                                          <p:spTgt spid="118"/>
                                        </p:tgtEl>
                                      </p:cBhvr>
                                    </p:animEffect>
                                    <p:anim calcmode="lin" valueType="num">
                                      <p:cBhvr>
                                        <p:cTn id="18" dur="1000" fill="hold"/>
                                        <p:tgtEl>
                                          <p:spTgt spid="118"/>
                                        </p:tgtEl>
                                        <p:attrNameLst>
                                          <p:attrName>ppt_x</p:attrName>
                                        </p:attrNameLst>
                                      </p:cBhvr>
                                      <p:tavLst>
                                        <p:tav tm="0">
                                          <p:val>
                                            <p:strVal val="#ppt_x"/>
                                          </p:val>
                                        </p:tav>
                                        <p:tav tm="100000">
                                          <p:val>
                                            <p:strVal val="#ppt_x"/>
                                          </p:val>
                                        </p:tav>
                                      </p:tavLst>
                                    </p:anim>
                                    <p:anim calcmode="lin" valueType="num">
                                      <p:cBhvr>
                                        <p:cTn id="19" dur="1000" fill="hold"/>
                                        <p:tgtEl>
                                          <p:spTgt spid="11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1"/>
                                        </p:tgtEl>
                                        <p:attrNameLst>
                                          <p:attrName>style.visibility</p:attrName>
                                        </p:attrNameLst>
                                      </p:cBhvr>
                                      <p:to>
                                        <p:strVal val="visible"/>
                                      </p:to>
                                    </p:set>
                                    <p:animEffect transition="in" filter="fade">
                                      <p:cBhvr>
                                        <p:cTn id="22" dur="1000"/>
                                        <p:tgtEl>
                                          <p:spTgt spid="121"/>
                                        </p:tgtEl>
                                      </p:cBhvr>
                                    </p:animEffect>
                                    <p:anim calcmode="lin" valueType="num">
                                      <p:cBhvr>
                                        <p:cTn id="23" dur="1000" fill="hold"/>
                                        <p:tgtEl>
                                          <p:spTgt spid="121"/>
                                        </p:tgtEl>
                                        <p:attrNameLst>
                                          <p:attrName>ppt_x</p:attrName>
                                        </p:attrNameLst>
                                      </p:cBhvr>
                                      <p:tavLst>
                                        <p:tav tm="0">
                                          <p:val>
                                            <p:strVal val="#ppt_x"/>
                                          </p:val>
                                        </p:tav>
                                        <p:tav tm="100000">
                                          <p:val>
                                            <p:strVal val="#ppt_x"/>
                                          </p:val>
                                        </p:tav>
                                      </p:tavLst>
                                    </p:anim>
                                    <p:anim calcmode="lin" valueType="num">
                                      <p:cBhvr>
                                        <p:cTn id="24" dur="1000" fill="hold"/>
                                        <p:tgtEl>
                                          <p:spTgt spid="12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fade">
                                      <p:cBhvr>
                                        <p:cTn id="27" dur="1000"/>
                                        <p:tgtEl>
                                          <p:spTgt spid="124"/>
                                        </p:tgtEl>
                                      </p:cBhvr>
                                    </p:animEffect>
                                    <p:anim calcmode="lin" valueType="num">
                                      <p:cBhvr>
                                        <p:cTn id="28" dur="1000" fill="hold"/>
                                        <p:tgtEl>
                                          <p:spTgt spid="124"/>
                                        </p:tgtEl>
                                        <p:attrNameLst>
                                          <p:attrName>ppt_x</p:attrName>
                                        </p:attrNameLst>
                                      </p:cBhvr>
                                      <p:tavLst>
                                        <p:tav tm="0">
                                          <p:val>
                                            <p:strVal val="#ppt_x"/>
                                          </p:val>
                                        </p:tav>
                                        <p:tav tm="100000">
                                          <p:val>
                                            <p:strVal val="#ppt_x"/>
                                          </p:val>
                                        </p:tav>
                                      </p:tavLst>
                                    </p:anim>
                                    <p:anim calcmode="lin" valueType="num">
                                      <p:cBhvr>
                                        <p:cTn id="29" dur="1000" fill="hold"/>
                                        <p:tgtEl>
                                          <p:spTgt spid="124"/>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27"/>
                                        </p:tgtEl>
                                        <p:attrNameLst>
                                          <p:attrName>style.visibility</p:attrName>
                                        </p:attrNameLst>
                                      </p:cBhvr>
                                      <p:to>
                                        <p:strVal val="visible"/>
                                      </p:to>
                                    </p:set>
                                    <p:animEffect transition="in" filter="fade">
                                      <p:cBhvr>
                                        <p:cTn id="32" dur="1000"/>
                                        <p:tgtEl>
                                          <p:spTgt spid="127"/>
                                        </p:tgtEl>
                                      </p:cBhvr>
                                    </p:animEffect>
                                    <p:anim calcmode="lin" valueType="num">
                                      <p:cBhvr>
                                        <p:cTn id="33" dur="1000" fill="hold"/>
                                        <p:tgtEl>
                                          <p:spTgt spid="127"/>
                                        </p:tgtEl>
                                        <p:attrNameLst>
                                          <p:attrName>ppt_x</p:attrName>
                                        </p:attrNameLst>
                                      </p:cBhvr>
                                      <p:tavLst>
                                        <p:tav tm="0">
                                          <p:val>
                                            <p:strVal val="#ppt_x"/>
                                          </p:val>
                                        </p:tav>
                                        <p:tav tm="100000">
                                          <p:val>
                                            <p:strVal val="#ppt_x"/>
                                          </p:val>
                                        </p:tav>
                                      </p:tavLst>
                                    </p:anim>
                                    <p:anim calcmode="lin" valueType="num">
                                      <p:cBhvr>
                                        <p:cTn id="34" dur="1000" fill="hold"/>
                                        <p:tgtEl>
                                          <p:spTgt spid="12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32"/>
                                        </p:tgtEl>
                                        <p:attrNameLst>
                                          <p:attrName>style.visibility</p:attrName>
                                        </p:attrNameLst>
                                      </p:cBhvr>
                                      <p:to>
                                        <p:strVal val="visible"/>
                                      </p:to>
                                    </p:set>
                                    <p:animEffect transition="in" filter="fade">
                                      <p:cBhvr>
                                        <p:cTn id="37" dur="1000"/>
                                        <p:tgtEl>
                                          <p:spTgt spid="132"/>
                                        </p:tgtEl>
                                      </p:cBhvr>
                                    </p:animEffect>
                                    <p:anim calcmode="lin" valueType="num">
                                      <p:cBhvr>
                                        <p:cTn id="38" dur="1000" fill="hold"/>
                                        <p:tgtEl>
                                          <p:spTgt spid="132"/>
                                        </p:tgtEl>
                                        <p:attrNameLst>
                                          <p:attrName>ppt_x</p:attrName>
                                        </p:attrNameLst>
                                      </p:cBhvr>
                                      <p:tavLst>
                                        <p:tav tm="0">
                                          <p:val>
                                            <p:strVal val="#ppt_x"/>
                                          </p:val>
                                        </p:tav>
                                        <p:tav tm="100000">
                                          <p:val>
                                            <p:strVal val="#ppt_x"/>
                                          </p:val>
                                        </p:tav>
                                      </p:tavLst>
                                    </p:anim>
                                    <p:anim calcmode="lin" valueType="num">
                                      <p:cBhvr>
                                        <p:cTn id="39" dur="1000" fill="hold"/>
                                        <p:tgtEl>
                                          <p:spTgt spid="13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33"/>
                                        </p:tgtEl>
                                        <p:attrNameLst>
                                          <p:attrName>style.visibility</p:attrName>
                                        </p:attrNameLst>
                                      </p:cBhvr>
                                      <p:to>
                                        <p:strVal val="visible"/>
                                      </p:to>
                                    </p:set>
                                    <p:animEffect transition="in" filter="fade">
                                      <p:cBhvr>
                                        <p:cTn id="42" dur="1000"/>
                                        <p:tgtEl>
                                          <p:spTgt spid="133"/>
                                        </p:tgtEl>
                                      </p:cBhvr>
                                    </p:animEffect>
                                    <p:anim calcmode="lin" valueType="num">
                                      <p:cBhvr>
                                        <p:cTn id="43" dur="1000" fill="hold"/>
                                        <p:tgtEl>
                                          <p:spTgt spid="133"/>
                                        </p:tgtEl>
                                        <p:attrNameLst>
                                          <p:attrName>ppt_x</p:attrName>
                                        </p:attrNameLst>
                                      </p:cBhvr>
                                      <p:tavLst>
                                        <p:tav tm="0">
                                          <p:val>
                                            <p:strVal val="#ppt_x"/>
                                          </p:val>
                                        </p:tav>
                                        <p:tav tm="100000">
                                          <p:val>
                                            <p:strVal val="#ppt_x"/>
                                          </p:val>
                                        </p:tav>
                                      </p:tavLst>
                                    </p:anim>
                                    <p:anim calcmode="lin" valueType="num">
                                      <p:cBhvr>
                                        <p:cTn id="44" dur="1000" fill="hold"/>
                                        <p:tgtEl>
                                          <p:spTgt spid="133"/>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36"/>
                                        </p:tgtEl>
                                        <p:attrNameLst>
                                          <p:attrName>style.visibility</p:attrName>
                                        </p:attrNameLst>
                                      </p:cBhvr>
                                      <p:to>
                                        <p:strVal val="visible"/>
                                      </p:to>
                                    </p:set>
                                    <p:animEffect transition="in" filter="fade">
                                      <p:cBhvr>
                                        <p:cTn id="47" dur="1000"/>
                                        <p:tgtEl>
                                          <p:spTgt spid="136"/>
                                        </p:tgtEl>
                                      </p:cBhvr>
                                    </p:animEffect>
                                    <p:anim calcmode="lin" valueType="num">
                                      <p:cBhvr>
                                        <p:cTn id="48" dur="1000" fill="hold"/>
                                        <p:tgtEl>
                                          <p:spTgt spid="136"/>
                                        </p:tgtEl>
                                        <p:attrNameLst>
                                          <p:attrName>ppt_x</p:attrName>
                                        </p:attrNameLst>
                                      </p:cBhvr>
                                      <p:tavLst>
                                        <p:tav tm="0">
                                          <p:val>
                                            <p:strVal val="#ppt_x"/>
                                          </p:val>
                                        </p:tav>
                                        <p:tav tm="100000">
                                          <p:val>
                                            <p:strVal val="#ppt_x"/>
                                          </p:val>
                                        </p:tav>
                                      </p:tavLst>
                                    </p:anim>
                                    <p:anim calcmode="lin" valueType="num">
                                      <p:cBhvr>
                                        <p:cTn id="49" dur="1000" fill="hold"/>
                                        <p:tgtEl>
                                          <p:spTgt spid="136"/>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142"/>
                                        </p:tgtEl>
                                        <p:attrNameLst>
                                          <p:attrName>style.visibility</p:attrName>
                                        </p:attrNameLst>
                                      </p:cBhvr>
                                      <p:to>
                                        <p:strVal val="visible"/>
                                      </p:to>
                                    </p:set>
                                    <p:animEffect transition="in" filter="fade">
                                      <p:cBhvr>
                                        <p:cTn id="52" dur="1000"/>
                                        <p:tgtEl>
                                          <p:spTgt spid="142"/>
                                        </p:tgtEl>
                                      </p:cBhvr>
                                    </p:animEffect>
                                    <p:anim calcmode="lin" valueType="num">
                                      <p:cBhvr>
                                        <p:cTn id="53" dur="1000" fill="hold"/>
                                        <p:tgtEl>
                                          <p:spTgt spid="142"/>
                                        </p:tgtEl>
                                        <p:attrNameLst>
                                          <p:attrName>ppt_x</p:attrName>
                                        </p:attrNameLst>
                                      </p:cBhvr>
                                      <p:tavLst>
                                        <p:tav tm="0">
                                          <p:val>
                                            <p:strVal val="#ppt_x"/>
                                          </p:val>
                                        </p:tav>
                                        <p:tav tm="100000">
                                          <p:val>
                                            <p:strVal val="#ppt_x"/>
                                          </p:val>
                                        </p:tav>
                                      </p:tavLst>
                                    </p:anim>
                                    <p:anim calcmode="lin" valueType="num">
                                      <p:cBhvr>
                                        <p:cTn id="54" dur="1000" fill="hold"/>
                                        <p:tgtEl>
                                          <p:spTgt spid="142"/>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144"/>
                                        </p:tgtEl>
                                        <p:attrNameLst>
                                          <p:attrName>style.visibility</p:attrName>
                                        </p:attrNameLst>
                                      </p:cBhvr>
                                      <p:to>
                                        <p:strVal val="visible"/>
                                      </p:to>
                                    </p:set>
                                    <p:animEffect transition="in" filter="fade">
                                      <p:cBhvr>
                                        <p:cTn id="57" dur="1000"/>
                                        <p:tgtEl>
                                          <p:spTgt spid="144"/>
                                        </p:tgtEl>
                                      </p:cBhvr>
                                    </p:animEffect>
                                    <p:anim calcmode="lin" valueType="num">
                                      <p:cBhvr>
                                        <p:cTn id="58" dur="1000" fill="hold"/>
                                        <p:tgtEl>
                                          <p:spTgt spid="144"/>
                                        </p:tgtEl>
                                        <p:attrNameLst>
                                          <p:attrName>ppt_x</p:attrName>
                                        </p:attrNameLst>
                                      </p:cBhvr>
                                      <p:tavLst>
                                        <p:tav tm="0">
                                          <p:val>
                                            <p:strVal val="#ppt_x"/>
                                          </p:val>
                                        </p:tav>
                                        <p:tav tm="100000">
                                          <p:val>
                                            <p:strVal val="#ppt_x"/>
                                          </p:val>
                                        </p:tav>
                                      </p:tavLst>
                                    </p:anim>
                                    <p:anim calcmode="lin" valueType="num">
                                      <p:cBhvr>
                                        <p:cTn id="59" dur="1000" fill="hold"/>
                                        <p:tgtEl>
                                          <p:spTgt spid="144"/>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147"/>
                                        </p:tgtEl>
                                        <p:attrNameLst>
                                          <p:attrName>style.visibility</p:attrName>
                                        </p:attrNameLst>
                                      </p:cBhvr>
                                      <p:to>
                                        <p:strVal val="visible"/>
                                      </p:to>
                                    </p:set>
                                    <p:animEffect transition="in" filter="fade">
                                      <p:cBhvr>
                                        <p:cTn id="62" dur="1000"/>
                                        <p:tgtEl>
                                          <p:spTgt spid="147"/>
                                        </p:tgtEl>
                                      </p:cBhvr>
                                    </p:animEffect>
                                    <p:anim calcmode="lin" valueType="num">
                                      <p:cBhvr>
                                        <p:cTn id="63" dur="1000" fill="hold"/>
                                        <p:tgtEl>
                                          <p:spTgt spid="147"/>
                                        </p:tgtEl>
                                        <p:attrNameLst>
                                          <p:attrName>ppt_x</p:attrName>
                                        </p:attrNameLst>
                                      </p:cBhvr>
                                      <p:tavLst>
                                        <p:tav tm="0">
                                          <p:val>
                                            <p:strVal val="#ppt_x"/>
                                          </p:val>
                                        </p:tav>
                                        <p:tav tm="100000">
                                          <p:val>
                                            <p:strVal val="#ppt_x"/>
                                          </p:val>
                                        </p:tav>
                                      </p:tavLst>
                                    </p:anim>
                                    <p:anim calcmode="lin" valueType="num">
                                      <p:cBhvr>
                                        <p:cTn id="64" dur="1000" fill="hold"/>
                                        <p:tgtEl>
                                          <p:spTgt spid="1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F989-8DF7-E0AB-4713-09F7AF385911}"/>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FA3D2007-096D-810F-89F9-036538A9F395}"/>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BAF360EE-D7A7-ED15-8DCC-B0ED72553262}"/>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54AAF3F4-77C3-71DA-1E8B-8DC0C0F1A248}"/>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Revisar el acceso con privilegios de administración a la </a:t>
            </a:r>
            <a:r>
              <a:rPr lang="es-ES" sz="1600" err="1">
                <a:solidFill>
                  <a:schemeClr val="bg1"/>
                </a:solidFill>
                <a:latin typeface="Segoe UI" panose="020B0502040204020203" pitchFamily="34" charset="0"/>
                <a:cs typeface="Segoe UI" panose="020B0502040204020203" pitchFamily="34" charset="0"/>
              </a:rPr>
              <a:t>Power</a:t>
            </a:r>
            <a:r>
              <a:rPr lang="es-ES" sz="1600">
                <a:solidFill>
                  <a:schemeClr val="bg1"/>
                </a:solidFill>
                <a:latin typeface="Segoe UI" panose="020B0502040204020203" pitchFamily="34" charset="0"/>
                <a:cs typeface="Segoe UI" panose="020B0502040204020203" pitchFamily="34" charset="0"/>
              </a:rPr>
              <a:t> </a:t>
            </a:r>
            <a:r>
              <a:rPr lang="es-ES" sz="1600" err="1">
                <a:solidFill>
                  <a:schemeClr val="bg1"/>
                </a:solidFill>
                <a:latin typeface="Segoe UI" panose="020B0502040204020203" pitchFamily="34" charset="0"/>
                <a:cs typeface="Segoe UI" panose="020B0502040204020203" pitchFamily="34" charset="0"/>
              </a:rPr>
              <a:t>Platform</a:t>
            </a:r>
            <a:r>
              <a:rPr lang="es-ES" sz="1600">
                <a:solidFill>
                  <a:schemeClr val="bg1"/>
                </a:solidFill>
                <a:latin typeface="Segoe UI" panose="020B0502040204020203" pitchFamily="34" charset="0"/>
                <a:cs typeface="Segoe UI" panose="020B0502040204020203" pitchFamily="34" charset="0"/>
              </a:rPr>
              <a:t> (</a:t>
            </a:r>
            <a:r>
              <a:rPr lang="es-ES" sz="1600" err="1">
                <a:solidFill>
                  <a:schemeClr val="bg1"/>
                </a:solidFill>
                <a:latin typeface="Segoe UI" panose="020B0502040204020203" pitchFamily="34" charset="0"/>
                <a:cs typeface="Segoe UI" panose="020B0502040204020203" pitchFamily="34" charset="0"/>
              </a:rPr>
              <a:t>Preview</a:t>
            </a:r>
            <a:r>
              <a:rPr lang="es-ES" sz="1600">
                <a:solidFill>
                  <a:schemeClr val="bg1"/>
                </a:solidFill>
                <a:latin typeface="Segoe UI" panose="020B0502040204020203" pitchFamily="34" charset="0"/>
                <a:cs typeface="Segoe UI" panose="020B0502040204020203" pitchFamily="34" charset="0"/>
              </a:rPr>
              <a:t>)</a:t>
            </a:r>
            <a:endParaRPr lang="es-ES" sz="1600" noProof="0">
              <a:solidFill>
                <a:schemeClr val="bg1"/>
              </a:solidFill>
              <a:latin typeface="Segoe UI" panose="020B0502040204020203" pitchFamily="34" charset="0"/>
              <a:cs typeface="Segoe UI" panose="020B0502040204020203" pitchFamily="34" charset="0"/>
            </a:endParaRPr>
          </a:p>
        </p:txBody>
      </p:sp>
      <p:pic>
        <p:nvPicPr>
          <p:cNvPr id="7" name="Picture 6">
            <a:extLst>
              <a:ext uri="{FF2B5EF4-FFF2-40B4-BE49-F238E27FC236}">
                <a16:creationId xmlns:a16="http://schemas.microsoft.com/office/drawing/2014/main" id="{DAC4ABB8-D555-1B72-0B23-16268E68EABE}"/>
              </a:ext>
            </a:extLst>
          </p:cNvPr>
          <p:cNvPicPr>
            <a:picLocks noChangeAspect="1"/>
          </p:cNvPicPr>
          <p:nvPr/>
        </p:nvPicPr>
        <p:blipFill>
          <a:blip r:embed="rId3"/>
          <a:stretch>
            <a:fillRect/>
          </a:stretch>
        </p:blipFill>
        <p:spPr>
          <a:xfrm>
            <a:off x="2001658" y="2110751"/>
            <a:ext cx="8135298" cy="4774452"/>
          </a:xfrm>
          <a:prstGeom prst="rect">
            <a:avLst/>
          </a:prstGeom>
        </p:spPr>
      </p:pic>
      <p:sp>
        <p:nvSpPr>
          <p:cNvPr id="8" name="Speech Bubble: Rectangle with Corners Rounded 7">
            <a:extLst>
              <a:ext uri="{FF2B5EF4-FFF2-40B4-BE49-F238E27FC236}">
                <a16:creationId xmlns:a16="http://schemas.microsoft.com/office/drawing/2014/main" id="{5A8C6C69-73FE-B5F5-9001-8B1EDE7AD899}"/>
              </a:ext>
            </a:extLst>
          </p:cNvPr>
          <p:cNvSpPr/>
          <p:nvPr/>
        </p:nvSpPr>
        <p:spPr>
          <a:xfrm>
            <a:off x="2110867" y="3883057"/>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9" name="Flowchart: Connector 8">
            <a:extLst>
              <a:ext uri="{FF2B5EF4-FFF2-40B4-BE49-F238E27FC236}">
                <a16:creationId xmlns:a16="http://schemas.microsoft.com/office/drawing/2014/main" id="{40640EAB-11AE-B37E-8767-4009F95D8846}"/>
              </a:ext>
            </a:extLst>
          </p:cNvPr>
          <p:cNvSpPr/>
          <p:nvPr/>
        </p:nvSpPr>
        <p:spPr>
          <a:xfrm>
            <a:off x="2739051" y="4764913"/>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10" name="Speech Bubble: Rectangle with Corners Rounded 9">
            <a:extLst>
              <a:ext uri="{FF2B5EF4-FFF2-40B4-BE49-F238E27FC236}">
                <a16:creationId xmlns:a16="http://schemas.microsoft.com/office/drawing/2014/main" id="{922D400F-2A4C-FB8E-FD15-33AAB661166E}"/>
              </a:ext>
            </a:extLst>
          </p:cNvPr>
          <p:cNvSpPr/>
          <p:nvPr/>
        </p:nvSpPr>
        <p:spPr>
          <a:xfrm>
            <a:off x="3427759" y="5938951"/>
            <a:ext cx="2494824" cy="657180"/>
          </a:xfrm>
          <a:prstGeom prst="wedgeRoundRectCallout">
            <a:avLst>
              <a:gd name="adj1" fmla="val -19715"/>
              <a:gd name="adj2" fmla="val -6791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Administrator privileges</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a:t>
            </a: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setting</a:t>
            </a:r>
          </a:p>
        </p:txBody>
      </p:sp>
      <p:sp>
        <p:nvSpPr>
          <p:cNvPr id="11" name="Flowchart: Connector 10">
            <a:extLst>
              <a:ext uri="{FF2B5EF4-FFF2-40B4-BE49-F238E27FC236}">
                <a16:creationId xmlns:a16="http://schemas.microsoft.com/office/drawing/2014/main" id="{B104923C-E404-D00B-C9FD-8B9F8537CDF0}"/>
              </a:ext>
            </a:extLst>
          </p:cNvPr>
          <p:cNvSpPr/>
          <p:nvPr/>
        </p:nvSpPr>
        <p:spPr>
          <a:xfrm>
            <a:off x="6016875" y="606180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12" name="Speech Bubble: Rectangle with Corners Rounded 11">
            <a:extLst>
              <a:ext uri="{FF2B5EF4-FFF2-40B4-BE49-F238E27FC236}">
                <a16:creationId xmlns:a16="http://schemas.microsoft.com/office/drawing/2014/main" id="{47FE51F5-F97D-09E2-105B-5AA7B9F5194C}"/>
              </a:ext>
            </a:extLst>
          </p:cNvPr>
          <p:cNvSpPr/>
          <p:nvPr/>
        </p:nvSpPr>
        <p:spPr>
          <a:xfrm>
            <a:off x="7332133" y="3649375"/>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a:ln>
                  <a:noFill/>
                </a:ln>
                <a:solidFill>
                  <a:prstClr val="white"/>
                </a:solidFill>
                <a:effectLst/>
                <a:uLnTx/>
                <a:uFillTx/>
                <a:latin typeface="Segoe UI" panose="020B0502040204020203" pitchFamily="34" charset="0"/>
                <a:cs typeface="Segoe UI" panose="020B0502040204020203" pitchFamily="34" charset="0"/>
              </a:rPr>
              <a:t>“Postura” de acceso con</a:t>
            </a:r>
            <a:r>
              <a:rPr kumimoji="0" lang="es-ES" sz="1600" b="0" i="0" u="none" strike="noStrike" kern="1200" cap="none" spc="0" normalizeH="0">
                <a:ln>
                  <a:noFill/>
                </a:ln>
                <a:solidFill>
                  <a:prstClr val="white"/>
                </a:solidFill>
                <a:effectLst/>
                <a:uLnTx/>
                <a:uFillTx/>
                <a:latin typeface="Segoe UI" panose="020B0502040204020203" pitchFamily="34" charset="0"/>
                <a:cs typeface="Segoe UI" panose="020B0502040204020203" pitchFamily="34" charset="0"/>
              </a:rPr>
              <a:t> privilegios de administración</a:t>
            </a:r>
            <a:endParaRPr kumimoji="0" lang="es-ES" sz="1600" b="0" i="0" u="none" strike="noStrike" kern="1200" cap="none" spc="0" normalizeH="0" baseline="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 name="Flowchart: Connector 13">
            <a:extLst>
              <a:ext uri="{FF2B5EF4-FFF2-40B4-BE49-F238E27FC236}">
                <a16:creationId xmlns:a16="http://schemas.microsoft.com/office/drawing/2014/main" id="{5EF26348-6346-4AE0-3095-D7EFBCD4666B}"/>
              </a:ext>
            </a:extLst>
          </p:cNvPr>
          <p:cNvSpPr/>
          <p:nvPr/>
        </p:nvSpPr>
        <p:spPr>
          <a:xfrm>
            <a:off x="9999133" y="3838502"/>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6" name="Picture Placeholder 2" descr="A person smiling for a picture&#10;&#10;AI-generated content may be incorrect.">
            <a:extLst>
              <a:ext uri="{FF2B5EF4-FFF2-40B4-BE49-F238E27FC236}">
                <a16:creationId xmlns:a16="http://schemas.microsoft.com/office/drawing/2014/main" id="{49A461DE-F55B-7571-CEF8-A4A5FFF29C20}"/>
              </a:ext>
            </a:extLst>
          </p:cNvPr>
          <p:cNvPicPr>
            <a:picLocks noChangeAspect="1"/>
          </p:cNvPicPr>
          <p:nvPr/>
        </p:nvPicPr>
        <p:blipFill>
          <a:blip r:embed="rId4">
            <a:extLst>
              <a:ext uri="{28A0092B-C50C-407E-A947-70E740481C1C}">
                <a14:useLocalDpi xmlns:a14="http://schemas.microsoft.com/office/drawing/2010/main" val="0"/>
              </a:ext>
            </a:extLst>
          </a:blip>
          <a:srcRect l="6042" r="6042"/>
          <a:stretch>
            <a:fillRect/>
          </a:stretch>
        </p:blipFill>
        <p:spPr>
          <a:xfrm>
            <a:off x="11117827" y="139602"/>
            <a:ext cx="910149" cy="1005840"/>
          </a:xfrm>
          <a:prstGeom prst="ellipse">
            <a:avLst/>
          </a:prstGeom>
          <a:ln>
            <a:noFill/>
          </a:ln>
          <a:effectLst>
            <a:softEdge rad="112500"/>
          </a:effectLst>
        </p:spPr>
      </p:pic>
    </p:spTree>
    <p:extLst>
      <p:ext uri="{BB962C8B-B14F-4D97-AF65-F5344CB8AC3E}">
        <p14:creationId xmlns:p14="http://schemas.microsoft.com/office/powerpoint/2010/main" val="3789892021"/>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1000"/>
                                        <p:tgtEl>
                                          <p:spTgt spid="12"/>
                                        </p:tgtEl>
                                      </p:cBhvr>
                                    </p:animEffect>
                                    <p:anim calcmode="lin" valueType="num">
                                      <p:cBhvr>
                                        <p:cTn id="37" dur="1000" fill="hold"/>
                                        <p:tgtEl>
                                          <p:spTgt spid="12"/>
                                        </p:tgtEl>
                                        <p:attrNameLst>
                                          <p:attrName>ppt_x</p:attrName>
                                        </p:attrNameLst>
                                      </p:cBhvr>
                                      <p:tavLst>
                                        <p:tav tm="0">
                                          <p:val>
                                            <p:strVal val="#ppt_x"/>
                                          </p:val>
                                        </p:tav>
                                        <p:tav tm="100000">
                                          <p:val>
                                            <p:strVal val="#ppt_x"/>
                                          </p:val>
                                        </p:tav>
                                      </p:tavLst>
                                    </p:anim>
                                    <p:anim calcmode="lin" valueType="num">
                                      <p:cBhvr>
                                        <p:cTn id="3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74060-5328-6ACD-6C31-5963D2F70E19}"/>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57FD876F-5AAC-0A2A-5929-4975706DF8FB}"/>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CD04808F-6C04-3C46-8F52-616BD92F8160}"/>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3F24D480-CE81-525E-6692-24EC5F6FF729}"/>
              </a:ext>
            </a:extLst>
          </p:cNvPr>
          <p:cNvSpPr txBox="1"/>
          <p:nvPr/>
        </p:nvSpPr>
        <p:spPr>
          <a:xfrm>
            <a:off x="1415846" y="1715334"/>
            <a:ext cx="9202058" cy="704167"/>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Use Entra Privileged Identity Management in Power Platform admin center to manage high-privileged admin roles - Power Platform | Microsoft Learn</a:t>
            </a:r>
            <a:r>
              <a:rPr lang="es-ES" sz="1600">
                <a:solidFill>
                  <a:schemeClr val="bg1"/>
                </a:solidFill>
                <a:latin typeface="Segoe UI" panose="020B0502040204020203" pitchFamily="34" charset="0"/>
                <a:cs typeface="Segoe UI" panose="020B0502040204020203" pitchFamily="34" charset="0"/>
              </a:rPr>
              <a:t> – Ojo a las limitaciones!!!</a:t>
            </a:r>
            <a:endParaRPr lang="es-ES" sz="1600" noProof="0">
              <a:solidFill>
                <a:schemeClr val="bg1"/>
              </a:solidFill>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id="{DCC5693F-F17D-49D1-E152-314C819DDFFD}"/>
              </a:ext>
            </a:extLst>
          </p:cNvPr>
          <p:cNvPicPr>
            <a:picLocks noChangeAspect="1"/>
          </p:cNvPicPr>
          <p:nvPr/>
        </p:nvPicPr>
        <p:blipFill>
          <a:blip r:embed="rId4"/>
          <a:stretch>
            <a:fillRect/>
          </a:stretch>
        </p:blipFill>
        <p:spPr>
          <a:xfrm>
            <a:off x="2382755" y="2472127"/>
            <a:ext cx="7489822" cy="4385873"/>
          </a:xfrm>
          <a:prstGeom prst="rect">
            <a:avLst/>
          </a:prstGeom>
        </p:spPr>
      </p:pic>
      <p:sp>
        <p:nvSpPr>
          <p:cNvPr id="7" name="Speech Bubble: Rectangle with Corners Rounded 6">
            <a:extLst>
              <a:ext uri="{FF2B5EF4-FFF2-40B4-BE49-F238E27FC236}">
                <a16:creationId xmlns:a16="http://schemas.microsoft.com/office/drawing/2014/main" id="{B66E1BFC-1EBB-3DE8-D3A9-778190BAC136}"/>
              </a:ext>
            </a:extLst>
          </p:cNvPr>
          <p:cNvSpPr/>
          <p:nvPr/>
        </p:nvSpPr>
        <p:spPr>
          <a:xfrm>
            <a:off x="5427134" y="4754983"/>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s-ES" sz="1600">
                <a:solidFill>
                  <a:prstClr val="white"/>
                </a:solidFill>
                <a:latin typeface="Segoe UI" panose="020B0502040204020203" pitchFamily="34" charset="0"/>
                <a:cs typeface="Segoe UI" panose="020B0502040204020203" pitchFamily="34" charset="0"/>
              </a:rPr>
              <a:t>Roles elegibles de </a:t>
            </a:r>
            <a:r>
              <a:rPr lang="es-ES" sz="1600" err="1">
                <a:solidFill>
                  <a:prstClr val="white"/>
                </a:solidFill>
                <a:latin typeface="Segoe UI" panose="020B0502040204020203" pitchFamily="34" charset="0"/>
                <a:cs typeface="Segoe UI" panose="020B0502040204020203" pitchFamily="34" charset="0"/>
              </a:rPr>
              <a:t>Power</a:t>
            </a:r>
            <a:r>
              <a:rPr lang="es-ES" sz="1600">
                <a:solidFill>
                  <a:prstClr val="white"/>
                </a:solidFill>
                <a:latin typeface="Segoe UI" panose="020B0502040204020203" pitchFamily="34" charset="0"/>
                <a:cs typeface="Segoe UI" panose="020B0502040204020203" pitchFamily="34" charset="0"/>
              </a:rPr>
              <a:t> </a:t>
            </a:r>
            <a:r>
              <a:rPr lang="es-ES" sz="1600" err="1">
                <a:solidFill>
                  <a:prstClr val="white"/>
                </a:solidFill>
                <a:latin typeface="Segoe UI" panose="020B0502040204020203" pitchFamily="34" charset="0"/>
                <a:cs typeface="Segoe UI" panose="020B0502040204020203" pitchFamily="34" charset="0"/>
              </a:rPr>
              <a:t>Platform</a:t>
            </a:r>
            <a:r>
              <a:rPr lang="es-ES" sz="1600">
                <a:solidFill>
                  <a:prstClr val="white"/>
                </a:solidFill>
                <a:latin typeface="Segoe UI" panose="020B0502040204020203" pitchFamily="34" charset="0"/>
                <a:cs typeface="Segoe UI" panose="020B0502040204020203" pitchFamily="34" charset="0"/>
              </a:rPr>
              <a:t> </a:t>
            </a:r>
            <a:r>
              <a:rPr lang="es-ES" sz="1600" err="1">
                <a:solidFill>
                  <a:prstClr val="white"/>
                </a:solidFill>
                <a:latin typeface="Segoe UI" panose="020B0502040204020203" pitchFamily="34" charset="0"/>
                <a:cs typeface="Segoe UI" panose="020B0502040204020203" pitchFamily="34" charset="0"/>
              </a:rPr>
              <a:t>Admin</a:t>
            </a:r>
            <a:r>
              <a:rPr lang="es-ES" sz="1600">
                <a:solidFill>
                  <a:prstClr val="white"/>
                </a:solidFill>
                <a:latin typeface="Segoe UI" panose="020B0502040204020203" pitchFamily="34" charset="0"/>
                <a:cs typeface="Segoe UI" panose="020B0502040204020203" pitchFamily="34" charset="0"/>
              </a:rPr>
              <a:t> Center </a:t>
            </a:r>
            <a:endParaRPr lang="en-US" sz="1600">
              <a:solidFill>
                <a:prstClr val="white"/>
              </a:solidFill>
              <a:latin typeface="Segoe UI" panose="020B0502040204020203" pitchFamily="34" charset="0"/>
              <a:cs typeface="Segoe UI" panose="020B0502040204020203" pitchFamily="34" charset="0"/>
            </a:endParaRPr>
          </a:p>
        </p:txBody>
      </p:sp>
      <p:sp>
        <p:nvSpPr>
          <p:cNvPr id="8" name="Speech Bubble: Rectangle with Corners Rounded 7">
            <a:extLst>
              <a:ext uri="{FF2B5EF4-FFF2-40B4-BE49-F238E27FC236}">
                <a16:creationId xmlns:a16="http://schemas.microsoft.com/office/drawing/2014/main" id="{6B3607FA-BB07-EF21-CD56-01A67E6BD75C}"/>
              </a:ext>
            </a:extLst>
          </p:cNvPr>
          <p:cNvSpPr/>
          <p:nvPr/>
        </p:nvSpPr>
        <p:spPr>
          <a:xfrm>
            <a:off x="9049829" y="4815201"/>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Ojo a las </a:t>
            </a:r>
            <a:r>
              <a:rPr kumimoji="0" lang="en-US" sz="1600" b="0" i="0" u="none" strike="noStrike" kern="120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limitaciones</a:t>
            </a: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 </a:t>
            </a:r>
            <a:r>
              <a:rPr kumimoji="0" lang="en-US" sz="1600" b="0" i="0" u="none" strike="noStrike" kern="120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como</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a:t>
            </a:r>
            <a:r>
              <a:rPr kumimoji="0" lang="en-US" sz="1600" b="0" i="0" u="none" strike="noStrike" kern="1200" cap="none" spc="0" normalizeH="0" noProof="0" err="1">
                <a:ln>
                  <a:noFill/>
                </a:ln>
                <a:solidFill>
                  <a:prstClr val="white"/>
                </a:solidFill>
                <a:effectLst/>
                <a:uLnTx/>
                <a:uFillTx/>
                <a:latin typeface="Segoe UI" panose="020B0502040204020203" pitchFamily="34" charset="0"/>
                <a:cs typeface="Segoe UI" panose="020B0502040204020203" pitchFamily="34" charset="0"/>
              </a:rPr>
              <a:t>administradores</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 de </a:t>
            </a:r>
            <a:r>
              <a:rPr kumimoji="0" lang="en-US" sz="1600" b="0" i="0" u="none" strike="noStrike" kern="1200" cap="none" spc="0" normalizeH="0" noProof="0" err="1">
                <a:ln>
                  <a:noFill/>
                </a:ln>
                <a:solidFill>
                  <a:prstClr val="white"/>
                </a:solidFill>
                <a:effectLst/>
                <a:uLnTx/>
                <a:uFillTx/>
                <a:latin typeface="Segoe UI" panose="020B0502040204020203" pitchFamily="34" charset="0"/>
                <a:cs typeface="Segoe UI" panose="020B0502040204020203" pitchFamily="34" charset="0"/>
              </a:rPr>
              <a:t>entornos</a:t>
            </a:r>
            <a:r>
              <a:rPr kumimoji="0" lang="en-US" sz="1600" b="0" i="0" u="none" strike="noStrike" kern="1200" cap="none" spc="0" normalizeH="0" noProof="0">
                <a:ln>
                  <a:noFill/>
                </a:ln>
                <a:solidFill>
                  <a:prstClr val="white"/>
                </a:solidFill>
                <a:effectLst/>
                <a:uLnTx/>
                <a:uFillTx/>
                <a:latin typeface="Segoe UI" panose="020B0502040204020203" pitchFamily="34" charset="0"/>
                <a:cs typeface="Segoe UI" panose="020B0502040204020203" pitchFamily="34" charset="0"/>
              </a:rPr>
              <a:t>!!</a:t>
            </a:r>
            <a:endPar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pic>
        <p:nvPicPr>
          <p:cNvPr id="3" name="Picture 2" descr="Profile photo of Enrique Arribas Bueno">
            <a:extLst>
              <a:ext uri="{FF2B5EF4-FFF2-40B4-BE49-F238E27FC236}">
                <a16:creationId xmlns:a16="http://schemas.microsoft.com/office/drawing/2014/main" id="{A0227CB4-3591-4703-6331-8622B2FCBD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2517545"/>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CAEFC-5743-DD6F-D070-8CCD1CFC295C}"/>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272F85F2-77CE-D618-58C2-4AD9186B766A}"/>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E745CFAA-6E22-C5ED-44FC-AC55F41C89D5}"/>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67E6A087-4CB3-CA9F-5386-EF516B8B51DC}"/>
              </a:ext>
            </a:extLst>
          </p:cNvPr>
          <p:cNvSpPr txBox="1"/>
          <p:nvPr/>
        </p:nvSpPr>
        <p:spPr>
          <a:xfrm>
            <a:off x="1415846" y="1715334"/>
            <a:ext cx="9202058" cy="384080"/>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Control which apps are allowed in your environment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3DC91A6D-05E9-9A7A-EA51-3779F37D631E}"/>
              </a:ext>
            </a:extLst>
          </p:cNvPr>
          <p:cNvPicPr>
            <a:picLocks noChangeAspect="1"/>
          </p:cNvPicPr>
          <p:nvPr/>
        </p:nvPicPr>
        <p:blipFill>
          <a:blip r:embed="rId4"/>
          <a:stretch>
            <a:fillRect/>
          </a:stretch>
        </p:blipFill>
        <p:spPr>
          <a:xfrm>
            <a:off x="2178600" y="2085977"/>
            <a:ext cx="8072882" cy="4755356"/>
          </a:xfrm>
          <a:prstGeom prst="rect">
            <a:avLst/>
          </a:prstGeom>
        </p:spPr>
      </p:pic>
      <p:sp>
        <p:nvSpPr>
          <p:cNvPr id="15" name="Speech Bubble: Rectangle with Corners Rounded 14">
            <a:extLst>
              <a:ext uri="{FF2B5EF4-FFF2-40B4-BE49-F238E27FC236}">
                <a16:creationId xmlns:a16="http://schemas.microsoft.com/office/drawing/2014/main" id="{5C110455-6883-802B-8ED3-7E2948EB81DA}"/>
              </a:ext>
            </a:extLst>
          </p:cNvPr>
          <p:cNvSpPr/>
          <p:nvPr/>
        </p:nvSpPr>
        <p:spPr>
          <a:xfrm>
            <a:off x="2195534" y="3824464"/>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Identity &amp; Access Settings</a:t>
            </a:r>
          </a:p>
        </p:txBody>
      </p:sp>
      <p:sp>
        <p:nvSpPr>
          <p:cNvPr id="16" name="Flowchart: Connector 15">
            <a:extLst>
              <a:ext uri="{FF2B5EF4-FFF2-40B4-BE49-F238E27FC236}">
                <a16:creationId xmlns:a16="http://schemas.microsoft.com/office/drawing/2014/main" id="{BD3DC83F-6A98-CD37-E321-182AD794BA87}"/>
              </a:ext>
            </a:extLst>
          </p:cNvPr>
          <p:cNvSpPr/>
          <p:nvPr/>
        </p:nvSpPr>
        <p:spPr>
          <a:xfrm>
            <a:off x="2823718" y="470632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1</a:t>
            </a:r>
            <a:endParaRPr lang="en-US" sz="1400">
              <a:latin typeface="Segoe UI" panose="020B0502040204020203" pitchFamily="34" charset="0"/>
              <a:cs typeface="Segoe UI" panose="020B0502040204020203" pitchFamily="34" charset="0"/>
            </a:endParaRPr>
          </a:p>
        </p:txBody>
      </p:sp>
      <p:sp>
        <p:nvSpPr>
          <p:cNvPr id="17" name="Speech Bubble: Rectangle with Corners Rounded 16">
            <a:extLst>
              <a:ext uri="{FF2B5EF4-FFF2-40B4-BE49-F238E27FC236}">
                <a16:creationId xmlns:a16="http://schemas.microsoft.com/office/drawing/2014/main" id="{B192CAD7-BB37-55EB-59F1-E6733353EBC8}"/>
              </a:ext>
            </a:extLst>
          </p:cNvPr>
          <p:cNvSpPr/>
          <p:nvPr/>
        </p:nvSpPr>
        <p:spPr>
          <a:xfrm>
            <a:off x="3757229" y="5807461"/>
            <a:ext cx="2494824" cy="657180"/>
          </a:xfrm>
          <a:prstGeom prst="wedgeRoundRectCallout">
            <a:avLst>
              <a:gd name="adj1" fmla="val -19715"/>
              <a:gd name="adj2" fmla="val -67910"/>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App access control setting</a:t>
            </a:r>
          </a:p>
        </p:txBody>
      </p:sp>
      <p:sp>
        <p:nvSpPr>
          <p:cNvPr id="18" name="Flowchart: Connector 17">
            <a:extLst>
              <a:ext uri="{FF2B5EF4-FFF2-40B4-BE49-F238E27FC236}">
                <a16:creationId xmlns:a16="http://schemas.microsoft.com/office/drawing/2014/main" id="{B1E27CDB-B9C1-77EF-3611-46B237FDFBF6}"/>
              </a:ext>
            </a:extLst>
          </p:cNvPr>
          <p:cNvSpPr/>
          <p:nvPr/>
        </p:nvSpPr>
        <p:spPr>
          <a:xfrm>
            <a:off x="6341533" y="5930311"/>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2</a:t>
            </a:r>
            <a:endParaRPr lang="en-US" sz="1400">
              <a:latin typeface="Segoe UI" panose="020B0502040204020203" pitchFamily="34" charset="0"/>
              <a:cs typeface="Segoe UI" panose="020B0502040204020203" pitchFamily="34" charset="0"/>
            </a:endParaRPr>
          </a:p>
        </p:txBody>
      </p:sp>
      <p:sp>
        <p:nvSpPr>
          <p:cNvPr id="19" name="Speech Bubble: Rectangle with Corners Rounded 18">
            <a:extLst>
              <a:ext uri="{FF2B5EF4-FFF2-40B4-BE49-F238E27FC236}">
                <a16:creationId xmlns:a16="http://schemas.microsoft.com/office/drawing/2014/main" id="{99E487CC-A927-49E5-C532-6F0F2076CEB4}"/>
              </a:ext>
            </a:extLst>
          </p:cNvPr>
          <p:cNvSpPr/>
          <p:nvPr/>
        </p:nvSpPr>
        <p:spPr>
          <a:xfrm>
            <a:off x="5652082" y="3237857"/>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Permitir / Bloquear el acceso de aplicaciones al entorno</a:t>
            </a:r>
          </a:p>
        </p:txBody>
      </p:sp>
      <p:sp>
        <p:nvSpPr>
          <p:cNvPr id="20" name="Flowchart: Connector 19">
            <a:extLst>
              <a:ext uri="{FF2B5EF4-FFF2-40B4-BE49-F238E27FC236}">
                <a16:creationId xmlns:a16="http://schemas.microsoft.com/office/drawing/2014/main" id="{57C5EFE0-A1CA-CAF1-C4C4-B6E5037B9B95}"/>
              </a:ext>
            </a:extLst>
          </p:cNvPr>
          <p:cNvSpPr/>
          <p:nvPr/>
        </p:nvSpPr>
        <p:spPr>
          <a:xfrm>
            <a:off x="8319082" y="342698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latin typeface="Segoe UI" panose="020B0502040204020203" pitchFamily="34" charset="0"/>
                <a:cs typeface="Segoe UI" panose="020B0502040204020203" pitchFamily="34" charset="0"/>
              </a:rPr>
              <a:t>3</a:t>
            </a:r>
            <a:endParaRPr lang="en-US" sz="1400">
              <a:latin typeface="Segoe UI" panose="020B0502040204020203" pitchFamily="34" charset="0"/>
              <a:cs typeface="Segoe UI" panose="020B0502040204020203" pitchFamily="34" charset="0"/>
            </a:endParaRPr>
          </a:p>
        </p:txBody>
      </p:sp>
      <p:pic>
        <p:nvPicPr>
          <p:cNvPr id="4" name="Picture Placeholder 2" descr="A person smiling for a picture&#10;&#10;AI-generated content may be incorrect.">
            <a:extLst>
              <a:ext uri="{FF2B5EF4-FFF2-40B4-BE49-F238E27FC236}">
                <a16:creationId xmlns:a16="http://schemas.microsoft.com/office/drawing/2014/main" id="{6BD4BC19-36D8-DE0F-190E-F57577EC4471}"/>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092429" y="139602"/>
            <a:ext cx="910149" cy="1005840"/>
          </a:xfrm>
          <a:prstGeom prst="ellipse">
            <a:avLst/>
          </a:prstGeom>
          <a:ln>
            <a:noFill/>
          </a:ln>
          <a:effectLst>
            <a:softEdge rad="112500"/>
          </a:effectLst>
        </p:spPr>
      </p:pic>
    </p:spTree>
    <p:extLst>
      <p:ext uri="{BB962C8B-B14F-4D97-AF65-F5344CB8AC3E}">
        <p14:creationId xmlns:p14="http://schemas.microsoft.com/office/powerpoint/2010/main" val="281798994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00FAB-5B94-92B1-C5DB-9C1269F44845}"/>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39B8FBC6-56B5-638D-CBAD-C92922CD9441}"/>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820E3624-C35B-F9B8-4261-5A4854EAB006}"/>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3737C330-6DB3-AC6F-541B-BA61EF0C24D7}"/>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Block access by location with Microsoft Entra Conditional Access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8" name="Picture 7">
            <a:extLst>
              <a:ext uri="{FF2B5EF4-FFF2-40B4-BE49-F238E27FC236}">
                <a16:creationId xmlns:a16="http://schemas.microsoft.com/office/drawing/2014/main" id="{B0C3D0C1-C7DD-5A77-0F78-9DE8942B71AB}"/>
              </a:ext>
            </a:extLst>
          </p:cNvPr>
          <p:cNvPicPr>
            <a:picLocks noChangeAspect="1"/>
          </p:cNvPicPr>
          <p:nvPr/>
        </p:nvPicPr>
        <p:blipFill>
          <a:blip r:embed="rId4"/>
          <a:stretch>
            <a:fillRect/>
          </a:stretch>
        </p:blipFill>
        <p:spPr>
          <a:xfrm>
            <a:off x="2098822" y="2094220"/>
            <a:ext cx="7989355" cy="4678389"/>
          </a:xfrm>
          <a:prstGeom prst="rect">
            <a:avLst/>
          </a:prstGeom>
        </p:spPr>
      </p:pic>
      <p:sp>
        <p:nvSpPr>
          <p:cNvPr id="9" name="Speech Bubble: Rectangle with Corners Rounded 8">
            <a:extLst>
              <a:ext uri="{FF2B5EF4-FFF2-40B4-BE49-F238E27FC236}">
                <a16:creationId xmlns:a16="http://schemas.microsoft.com/office/drawing/2014/main" id="{6CDF1E71-ECC8-0C64-7461-D92B7C749622}"/>
              </a:ext>
            </a:extLst>
          </p:cNvPr>
          <p:cNvSpPr/>
          <p:nvPr/>
        </p:nvSpPr>
        <p:spPr>
          <a:xfrm>
            <a:off x="7263353" y="5457063"/>
            <a:ext cx="2601224" cy="789733"/>
          </a:xfrm>
          <a:prstGeom prst="wedgeRoundRectCallout">
            <a:avLst>
              <a:gd name="adj1" fmla="val -64513"/>
              <a:gd name="adj2" fmla="val 7018"/>
              <a:gd name="adj3" fmla="val 16667"/>
            </a:avLst>
          </a:prstGeom>
          <a:solidFill>
            <a:srgbClr val="C00000"/>
          </a:solidFill>
          <a:ln w="12700" cap="flat" cmpd="sng" algn="ctr">
            <a:solidFill>
              <a:srgbClr val="C00000"/>
            </a:solidFill>
            <a:prstDash val="solid"/>
            <a:miter lim="800000"/>
          </a:ln>
          <a:effectLst/>
        </p:spPr>
        <p:txBody>
          <a:bodyPr rtlCol="0" anchor="ctr"/>
          <a:lstStyle/>
          <a:p>
            <a:pPr lvl="0" algn="ctr">
              <a:defRPr/>
            </a:pPr>
            <a:r>
              <a:rPr lang="es-ES" sz="1600">
                <a:solidFill>
                  <a:prstClr val="white"/>
                </a:solidFill>
                <a:latin typeface="Segoe UI" panose="020B0502040204020203" pitchFamily="34" charset="0"/>
                <a:cs typeface="Segoe UI" panose="020B0502040204020203" pitchFamily="34" charset="0"/>
              </a:rPr>
              <a:t>Acceso Condicional para el acceso a la </a:t>
            </a:r>
            <a:r>
              <a:rPr lang="es-ES" sz="1600" err="1">
                <a:solidFill>
                  <a:prstClr val="white"/>
                </a:solidFill>
                <a:latin typeface="Segoe UI" panose="020B0502040204020203" pitchFamily="34" charset="0"/>
                <a:cs typeface="Segoe UI" panose="020B0502040204020203" pitchFamily="34" charset="0"/>
              </a:rPr>
              <a:t>Power</a:t>
            </a:r>
            <a:r>
              <a:rPr lang="es-ES" sz="1600">
                <a:solidFill>
                  <a:prstClr val="white"/>
                </a:solidFill>
                <a:latin typeface="Segoe UI" panose="020B0502040204020203" pitchFamily="34" charset="0"/>
                <a:cs typeface="Segoe UI" panose="020B0502040204020203" pitchFamily="34" charset="0"/>
              </a:rPr>
              <a:t> </a:t>
            </a:r>
            <a:r>
              <a:rPr lang="es-ES" sz="1600" err="1">
                <a:solidFill>
                  <a:prstClr val="white"/>
                </a:solidFill>
                <a:latin typeface="Segoe UI" panose="020B0502040204020203" pitchFamily="34" charset="0"/>
                <a:cs typeface="Segoe UI" panose="020B0502040204020203" pitchFamily="34" charset="0"/>
              </a:rPr>
              <a:t>Platform</a:t>
            </a:r>
            <a:endParaRPr lang="en-US" sz="1600">
              <a:solidFill>
                <a:prstClr val="white"/>
              </a:solidFill>
              <a:latin typeface="Segoe UI" panose="020B0502040204020203" pitchFamily="34" charset="0"/>
              <a:cs typeface="Segoe UI" panose="020B0502040204020203" pitchFamily="34" charset="0"/>
            </a:endParaRPr>
          </a:p>
        </p:txBody>
      </p:sp>
      <p:pic>
        <p:nvPicPr>
          <p:cNvPr id="6" name="Picture Placeholder 2" descr="A person smiling for a picture&#10;&#10;AI-generated content may be incorrect.">
            <a:extLst>
              <a:ext uri="{FF2B5EF4-FFF2-40B4-BE49-F238E27FC236}">
                <a16:creationId xmlns:a16="http://schemas.microsoft.com/office/drawing/2014/main" id="{1990D8DB-E093-EEB9-C9BC-477CB9206A11}"/>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075495" y="139602"/>
            <a:ext cx="910149" cy="1005840"/>
          </a:xfrm>
          <a:prstGeom prst="ellipse">
            <a:avLst/>
          </a:prstGeom>
          <a:ln>
            <a:noFill/>
          </a:ln>
          <a:effectLst>
            <a:softEdge rad="112500"/>
          </a:effectLst>
        </p:spPr>
      </p:pic>
    </p:spTree>
    <p:extLst>
      <p:ext uri="{BB962C8B-B14F-4D97-AF65-F5344CB8AC3E}">
        <p14:creationId xmlns:p14="http://schemas.microsoft.com/office/powerpoint/2010/main" val="78883001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20334-BFE5-9FBF-587F-6E119166D2E9}"/>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5114128F-677F-31DD-D4E2-F6FA8DA24E17}"/>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B8CB6BFE-B031-EB0B-D870-6C00B2225812}"/>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pic>
        <p:nvPicPr>
          <p:cNvPr id="5" name="Picture 4">
            <a:extLst>
              <a:ext uri="{FF2B5EF4-FFF2-40B4-BE49-F238E27FC236}">
                <a16:creationId xmlns:a16="http://schemas.microsoft.com/office/drawing/2014/main" id="{2703000C-0509-13B4-1A7F-F285E1ED0ED4}"/>
              </a:ext>
            </a:extLst>
          </p:cNvPr>
          <p:cNvPicPr>
            <a:picLocks noChangeAspect="1"/>
          </p:cNvPicPr>
          <p:nvPr/>
        </p:nvPicPr>
        <p:blipFill>
          <a:blip r:embed="rId3"/>
          <a:stretch>
            <a:fillRect/>
          </a:stretch>
        </p:blipFill>
        <p:spPr>
          <a:xfrm>
            <a:off x="1959102" y="2103602"/>
            <a:ext cx="8115545" cy="4754398"/>
          </a:xfrm>
          <a:prstGeom prst="rect">
            <a:avLst/>
          </a:prstGeom>
        </p:spPr>
      </p:pic>
      <p:sp>
        <p:nvSpPr>
          <p:cNvPr id="6" name="TextBox 5">
            <a:extLst>
              <a:ext uri="{FF2B5EF4-FFF2-40B4-BE49-F238E27FC236}">
                <a16:creationId xmlns:a16="http://schemas.microsoft.com/office/drawing/2014/main" id="{EEFEEF04-8555-2A68-72F1-9AE2782BCF77}"/>
              </a:ext>
            </a:extLst>
          </p:cNvPr>
          <p:cNvSpPr txBox="1"/>
          <p:nvPr/>
        </p:nvSpPr>
        <p:spPr>
          <a:xfrm>
            <a:off x="1415846" y="1715334"/>
            <a:ext cx="9202058" cy="378886"/>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Experiencia de Usuario en </a:t>
            </a:r>
            <a:r>
              <a:rPr lang="es-ES" sz="1600" err="1">
                <a:solidFill>
                  <a:schemeClr val="bg1"/>
                </a:solidFill>
                <a:latin typeface="Segoe UI" panose="020B0502040204020203" pitchFamily="34" charset="0"/>
                <a:cs typeface="Segoe UI" panose="020B0502040204020203" pitchFamily="34" charset="0"/>
              </a:rPr>
              <a:t>Power</a:t>
            </a:r>
            <a:r>
              <a:rPr lang="es-ES" sz="1600">
                <a:solidFill>
                  <a:schemeClr val="bg1"/>
                </a:solidFill>
                <a:latin typeface="Segoe UI" panose="020B0502040204020203" pitchFamily="34" charset="0"/>
                <a:cs typeface="Segoe UI" panose="020B0502040204020203" pitchFamily="34" charset="0"/>
              </a:rPr>
              <a:t> Apps</a:t>
            </a:r>
            <a:endParaRPr lang="es-ES" sz="1600" noProof="0">
              <a:solidFill>
                <a:schemeClr val="bg1"/>
              </a:solidFill>
              <a:latin typeface="Segoe UI" panose="020B0502040204020203" pitchFamily="34" charset="0"/>
              <a:cs typeface="Segoe UI" panose="020B0502040204020203" pitchFamily="34" charset="0"/>
            </a:endParaRPr>
          </a:p>
        </p:txBody>
      </p:sp>
      <p:pic>
        <p:nvPicPr>
          <p:cNvPr id="2" name="Picture 2" descr="Profile photo of Enrique Arribas Bueno">
            <a:extLst>
              <a:ext uri="{FF2B5EF4-FFF2-40B4-BE49-F238E27FC236}">
                <a16:creationId xmlns:a16="http://schemas.microsoft.com/office/drawing/2014/main" id="{88E2F715-F01C-6724-6FC0-B68B7CEDCA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16621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09AE3-9065-8626-1C5B-0AF9FB57A475}"/>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971B3558-899A-21CD-F236-E40550910EB7}"/>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518DA5B-9BF1-28EB-0E26-BF867E31171C}"/>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1E409793-3CD8-BAC4-1958-6ADE3C22D6FB}"/>
              </a:ext>
            </a:extLst>
          </p:cNvPr>
          <p:cNvSpPr txBox="1"/>
          <p:nvPr/>
        </p:nvSpPr>
        <p:spPr>
          <a:xfrm>
            <a:off x="1415846" y="1715334"/>
            <a:ext cx="9202058" cy="704167"/>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Bloqueo de Invitados en Entornos de </a:t>
            </a:r>
            <a:r>
              <a:rPr lang="es-ES" sz="1600" err="1">
                <a:solidFill>
                  <a:schemeClr val="bg1"/>
                </a:solidFill>
                <a:latin typeface="Segoe UI" panose="020B0502040204020203" pitchFamily="34" charset="0"/>
                <a:cs typeface="Segoe UI" panose="020B0502040204020203" pitchFamily="34" charset="0"/>
              </a:rPr>
              <a:t>Power</a:t>
            </a:r>
            <a:r>
              <a:rPr lang="es-ES" sz="1600">
                <a:solidFill>
                  <a:schemeClr val="bg1"/>
                </a:solidFill>
                <a:latin typeface="Segoe UI" panose="020B0502040204020203" pitchFamily="34" charset="0"/>
                <a:cs typeface="Segoe UI" panose="020B0502040204020203" pitchFamily="34" charset="0"/>
              </a:rPr>
              <a:t> </a:t>
            </a:r>
            <a:r>
              <a:rPr lang="es-ES" sz="1600" err="1">
                <a:solidFill>
                  <a:schemeClr val="bg1"/>
                </a:solidFill>
                <a:latin typeface="Segoe UI" panose="020B0502040204020203" pitchFamily="34" charset="0"/>
                <a:cs typeface="Segoe UI" panose="020B0502040204020203" pitchFamily="34" charset="0"/>
              </a:rPr>
              <a:t>Platform</a:t>
            </a:r>
            <a:r>
              <a:rPr lang="es-ES" sz="1600">
                <a:solidFill>
                  <a:schemeClr val="bg1"/>
                </a:solidFill>
                <a:latin typeface="Segoe UI" panose="020B0502040204020203" pitchFamily="34" charset="0"/>
                <a:cs typeface="Segoe UI" panose="020B0502040204020203" pitchFamily="34" charset="0"/>
              </a:rPr>
              <a:t> (Alternativa al uso de Acceso Condicional) - </a:t>
            </a:r>
            <a:r>
              <a:rPr lang="en-US" sz="1600">
                <a:latin typeface="Segoe UI" panose="020B0502040204020203" pitchFamily="34" charset="0"/>
                <a:cs typeface="Segoe UI" panose="020B0502040204020203" pitchFamily="34" charset="0"/>
                <a:hlinkClick r:id="rId3"/>
              </a:rPr>
              <a:t>Permit or deny guest access to an environment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14" name="Picture 13">
            <a:extLst>
              <a:ext uri="{FF2B5EF4-FFF2-40B4-BE49-F238E27FC236}">
                <a16:creationId xmlns:a16="http://schemas.microsoft.com/office/drawing/2014/main" id="{6DDC2177-B223-1EC9-893B-F81470ED60CF}"/>
              </a:ext>
            </a:extLst>
          </p:cNvPr>
          <p:cNvPicPr>
            <a:picLocks noChangeAspect="1"/>
          </p:cNvPicPr>
          <p:nvPr/>
        </p:nvPicPr>
        <p:blipFill>
          <a:blip r:embed="rId4"/>
          <a:stretch>
            <a:fillRect/>
          </a:stretch>
        </p:blipFill>
        <p:spPr>
          <a:xfrm>
            <a:off x="2222152" y="2434716"/>
            <a:ext cx="7608355" cy="4455284"/>
          </a:xfrm>
          <a:prstGeom prst="rect">
            <a:avLst/>
          </a:prstGeom>
        </p:spPr>
      </p:pic>
      <p:sp>
        <p:nvSpPr>
          <p:cNvPr id="15" name="Speech Bubble: Rectangle with Corners Rounded 14">
            <a:extLst>
              <a:ext uri="{FF2B5EF4-FFF2-40B4-BE49-F238E27FC236}">
                <a16:creationId xmlns:a16="http://schemas.microsoft.com/office/drawing/2014/main" id="{ADE8DBBD-96F7-A5CB-8272-F5B5E17A9DD0}"/>
              </a:ext>
            </a:extLst>
          </p:cNvPr>
          <p:cNvSpPr/>
          <p:nvPr/>
        </p:nvSpPr>
        <p:spPr>
          <a:xfrm>
            <a:off x="2067011" y="4112551"/>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Identity &amp; Access Settings</a:t>
            </a:r>
          </a:p>
        </p:txBody>
      </p:sp>
      <p:sp>
        <p:nvSpPr>
          <p:cNvPr id="16" name="Flowchart: Connector 15">
            <a:extLst>
              <a:ext uri="{FF2B5EF4-FFF2-40B4-BE49-F238E27FC236}">
                <a16:creationId xmlns:a16="http://schemas.microsoft.com/office/drawing/2014/main" id="{DDAF80A9-0E38-4CC0-D4FB-1C7A0B020878}"/>
              </a:ext>
            </a:extLst>
          </p:cNvPr>
          <p:cNvSpPr/>
          <p:nvPr/>
        </p:nvSpPr>
        <p:spPr>
          <a:xfrm>
            <a:off x="2695195" y="499440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17" name="Speech Bubble: Rectangle with Corners Rounded 16">
            <a:extLst>
              <a:ext uri="{FF2B5EF4-FFF2-40B4-BE49-F238E27FC236}">
                <a16:creationId xmlns:a16="http://schemas.microsoft.com/office/drawing/2014/main" id="{77F6B2D0-9F22-338E-8CDE-A7D9CA45671A}"/>
              </a:ext>
            </a:extLst>
          </p:cNvPr>
          <p:cNvSpPr/>
          <p:nvPr/>
        </p:nvSpPr>
        <p:spPr>
          <a:xfrm>
            <a:off x="5248630" y="4815808"/>
            <a:ext cx="2494824" cy="657180"/>
          </a:xfrm>
          <a:prstGeom prst="wedgeRoundRectCallout">
            <a:avLst>
              <a:gd name="adj1" fmla="val -64172"/>
              <a:gd name="adj2" fmla="val 810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Guest access setting</a:t>
            </a:r>
          </a:p>
        </p:txBody>
      </p:sp>
      <p:sp>
        <p:nvSpPr>
          <p:cNvPr id="18" name="Flowchart: Connector 17">
            <a:extLst>
              <a:ext uri="{FF2B5EF4-FFF2-40B4-BE49-F238E27FC236}">
                <a16:creationId xmlns:a16="http://schemas.microsoft.com/office/drawing/2014/main" id="{7287955A-872E-122A-2FC1-55F593C8CAD3}"/>
              </a:ext>
            </a:extLst>
          </p:cNvPr>
          <p:cNvSpPr/>
          <p:nvPr/>
        </p:nvSpPr>
        <p:spPr>
          <a:xfrm>
            <a:off x="7878116" y="490228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19" name="Speech Bubble: Rectangle with Corners Rounded 18">
            <a:extLst>
              <a:ext uri="{FF2B5EF4-FFF2-40B4-BE49-F238E27FC236}">
                <a16:creationId xmlns:a16="http://schemas.microsoft.com/office/drawing/2014/main" id="{6E1F9552-0510-39E6-9309-826C3CA6B55E}"/>
              </a:ext>
            </a:extLst>
          </p:cNvPr>
          <p:cNvSpPr/>
          <p:nvPr/>
        </p:nvSpPr>
        <p:spPr>
          <a:xfrm>
            <a:off x="5248630" y="3923424"/>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Habilitar/Deshabilitar acceso de invitados</a:t>
            </a:r>
            <a:r>
              <a:rPr kumimoji="0" lang="es-E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para el entorno</a:t>
            </a:r>
            <a:endPar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20" name="Flowchart: Connector 19">
            <a:extLst>
              <a:ext uri="{FF2B5EF4-FFF2-40B4-BE49-F238E27FC236}">
                <a16:creationId xmlns:a16="http://schemas.microsoft.com/office/drawing/2014/main" id="{94C1E349-86C7-5CDC-FEC1-1B9568B8AF8E}"/>
              </a:ext>
            </a:extLst>
          </p:cNvPr>
          <p:cNvSpPr/>
          <p:nvPr/>
        </p:nvSpPr>
        <p:spPr>
          <a:xfrm>
            <a:off x="7854451" y="409593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3" name="Picture 2" descr="Profile photo of Enrique Arribas Bueno">
            <a:extLst>
              <a:ext uri="{FF2B5EF4-FFF2-40B4-BE49-F238E27FC236}">
                <a16:creationId xmlns:a16="http://schemas.microsoft.com/office/drawing/2014/main" id="{499BE9C8-D0D9-90AE-75C0-EE6E279D6F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6591222"/>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1000"/>
                                        <p:tgtEl>
                                          <p:spTgt spid="17"/>
                                        </p:tgtEl>
                                      </p:cBhvr>
                                    </p:animEffect>
                                    <p:anim calcmode="lin" valueType="num">
                                      <p:cBhvr>
                                        <p:cTn id="25" dur="1000" fill="hold"/>
                                        <p:tgtEl>
                                          <p:spTgt spid="17"/>
                                        </p:tgtEl>
                                        <p:attrNameLst>
                                          <p:attrName>ppt_x</p:attrName>
                                        </p:attrNameLst>
                                      </p:cBhvr>
                                      <p:tavLst>
                                        <p:tav tm="0">
                                          <p:val>
                                            <p:strVal val="#ppt_x"/>
                                          </p:val>
                                        </p:tav>
                                        <p:tav tm="100000">
                                          <p:val>
                                            <p:strVal val="#ppt_x"/>
                                          </p:val>
                                        </p:tav>
                                      </p:tavLst>
                                    </p:anim>
                                    <p:anim calcmode="lin" valueType="num">
                                      <p:cBhvr>
                                        <p:cTn id="2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1000"/>
                                        <p:tgtEl>
                                          <p:spTgt spid="19"/>
                                        </p:tgtEl>
                                      </p:cBhvr>
                                    </p:animEffect>
                                    <p:anim calcmode="lin" valueType="num">
                                      <p:cBhvr>
                                        <p:cTn id="37" dur="1000" fill="hold"/>
                                        <p:tgtEl>
                                          <p:spTgt spid="19"/>
                                        </p:tgtEl>
                                        <p:attrNameLst>
                                          <p:attrName>ppt_x</p:attrName>
                                        </p:attrNameLst>
                                      </p:cBhvr>
                                      <p:tavLst>
                                        <p:tav tm="0">
                                          <p:val>
                                            <p:strVal val="#ppt_x"/>
                                          </p:val>
                                        </p:tav>
                                        <p:tav tm="100000">
                                          <p:val>
                                            <p:strVal val="#ppt_x"/>
                                          </p:val>
                                        </p:tav>
                                      </p:tavLst>
                                    </p:anim>
                                    <p:anim calcmode="lin" valueType="num">
                                      <p:cBhvr>
                                        <p:cTn id="3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37DF4-05F5-31D0-4CE0-AB88EB65AC81}"/>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3CD04BCB-6DE9-72D6-B1AC-5EBFE2AC900E}"/>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92A31CD-4FCE-352C-52DF-05716A14EB9F}"/>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F131818A-3B49-A02D-D762-640F4E34650B}"/>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Manage agent security with enhanced admin controls | Microsoft Learn</a:t>
            </a:r>
            <a:r>
              <a:rPr lang="es-ES" sz="1600">
                <a:solidFill>
                  <a:schemeClr val="bg1"/>
                </a:solidFill>
                <a:latin typeface="Segoe UI" panose="020B0502040204020203" pitchFamily="34" charset="0"/>
                <a:cs typeface="Segoe UI" panose="020B0502040204020203" pitchFamily="34" charset="0"/>
              </a:rPr>
              <a:t> – Autenticación para Agentes: Configurable a nivel de entorno o de Grupo de entornos</a:t>
            </a:r>
            <a:endParaRPr lang="es-ES" sz="1600" noProof="0">
              <a:solidFill>
                <a:schemeClr val="bg1"/>
              </a:solidFill>
              <a:latin typeface="Segoe UI" panose="020B0502040204020203" pitchFamily="34" charset="0"/>
              <a:cs typeface="Segoe UI" panose="020B0502040204020203" pitchFamily="34" charset="0"/>
            </a:endParaRPr>
          </a:p>
        </p:txBody>
      </p:sp>
      <p:pic>
        <p:nvPicPr>
          <p:cNvPr id="11" name="Picture 10">
            <a:extLst>
              <a:ext uri="{FF2B5EF4-FFF2-40B4-BE49-F238E27FC236}">
                <a16:creationId xmlns:a16="http://schemas.microsoft.com/office/drawing/2014/main" id="{74813F74-EDA4-AF7A-B6F1-FC483D0B8068}"/>
              </a:ext>
            </a:extLst>
          </p:cNvPr>
          <p:cNvPicPr>
            <a:picLocks noChangeAspect="1"/>
          </p:cNvPicPr>
          <p:nvPr/>
        </p:nvPicPr>
        <p:blipFill>
          <a:blip r:embed="rId4"/>
          <a:stretch>
            <a:fillRect/>
          </a:stretch>
        </p:blipFill>
        <p:spPr>
          <a:xfrm>
            <a:off x="2446867" y="2412334"/>
            <a:ext cx="7582036" cy="4445665"/>
          </a:xfrm>
          <a:prstGeom prst="rect">
            <a:avLst/>
          </a:prstGeom>
        </p:spPr>
      </p:pic>
      <p:sp>
        <p:nvSpPr>
          <p:cNvPr id="12" name="Speech Bubble: Rectangle with Corners Rounded 11">
            <a:extLst>
              <a:ext uri="{FF2B5EF4-FFF2-40B4-BE49-F238E27FC236}">
                <a16:creationId xmlns:a16="http://schemas.microsoft.com/office/drawing/2014/main" id="{4BCA02DC-08A0-4F87-BD85-F41CDDDF5D6D}"/>
              </a:ext>
            </a:extLst>
          </p:cNvPr>
          <p:cNvSpPr/>
          <p:nvPr/>
        </p:nvSpPr>
        <p:spPr>
          <a:xfrm>
            <a:off x="2268757" y="4108068"/>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Identity &amp; Access Settings</a:t>
            </a:r>
          </a:p>
        </p:txBody>
      </p:sp>
      <p:sp>
        <p:nvSpPr>
          <p:cNvPr id="14" name="Flowchart: Connector 13">
            <a:extLst>
              <a:ext uri="{FF2B5EF4-FFF2-40B4-BE49-F238E27FC236}">
                <a16:creationId xmlns:a16="http://schemas.microsoft.com/office/drawing/2014/main" id="{E9DE2325-3BEF-6FC0-2CEA-13C274DE094B}"/>
              </a:ext>
            </a:extLst>
          </p:cNvPr>
          <p:cNvSpPr/>
          <p:nvPr/>
        </p:nvSpPr>
        <p:spPr>
          <a:xfrm>
            <a:off x="2896941" y="498992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15" name="Speech Bubble: Rectangle with Corners Rounded 14">
            <a:extLst>
              <a:ext uri="{FF2B5EF4-FFF2-40B4-BE49-F238E27FC236}">
                <a16:creationId xmlns:a16="http://schemas.microsoft.com/office/drawing/2014/main" id="{B3850509-BC75-D6C4-E59F-33F48AFA018A}"/>
              </a:ext>
            </a:extLst>
          </p:cNvPr>
          <p:cNvSpPr/>
          <p:nvPr/>
        </p:nvSpPr>
        <p:spPr>
          <a:xfrm>
            <a:off x="5026570" y="5392179"/>
            <a:ext cx="2494824" cy="657180"/>
          </a:xfrm>
          <a:prstGeom prst="wedgeRoundRectCallout">
            <a:avLst>
              <a:gd name="adj1" fmla="val -53991"/>
              <a:gd name="adj2" fmla="val 33868"/>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Autenticación</a:t>
            </a:r>
            <a:r>
              <a:rPr kumimoji="0" lang="es-E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para Agentes</a:t>
            </a:r>
            <a:endPar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16" name="Flowchart: Connector 15">
            <a:extLst>
              <a:ext uri="{FF2B5EF4-FFF2-40B4-BE49-F238E27FC236}">
                <a16:creationId xmlns:a16="http://schemas.microsoft.com/office/drawing/2014/main" id="{AD038161-1367-1739-5F5D-17B254962F85}"/>
              </a:ext>
            </a:extLst>
          </p:cNvPr>
          <p:cNvSpPr/>
          <p:nvPr/>
        </p:nvSpPr>
        <p:spPr>
          <a:xfrm>
            <a:off x="7610154" y="540140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17" name="Speech Bubble: Rectangle with Corners Rounded 16">
            <a:extLst>
              <a:ext uri="{FF2B5EF4-FFF2-40B4-BE49-F238E27FC236}">
                <a16:creationId xmlns:a16="http://schemas.microsoft.com/office/drawing/2014/main" id="{E8E7FC68-79E0-5230-BF90-0067A2C4EF36}"/>
              </a:ext>
            </a:extLst>
          </p:cNvPr>
          <p:cNvSpPr/>
          <p:nvPr/>
        </p:nvSpPr>
        <p:spPr>
          <a:xfrm>
            <a:off x="6273982" y="3713201"/>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Configuración de la autenticación de</a:t>
            </a:r>
            <a:r>
              <a:rPr kumimoji="0" lang="es-E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Agentes</a:t>
            </a:r>
            <a:endPar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18" name="Flowchart: Connector 17">
            <a:extLst>
              <a:ext uri="{FF2B5EF4-FFF2-40B4-BE49-F238E27FC236}">
                <a16:creationId xmlns:a16="http://schemas.microsoft.com/office/drawing/2014/main" id="{1D8199AD-35AF-BBE8-4F40-13E699B22E19}"/>
              </a:ext>
            </a:extLst>
          </p:cNvPr>
          <p:cNvSpPr/>
          <p:nvPr/>
        </p:nvSpPr>
        <p:spPr>
          <a:xfrm>
            <a:off x="8940982" y="390232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4" name="Picture Placeholder 2" descr="A person smiling for a picture&#10;&#10;AI-generated content may be incorrect.">
            <a:extLst>
              <a:ext uri="{FF2B5EF4-FFF2-40B4-BE49-F238E27FC236}">
                <a16:creationId xmlns:a16="http://schemas.microsoft.com/office/drawing/2014/main" id="{4B36590F-7CFF-54E7-2194-C596358C02CE}"/>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058562" y="139602"/>
            <a:ext cx="910149" cy="1005840"/>
          </a:xfrm>
          <a:prstGeom prst="ellipse">
            <a:avLst/>
          </a:prstGeom>
          <a:ln>
            <a:noFill/>
          </a:ln>
          <a:effectLst>
            <a:softEdge rad="112500"/>
          </a:effectLst>
        </p:spPr>
      </p:pic>
    </p:spTree>
    <p:extLst>
      <p:ext uri="{BB962C8B-B14F-4D97-AF65-F5344CB8AC3E}">
        <p14:creationId xmlns:p14="http://schemas.microsoft.com/office/powerpoint/2010/main" val="2206993092"/>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1000"/>
                                        <p:tgtEl>
                                          <p:spTgt spid="18"/>
                                        </p:tgtEl>
                                      </p:cBhvr>
                                    </p:animEffect>
                                    <p:anim calcmode="lin" valueType="num">
                                      <p:cBhvr>
                                        <p:cTn id="32" dur="1000" fill="hold"/>
                                        <p:tgtEl>
                                          <p:spTgt spid="18"/>
                                        </p:tgtEl>
                                        <p:attrNameLst>
                                          <p:attrName>ppt_x</p:attrName>
                                        </p:attrNameLst>
                                      </p:cBhvr>
                                      <p:tavLst>
                                        <p:tav tm="0">
                                          <p:val>
                                            <p:strVal val="#ppt_x"/>
                                          </p:val>
                                        </p:tav>
                                        <p:tav tm="100000">
                                          <p:val>
                                            <p:strVal val="#ppt_x"/>
                                          </p:val>
                                        </p:tav>
                                      </p:tavLst>
                                    </p:anim>
                                    <p:anim calcmode="lin" valueType="num">
                                      <p:cBhvr>
                                        <p:cTn id="33" dur="1000" fill="hold"/>
                                        <p:tgtEl>
                                          <p:spTgt spid="1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1000"/>
                                        <p:tgtEl>
                                          <p:spTgt spid="17"/>
                                        </p:tgtEl>
                                      </p:cBhvr>
                                    </p:animEffect>
                                    <p:anim calcmode="lin" valueType="num">
                                      <p:cBhvr>
                                        <p:cTn id="37" dur="1000" fill="hold"/>
                                        <p:tgtEl>
                                          <p:spTgt spid="17"/>
                                        </p:tgtEl>
                                        <p:attrNameLst>
                                          <p:attrName>ppt_x</p:attrName>
                                        </p:attrNameLst>
                                      </p:cBhvr>
                                      <p:tavLst>
                                        <p:tav tm="0">
                                          <p:val>
                                            <p:strVal val="#ppt_x"/>
                                          </p:val>
                                        </p:tav>
                                        <p:tav tm="100000">
                                          <p:val>
                                            <p:strVal val="#ppt_x"/>
                                          </p:val>
                                        </p:tav>
                                      </p:tavLst>
                                    </p:anim>
                                    <p:anim calcmode="lin" valueType="num">
                                      <p:cBhvr>
                                        <p:cTn id="3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17" grpId="0" animBg="1"/>
      <p:bldP spid="1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222D6-FFDF-52D1-51A8-864140C0C224}"/>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21C2B96F-F6AD-351A-8676-4EC285A83285}"/>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A785E6D5-7B20-3A7A-00AB-24F89B0153E2}"/>
              </a:ext>
            </a:extLst>
          </p:cNvPr>
          <p:cNvSpPr txBox="1"/>
          <p:nvPr/>
        </p:nvSpPr>
        <p:spPr>
          <a:xfrm>
            <a:off x="1415846" y="483723"/>
            <a:ext cx="9360311" cy="1323439"/>
          </a:xfrm>
          <a:prstGeom prst="rect">
            <a:avLst/>
          </a:prstGeom>
          <a:noFill/>
        </p:spPr>
        <p:txBody>
          <a:bodyPr wrap="square" rtlCol="0">
            <a:spAutoFit/>
          </a:bodyPr>
          <a:lstStyle/>
          <a:p>
            <a:pPr algn="ctr"/>
            <a:r>
              <a:rPr lang="es-ES" sz="4000" b="1" noProof="0" err="1">
                <a:solidFill>
                  <a:schemeClr val="bg1"/>
                </a:solidFill>
                <a:latin typeface="Segoe UI" panose="020B0502040204020203" pitchFamily="34" charset="0"/>
                <a:cs typeface="Segoe UI" panose="020B0502040204020203" pitchFamily="34" charset="0"/>
              </a:rPr>
              <a:t>Securizando</a:t>
            </a:r>
            <a:r>
              <a:rPr lang="es-ES" sz="4000" b="1" noProof="0">
                <a:solidFill>
                  <a:schemeClr val="bg1"/>
                </a:solidFill>
                <a:latin typeface="Segoe UI" panose="020B0502040204020203" pitchFamily="34" charset="0"/>
                <a:cs typeface="Segoe UI" panose="020B0502040204020203" pitchFamily="34" charset="0"/>
              </a:rPr>
              <a:t> la Identidad, el Acceso y la Red en la Power Platform</a:t>
            </a:r>
          </a:p>
        </p:txBody>
      </p:sp>
      <p:sp>
        <p:nvSpPr>
          <p:cNvPr id="2" name="TextBox 1">
            <a:extLst>
              <a:ext uri="{FF2B5EF4-FFF2-40B4-BE49-F238E27FC236}">
                <a16:creationId xmlns:a16="http://schemas.microsoft.com/office/drawing/2014/main" id="{5515C9B3-E9B0-EB1F-A5A1-2F29E9C9422E}"/>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Manage agent security with enhanced admin controls | Microsoft Learn</a:t>
            </a:r>
            <a:r>
              <a:rPr lang="es-ES" sz="1600">
                <a:solidFill>
                  <a:schemeClr val="bg1"/>
                </a:solidFill>
                <a:latin typeface="Segoe UI" panose="020B0502040204020203" pitchFamily="34" charset="0"/>
                <a:cs typeface="Segoe UI" panose="020B0502040204020203" pitchFamily="34" charset="0"/>
              </a:rPr>
              <a:t> – Canales de Acceso a Agentes: Configurable a nivel de entorno o de Grupo de entornos</a:t>
            </a:r>
            <a:endParaRPr lang="es-ES" sz="1600" noProof="0">
              <a:solidFill>
                <a:schemeClr val="bg1"/>
              </a:solidFill>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FE9A8B80-0A3F-4B49-87A9-12D7754CEFE6}"/>
              </a:ext>
            </a:extLst>
          </p:cNvPr>
          <p:cNvPicPr>
            <a:picLocks noChangeAspect="1"/>
          </p:cNvPicPr>
          <p:nvPr/>
        </p:nvPicPr>
        <p:blipFill>
          <a:blip r:embed="rId4"/>
          <a:stretch>
            <a:fillRect/>
          </a:stretch>
        </p:blipFill>
        <p:spPr>
          <a:xfrm>
            <a:off x="2446867" y="2412334"/>
            <a:ext cx="7582036" cy="4446460"/>
          </a:xfrm>
          <a:prstGeom prst="rect">
            <a:avLst/>
          </a:prstGeom>
        </p:spPr>
      </p:pic>
      <p:sp>
        <p:nvSpPr>
          <p:cNvPr id="6" name="Speech Bubble: Rectangle with Corners Rounded 5">
            <a:extLst>
              <a:ext uri="{FF2B5EF4-FFF2-40B4-BE49-F238E27FC236}">
                <a16:creationId xmlns:a16="http://schemas.microsoft.com/office/drawing/2014/main" id="{2285F2C0-4F36-A844-2FDC-A25AB5CEA4C0}"/>
              </a:ext>
            </a:extLst>
          </p:cNvPr>
          <p:cNvSpPr/>
          <p:nvPr/>
        </p:nvSpPr>
        <p:spPr>
          <a:xfrm>
            <a:off x="2268757" y="4108068"/>
            <a:ext cx="1849562" cy="789733"/>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Identity &amp; Access Settings</a:t>
            </a:r>
          </a:p>
        </p:txBody>
      </p:sp>
      <p:sp>
        <p:nvSpPr>
          <p:cNvPr id="7" name="Flowchart: Connector 6">
            <a:extLst>
              <a:ext uri="{FF2B5EF4-FFF2-40B4-BE49-F238E27FC236}">
                <a16:creationId xmlns:a16="http://schemas.microsoft.com/office/drawing/2014/main" id="{1AA80D97-093A-6044-30F7-448B1C80E372}"/>
              </a:ext>
            </a:extLst>
          </p:cNvPr>
          <p:cNvSpPr/>
          <p:nvPr/>
        </p:nvSpPr>
        <p:spPr>
          <a:xfrm>
            <a:off x="2896941" y="4989924"/>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8" name="Speech Bubble: Rectangle with Corners Rounded 7">
            <a:extLst>
              <a:ext uri="{FF2B5EF4-FFF2-40B4-BE49-F238E27FC236}">
                <a16:creationId xmlns:a16="http://schemas.microsoft.com/office/drawing/2014/main" id="{1D1F7C46-B6E8-244B-A709-0B88E0F55401}"/>
              </a:ext>
            </a:extLst>
          </p:cNvPr>
          <p:cNvSpPr/>
          <p:nvPr/>
        </p:nvSpPr>
        <p:spPr>
          <a:xfrm>
            <a:off x="5399104" y="5891712"/>
            <a:ext cx="2494824" cy="657180"/>
          </a:xfrm>
          <a:prstGeom prst="wedgeRoundRectCallout">
            <a:avLst>
              <a:gd name="adj1" fmla="val -55688"/>
              <a:gd name="adj2" fmla="val 3902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Acceso de </a:t>
            </a:r>
            <a:r>
              <a:rPr kumimoji="0" lang="es-E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Agentes</a:t>
            </a:r>
            <a:endPar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9" name="Flowchart: Connector 8">
            <a:extLst>
              <a:ext uri="{FF2B5EF4-FFF2-40B4-BE49-F238E27FC236}">
                <a16:creationId xmlns:a16="http://schemas.microsoft.com/office/drawing/2014/main" id="{E2AB7BEA-6B7F-1C62-1CBF-DADF8EF03627}"/>
              </a:ext>
            </a:extLst>
          </p:cNvPr>
          <p:cNvSpPr/>
          <p:nvPr/>
        </p:nvSpPr>
        <p:spPr>
          <a:xfrm>
            <a:off x="7982688" y="5962797"/>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10" name="Speech Bubble: Rectangle with Corners Rounded 9">
            <a:extLst>
              <a:ext uri="{FF2B5EF4-FFF2-40B4-BE49-F238E27FC236}">
                <a16:creationId xmlns:a16="http://schemas.microsoft.com/office/drawing/2014/main" id="{ED81053B-7FA9-259E-386E-41CF4A6857B0}"/>
              </a:ext>
            </a:extLst>
          </p:cNvPr>
          <p:cNvSpPr/>
          <p:nvPr/>
        </p:nvSpPr>
        <p:spPr>
          <a:xfrm>
            <a:off x="6273982" y="3713201"/>
            <a:ext cx="2494824" cy="789733"/>
          </a:xfrm>
          <a:prstGeom prst="wedgeRoundRectCallout">
            <a:avLst>
              <a:gd name="adj1" fmla="val -38948"/>
              <a:gd name="adj2" fmla="val -6686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Configuración de Canales</a:t>
            </a:r>
            <a:r>
              <a:rPr kumimoji="0" lang="es-E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donde los Agentes están disponibles</a:t>
            </a:r>
            <a:endParaRPr kumimoji="0" lang="es-E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19" name="Flowchart: Connector 18">
            <a:extLst>
              <a:ext uri="{FF2B5EF4-FFF2-40B4-BE49-F238E27FC236}">
                <a16:creationId xmlns:a16="http://schemas.microsoft.com/office/drawing/2014/main" id="{2B120B0E-7FD6-290E-8602-243E193168DA}"/>
              </a:ext>
            </a:extLst>
          </p:cNvPr>
          <p:cNvSpPr/>
          <p:nvPr/>
        </p:nvSpPr>
        <p:spPr>
          <a:xfrm>
            <a:off x="8940982" y="390232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4" name="Picture Placeholder 2" descr="A person smiling for a picture&#10;&#10;AI-generated content may be incorrect.">
            <a:extLst>
              <a:ext uri="{FF2B5EF4-FFF2-40B4-BE49-F238E27FC236}">
                <a16:creationId xmlns:a16="http://schemas.microsoft.com/office/drawing/2014/main" id="{AC0CA8D7-E72D-0C8F-262C-64BE14FA07E1}"/>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109360" y="139602"/>
            <a:ext cx="910149" cy="1005840"/>
          </a:xfrm>
          <a:prstGeom prst="ellipse">
            <a:avLst/>
          </a:prstGeom>
          <a:ln>
            <a:noFill/>
          </a:ln>
          <a:effectLst>
            <a:softEdge rad="112500"/>
          </a:effectLst>
        </p:spPr>
      </p:pic>
    </p:spTree>
    <p:extLst>
      <p:ext uri="{BB962C8B-B14F-4D97-AF65-F5344CB8AC3E}">
        <p14:creationId xmlns:p14="http://schemas.microsoft.com/office/powerpoint/2010/main" val="3618220295"/>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anim calcmode="lin" valueType="num">
                                      <p:cBhvr>
                                        <p:cTn id="25" dur="1000" fill="hold"/>
                                        <p:tgtEl>
                                          <p:spTgt spid="8"/>
                                        </p:tgtEl>
                                        <p:attrNameLst>
                                          <p:attrName>ppt_x</p:attrName>
                                        </p:attrNameLst>
                                      </p:cBhvr>
                                      <p:tavLst>
                                        <p:tav tm="0">
                                          <p:val>
                                            <p:strVal val="#ppt_x"/>
                                          </p:val>
                                        </p:tav>
                                        <p:tav tm="100000">
                                          <p:val>
                                            <p:strVal val="#ppt_x"/>
                                          </p:val>
                                        </p:tav>
                                      </p:tavLst>
                                    </p:anim>
                                    <p:anim calcmode="lin" valueType="num">
                                      <p:cBhvr>
                                        <p:cTn id="2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79D11-77AD-2A5C-A14B-49762F7AD7D5}"/>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A81CE4A1-6B56-3B2C-988B-CD00080A3378}"/>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89D9CF8C-744C-64A7-1828-3DBD1289C7D1}"/>
              </a:ext>
            </a:extLst>
          </p:cNvPr>
          <p:cNvGrpSpPr/>
          <p:nvPr/>
        </p:nvGrpSpPr>
        <p:grpSpPr>
          <a:xfrm>
            <a:off x="1098513" y="1099367"/>
            <a:ext cx="4382144" cy="2062104"/>
            <a:chOff x="1092200" y="1859895"/>
            <a:chExt cx="4382144" cy="2062101"/>
          </a:xfrm>
        </p:grpSpPr>
        <p:sp>
          <p:nvSpPr>
            <p:cNvPr id="45" name="TextBox 44">
              <a:extLst>
                <a:ext uri="{FF2B5EF4-FFF2-40B4-BE49-F238E27FC236}">
                  <a16:creationId xmlns:a16="http://schemas.microsoft.com/office/drawing/2014/main" id="{5F53C604-8711-8862-7ACE-BD3AEC9A10AD}"/>
                </a:ext>
              </a:extLst>
            </p:cNvPr>
            <p:cNvSpPr txBox="1"/>
            <p:nvPr/>
          </p:nvSpPr>
          <p:spPr>
            <a:xfrm>
              <a:off x="1092200" y="2167672"/>
              <a:ext cx="4382144" cy="1754324"/>
            </a:xfrm>
            <a:prstGeom prst="rect">
              <a:avLst/>
            </a:prstGeom>
            <a:noFill/>
          </p:spPr>
          <p:txBody>
            <a:bodyPr wrap="square" rtlCol="0">
              <a:spAutoFit/>
            </a:bodyPr>
            <a:lstStyle/>
            <a:p>
              <a:r>
                <a:rPr lang="es-ES" sz="3600" b="1" noProof="0">
                  <a:solidFill>
                    <a:schemeClr val="bg1"/>
                  </a:solidFill>
                  <a:latin typeface="+mj-lt"/>
                  <a:cs typeface="Poppins ExtraBold" panose="00000900000000000000" pitchFamily="2" charset="0"/>
                </a:rPr>
                <a:t>Seguridad de Identidad y Acceso – Parte II</a:t>
              </a:r>
            </a:p>
          </p:txBody>
        </p:sp>
        <p:grpSp>
          <p:nvGrpSpPr>
            <p:cNvPr id="46" name="Group 45">
              <a:extLst>
                <a:ext uri="{FF2B5EF4-FFF2-40B4-BE49-F238E27FC236}">
                  <a16:creationId xmlns:a16="http://schemas.microsoft.com/office/drawing/2014/main" id="{EB7F9829-AC3C-E75E-9835-829E7DA0D357}"/>
                </a:ext>
              </a:extLst>
            </p:cNvPr>
            <p:cNvGrpSpPr/>
            <p:nvPr/>
          </p:nvGrpSpPr>
          <p:grpSpPr>
            <a:xfrm>
              <a:off x="1190922" y="1859895"/>
              <a:ext cx="3089364" cy="338554"/>
              <a:chOff x="1630681" y="1859895"/>
              <a:chExt cx="3089364" cy="338554"/>
            </a:xfrm>
          </p:grpSpPr>
          <p:sp>
            <p:nvSpPr>
              <p:cNvPr id="47" name="TextBox 46">
                <a:extLst>
                  <a:ext uri="{FF2B5EF4-FFF2-40B4-BE49-F238E27FC236}">
                    <a16:creationId xmlns:a16="http://schemas.microsoft.com/office/drawing/2014/main" id="{3D776265-5187-717B-3DE7-9DC410F3B861}"/>
                  </a:ext>
                </a:extLst>
              </p:cNvPr>
              <p:cNvSpPr txBox="1"/>
              <p:nvPr/>
            </p:nvSpPr>
            <p:spPr>
              <a:xfrm>
                <a:off x="2013833" y="1859895"/>
                <a:ext cx="2706212" cy="338554"/>
              </a:xfrm>
              <a:prstGeom prst="rect">
                <a:avLst/>
              </a:prstGeom>
              <a:noFill/>
            </p:spPr>
            <p:txBody>
              <a:bodyPr wrap="square" rtlCol="0">
                <a:spAutoFit/>
              </a:bodyPr>
              <a:lstStyle/>
              <a:p>
                <a:r>
                  <a:rPr lang="en-US" sz="1600" b="1">
                    <a:solidFill>
                      <a:schemeClr val="bg1"/>
                    </a:solidFill>
                    <a:latin typeface="+mj-lt"/>
                    <a:cs typeface="Poppins ExtraBold" panose="00000900000000000000" pitchFamily="2" charset="0"/>
                  </a:rPr>
                  <a:t>DEMO #4</a:t>
                </a:r>
                <a:endParaRPr lang="en-GB" sz="1600" b="1">
                  <a:solidFill>
                    <a:schemeClr val="bg1"/>
                  </a:solidFill>
                  <a:latin typeface="+mj-lt"/>
                  <a:cs typeface="Poppins ExtraBold" panose="00000900000000000000" pitchFamily="2" charset="0"/>
                </a:endParaRPr>
              </a:p>
            </p:txBody>
          </p:sp>
          <p:cxnSp>
            <p:nvCxnSpPr>
              <p:cNvPr id="48" name="Straight Connector 47">
                <a:extLst>
                  <a:ext uri="{FF2B5EF4-FFF2-40B4-BE49-F238E27FC236}">
                    <a16:creationId xmlns:a16="http://schemas.microsoft.com/office/drawing/2014/main" id="{9B0FAD06-4899-7B03-482B-4C5EA008793D}"/>
                  </a:ext>
                </a:extLst>
              </p:cNvPr>
              <p:cNvCxnSpPr>
                <a:cxnSpLocks/>
              </p:cNvCxnSpPr>
              <p:nvPr/>
            </p:nvCxnSpPr>
            <p:spPr>
              <a:xfrm flipH="1">
                <a:off x="1630681" y="2006163"/>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9" name="Picture 18" descr="Minion clipart transparent background, Minion transparent background  Transparent FREE for download on WebStockReview 2021">
            <a:extLst>
              <a:ext uri="{FF2B5EF4-FFF2-40B4-BE49-F238E27FC236}">
                <a16:creationId xmlns:a16="http://schemas.microsoft.com/office/drawing/2014/main" id="{F3221956-F18E-83F7-5529-B567BC9E5B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1" y="532342"/>
            <a:ext cx="4492646" cy="52582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3E9712CB-EBA9-70BB-81EF-321409D13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52F3C696-E830-17A9-860E-DB497464E581}"/>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0186493" y="139602"/>
            <a:ext cx="910149" cy="1005840"/>
          </a:xfrm>
          <a:prstGeom prst="ellipse">
            <a:avLst/>
          </a:prstGeom>
          <a:ln>
            <a:noFill/>
          </a:ln>
          <a:effectLst>
            <a:softEdge rad="112500"/>
          </a:effectLst>
        </p:spPr>
      </p:pic>
    </p:spTree>
    <p:extLst>
      <p:ext uri="{BB962C8B-B14F-4D97-AF65-F5344CB8AC3E}">
        <p14:creationId xmlns:p14="http://schemas.microsoft.com/office/powerpoint/2010/main" val="1965732638"/>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23" presetClass="entr" presetSubtype="272"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 calcmode="lin" valueType="num">
                                      <p:cBhvr>
                                        <p:cTn id="10" dur="500" fill="hold"/>
                                        <p:tgtEl>
                                          <p:spTgt spid="44"/>
                                        </p:tgtEl>
                                        <p:attrNameLst>
                                          <p:attrName>ppt_w</p:attrName>
                                        </p:attrNameLst>
                                      </p:cBhvr>
                                      <p:tavLst>
                                        <p:tav tm="0">
                                          <p:val>
                                            <p:strVal val="2/3*#ppt_w"/>
                                          </p:val>
                                        </p:tav>
                                        <p:tav tm="100000">
                                          <p:val>
                                            <p:strVal val="#ppt_w"/>
                                          </p:val>
                                        </p:tav>
                                      </p:tavLst>
                                    </p:anim>
                                    <p:anim calcmode="lin" valueType="num">
                                      <p:cBhvr>
                                        <p:cTn id="11" dur="500" fill="hold"/>
                                        <p:tgtEl>
                                          <p:spTgt spid="44"/>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125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80">
                                          <p:stCondLst>
                                            <p:cond delay="0"/>
                                          </p:stCondLst>
                                        </p:cTn>
                                        <p:tgtEl>
                                          <p:spTgt spid="9"/>
                                        </p:tgtEl>
                                      </p:cBhvr>
                                    </p:animEffect>
                                    <p:anim calcmode="lin" valueType="num">
                                      <p:cBhvr>
                                        <p:cTn id="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5" dur="26">
                                          <p:stCondLst>
                                            <p:cond delay="650"/>
                                          </p:stCondLst>
                                        </p:cTn>
                                        <p:tgtEl>
                                          <p:spTgt spid="9"/>
                                        </p:tgtEl>
                                      </p:cBhvr>
                                      <p:to x="100000" y="60000"/>
                                    </p:animScale>
                                    <p:animScale>
                                      <p:cBhvr>
                                        <p:cTn id="26" dur="166" decel="50000">
                                          <p:stCondLst>
                                            <p:cond delay="676"/>
                                          </p:stCondLst>
                                        </p:cTn>
                                        <p:tgtEl>
                                          <p:spTgt spid="9"/>
                                        </p:tgtEl>
                                      </p:cBhvr>
                                      <p:to x="100000" y="100000"/>
                                    </p:animScale>
                                    <p:animScale>
                                      <p:cBhvr>
                                        <p:cTn id="27" dur="26">
                                          <p:stCondLst>
                                            <p:cond delay="1312"/>
                                          </p:stCondLst>
                                        </p:cTn>
                                        <p:tgtEl>
                                          <p:spTgt spid="9"/>
                                        </p:tgtEl>
                                      </p:cBhvr>
                                      <p:to x="100000" y="80000"/>
                                    </p:animScale>
                                    <p:animScale>
                                      <p:cBhvr>
                                        <p:cTn id="28" dur="166" decel="50000">
                                          <p:stCondLst>
                                            <p:cond delay="1338"/>
                                          </p:stCondLst>
                                        </p:cTn>
                                        <p:tgtEl>
                                          <p:spTgt spid="9"/>
                                        </p:tgtEl>
                                      </p:cBhvr>
                                      <p:to x="100000" y="100000"/>
                                    </p:animScale>
                                    <p:animScale>
                                      <p:cBhvr>
                                        <p:cTn id="29" dur="26">
                                          <p:stCondLst>
                                            <p:cond delay="1642"/>
                                          </p:stCondLst>
                                        </p:cTn>
                                        <p:tgtEl>
                                          <p:spTgt spid="9"/>
                                        </p:tgtEl>
                                      </p:cBhvr>
                                      <p:to x="100000" y="90000"/>
                                    </p:animScale>
                                    <p:animScale>
                                      <p:cBhvr>
                                        <p:cTn id="30" dur="166" decel="50000">
                                          <p:stCondLst>
                                            <p:cond delay="1668"/>
                                          </p:stCondLst>
                                        </p:cTn>
                                        <p:tgtEl>
                                          <p:spTgt spid="9"/>
                                        </p:tgtEl>
                                      </p:cBhvr>
                                      <p:to x="100000" y="100000"/>
                                    </p:animScale>
                                    <p:animScale>
                                      <p:cBhvr>
                                        <p:cTn id="31" dur="26">
                                          <p:stCondLst>
                                            <p:cond delay="1808"/>
                                          </p:stCondLst>
                                        </p:cTn>
                                        <p:tgtEl>
                                          <p:spTgt spid="9"/>
                                        </p:tgtEl>
                                      </p:cBhvr>
                                      <p:to x="100000" y="95000"/>
                                    </p:animScale>
                                    <p:animScale>
                                      <p:cBhvr>
                                        <p:cTn id="3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A4897-6875-059A-798E-51888C610DBF}"/>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4BE454F5-CFF8-F554-CB20-DBD8C5E70443}"/>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8C6AAB18-8AE5-3246-D665-B579A7DD1B68}"/>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Auditoría y Cumplimiento</a:t>
            </a:r>
          </a:p>
        </p:txBody>
      </p:sp>
      <p:sp>
        <p:nvSpPr>
          <p:cNvPr id="2" name="TextBox 1">
            <a:extLst>
              <a:ext uri="{FF2B5EF4-FFF2-40B4-BE49-F238E27FC236}">
                <a16:creationId xmlns:a16="http://schemas.microsoft.com/office/drawing/2014/main" id="{818543E5-525C-7E32-6ACC-11B728A17ABD}"/>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Salvaguardar los datos organizativos cumpliendo regulaciones específicas + Visibilidad en todo momento de la actividad de Usuario, Administradores y las Aplicaciones</a:t>
            </a:r>
            <a:endParaRPr lang="es-ES" sz="1600" noProof="0">
              <a:solidFill>
                <a:schemeClr val="bg1"/>
              </a:solidFill>
              <a:latin typeface="Segoe UI" panose="020B0502040204020203" pitchFamily="34" charset="0"/>
              <a:cs typeface="Segoe UI" panose="020B0502040204020203" pitchFamily="34" charset="0"/>
            </a:endParaRPr>
          </a:p>
        </p:txBody>
      </p:sp>
      <p:grpSp>
        <p:nvGrpSpPr>
          <p:cNvPr id="3" name="Group 2">
            <a:extLst>
              <a:ext uri="{FF2B5EF4-FFF2-40B4-BE49-F238E27FC236}">
                <a16:creationId xmlns:a16="http://schemas.microsoft.com/office/drawing/2014/main" id="{87FA3993-C884-F633-3ED7-D9951B477DCB}"/>
              </a:ext>
            </a:extLst>
          </p:cNvPr>
          <p:cNvGrpSpPr/>
          <p:nvPr/>
        </p:nvGrpSpPr>
        <p:grpSpPr>
          <a:xfrm>
            <a:off x="3474720" y="2554522"/>
            <a:ext cx="2468880" cy="2011680"/>
            <a:chOff x="6941" y="1161888"/>
            <a:chExt cx="2461366" cy="1837358"/>
          </a:xfrm>
        </p:grpSpPr>
        <p:sp>
          <p:nvSpPr>
            <p:cNvPr id="4" name="Rectangle: Top Corners Rounded 3">
              <a:extLst>
                <a:ext uri="{FF2B5EF4-FFF2-40B4-BE49-F238E27FC236}">
                  <a16:creationId xmlns:a16="http://schemas.microsoft.com/office/drawing/2014/main" id="{F2C60AEB-0785-6AA8-79AC-315CBEE36E59}"/>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5" name="Rectangle: Top Corners Rounded 4">
              <a:extLst>
                <a:ext uri="{FF2B5EF4-FFF2-40B4-BE49-F238E27FC236}">
                  <a16:creationId xmlns:a16="http://schemas.microsoft.com/office/drawing/2014/main" id="{03257784-4DBF-F795-5130-98F6C6E2DDB1}"/>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Por defecto zona geográfica del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tenant</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Soporte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multi-geo</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 nivel de entornos (Escenarios multinacionales)</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Resiliencia de los datos garantizada en cada zona geográfica</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6" name="Group 5">
            <a:extLst>
              <a:ext uri="{FF2B5EF4-FFF2-40B4-BE49-F238E27FC236}">
                <a16:creationId xmlns:a16="http://schemas.microsoft.com/office/drawing/2014/main" id="{E6C2B9E8-E9BE-2293-1185-DAAEB670D9CC}"/>
              </a:ext>
            </a:extLst>
          </p:cNvPr>
          <p:cNvGrpSpPr/>
          <p:nvPr/>
        </p:nvGrpSpPr>
        <p:grpSpPr>
          <a:xfrm>
            <a:off x="3474715" y="4535184"/>
            <a:ext cx="2468881" cy="790063"/>
            <a:chOff x="6940" y="2999246"/>
            <a:chExt cx="2461367" cy="790063"/>
          </a:xfrm>
          <a:solidFill>
            <a:srgbClr val="A5A5A5"/>
          </a:solidFill>
        </p:grpSpPr>
        <p:sp>
          <p:nvSpPr>
            <p:cNvPr id="7" name="Rectangle 6">
              <a:extLst>
                <a:ext uri="{FF2B5EF4-FFF2-40B4-BE49-F238E27FC236}">
                  <a16:creationId xmlns:a16="http://schemas.microsoft.com/office/drawing/2014/main" id="{CA8A3BF9-7FB1-AF57-73FB-12019DD2FB09}"/>
                </a:ext>
              </a:extLst>
            </p:cNvPr>
            <p:cNvSpPr/>
            <p:nvPr/>
          </p:nvSpPr>
          <p:spPr>
            <a:xfrm>
              <a:off x="6941"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A977731B-AEEE-B2CF-E189-2DFFAAF5651F}"/>
                </a:ext>
              </a:extLst>
            </p:cNvPr>
            <p:cNvSpPr txBox="1"/>
            <p:nvPr/>
          </p:nvSpPr>
          <p:spPr>
            <a:xfrm>
              <a:off x="6940" y="2999246"/>
              <a:ext cx="1870523"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Ubicación de los Datos</a:t>
              </a:r>
            </a:p>
          </p:txBody>
        </p:sp>
      </p:grpSp>
      <p:grpSp>
        <p:nvGrpSpPr>
          <p:cNvPr id="9" name="Group 8">
            <a:extLst>
              <a:ext uri="{FF2B5EF4-FFF2-40B4-BE49-F238E27FC236}">
                <a16:creationId xmlns:a16="http://schemas.microsoft.com/office/drawing/2014/main" id="{7ADEEC69-9724-7131-C80B-071EE07D7284}"/>
              </a:ext>
            </a:extLst>
          </p:cNvPr>
          <p:cNvGrpSpPr/>
          <p:nvPr/>
        </p:nvGrpSpPr>
        <p:grpSpPr>
          <a:xfrm>
            <a:off x="6198109" y="2549426"/>
            <a:ext cx="2468880" cy="2011680"/>
            <a:chOff x="2884829" y="1161888"/>
            <a:chExt cx="2461366" cy="1837358"/>
          </a:xfrm>
        </p:grpSpPr>
        <p:sp>
          <p:nvSpPr>
            <p:cNvPr id="10" name="Rectangle: Top Corners Rounded 9">
              <a:extLst>
                <a:ext uri="{FF2B5EF4-FFF2-40B4-BE49-F238E27FC236}">
                  <a16:creationId xmlns:a16="http://schemas.microsoft.com/office/drawing/2014/main" id="{29963381-872D-32D2-4160-5BB03ECD612C}"/>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1" name="Rectangle: Top Corners Rounded 4">
              <a:extLst>
                <a:ext uri="{FF2B5EF4-FFF2-40B4-BE49-F238E27FC236}">
                  <a16:creationId xmlns:a16="http://schemas.microsoft.com/office/drawing/2014/main" id="{58D78850-B205-6600-94C0-BB66B073ED62}"/>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Regulaciones nacionales, regionales y de la industria para la recogida y uso de datos</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Ejemplos: </a:t>
              </a:r>
              <a:r>
                <a:rPr lang="en-US" sz="1300" kern="0" err="1">
                  <a:solidFill>
                    <a:prstClr val="black">
                      <a:hueOff val="0"/>
                      <a:satOff val="0"/>
                      <a:lumOff val="0"/>
                      <a:alphaOff val="0"/>
                    </a:prstClr>
                  </a:solidFill>
                  <a:latin typeface="Segoe UI" panose="020B0502040204020203" pitchFamily="34" charset="0"/>
                  <a:cs typeface="Segoe UI" panose="020B0502040204020203" pitchFamily="34" charset="0"/>
                </a:rPr>
                <a:t>FedRamp</a:t>
              </a:r>
              <a:r>
                <a:rPr lang="en-US" sz="1300" kern="0">
                  <a:solidFill>
                    <a:prstClr val="black">
                      <a:hueOff val="0"/>
                      <a:satOff val="0"/>
                      <a:lumOff val="0"/>
                      <a:alphaOff val="0"/>
                    </a:prstClr>
                  </a:solidFill>
                  <a:latin typeface="Segoe UI" panose="020B0502040204020203" pitchFamily="34" charset="0"/>
                  <a:cs typeface="Segoe UI" panose="020B0502040204020203" pitchFamily="34" charset="0"/>
                </a:rPr>
                <a:t>, FERPA, HIPAA, SOC, IRS 1075, SEC Regulation, FISC (Japan), FACT (UK), </a:t>
              </a:r>
              <a:r>
                <a:rPr lang="en-US" sz="1300" kern="0" err="1">
                  <a:solidFill>
                    <a:prstClr val="black">
                      <a:hueOff val="0"/>
                      <a:satOff val="0"/>
                      <a:lumOff val="0"/>
                      <a:alphaOff val="0"/>
                    </a:prstClr>
                  </a:solidFill>
                  <a:latin typeface="Segoe UI" panose="020B0502040204020203" pitchFamily="34" charset="0"/>
                  <a:cs typeface="Segoe UI" panose="020B0502040204020203" pitchFamily="34" charset="0"/>
                </a:rPr>
                <a:t>etc</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2" name="Group 11">
            <a:extLst>
              <a:ext uri="{FF2B5EF4-FFF2-40B4-BE49-F238E27FC236}">
                <a16:creationId xmlns:a16="http://schemas.microsoft.com/office/drawing/2014/main" id="{3B1C715F-92BE-4047-F152-D7BEB72E1A62}"/>
              </a:ext>
            </a:extLst>
          </p:cNvPr>
          <p:cNvGrpSpPr/>
          <p:nvPr/>
        </p:nvGrpSpPr>
        <p:grpSpPr>
          <a:xfrm>
            <a:off x="6198108" y="4543736"/>
            <a:ext cx="2468881" cy="790063"/>
            <a:chOff x="2884828" y="2999246"/>
            <a:chExt cx="2461367" cy="790063"/>
          </a:xfrm>
          <a:solidFill>
            <a:srgbClr val="FFC000"/>
          </a:solidFill>
        </p:grpSpPr>
        <p:sp>
          <p:nvSpPr>
            <p:cNvPr id="14" name="Rectangle 13">
              <a:extLst>
                <a:ext uri="{FF2B5EF4-FFF2-40B4-BE49-F238E27FC236}">
                  <a16:creationId xmlns:a16="http://schemas.microsoft.com/office/drawing/2014/main" id="{2F6B969F-029C-0412-2C37-D734AF255965}"/>
                </a:ext>
              </a:extLst>
            </p:cNvPr>
            <p:cNvSpPr/>
            <p:nvPr/>
          </p:nvSpPr>
          <p:spPr>
            <a:xfrm>
              <a:off x="2884829" y="2999246"/>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C176718A-A9EB-0EDE-3614-26FAAD860FAA}"/>
                </a:ext>
              </a:extLst>
            </p:cNvPr>
            <p:cNvSpPr txBox="1"/>
            <p:nvPr/>
          </p:nvSpPr>
          <p:spPr>
            <a:xfrm>
              <a:off x="2884828" y="2999246"/>
              <a:ext cx="2023724"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noProof="0">
                  <a:solidFill>
                    <a:prstClr val="white"/>
                  </a:solidFill>
                  <a:latin typeface="Segoe UI" panose="020B0502040204020203" pitchFamily="34" charset="0"/>
                  <a:cs typeface="Segoe UI" panose="020B0502040204020203" pitchFamily="34" charset="0"/>
                </a:rPr>
                <a:t>Cumplimiento de Estándares</a:t>
              </a:r>
            </a:p>
          </p:txBody>
        </p:sp>
      </p:grpSp>
      <p:grpSp>
        <p:nvGrpSpPr>
          <p:cNvPr id="16" name="Group 15">
            <a:extLst>
              <a:ext uri="{FF2B5EF4-FFF2-40B4-BE49-F238E27FC236}">
                <a16:creationId xmlns:a16="http://schemas.microsoft.com/office/drawing/2014/main" id="{4D61604E-BA04-1716-2CD2-F512EB451EC9}"/>
              </a:ext>
            </a:extLst>
          </p:cNvPr>
          <p:cNvGrpSpPr/>
          <p:nvPr/>
        </p:nvGrpSpPr>
        <p:grpSpPr>
          <a:xfrm>
            <a:off x="724685" y="2542201"/>
            <a:ext cx="2468880" cy="2011680"/>
            <a:chOff x="8640607" y="1161888"/>
            <a:chExt cx="2461366" cy="1837358"/>
          </a:xfrm>
        </p:grpSpPr>
        <p:sp>
          <p:nvSpPr>
            <p:cNvPr id="17" name="Rectangle: Top Corners Rounded 16">
              <a:extLst>
                <a:ext uri="{FF2B5EF4-FFF2-40B4-BE49-F238E27FC236}">
                  <a16:creationId xmlns:a16="http://schemas.microsoft.com/office/drawing/2014/main" id="{CC6C37EE-C6DF-CD72-B3C1-1C505D0464C7}"/>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8" name="Rectangle: Top Corners Rounded 4">
              <a:extLst>
                <a:ext uri="{FF2B5EF4-FFF2-40B4-BE49-F238E27FC236}">
                  <a16:creationId xmlns:a16="http://schemas.microsoft.com/office/drawing/2014/main" id="{32EC53F3-EE3F-AC34-3B03-49F8698991F4}"/>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Extiende el acceso JIT con un nivel de aprobación x cliente</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Ligado a un entorno, usuario y duración específicas</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Auditoria de serie para el usuario final</a:t>
              </a:r>
            </a:p>
          </p:txBody>
        </p:sp>
      </p:grpSp>
      <p:grpSp>
        <p:nvGrpSpPr>
          <p:cNvPr id="19" name="Group 18">
            <a:extLst>
              <a:ext uri="{FF2B5EF4-FFF2-40B4-BE49-F238E27FC236}">
                <a16:creationId xmlns:a16="http://schemas.microsoft.com/office/drawing/2014/main" id="{EDDFD23F-618E-E80C-E5CC-B35C89AC2126}"/>
              </a:ext>
            </a:extLst>
          </p:cNvPr>
          <p:cNvGrpSpPr/>
          <p:nvPr/>
        </p:nvGrpSpPr>
        <p:grpSpPr>
          <a:xfrm>
            <a:off x="722076" y="4538787"/>
            <a:ext cx="2468880" cy="790063"/>
            <a:chOff x="8632682" y="3002849"/>
            <a:chExt cx="2461366" cy="790063"/>
          </a:xfrm>
          <a:solidFill>
            <a:srgbClr val="ED7D31"/>
          </a:solidFill>
        </p:grpSpPr>
        <p:sp>
          <p:nvSpPr>
            <p:cNvPr id="20" name="Rectangle 19">
              <a:extLst>
                <a:ext uri="{FF2B5EF4-FFF2-40B4-BE49-F238E27FC236}">
                  <a16:creationId xmlns:a16="http://schemas.microsoft.com/office/drawing/2014/main" id="{9A1CAFA6-690C-1F24-16A4-0087CAD0D010}"/>
                </a:ext>
              </a:extLst>
            </p:cNvPr>
            <p:cNvSpPr/>
            <p:nvPr/>
          </p:nvSpPr>
          <p:spPr>
            <a:xfrm>
              <a:off x="8632682" y="3002849"/>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E9672FFF-F7A9-D87D-E13C-C79B8F4B1295}"/>
                </a:ext>
              </a:extLst>
            </p:cNvPr>
            <p:cNvSpPr txBox="1"/>
            <p:nvPr/>
          </p:nvSpPr>
          <p:spPr>
            <a:xfrm>
              <a:off x="8632683" y="3002849"/>
              <a:ext cx="1797715"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err="1">
                  <a:solidFill>
                    <a:prstClr val="white"/>
                  </a:solidFill>
                  <a:latin typeface="Segoe UI" panose="020B0502040204020203" pitchFamily="34" charset="0"/>
                  <a:cs typeface="Segoe UI" panose="020B0502040204020203" pitchFamily="34" charset="0"/>
                </a:rPr>
                <a:t>Customer</a:t>
              </a:r>
              <a:r>
                <a:rPr lang="es-ES" sz="1600" b="1" kern="0">
                  <a:solidFill>
                    <a:prstClr val="white"/>
                  </a:solidFill>
                  <a:latin typeface="Segoe UI" panose="020B0502040204020203" pitchFamily="34" charset="0"/>
                  <a:cs typeface="Segoe UI" panose="020B0502040204020203" pitchFamily="34" charset="0"/>
                </a:rPr>
                <a:t> </a:t>
              </a:r>
              <a:r>
                <a:rPr lang="es-ES" sz="1600" b="1" kern="0" err="1">
                  <a:solidFill>
                    <a:prstClr val="white"/>
                  </a:solidFill>
                  <a:latin typeface="Segoe UI" panose="020B0502040204020203" pitchFamily="34" charset="0"/>
                  <a:cs typeface="Segoe UI" panose="020B0502040204020203" pitchFamily="34" charset="0"/>
                </a:rPr>
                <a:t>Lockbox</a:t>
              </a:r>
              <a:endParaRPr lang="fr-FR" sz="1600" b="1" kern="0">
                <a:solidFill>
                  <a:prstClr val="white"/>
                </a:solidFill>
                <a:latin typeface="Segoe UI" panose="020B0502040204020203" pitchFamily="34" charset="0"/>
                <a:cs typeface="Segoe UI" panose="020B0502040204020203" pitchFamily="34" charset="0"/>
              </a:endParaRPr>
            </a:p>
          </p:txBody>
        </p:sp>
      </p:grpSp>
      <p:grpSp>
        <p:nvGrpSpPr>
          <p:cNvPr id="23" name="Group 22">
            <a:extLst>
              <a:ext uri="{FF2B5EF4-FFF2-40B4-BE49-F238E27FC236}">
                <a16:creationId xmlns:a16="http://schemas.microsoft.com/office/drawing/2014/main" id="{84220918-DC0C-52F5-BF85-159A4764EEB1}"/>
              </a:ext>
            </a:extLst>
          </p:cNvPr>
          <p:cNvGrpSpPr/>
          <p:nvPr/>
        </p:nvGrpSpPr>
        <p:grpSpPr>
          <a:xfrm>
            <a:off x="8958242" y="2523504"/>
            <a:ext cx="2468880" cy="2011680"/>
            <a:chOff x="2884829" y="1161888"/>
            <a:chExt cx="2461366" cy="1837358"/>
          </a:xfrm>
        </p:grpSpPr>
        <p:sp>
          <p:nvSpPr>
            <p:cNvPr id="24" name="Rectangle: Top Corners Rounded 23">
              <a:extLst>
                <a:ext uri="{FF2B5EF4-FFF2-40B4-BE49-F238E27FC236}">
                  <a16:creationId xmlns:a16="http://schemas.microsoft.com/office/drawing/2014/main" id="{86F877D0-37B0-1E17-6514-1F0924FAC31C}"/>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25" name="Rectangle: Top Corners Rounded 4">
              <a:extLst>
                <a:ext uri="{FF2B5EF4-FFF2-40B4-BE49-F238E27FC236}">
                  <a16:creationId xmlns:a16="http://schemas.microsoft.com/office/drawing/2014/main" id="{46BE1506-BD54-5895-C63E-C434B2016910}"/>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Cumplimiento GDPR</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Microsoft Trust Center</a:t>
              </a:r>
            </a:p>
            <a:p>
              <a:pPr marL="114300" lvl="1" indent="-114300" defTabSz="533400">
                <a:lnSpc>
                  <a:spcPct val="90000"/>
                </a:lnSpc>
                <a:spcBef>
                  <a:spcPct val="0"/>
                </a:spcBef>
                <a:spcAft>
                  <a:spcPct val="15000"/>
                </a:spcAft>
                <a:buFontTx/>
                <a:buChar char="•"/>
                <a:defRPr/>
              </a:pP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26" name="Group 25">
            <a:extLst>
              <a:ext uri="{FF2B5EF4-FFF2-40B4-BE49-F238E27FC236}">
                <a16:creationId xmlns:a16="http://schemas.microsoft.com/office/drawing/2014/main" id="{7FEC0E4E-3EA3-1322-2350-C482856A8FA8}"/>
              </a:ext>
            </a:extLst>
          </p:cNvPr>
          <p:cNvGrpSpPr/>
          <p:nvPr/>
        </p:nvGrpSpPr>
        <p:grpSpPr>
          <a:xfrm>
            <a:off x="8958242" y="4517814"/>
            <a:ext cx="2468880" cy="790063"/>
            <a:chOff x="2884829" y="2999246"/>
            <a:chExt cx="2461366" cy="790063"/>
          </a:xfrm>
          <a:solidFill>
            <a:srgbClr val="5B9BD5"/>
          </a:solidFill>
        </p:grpSpPr>
        <p:sp>
          <p:nvSpPr>
            <p:cNvPr id="27" name="Rectangle 26">
              <a:extLst>
                <a:ext uri="{FF2B5EF4-FFF2-40B4-BE49-F238E27FC236}">
                  <a16:creationId xmlns:a16="http://schemas.microsoft.com/office/drawing/2014/main" id="{40163294-91E1-44EE-54C3-6F14EA830D16}"/>
                </a:ext>
              </a:extLst>
            </p:cNvPr>
            <p:cNvSpPr/>
            <p:nvPr/>
          </p:nvSpPr>
          <p:spPr>
            <a:xfrm>
              <a:off x="2884829"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8" name="TextBox 27">
              <a:extLst>
                <a:ext uri="{FF2B5EF4-FFF2-40B4-BE49-F238E27FC236}">
                  <a16:creationId xmlns:a16="http://schemas.microsoft.com/office/drawing/2014/main" id="{89E283DA-F855-5F49-184F-5FC53C61A38F}"/>
                </a:ext>
              </a:extLst>
            </p:cNvPr>
            <p:cNvSpPr txBox="1"/>
            <p:nvPr/>
          </p:nvSpPr>
          <p:spPr>
            <a:xfrm>
              <a:off x="2884829" y="2999246"/>
              <a:ext cx="1733356"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err="1">
                  <a:solidFill>
                    <a:prstClr val="white"/>
                  </a:solidFill>
                  <a:latin typeface="Segoe UI" panose="020B0502040204020203" pitchFamily="34" charset="0"/>
                  <a:cs typeface="Segoe UI" panose="020B0502040204020203" pitchFamily="34" charset="0"/>
                </a:rPr>
                <a:t>Privacidad</a:t>
              </a:r>
              <a:r>
                <a:rPr lang="fr-FR" sz="1600" b="1" kern="0">
                  <a:solidFill>
                    <a:prstClr val="white"/>
                  </a:solidFill>
                  <a:latin typeface="Segoe UI" panose="020B0502040204020203" pitchFamily="34" charset="0"/>
                  <a:cs typeface="Segoe UI" panose="020B0502040204020203" pitchFamily="34" charset="0"/>
                </a:rPr>
                <a:t> de los </a:t>
              </a:r>
              <a:r>
                <a:rPr lang="fr-FR" sz="1600" b="1" kern="0" err="1">
                  <a:solidFill>
                    <a:prstClr val="white"/>
                  </a:solidFill>
                  <a:latin typeface="Segoe UI" panose="020B0502040204020203" pitchFamily="34" charset="0"/>
                  <a:cs typeface="Segoe UI" panose="020B0502040204020203" pitchFamily="34" charset="0"/>
                </a:rPr>
                <a:t>Datos</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33" name="Picture 32">
            <a:extLst>
              <a:ext uri="{FF2B5EF4-FFF2-40B4-BE49-F238E27FC236}">
                <a16:creationId xmlns:a16="http://schemas.microsoft.com/office/drawing/2014/main" id="{93D1C462-DB01-2337-FA05-5276E51C08AA}"/>
              </a:ext>
            </a:extLst>
          </p:cNvPr>
          <p:cNvPicPr>
            <a:picLocks noChangeAspect="1"/>
          </p:cNvPicPr>
          <p:nvPr/>
        </p:nvPicPr>
        <p:blipFill>
          <a:blip r:embed="rId3"/>
          <a:stretch>
            <a:fillRect/>
          </a:stretch>
        </p:blipFill>
        <p:spPr>
          <a:xfrm>
            <a:off x="2546876" y="4618727"/>
            <a:ext cx="640080" cy="640080"/>
          </a:xfrm>
          <a:prstGeom prst="rect">
            <a:avLst/>
          </a:prstGeom>
        </p:spPr>
      </p:pic>
      <p:pic>
        <p:nvPicPr>
          <p:cNvPr id="35" name="Picture 34">
            <a:extLst>
              <a:ext uri="{FF2B5EF4-FFF2-40B4-BE49-F238E27FC236}">
                <a16:creationId xmlns:a16="http://schemas.microsoft.com/office/drawing/2014/main" id="{8192AB17-CDC8-7863-C9C7-7EDAAD4E45FC}"/>
              </a:ext>
            </a:extLst>
          </p:cNvPr>
          <p:cNvPicPr>
            <a:picLocks noChangeAspect="1"/>
          </p:cNvPicPr>
          <p:nvPr/>
        </p:nvPicPr>
        <p:blipFill>
          <a:blip r:embed="rId4"/>
          <a:stretch>
            <a:fillRect/>
          </a:stretch>
        </p:blipFill>
        <p:spPr>
          <a:xfrm>
            <a:off x="5228806" y="4618727"/>
            <a:ext cx="640080" cy="640080"/>
          </a:xfrm>
          <a:prstGeom prst="rect">
            <a:avLst/>
          </a:prstGeom>
        </p:spPr>
      </p:pic>
      <p:pic>
        <p:nvPicPr>
          <p:cNvPr id="38" name="Picture 37">
            <a:extLst>
              <a:ext uri="{FF2B5EF4-FFF2-40B4-BE49-F238E27FC236}">
                <a16:creationId xmlns:a16="http://schemas.microsoft.com/office/drawing/2014/main" id="{18393AD0-EF92-2E64-6E9A-FA59BFF8B2F3}"/>
              </a:ext>
            </a:extLst>
          </p:cNvPr>
          <p:cNvPicPr>
            <a:picLocks noChangeAspect="1"/>
          </p:cNvPicPr>
          <p:nvPr/>
        </p:nvPicPr>
        <p:blipFill>
          <a:blip r:embed="rId5"/>
          <a:stretch>
            <a:fillRect/>
          </a:stretch>
        </p:blipFill>
        <p:spPr>
          <a:xfrm>
            <a:off x="10743858" y="4582321"/>
            <a:ext cx="640080" cy="640080"/>
          </a:xfrm>
          <a:prstGeom prst="rect">
            <a:avLst/>
          </a:prstGeom>
        </p:spPr>
      </p:pic>
      <p:pic>
        <p:nvPicPr>
          <p:cNvPr id="39" name="Picture 38">
            <a:extLst>
              <a:ext uri="{FF2B5EF4-FFF2-40B4-BE49-F238E27FC236}">
                <a16:creationId xmlns:a16="http://schemas.microsoft.com/office/drawing/2014/main" id="{10199AA8-84A8-E865-C8BF-9A64A21A6E14}"/>
              </a:ext>
            </a:extLst>
          </p:cNvPr>
          <p:cNvPicPr>
            <a:picLocks noChangeAspect="1"/>
          </p:cNvPicPr>
          <p:nvPr/>
        </p:nvPicPr>
        <p:blipFill>
          <a:blip r:embed="rId6"/>
          <a:stretch>
            <a:fillRect/>
          </a:stretch>
        </p:blipFill>
        <p:spPr>
          <a:xfrm>
            <a:off x="8053597" y="4621646"/>
            <a:ext cx="640080" cy="640080"/>
          </a:xfrm>
          <a:prstGeom prst="rect">
            <a:avLst/>
          </a:prstGeom>
        </p:spPr>
      </p:pic>
      <p:pic>
        <p:nvPicPr>
          <p:cNvPr id="29" name="Picture Placeholder 2" descr="A person smiling for a picture&#10;&#10;AI-generated content may be incorrect.">
            <a:extLst>
              <a:ext uri="{FF2B5EF4-FFF2-40B4-BE49-F238E27FC236}">
                <a16:creationId xmlns:a16="http://schemas.microsoft.com/office/drawing/2014/main" id="{ED3877C0-D420-FE2F-A5C7-2316445CBF02}"/>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067033" y="139602"/>
            <a:ext cx="910149" cy="1005840"/>
          </a:xfrm>
          <a:prstGeom prst="ellipse">
            <a:avLst/>
          </a:prstGeom>
          <a:ln>
            <a:noFill/>
          </a:ln>
          <a:effectLst>
            <a:softEdge rad="112500"/>
          </a:effectLst>
        </p:spPr>
      </p:pic>
    </p:spTree>
    <p:extLst>
      <p:ext uri="{BB962C8B-B14F-4D97-AF65-F5344CB8AC3E}">
        <p14:creationId xmlns:p14="http://schemas.microsoft.com/office/powerpoint/2010/main" val="188501821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1000"/>
                                        <p:tgtEl>
                                          <p:spTgt spid="23"/>
                                        </p:tgtEl>
                                      </p:cBhvr>
                                    </p:animEffect>
                                    <p:anim calcmode="lin" valueType="num">
                                      <p:cBhvr>
                                        <p:cTn id="38" dur="1000" fill="hold"/>
                                        <p:tgtEl>
                                          <p:spTgt spid="23"/>
                                        </p:tgtEl>
                                        <p:attrNameLst>
                                          <p:attrName>ppt_x</p:attrName>
                                        </p:attrNameLst>
                                      </p:cBhvr>
                                      <p:tavLst>
                                        <p:tav tm="0">
                                          <p:val>
                                            <p:strVal val="#ppt_x"/>
                                          </p:val>
                                        </p:tav>
                                        <p:tav tm="100000">
                                          <p:val>
                                            <p:strVal val="#ppt_x"/>
                                          </p:val>
                                        </p:tav>
                                      </p:tavLst>
                                    </p:anim>
                                    <p:anim calcmode="lin" valueType="num">
                                      <p:cBhvr>
                                        <p:cTn id="39" dur="1000" fill="hold"/>
                                        <p:tgtEl>
                                          <p:spTgt spid="23"/>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1000"/>
                                        <p:tgtEl>
                                          <p:spTgt spid="33"/>
                                        </p:tgtEl>
                                      </p:cBhvr>
                                    </p:animEffect>
                                    <p:anim calcmode="lin" valueType="num">
                                      <p:cBhvr>
                                        <p:cTn id="48" dur="1000" fill="hold"/>
                                        <p:tgtEl>
                                          <p:spTgt spid="33"/>
                                        </p:tgtEl>
                                        <p:attrNameLst>
                                          <p:attrName>ppt_x</p:attrName>
                                        </p:attrNameLst>
                                      </p:cBhvr>
                                      <p:tavLst>
                                        <p:tav tm="0">
                                          <p:val>
                                            <p:strVal val="#ppt_x"/>
                                          </p:val>
                                        </p:tav>
                                        <p:tav tm="100000">
                                          <p:val>
                                            <p:strVal val="#ppt_x"/>
                                          </p:val>
                                        </p:tav>
                                      </p:tavLst>
                                    </p:anim>
                                    <p:anim calcmode="lin" valueType="num">
                                      <p:cBhvr>
                                        <p:cTn id="49" dur="1000" fill="hold"/>
                                        <p:tgtEl>
                                          <p:spTgt spid="33"/>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1000"/>
                                        <p:tgtEl>
                                          <p:spTgt spid="35"/>
                                        </p:tgtEl>
                                      </p:cBhvr>
                                    </p:animEffect>
                                    <p:anim calcmode="lin" valueType="num">
                                      <p:cBhvr>
                                        <p:cTn id="53" dur="1000" fill="hold"/>
                                        <p:tgtEl>
                                          <p:spTgt spid="35"/>
                                        </p:tgtEl>
                                        <p:attrNameLst>
                                          <p:attrName>ppt_x</p:attrName>
                                        </p:attrNameLst>
                                      </p:cBhvr>
                                      <p:tavLst>
                                        <p:tav tm="0">
                                          <p:val>
                                            <p:strVal val="#ppt_x"/>
                                          </p:val>
                                        </p:tav>
                                        <p:tav tm="100000">
                                          <p:val>
                                            <p:strVal val="#ppt_x"/>
                                          </p:val>
                                        </p:tav>
                                      </p:tavLst>
                                    </p:anim>
                                    <p:anim calcmode="lin" valueType="num">
                                      <p:cBhvr>
                                        <p:cTn id="54" dur="1000" fill="hold"/>
                                        <p:tgtEl>
                                          <p:spTgt spid="35"/>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fade">
                                      <p:cBhvr>
                                        <p:cTn id="57" dur="1000"/>
                                        <p:tgtEl>
                                          <p:spTgt spid="38"/>
                                        </p:tgtEl>
                                      </p:cBhvr>
                                    </p:animEffect>
                                    <p:anim calcmode="lin" valueType="num">
                                      <p:cBhvr>
                                        <p:cTn id="58" dur="1000" fill="hold"/>
                                        <p:tgtEl>
                                          <p:spTgt spid="38"/>
                                        </p:tgtEl>
                                        <p:attrNameLst>
                                          <p:attrName>ppt_x</p:attrName>
                                        </p:attrNameLst>
                                      </p:cBhvr>
                                      <p:tavLst>
                                        <p:tav tm="0">
                                          <p:val>
                                            <p:strVal val="#ppt_x"/>
                                          </p:val>
                                        </p:tav>
                                        <p:tav tm="100000">
                                          <p:val>
                                            <p:strVal val="#ppt_x"/>
                                          </p:val>
                                        </p:tav>
                                      </p:tavLst>
                                    </p:anim>
                                    <p:anim calcmode="lin" valueType="num">
                                      <p:cBhvr>
                                        <p:cTn id="59" dur="1000" fill="hold"/>
                                        <p:tgtEl>
                                          <p:spTgt spid="38"/>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fade">
                                      <p:cBhvr>
                                        <p:cTn id="62" dur="1000"/>
                                        <p:tgtEl>
                                          <p:spTgt spid="39"/>
                                        </p:tgtEl>
                                      </p:cBhvr>
                                    </p:animEffect>
                                    <p:anim calcmode="lin" valueType="num">
                                      <p:cBhvr>
                                        <p:cTn id="63" dur="1000" fill="hold"/>
                                        <p:tgtEl>
                                          <p:spTgt spid="39"/>
                                        </p:tgtEl>
                                        <p:attrNameLst>
                                          <p:attrName>ppt_x</p:attrName>
                                        </p:attrNameLst>
                                      </p:cBhvr>
                                      <p:tavLst>
                                        <p:tav tm="0">
                                          <p:val>
                                            <p:strVal val="#ppt_x"/>
                                          </p:val>
                                        </p:tav>
                                        <p:tav tm="100000">
                                          <p:val>
                                            <p:strVal val="#ppt_x"/>
                                          </p:val>
                                        </p:tav>
                                      </p:tavLst>
                                    </p:anim>
                                    <p:anim calcmode="lin" valueType="num">
                                      <p:cBhvr>
                                        <p:cTn id="64"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AAFED-4316-3B19-639F-B79F2F54E218}"/>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9A1F22E6-545A-C32C-E49C-2CE7610D6C66}"/>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BB1D28F5-3938-7291-F51A-1EB0645CBD5C}"/>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Auditoría y Cumplimiento</a:t>
            </a:r>
          </a:p>
        </p:txBody>
      </p:sp>
      <p:sp>
        <p:nvSpPr>
          <p:cNvPr id="2" name="TextBox 1">
            <a:extLst>
              <a:ext uri="{FF2B5EF4-FFF2-40B4-BE49-F238E27FC236}">
                <a16:creationId xmlns:a16="http://schemas.microsoft.com/office/drawing/2014/main" id="{97F83F09-D0E0-E438-45D4-B6A8538373BE}"/>
              </a:ext>
            </a:extLst>
          </p:cNvPr>
          <p:cNvSpPr txBox="1"/>
          <p:nvPr/>
        </p:nvSpPr>
        <p:spPr>
          <a:xfrm>
            <a:off x="1415846" y="1715334"/>
            <a:ext cx="9202058" cy="704167"/>
          </a:xfrm>
          <a:prstGeom prst="rect">
            <a:avLst/>
          </a:prstGeom>
          <a:noFill/>
        </p:spPr>
        <p:txBody>
          <a:bodyPr wrap="square" rtlCol="0">
            <a:spAutoFit/>
          </a:bodyPr>
          <a:lstStyle/>
          <a:p>
            <a:pPr algn="ctr">
              <a:lnSpc>
                <a:spcPct val="130000"/>
              </a:lnSpc>
            </a:pPr>
            <a:r>
              <a:rPr lang="en-US" sz="1600">
                <a:latin typeface="Segoe UI" panose="020B0502040204020203" pitchFamily="34" charset="0"/>
                <a:cs typeface="Segoe UI" panose="020B0502040204020203" pitchFamily="34" charset="0"/>
                <a:hlinkClick r:id="rId3"/>
              </a:rPr>
              <a:t>Securely access customer data using Customer Lockbox in Power Platform and Dynamics 365 - Power Platform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29" name="Picture 28">
            <a:extLst>
              <a:ext uri="{FF2B5EF4-FFF2-40B4-BE49-F238E27FC236}">
                <a16:creationId xmlns:a16="http://schemas.microsoft.com/office/drawing/2014/main" id="{E5B8B750-D31F-C9FD-82DA-790433F102D8}"/>
              </a:ext>
            </a:extLst>
          </p:cNvPr>
          <p:cNvPicPr>
            <a:picLocks noChangeAspect="1"/>
          </p:cNvPicPr>
          <p:nvPr/>
        </p:nvPicPr>
        <p:blipFill>
          <a:blip r:embed="rId4"/>
          <a:stretch>
            <a:fillRect/>
          </a:stretch>
        </p:blipFill>
        <p:spPr>
          <a:xfrm>
            <a:off x="707923" y="2414308"/>
            <a:ext cx="10617904" cy="3962111"/>
          </a:xfrm>
          <a:prstGeom prst="rect">
            <a:avLst/>
          </a:prstGeom>
        </p:spPr>
      </p:pic>
      <p:sp>
        <p:nvSpPr>
          <p:cNvPr id="30" name="Speech Bubble: Rectangle with Corners Rounded 29">
            <a:extLst>
              <a:ext uri="{FF2B5EF4-FFF2-40B4-BE49-F238E27FC236}">
                <a16:creationId xmlns:a16="http://schemas.microsoft.com/office/drawing/2014/main" id="{24B36039-E4E3-2973-64E9-5ADD77F346AC}"/>
              </a:ext>
            </a:extLst>
          </p:cNvPr>
          <p:cNvSpPr/>
          <p:nvPr/>
        </p:nvSpPr>
        <p:spPr>
          <a:xfrm>
            <a:off x="1193800" y="4794250"/>
            <a:ext cx="1849562" cy="657181"/>
          </a:xfrm>
          <a:prstGeom prst="wedgeRoundRectCallout">
            <a:avLst>
              <a:gd name="adj1" fmla="val -11685"/>
              <a:gd name="adj2" fmla="val -7017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Acceso</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a</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Compliance</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settings</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31" name="Flowchart: Connector 30">
            <a:extLst>
              <a:ext uri="{FF2B5EF4-FFF2-40B4-BE49-F238E27FC236}">
                <a16:creationId xmlns:a16="http://schemas.microsoft.com/office/drawing/2014/main" id="{021A4768-4022-EA57-2430-228CA27CD313}"/>
              </a:ext>
            </a:extLst>
          </p:cNvPr>
          <p:cNvSpPr/>
          <p:nvPr/>
        </p:nvSpPr>
        <p:spPr>
          <a:xfrm>
            <a:off x="1912841" y="555625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32" name="Speech Bubble: Rectangle with Corners Rounded 31">
            <a:extLst>
              <a:ext uri="{FF2B5EF4-FFF2-40B4-BE49-F238E27FC236}">
                <a16:creationId xmlns:a16="http://schemas.microsoft.com/office/drawing/2014/main" id="{BBEDD3E8-13E1-920C-1DF3-5B343C92324F}"/>
              </a:ext>
            </a:extLst>
          </p:cNvPr>
          <p:cNvSpPr/>
          <p:nvPr/>
        </p:nvSpPr>
        <p:spPr>
          <a:xfrm>
            <a:off x="3245730" y="4825268"/>
            <a:ext cx="2494824" cy="657180"/>
          </a:xfrm>
          <a:prstGeom prst="wedgeRoundRectCallout">
            <a:avLst>
              <a:gd name="adj1" fmla="val -25709"/>
              <a:gd name="adj2" fmla="val -68785"/>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a:solidFill>
                  <a:prstClr val="white"/>
                </a:solidFill>
                <a:latin typeface="Calibri" panose="020F0502020204030204"/>
                <a:cs typeface="Segoe UI" panose="020B0502040204020203" pitchFamily="34" charset="0"/>
              </a:rPr>
              <a:t>Acceso a </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Customer Lockbox</a:t>
            </a:r>
          </a:p>
        </p:txBody>
      </p:sp>
      <p:sp>
        <p:nvSpPr>
          <p:cNvPr id="34" name="Flowchart: Connector 33">
            <a:extLst>
              <a:ext uri="{FF2B5EF4-FFF2-40B4-BE49-F238E27FC236}">
                <a16:creationId xmlns:a16="http://schemas.microsoft.com/office/drawing/2014/main" id="{471A8878-9B9E-13AD-8A40-33DDF39614DD}"/>
              </a:ext>
            </a:extLst>
          </p:cNvPr>
          <p:cNvSpPr/>
          <p:nvPr/>
        </p:nvSpPr>
        <p:spPr>
          <a:xfrm>
            <a:off x="5842000" y="494811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36" name="Speech Bubble: Rectangle with Corners Rounded 35">
            <a:extLst>
              <a:ext uri="{FF2B5EF4-FFF2-40B4-BE49-F238E27FC236}">
                <a16:creationId xmlns:a16="http://schemas.microsoft.com/office/drawing/2014/main" id="{A921C8B6-2A0C-5751-18FA-BEBFE92150DE}"/>
              </a:ext>
            </a:extLst>
          </p:cNvPr>
          <p:cNvSpPr/>
          <p:nvPr/>
        </p:nvSpPr>
        <p:spPr>
          <a:xfrm>
            <a:off x="6680200" y="3974684"/>
            <a:ext cx="2494824"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Habilitar</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a:t>
            </a: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Deshabilitar</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Customer Lockbox</a:t>
            </a:r>
          </a:p>
        </p:txBody>
      </p:sp>
      <p:sp>
        <p:nvSpPr>
          <p:cNvPr id="37" name="Flowchart: Connector 36">
            <a:extLst>
              <a:ext uri="{FF2B5EF4-FFF2-40B4-BE49-F238E27FC236}">
                <a16:creationId xmlns:a16="http://schemas.microsoft.com/office/drawing/2014/main" id="{6220316F-211A-F93F-41A2-6405501CFC14}"/>
              </a:ext>
            </a:extLst>
          </p:cNvPr>
          <p:cNvSpPr/>
          <p:nvPr/>
        </p:nvSpPr>
        <p:spPr>
          <a:xfrm>
            <a:off x="9271000" y="4163810"/>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5" name="Picture Placeholder 2" descr="A person smiling for a picture&#10;&#10;AI-generated content may be incorrect.">
            <a:extLst>
              <a:ext uri="{FF2B5EF4-FFF2-40B4-BE49-F238E27FC236}">
                <a16:creationId xmlns:a16="http://schemas.microsoft.com/office/drawing/2014/main" id="{FF160A4B-A64F-EDB0-91CE-B21300827F2F}"/>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177093" y="139602"/>
            <a:ext cx="910149" cy="1005840"/>
          </a:xfrm>
          <a:prstGeom prst="ellipse">
            <a:avLst/>
          </a:prstGeom>
          <a:ln>
            <a:noFill/>
          </a:ln>
          <a:effectLst>
            <a:softEdge rad="112500"/>
          </a:effectLst>
        </p:spPr>
      </p:pic>
    </p:spTree>
    <p:extLst>
      <p:ext uri="{BB962C8B-B14F-4D97-AF65-F5344CB8AC3E}">
        <p14:creationId xmlns:p14="http://schemas.microsoft.com/office/powerpoint/2010/main" val="239881671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1000"/>
                                        <p:tgtEl>
                                          <p:spTgt spid="30"/>
                                        </p:tgtEl>
                                      </p:cBhvr>
                                    </p:animEffect>
                                    <p:anim calcmode="lin" valueType="num">
                                      <p:cBhvr>
                                        <p:cTn id="13" dur="1000" fill="hold"/>
                                        <p:tgtEl>
                                          <p:spTgt spid="30"/>
                                        </p:tgtEl>
                                        <p:attrNameLst>
                                          <p:attrName>ppt_x</p:attrName>
                                        </p:attrNameLst>
                                      </p:cBhvr>
                                      <p:tavLst>
                                        <p:tav tm="0">
                                          <p:val>
                                            <p:strVal val="#ppt_x"/>
                                          </p:val>
                                        </p:tav>
                                        <p:tav tm="100000">
                                          <p:val>
                                            <p:strVal val="#ppt_x"/>
                                          </p:val>
                                        </p:tav>
                                      </p:tavLst>
                                    </p:anim>
                                    <p:anim calcmode="lin" valueType="num">
                                      <p:cBhvr>
                                        <p:cTn id="14"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1000"/>
                                        <p:tgtEl>
                                          <p:spTgt spid="34"/>
                                        </p:tgtEl>
                                      </p:cBhvr>
                                    </p:animEffect>
                                    <p:anim calcmode="lin" valueType="num">
                                      <p:cBhvr>
                                        <p:cTn id="20" dur="1000" fill="hold"/>
                                        <p:tgtEl>
                                          <p:spTgt spid="34"/>
                                        </p:tgtEl>
                                        <p:attrNameLst>
                                          <p:attrName>ppt_x</p:attrName>
                                        </p:attrNameLst>
                                      </p:cBhvr>
                                      <p:tavLst>
                                        <p:tav tm="0">
                                          <p:val>
                                            <p:strVal val="#ppt_x"/>
                                          </p:val>
                                        </p:tav>
                                        <p:tav tm="100000">
                                          <p:val>
                                            <p:strVal val="#ppt_x"/>
                                          </p:val>
                                        </p:tav>
                                      </p:tavLst>
                                    </p:anim>
                                    <p:anim calcmode="lin" valueType="num">
                                      <p:cBhvr>
                                        <p:cTn id="21" dur="1000" fill="hold"/>
                                        <p:tgtEl>
                                          <p:spTgt spid="3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1000"/>
                                        <p:tgtEl>
                                          <p:spTgt spid="32"/>
                                        </p:tgtEl>
                                      </p:cBhvr>
                                    </p:animEffect>
                                    <p:anim calcmode="lin" valueType="num">
                                      <p:cBhvr>
                                        <p:cTn id="25" dur="1000" fill="hold"/>
                                        <p:tgtEl>
                                          <p:spTgt spid="32"/>
                                        </p:tgtEl>
                                        <p:attrNameLst>
                                          <p:attrName>ppt_x</p:attrName>
                                        </p:attrNameLst>
                                      </p:cBhvr>
                                      <p:tavLst>
                                        <p:tav tm="0">
                                          <p:val>
                                            <p:strVal val="#ppt_x"/>
                                          </p:val>
                                        </p:tav>
                                        <p:tav tm="100000">
                                          <p:val>
                                            <p:strVal val="#ppt_x"/>
                                          </p:val>
                                        </p:tav>
                                      </p:tavLst>
                                    </p:anim>
                                    <p:anim calcmode="lin" valueType="num">
                                      <p:cBhvr>
                                        <p:cTn id="2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fade">
                                      <p:cBhvr>
                                        <p:cTn id="31" dur="1000"/>
                                        <p:tgtEl>
                                          <p:spTgt spid="37"/>
                                        </p:tgtEl>
                                      </p:cBhvr>
                                    </p:animEffect>
                                    <p:anim calcmode="lin" valueType="num">
                                      <p:cBhvr>
                                        <p:cTn id="32" dur="1000" fill="hold"/>
                                        <p:tgtEl>
                                          <p:spTgt spid="37"/>
                                        </p:tgtEl>
                                        <p:attrNameLst>
                                          <p:attrName>ppt_x</p:attrName>
                                        </p:attrNameLst>
                                      </p:cBhvr>
                                      <p:tavLst>
                                        <p:tav tm="0">
                                          <p:val>
                                            <p:strVal val="#ppt_x"/>
                                          </p:val>
                                        </p:tav>
                                        <p:tav tm="100000">
                                          <p:val>
                                            <p:strVal val="#ppt_x"/>
                                          </p:val>
                                        </p:tav>
                                      </p:tavLst>
                                    </p:anim>
                                    <p:anim calcmode="lin" valueType="num">
                                      <p:cBhvr>
                                        <p:cTn id="33" dur="1000" fill="hold"/>
                                        <p:tgtEl>
                                          <p:spTgt spid="3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1000"/>
                                        <p:tgtEl>
                                          <p:spTgt spid="36"/>
                                        </p:tgtEl>
                                      </p:cBhvr>
                                    </p:animEffect>
                                    <p:anim calcmode="lin" valueType="num">
                                      <p:cBhvr>
                                        <p:cTn id="37" dur="1000" fill="hold"/>
                                        <p:tgtEl>
                                          <p:spTgt spid="36"/>
                                        </p:tgtEl>
                                        <p:attrNameLst>
                                          <p:attrName>ppt_x</p:attrName>
                                        </p:attrNameLst>
                                      </p:cBhvr>
                                      <p:tavLst>
                                        <p:tav tm="0">
                                          <p:val>
                                            <p:strVal val="#ppt_x"/>
                                          </p:val>
                                        </p:tav>
                                        <p:tav tm="100000">
                                          <p:val>
                                            <p:strVal val="#ppt_x"/>
                                          </p:val>
                                        </p:tav>
                                      </p:tavLst>
                                    </p:anim>
                                    <p:anim calcmode="lin" valueType="num">
                                      <p:cBhvr>
                                        <p:cTn id="38"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4" grpId="0" animBg="1"/>
      <p:bldP spid="36" grpId="0" animBg="1"/>
      <p:bldP spid="3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FAB8E-1C45-D4A9-D9D8-038C893E9C2D}"/>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E2B5859C-372E-2F14-F257-048B0A20AE45}"/>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2A330726-80F9-32E3-E74C-B9632D699146}"/>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Auditoría y Cumplimiento</a:t>
            </a:r>
          </a:p>
        </p:txBody>
      </p:sp>
      <p:sp>
        <p:nvSpPr>
          <p:cNvPr id="2" name="TextBox 1">
            <a:extLst>
              <a:ext uri="{FF2B5EF4-FFF2-40B4-BE49-F238E27FC236}">
                <a16:creationId xmlns:a16="http://schemas.microsoft.com/office/drawing/2014/main" id="{8FED8FD9-C4A4-0156-9221-1D0BD31CF001}"/>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Salvaguardar los datos organizativos cumpliendo regulaciones específicas + Visibilidad en todo momento de la actividad de Usuario, Administradores y las Aplicaciones</a:t>
            </a:r>
            <a:endParaRPr lang="es-ES" sz="1600" noProof="0">
              <a:solidFill>
                <a:schemeClr val="bg1"/>
              </a:solidFill>
              <a:latin typeface="Segoe UI" panose="020B0502040204020203" pitchFamily="34" charset="0"/>
              <a:cs typeface="Segoe UI" panose="020B0502040204020203" pitchFamily="34" charset="0"/>
            </a:endParaRPr>
          </a:p>
        </p:txBody>
      </p:sp>
      <p:grpSp>
        <p:nvGrpSpPr>
          <p:cNvPr id="3" name="Group 2">
            <a:extLst>
              <a:ext uri="{FF2B5EF4-FFF2-40B4-BE49-F238E27FC236}">
                <a16:creationId xmlns:a16="http://schemas.microsoft.com/office/drawing/2014/main" id="{F910CB23-2656-E5A6-8A72-6D9697A93372}"/>
              </a:ext>
            </a:extLst>
          </p:cNvPr>
          <p:cNvGrpSpPr/>
          <p:nvPr/>
        </p:nvGrpSpPr>
        <p:grpSpPr>
          <a:xfrm>
            <a:off x="4770119" y="2523504"/>
            <a:ext cx="2468880" cy="2011680"/>
            <a:chOff x="6941" y="1161888"/>
            <a:chExt cx="2461366" cy="1837358"/>
          </a:xfrm>
        </p:grpSpPr>
        <p:sp>
          <p:nvSpPr>
            <p:cNvPr id="4" name="Rectangle: Top Corners Rounded 3">
              <a:extLst>
                <a:ext uri="{FF2B5EF4-FFF2-40B4-BE49-F238E27FC236}">
                  <a16:creationId xmlns:a16="http://schemas.microsoft.com/office/drawing/2014/main" id="{336D8618-D6A9-FAE4-5814-018F367F21E0}"/>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5" name="Rectangle: Top Corners Rounded 4">
              <a:extLst>
                <a:ext uri="{FF2B5EF4-FFF2-40B4-BE49-F238E27FC236}">
                  <a16:creationId xmlns:a16="http://schemas.microsoft.com/office/drawing/2014/main" id="{228399E8-5AE7-2D6B-B5FF-009869261966}"/>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400" kern="0" err="1">
                  <a:solidFill>
                    <a:prstClr val="black">
                      <a:hueOff val="0"/>
                      <a:satOff val="0"/>
                      <a:lumOff val="0"/>
                      <a:alphaOff val="0"/>
                    </a:prstClr>
                  </a:solidFill>
                  <a:latin typeface="Segoe UI" panose="020B0502040204020203" pitchFamily="34" charset="0"/>
                  <a:cs typeface="Segoe UI" panose="020B0502040204020203" pitchFamily="34" charset="0"/>
                </a:rPr>
                <a:t>Dataverse</a:t>
              </a: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4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 Apps, </a:t>
              </a:r>
              <a:r>
                <a:rPr lang="es-ES" sz="14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400" kern="0" err="1">
                  <a:solidFill>
                    <a:prstClr val="black">
                      <a:hueOff val="0"/>
                      <a:satOff val="0"/>
                      <a:lumOff val="0"/>
                      <a:alphaOff val="0"/>
                    </a:prstClr>
                  </a:solidFill>
                  <a:latin typeface="Segoe UI" panose="020B0502040204020203" pitchFamily="34" charset="0"/>
                  <a:cs typeface="Segoe UI" panose="020B0502040204020203" pitchFamily="34" charset="0"/>
                </a:rPr>
                <a:t>Automate</a:t>
              </a: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4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 Pages, Conectores, DLP</a:t>
              </a:r>
            </a:p>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Auditoría Interna y Externa</a:t>
              </a:r>
            </a:p>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Auditoría de cambios en registros y acceso de usuarios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6" name="Group 5">
            <a:extLst>
              <a:ext uri="{FF2B5EF4-FFF2-40B4-BE49-F238E27FC236}">
                <a16:creationId xmlns:a16="http://schemas.microsoft.com/office/drawing/2014/main" id="{6831D7BB-EC14-BABD-2F59-2498CAF31D1D}"/>
              </a:ext>
            </a:extLst>
          </p:cNvPr>
          <p:cNvGrpSpPr/>
          <p:nvPr/>
        </p:nvGrpSpPr>
        <p:grpSpPr>
          <a:xfrm>
            <a:off x="4770114" y="4504166"/>
            <a:ext cx="2468881" cy="790063"/>
            <a:chOff x="6940" y="2999246"/>
            <a:chExt cx="2461367" cy="790063"/>
          </a:xfrm>
          <a:solidFill>
            <a:srgbClr val="ED7D31"/>
          </a:solidFill>
        </p:grpSpPr>
        <p:sp>
          <p:nvSpPr>
            <p:cNvPr id="7" name="Rectangle 6">
              <a:extLst>
                <a:ext uri="{FF2B5EF4-FFF2-40B4-BE49-F238E27FC236}">
                  <a16:creationId xmlns:a16="http://schemas.microsoft.com/office/drawing/2014/main" id="{3825E740-84DF-BC6E-74EA-5E1F873EF437}"/>
                </a:ext>
              </a:extLst>
            </p:cNvPr>
            <p:cNvSpPr/>
            <p:nvPr/>
          </p:nvSpPr>
          <p:spPr>
            <a:xfrm>
              <a:off x="6941"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1E2294A6-9D89-433F-53CB-7169CBAAD60C}"/>
                </a:ext>
              </a:extLst>
            </p:cNvPr>
            <p:cNvSpPr txBox="1"/>
            <p:nvPr/>
          </p:nvSpPr>
          <p:spPr>
            <a:xfrm>
              <a:off x="6940" y="2999246"/>
              <a:ext cx="1870523"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Logging</a:t>
              </a:r>
              <a:r>
                <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 de Actividad</a:t>
              </a:r>
            </a:p>
          </p:txBody>
        </p:sp>
      </p:grpSp>
      <p:grpSp>
        <p:nvGrpSpPr>
          <p:cNvPr id="9" name="Group 8">
            <a:extLst>
              <a:ext uri="{FF2B5EF4-FFF2-40B4-BE49-F238E27FC236}">
                <a16:creationId xmlns:a16="http://schemas.microsoft.com/office/drawing/2014/main" id="{51C00FDB-F882-705E-3A4B-C95BCBB17972}"/>
              </a:ext>
            </a:extLst>
          </p:cNvPr>
          <p:cNvGrpSpPr/>
          <p:nvPr/>
        </p:nvGrpSpPr>
        <p:grpSpPr>
          <a:xfrm>
            <a:off x="7493508" y="2518408"/>
            <a:ext cx="2468880" cy="2011680"/>
            <a:chOff x="2884829" y="1161888"/>
            <a:chExt cx="2461366" cy="1837358"/>
          </a:xfrm>
        </p:grpSpPr>
        <p:sp>
          <p:nvSpPr>
            <p:cNvPr id="10" name="Rectangle: Top Corners Rounded 9">
              <a:extLst>
                <a:ext uri="{FF2B5EF4-FFF2-40B4-BE49-F238E27FC236}">
                  <a16:creationId xmlns:a16="http://schemas.microsoft.com/office/drawing/2014/main" id="{A5E7B45A-BE93-993A-87E0-926E29177710}"/>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1" name="Rectangle: Top Corners Rounded 4">
              <a:extLst>
                <a:ext uri="{FF2B5EF4-FFF2-40B4-BE49-F238E27FC236}">
                  <a16:creationId xmlns:a16="http://schemas.microsoft.com/office/drawing/2014/main" id="{DF50908C-0D3D-6727-DE9D-E7DB9D278086}"/>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Actividades realizadas en Entornos por Administradores</a:t>
              </a:r>
            </a:p>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Actividades relativas a ciclo de vida, cambios en propiedades y configuraciones, cambios en seguridad y permisos </a:t>
              </a:r>
            </a:p>
          </p:txBody>
        </p:sp>
      </p:grpSp>
      <p:grpSp>
        <p:nvGrpSpPr>
          <p:cNvPr id="12" name="Group 11">
            <a:extLst>
              <a:ext uri="{FF2B5EF4-FFF2-40B4-BE49-F238E27FC236}">
                <a16:creationId xmlns:a16="http://schemas.microsoft.com/office/drawing/2014/main" id="{5E3FE12D-57FE-B161-04D9-D009CC9D5749}"/>
              </a:ext>
            </a:extLst>
          </p:cNvPr>
          <p:cNvGrpSpPr/>
          <p:nvPr/>
        </p:nvGrpSpPr>
        <p:grpSpPr>
          <a:xfrm>
            <a:off x="7493507" y="4512718"/>
            <a:ext cx="2468881" cy="790063"/>
            <a:chOff x="2884828" y="2999246"/>
            <a:chExt cx="2461367" cy="790063"/>
          </a:xfrm>
          <a:solidFill>
            <a:srgbClr val="A5A5A5"/>
          </a:solidFill>
        </p:grpSpPr>
        <p:sp>
          <p:nvSpPr>
            <p:cNvPr id="14" name="Rectangle 13">
              <a:extLst>
                <a:ext uri="{FF2B5EF4-FFF2-40B4-BE49-F238E27FC236}">
                  <a16:creationId xmlns:a16="http://schemas.microsoft.com/office/drawing/2014/main" id="{A0E53FEF-A348-A5E0-CF3B-7F93029BFF00}"/>
                </a:ext>
              </a:extLst>
            </p:cNvPr>
            <p:cNvSpPr/>
            <p:nvPr/>
          </p:nvSpPr>
          <p:spPr>
            <a:xfrm>
              <a:off x="2884829"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5" name="TextBox 14">
              <a:extLst>
                <a:ext uri="{FF2B5EF4-FFF2-40B4-BE49-F238E27FC236}">
                  <a16:creationId xmlns:a16="http://schemas.microsoft.com/office/drawing/2014/main" id="{5100A153-00CF-F12D-F613-286EA19FD495}"/>
                </a:ext>
              </a:extLst>
            </p:cNvPr>
            <p:cNvSpPr txBox="1"/>
            <p:nvPr/>
          </p:nvSpPr>
          <p:spPr>
            <a:xfrm>
              <a:off x="2884828" y="2999246"/>
              <a:ext cx="2023724"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noProof="0" err="1">
                  <a:solidFill>
                    <a:prstClr val="white"/>
                  </a:solidFill>
                  <a:latin typeface="Segoe UI" panose="020B0502040204020203" pitchFamily="34" charset="0"/>
                  <a:cs typeface="Segoe UI" panose="020B0502040204020203" pitchFamily="34" charset="0"/>
                </a:rPr>
                <a:t>Logging</a:t>
              </a:r>
              <a:r>
                <a:rPr lang="es-ES" sz="1600" b="1" kern="0" noProof="0">
                  <a:solidFill>
                    <a:prstClr val="white"/>
                  </a:solidFill>
                  <a:latin typeface="Segoe UI" panose="020B0502040204020203" pitchFamily="34" charset="0"/>
                  <a:cs typeface="Segoe UI" panose="020B0502040204020203" pitchFamily="34" charset="0"/>
                </a:rPr>
                <a:t> de Actividad de Administradores</a:t>
              </a:r>
            </a:p>
          </p:txBody>
        </p:sp>
      </p:grpSp>
      <p:grpSp>
        <p:nvGrpSpPr>
          <p:cNvPr id="16" name="Group 15">
            <a:extLst>
              <a:ext uri="{FF2B5EF4-FFF2-40B4-BE49-F238E27FC236}">
                <a16:creationId xmlns:a16="http://schemas.microsoft.com/office/drawing/2014/main" id="{F273CD2C-E7CC-C074-1DCE-CD0A5FE8339B}"/>
              </a:ext>
            </a:extLst>
          </p:cNvPr>
          <p:cNvGrpSpPr/>
          <p:nvPr/>
        </p:nvGrpSpPr>
        <p:grpSpPr>
          <a:xfrm>
            <a:off x="2020084" y="2511183"/>
            <a:ext cx="2468880" cy="2011680"/>
            <a:chOff x="8640607" y="1161888"/>
            <a:chExt cx="2461366" cy="1837358"/>
          </a:xfrm>
        </p:grpSpPr>
        <p:sp>
          <p:nvSpPr>
            <p:cNvPr id="17" name="Rectangle: Top Corners Rounded 16">
              <a:extLst>
                <a:ext uri="{FF2B5EF4-FFF2-40B4-BE49-F238E27FC236}">
                  <a16:creationId xmlns:a16="http://schemas.microsoft.com/office/drawing/2014/main" id="{2619CAFD-3740-C159-7F3F-60513B64547C}"/>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8" name="Rectangle: Top Corners Rounded 4">
              <a:extLst>
                <a:ext uri="{FF2B5EF4-FFF2-40B4-BE49-F238E27FC236}">
                  <a16:creationId xmlns:a16="http://schemas.microsoft.com/office/drawing/2014/main" id="{A3A67B6B-0581-87DC-929F-3B4EC7E0867A}"/>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Acceso de usuario y actividad (cambios en registros)</a:t>
              </a:r>
            </a:p>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Monitorización de Jobs del Sistema</a:t>
              </a:r>
            </a:p>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Auditoría de Jobs de borrado</a:t>
              </a:r>
            </a:p>
            <a:p>
              <a:pPr marL="114300" lvl="1" indent="-114300" defTabSz="533400">
                <a:lnSpc>
                  <a:spcPct val="90000"/>
                </a:lnSpc>
                <a:spcBef>
                  <a:spcPct val="0"/>
                </a:spcBef>
                <a:spcAft>
                  <a:spcPct val="15000"/>
                </a:spcAft>
                <a:buFontTx/>
                <a:buChar char="•"/>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Gestión de registros de Logs</a:t>
              </a:r>
            </a:p>
          </p:txBody>
        </p:sp>
      </p:grpSp>
      <p:grpSp>
        <p:nvGrpSpPr>
          <p:cNvPr id="19" name="Group 18">
            <a:extLst>
              <a:ext uri="{FF2B5EF4-FFF2-40B4-BE49-F238E27FC236}">
                <a16:creationId xmlns:a16="http://schemas.microsoft.com/office/drawing/2014/main" id="{4B589FEE-F27D-48B0-44B8-E67DE05B5F74}"/>
              </a:ext>
            </a:extLst>
          </p:cNvPr>
          <p:cNvGrpSpPr/>
          <p:nvPr/>
        </p:nvGrpSpPr>
        <p:grpSpPr>
          <a:xfrm>
            <a:off x="2017475" y="4507769"/>
            <a:ext cx="2468880" cy="790063"/>
            <a:chOff x="8632682" y="3002849"/>
            <a:chExt cx="2461366" cy="790063"/>
          </a:xfrm>
          <a:solidFill>
            <a:srgbClr val="5B9BD5"/>
          </a:solidFill>
        </p:grpSpPr>
        <p:sp>
          <p:nvSpPr>
            <p:cNvPr id="20" name="Rectangle 19">
              <a:extLst>
                <a:ext uri="{FF2B5EF4-FFF2-40B4-BE49-F238E27FC236}">
                  <a16:creationId xmlns:a16="http://schemas.microsoft.com/office/drawing/2014/main" id="{E105AF77-4C7D-6F1E-891D-F6A5D3A903F8}"/>
                </a:ext>
              </a:extLst>
            </p:cNvPr>
            <p:cNvSpPr/>
            <p:nvPr/>
          </p:nvSpPr>
          <p:spPr>
            <a:xfrm>
              <a:off x="8632682" y="3002849"/>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1" name="TextBox 20">
              <a:extLst>
                <a:ext uri="{FF2B5EF4-FFF2-40B4-BE49-F238E27FC236}">
                  <a16:creationId xmlns:a16="http://schemas.microsoft.com/office/drawing/2014/main" id="{7A3286B8-5278-08C1-2E34-D04C6CCB8BE5}"/>
                </a:ext>
              </a:extLst>
            </p:cNvPr>
            <p:cNvSpPr txBox="1"/>
            <p:nvPr/>
          </p:nvSpPr>
          <p:spPr>
            <a:xfrm>
              <a:off x="8632683" y="3002849"/>
              <a:ext cx="1797715"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a:solidFill>
                    <a:prstClr val="white"/>
                  </a:solidFill>
                  <a:latin typeface="Segoe UI" panose="020B0502040204020203" pitchFamily="34" charset="0"/>
                  <a:cs typeface="Segoe UI" panose="020B0502040204020203" pitchFamily="34" charset="0"/>
                </a:rPr>
                <a:t>Auditoría de </a:t>
              </a:r>
              <a:r>
                <a:rPr lang="es-ES" sz="1600" b="1" kern="0" err="1">
                  <a:solidFill>
                    <a:prstClr val="white"/>
                  </a:solidFill>
                  <a:latin typeface="Segoe UI" panose="020B0502040204020203" pitchFamily="34" charset="0"/>
                  <a:cs typeface="Segoe UI" panose="020B0502040204020203" pitchFamily="34" charset="0"/>
                </a:rPr>
                <a:t>Dataverse</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22" name="Picture 21">
            <a:extLst>
              <a:ext uri="{FF2B5EF4-FFF2-40B4-BE49-F238E27FC236}">
                <a16:creationId xmlns:a16="http://schemas.microsoft.com/office/drawing/2014/main" id="{B5B0B931-CCA9-BE78-8C9C-52B4E0052B2F}"/>
              </a:ext>
            </a:extLst>
          </p:cNvPr>
          <p:cNvPicPr>
            <a:picLocks noChangeAspect="1"/>
          </p:cNvPicPr>
          <p:nvPr/>
        </p:nvPicPr>
        <p:blipFill>
          <a:blip r:embed="rId3"/>
          <a:stretch>
            <a:fillRect/>
          </a:stretch>
        </p:blipFill>
        <p:spPr>
          <a:xfrm>
            <a:off x="3797687" y="4577408"/>
            <a:ext cx="640080" cy="640080"/>
          </a:xfrm>
          <a:prstGeom prst="rect">
            <a:avLst/>
          </a:prstGeom>
        </p:spPr>
      </p:pic>
      <p:pic>
        <p:nvPicPr>
          <p:cNvPr id="29" name="Picture 28">
            <a:extLst>
              <a:ext uri="{FF2B5EF4-FFF2-40B4-BE49-F238E27FC236}">
                <a16:creationId xmlns:a16="http://schemas.microsoft.com/office/drawing/2014/main" id="{13D9C5DF-C0A4-D78B-4953-74836C4ED024}"/>
              </a:ext>
            </a:extLst>
          </p:cNvPr>
          <p:cNvPicPr>
            <a:picLocks noChangeAspect="1"/>
          </p:cNvPicPr>
          <p:nvPr/>
        </p:nvPicPr>
        <p:blipFill>
          <a:blip r:embed="rId4"/>
          <a:stretch>
            <a:fillRect/>
          </a:stretch>
        </p:blipFill>
        <p:spPr>
          <a:xfrm>
            <a:off x="9322308" y="4596394"/>
            <a:ext cx="640080" cy="640080"/>
          </a:xfrm>
          <a:prstGeom prst="rect">
            <a:avLst/>
          </a:prstGeom>
        </p:spPr>
      </p:pic>
      <p:pic>
        <p:nvPicPr>
          <p:cNvPr id="30" name="Picture 29">
            <a:extLst>
              <a:ext uri="{FF2B5EF4-FFF2-40B4-BE49-F238E27FC236}">
                <a16:creationId xmlns:a16="http://schemas.microsoft.com/office/drawing/2014/main" id="{397E3C86-EE57-EF4D-FEB5-399B424FE9A5}"/>
              </a:ext>
            </a:extLst>
          </p:cNvPr>
          <p:cNvPicPr>
            <a:picLocks noChangeAspect="1"/>
          </p:cNvPicPr>
          <p:nvPr/>
        </p:nvPicPr>
        <p:blipFill>
          <a:blip r:embed="rId5"/>
          <a:stretch>
            <a:fillRect/>
          </a:stretch>
        </p:blipFill>
        <p:spPr>
          <a:xfrm>
            <a:off x="6564597" y="4587709"/>
            <a:ext cx="640080" cy="640080"/>
          </a:xfrm>
          <a:prstGeom prst="rect">
            <a:avLst/>
          </a:prstGeom>
        </p:spPr>
      </p:pic>
      <p:grpSp>
        <p:nvGrpSpPr>
          <p:cNvPr id="31" name="Group 30">
            <a:extLst>
              <a:ext uri="{FF2B5EF4-FFF2-40B4-BE49-F238E27FC236}">
                <a16:creationId xmlns:a16="http://schemas.microsoft.com/office/drawing/2014/main" id="{0AAA30C6-FB4C-91A5-6C8D-1F625298E104}"/>
              </a:ext>
            </a:extLst>
          </p:cNvPr>
          <p:cNvGrpSpPr/>
          <p:nvPr/>
        </p:nvGrpSpPr>
        <p:grpSpPr>
          <a:xfrm>
            <a:off x="2017475" y="5469755"/>
            <a:ext cx="7936988" cy="645917"/>
            <a:chOff x="5762718" y="1161888"/>
            <a:chExt cx="2461366" cy="1837358"/>
          </a:xfrm>
        </p:grpSpPr>
        <p:sp>
          <p:nvSpPr>
            <p:cNvPr id="32" name="Rectangle: Top Corners Rounded 31">
              <a:extLst>
                <a:ext uri="{FF2B5EF4-FFF2-40B4-BE49-F238E27FC236}">
                  <a16:creationId xmlns:a16="http://schemas.microsoft.com/office/drawing/2014/main" id="{84A27212-0ABF-4956-0910-86FCB94B376B}"/>
                </a:ext>
              </a:extLst>
            </p:cNvPr>
            <p:cNvSpPr/>
            <p:nvPr/>
          </p:nvSpPr>
          <p:spPr>
            <a:xfrm>
              <a:off x="5762718"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hueOff val="0"/>
                    <a:satOff val="0"/>
                    <a:lumOff val="0"/>
                    <a:alphaOff val="0"/>
                  </a:prstClr>
                </a:solidFill>
                <a:effectLst/>
                <a:uLnTx/>
                <a:uFillTx/>
                <a:latin typeface="Oswald (Body)"/>
              </a:endParaRPr>
            </a:p>
          </p:txBody>
        </p:sp>
        <p:sp>
          <p:nvSpPr>
            <p:cNvPr id="34" name="Rectangle: Top Corners Rounded 4">
              <a:extLst>
                <a:ext uri="{FF2B5EF4-FFF2-40B4-BE49-F238E27FC236}">
                  <a16:creationId xmlns:a16="http://schemas.microsoft.com/office/drawing/2014/main" id="{2A57798C-8BF0-399F-CA92-5547FAB620DA}"/>
                </a:ext>
              </a:extLst>
            </p:cNvPr>
            <p:cNvSpPr txBox="1"/>
            <p:nvPr/>
          </p:nvSpPr>
          <p:spPr>
            <a:xfrm>
              <a:off x="5805770"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marR="0" lvl="1" indent="-114300" defTabSz="533400" fontAlgn="auto">
                <a:lnSpc>
                  <a:spcPct val="90000"/>
                </a:lnSpc>
                <a:spcBef>
                  <a:spcPct val="0"/>
                </a:spcBef>
                <a:spcAft>
                  <a:spcPct val="15000"/>
                </a:spcAft>
                <a:buClrTx/>
                <a:buSzTx/>
                <a:buFontTx/>
                <a:buChar char="•"/>
                <a:tabLst/>
                <a:defRPr/>
              </a:pPr>
              <a:r>
                <a:rPr lang="es-ES" sz="1400" kern="0">
                  <a:solidFill>
                    <a:prstClr val="black">
                      <a:hueOff val="0"/>
                      <a:satOff val="0"/>
                      <a:lumOff val="0"/>
                      <a:alphaOff val="0"/>
                    </a:prstClr>
                  </a:solidFill>
                  <a:latin typeface="Segoe UI" panose="020B0502040204020203" pitchFamily="34" charset="0"/>
                  <a:cs typeface="Segoe UI" panose="020B0502040204020203" pitchFamily="34" charset="0"/>
                </a:rPr>
                <a:t>Capturar, registrar, descubrir y retener información del Log de Auditoría</a:t>
              </a:r>
            </a:p>
          </p:txBody>
        </p:sp>
      </p:grpSp>
      <p:grpSp>
        <p:nvGrpSpPr>
          <p:cNvPr id="36" name="Group 35">
            <a:extLst>
              <a:ext uri="{FF2B5EF4-FFF2-40B4-BE49-F238E27FC236}">
                <a16:creationId xmlns:a16="http://schemas.microsoft.com/office/drawing/2014/main" id="{7F447263-60D0-FF70-B991-B0D2444C3787}"/>
              </a:ext>
            </a:extLst>
          </p:cNvPr>
          <p:cNvGrpSpPr/>
          <p:nvPr/>
        </p:nvGrpSpPr>
        <p:grpSpPr>
          <a:xfrm>
            <a:off x="2025400" y="6115672"/>
            <a:ext cx="7936988" cy="497049"/>
            <a:chOff x="5762718" y="2999246"/>
            <a:chExt cx="2461366" cy="790063"/>
          </a:xfrm>
        </p:grpSpPr>
        <p:sp>
          <p:nvSpPr>
            <p:cNvPr id="37" name="Rectangle 36">
              <a:extLst>
                <a:ext uri="{FF2B5EF4-FFF2-40B4-BE49-F238E27FC236}">
                  <a16:creationId xmlns:a16="http://schemas.microsoft.com/office/drawing/2014/main" id="{F7869785-8F91-4E06-8376-7CBDE41D42B7}"/>
                </a:ext>
              </a:extLst>
            </p:cNvPr>
            <p:cNvSpPr/>
            <p:nvPr/>
          </p:nvSpPr>
          <p:spPr>
            <a:xfrm>
              <a:off x="5762718" y="2999246"/>
              <a:ext cx="2461366" cy="790063"/>
            </a:xfrm>
            <a:prstGeom prst="rect">
              <a:avLst/>
            </a:prstGeom>
            <a:solidFill>
              <a:srgbClr val="FFC000">
                <a:hueOff val="0"/>
                <a:satOff val="0"/>
                <a:lumOff val="0"/>
                <a:alphaOff val="0"/>
              </a:srgbClr>
            </a:solidFill>
            <a:ln w="12700" cap="flat" cmpd="sng" algn="ctr">
              <a:solidFill>
                <a:srgbClr val="FFC000">
                  <a:hueOff val="0"/>
                  <a:satOff val="0"/>
                  <a:lumOff val="0"/>
                  <a:alphaOff val="0"/>
                </a:srgbClr>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Oswald (Body)"/>
              </a:endParaRPr>
            </a:p>
          </p:txBody>
        </p:sp>
        <p:sp>
          <p:nvSpPr>
            <p:cNvPr id="40" name="TextBox 39">
              <a:extLst>
                <a:ext uri="{FF2B5EF4-FFF2-40B4-BE49-F238E27FC236}">
                  <a16:creationId xmlns:a16="http://schemas.microsoft.com/office/drawing/2014/main" id="{9F1B0668-F343-7078-82AF-B2336D492B0E}"/>
                </a:ext>
              </a:extLst>
            </p:cNvPr>
            <p:cNvSpPr txBox="1"/>
            <p:nvPr/>
          </p:nvSpPr>
          <p:spPr>
            <a:xfrm>
              <a:off x="5762718" y="2999246"/>
              <a:ext cx="1733356" cy="790063"/>
            </a:xfrm>
            <a:prstGeom prst="rect">
              <a:avLst/>
            </a:prstGeom>
            <a:noFill/>
            <a:ln>
              <a:noFill/>
            </a:ln>
            <a:effectLst/>
          </p:spPr>
          <p:txBody>
            <a:bodyPr spcFirstLastPara="0" vert="horz" wrap="square" lIns="68580" tIns="0" rIns="22860" bIns="0" numCol="1" spcCol="1270" anchor="ctr" anchorCtr="0">
              <a:noAutofit/>
            </a:bodyPr>
            <a:lstStyle/>
            <a:p>
              <a:pPr marR="0" indent="0" defTabSz="800100" fontAlgn="auto">
                <a:lnSpc>
                  <a:spcPct val="90000"/>
                </a:lnSpc>
                <a:spcBef>
                  <a:spcPct val="0"/>
                </a:spcBef>
                <a:spcAft>
                  <a:spcPct val="35000"/>
                </a:spcAft>
                <a:buClrTx/>
                <a:buSzTx/>
                <a:buFontTx/>
                <a:buNone/>
                <a:tabLst/>
                <a:defRPr/>
              </a:pPr>
              <a:r>
                <a:rPr lang="fr-FR" sz="1600" b="1" kern="0" err="1">
                  <a:solidFill>
                    <a:prstClr val="white"/>
                  </a:solidFill>
                  <a:latin typeface="Segoe UI" panose="020B0502040204020203" pitchFamily="34" charset="0"/>
                  <a:cs typeface="Segoe UI" panose="020B0502040204020203" pitchFamily="34" charset="0"/>
                </a:rPr>
                <a:t>Auditoría</a:t>
              </a:r>
              <a:r>
                <a:rPr lang="fr-FR" sz="1600" b="1" kern="0">
                  <a:solidFill>
                    <a:prstClr val="white"/>
                  </a:solidFill>
                  <a:latin typeface="Segoe UI" panose="020B0502040204020203" pitchFamily="34" charset="0"/>
                  <a:cs typeface="Segoe UI" panose="020B0502040204020203" pitchFamily="34" charset="0"/>
                </a:rPr>
                <a:t> de Microsoft </a:t>
              </a:r>
              <a:r>
                <a:rPr lang="fr-FR" sz="1600" b="1" kern="0" err="1">
                  <a:solidFill>
                    <a:prstClr val="white"/>
                  </a:solidFill>
                  <a:latin typeface="Segoe UI" panose="020B0502040204020203" pitchFamily="34" charset="0"/>
                  <a:cs typeface="Segoe UI" panose="020B0502040204020203" pitchFamily="34" charset="0"/>
                </a:rPr>
                <a:t>Purview</a:t>
              </a:r>
              <a:endParaRPr lang="fr-FR" sz="1600" b="1" kern="0">
                <a:solidFill>
                  <a:prstClr val="white"/>
                </a:solidFill>
                <a:latin typeface="Segoe UI" panose="020B0502040204020203" pitchFamily="34" charset="0"/>
                <a:cs typeface="Segoe UI" panose="020B0502040204020203" pitchFamily="34" charset="0"/>
              </a:endParaRPr>
            </a:p>
          </p:txBody>
        </p:sp>
      </p:grpSp>
      <p:pic>
        <p:nvPicPr>
          <p:cNvPr id="41" name="Picture 40">
            <a:extLst>
              <a:ext uri="{FF2B5EF4-FFF2-40B4-BE49-F238E27FC236}">
                <a16:creationId xmlns:a16="http://schemas.microsoft.com/office/drawing/2014/main" id="{98007795-42A6-9FC4-7AC6-C45CA7A7CC0A}"/>
              </a:ext>
            </a:extLst>
          </p:cNvPr>
          <p:cNvPicPr>
            <a:picLocks noChangeAspect="1"/>
          </p:cNvPicPr>
          <p:nvPr/>
        </p:nvPicPr>
        <p:blipFill>
          <a:blip r:embed="rId6"/>
          <a:stretch>
            <a:fillRect/>
          </a:stretch>
        </p:blipFill>
        <p:spPr>
          <a:xfrm>
            <a:off x="9523409" y="6191397"/>
            <a:ext cx="365760" cy="365760"/>
          </a:xfrm>
          <a:prstGeom prst="rect">
            <a:avLst/>
          </a:prstGeom>
        </p:spPr>
      </p:pic>
      <p:pic>
        <p:nvPicPr>
          <p:cNvPr id="26" name="Picture Placeholder 2" descr="A person smiling for a picture&#10;&#10;AI-generated content may be incorrect.">
            <a:extLst>
              <a:ext uri="{FF2B5EF4-FFF2-40B4-BE49-F238E27FC236}">
                <a16:creationId xmlns:a16="http://schemas.microsoft.com/office/drawing/2014/main" id="{0184A0C9-A94E-5F0F-CEFC-59B4F9A52C69}"/>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100899" y="139602"/>
            <a:ext cx="910149" cy="1005840"/>
          </a:xfrm>
          <a:prstGeom prst="ellipse">
            <a:avLst/>
          </a:prstGeom>
          <a:ln>
            <a:noFill/>
          </a:ln>
          <a:effectLst>
            <a:softEdge rad="112500"/>
          </a:effectLst>
        </p:spPr>
      </p:pic>
    </p:spTree>
    <p:extLst>
      <p:ext uri="{BB962C8B-B14F-4D97-AF65-F5344CB8AC3E}">
        <p14:creationId xmlns:p14="http://schemas.microsoft.com/office/powerpoint/2010/main" val="3270306345"/>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1000"/>
                                        <p:tgtEl>
                                          <p:spTgt spid="29"/>
                                        </p:tgtEl>
                                      </p:cBhvr>
                                    </p:animEffect>
                                    <p:anim calcmode="lin" valueType="num">
                                      <p:cBhvr>
                                        <p:cTn id="43" dur="1000" fill="hold"/>
                                        <p:tgtEl>
                                          <p:spTgt spid="29"/>
                                        </p:tgtEl>
                                        <p:attrNameLst>
                                          <p:attrName>ppt_x</p:attrName>
                                        </p:attrNameLst>
                                      </p:cBhvr>
                                      <p:tavLst>
                                        <p:tav tm="0">
                                          <p:val>
                                            <p:strVal val="#ppt_x"/>
                                          </p:val>
                                        </p:tav>
                                        <p:tav tm="100000">
                                          <p:val>
                                            <p:strVal val="#ppt_x"/>
                                          </p:val>
                                        </p:tav>
                                      </p:tavLst>
                                    </p:anim>
                                    <p:anim calcmode="lin" valueType="num">
                                      <p:cBhvr>
                                        <p:cTn id="44" dur="1000" fill="hold"/>
                                        <p:tgtEl>
                                          <p:spTgt spid="29"/>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1000"/>
                                        <p:tgtEl>
                                          <p:spTgt spid="31"/>
                                        </p:tgtEl>
                                      </p:cBhvr>
                                    </p:animEffect>
                                    <p:anim calcmode="lin" valueType="num">
                                      <p:cBhvr>
                                        <p:cTn id="53" dur="1000" fill="hold"/>
                                        <p:tgtEl>
                                          <p:spTgt spid="31"/>
                                        </p:tgtEl>
                                        <p:attrNameLst>
                                          <p:attrName>ppt_x</p:attrName>
                                        </p:attrNameLst>
                                      </p:cBhvr>
                                      <p:tavLst>
                                        <p:tav tm="0">
                                          <p:val>
                                            <p:strVal val="#ppt_x"/>
                                          </p:val>
                                        </p:tav>
                                        <p:tav tm="100000">
                                          <p:val>
                                            <p:strVal val="#ppt_x"/>
                                          </p:val>
                                        </p:tav>
                                      </p:tavLst>
                                    </p:anim>
                                    <p:anim calcmode="lin" valueType="num">
                                      <p:cBhvr>
                                        <p:cTn id="54" dur="1000" fill="hold"/>
                                        <p:tgtEl>
                                          <p:spTgt spid="31"/>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fade">
                                      <p:cBhvr>
                                        <p:cTn id="57" dur="1000"/>
                                        <p:tgtEl>
                                          <p:spTgt spid="36"/>
                                        </p:tgtEl>
                                      </p:cBhvr>
                                    </p:animEffect>
                                    <p:anim calcmode="lin" valueType="num">
                                      <p:cBhvr>
                                        <p:cTn id="58" dur="1000" fill="hold"/>
                                        <p:tgtEl>
                                          <p:spTgt spid="36"/>
                                        </p:tgtEl>
                                        <p:attrNameLst>
                                          <p:attrName>ppt_x</p:attrName>
                                        </p:attrNameLst>
                                      </p:cBhvr>
                                      <p:tavLst>
                                        <p:tav tm="0">
                                          <p:val>
                                            <p:strVal val="#ppt_x"/>
                                          </p:val>
                                        </p:tav>
                                        <p:tav tm="100000">
                                          <p:val>
                                            <p:strVal val="#ppt_x"/>
                                          </p:val>
                                        </p:tav>
                                      </p:tavLst>
                                    </p:anim>
                                    <p:anim calcmode="lin" valueType="num">
                                      <p:cBhvr>
                                        <p:cTn id="59" dur="1000" fill="hold"/>
                                        <p:tgtEl>
                                          <p:spTgt spid="36"/>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fade">
                                      <p:cBhvr>
                                        <p:cTn id="62" dur="1000"/>
                                        <p:tgtEl>
                                          <p:spTgt spid="41"/>
                                        </p:tgtEl>
                                      </p:cBhvr>
                                    </p:animEffect>
                                    <p:anim calcmode="lin" valueType="num">
                                      <p:cBhvr>
                                        <p:cTn id="63" dur="1000" fill="hold"/>
                                        <p:tgtEl>
                                          <p:spTgt spid="41"/>
                                        </p:tgtEl>
                                        <p:attrNameLst>
                                          <p:attrName>ppt_x</p:attrName>
                                        </p:attrNameLst>
                                      </p:cBhvr>
                                      <p:tavLst>
                                        <p:tav tm="0">
                                          <p:val>
                                            <p:strVal val="#ppt_x"/>
                                          </p:val>
                                        </p:tav>
                                        <p:tav tm="100000">
                                          <p:val>
                                            <p:strVal val="#ppt_x"/>
                                          </p:val>
                                        </p:tav>
                                      </p:tavLst>
                                    </p:anim>
                                    <p:anim calcmode="lin" valueType="num">
                                      <p:cBhvr>
                                        <p:cTn id="64"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6BC5B-2F52-8191-D04B-D772A5246C0D}"/>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D1F1973B-AED6-8FE3-6EFC-B9C73123A69F}"/>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6B5E0B40-2BD3-D279-5FD4-439DCF17E4F4}"/>
              </a:ext>
            </a:extLst>
          </p:cNvPr>
          <p:cNvGrpSpPr/>
          <p:nvPr/>
        </p:nvGrpSpPr>
        <p:grpSpPr>
          <a:xfrm>
            <a:off x="1098513" y="1099367"/>
            <a:ext cx="4382144" cy="1508107"/>
            <a:chOff x="1092200" y="1859895"/>
            <a:chExt cx="4382144" cy="1508105"/>
          </a:xfrm>
        </p:grpSpPr>
        <p:sp>
          <p:nvSpPr>
            <p:cNvPr id="45" name="TextBox 44">
              <a:extLst>
                <a:ext uri="{FF2B5EF4-FFF2-40B4-BE49-F238E27FC236}">
                  <a16:creationId xmlns:a16="http://schemas.microsoft.com/office/drawing/2014/main" id="{B514ED13-5BAC-2845-C64C-545F6AB2A5AD}"/>
                </a:ext>
              </a:extLst>
            </p:cNvPr>
            <p:cNvSpPr txBox="1"/>
            <p:nvPr/>
          </p:nvSpPr>
          <p:spPr>
            <a:xfrm>
              <a:off x="1092200" y="2167672"/>
              <a:ext cx="4382144" cy="1200328"/>
            </a:xfrm>
            <a:prstGeom prst="rect">
              <a:avLst/>
            </a:prstGeom>
            <a:noFill/>
          </p:spPr>
          <p:txBody>
            <a:bodyPr wrap="square" rtlCol="0">
              <a:spAutoFit/>
            </a:bodyPr>
            <a:lstStyle/>
            <a:p>
              <a:r>
                <a:rPr lang="es-ES" sz="3600" b="1" noProof="0">
                  <a:solidFill>
                    <a:schemeClr val="bg1"/>
                  </a:solidFill>
                  <a:latin typeface="+mj-lt"/>
                  <a:cs typeface="Poppins ExtraBold" panose="00000900000000000000" pitchFamily="2" charset="0"/>
                </a:rPr>
                <a:t>Auditoría y Cumplimiento</a:t>
              </a:r>
            </a:p>
          </p:txBody>
        </p:sp>
        <p:grpSp>
          <p:nvGrpSpPr>
            <p:cNvPr id="46" name="Group 45">
              <a:extLst>
                <a:ext uri="{FF2B5EF4-FFF2-40B4-BE49-F238E27FC236}">
                  <a16:creationId xmlns:a16="http://schemas.microsoft.com/office/drawing/2014/main" id="{3319FEA5-EDB9-78D5-CF4F-99E496E05A24}"/>
                </a:ext>
              </a:extLst>
            </p:cNvPr>
            <p:cNvGrpSpPr/>
            <p:nvPr/>
          </p:nvGrpSpPr>
          <p:grpSpPr>
            <a:xfrm>
              <a:off x="1190922" y="1859895"/>
              <a:ext cx="3089364" cy="338554"/>
              <a:chOff x="1630681" y="1859895"/>
              <a:chExt cx="3089364" cy="338554"/>
            </a:xfrm>
          </p:grpSpPr>
          <p:sp>
            <p:nvSpPr>
              <p:cNvPr id="47" name="TextBox 46">
                <a:extLst>
                  <a:ext uri="{FF2B5EF4-FFF2-40B4-BE49-F238E27FC236}">
                    <a16:creationId xmlns:a16="http://schemas.microsoft.com/office/drawing/2014/main" id="{26E2A1CE-A5FD-DE29-013E-19EA2BC219D0}"/>
                  </a:ext>
                </a:extLst>
              </p:cNvPr>
              <p:cNvSpPr txBox="1"/>
              <p:nvPr/>
            </p:nvSpPr>
            <p:spPr>
              <a:xfrm>
                <a:off x="2013833" y="1859895"/>
                <a:ext cx="2706212" cy="338554"/>
              </a:xfrm>
              <a:prstGeom prst="rect">
                <a:avLst/>
              </a:prstGeom>
              <a:noFill/>
            </p:spPr>
            <p:txBody>
              <a:bodyPr wrap="square" rtlCol="0">
                <a:spAutoFit/>
              </a:bodyPr>
              <a:lstStyle/>
              <a:p>
                <a:r>
                  <a:rPr lang="en-US" sz="1600" b="1">
                    <a:solidFill>
                      <a:schemeClr val="bg1"/>
                    </a:solidFill>
                    <a:latin typeface="+mj-lt"/>
                    <a:cs typeface="Poppins ExtraBold" panose="00000900000000000000" pitchFamily="2" charset="0"/>
                  </a:rPr>
                  <a:t>DEMO #4</a:t>
                </a:r>
                <a:endParaRPr lang="en-GB" sz="1600" b="1">
                  <a:solidFill>
                    <a:schemeClr val="bg1"/>
                  </a:solidFill>
                  <a:latin typeface="+mj-lt"/>
                  <a:cs typeface="Poppins ExtraBold" panose="00000900000000000000" pitchFamily="2" charset="0"/>
                </a:endParaRPr>
              </a:p>
            </p:txBody>
          </p:sp>
          <p:cxnSp>
            <p:nvCxnSpPr>
              <p:cNvPr id="48" name="Straight Connector 47">
                <a:extLst>
                  <a:ext uri="{FF2B5EF4-FFF2-40B4-BE49-F238E27FC236}">
                    <a16:creationId xmlns:a16="http://schemas.microsoft.com/office/drawing/2014/main" id="{464ED638-20A3-2B20-6098-9771E63E7222}"/>
                  </a:ext>
                </a:extLst>
              </p:cNvPr>
              <p:cNvCxnSpPr>
                <a:cxnSpLocks/>
              </p:cNvCxnSpPr>
              <p:nvPr/>
            </p:nvCxnSpPr>
            <p:spPr>
              <a:xfrm flipH="1">
                <a:off x="1630681" y="2006163"/>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9" name="Picture 18" descr="Minion clipart transparent background, Minion transparent background  Transparent FREE for download on WebStockReview 2021">
            <a:extLst>
              <a:ext uri="{FF2B5EF4-FFF2-40B4-BE49-F238E27FC236}">
                <a16:creationId xmlns:a16="http://schemas.microsoft.com/office/drawing/2014/main" id="{A3F0A22C-C2DF-61AE-2D20-2E768FB7C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1" y="532342"/>
            <a:ext cx="4492646" cy="52582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6D120BBD-4BD6-4909-69A1-A80FB07313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7DB0637A-B82C-8437-127D-9602B3424B6D}"/>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0186493" y="139602"/>
            <a:ext cx="910149" cy="1005840"/>
          </a:xfrm>
          <a:prstGeom prst="ellipse">
            <a:avLst/>
          </a:prstGeom>
          <a:ln>
            <a:noFill/>
          </a:ln>
          <a:effectLst>
            <a:softEdge rad="112500"/>
          </a:effectLst>
        </p:spPr>
      </p:pic>
    </p:spTree>
    <p:extLst>
      <p:ext uri="{BB962C8B-B14F-4D97-AF65-F5344CB8AC3E}">
        <p14:creationId xmlns:p14="http://schemas.microsoft.com/office/powerpoint/2010/main" val="1896104930"/>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23" presetClass="entr" presetSubtype="272"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 calcmode="lin" valueType="num">
                                      <p:cBhvr>
                                        <p:cTn id="10" dur="500" fill="hold"/>
                                        <p:tgtEl>
                                          <p:spTgt spid="44"/>
                                        </p:tgtEl>
                                        <p:attrNameLst>
                                          <p:attrName>ppt_w</p:attrName>
                                        </p:attrNameLst>
                                      </p:cBhvr>
                                      <p:tavLst>
                                        <p:tav tm="0">
                                          <p:val>
                                            <p:strVal val="2/3*#ppt_w"/>
                                          </p:val>
                                        </p:tav>
                                        <p:tav tm="100000">
                                          <p:val>
                                            <p:strVal val="#ppt_w"/>
                                          </p:val>
                                        </p:tav>
                                      </p:tavLst>
                                    </p:anim>
                                    <p:anim calcmode="lin" valueType="num">
                                      <p:cBhvr>
                                        <p:cTn id="11" dur="500" fill="hold"/>
                                        <p:tgtEl>
                                          <p:spTgt spid="44"/>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125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80">
                                          <p:stCondLst>
                                            <p:cond delay="0"/>
                                          </p:stCondLst>
                                        </p:cTn>
                                        <p:tgtEl>
                                          <p:spTgt spid="9"/>
                                        </p:tgtEl>
                                      </p:cBhvr>
                                    </p:animEffect>
                                    <p:anim calcmode="lin" valueType="num">
                                      <p:cBhvr>
                                        <p:cTn id="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5" dur="26">
                                          <p:stCondLst>
                                            <p:cond delay="650"/>
                                          </p:stCondLst>
                                        </p:cTn>
                                        <p:tgtEl>
                                          <p:spTgt spid="9"/>
                                        </p:tgtEl>
                                      </p:cBhvr>
                                      <p:to x="100000" y="60000"/>
                                    </p:animScale>
                                    <p:animScale>
                                      <p:cBhvr>
                                        <p:cTn id="26" dur="166" decel="50000">
                                          <p:stCondLst>
                                            <p:cond delay="676"/>
                                          </p:stCondLst>
                                        </p:cTn>
                                        <p:tgtEl>
                                          <p:spTgt spid="9"/>
                                        </p:tgtEl>
                                      </p:cBhvr>
                                      <p:to x="100000" y="100000"/>
                                    </p:animScale>
                                    <p:animScale>
                                      <p:cBhvr>
                                        <p:cTn id="27" dur="26">
                                          <p:stCondLst>
                                            <p:cond delay="1312"/>
                                          </p:stCondLst>
                                        </p:cTn>
                                        <p:tgtEl>
                                          <p:spTgt spid="9"/>
                                        </p:tgtEl>
                                      </p:cBhvr>
                                      <p:to x="100000" y="80000"/>
                                    </p:animScale>
                                    <p:animScale>
                                      <p:cBhvr>
                                        <p:cTn id="28" dur="166" decel="50000">
                                          <p:stCondLst>
                                            <p:cond delay="1338"/>
                                          </p:stCondLst>
                                        </p:cTn>
                                        <p:tgtEl>
                                          <p:spTgt spid="9"/>
                                        </p:tgtEl>
                                      </p:cBhvr>
                                      <p:to x="100000" y="100000"/>
                                    </p:animScale>
                                    <p:animScale>
                                      <p:cBhvr>
                                        <p:cTn id="29" dur="26">
                                          <p:stCondLst>
                                            <p:cond delay="1642"/>
                                          </p:stCondLst>
                                        </p:cTn>
                                        <p:tgtEl>
                                          <p:spTgt spid="9"/>
                                        </p:tgtEl>
                                      </p:cBhvr>
                                      <p:to x="100000" y="90000"/>
                                    </p:animScale>
                                    <p:animScale>
                                      <p:cBhvr>
                                        <p:cTn id="30" dur="166" decel="50000">
                                          <p:stCondLst>
                                            <p:cond delay="1668"/>
                                          </p:stCondLst>
                                        </p:cTn>
                                        <p:tgtEl>
                                          <p:spTgt spid="9"/>
                                        </p:tgtEl>
                                      </p:cBhvr>
                                      <p:to x="100000" y="100000"/>
                                    </p:animScale>
                                    <p:animScale>
                                      <p:cBhvr>
                                        <p:cTn id="31" dur="26">
                                          <p:stCondLst>
                                            <p:cond delay="1808"/>
                                          </p:stCondLst>
                                        </p:cTn>
                                        <p:tgtEl>
                                          <p:spTgt spid="9"/>
                                        </p:tgtEl>
                                      </p:cBhvr>
                                      <p:to x="100000" y="95000"/>
                                    </p:animScale>
                                    <p:animScale>
                                      <p:cBhvr>
                                        <p:cTn id="3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C76FF-464C-E9B8-E1F2-0E092AB77163}"/>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BFBD739B-C47A-90DD-3618-9E0A3DBB4E6E}"/>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815B931D-F004-3F55-67D7-DBD8F44F4060}"/>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Protección frente a amenazas</a:t>
            </a:r>
          </a:p>
        </p:txBody>
      </p:sp>
      <p:grpSp>
        <p:nvGrpSpPr>
          <p:cNvPr id="2" name="Group 1">
            <a:extLst>
              <a:ext uri="{FF2B5EF4-FFF2-40B4-BE49-F238E27FC236}">
                <a16:creationId xmlns:a16="http://schemas.microsoft.com/office/drawing/2014/main" id="{68C7E124-D8D1-2E4F-5144-975045E4F43E}"/>
              </a:ext>
            </a:extLst>
          </p:cNvPr>
          <p:cNvGrpSpPr/>
          <p:nvPr/>
        </p:nvGrpSpPr>
        <p:grpSpPr>
          <a:xfrm>
            <a:off x="3440852" y="2554522"/>
            <a:ext cx="2468880" cy="2011680"/>
            <a:chOff x="6941" y="1161888"/>
            <a:chExt cx="2461366" cy="1837358"/>
          </a:xfrm>
        </p:grpSpPr>
        <p:sp>
          <p:nvSpPr>
            <p:cNvPr id="3" name="Rectangle: Top Corners Rounded 2">
              <a:extLst>
                <a:ext uri="{FF2B5EF4-FFF2-40B4-BE49-F238E27FC236}">
                  <a16:creationId xmlns:a16="http://schemas.microsoft.com/office/drawing/2014/main" id="{54C7C453-A21D-DBC4-2CB9-273E4B13250D}"/>
                </a:ext>
              </a:extLst>
            </p:cNvPr>
            <p:cNvSpPr/>
            <p:nvPr/>
          </p:nvSpPr>
          <p:spPr>
            <a:xfrm>
              <a:off x="6941"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4" name="Rectangle: Top Corners Rounded 4">
              <a:extLst>
                <a:ext uri="{FF2B5EF4-FFF2-40B4-BE49-F238E27FC236}">
                  <a16:creationId xmlns:a16="http://schemas.microsoft.com/office/drawing/2014/main" id="{3FEEB352-CEB8-B7DB-10C0-67CFCC119A93}"/>
                </a:ext>
              </a:extLst>
            </p:cNvPr>
            <p:cNvSpPr txBox="1"/>
            <p:nvPr/>
          </p:nvSpPr>
          <p:spPr>
            <a:xfrm>
              <a:off x="49993"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Monitorizar y detectar actividades sospechosas y maliciosas en entornos de la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Power</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Platform</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Se monitoriza la ejecución desde geografías no esperadas, borrado de datos sospechoso y otros</a:t>
              </a:r>
            </a:p>
            <a:p>
              <a:pPr marL="114300" marR="0" lvl="1" indent="-114300" defTabSz="533400" eaLnBrk="1" fontAlgn="auto" latinLnBrk="0" hangingPunct="1">
                <a:lnSpc>
                  <a:spcPct val="90000"/>
                </a:lnSpc>
                <a:spcBef>
                  <a:spcPct val="0"/>
                </a:spcBef>
                <a:spcAft>
                  <a:spcPct val="15000"/>
                </a:spcAft>
                <a:buClrTx/>
                <a:buSzTx/>
                <a:buFontTx/>
                <a:buChar char="•"/>
                <a:tabLst/>
                <a:defRPr/>
              </a:pPr>
              <a:endParaRPr kumimoji="0" lang="es-ES" sz="13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grpSp>
      <p:grpSp>
        <p:nvGrpSpPr>
          <p:cNvPr id="5" name="Group 4">
            <a:extLst>
              <a:ext uri="{FF2B5EF4-FFF2-40B4-BE49-F238E27FC236}">
                <a16:creationId xmlns:a16="http://schemas.microsoft.com/office/drawing/2014/main" id="{017BEFA9-4ABF-D765-3A68-A5600E72FA9D}"/>
              </a:ext>
            </a:extLst>
          </p:cNvPr>
          <p:cNvGrpSpPr/>
          <p:nvPr/>
        </p:nvGrpSpPr>
        <p:grpSpPr>
          <a:xfrm>
            <a:off x="3440847" y="4535184"/>
            <a:ext cx="2468881" cy="790063"/>
            <a:chOff x="6940" y="2999246"/>
            <a:chExt cx="2461367" cy="790063"/>
          </a:xfrm>
          <a:solidFill>
            <a:srgbClr val="5B9BD5"/>
          </a:solidFill>
        </p:grpSpPr>
        <p:sp>
          <p:nvSpPr>
            <p:cNvPr id="6" name="Rectangle 5">
              <a:extLst>
                <a:ext uri="{FF2B5EF4-FFF2-40B4-BE49-F238E27FC236}">
                  <a16:creationId xmlns:a16="http://schemas.microsoft.com/office/drawing/2014/main" id="{AAD6F555-7B21-DD9A-14B3-C2665F823D97}"/>
                </a:ext>
              </a:extLst>
            </p:cNvPr>
            <p:cNvSpPr/>
            <p:nvPr/>
          </p:nvSpPr>
          <p:spPr>
            <a:xfrm>
              <a:off x="6941" y="2999246"/>
              <a:ext cx="2461366" cy="790063"/>
            </a:xfrm>
            <a:prstGeom prst="rect">
              <a:avLst/>
            </a:prstGeom>
            <a:grpFill/>
            <a:ln w="12700" cap="flat" cmpd="sng" algn="ctr">
              <a:solidFill>
                <a:srgbClr val="5B9BD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3B2ADBD-0DC7-B1D1-6766-E2831BFE5465}"/>
                </a:ext>
              </a:extLst>
            </p:cNvPr>
            <p:cNvSpPr txBox="1"/>
            <p:nvPr/>
          </p:nvSpPr>
          <p:spPr>
            <a:xfrm>
              <a:off x="6940" y="2999246"/>
              <a:ext cx="1870523" cy="790063"/>
            </a:xfrm>
            <a:prstGeom prst="rect">
              <a:avLst/>
            </a:prstGeom>
            <a:grpFill/>
            <a:ln>
              <a:solidFill>
                <a:srgbClr val="5B9BD5"/>
              </a:solidFill>
            </a:ln>
            <a:effectLst/>
          </p:spPr>
          <p:txBody>
            <a:bodyPr spcFirstLastPara="0" vert="horz" wrap="square" lIns="68580" tIns="0" rIns="22860" bIns="0" numCol="1" spcCol="1270" anchor="ctr" anchorCtr="0">
              <a:noAutofit/>
            </a:bodyPr>
            <a:lstStyle/>
            <a:p>
              <a:pPr marL="0" marR="0" lvl="0" indent="0" defTabSz="800100" eaLnBrk="1" fontAlgn="auto" latinLnBrk="0" hangingPunct="1">
                <a:lnSpc>
                  <a:spcPct val="90000"/>
                </a:lnSpc>
                <a:spcBef>
                  <a:spcPct val="0"/>
                </a:spcBef>
                <a:spcAft>
                  <a:spcPct val="35000"/>
                </a:spcAft>
                <a:buClrTx/>
                <a:buSzTx/>
                <a:buFontTx/>
                <a:buNone/>
                <a:tabLst/>
                <a:defRPr/>
              </a:pPr>
              <a:r>
                <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Integración con Microsoft  </a:t>
              </a:r>
              <a:r>
                <a:rPr kumimoji="0" lang="es-ES" sz="1600" b="1" i="0" u="none" strike="noStrike" kern="0" cap="none" spc="0" normalizeH="0" baseline="0" noProof="0" err="1">
                  <a:ln>
                    <a:noFill/>
                  </a:ln>
                  <a:solidFill>
                    <a:prstClr val="white"/>
                  </a:solidFill>
                  <a:effectLst/>
                  <a:uLnTx/>
                  <a:uFillTx/>
                  <a:latin typeface="Segoe UI" panose="020B0502040204020203" pitchFamily="34" charset="0"/>
                  <a:cs typeface="Segoe UI" panose="020B0502040204020203" pitchFamily="34" charset="0"/>
                </a:rPr>
                <a:t>Sentinel</a:t>
              </a:r>
              <a:endParaRPr kumimoji="0" lang="es-ES" sz="16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grpSp>
      <p:grpSp>
        <p:nvGrpSpPr>
          <p:cNvPr id="8" name="Group 7">
            <a:extLst>
              <a:ext uri="{FF2B5EF4-FFF2-40B4-BE49-F238E27FC236}">
                <a16:creationId xmlns:a16="http://schemas.microsoft.com/office/drawing/2014/main" id="{E200885E-005D-DD2A-1A51-481E7B761F52}"/>
              </a:ext>
            </a:extLst>
          </p:cNvPr>
          <p:cNvGrpSpPr/>
          <p:nvPr/>
        </p:nvGrpSpPr>
        <p:grpSpPr>
          <a:xfrm>
            <a:off x="6164241" y="2549426"/>
            <a:ext cx="2468880" cy="2011680"/>
            <a:chOff x="2884829" y="1161888"/>
            <a:chExt cx="2461366" cy="1837358"/>
          </a:xfrm>
        </p:grpSpPr>
        <p:sp>
          <p:nvSpPr>
            <p:cNvPr id="9" name="Rectangle: Top Corners Rounded 8">
              <a:extLst>
                <a:ext uri="{FF2B5EF4-FFF2-40B4-BE49-F238E27FC236}">
                  <a16:creationId xmlns:a16="http://schemas.microsoft.com/office/drawing/2014/main" id="{63A5EBFA-C468-9479-9091-C67A0E78C668}"/>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0" name="Rectangle: Top Corners Rounded 4">
              <a:extLst>
                <a:ext uri="{FF2B5EF4-FFF2-40B4-BE49-F238E27FC236}">
                  <a16:creationId xmlns:a16="http://schemas.microsoft.com/office/drawing/2014/main" id="{A9FE6189-E094-84CF-62B3-7943674ED962}"/>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Monitorizar capacidades y seguridad en agentes mediante un sistema externo de detección de amenazas</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Si se detectan acciones sospechosas, el sistema puede bloquear la ejecución del agente</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Sistemas Externos: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Custom</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 Microsoft Defender | 3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Party</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1" name="Group 10">
            <a:extLst>
              <a:ext uri="{FF2B5EF4-FFF2-40B4-BE49-F238E27FC236}">
                <a16:creationId xmlns:a16="http://schemas.microsoft.com/office/drawing/2014/main" id="{9E9A2D3E-ADD0-DAA9-447D-5A1823717DED}"/>
              </a:ext>
            </a:extLst>
          </p:cNvPr>
          <p:cNvGrpSpPr/>
          <p:nvPr/>
        </p:nvGrpSpPr>
        <p:grpSpPr>
          <a:xfrm>
            <a:off x="6164240" y="4543736"/>
            <a:ext cx="2468881" cy="790063"/>
            <a:chOff x="2884828" y="2999246"/>
            <a:chExt cx="2461367" cy="790063"/>
          </a:xfrm>
          <a:solidFill>
            <a:srgbClr val="ED7D31"/>
          </a:solidFill>
        </p:grpSpPr>
        <p:sp>
          <p:nvSpPr>
            <p:cNvPr id="12" name="Rectangle 11">
              <a:extLst>
                <a:ext uri="{FF2B5EF4-FFF2-40B4-BE49-F238E27FC236}">
                  <a16:creationId xmlns:a16="http://schemas.microsoft.com/office/drawing/2014/main" id="{80969DE4-A085-410A-8398-AF90515E6E17}"/>
                </a:ext>
              </a:extLst>
            </p:cNvPr>
            <p:cNvSpPr/>
            <p:nvPr/>
          </p:nvSpPr>
          <p:spPr>
            <a:xfrm>
              <a:off x="2884829" y="2999246"/>
              <a:ext cx="2461366" cy="790063"/>
            </a:xfrm>
            <a:prstGeom prst="rect">
              <a:avLst/>
            </a:prstGeom>
            <a:grpFill/>
            <a:ln w="12700" cap="flat" cmpd="sng" algn="ctr">
              <a:solidFill>
                <a:srgbClr val="ED7D31"/>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4" name="TextBox 13">
              <a:extLst>
                <a:ext uri="{FF2B5EF4-FFF2-40B4-BE49-F238E27FC236}">
                  <a16:creationId xmlns:a16="http://schemas.microsoft.com/office/drawing/2014/main" id="{56CCE999-94B5-D372-CBB1-63D324BA2FB3}"/>
                </a:ext>
              </a:extLst>
            </p:cNvPr>
            <p:cNvSpPr txBox="1"/>
            <p:nvPr/>
          </p:nvSpPr>
          <p:spPr>
            <a:xfrm>
              <a:off x="2884828" y="2999246"/>
              <a:ext cx="2023724" cy="790063"/>
            </a:xfrm>
            <a:prstGeom prst="rect">
              <a:avLst/>
            </a:prstGeom>
            <a:grpFill/>
            <a:ln>
              <a:solidFill>
                <a:srgbClr val="ED7D31"/>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noProof="0">
                  <a:solidFill>
                    <a:prstClr val="white"/>
                  </a:solidFill>
                  <a:latin typeface="Segoe UI" panose="020B0502040204020203" pitchFamily="34" charset="0"/>
                  <a:cs typeface="Segoe UI" panose="020B0502040204020203" pitchFamily="34" charset="0"/>
                </a:rPr>
                <a:t>Detección de Amenazas para Agentes</a:t>
              </a:r>
            </a:p>
          </p:txBody>
        </p:sp>
      </p:grpSp>
      <p:grpSp>
        <p:nvGrpSpPr>
          <p:cNvPr id="15" name="Group 14">
            <a:extLst>
              <a:ext uri="{FF2B5EF4-FFF2-40B4-BE49-F238E27FC236}">
                <a16:creationId xmlns:a16="http://schemas.microsoft.com/office/drawing/2014/main" id="{16C36840-CD96-A50A-0DEE-2143CABFBED2}"/>
              </a:ext>
            </a:extLst>
          </p:cNvPr>
          <p:cNvGrpSpPr/>
          <p:nvPr/>
        </p:nvGrpSpPr>
        <p:grpSpPr>
          <a:xfrm>
            <a:off x="690817" y="2542201"/>
            <a:ext cx="2468880" cy="2011680"/>
            <a:chOff x="8640607" y="1161888"/>
            <a:chExt cx="2461366" cy="1837358"/>
          </a:xfrm>
        </p:grpSpPr>
        <p:sp>
          <p:nvSpPr>
            <p:cNvPr id="16" name="Rectangle: Top Corners Rounded 15">
              <a:extLst>
                <a:ext uri="{FF2B5EF4-FFF2-40B4-BE49-F238E27FC236}">
                  <a16:creationId xmlns:a16="http://schemas.microsoft.com/office/drawing/2014/main" id="{65941D62-18A3-BA22-C5AA-77D36378C0F7}"/>
                </a:ext>
              </a:extLst>
            </p:cNvPr>
            <p:cNvSpPr/>
            <p:nvPr/>
          </p:nvSpPr>
          <p:spPr>
            <a:xfrm>
              <a:off x="8640607"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17" name="Rectangle: Top Corners Rounded 4">
              <a:extLst>
                <a:ext uri="{FF2B5EF4-FFF2-40B4-BE49-F238E27FC236}">
                  <a16:creationId xmlns:a16="http://schemas.microsoft.com/office/drawing/2014/main" id="{A0C542AC-8497-3FFC-5E57-F1B8D26F87CC}"/>
                </a:ext>
              </a:extLst>
            </p:cNvPr>
            <p:cNvSpPr txBox="1"/>
            <p:nvPr/>
          </p:nvSpPr>
          <p:spPr>
            <a:xfrm>
              <a:off x="8683659"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Análisis estático de los objetos de una solución contra una serie de buenas prácticas</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Identificación rápida de patrones problemáticos en la solución</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Disponible en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Managed</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Environments</a:t>
              </a: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18" name="Group 17">
            <a:extLst>
              <a:ext uri="{FF2B5EF4-FFF2-40B4-BE49-F238E27FC236}">
                <a16:creationId xmlns:a16="http://schemas.microsoft.com/office/drawing/2014/main" id="{48FD6852-8A22-BAB7-32FD-608FD75C2A0F}"/>
              </a:ext>
            </a:extLst>
          </p:cNvPr>
          <p:cNvGrpSpPr/>
          <p:nvPr/>
        </p:nvGrpSpPr>
        <p:grpSpPr>
          <a:xfrm>
            <a:off x="688208" y="4538787"/>
            <a:ext cx="2468880" cy="790063"/>
            <a:chOff x="8632682" y="3002849"/>
            <a:chExt cx="2461366" cy="790063"/>
          </a:xfrm>
          <a:solidFill>
            <a:srgbClr val="FFC000"/>
          </a:solidFill>
        </p:grpSpPr>
        <p:sp>
          <p:nvSpPr>
            <p:cNvPr id="19" name="Rectangle 18">
              <a:extLst>
                <a:ext uri="{FF2B5EF4-FFF2-40B4-BE49-F238E27FC236}">
                  <a16:creationId xmlns:a16="http://schemas.microsoft.com/office/drawing/2014/main" id="{2F88F393-AFAA-CCBF-F7CB-F8E9E2AD62B6}"/>
                </a:ext>
              </a:extLst>
            </p:cNvPr>
            <p:cNvSpPr/>
            <p:nvPr/>
          </p:nvSpPr>
          <p:spPr>
            <a:xfrm>
              <a:off x="8632682" y="3002849"/>
              <a:ext cx="2461366" cy="790063"/>
            </a:xfrm>
            <a:prstGeom prst="rect">
              <a:avLst/>
            </a:prstGeom>
            <a:grpFill/>
            <a:ln w="12700" cap="flat" cmpd="sng" algn="ctr">
              <a:solidFill>
                <a:srgbClr val="FFC000"/>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0" name="TextBox 19">
              <a:extLst>
                <a:ext uri="{FF2B5EF4-FFF2-40B4-BE49-F238E27FC236}">
                  <a16:creationId xmlns:a16="http://schemas.microsoft.com/office/drawing/2014/main" id="{1A8CB8CA-5977-A0A5-53C9-478FFAE6D1E7}"/>
                </a:ext>
              </a:extLst>
            </p:cNvPr>
            <p:cNvSpPr txBox="1"/>
            <p:nvPr/>
          </p:nvSpPr>
          <p:spPr>
            <a:xfrm>
              <a:off x="8632683" y="3002849"/>
              <a:ext cx="1797715" cy="790063"/>
            </a:xfrm>
            <a:prstGeom prst="rect">
              <a:avLst/>
            </a:prstGeom>
            <a:grpFill/>
            <a:ln>
              <a:solidFill>
                <a:srgbClr val="FFC000"/>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es-ES" sz="1600" b="1" kern="0" err="1">
                  <a:solidFill>
                    <a:prstClr val="white"/>
                  </a:solidFill>
                  <a:latin typeface="Segoe UI" panose="020B0502040204020203" pitchFamily="34" charset="0"/>
                  <a:cs typeface="Segoe UI" panose="020B0502040204020203" pitchFamily="34" charset="0"/>
                </a:rPr>
                <a:t>Solution</a:t>
              </a:r>
              <a:r>
                <a:rPr lang="es-ES" sz="1600" b="1" kern="0">
                  <a:solidFill>
                    <a:prstClr val="white"/>
                  </a:solidFill>
                  <a:latin typeface="Segoe UI" panose="020B0502040204020203" pitchFamily="34" charset="0"/>
                  <a:cs typeface="Segoe UI" panose="020B0502040204020203" pitchFamily="34" charset="0"/>
                </a:rPr>
                <a:t> </a:t>
              </a:r>
              <a:r>
                <a:rPr lang="es-ES" sz="1600" b="1" kern="0" err="1">
                  <a:solidFill>
                    <a:prstClr val="white"/>
                  </a:solidFill>
                  <a:latin typeface="Segoe UI" panose="020B0502040204020203" pitchFamily="34" charset="0"/>
                  <a:cs typeface="Segoe UI" panose="020B0502040204020203" pitchFamily="34" charset="0"/>
                </a:rPr>
                <a:t>Checker</a:t>
              </a:r>
              <a:endParaRPr lang="fr-FR" sz="1600" b="1" kern="0">
                <a:solidFill>
                  <a:prstClr val="white"/>
                </a:solidFill>
                <a:latin typeface="Segoe UI" panose="020B0502040204020203" pitchFamily="34" charset="0"/>
                <a:cs typeface="Segoe UI" panose="020B0502040204020203" pitchFamily="34" charset="0"/>
              </a:endParaRPr>
            </a:p>
          </p:txBody>
        </p:sp>
      </p:grpSp>
      <p:grpSp>
        <p:nvGrpSpPr>
          <p:cNvPr id="21" name="Group 20">
            <a:extLst>
              <a:ext uri="{FF2B5EF4-FFF2-40B4-BE49-F238E27FC236}">
                <a16:creationId xmlns:a16="http://schemas.microsoft.com/office/drawing/2014/main" id="{7EC58EE2-3B51-38B9-0869-395D95AE0651}"/>
              </a:ext>
            </a:extLst>
          </p:cNvPr>
          <p:cNvGrpSpPr/>
          <p:nvPr/>
        </p:nvGrpSpPr>
        <p:grpSpPr>
          <a:xfrm>
            <a:off x="8924374" y="2523504"/>
            <a:ext cx="2468880" cy="2011680"/>
            <a:chOff x="2884829" y="1161888"/>
            <a:chExt cx="2461366" cy="1837358"/>
          </a:xfrm>
        </p:grpSpPr>
        <p:sp>
          <p:nvSpPr>
            <p:cNvPr id="22" name="Rectangle: Top Corners Rounded 21">
              <a:extLst>
                <a:ext uri="{FF2B5EF4-FFF2-40B4-BE49-F238E27FC236}">
                  <a16:creationId xmlns:a16="http://schemas.microsoft.com/office/drawing/2014/main" id="{BACFA3BB-7D8D-033C-D373-E9DDA2C24C77}"/>
                </a:ext>
              </a:extLst>
            </p:cNvPr>
            <p:cNvSpPr/>
            <p:nvPr/>
          </p:nvSpPr>
          <p:spPr>
            <a:xfrm>
              <a:off x="2884829" y="1161888"/>
              <a:ext cx="2461366" cy="1837358"/>
            </a:xfrm>
            <a:prstGeom prst="round2SameRect">
              <a:avLst>
                <a:gd name="adj1" fmla="val 8000"/>
                <a:gd name="adj2" fmla="val 0"/>
              </a:avLst>
            </a:prstGeom>
            <a:solidFill>
              <a:sysClr val="window" lastClr="FFFFFF">
                <a:alpha val="90000"/>
                <a:hueOff val="0"/>
                <a:satOff val="0"/>
                <a:lumOff val="0"/>
                <a:alphaOff val="0"/>
              </a:sysClr>
            </a:solid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hueOff val="0"/>
                    <a:satOff val="0"/>
                    <a:lumOff val="0"/>
                    <a:alphaOff val="0"/>
                  </a:prstClr>
                </a:solidFill>
                <a:effectLst/>
                <a:uLnTx/>
                <a:uFillTx/>
                <a:latin typeface="Segoe UI" panose="020B0502040204020203" pitchFamily="34" charset="0"/>
                <a:cs typeface="Segoe UI" panose="020B0502040204020203" pitchFamily="34" charset="0"/>
              </a:endParaRPr>
            </a:p>
          </p:txBody>
        </p:sp>
        <p:sp>
          <p:nvSpPr>
            <p:cNvPr id="23" name="Rectangle: Top Corners Rounded 4">
              <a:extLst>
                <a:ext uri="{FF2B5EF4-FFF2-40B4-BE49-F238E27FC236}">
                  <a16:creationId xmlns:a16="http://schemas.microsoft.com/office/drawing/2014/main" id="{FC385572-9C61-2992-03B4-5F0FF2A1C1D0}"/>
                </a:ext>
              </a:extLst>
            </p:cNvPr>
            <p:cNvSpPr txBox="1"/>
            <p:nvPr/>
          </p:nvSpPr>
          <p:spPr>
            <a:xfrm>
              <a:off x="2927881" y="1204940"/>
              <a:ext cx="2375262" cy="1794306"/>
            </a:xfrm>
            <a:prstGeom prst="rect">
              <a:avLst/>
            </a:prstGeom>
            <a:noFill/>
            <a:ln>
              <a:noFill/>
            </a:ln>
            <a:effectLst/>
          </p:spPr>
          <p:txBody>
            <a:bodyPr spcFirstLastPara="0" vert="horz" wrap="square" lIns="15240" tIns="45720" rIns="15240" bIns="15240" numCol="1" spcCol="1270" anchor="t" anchorCtr="0">
              <a:noAutofit/>
            </a:bodyPr>
            <a:lstStyle/>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Monitoriza el comportamiento de Agentes de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Copilot</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Studio para detectar ataques de inyección de </a:t>
              </a:r>
              <a:r>
                <a:rPr lang="es-ES" sz="1300" kern="0" err="1">
                  <a:solidFill>
                    <a:prstClr val="black">
                      <a:hueOff val="0"/>
                      <a:satOff val="0"/>
                      <a:lumOff val="0"/>
                      <a:alphaOff val="0"/>
                    </a:prstClr>
                  </a:solidFill>
                  <a:latin typeface="Segoe UI" panose="020B0502040204020203" pitchFamily="34" charset="0"/>
                  <a:cs typeface="Segoe UI" panose="020B0502040204020203" pitchFamily="34" charset="0"/>
                </a:rPr>
                <a:t>prompt</a:t>
              </a: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 de  dominio cruzado (XPIA) en tiempo real </a:t>
              </a:r>
            </a:p>
            <a:p>
              <a:pPr marL="114300" lvl="1" indent="-114300" defTabSz="533400">
                <a:lnSpc>
                  <a:spcPct val="90000"/>
                </a:lnSpc>
                <a:spcBef>
                  <a:spcPct val="0"/>
                </a:spcBef>
                <a:spcAft>
                  <a:spcPct val="15000"/>
                </a:spcAft>
                <a:buFontTx/>
                <a:buChar char="•"/>
                <a:defRPr/>
              </a:pPr>
              <a:r>
                <a:rPr lang="es-ES" sz="1300" kern="0">
                  <a:solidFill>
                    <a:prstClr val="black">
                      <a:hueOff val="0"/>
                      <a:satOff val="0"/>
                      <a:lumOff val="0"/>
                      <a:alphaOff val="0"/>
                    </a:prstClr>
                  </a:solidFill>
                  <a:latin typeface="Segoe UI" panose="020B0502040204020203" pitchFamily="34" charset="0"/>
                  <a:cs typeface="Segoe UI" panose="020B0502040204020203" pitchFamily="34" charset="0"/>
                </a:rPr>
                <a:t>Inspección de Mensajes antes de que el Agente haga nada y bloqueo de estos si son sospechosos</a:t>
              </a:r>
            </a:p>
            <a:p>
              <a:pPr marL="114300" lvl="1" indent="-114300" defTabSz="533400">
                <a:lnSpc>
                  <a:spcPct val="90000"/>
                </a:lnSpc>
                <a:spcBef>
                  <a:spcPct val="0"/>
                </a:spcBef>
                <a:spcAft>
                  <a:spcPct val="15000"/>
                </a:spcAft>
                <a:buFontTx/>
                <a:buChar char="•"/>
                <a:defRPr/>
              </a:pPr>
              <a:endParaRPr lang="es-ES" sz="1300" kern="0">
                <a:solidFill>
                  <a:prstClr val="black">
                    <a:hueOff val="0"/>
                    <a:satOff val="0"/>
                    <a:lumOff val="0"/>
                    <a:alphaOff val="0"/>
                  </a:prstClr>
                </a:solidFill>
                <a:latin typeface="Segoe UI" panose="020B0502040204020203" pitchFamily="34" charset="0"/>
                <a:cs typeface="Segoe UI" panose="020B0502040204020203" pitchFamily="34" charset="0"/>
              </a:endParaRPr>
            </a:p>
          </p:txBody>
        </p:sp>
      </p:grpSp>
      <p:grpSp>
        <p:nvGrpSpPr>
          <p:cNvPr id="24" name="Group 23">
            <a:extLst>
              <a:ext uri="{FF2B5EF4-FFF2-40B4-BE49-F238E27FC236}">
                <a16:creationId xmlns:a16="http://schemas.microsoft.com/office/drawing/2014/main" id="{FAF67415-0911-68FE-72AF-B5B25FF69385}"/>
              </a:ext>
            </a:extLst>
          </p:cNvPr>
          <p:cNvGrpSpPr/>
          <p:nvPr/>
        </p:nvGrpSpPr>
        <p:grpSpPr>
          <a:xfrm>
            <a:off x="8924374" y="4517814"/>
            <a:ext cx="2468880" cy="790063"/>
            <a:chOff x="2884829" y="2999246"/>
            <a:chExt cx="2461366" cy="790063"/>
          </a:xfrm>
          <a:solidFill>
            <a:srgbClr val="A5A5A5"/>
          </a:solidFill>
        </p:grpSpPr>
        <p:sp>
          <p:nvSpPr>
            <p:cNvPr id="25" name="Rectangle 24">
              <a:extLst>
                <a:ext uri="{FF2B5EF4-FFF2-40B4-BE49-F238E27FC236}">
                  <a16:creationId xmlns:a16="http://schemas.microsoft.com/office/drawing/2014/main" id="{555F4ADA-5B37-AEFE-22B7-649D76E0F4DC}"/>
                </a:ext>
              </a:extLst>
            </p:cNvPr>
            <p:cNvSpPr/>
            <p:nvPr/>
          </p:nvSpPr>
          <p:spPr>
            <a:xfrm>
              <a:off x="2884829" y="2999246"/>
              <a:ext cx="2461366" cy="790063"/>
            </a:xfrm>
            <a:prstGeom prst="rect">
              <a:avLst/>
            </a:prstGeom>
            <a:grpFill/>
            <a:ln w="12700" cap="flat" cmpd="sng" algn="ctr">
              <a:solidFill>
                <a:srgbClr val="A5A5A5"/>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26" name="TextBox 25">
              <a:extLst>
                <a:ext uri="{FF2B5EF4-FFF2-40B4-BE49-F238E27FC236}">
                  <a16:creationId xmlns:a16="http://schemas.microsoft.com/office/drawing/2014/main" id="{1194DBE8-4AEE-987F-C30A-C593345F9E38}"/>
                </a:ext>
              </a:extLst>
            </p:cNvPr>
            <p:cNvSpPr txBox="1"/>
            <p:nvPr/>
          </p:nvSpPr>
          <p:spPr>
            <a:xfrm>
              <a:off x="2884829" y="2999246"/>
              <a:ext cx="1733356" cy="790063"/>
            </a:xfrm>
            <a:prstGeom prst="rect">
              <a:avLst/>
            </a:prstGeom>
            <a:grpFill/>
            <a:ln>
              <a:solidFill>
                <a:srgbClr val="A5A5A5"/>
              </a:solidFill>
            </a:ln>
            <a:effectLst/>
          </p:spPr>
          <p:txBody>
            <a:bodyPr spcFirstLastPara="0" vert="horz" wrap="square" lIns="68580" tIns="0" rIns="22860" bIns="0" numCol="1" spcCol="1270" anchor="ctr" anchorCtr="0">
              <a:noAutofit/>
            </a:bodyPr>
            <a:lstStyle/>
            <a:p>
              <a:pPr lvl="0" defTabSz="800100">
                <a:lnSpc>
                  <a:spcPct val="90000"/>
                </a:lnSpc>
                <a:spcBef>
                  <a:spcPct val="0"/>
                </a:spcBef>
                <a:spcAft>
                  <a:spcPct val="35000"/>
                </a:spcAft>
                <a:defRPr/>
              </a:pPr>
              <a:r>
                <a:rPr lang="fr-FR" sz="1600" b="1" kern="0">
                  <a:solidFill>
                    <a:prstClr val="white"/>
                  </a:solidFill>
                  <a:latin typeface="Segoe UI" panose="020B0502040204020203" pitchFamily="34" charset="0"/>
                  <a:cs typeface="Segoe UI" panose="020B0502040204020203" pitchFamily="34" charset="0"/>
                </a:rPr>
                <a:t>Microsoft Defender para Agentes</a:t>
              </a:r>
            </a:p>
          </p:txBody>
        </p:sp>
      </p:grpSp>
      <p:sp>
        <p:nvSpPr>
          <p:cNvPr id="31" name="TextBox 30">
            <a:extLst>
              <a:ext uri="{FF2B5EF4-FFF2-40B4-BE49-F238E27FC236}">
                <a16:creationId xmlns:a16="http://schemas.microsoft.com/office/drawing/2014/main" id="{FB4E89E6-10F1-1669-06B3-53EF41C8FE9D}"/>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s-ES" sz="1600">
                <a:solidFill>
                  <a:schemeClr val="bg1"/>
                </a:solidFill>
                <a:latin typeface="Segoe UI" panose="020B0502040204020203" pitchFamily="34" charset="0"/>
                <a:cs typeface="Segoe UI" panose="020B0502040204020203" pitchFamily="34" charset="0"/>
              </a:rPr>
              <a:t>Protege de forma proactiva tus activos organizativos en la </a:t>
            </a:r>
            <a:r>
              <a:rPr lang="es-ES" sz="1600" err="1">
                <a:solidFill>
                  <a:schemeClr val="bg1"/>
                </a:solidFill>
                <a:latin typeface="Segoe UI" panose="020B0502040204020203" pitchFamily="34" charset="0"/>
                <a:cs typeface="Segoe UI" panose="020B0502040204020203" pitchFamily="34" charset="0"/>
              </a:rPr>
              <a:t>Power</a:t>
            </a:r>
            <a:r>
              <a:rPr lang="es-ES" sz="1600">
                <a:solidFill>
                  <a:schemeClr val="bg1"/>
                </a:solidFill>
                <a:latin typeface="Segoe UI" panose="020B0502040204020203" pitchFamily="34" charset="0"/>
                <a:cs typeface="Segoe UI" panose="020B0502040204020203" pitchFamily="34" charset="0"/>
              </a:rPr>
              <a:t> </a:t>
            </a:r>
            <a:r>
              <a:rPr lang="es-ES" sz="1600" err="1">
                <a:solidFill>
                  <a:schemeClr val="bg1"/>
                </a:solidFill>
                <a:latin typeface="Segoe UI" panose="020B0502040204020203" pitchFamily="34" charset="0"/>
                <a:cs typeface="Segoe UI" panose="020B0502040204020203" pitchFamily="34" charset="0"/>
              </a:rPr>
              <a:t>Platform</a:t>
            </a:r>
            <a:r>
              <a:rPr lang="es-ES" sz="1600">
                <a:solidFill>
                  <a:schemeClr val="bg1"/>
                </a:solidFill>
                <a:latin typeface="Segoe UI" panose="020B0502040204020203" pitchFamily="34" charset="0"/>
                <a:cs typeface="Segoe UI" panose="020B0502040204020203" pitchFamily="34" charset="0"/>
              </a:rPr>
              <a:t> a través de la detección y remediación de amenazas </a:t>
            </a:r>
            <a:endParaRPr lang="es-ES" sz="1600" noProof="0">
              <a:solidFill>
                <a:schemeClr val="bg1"/>
              </a:solidFill>
              <a:latin typeface="Segoe UI" panose="020B0502040204020203" pitchFamily="34" charset="0"/>
              <a:cs typeface="Segoe UI" panose="020B0502040204020203" pitchFamily="34" charset="0"/>
            </a:endParaRPr>
          </a:p>
        </p:txBody>
      </p:sp>
      <p:pic>
        <p:nvPicPr>
          <p:cNvPr id="34" name="Picture 33">
            <a:extLst>
              <a:ext uri="{FF2B5EF4-FFF2-40B4-BE49-F238E27FC236}">
                <a16:creationId xmlns:a16="http://schemas.microsoft.com/office/drawing/2014/main" id="{03069C3F-61B4-FC7A-6079-1141C73ED138}"/>
              </a:ext>
            </a:extLst>
          </p:cNvPr>
          <p:cNvPicPr>
            <a:picLocks noChangeAspect="1"/>
          </p:cNvPicPr>
          <p:nvPr/>
        </p:nvPicPr>
        <p:blipFill>
          <a:blip r:embed="rId3"/>
          <a:stretch>
            <a:fillRect/>
          </a:stretch>
        </p:blipFill>
        <p:spPr>
          <a:xfrm>
            <a:off x="2491412" y="4653749"/>
            <a:ext cx="640080" cy="640080"/>
          </a:xfrm>
          <a:prstGeom prst="rect">
            <a:avLst/>
          </a:prstGeom>
        </p:spPr>
      </p:pic>
      <p:pic>
        <p:nvPicPr>
          <p:cNvPr id="37" name="Picture 36">
            <a:extLst>
              <a:ext uri="{FF2B5EF4-FFF2-40B4-BE49-F238E27FC236}">
                <a16:creationId xmlns:a16="http://schemas.microsoft.com/office/drawing/2014/main" id="{CF40420B-1668-EC2E-90B3-C48BD1AF63EB}"/>
              </a:ext>
            </a:extLst>
          </p:cNvPr>
          <p:cNvPicPr>
            <a:picLocks noChangeAspect="1"/>
          </p:cNvPicPr>
          <p:nvPr/>
        </p:nvPicPr>
        <p:blipFill>
          <a:blip r:embed="rId4"/>
          <a:stretch>
            <a:fillRect/>
          </a:stretch>
        </p:blipFill>
        <p:spPr>
          <a:xfrm>
            <a:off x="5204120" y="4613339"/>
            <a:ext cx="640080" cy="640080"/>
          </a:xfrm>
          <a:prstGeom prst="rect">
            <a:avLst/>
          </a:prstGeom>
        </p:spPr>
      </p:pic>
      <p:pic>
        <p:nvPicPr>
          <p:cNvPr id="40" name="Picture 39">
            <a:extLst>
              <a:ext uri="{FF2B5EF4-FFF2-40B4-BE49-F238E27FC236}">
                <a16:creationId xmlns:a16="http://schemas.microsoft.com/office/drawing/2014/main" id="{57B611AD-24C6-F863-2F22-CFDF40F4551B}"/>
              </a:ext>
            </a:extLst>
          </p:cNvPr>
          <p:cNvPicPr>
            <a:picLocks noChangeAspect="1"/>
          </p:cNvPicPr>
          <p:nvPr/>
        </p:nvPicPr>
        <p:blipFill>
          <a:blip r:embed="rId5"/>
          <a:stretch>
            <a:fillRect/>
          </a:stretch>
        </p:blipFill>
        <p:spPr>
          <a:xfrm>
            <a:off x="7983105" y="4616710"/>
            <a:ext cx="640080" cy="640080"/>
          </a:xfrm>
          <a:prstGeom prst="rect">
            <a:avLst/>
          </a:prstGeom>
        </p:spPr>
      </p:pic>
      <p:pic>
        <p:nvPicPr>
          <p:cNvPr id="42" name="Picture 41">
            <a:extLst>
              <a:ext uri="{FF2B5EF4-FFF2-40B4-BE49-F238E27FC236}">
                <a16:creationId xmlns:a16="http://schemas.microsoft.com/office/drawing/2014/main" id="{29DF433A-28F1-F844-F88C-7D28E1C69255}"/>
              </a:ext>
            </a:extLst>
          </p:cNvPr>
          <p:cNvPicPr>
            <a:picLocks noChangeAspect="1"/>
          </p:cNvPicPr>
          <p:nvPr/>
        </p:nvPicPr>
        <p:blipFill>
          <a:blip r:embed="rId6"/>
          <a:stretch>
            <a:fillRect/>
          </a:stretch>
        </p:blipFill>
        <p:spPr>
          <a:xfrm>
            <a:off x="10708098" y="4616710"/>
            <a:ext cx="640080" cy="640080"/>
          </a:xfrm>
          <a:prstGeom prst="rect">
            <a:avLst/>
          </a:prstGeom>
        </p:spPr>
      </p:pic>
      <p:pic>
        <p:nvPicPr>
          <p:cNvPr id="28" name="Picture Placeholder 2" descr="A person smiling for a picture&#10;&#10;AI-generated content may be incorrect.">
            <a:extLst>
              <a:ext uri="{FF2B5EF4-FFF2-40B4-BE49-F238E27FC236}">
                <a16:creationId xmlns:a16="http://schemas.microsoft.com/office/drawing/2014/main" id="{CC3E6FAA-DAEE-9CF8-17B6-AD751C7B23D1}"/>
              </a:ext>
            </a:extLst>
          </p:cNvPr>
          <p:cNvPicPr>
            <a:picLocks noChangeAspect="1"/>
          </p:cNvPicPr>
          <p:nvPr/>
        </p:nvPicPr>
        <p:blipFill>
          <a:blip r:embed="rId7">
            <a:extLst>
              <a:ext uri="{28A0092B-C50C-407E-A947-70E740481C1C}">
                <a14:useLocalDpi xmlns:a14="http://schemas.microsoft.com/office/drawing/2010/main" val="0"/>
              </a:ext>
            </a:extLst>
          </a:blip>
          <a:srcRect l="6042" r="6042"/>
          <a:stretch>
            <a:fillRect/>
          </a:stretch>
        </p:blipFill>
        <p:spPr>
          <a:xfrm>
            <a:off x="11177093" y="139602"/>
            <a:ext cx="910149" cy="1005840"/>
          </a:xfrm>
          <a:prstGeom prst="ellipse">
            <a:avLst/>
          </a:prstGeom>
          <a:ln>
            <a:noFill/>
          </a:ln>
          <a:effectLst>
            <a:softEdge rad="112500"/>
          </a:effectLst>
        </p:spPr>
      </p:pic>
    </p:spTree>
    <p:extLst>
      <p:ext uri="{BB962C8B-B14F-4D97-AF65-F5344CB8AC3E}">
        <p14:creationId xmlns:p14="http://schemas.microsoft.com/office/powerpoint/2010/main" val="381134969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1000"/>
                                        <p:tgtEl>
                                          <p:spTgt spid="11"/>
                                        </p:tgtEl>
                                      </p:cBhvr>
                                    </p:animEffect>
                                    <p:anim calcmode="lin" valueType="num">
                                      <p:cBhvr>
                                        <p:cTn id="23" dur="1000" fill="hold"/>
                                        <p:tgtEl>
                                          <p:spTgt spid="11"/>
                                        </p:tgtEl>
                                        <p:attrNameLst>
                                          <p:attrName>ppt_x</p:attrName>
                                        </p:attrNameLst>
                                      </p:cBhvr>
                                      <p:tavLst>
                                        <p:tav tm="0">
                                          <p:val>
                                            <p:strVal val="#ppt_x"/>
                                          </p:val>
                                        </p:tav>
                                        <p:tav tm="100000">
                                          <p:val>
                                            <p:strVal val="#ppt_x"/>
                                          </p:val>
                                        </p:tav>
                                      </p:tavLst>
                                    </p:anim>
                                    <p:anim calcmode="lin" valueType="num">
                                      <p:cBhvr>
                                        <p:cTn id="24" dur="1000" fill="hold"/>
                                        <p:tgtEl>
                                          <p:spTgt spid="11"/>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1000"/>
                                        <p:tgtEl>
                                          <p:spTgt spid="15"/>
                                        </p:tgtEl>
                                      </p:cBhvr>
                                    </p:animEffect>
                                    <p:anim calcmode="lin" valueType="num">
                                      <p:cBhvr>
                                        <p:cTn id="28" dur="1000" fill="hold"/>
                                        <p:tgtEl>
                                          <p:spTgt spid="15"/>
                                        </p:tgtEl>
                                        <p:attrNameLst>
                                          <p:attrName>ppt_x</p:attrName>
                                        </p:attrNameLst>
                                      </p:cBhvr>
                                      <p:tavLst>
                                        <p:tav tm="0">
                                          <p:val>
                                            <p:strVal val="#ppt_x"/>
                                          </p:val>
                                        </p:tav>
                                        <p:tav tm="100000">
                                          <p:val>
                                            <p:strVal val="#ppt_x"/>
                                          </p:val>
                                        </p:tav>
                                      </p:tavLst>
                                    </p:anim>
                                    <p:anim calcmode="lin" valueType="num">
                                      <p:cBhvr>
                                        <p:cTn id="29" dur="1000" fill="hold"/>
                                        <p:tgtEl>
                                          <p:spTgt spid="1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1000"/>
                                        <p:tgtEl>
                                          <p:spTgt spid="18"/>
                                        </p:tgtEl>
                                      </p:cBhvr>
                                    </p:animEffect>
                                    <p:anim calcmode="lin" valueType="num">
                                      <p:cBhvr>
                                        <p:cTn id="33" dur="1000" fill="hold"/>
                                        <p:tgtEl>
                                          <p:spTgt spid="18"/>
                                        </p:tgtEl>
                                        <p:attrNameLst>
                                          <p:attrName>ppt_x</p:attrName>
                                        </p:attrNameLst>
                                      </p:cBhvr>
                                      <p:tavLst>
                                        <p:tav tm="0">
                                          <p:val>
                                            <p:strVal val="#ppt_x"/>
                                          </p:val>
                                        </p:tav>
                                        <p:tav tm="100000">
                                          <p:val>
                                            <p:strVal val="#ppt_x"/>
                                          </p:val>
                                        </p:tav>
                                      </p:tavLst>
                                    </p:anim>
                                    <p:anim calcmode="lin" valueType="num">
                                      <p:cBhvr>
                                        <p:cTn id="34" dur="1000" fill="hold"/>
                                        <p:tgtEl>
                                          <p:spTgt spid="18"/>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1000"/>
                                        <p:tgtEl>
                                          <p:spTgt spid="21"/>
                                        </p:tgtEl>
                                      </p:cBhvr>
                                    </p:animEffect>
                                    <p:anim calcmode="lin" valueType="num">
                                      <p:cBhvr>
                                        <p:cTn id="38" dur="1000" fill="hold"/>
                                        <p:tgtEl>
                                          <p:spTgt spid="21"/>
                                        </p:tgtEl>
                                        <p:attrNameLst>
                                          <p:attrName>ppt_x</p:attrName>
                                        </p:attrNameLst>
                                      </p:cBhvr>
                                      <p:tavLst>
                                        <p:tav tm="0">
                                          <p:val>
                                            <p:strVal val="#ppt_x"/>
                                          </p:val>
                                        </p:tav>
                                        <p:tav tm="100000">
                                          <p:val>
                                            <p:strVal val="#ppt_x"/>
                                          </p:val>
                                        </p:tav>
                                      </p:tavLst>
                                    </p:anim>
                                    <p:anim calcmode="lin" valueType="num">
                                      <p:cBhvr>
                                        <p:cTn id="39" dur="1000" fill="hold"/>
                                        <p:tgtEl>
                                          <p:spTgt spid="21"/>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1000"/>
                                        <p:tgtEl>
                                          <p:spTgt spid="24"/>
                                        </p:tgtEl>
                                      </p:cBhvr>
                                    </p:animEffect>
                                    <p:anim calcmode="lin" valueType="num">
                                      <p:cBhvr>
                                        <p:cTn id="43" dur="1000" fill="hold"/>
                                        <p:tgtEl>
                                          <p:spTgt spid="24"/>
                                        </p:tgtEl>
                                        <p:attrNameLst>
                                          <p:attrName>ppt_x</p:attrName>
                                        </p:attrNameLst>
                                      </p:cBhvr>
                                      <p:tavLst>
                                        <p:tav tm="0">
                                          <p:val>
                                            <p:strVal val="#ppt_x"/>
                                          </p:val>
                                        </p:tav>
                                        <p:tav tm="100000">
                                          <p:val>
                                            <p:strVal val="#ppt_x"/>
                                          </p:val>
                                        </p:tav>
                                      </p:tavLst>
                                    </p:anim>
                                    <p:anim calcmode="lin" valueType="num">
                                      <p:cBhvr>
                                        <p:cTn id="44" dur="1000" fill="hold"/>
                                        <p:tgtEl>
                                          <p:spTgt spid="24"/>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fade">
                                      <p:cBhvr>
                                        <p:cTn id="52" dur="1000"/>
                                        <p:tgtEl>
                                          <p:spTgt spid="37"/>
                                        </p:tgtEl>
                                      </p:cBhvr>
                                    </p:animEffect>
                                    <p:anim calcmode="lin" valueType="num">
                                      <p:cBhvr>
                                        <p:cTn id="53" dur="1000" fill="hold"/>
                                        <p:tgtEl>
                                          <p:spTgt spid="37"/>
                                        </p:tgtEl>
                                        <p:attrNameLst>
                                          <p:attrName>ppt_x</p:attrName>
                                        </p:attrNameLst>
                                      </p:cBhvr>
                                      <p:tavLst>
                                        <p:tav tm="0">
                                          <p:val>
                                            <p:strVal val="#ppt_x"/>
                                          </p:val>
                                        </p:tav>
                                        <p:tav tm="100000">
                                          <p:val>
                                            <p:strVal val="#ppt_x"/>
                                          </p:val>
                                        </p:tav>
                                      </p:tavLst>
                                    </p:anim>
                                    <p:anim calcmode="lin" valueType="num">
                                      <p:cBhvr>
                                        <p:cTn id="54" dur="1000" fill="hold"/>
                                        <p:tgtEl>
                                          <p:spTgt spid="37"/>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1000"/>
                                        <p:tgtEl>
                                          <p:spTgt spid="40"/>
                                        </p:tgtEl>
                                      </p:cBhvr>
                                    </p:animEffect>
                                    <p:anim calcmode="lin" valueType="num">
                                      <p:cBhvr>
                                        <p:cTn id="58" dur="1000" fill="hold"/>
                                        <p:tgtEl>
                                          <p:spTgt spid="40"/>
                                        </p:tgtEl>
                                        <p:attrNameLst>
                                          <p:attrName>ppt_x</p:attrName>
                                        </p:attrNameLst>
                                      </p:cBhvr>
                                      <p:tavLst>
                                        <p:tav tm="0">
                                          <p:val>
                                            <p:strVal val="#ppt_x"/>
                                          </p:val>
                                        </p:tav>
                                        <p:tav tm="100000">
                                          <p:val>
                                            <p:strVal val="#ppt_x"/>
                                          </p:val>
                                        </p:tav>
                                      </p:tavLst>
                                    </p:anim>
                                    <p:anim calcmode="lin" valueType="num">
                                      <p:cBhvr>
                                        <p:cTn id="59" dur="1000" fill="hold"/>
                                        <p:tgtEl>
                                          <p:spTgt spid="40"/>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1000"/>
                                        <p:tgtEl>
                                          <p:spTgt spid="42"/>
                                        </p:tgtEl>
                                      </p:cBhvr>
                                    </p:animEffect>
                                    <p:anim calcmode="lin" valueType="num">
                                      <p:cBhvr>
                                        <p:cTn id="63" dur="1000" fill="hold"/>
                                        <p:tgtEl>
                                          <p:spTgt spid="42"/>
                                        </p:tgtEl>
                                        <p:attrNameLst>
                                          <p:attrName>ppt_x</p:attrName>
                                        </p:attrNameLst>
                                      </p:cBhvr>
                                      <p:tavLst>
                                        <p:tav tm="0">
                                          <p:val>
                                            <p:strVal val="#ppt_x"/>
                                          </p:val>
                                        </p:tav>
                                        <p:tav tm="100000">
                                          <p:val>
                                            <p:strVal val="#ppt_x"/>
                                          </p:val>
                                        </p:tav>
                                      </p:tavLst>
                                    </p:anim>
                                    <p:anim calcmode="lin" valueType="num">
                                      <p:cBhvr>
                                        <p:cTn id="6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D839-B5A6-C271-4F79-10D344DFA72F}"/>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E9548B83-A763-CEC7-8C95-5A8F6D145F0A}"/>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9001F3BB-7B94-E933-E894-FA9A81D0101A}"/>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Protección frente a amenazas</a:t>
            </a:r>
          </a:p>
        </p:txBody>
      </p:sp>
      <p:sp>
        <p:nvSpPr>
          <p:cNvPr id="31" name="TextBox 30">
            <a:extLst>
              <a:ext uri="{FF2B5EF4-FFF2-40B4-BE49-F238E27FC236}">
                <a16:creationId xmlns:a16="http://schemas.microsoft.com/office/drawing/2014/main" id="{164FDFB3-9524-9500-3BE0-6945AD8D611D}"/>
              </a:ext>
            </a:extLst>
          </p:cNvPr>
          <p:cNvSpPr txBox="1"/>
          <p:nvPr/>
        </p:nvSpPr>
        <p:spPr>
          <a:xfrm>
            <a:off x="1415846" y="1715334"/>
            <a:ext cx="9202058" cy="698974"/>
          </a:xfrm>
          <a:prstGeom prst="rect">
            <a:avLst/>
          </a:prstGeom>
          <a:noFill/>
        </p:spPr>
        <p:txBody>
          <a:bodyPr wrap="square" rtlCol="0">
            <a:spAutoFit/>
          </a:bodyPr>
          <a:lstStyle/>
          <a:p>
            <a:pPr algn="ctr">
              <a:lnSpc>
                <a:spcPct val="130000"/>
              </a:lnSpc>
            </a:pPr>
            <a:r>
              <a:rPr lang="en-US" sz="1600">
                <a:hlinkClick r:id="rId3"/>
              </a:rPr>
              <a:t>Solution checker enforcement in Managed Environments - Power Platform | Microsoft Learn</a:t>
            </a:r>
            <a:r>
              <a:rPr lang="en-US" sz="1600"/>
              <a:t> </a:t>
            </a:r>
            <a:r>
              <a:rPr lang="es-ES" sz="1600">
                <a:solidFill>
                  <a:schemeClr val="bg1"/>
                </a:solidFill>
                <a:latin typeface="Segoe UI" panose="020B0502040204020203" pitchFamily="34" charset="0"/>
                <a:cs typeface="Segoe UI" panose="020B0502040204020203" pitchFamily="34" charset="0"/>
              </a:rPr>
              <a:t>–  Configurable para un entorno o un Grupo de Entornos</a:t>
            </a:r>
          </a:p>
        </p:txBody>
      </p:sp>
      <p:pic>
        <p:nvPicPr>
          <p:cNvPr id="29" name="Picture 28">
            <a:extLst>
              <a:ext uri="{FF2B5EF4-FFF2-40B4-BE49-F238E27FC236}">
                <a16:creationId xmlns:a16="http://schemas.microsoft.com/office/drawing/2014/main" id="{991A2AE3-0599-7730-8D49-2772A5F6AB63}"/>
              </a:ext>
            </a:extLst>
          </p:cNvPr>
          <p:cNvPicPr>
            <a:picLocks noChangeAspect="1"/>
          </p:cNvPicPr>
          <p:nvPr/>
        </p:nvPicPr>
        <p:blipFill>
          <a:blip r:embed="rId4"/>
          <a:stretch>
            <a:fillRect/>
          </a:stretch>
        </p:blipFill>
        <p:spPr>
          <a:xfrm>
            <a:off x="2218465" y="2414308"/>
            <a:ext cx="7596819" cy="4438628"/>
          </a:xfrm>
          <a:prstGeom prst="rect">
            <a:avLst/>
          </a:prstGeom>
        </p:spPr>
      </p:pic>
      <p:pic>
        <p:nvPicPr>
          <p:cNvPr id="4" name="Picture Placeholder 2" descr="A person smiling for a picture&#10;&#10;AI-generated content may be incorrect.">
            <a:extLst>
              <a:ext uri="{FF2B5EF4-FFF2-40B4-BE49-F238E27FC236}">
                <a16:creationId xmlns:a16="http://schemas.microsoft.com/office/drawing/2014/main" id="{9BF8D943-3E18-A027-BF57-77745264DA0C}"/>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177093" y="139602"/>
            <a:ext cx="910149" cy="1005840"/>
          </a:xfrm>
          <a:prstGeom prst="ellipse">
            <a:avLst/>
          </a:prstGeom>
          <a:ln>
            <a:noFill/>
          </a:ln>
          <a:effectLst>
            <a:softEdge rad="112500"/>
          </a:effectLst>
        </p:spPr>
      </p:pic>
    </p:spTree>
    <p:extLst>
      <p:ext uri="{BB962C8B-B14F-4D97-AF65-F5344CB8AC3E}">
        <p14:creationId xmlns:p14="http://schemas.microsoft.com/office/powerpoint/2010/main" val="90978163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1395-58FC-99CC-5D62-654595985D9A}"/>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98875EC4-C026-2A77-D445-1168514C7FD0}"/>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0D9B3C10-CFDC-FE01-99A4-8FBE87EF7A24}"/>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Protección frente a amenazas</a:t>
            </a:r>
          </a:p>
        </p:txBody>
      </p:sp>
      <p:sp>
        <p:nvSpPr>
          <p:cNvPr id="31" name="TextBox 30">
            <a:extLst>
              <a:ext uri="{FF2B5EF4-FFF2-40B4-BE49-F238E27FC236}">
                <a16:creationId xmlns:a16="http://schemas.microsoft.com/office/drawing/2014/main" id="{FA47BF14-0A48-77E6-8A40-5CD34564E746}"/>
              </a:ext>
            </a:extLst>
          </p:cNvPr>
          <p:cNvSpPr txBox="1"/>
          <p:nvPr/>
        </p:nvSpPr>
        <p:spPr>
          <a:xfrm>
            <a:off x="1415846" y="1715334"/>
            <a:ext cx="9202058" cy="704167"/>
          </a:xfrm>
          <a:prstGeom prst="rect">
            <a:avLst/>
          </a:prstGeom>
          <a:noFill/>
        </p:spPr>
        <p:txBody>
          <a:bodyPr wrap="square" rtlCol="0">
            <a:spAutoFit/>
          </a:bodyPr>
          <a:lstStyle/>
          <a:p>
            <a:pPr algn="ctr">
              <a:lnSpc>
                <a:spcPct val="130000"/>
              </a:lnSpc>
            </a:pPr>
            <a:r>
              <a:rPr lang="en-US" sz="1600">
                <a:hlinkClick r:id="rId3"/>
              </a:rPr>
              <a:t>Enable external threat detection and protection for Copilot Studio custom agents (preview) - Microsoft Copilot Studio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8F5B7851-4FB7-0CB9-CC38-47CFE06A7327}"/>
              </a:ext>
            </a:extLst>
          </p:cNvPr>
          <p:cNvPicPr>
            <a:picLocks noChangeAspect="1"/>
          </p:cNvPicPr>
          <p:nvPr/>
        </p:nvPicPr>
        <p:blipFill>
          <a:blip r:embed="rId4"/>
          <a:stretch>
            <a:fillRect/>
          </a:stretch>
        </p:blipFill>
        <p:spPr>
          <a:xfrm>
            <a:off x="2303736" y="2368011"/>
            <a:ext cx="7667622" cy="4489989"/>
          </a:xfrm>
          <a:prstGeom prst="rect">
            <a:avLst/>
          </a:prstGeom>
        </p:spPr>
      </p:pic>
      <p:sp>
        <p:nvSpPr>
          <p:cNvPr id="4" name="Speech Bubble: Rectangle with Corners Rounded 3">
            <a:extLst>
              <a:ext uri="{FF2B5EF4-FFF2-40B4-BE49-F238E27FC236}">
                <a16:creationId xmlns:a16="http://schemas.microsoft.com/office/drawing/2014/main" id="{BB3CE11F-78B4-6117-4115-5FA87ED1441D}"/>
              </a:ext>
            </a:extLst>
          </p:cNvPr>
          <p:cNvSpPr/>
          <p:nvPr/>
        </p:nvSpPr>
        <p:spPr>
          <a:xfrm>
            <a:off x="659958" y="3916068"/>
            <a:ext cx="1849562" cy="657181"/>
          </a:xfrm>
          <a:prstGeom prst="wedgeRoundRectCallout">
            <a:avLst>
              <a:gd name="adj1" fmla="val 69340"/>
              <a:gd name="adj2" fmla="val -6373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Acceso</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a</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Thread Detection</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settings</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5" name="Flowchart: Connector 4">
            <a:extLst>
              <a:ext uri="{FF2B5EF4-FFF2-40B4-BE49-F238E27FC236}">
                <a16:creationId xmlns:a16="http://schemas.microsoft.com/office/drawing/2014/main" id="{34339C06-DDC4-5543-D79E-CA15E8531615}"/>
              </a:ext>
            </a:extLst>
          </p:cNvPr>
          <p:cNvSpPr/>
          <p:nvPr/>
        </p:nvSpPr>
        <p:spPr>
          <a:xfrm>
            <a:off x="1378999" y="467806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6" name="Speech Bubble: Rectangle with Corners Rounded 5">
            <a:extLst>
              <a:ext uri="{FF2B5EF4-FFF2-40B4-BE49-F238E27FC236}">
                <a16:creationId xmlns:a16="http://schemas.microsoft.com/office/drawing/2014/main" id="{87171D88-B269-1D54-F7A2-5EACC43D2EA6}"/>
              </a:ext>
            </a:extLst>
          </p:cNvPr>
          <p:cNvSpPr/>
          <p:nvPr/>
        </p:nvSpPr>
        <p:spPr>
          <a:xfrm>
            <a:off x="1056324" y="2523504"/>
            <a:ext cx="2494824" cy="657180"/>
          </a:xfrm>
          <a:prstGeom prst="wedgeRoundRectCallout">
            <a:avLst>
              <a:gd name="adj1" fmla="val 66939"/>
              <a:gd name="adj2" fmla="val 32993"/>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err="1">
                <a:solidFill>
                  <a:prstClr val="white"/>
                </a:solidFill>
                <a:latin typeface="Calibri" panose="020F0502020204030204"/>
                <a:cs typeface="Segoe UI" panose="020B0502040204020203" pitchFamily="34" charset="0"/>
              </a:rPr>
              <a:t>Acceso</a:t>
            </a:r>
            <a:r>
              <a:rPr lang="en-US" sz="1600" noProof="0">
                <a:solidFill>
                  <a:prstClr val="white"/>
                </a:solidFill>
                <a:latin typeface="Calibri" panose="020F0502020204030204"/>
                <a:cs typeface="Segoe UI" panose="020B0502040204020203" pitchFamily="34" charset="0"/>
              </a:rPr>
              <a:t> a Additional Thread Detection</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7" name="Flowchart: Connector 6">
            <a:extLst>
              <a:ext uri="{FF2B5EF4-FFF2-40B4-BE49-F238E27FC236}">
                <a16:creationId xmlns:a16="http://schemas.microsoft.com/office/drawing/2014/main" id="{7FA5B086-FE83-E976-2271-DAE934F2B0DA}"/>
              </a:ext>
            </a:extLst>
          </p:cNvPr>
          <p:cNvSpPr/>
          <p:nvPr/>
        </p:nvSpPr>
        <p:spPr>
          <a:xfrm>
            <a:off x="2097996" y="329292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8" name="Speech Bubble: Rectangle with Corners Rounded 7">
            <a:extLst>
              <a:ext uri="{FF2B5EF4-FFF2-40B4-BE49-F238E27FC236}">
                <a16:creationId xmlns:a16="http://schemas.microsoft.com/office/drawing/2014/main" id="{6A2CD5D2-5C96-F8D0-AAB4-988E8133E466}"/>
              </a:ext>
            </a:extLst>
          </p:cNvPr>
          <p:cNvSpPr/>
          <p:nvPr/>
        </p:nvSpPr>
        <p:spPr>
          <a:xfrm>
            <a:off x="8216490" y="4699469"/>
            <a:ext cx="2494824"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Configuraciones</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del</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Sistema </a:t>
            </a:r>
            <a:r>
              <a:rPr kumimoji="0" lang="en-US" sz="1600" b="0" i="0" u="none" strike="noStrike" kern="1200" cap="none" spc="0" normalizeH="0" noProof="0" err="1">
                <a:ln>
                  <a:noFill/>
                </a:ln>
                <a:solidFill>
                  <a:prstClr val="white"/>
                </a:solidFill>
                <a:effectLst/>
                <a:uLnTx/>
                <a:uFillTx/>
                <a:latin typeface="Calibri" panose="020F0502020204030204"/>
                <a:ea typeface="+mn-ea"/>
                <a:cs typeface="Segoe UI" panose="020B0502040204020203" pitchFamily="34" charset="0"/>
              </a:rPr>
              <a:t>Externo</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de </a:t>
            </a:r>
            <a:r>
              <a:rPr kumimoji="0" lang="en-US" sz="1600" b="0" i="0" u="none" strike="noStrike" kern="1200" cap="none" spc="0" normalizeH="0" noProof="0" err="1">
                <a:ln>
                  <a:noFill/>
                </a:ln>
                <a:solidFill>
                  <a:prstClr val="white"/>
                </a:solidFill>
                <a:effectLst/>
                <a:uLnTx/>
                <a:uFillTx/>
                <a:latin typeface="Calibri" panose="020F0502020204030204"/>
                <a:ea typeface="+mn-ea"/>
                <a:cs typeface="Segoe UI" panose="020B0502040204020203" pitchFamily="34" charset="0"/>
              </a:rPr>
              <a:t>Detección</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de </a:t>
            </a:r>
            <a:r>
              <a:rPr kumimoji="0" lang="en-US" sz="1600" b="0" i="0" u="none" strike="noStrike" kern="1200" cap="none" spc="0" normalizeH="0" noProof="0" err="1">
                <a:ln>
                  <a:noFill/>
                </a:ln>
                <a:solidFill>
                  <a:prstClr val="white"/>
                </a:solidFill>
                <a:effectLst/>
                <a:uLnTx/>
                <a:uFillTx/>
                <a:latin typeface="Calibri" panose="020F0502020204030204"/>
                <a:ea typeface="+mn-ea"/>
                <a:cs typeface="Segoe UI" panose="020B0502040204020203" pitchFamily="34" charset="0"/>
              </a:rPr>
              <a:t>Amenazas</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9" name="Flowchart: Connector 8">
            <a:extLst>
              <a:ext uri="{FF2B5EF4-FFF2-40B4-BE49-F238E27FC236}">
                <a16:creationId xmlns:a16="http://schemas.microsoft.com/office/drawing/2014/main" id="{06C9FE4F-4197-DBC9-CA4D-772168A8A92E}"/>
              </a:ext>
            </a:extLst>
          </p:cNvPr>
          <p:cNvSpPr/>
          <p:nvPr/>
        </p:nvSpPr>
        <p:spPr>
          <a:xfrm>
            <a:off x="10807290" y="4888595"/>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12" name="Picture Placeholder 2" descr="A person smiling for a picture&#10;&#10;AI-generated content may be incorrect.">
            <a:extLst>
              <a:ext uri="{FF2B5EF4-FFF2-40B4-BE49-F238E27FC236}">
                <a16:creationId xmlns:a16="http://schemas.microsoft.com/office/drawing/2014/main" id="{FE9EC2A8-3E7B-A1FC-5028-F4E7EA8E304B}"/>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117828" y="139602"/>
            <a:ext cx="910149" cy="1005840"/>
          </a:xfrm>
          <a:prstGeom prst="ellipse">
            <a:avLst/>
          </a:prstGeom>
          <a:ln>
            <a:noFill/>
          </a:ln>
          <a:effectLst>
            <a:softEdge rad="112500"/>
          </a:effectLst>
        </p:spPr>
      </p:pic>
    </p:spTree>
    <p:extLst>
      <p:ext uri="{BB962C8B-B14F-4D97-AF65-F5344CB8AC3E}">
        <p14:creationId xmlns:p14="http://schemas.microsoft.com/office/powerpoint/2010/main" val="766473206"/>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FA542-094D-8A74-CB1E-B0B0B78A9CAB}"/>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5EED037C-9AF4-D5AB-1D3C-0B98AB42A7C2}"/>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860E6863-A990-0865-4151-9278A6823F83}"/>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Protección frente a amenazas</a:t>
            </a:r>
          </a:p>
        </p:txBody>
      </p:sp>
      <p:sp>
        <p:nvSpPr>
          <p:cNvPr id="31" name="TextBox 30">
            <a:extLst>
              <a:ext uri="{FF2B5EF4-FFF2-40B4-BE49-F238E27FC236}">
                <a16:creationId xmlns:a16="http://schemas.microsoft.com/office/drawing/2014/main" id="{6816B62F-7015-18BF-EF1D-6132AB25FA97}"/>
              </a:ext>
            </a:extLst>
          </p:cNvPr>
          <p:cNvSpPr txBox="1"/>
          <p:nvPr/>
        </p:nvSpPr>
        <p:spPr>
          <a:xfrm>
            <a:off x="1415846" y="1715334"/>
            <a:ext cx="9202058" cy="704167"/>
          </a:xfrm>
          <a:prstGeom prst="rect">
            <a:avLst/>
          </a:prstGeom>
          <a:noFill/>
        </p:spPr>
        <p:txBody>
          <a:bodyPr wrap="square" rtlCol="0">
            <a:spAutoFit/>
          </a:bodyPr>
          <a:lstStyle/>
          <a:p>
            <a:pPr algn="ctr">
              <a:lnSpc>
                <a:spcPct val="130000"/>
              </a:lnSpc>
            </a:pPr>
            <a:r>
              <a:rPr lang="en-US" sz="1600">
                <a:hlinkClick r:id="rId3"/>
              </a:rPr>
              <a:t>Enable external threat detection and protection for Copilot Studio custom agents (preview) - Microsoft Copilot Studio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1026" name="Picture 2" descr="Screenshot that shows how to turn on Real time agent protection during runtime in the Defender portal.">
            <a:extLst>
              <a:ext uri="{FF2B5EF4-FFF2-40B4-BE49-F238E27FC236}">
                <a16:creationId xmlns:a16="http://schemas.microsoft.com/office/drawing/2014/main" id="{ABBBEF75-CEC4-4B94-07D2-7597F48CBE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419500"/>
            <a:ext cx="8725246" cy="431149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33EA9B2B-CAAE-4EE2-AA3D-0CCA55FACED1}"/>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092431" y="139602"/>
            <a:ext cx="910149" cy="1005840"/>
          </a:xfrm>
          <a:prstGeom prst="ellipse">
            <a:avLst/>
          </a:prstGeom>
          <a:ln>
            <a:noFill/>
          </a:ln>
          <a:effectLst>
            <a:softEdge rad="112500"/>
          </a:effectLst>
        </p:spPr>
      </p:pic>
    </p:spTree>
    <p:extLst>
      <p:ext uri="{BB962C8B-B14F-4D97-AF65-F5344CB8AC3E}">
        <p14:creationId xmlns:p14="http://schemas.microsoft.com/office/powerpoint/2010/main" val="84978840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BD5D6-481D-4B35-C28E-16F463E338D3}"/>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853B7414-BF90-8B20-BF91-4B17139D46FB}"/>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D2C7E799-EED8-FACE-3B4B-6A6EF3A1A2E0}"/>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Protección frente a amenazas</a:t>
            </a:r>
          </a:p>
        </p:txBody>
      </p:sp>
      <p:sp>
        <p:nvSpPr>
          <p:cNvPr id="31" name="TextBox 30">
            <a:extLst>
              <a:ext uri="{FF2B5EF4-FFF2-40B4-BE49-F238E27FC236}">
                <a16:creationId xmlns:a16="http://schemas.microsoft.com/office/drawing/2014/main" id="{7ACBD403-4A7B-3FD3-ED76-B6A1880A3C7D}"/>
              </a:ext>
            </a:extLst>
          </p:cNvPr>
          <p:cNvSpPr txBox="1"/>
          <p:nvPr/>
        </p:nvSpPr>
        <p:spPr>
          <a:xfrm>
            <a:off x="1415846" y="1715334"/>
            <a:ext cx="9202058" cy="704167"/>
          </a:xfrm>
          <a:prstGeom prst="rect">
            <a:avLst/>
          </a:prstGeom>
          <a:noFill/>
        </p:spPr>
        <p:txBody>
          <a:bodyPr wrap="square" rtlCol="0">
            <a:spAutoFit/>
          </a:bodyPr>
          <a:lstStyle/>
          <a:p>
            <a:pPr algn="ctr">
              <a:lnSpc>
                <a:spcPct val="130000"/>
              </a:lnSpc>
            </a:pPr>
            <a:r>
              <a:rPr lang="en-US" sz="1600">
                <a:hlinkClick r:id="rId3"/>
              </a:rPr>
              <a:t>Real-time protection during agent runtime for Microsoft Copilot Studio AI agents (Preview) - Microsoft Defender for Cloud Apps | Microsoft Learn</a:t>
            </a:r>
            <a:endParaRPr lang="es-ES" sz="1600" noProof="0">
              <a:solidFill>
                <a:schemeClr val="bg1"/>
              </a:solidFill>
              <a:latin typeface="Segoe UI" panose="020B0502040204020203" pitchFamily="34" charset="0"/>
              <a:cs typeface="Segoe UI" panose="020B0502040204020203" pitchFamily="34" charset="0"/>
            </a:endParaRPr>
          </a:p>
        </p:txBody>
      </p:sp>
      <p:pic>
        <p:nvPicPr>
          <p:cNvPr id="3" name="Picture 2">
            <a:extLst>
              <a:ext uri="{FF2B5EF4-FFF2-40B4-BE49-F238E27FC236}">
                <a16:creationId xmlns:a16="http://schemas.microsoft.com/office/drawing/2014/main" id="{243DFC02-8D11-05D7-1704-0743164487A0}"/>
              </a:ext>
            </a:extLst>
          </p:cNvPr>
          <p:cNvPicPr>
            <a:picLocks noChangeAspect="1"/>
          </p:cNvPicPr>
          <p:nvPr/>
        </p:nvPicPr>
        <p:blipFill>
          <a:blip r:embed="rId4"/>
          <a:stretch>
            <a:fillRect/>
          </a:stretch>
        </p:blipFill>
        <p:spPr>
          <a:xfrm>
            <a:off x="1938866" y="2523504"/>
            <a:ext cx="8536743" cy="4249829"/>
          </a:xfrm>
          <a:prstGeom prst="rect">
            <a:avLst/>
          </a:prstGeom>
        </p:spPr>
      </p:pic>
      <p:sp>
        <p:nvSpPr>
          <p:cNvPr id="4" name="Speech Bubble: Rectangle with Corners Rounded 3">
            <a:extLst>
              <a:ext uri="{FF2B5EF4-FFF2-40B4-BE49-F238E27FC236}">
                <a16:creationId xmlns:a16="http://schemas.microsoft.com/office/drawing/2014/main" id="{108D8667-8FDE-0C38-C017-2645A44AE716}"/>
              </a:ext>
            </a:extLst>
          </p:cNvPr>
          <p:cNvSpPr/>
          <p:nvPr/>
        </p:nvSpPr>
        <p:spPr>
          <a:xfrm>
            <a:off x="659958" y="3916068"/>
            <a:ext cx="1849562" cy="657181"/>
          </a:xfrm>
          <a:prstGeom prst="wedgeRoundRectCallout">
            <a:avLst>
              <a:gd name="adj1" fmla="val 69340"/>
              <a:gd name="adj2" fmla="val -63731"/>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Acceso</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a</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Thread Detection</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settings</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5" name="Flowchart: Connector 4">
            <a:extLst>
              <a:ext uri="{FF2B5EF4-FFF2-40B4-BE49-F238E27FC236}">
                <a16:creationId xmlns:a16="http://schemas.microsoft.com/office/drawing/2014/main" id="{38F38876-090D-18F9-5A7E-71C333265C9C}"/>
              </a:ext>
            </a:extLst>
          </p:cNvPr>
          <p:cNvSpPr/>
          <p:nvPr/>
        </p:nvSpPr>
        <p:spPr>
          <a:xfrm>
            <a:off x="1378999" y="4678068"/>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1</a:t>
            </a:r>
            <a:endParaRPr lang="en-US" sz="1400"/>
          </a:p>
        </p:txBody>
      </p:sp>
      <p:sp>
        <p:nvSpPr>
          <p:cNvPr id="6" name="Speech Bubble: Rectangle with Corners Rounded 5">
            <a:extLst>
              <a:ext uri="{FF2B5EF4-FFF2-40B4-BE49-F238E27FC236}">
                <a16:creationId xmlns:a16="http://schemas.microsoft.com/office/drawing/2014/main" id="{C7AB03A7-049A-C5F9-AC8A-B6E72E682691}"/>
              </a:ext>
            </a:extLst>
          </p:cNvPr>
          <p:cNvSpPr/>
          <p:nvPr/>
        </p:nvSpPr>
        <p:spPr>
          <a:xfrm>
            <a:off x="1056324" y="2523504"/>
            <a:ext cx="2494824" cy="657180"/>
          </a:xfrm>
          <a:prstGeom prst="wedgeRoundRectCallout">
            <a:avLst>
              <a:gd name="adj1" fmla="val 58455"/>
              <a:gd name="adj2" fmla="val 130906"/>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noProof="0" err="1">
                <a:solidFill>
                  <a:prstClr val="white"/>
                </a:solidFill>
                <a:latin typeface="Calibri" panose="020F0502020204030204"/>
                <a:cs typeface="Segoe UI" panose="020B0502040204020203" pitchFamily="34" charset="0"/>
              </a:rPr>
              <a:t>Acceso</a:t>
            </a:r>
            <a:r>
              <a:rPr lang="en-US" sz="1600" noProof="0">
                <a:solidFill>
                  <a:prstClr val="white"/>
                </a:solidFill>
                <a:latin typeface="Calibri" panose="020F0502020204030204"/>
                <a:cs typeface="Segoe UI" panose="020B0502040204020203" pitchFamily="34" charset="0"/>
              </a:rPr>
              <a:t> a Microsoft Defender – Copilot Studio</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7" name="Flowchart: Connector 6">
            <a:extLst>
              <a:ext uri="{FF2B5EF4-FFF2-40B4-BE49-F238E27FC236}">
                <a16:creationId xmlns:a16="http://schemas.microsoft.com/office/drawing/2014/main" id="{BE8026B0-4157-377D-BF29-C32CD9768BEA}"/>
              </a:ext>
            </a:extLst>
          </p:cNvPr>
          <p:cNvSpPr/>
          <p:nvPr/>
        </p:nvSpPr>
        <p:spPr>
          <a:xfrm>
            <a:off x="2097996" y="3292929"/>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2</a:t>
            </a:r>
            <a:endParaRPr lang="en-US" sz="1400"/>
          </a:p>
        </p:txBody>
      </p:sp>
      <p:sp>
        <p:nvSpPr>
          <p:cNvPr id="8" name="Speech Bubble: Rectangle with Corners Rounded 7">
            <a:extLst>
              <a:ext uri="{FF2B5EF4-FFF2-40B4-BE49-F238E27FC236}">
                <a16:creationId xmlns:a16="http://schemas.microsoft.com/office/drawing/2014/main" id="{5E69D8C7-78A0-A339-10DB-FE268C8D65BC}"/>
              </a:ext>
            </a:extLst>
          </p:cNvPr>
          <p:cNvSpPr/>
          <p:nvPr/>
        </p:nvSpPr>
        <p:spPr>
          <a:xfrm>
            <a:off x="8123080" y="3429000"/>
            <a:ext cx="2494824" cy="789733"/>
          </a:xfrm>
          <a:prstGeom prst="wedgeRoundRectCallout">
            <a:avLst>
              <a:gd name="adj1" fmla="val -75139"/>
              <a:gd name="adj2" fmla="val -27542"/>
              <a:gd name="adj3" fmla="val 16667"/>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Calibri" panose="020F0502020204030204"/>
                <a:ea typeface="+mn-ea"/>
                <a:cs typeface="Segoe UI" panose="020B0502040204020203" pitchFamily="34" charset="0"/>
              </a:rPr>
              <a:t>Habilitar</a:t>
            </a:r>
            <a:r>
              <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 Microsoft Defender para</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a:t>
            </a:r>
            <a:r>
              <a:rPr kumimoji="0" lang="en-US" sz="1600" b="0" i="0" u="none" strike="noStrike" kern="1200" cap="none" spc="0" normalizeH="0" noProof="0" err="1">
                <a:ln>
                  <a:noFill/>
                </a:ln>
                <a:solidFill>
                  <a:prstClr val="white"/>
                </a:solidFill>
                <a:effectLst/>
                <a:uLnTx/>
                <a:uFillTx/>
                <a:latin typeface="Calibri" panose="020F0502020204030204"/>
                <a:ea typeface="+mn-ea"/>
                <a:cs typeface="Segoe UI" panose="020B0502040204020203" pitchFamily="34" charset="0"/>
              </a:rPr>
              <a:t>Agentes</a:t>
            </a:r>
            <a:r>
              <a:rPr kumimoji="0" lang="en-US" sz="1600" b="0" i="0" u="none" strike="noStrike" kern="1200" cap="none" spc="0" normalizeH="0" noProof="0">
                <a:ln>
                  <a:noFill/>
                </a:ln>
                <a:solidFill>
                  <a:prstClr val="white"/>
                </a:solidFill>
                <a:effectLst/>
                <a:uLnTx/>
                <a:uFillTx/>
                <a:latin typeface="Calibri" panose="020F0502020204030204"/>
                <a:ea typeface="+mn-ea"/>
                <a:cs typeface="Segoe UI" panose="020B0502040204020203" pitchFamily="34" charset="0"/>
              </a:rPr>
              <a:t> de Copilot Studio</a:t>
            </a:r>
            <a:endParaRPr kumimoji="0" lang="en-US" sz="16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endParaRPr>
          </a:p>
        </p:txBody>
      </p:sp>
      <p:sp>
        <p:nvSpPr>
          <p:cNvPr id="9" name="Flowchart: Connector 8">
            <a:extLst>
              <a:ext uri="{FF2B5EF4-FFF2-40B4-BE49-F238E27FC236}">
                <a16:creationId xmlns:a16="http://schemas.microsoft.com/office/drawing/2014/main" id="{ECD1BA48-2939-B5FB-4185-D3211BD052C2}"/>
              </a:ext>
            </a:extLst>
          </p:cNvPr>
          <p:cNvSpPr/>
          <p:nvPr/>
        </p:nvSpPr>
        <p:spPr>
          <a:xfrm>
            <a:off x="10713880" y="3618126"/>
            <a:ext cx="411480" cy="411480"/>
          </a:xfrm>
          <a:prstGeom prst="flowChartConnector">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400"/>
              <a:t>3</a:t>
            </a:r>
            <a:endParaRPr lang="en-US" sz="1400"/>
          </a:p>
        </p:txBody>
      </p:sp>
      <p:pic>
        <p:nvPicPr>
          <p:cNvPr id="10" name="Picture Placeholder 2" descr="A person smiling for a picture&#10;&#10;AI-generated content may be incorrect.">
            <a:extLst>
              <a:ext uri="{FF2B5EF4-FFF2-40B4-BE49-F238E27FC236}">
                <a16:creationId xmlns:a16="http://schemas.microsoft.com/office/drawing/2014/main" id="{85107DD2-0BD5-2E12-BD80-318DCFCAEE39}"/>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1100893" y="139602"/>
            <a:ext cx="910149" cy="1005840"/>
          </a:xfrm>
          <a:prstGeom prst="ellipse">
            <a:avLst/>
          </a:prstGeom>
          <a:ln>
            <a:noFill/>
          </a:ln>
          <a:effectLst>
            <a:softEdge rad="112500"/>
          </a:effectLst>
        </p:spPr>
      </p:pic>
    </p:spTree>
    <p:extLst>
      <p:ext uri="{BB962C8B-B14F-4D97-AF65-F5344CB8AC3E}">
        <p14:creationId xmlns:p14="http://schemas.microsoft.com/office/powerpoint/2010/main" val="266189652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C8F1B-3D5B-53A7-5E95-AE6574CE8E8F}"/>
            </a:ext>
          </a:extLst>
        </p:cNvPr>
        <p:cNvGrpSpPr/>
        <p:nvPr/>
      </p:nvGrpSpPr>
      <p:grpSpPr>
        <a:xfrm>
          <a:off x="0" y="0"/>
          <a:ext cx="0" cy="0"/>
          <a:chOff x="0" y="0"/>
          <a:chExt cx="0" cy="0"/>
        </a:xfrm>
      </p:grpSpPr>
      <p:sp>
        <p:nvSpPr>
          <p:cNvPr id="37" name="Freeform: Shape 36">
            <a:extLst>
              <a:ext uri="{FF2B5EF4-FFF2-40B4-BE49-F238E27FC236}">
                <a16:creationId xmlns:a16="http://schemas.microsoft.com/office/drawing/2014/main" id="{752A13B9-5467-38A5-1DBD-9EEE70DC3D06}"/>
              </a:ext>
            </a:extLst>
          </p:cNvPr>
          <p:cNvSpPr/>
          <p:nvPr/>
        </p:nvSpPr>
        <p:spPr>
          <a:xfrm>
            <a:off x="8743439" y="1205772"/>
            <a:ext cx="2356359" cy="1382078"/>
          </a:xfrm>
          <a:custGeom>
            <a:avLst/>
            <a:gdLst>
              <a:gd name="connsiteX0" fmla="*/ 230351 w 2356359"/>
              <a:gd name="connsiteY0" fmla="*/ 0 h 1382078"/>
              <a:gd name="connsiteX1" fmla="*/ 2126008 w 2356359"/>
              <a:gd name="connsiteY1" fmla="*/ 0 h 1382078"/>
              <a:gd name="connsiteX2" fmla="*/ 2356359 w 2356359"/>
              <a:gd name="connsiteY2" fmla="*/ 230351 h 1382078"/>
              <a:gd name="connsiteX3" fmla="*/ 2356359 w 2356359"/>
              <a:gd name="connsiteY3" fmla="*/ 1151727 h 1382078"/>
              <a:gd name="connsiteX4" fmla="*/ 2126008 w 2356359"/>
              <a:gd name="connsiteY4" fmla="*/ 1382078 h 1382078"/>
              <a:gd name="connsiteX5" fmla="*/ 230351 w 2356359"/>
              <a:gd name="connsiteY5" fmla="*/ 1382078 h 1382078"/>
              <a:gd name="connsiteX6" fmla="*/ 0 w 2356359"/>
              <a:gd name="connsiteY6" fmla="*/ 1151727 h 1382078"/>
              <a:gd name="connsiteX7" fmla="*/ 0 w 2356359"/>
              <a:gd name="connsiteY7" fmla="*/ 230351 h 1382078"/>
              <a:gd name="connsiteX8" fmla="*/ 230351 w 2356359"/>
              <a:gd name="connsiteY8" fmla="*/ 0 h 1382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6359" h="1382078">
                <a:moveTo>
                  <a:pt x="230351" y="0"/>
                </a:moveTo>
                <a:lnTo>
                  <a:pt x="2126008" y="0"/>
                </a:lnTo>
                <a:cubicBezTo>
                  <a:pt x="2253227" y="0"/>
                  <a:pt x="2356359" y="103132"/>
                  <a:pt x="2356359" y="230351"/>
                </a:cubicBezTo>
                <a:lnTo>
                  <a:pt x="2356359" y="1151727"/>
                </a:lnTo>
                <a:cubicBezTo>
                  <a:pt x="2356359" y="1278946"/>
                  <a:pt x="2253227" y="1382078"/>
                  <a:pt x="2126008" y="1382078"/>
                </a:cubicBezTo>
                <a:lnTo>
                  <a:pt x="230351" y="1382078"/>
                </a:lnTo>
                <a:cubicBezTo>
                  <a:pt x="103132" y="1382078"/>
                  <a:pt x="0" y="1278946"/>
                  <a:pt x="0" y="1151727"/>
                </a:cubicBezTo>
                <a:lnTo>
                  <a:pt x="0" y="230351"/>
                </a:lnTo>
                <a:cubicBezTo>
                  <a:pt x="0" y="103132"/>
                  <a:pt x="103132" y="0"/>
                  <a:pt x="230351" y="0"/>
                </a:cubicBezTo>
                <a:close/>
              </a:path>
            </a:pathLst>
          </a:cu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4" name="Group 43">
            <a:extLst>
              <a:ext uri="{FF2B5EF4-FFF2-40B4-BE49-F238E27FC236}">
                <a16:creationId xmlns:a16="http://schemas.microsoft.com/office/drawing/2014/main" id="{7ACAAD87-0DEC-5977-0C79-64373668D8C3}"/>
              </a:ext>
            </a:extLst>
          </p:cNvPr>
          <p:cNvGrpSpPr/>
          <p:nvPr/>
        </p:nvGrpSpPr>
        <p:grpSpPr>
          <a:xfrm>
            <a:off x="1098513" y="1099367"/>
            <a:ext cx="4382144" cy="1508107"/>
            <a:chOff x="1092200" y="1859895"/>
            <a:chExt cx="4382144" cy="1508105"/>
          </a:xfrm>
        </p:grpSpPr>
        <p:sp>
          <p:nvSpPr>
            <p:cNvPr id="45" name="TextBox 44">
              <a:extLst>
                <a:ext uri="{FF2B5EF4-FFF2-40B4-BE49-F238E27FC236}">
                  <a16:creationId xmlns:a16="http://schemas.microsoft.com/office/drawing/2014/main" id="{2F10AB6B-5254-5615-3480-19E6294DEAF4}"/>
                </a:ext>
              </a:extLst>
            </p:cNvPr>
            <p:cNvSpPr txBox="1"/>
            <p:nvPr/>
          </p:nvSpPr>
          <p:spPr>
            <a:xfrm>
              <a:off x="1092200" y="2167672"/>
              <a:ext cx="4382144" cy="1200328"/>
            </a:xfrm>
            <a:prstGeom prst="rect">
              <a:avLst/>
            </a:prstGeom>
            <a:noFill/>
          </p:spPr>
          <p:txBody>
            <a:bodyPr wrap="square" rtlCol="0">
              <a:spAutoFit/>
            </a:bodyPr>
            <a:lstStyle/>
            <a:p>
              <a:r>
                <a:rPr lang="es-ES" sz="3600" b="1" noProof="0">
                  <a:solidFill>
                    <a:schemeClr val="bg1"/>
                  </a:solidFill>
                  <a:latin typeface="+mj-lt"/>
                  <a:cs typeface="Poppins ExtraBold" panose="00000900000000000000" pitchFamily="2" charset="0"/>
                </a:rPr>
                <a:t>Protección frente a amenazas</a:t>
              </a:r>
            </a:p>
          </p:txBody>
        </p:sp>
        <p:grpSp>
          <p:nvGrpSpPr>
            <p:cNvPr id="46" name="Group 45">
              <a:extLst>
                <a:ext uri="{FF2B5EF4-FFF2-40B4-BE49-F238E27FC236}">
                  <a16:creationId xmlns:a16="http://schemas.microsoft.com/office/drawing/2014/main" id="{E68565E2-594E-85D4-CA0F-1AC6F3B69CC7}"/>
                </a:ext>
              </a:extLst>
            </p:cNvPr>
            <p:cNvGrpSpPr/>
            <p:nvPr/>
          </p:nvGrpSpPr>
          <p:grpSpPr>
            <a:xfrm>
              <a:off x="1190922" y="1859895"/>
              <a:ext cx="3089364" cy="338554"/>
              <a:chOff x="1630681" y="1859895"/>
              <a:chExt cx="3089364" cy="338554"/>
            </a:xfrm>
          </p:grpSpPr>
          <p:sp>
            <p:nvSpPr>
              <p:cNvPr id="47" name="TextBox 46">
                <a:extLst>
                  <a:ext uri="{FF2B5EF4-FFF2-40B4-BE49-F238E27FC236}">
                    <a16:creationId xmlns:a16="http://schemas.microsoft.com/office/drawing/2014/main" id="{61B048F0-0463-6417-E69A-C70B274A7CC6}"/>
                  </a:ext>
                </a:extLst>
              </p:cNvPr>
              <p:cNvSpPr txBox="1"/>
              <p:nvPr/>
            </p:nvSpPr>
            <p:spPr>
              <a:xfrm>
                <a:off x="2013833" y="1859895"/>
                <a:ext cx="2706212" cy="338554"/>
              </a:xfrm>
              <a:prstGeom prst="rect">
                <a:avLst/>
              </a:prstGeom>
              <a:noFill/>
            </p:spPr>
            <p:txBody>
              <a:bodyPr wrap="square" rtlCol="0">
                <a:spAutoFit/>
              </a:bodyPr>
              <a:lstStyle/>
              <a:p>
                <a:r>
                  <a:rPr lang="en-US" sz="1600" b="1">
                    <a:solidFill>
                      <a:schemeClr val="bg1"/>
                    </a:solidFill>
                    <a:latin typeface="+mj-lt"/>
                    <a:cs typeface="Poppins ExtraBold" panose="00000900000000000000" pitchFamily="2" charset="0"/>
                  </a:rPr>
                  <a:t>DEMO #5</a:t>
                </a:r>
                <a:endParaRPr lang="en-GB" sz="1600" b="1">
                  <a:solidFill>
                    <a:schemeClr val="bg1"/>
                  </a:solidFill>
                  <a:latin typeface="+mj-lt"/>
                  <a:cs typeface="Poppins ExtraBold" panose="00000900000000000000" pitchFamily="2" charset="0"/>
                </a:endParaRPr>
              </a:p>
            </p:txBody>
          </p:sp>
          <p:cxnSp>
            <p:nvCxnSpPr>
              <p:cNvPr id="48" name="Straight Connector 47">
                <a:extLst>
                  <a:ext uri="{FF2B5EF4-FFF2-40B4-BE49-F238E27FC236}">
                    <a16:creationId xmlns:a16="http://schemas.microsoft.com/office/drawing/2014/main" id="{7294521C-A016-5AF8-7428-6857AD6D8811}"/>
                  </a:ext>
                </a:extLst>
              </p:cNvPr>
              <p:cNvCxnSpPr>
                <a:cxnSpLocks/>
              </p:cNvCxnSpPr>
              <p:nvPr/>
            </p:nvCxnSpPr>
            <p:spPr>
              <a:xfrm flipH="1">
                <a:off x="1630681" y="2006163"/>
                <a:ext cx="297179" cy="1"/>
              </a:xfrm>
              <a:prstGeom prst="line">
                <a:avLst/>
              </a:prstGeom>
              <a:ln w="28575" cap="rnd">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9" name="Picture 18" descr="Minion clipart transparent background, Minion transparent background  Transparent FREE for download on WebStockReview 2021">
            <a:extLst>
              <a:ext uri="{FF2B5EF4-FFF2-40B4-BE49-F238E27FC236}">
                <a16:creationId xmlns:a16="http://schemas.microsoft.com/office/drawing/2014/main" id="{E900F38E-46DC-7823-4FCC-D9D9CAF189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41" y="532342"/>
            <a:ext cx="4492646" cy="52582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Profile photo of Enrique Arribas Bueno">
            <a:extLst>
              <a:ext uri="{FF2B5EF4-FFF2-40B4-BE49-F238E27FC236}">
                <a16:creationId xmlns:a16="http://schemas.microsoft.com/office/drawing/2014/main" id="{EFF21E64-88B9-6B66-0FDF-D701BB8F44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87100" y="139602"/>
            <a:ext cx="1005840" cy="100584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 name="Picture Placeholder 2" descr="A person smiling for a picture&#10;&#10;AI-generated content may be incorrect.">
            <a:extLst>
              <a:ext uri="{FF2B5EF4-FFF2-40B4-BE49-F238E27FC236}">
                <a16:creationId xmlns:a16="http://schemas.microsoft.com/office/drawing/2014/main" id="{6459F018-5E65-5E69-EBDD-AB1C12BC1C07}"/>
              </a:ext>
            </a:extLst>
          </p:cNvPr>
          <p:cNvPicPr>
            <a:picLocks noChangeAspect="1"/>
          </p:cNvPicPr>
          <p:nvPr/>
        </p:nvPicPr>
        <p:blipFill>
          <a:blip r:embed="rId5">
            <a:extLst>
              <a:ext uri="{28A0092B-C50C-407E-A947-70E740481C1C}">
                <a14:useLocalDpi xmlns:a14="http://schemas.microsoft.com/office/drawing/2010/main" val="0"/>
              </a:ext>
            </a:extLst>
          </a:blip>
          <a:srcRect l="6042" r="6042"/>
          <a:stretch>
            <a:fillRect/>
          </a:stretch>
        </p:blipFill>
        <p:spPr>
          <a:xfrm>
            <a:off x="10186493" y="139602"/>
            <a:ext cx="910149" cy="1005840"/>
          </a:xfrm>
          <a:prstGeom prst="ellipse">
            <a:avLst/>
          </a:prstGeom>
          <a:ln>
            <a:noFill/>
          </a:ln>
          <a:effectLst>
            <a:softEdge rad="112500"/>
          </a:effectLst>
        </p:spPr>
      </p:pic>
    </p:spTree>
    <p:extLst>
      <p:ext uri="{BB962C8B-B14F-4D97-AF65-F5344CB8AC3E}">
        <p14:creationId xmlns:p14="http://schemas.microsoft.com/office/powerpoint/2010/main" val="176995516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23" presetClass="entr" presetSubtype="272"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 calcmode="lin" valueType="num">
                                      <p:cBhvr>
                                        <p:cTn id="10" dur="500" fill="hold"/>
                                        <p:tgtEl>
                                          <p:spTgt spid="44"/>
                                        </p:tgtEl>
                                        <p:attrNameLst>
                                          <p:attrName>ppt_w</p:attrName>
                                        </p:attrNameLst>
                                      </p:cBhvr>
                                      <p:tavLst>
                                        <p:tav tm="0">
                                          <p:val>
                                            <p:strVal val="2/3*#ppt_w"/>
                                          </p:val>
                                        </p:tav>
                                        <p:tav tm="100000">
                                          <p:val>
                                            <p:strVal val="#ppt_w"/>
                                          </p:val>
                                        </p:tav>
                                      </p:tavLst>
                                    </p:anim>
                                    <p:anim calcmode="lin" valueType="num">
                                      <p:cBhvr>
                                        <p:cTn id="11" dur="500" fill="hold"/>
                                        <p:tgtEl>
                                          <p:spTgt spid="44"/>
                                        </p:tgtEl>
                                        <p:attrNameLst>
                                          <p:attrName>ppt_h</p:attrName>
                                        </p:attrNameLst>
                                      </p:cBhvr>
                                      <p:tavLst>
                                        <p:tav tm="0">
                                          <p:val>
                                            <p:strVal val="2/3*#ppt_h"/>
                                          </p:val>
                                        </p:tav>
                                        <p:tav tm="100000">
                                          <p:val>
                                            <p:strVal val="#ppt_h"/>
                                          </p:val>
                                        </p:tav>
                                      </p:tavLst>
                                    </p:anim>
                                  </p:childTnLst>
                                </p:cTn>
                              </p:par>
                              <p:par>
                                <p:cTn id="12" presetID="10" presetClass="entr" presetSubtype="0" fill="hold" grpId="0" nodeType="withEffect">
                                  <p:stCondLst>
                                    <p:cond delay="1250"/>
                                  </p:stCondLst>
                                  <p:childTnLst>
                                    <p:set>
                                      <p:cBhvr>
                                        <p:cTn id="13" dur="1" fill="hold">
                                          <p:stCondLst>
                                            <p:cond delay="0"/>
                                          </p:stCondLst>
                                        </p:cTn>
                                        <p:tgtEl>
                                          <p:spTgt spid="37"/>
                                        </p:tgtEl>
                                        <p:attrNameLst>
                                          <p:attrName>style.visibility</p:attrName>
                                        </p:attrNameLst>
                                      </p:cBhvr>
                                      <p:to>
                                        <p:strVal val="visible"/>
                                      </p:to>
                                    </p:set>
                                    <p:animEffect transition="in" filter="fade">
                                      <p:cBhvr>
                                        <p:cTn id="14" dur="500"/>
                                        <p:tgtEl>
                                          <p:spTgt spid="37"/>
                                        </p:tgtEl>
                                      </p:cBhvr>
                                    </p:animEffect>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down)">
                                      <p:cBhvr>
                                        <p:cTn id="19" dur="580">
                                          <p:stCondLst>
                                            <p:cond delay="0"/>
                                          </p:stCondLst>
                                        </p:cTn>
                                        <p:tgtEl>
                                          <p:spTgt spid="9"/>
                                        </p:tgtEl>
                                      </p:cBhvr>
                                    </p:animEffect>
                                    <p:anim calcmode="lin" valueType="num">
                                      <p:cBhvr>
                                        <p:cTn id="20"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25" dur="26">
                                          <p:stCondLst>
                                            <p:cond delay="650"/>
                                          </p:stCondLst>
                                        </p:cTn>
                                        <p:tgtEl>
                                          <p:spTgt spid="9"/>
                                        </p:tgtEl>
                                      </p:cBhvr>
                                      <p:to x="100000" y="60000"/>
                                    </p:animScale>
                                    <p:animScale>
                                      <p:cBhvr>
                                        <p:cTn id="26" dur="166" decel="50000">
                                          <p:stCondLst>
                                            <p:cond delay="676"/>
                                          </p:stCondLst>
                                        </p:cTn>
                                        <p:tgtEl>
                                          <p:spTgt spid="9"/>
                                        </p:tgtEl>
                                      </p:cBhvr>
                                      <p:to x="100000" y="100000"/>
                                    </p:animScale>
                                    <p:animScale>
                                      <p:cBhvr>
                                        <p:cTn id="27" dur="26">
                                          <p:stCondLst>
                                            <p:cond delay="1312"/>
                                          </p:stCondLst>
                                        </p:cTn>
                                        <p:tgtEl>
                                          <p:spTgt spid="9"/>
                                        </p:tgtEl>
                                      </p:cBhvr>
                                      <p:to x="100000" y="80000"/>
                                    </p:animScale>
                                    <p:animScale>
                                      <p:cBhvr>
                                        <p:cTn id="28" dur="166" decel="50000">
                                          <p:stCondLst>
                                            <p:cond delay="1338"/>
                                          </p:stCondLst>
                                        </p:cTn>
                                        <p:tgtEl>
                                          <p:spTgt spid="9"/>
                                        </p:tgtEl>
                                      </p:cBhvr>
                                      <p:to x="100000" y="100000"/>
                                    </p:animScale>
                                    <p:animScale>
                                      <p:cBhvr>
                                        <p:cTn id="29" dur="26">
                                          <p:stCondLst>
                                            <p:cond delay="1642"/>
                                          </p:stCondLst>
                                        </p:cTn>
                                        <p:tgtEl>
                                          <p:spTgt spid="9"/>
                                        </p:tgtEl>
                                      </p:cBhvr>
                                      <p:to x="100000" y="90000"/>
                                    </p:animScale>
                                    <p:animScale>
                                      <p:cBhvr>
                                        <p:cTn id="30" dur="166" decel="50000">
                                          <p:stCondLst>
                                            <p:cond delay="1668"/>
                                          </p:stCondLst>
                                        </p:cTn>
                                        <p:tgtEl>
                                          <p:spTgt spid="9"/>
                                        </p:tgtEl>
                                      </p:cBhvr>
                                      <p:to x="100000" y="100000"/>
                                    </p:animScale>
                                    <p:animScale>
                                      <p:cBhvr>
                                        <p:cTn id="31" dur="26">
                                          <p:stCondLst>
                                            <p:cond delay="1808"/>
                                          </p:stCondLst>
                                        </p:cTn>
                                        <p:tgtEl>
                                          <p:spTgt spid="9"/>
                                        </p:tgtEl>
                                      </p:cBhvr>
                                      <p:to x="100000" y="95000"/>
                                    </p:animScale>
                                    <p:animScale>
                                      <p:cBhvr>
                                        <p:cTn id="32"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420B1-7112-305D-31A9-A2A195DE5409}"/>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538CB1FC-BE51-4D25-6358-72E90E749A3F}"/>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ED741121-EEA5-8572-C90C-3AC91BD9CD88}"/>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Referencias (1/3)</a:t>
            </a:r>
          </a:p>
        </p:txBody>
      </p:sp>
      <p:sp>
        <p:nvSpPr>
          <p:cNvPr id="2" name="TextBox 4">
            <a:extLst>
              <a:ext uri="{FF2B5EF4-FFF2-40B4-BE49-F238E27FC236}">
                <a16:creationId xmlns:a16="http://schemas.microsoft.com/office/drawing/2014/main" id="{4A87B16A-DD0B-6BBC-192D-B35A5D13B5CE}"/>
              </a:ext>
            </a:extLst>
          </p:cNvPr>
          <p:cNvSpPr txBox="1"/>
          <p:nvPr/>
        </p:nvSpPr>
        <p:spPr>
          <a:xfrm>
            <a:off x="708550" y="1251163"/>
            <a:ext cx="10575307" cy="5078313"/>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pPr>
            <a:r>
              <a:rPr lang="en-US">
                <a:hlinkClick r:id="rId3"/>
              </a:rPr>
              <a:t>Managed security - Power Platform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4"/>
              </a:rPr>
              <a:t>Manage your customer-managed encryption key - Power Platform | Microsoft Learn</a:t>
            </a:r>
            <a:endParaRPr lang="en-US"/>
          </a:p>
          <a:p>
            <a:pPr marL="285750" indent="-285750">
              <a:buClr>
                <a:schemeClr val="bg1"/>
              </a:buClr>
              <a:buFont typeface="Arial" panose="020B0604020202020204" pitchFamily="34" charset="0"/>
              <a:buChar char="•"/>
            </a:pPr>
            <a:endParaRPr lang="en-US"/>
          </a:p>
          <a:p>
            <a:pPr marL="285750" indent="-285750">
              <a:buClr>
                <a:schemeClr val="bg1"/>
              </a:buClr>
              <a:buFont typeface="Arial" panose="020B0604020202020204" pitchFamily="34" charset="0"/>
              <a:buChar char="•"/>
            </a:pPr>
            <a:r>
              <a:rPr lang="en-US">
                <a:hlinkClick r:id="rId5"/>
              </a:rPr>
              <a:t>Create and manage masking rules (preview) - Power Platform | Microsoft Learn</a:t>
            </a:r>
            <a:endParaRPr lang="en-US"/>
          </a:p>
          <a:p>
            <a:pPr marL="285750" indent="-285750">
              <a:buClr>
                <a:schemeClr val="bg1"/>
              </a:buClr>
              <a:buFont typeface="Arial" panose="020B0604020202020204" pitchFamily="34" charset="0"/>
              <a:buChar char="•"/>
            </a:pPr>
            <a:endParaRPr lang="en-US"/>
          </a:p>
          <a:p>
            <a:pPr marL="285750" indent="-285750">
              <a:buClr>
                <a:schemeClr val="bg1"/>
              </a:buClr>
              <a:buFont typeface="Arial" panose="020B0604020202020204" pitchFamily="34" charset="0"/>
              <a:buChar char="•"/>
            </a:pPr>
            <a:r>
              <a:rPr lang="en-US">
                <a:hlinkClick r:id="rId6"/>
              </a:rPr>
              <a:t>Connect to and manage Microsoft Dataverse in Microsoft Purview | Microsoft Learn</a:t>
            </a:r>
            <a:endParaRPr lang="en-US"/>
          </a:p>
          <a:p>
            <a:pPr marL="285750" indent="-285750">
              <a:buClr>
                <a:schemeClr val="bg1"/>
              </a:buClr>
              <a:buFont typeface="Arial" panose="020B0604020202020204" pitchFamily="34" charset="0"/>
              <a:buChar char="•"/>
            </a:pPr>
            <a:endParaRPr lang="en-US"/>
          </a:p>
          <a:p>
            <a:pPr marL="285750" indent="-285750">
              <a:buClr>
                <a:schemeClr val="bg1"/>
              </a:buClr>
              <a:buFont typeface="Arial" panose="020B0604020202020204" pitchFamily="34" charset="0"/>
              <a:buChar char="•"/>
            </a:pPr>
            <a:r>
              <a:rPr lang="en-US">
                <a:hlinkClick r:id="rId7"/>
              </a:rPr>
              <a:t>Data policies for Managed Environments - Power Platform | Microsoft Learn</a:t>
            </a:r>
            <a:endParaRPr lang="en-US"/>
          </a:p>
          <a:p>
            <a:pPr marL="285750" indent="-285750">
              <a:buClr>
                <a:schemeClr val="bg1"/>
              </a:buClr>
              <a:buFont typeface="Arial" panose="020B0604020202020204" pitchFamily="34" charset="0"/>
              <a:buChar char="•"/>
            </a:pPr>
            <a:endParaRPr lang="en-US"/>
          </a:p>
          <a:p>
            <a:pPr marL="285750" indent="-285750">
              <a:buClr>
                <a:schemeClr val="bg1"/>
              </a:buClr>
              <a:buFont typeface="Arial" panose="020B0604020202020204" pitchFamily="34" charset="0"/>
              <a:buChar char="•"/>
            </a:pPr>
            <a:r>
              <a:rPr lang="en-US">
                <a:hlinkClick r:id="rId8"/>
              </a:rPr>
              <a:t>Connector action control - Power Platform | Microsoft Learn</a:t>
            </a:r>
            <a:endParaRPr lang="en-US">
              <a:hlinkClick r:id="rId9"/>
            </a:endParaRPr>
          </a:p>
          <a:p>
            <a:pPr marL="285750" indent="-285750">
              <a:buClr>
                <a:schemeClr val="bg1"/>
              </a:buClr>
              <a:buFont typeface="Arial" panose="020B0604020202020204" pitchFamily="34" charset="0"/>
              <a:buChar char="•"/>
            </a:pPr>
            <a:endParaRPr lang="en-US">
              <a:hlinkClick r:id="rId9"/>
            </a:endParaRPr>
          </a:p>
          <a:p>
            <a:pPr marL="285750" indent="-285750">
              <a:buClr>
                <a:schemeClr val="bg1"/>
              </a:buClr>
              <a:buFont typeface="Arial" panose="020B0604020202020204" pitchFamily="34" charset="0"/>
              <a:buChar char="•"/>
            </a:pPr>
            <a:r>
              <a:rPr lang="en-US">
                <a:hlinkClick r:id="rId9"/>
              </a:rPr>
              <a:t>Connector endpoint filtering (preview) - Power Platform | Microsoft Learn</a:t>
            </a:r>
            <a:endParaRPr lang="en-US"/>
          </a:p>
          <a:p>
            <a:pPr marL="285750" indent="-285750">
              <a:buClr>
                <a:schemeClr val="bg1"/>
              </a:buClr>
              <a:buFont typeface="Arial" panose="020B0604020202020204" pitchFamily="34" charset="0"/>
              <a:buChar char="•"/>
            </a:pPr>
            <a:endParaRPr lang="en-US"/>
          </a:p>
          <a:p>
            <a:pPr marL="285750" indent="-285750">
              <a:buClr>
                <a:schemeClr val="bg1"/>
              </a:buClr>
              <a:buFont typeface="Arial" panose="020B0604020202020204" pitchFamily="34" charset="0"/>
              <a:buChar char="•"/>
            </a:pPr>
            <a:r>
              <a:rPr lang="en-US">
                <a:hlinkClick r:id="rId10"/>
              </a:rPr>
              <a:t>Virtual Network support overview - Power Platform | Microsoft Learn</a:t>
            </a:r>
            <a:endParaRPr lang="en-US"/>
          </a:p>
          <a:p>
            <a:pPr marL="285750"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lvl="8" indent="-285750">
              <a:buClr>
                <a:schemeClr val="bg1"/>
              </a:buClr>
              <a:buFont typeface="Arial" panose="020B0604020202020204" pitchFamily="34" charset="0"/>
              <a:buChar char="•"/>
            </a:pPr>
            <a:r>
              <a:rPr lang="en-US">
                <a:hlinkClick r:id="rId11"/>
              </a:rPr>
              <a:t>Identity and access management - Power Platform | Microsoft Learn</a:t>
            </a:r>
            <a:endParaRPr lang="en-US"/>
          </a:p>
          <a:p>
            <a:pPr marL="285750" lvl="8"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4223270734"/>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58"/>
                                        </p:tgtEl>
                                      </p:cBhvr>
                                    </p:animEffect>
                                    <p:animScale>
                                      <p:cBhvr>
                                        <p:cTn id="10" dur="250" autoRev="1" fill="hold"/>
                                        <p:tgtEl>
                                          <p:spTgt spid="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FE66B-3C8B-7986-4346-BF5862803494}"/>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FBC538F4-9941-06C9-5B13-A376E46BC4FF}"/>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4D633750-8BF0-8AE6-A555-2BA0FEFDA0F2}"/>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Referencias (2/3)</a:t>
            </a:r>
          </a:p>
        </p:txBody>
      </p:sp>
      <p:sp>
        <p:nvSpPr>
          <p:cNvPr id="2" name="TextBox 4">
            <a:extLst>
              <a:ext uri="{FF2B5EF4-FFF2-40B4-BE49-F238E27FC236}">
                <a16:creationId xmlns:a16="http://schemas.microsoft.com/office/drawing/2014/main" id="{9B85F4FB-D5F4-701D-577E-DE6007169200}"/>
              </a:ext>
            </a:extLst>
          </p:cNvPr>
          <p:cNvSpPr txBox="1"/>
          <p:nvPr/>
        </p:nvSpPr>
        <p:spPr>
          <a:xfrm>
            <a:off x="708550" y="1251163"/>
            <a:ext cx="10575307" cy="4247317"/>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pPr>
            <a:r>
              <a:rPr lang="en-US">
                <a:hlinkClick r:id="rId3"/>
              </a:rPr>
              <a:t>IP firewall in Power Platform environments - Power Platform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4"/>
              </a:rPr>
              <a:t>Limit sharing - Power Platform | Microsoft Learn</a:t>
            </a:r>
            <a:endParaRPr lang="en-US">
              <a:hlinkClick r:id="rId5"/>
            </a:endParaRPr>
          </a:p>
          <a:p>
            <a:pPr marL="285750" indent="-285750">
              <a:buClr>
                <a:schemeClr val="bg1"/>
              </a:buClr>
              <a:buFont typeface="Arial" panose="020B0604020202020204" pitchFamily="34" charset="0"/>
              <a:buChar char="•"/>
            </a:pPr>
            <a:endParaRPr lang="en-US">
              <a:hlinkClick r:id="rId5"/>
            </a:endParaRPr>
          </a:p>
          <a:p>
            <a:pPr marL="285750" indent="-285750">
              <a:buClr>
                <a:schemeClr val="bg1"/>
              </a:buClr>
              <a:buFont typeface="Arial" panose="020B0604020202020204" pitchFamily="34" charset="0"/>
              <a:buChar char="•"/>
            </a:pPr>
            <a:r>
              <a:rPr lang="en-US">
                <a:hlinkClick r:id="rId5"/>
              </a:rPr>
              <a:t>Safeguarding Dataverse sessions with IP cookie binding - Power Platform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6"/>
              </a:rPr>
              <a:t>Use Entra Privileged Identity Management in Power Platform admin center to manage high-privileged admin roles - Power Platform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7"/>
              </a:rPr>
              <a:t>Block access by location with Microsoft Entra Conditional Access - Power Platform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8"/>
              </a:rPr>
              <a:t>Permit or deny guest access to an environment | Microsoft Learn</a:t>
            </a: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lvl="8" indent="-285750">
              <a:buClr>
                <a:schemeClr val="bg1"/>
              </a:buClr>
              <a:buFont typeface="Arial" panose="020B0604020202020204" pitchFamily="34" charset="0"/>
              <a:buChar char="•"/>
            </a:pP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lvl="8" indent="-285750">
              <a:buClr>
                <a:schemeClr val="bg1"/>
              </a:buClr>
              <a:buFont typeface="Arial" panose="020B0604020202020204" pitchFamily="34" charset="0"/>
              <a:buChar char="•"/>
            </a:pPr>
            <a:r>
              <a:rPr lang="en-US">
                <a:hlinkClick r:id="rId9"/>
              </a:rPr>
              <a:t>Identity and access management - Power Platform | Microsoft Learn</a:t>
            </a: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3727697309"/>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58"/>
                                        </p:tgtEl>
                                      </p:cBhvr>
                                    </p:animEffect>
                                    <p:animScale>
                                      <p:cBhvr>
                                        <p:cTn id="10" dur="250" autoRev="1" fill="hold"/>
                                        <p:tgtEl>
                                          <p:spTgt spid="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48B78-F89E-4C5F-3271-98D6EEB43174}"/>
            </a:ext>
          </a:extLst>
        </p:cNvPr>
        <p:cNvGrpSpPr/>
        <p:nvPr/>
      </p:nvGrpSpPr>
      <p:grpSpPr>
        <a:xfrm>
          <a:off x="0" y="0"/>
          <a:ext cx="0" cy="0"/>
          <a:chOff x="0" y="0"/>
          <a:chExt cx="0" cy="0"/>
        </a:xfrm>
      </p:grpSpPr>
      <p:sp>
        <p:nvSpPr>
          <p:cNvPr id="58" name="Freeform: Shape 57">
            <a:extLst>
              <a:ext uri="{FF2B5EF4-FFF2-40B4-BE49-F238E27FC236}">
                <a16:creationId xmlns:a16="http://schemas.microsoft.com/office/drawing/2014/main" id="{4EA78AF1-02EA-C178-B0B8-8C8F4B1D9D26}"/>
              </a:ext>
            </a:extLst>
          </p:cNvPr>
          <p:cNvSpPr/>
          <p:nvPr/>
        </p:nvSpPr>
        <p:spPr>
          <a:xfrm rot="9153556">
            <a:off x="-706968" y="-467896"/>
            <a:ext cx="2713524" cy="1952263"/>
          </a:xfrm>
          <a:custGeom>
            <a:avLst/>
            <a:gdLst>
              <a:gd name="connsiteX0" fmla="*/ 707795 w 2105025"/>
              <a:gd name="connsiteY0" fmla="*/ 1108493 h 1514475"/>
              <a:gd name="connsiteX1" fmla="*/ 1210715 w 2105025"/>
              <a:gd name="connsiteY1" fmla="*/ 1372335 h 1514475"/>
              <a:gd name="connsiteX2" fmla="*/ 1751735 w 2105025"/>
              <a:gd name="connsiteY2" fmla="*/ 1506638 h 1514475"/>
              <a:gd name="connsiteX3" fmla="*/ 2037485 w 2105025"/>
              <a:gd name="connsiteY3" fmla="*/ 1092300 h 1514475"/>
              <a:gd name="connsiteX4" fmla="*/ 1868893 w 2105025"/>
              <a:gd name="connsiteY4" fmla="*/ 748448 h 1514475"/>
              <a:gd name="connsiteX5" fmla="*/ 2073680 w 2105025"/>
              <a:gd name="connsiteY5" fmla="*/ 426503 h 1514475"/>
              <a:gd name="connsiteX6" fmla="*/ 2037485 w 2105025"/>
              <a:gd name="connsiteY6" fmla="*/ 99795 h 1514475"/>
              <a:gd name="connsiteX7" fmla="*/ 1719350 w 2105025"/>
              <a:gd name="connsiteY7" fmla="*/ 15975 h 1514475"/>
              <a:gd name="connsiteX8" fmla="*/ 1331683 w 2105025"/>
              <a:gd name="connsiteY8" fmla="*/ 417930 h 1514475"/>
              <a:gd name="connsiteX9" fmla="*/ 288695 w 2105025"/>
              <a:gd name="connsiteY9" fmla="*/ 665580 h 1514475"/>
              <a:gd name="connsiteX10" fmla="*/ 89623 w 2105025"/>
              <a:gd name="connsiteY10" fmla="*/ 1138020 h 1514475"/>
              <a:gd name="connsiteX11" fmla="*/ 707795 w 2105025"/>
              <a:gd name="connsiteY11" fmla="*/ 1108493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05025" h="1514475">
                <a:moveTo>
                  <a:pt x="707795" y="1108493"/>
                </a:moveTo>
                <a:cubicBezTo>
                  <a:pt x="890675" y="1160880"/>
                  <a:pt x="1046885" y="1277085"/>
                  <a:pt x="1210715" y="1372335"/>
                </a:cubicBezTo>
                <a:cubicBezTo>
                  <a:pt x="1375498" y="1467585"/>
                  <a:pt x="1565045" y="1544738"/>
                  <a:pt x="1751735" y="1506638"/>
                </a:cubicBezTo>
                <a:cubicBezTo>
                  <a:pt x="1937473" y="1468538"/>
                  <a:pt x="2099398" y="1272323"/>
                  <a:pt x="2037485" y="1092300"/>
                </a:cubicBezTo>
                <a:cubicBezTo>
                  <a:pt x="1995575" y="969428"/>
                  <a:pt x="1864130" y="877988"/>
                  <a:pt x="1868893" y="748448"/>
                </a:cubicBezTo>
                <a:cubicBezTo>
                  <a:pt x="1874608" y="618908"/>
                  <a:pt x="2012720" y="540803"/>
                  <a:pt x="2073680" y="426503"/>
                </a:cubicBezTo>
                <a:cubicBezTo>
                  <a:pt x="2128925" y="323633"/>
                  <a:pt x="2113685" y="188378"/>
                  <a:pt x="2037485" y="99795"/>
                </a:cubicBezTo>
                <a:cubicBezTo>
                  <a:pt x="1961285" y="11213"/>
                  <a:pt x="1828888" y="-23077"/>
                  <a:pt x="1719350" y="15975"/>
                </a:cubicBezTo>
                <a:cubicBezTo>
                  <a:pt x="1542185" y="79793"/>
                  <a:pt x="1470748" y="290295"/>
                  <a:pt x="1331683" y="417930"/>
                </a:cubicBezTo>
                <a:cubicBezTo>
                  <a:pt x="1064030" y="663675"/>
                  <a:pt x="632548" y="548423"/>
                  <a:pt x="288695" y="665580"/>
                </a:cubicBezTo>
                <a:cubicBezTo>
                  <a:pt x="124865" y="720825"/>
                  <a:pt x="-139930" y="980858"/>
                  <a:pt x="89623" y="1138020"/>
                </a:cubicBezTo>
                <a:cubicBezTo>
                  <a:pt x="235355" y="1236128"/>
                  <a:pt x="520153" y="1054200"/>
                  <a:pt x="707795" y="1108493"/>
                </a:cubicBezTo>
                <a:close/>
              </a:path>
            </a:pathLst>
          </a:custGeom>
          <a:solidFill>
            <a:schemeClr val="accent1"/>
          </a:solidFill>
          <a:ln w="9525" cap="flat">
            <a:noFill/>
            <a:prstDash val="solid"/>
            <a:miter/>
          </a:ln>
        </p:spPr>
        <p:txBody>
          <a:bodyPr rtlCol="0" anchor="ctr"/>
          <a:lstStyle/>
          <a:p>
            <a:endParaRPr lang="en-GB"/>
          </a:p>
        </p:txBody>
      </p:sp>
      <p:sp>
        <p:nvSpPr>
          <p:cNvPr id="13" name="TextBox 12">
            <a:extLst>
              <a:ext uri="{FF2B5EF4-FFF2-40B4-BE49-F238E27FC236}">
                <a16:creationId xmlns:a16="http://schemas.microsoft.com/office/drawing/2014/main" id="{CE098E63-443E-2030-9ACA-4B7AE8F07384}"/>
              </a:ext>
            </a:extLst>
          </p:cNvPr>
          <p:cNvSpPr txBox="1"/>
          <p:nvPr/>
        </p:nvSpPr>
        <p:spPr>
          <a:xfrm>
            <a:off x="1415846" y="483723"/>
            <a:ext cx="9360311" cy="707886"/>
          </a:xfrm>
          <a:prstGeom prst="rect">
            <a:avLst/>
          </a:prstGeom>
          <a:noFill/>
        </p:spPr>
        <p:txBody>
          <a:bodyPr wrap="square" rtlCol="0">
            <a:spAutoFit/>
          </a:bodyPr>
          <a:lstStyle/>
          <a:p>
            <a:pPr algn="ctr"/>
            <a:r>
              <a:rPr lang="es-ES" sz="4000" b="1" noProof="0">
                <a:solidFill>
                  <a:schemeClr val="bg1"/>
                </a:solidFill>
                <a:latin typeface="Segoe UI" panose="020B0502040204020203" pitchFamily="34" charset="0"/>
                <a:cs typeface="Segoe UI" panose="020B0502040204020203" pitchFamily="34" charset="0"/>
              </a:rPr>
              <a:t>Referencias (3/3)</a:t>
            </a:r>
          </a:p>
        </p:txBody>
      </p:sp>
      <p:sp>
        <p:nvSpPr>
          <p:cNvPr id="2" name="TextBox 4">
            <a:extLst>
              <a:ext uri="{FF2B5EF4-FFF2-40B4-BE49-F238E27FC236}">
                <a16:creationId xmlns:a16="http://schemas.microsoft.com/office/drawing/2014/main" id="{2741084A-4F54-023B-B2F4-0B22481F3478}"/>
              </a:ext>
            </a:extLst>
          </p:cNvPr>
          <p:cNvSpPr txBox="1"/>
          <p:nvPr/>
        </p:nvSpPr>
        <p:spPr>
          <a:xfrm>
            <a:off x="708550" y="1251163"/>
            <a:ext cx="10575307" cy="3970318"/>
          </a:xfrm>
          <a:prstGeom prst="rect">
            <a:avLst/>
          </a:prstGeom>
          <a:noFill/>
        </p:spPr>
        <p:txBody>
          <a:bodyPr wrap="square" lIns="91440" tIns="45720" rIns="91440" bIns="45720" rtlCol="0" anchor="t">
            <a:spAutoFit/>
          </a:bodyPr>
          <a:lstStyle/>
          <a:p>
            <a:pPr marL="285750" indent="-285750">
              <a:buClr>
                <a:schemeClr val="bg1"/>
              </a:buClr>
              <a:buFont typeface="Arial" panose="020B0604020202020204" pitchFamily="34" charset="0"/>
              <a:buChar char="•"/>
            </a:pPr>
            <a:r>
              <a:rPr lang="en-US">
                <a:hlinkClick r:id="rId3"/>
              </a:rPr>
              <a:t>Securely access customer data using Customer Lockbox in Power Platform and Dynamics 365 - Power Platform | Microsoft Learn</a:t>
            </a:r>
            <a:endParaRPr lang="en-US"/>
          </a:p>
          <a:p>
            <a:pPr marL="285750" indent="-285750">
              <a:buClr>
                <a:schemeClr val="bg1"/>
              </a:buClr>
              <a:buFont typeface="Arial" panose="020B0604020202020204" pitchFamily="34" charset="0"/>
              <a:buChar char="•"/>
            </a:pPr>
            <a:endParaRPr lang="en-US">
              <a:hlinkClick r:id="rId4"/>
            </a:endParaRPr>
          </a:p>
          <a:p>
            <a:pPr marL="285750" indent="-285750">
              <a:buClr>
                <a:schemeClr val="bg1"/>
              </a:buClr>
              <a:buFont typeface="Arial" panose="020B0604020202020204" pitchFamily="34" charset="0"/>
              <a:buChar char="•"/>
            </a:pPr>
            <a:r>
              <a:rPr lang="en-US">
                <a:hlinkClick r:id="rId4"/>
              </a:rPr>
              <a:t>Manage Dataverse auditing - Power Platform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5"/>
              </a:rPr>
              <a:t>Solution checker enforcement in Managed Environments - Power Platform | Microsoft Learn</a:t>
            </a:r>
            <a:endParaRPr lang="en-US"/>
          </a:p>
          <a:p>
            <a:pPr marL="285750" indent="-285750">
              <a:buClr>
                <a:schemeClr val="bg1"/>
              </a:buClr>
              <a:buFont typeface="Arial" panose="020B0604020202020204" pitchFamily="34" charset="0"/>
              <a:buChar char="•"/>
            </a:pPr>
            <a:endParaRPr lang="en-US">
              <a:hlinkClick r:id="rId6"/>
            </a:endParaRPr>
          </a:p>
          <a:p>
            <a:pPr marL="285750" indent="-285750">
              <a:buClr>
                <a:schemeClr val="bg1"/>
              </a:buClr>
              <a:buFont typeface="Arial" panose="020B0604020202020204" pitchFamily="34" charset="0"/>
              <a:buChar char="•"/>
            </a:pPr>
            <a:r>
              <a:rPr lang="en-US">
                <a:hlinkClick r:id="rId6"/>
              </a:rPr>
              <a:t>Microsoft Sentinel Solution for MS Business Apps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7"/>
              </a:rPr>
              <a:t>Enable external threat detection and protection for Copilot Studio custom agents (preview) - Microsoft Copilot Studio | Microsoft Learn</a:t>
            </a:r>
            <a:endParaRPr lang="en-US"/>
          </a:p>
          <a:p>
            <a:pPr marL="285750" indent="-285750">
              <a:buClr>
                <a:schemeClr val="bg1"/>
              </a:buClr>
              <a:buFont typeface="Arial" panose="020B0604020202020204" pitchFamily="34" charset="0"/>
              <a:buChar char="•"/>
            </a:pPr>
            <a:endParaRPr lang="en-US">
              <a:solidFill>
                <a:schemeClr val="bg1"/>
              </a:solidFill>
              <a:latin typeface="Segoe UI" panose="020B0502040204020203" pitchFamily="34" charset="0"/>
              <a:ea typeface="Roboto" panose="02000000000000000000" pitchFamily="2" charset="0"/>
              <a:cs typeface="Segoe UI" panose="020B0502040204020203" pitchFamily="34" charset="0"/>
            </a:endParaRPr>
          </a:p>
          <a:p>
            <a:pPr marL="285750" indent="-285750">
              <a:buClr>
                <a:schemeClr val="bg1"/>
              </a:buClr>
              <a:buFont typeface="Arial" panose="020B0604020202020204" pitchFamily="34" charset="0"/>
              <a:buChar char="•"/>
            </a:pPr>
            <a:r>
              <a:rPr lang="en-US">
                <a:hlinkClick r:id="rId8"/>
              </a:rPr>
              <a:t>Real-time protection during agent runtime for Microsoft Copilot Studio AI agents (Preview) - Microsoft Defender for Cloud Apps | Microsoft Learn</a:t>
            </a:r>
            <a:endParaRPr lang="es-ES">
              <a:solidFill>
                <a:schemeClr val="bg1"/>
              </a:solidFill>
              <a:latin typeface="Segoe UI" panose="020B0502040204020203" pitchFamily="34" charset="0"/>
              <a:ea typeface="Roboto" panose="02000000000000000000" pitchFamily="2" charset="0"/>
              <a:cs typeface="Segoe UI" panose="020B0502040204020203" pitchFamily="34" charset="0"/>
            </a:endParaRPr>
          </a:p>
        </p:txBody>
      </p:sp>
    </p:spTree>
    <p:extLst>
      <p:ext uri="{BB962C8B-B14F-4D97-AF65-F5344CB8AC3E}">
        <p14:creationId xmlns:p14="http://schemas.microsoft.com/office/powerpoint/2010/main" val="2426068113"/>
      </p:ext>
    </p:extLst>
  </p:cSld>
  <p:clrMapOvr>
    <a:masterClrMapping/>
  </p:clrMapOvr>
  <mc:AlternateContent xmlns:mc="http://schemas.openxmlformats.org/markup-compatibility/2006" xmlns:p14="http://schemas.microsoft.com/office/powerpoint/2010/main">
    <mc:Choice Requires="p14">
      <p:transition spd="slow" p14:dur="900">
        <p:cover/>
      </p:transition>
    </mc:Choice>
    <mc:Fallback xmlns="">
      <p:transition spd="slow">
        <p:cov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26" presetClass="emph" presetSubtype="0" fill="hold" grpId="1" nodeType="withEffect">
                                  <p:stCondLst>
                                    <p:cond delay="1000"/>
                                  </p:stCondLst>
                                  <p:childTnLst>
                                    <p:animEffect transition="out" filter="fade">
                                      <p:cBhvr>
                                        <p:cTn id="9" dur="500" tmFilter="0, 0; .2, .5; .8, .5; 1, 0"/>
                                        <p:tgtEl>
                                          <p:spTgt spid="58"/>
                                        </p:tgtEl>
                                      </p:cBhvr>
                                    </p:animEffect>
                                    <p:animScale>
                                      <p:cBhvr>
                                        <p:cTn id="10" dur="250" autoRev="1" fill="hold"/>
                                        <p:tgtEl>
                                          <p:spTgt spid="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tar: 10 Points 38">
            <a:extLst>
              <a:ext uri="{FF2B5EF4-FFF2-40B4-BE49-F238E27FC236}">
                <a16:creationId xmlns:a16="http://schemas.microsoft.com/office/drawing/2014/main" id="{85395834-2B2D-4CB4-896F-282D7A2FC6D7}"/>
              </a:ext>
            </a:extLst>
          </p:cNvPr>
          <p:cNvSpPr/>
          <p:nvPr/>
        </p:nvSpPr>
        <p:spPr>
          <a:xfrm>
            <a:off x="8921091" y="886849"/>
            <a:ext cx="2594532" cy="2594532"/>
          </a:xfrm>
          <a:prstGeom prst="star10">
            <a:avLst>
              <a:gd name="adj" fmla="val 0"/>
              <a:gd name="hf" fmla="val 105146"/>
            </a:avLst>
          </a:prstGeom>
          <a:solidFill>
            <a:schemeClr val="accent1">
              <a:alpha val="0"/>
            </a:schemeClr>
          </a:solidFill>
          <a:ln w="15875">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91E81CCE-F6DF-4EA4-997F-40C0633B3C6F}"/>
              </a:ext>
            </a:extLst>
          </p:cNvPr>
          <p:cNvSpPr/>
          <p:nvPr/>
        </p:nvSpPr>
        <p:spPr>
          <a:xfrm>
            <a:off x="8831488" y="797246"/>
            <a:ext cx="2773736" cy="2773736"/>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19DE6C28-4C75-473C-894C-09A9E7BF9EA9}"/>
              </a:ext>
            </a:extLst>
          </p:cNvPr>
          <p:cNvSpPr txBox="1"/>
          <p:nvPr/>
        </p:nvSpPr>
        <p:spPr>
          <a:xfrm>
            <a:off x="726177" y="1054751"/>
            <a:ext cx="5264354" cy="2774606"/>
          </a:xfrm>
          <a:prstGeom prst="rect">
            <a:avLst/>
          </a:prstGeom>
          <a:noFill/>
        </p:spPr>
        <p:txBody>
          <a:bodyPr wrap="square" rtlCol="0">
            <a:spAutoFit/>
          </a:bodyPr>
          <a:lstStyle/>
          <a:p>
            <a:pPr>
              <a:lnSpc>
                <a:spcPct val="80000"/>
              </a:lnSpc>
            </a:pPr>
            <a:r>
              <a:rPr lang="en-GB" sz="7200" b="1">
                <a:solidFill>
                  <a:schemeClr val="bg1"/>
                </a:solidFill>
                <a:latin typeface="Segoe UI Black" panose="020B0A02040204020203" pitchFamily="34" charset="0"/>
                <a:ea typeface="Segoe UI Black" panose="020B0A02040204020203" pitchFamily="34" charset="0"/>
              </a:rPr>
              <a:t>So…</a:t>
            </a:r>
          </a:p>
          <a:p>
            <a:pPr>
              <a:lnSpc>
                <a:spcPct val="80000"/>
              </a:lnSpc>
            </a:pPr>
            <a:r>
              <a:rPr lang="en-GB" sz="7200" b="1">
                <a:solidFill>
                  <a:schemeClr val="bg1"/>
                </a:solidFill>
                <a:latin typeface="Segoe UI Black" panose="020B0A02040204020203" pitchFamily="34" charset="0"/>
                <a:ea typeface="Segoe UI Black" panose="020B0A02040204020203" pitchFamily="34" charset="0"/>
              </a:rPr>
              <a:t>Any Question?</a:t>
            </a:r>
          </a:p>
        </p:txBody>
      </p:sp>
      <p:sp>
        <p:nvSpPr>
          <p:cNvPr id="41" name="Star: 12 Points 40">
            <a:extLst>
              <a:ext uri="{FF2B5EF4-FFF2-40B4-BE49-F238E27FC236}">
                <a16:creationId xmlns:a16="http://schemas.microsoft.com/office/drawing/2014/main" id="{03EB137A-B67F-4662-9227-0AB1F27B25CA}"/>
              </a:ext>
            </a:extLst>
          </p:cNvPr>
          <p:cNvSpPr/>
          <p:nvPr/>
        </p:nvSpPr>
        <p:spPr>
          <a:xfrm>
            <a:off x="7863756" y="4759087"/>
            <a:ext cx="1205672" cy="1205672"/>
          </a:xfrm>
          <a:prstGeom prst="star12">
            <a:avLst>
              <a:gd name="adj" fmla="val 0"/>
            </a:avLst>
          </a:prstGeom>
          <a:solidFill>
            <a:schemeClr val="accent1">
              <a:alpha val="0"/>
            </a:schemeClr>
          </a:solidFill>
          <a:ln w="15875">
            <a:solidFill>
              <a:schemeClr val="bg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AF259D59-7A85-43D8-9025-C62DA2D27C04}"/>
              </a:ext>
            </a:extLst>
          </p:cNvPr>
          <p:cNvSpPr/>
          <p:nvPr/>
        </p:nvSpPr>
        <p:spPr>
          <a:xfrm>
            <a:off x="7822119" y="4717450"/>
            <a:ext cx="1288947" cy="1288947"/>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 name="Group 36">
            <a:extLst>
              <a:ext uri="{FF2B5EF4-FFF2-40B4-BE49-F238E27FC236}">
                <a16:creationId xmlns:a16="http://schemas.microsoft.com/office/drawing/2014/main" id="{91775047-077E-4C23-A4F6-6484E207ECFF}"/>
              </a:ext>
            </a:extLst>
          </p:cNvPr>
          <p:cNvGrpSpPr/>
          <p:nvPr/>
        </p:nvGrpSpPr>
        <p:grpSpPr>
          <a:xfrm rot="4450797">
            <a:off x="8682679" y="3505630"/>
            <a:ext cx="387220" cy="285107"/>
            <a:chOff x="356813" y="4713192"/>
            <a:chExt cx="301781" cy="222199"/>
          </a:xfrm>
          <a:solidFill>
            <a:schemeClr val="bg1"/>
          </a:solidFill>
        </p:grpSpPr>
        <p:sp>
          <p:nvSpPr>
            <p:cNvPr id="38" name="Freeform: Shape 37">
              <a:extLst>
                <a:ext uri="{FF2B5EF4-FFF2-40B4-BE49-F238E27FC236}">
                  <a16:creationId xmlns:a16="http://schemas.microsoft.com/office/drawing/2014/main" id="{12037E5A-26A0-424B-8C24-DF8F1BFCBE38}"/>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21496141-AB54-4B2B-8B00-A78452705199}"/>
                </a:ext>
              </a:extLst>
            </p:cNvPr>
            <p:cNvSpPr/>
            <p:nvPr/>
          </p:nvSpPr>
          <p:spPr>
            <a:xfrm>
              <a:off x="611318" y="4713192"/>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pic>
        <p:nvPicPr>
          <p:cNvPr id="5" name="Marcador de posición de imagen 4" descr="Un grupo de personas frente a una tienda&#10;&#10;El contenido generado por IA puede ser incorrecto.">
            <a:extLst>
              <a:ext uri="{FF2B5EF4-FFF2-40B4-BE49-F238E27FC236}">
                <a16:creationId xmlns:a16="http://schemas.microsoft.com/office/drawing/2014/main" id="{1CA2C2ED-CF84-A487-7C79-98519A432348}"/>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3284" r="23284"/>
          <a:stretch>
            <a:fillRect/>
          </a:stretch>
        </p:blipFill>
        <p:spPr>
          <a:xfrm>
            <a:off x="5585545" y="488117"/>
            <a:ext cx="4095750" cy="5110163"/>
          </a:xfrm>
          <a:custGeom>
            <a:avLst/>
            <a:gdLst>
              <a:gd name="connsiteX0" fmla="*/ 0 w 4095648"/>
              <a:gd name="connsiteY0" fmla="*/ 0 h 5109831"/>
              <a:gd name="connsiteX1" fmla="*/ 4095648 w 4095648"/>
              <a:gd name="connsiteY1" fmla="*/ 0 h 5109831"/>
              <a:gd name="connsiteX2" fmla="*/ 4095648 w 4095648"/>
              <a:gd name="connsiteY2" fmla="*/ 2816574 h 5109831"/>
              <a:gd name="connsiteX3" fmla="*/ 1802391 w 4095648"/>
              <a:gd name="connsiteY3" fmla="*/ 5109831 h 5109831"/>
              <a:gd name="connsiteX4" fmla="*/ 32803 w 4095648"/>
              <a:gd name="connsiteY4" fmla="*/ 4275299 h 5109831"/>
              <a:gd name="connsiteX5" fmla="*/ 0 w 4095648"/>
              <a:gd name="connsiteY5" fmla="*/ 4231433 h 510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648" h="5109831">
                <a:moveTo>
                  <a:pt x="0" y="0"/>
                </a:moveTo>
                <a:lnTo>
                  <a:pt x="4095648" y="0"/>
                </a:lnTo>
                <a:lnTo>
                  <a:pt x="4095648" y="2816574"/>
                </a:lnTo>
                <a:cubicBezTo>
                  <a:pt x="4095648" y="4083105"/>
                  <a:pt x="3068922" y="5109831"/>
                  <a:pt x="1802391" y="5109831"/>
                </a:cubicBezTo>
                <a:cubicBezTo>
                  <a:pt x="1089968" y="5109831"/>
                  <a:pt x="453420" y="4784969"/>
                  <a:pt x="32803" y="4275299"/>
                </a:cubicBezTo>
                <a:lnTo>
                  <a:pt x="0" y="4231433"/>
                </a:lnTo>
                <a:close/>
              </a:path>
            </a:pathLst>
          </a:custGeom>
        </p:spPr>
      </p:pic>
    </p:spTree>
    <p:extLst>
      <p:ext uri="{BB962C8B-B14F-4D97-AF65-F5344CB8AC3E}">
        <p14:creationId xmlns:p14="http://schemas.microsoft.com/office/powerpoint/2010/main" val="4077146169"/>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4C4A1-3440-CF49-4538-DB1C47AC72D9}"/>
            </a:ext>
          </a:extLst>
        </p:cNvPr>
        <p:cNvGrpSpPr/>
        <p:nvPr/>
      </p:nvGrpSpPr>
      <p:grpSpPr>
        <a:xfrm>
          <a:off x="0" y="0"/>
          <a:ext cx="0" cy="0"/>
          <a:chOff x="0" y="0"/>
          <a:chExt cx="0" cy="0"/>
        </a:xfrm>
      </p:grpSpPr>
      <p:sp>
        <p:nvSpPr>
          <p:cNvPr id="39" name="Star: 10 Points 38">
            <a:extLst>
              <a:ext uri="{FF2B5EF4-FFF2-40B4-BE49-F238E27FC236}">
                <a16:creationId xmlns:a16="http://schemas.microsoft.com/office/drawing/2014/main" id="{F4A53EBB-91EB-BB2C-8309-D89970616260}"/>
              </a:ext>
            </a:extLst>
          </p:cNvPr>
          <p:cNvSpPr/>
          <p:nvPr/>
        </p:nvSpPr>
        <p:spPr>
          <a:xfrm>
            <a:off x="8921091" y="886849"/>
            <a:ext cx="2594532" cy="2594532"/>
          </a:xfrm>
          <a:prstGeom prst="star10">
            <a:avLst>
              <a:gd name="adj" fmla="val 0"/>
              <a:gd name="hf" fmla="val 105146"/>
            </a:avLst>
          </a:prstGeom>
          <a:solidFill>
            <a:schemeClr val="accent1">
              <a:alpha val="0"/>
            </a:schemeClr>
          </a:solidFill>
          <a:ln w="15875">
            <a:solidFill>
              <a:schemeClr val="bg1">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85CB5BB0-721C-C4D8-2EE1-9C1DDE74E218}"/>
              </a:ext>
            </a:extLst>
          </p:cNvPr>
          <p:cNvSpPr/>
          <p:nvPr/>
        </p:nvSpPr>
        <p:spPr>
          <a:xfrm>
            <a:off x="8831488" y="797246"/>
            <a:ext cx="2773736" cy="2773736"/>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E31A85E8-5F8A-D6A4-5CAE-BAA369F6DE81}"/>
              </a:ext>
            </a:extLst>
          </p:cNvPr>
          <p:cNvSpPr txBox="1"/>
          <p:nvPr/>
        </p:nvSpPr>
        <p:spPr>
          <a:xfrm>
            <a:off x="726177" y="1054751"/>
            <a:ext cx="5264354" cy="1569660"/>
          </a:xfrm>
          <a:prstGeom prst="rect">
            <a:avLst/>
          </a:prstGeom>
          <a:noFill/>
        </p:spPr>
        <p:txBody>
          <a:bodyPr wrap="square" rtlCol="0">
            <a:spAutoFit/>
          </a:bodyPr>
          <a:lstStyle/>
          <a:p>
            <a:pPr>
              <a:lnSpc>
                <a:spcPct val="80000"/>
              </a:lnSpc>
            </a:pPr>
            <a:r>
              <a:rPr lang="en-GB" sz="6000" b="1">
                <a:solidFill>
                  <a:schemeClr val="bg1"/>
                </a:solidFill>
                <a:latin typeface="Segoe UI Black" panose="020B0A02040204020203" pitchFamily="34" charset="0"/>
                <a:ea typeface="Segoe UI Black" panose="020B0A02040204020203" pitchFamily="34" charset="0"/>
              </a:rPr>
              <a:t>Office 365 for IT Pros</a:t>
            </a:r>
          </a:p>
        </p:txBody>
      </p:sp>
      <p:sp>
        <p:nvSpPr>
          <p:cNvPr id="41" name="Star: 12 Points 40">
            <a:extLst>
              <a:ext uri="{FF2B5EF4-FFF2-40B4-BE49-F238E27FC236}">
                <a16:creationId xmlns:a16="http://schemas.microsoft.com/office/drawing/2014/main" id="{B37EA8CA-AE1C-223F-9159-20A3A9F9EF0C}"/>
              </a:ext>
            </a:extLst>
          </p:cNvPr>
          <p:cNvSpPr/>
          <p:nvPr/>
        </p:nvSpPr>
        <p:spPr>
          <a:xfrm>
            <a:off x="7863756" y="4759087"/>
            <a:ext cx="1205672" cy="1205672"/>
          </a:xfrm>
          <a:prstGeom prst="star12">
            <a:avLst>
              <a:gd name="adj" fmla="val 0"/>
            </a:avLst>
          </a:prstGeom>
          <a:solidFill>
            <a:schemeClr val="accent1">
              <a:alpha val="0"/>
            </a:schemeClr>
          </a:solidFill>
          <a:ln w="15875">
            <a:solidFill>
              <a:schemeClr val="bg1">
                <a:alpha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Oval 41">
            <a:extLst>
              <a:ext uri="{FF2B5EF4-FFF2-40B4-BE49-F238E27FC236}">
                <a16:creationId xmlns:a16="http://schemas.microsoft.com/office/drawing/2014/main" id="{EBD9AA37-22BA-33E9-D341-4C8B38687CEE}"/>
              </a:ext>
            </a:extLst>
          </p:cNvPr>
          <p:cNvSpPr/>
          <p:nvPr/>
        </p:nvSpPr>
        <p:spPr>
          <a:xfrm>
            <a:off x="7822119" y="4717450"/>
            <a:ext cx="1288947" cy="1288947"/>
          </a:xfrm>
          <a:prstGeom prst="ellipse">
            <a:avLst/>
          </a:prstGeom>
          <a:solidFill>
            <a:schemeClr val="accent6"/>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 name="Group 36">
            <a:extLst>
              <a:ext uri="{FF2B5EF4-FFF2-40B4-BE49-F238E27FC236}">
                <a16:creationId xmlns:a16="http://schemas.microsoft.com/office/drawing/2014/main" id="{412A0D81-14E0-DB19-C151-F1EE5F8397F0}"/>
              </a:ext>
            </a:extLst>
          </p:cNvPr>
          <p:cNvGrpSpPr/>
          <p:nvPr/>
        </p:nvGrpSpPr>
        <p:grpSpPr>
          <a:xfrm rot="4450797">
            <a:off x="8682679" y="3505630"/>
            <a:ext cx="387220" cy="285107"/>
            <a:chOff x="356813" y="4713192"/>
            <a:chExt cx="301781" cy="222199"/>
          </a:xfrm>
          <a:solidFill>
            <a:schemeClr val="bg1"/>
          </a:solidFill>
        </p:grpSpPr>
        <p:sp>
          <p:nvSpPr>
            <p:cNvPr id="38" name="Freeform: Shape 37">
              <a:extLst>
                <a:ext uri="{FF2B5EF4-FFF2-40B4-BE49-F238E27FC236}">
                  <a16:creationId xmlns:a16="http://schemas.microsoft.com/office/drawing/2014/main" id="{143B894C-9C13-B169-EFE6-97C1F6FA3374}"/>
                </a:ext>
              </a:extLst>
            </p:cNvPr>
            <p:cNvSpPr/>
            <p:nvPr/>
          </p:nvSpPr>
          <p:spPr>
            <a:xfrm>
              <a:off x="356813" y="4817200"/>
              <a:ext cx="118191" cy="118191"/>
            </a:xfrm>
            <a:custGeom>
              <a:avLst/>
              <a:gdLst>
                <a:gd name="connsiteX0" fmla="*/ 142875 w 142875"/>
                <a:gd name="connsiteY0" fmla="*/ 71437 h 142875"/>
                <a:gd name="connsiteX1" fmla="*/ 71438 w 142875"/>
                <a:gd name="connsiteY1" fmla="*/ 142875 h 142875"/>
                <a:gd name="connsiteX2" fmla="*/ 0 w 142875"/>
                <a:gd name="connsiteY2" fmla="*/ 71437 h 142875"/>
                <a:gd name="connsiteX3" fmla="*/ 71438 w 142875"/>
                <a:gd name="connsiteY3" fmla="*/ 0 h 142875"/>
                <a:gd name="connsiteX4" fmla="*/ 142875 w 142875"/>
                <a:gd name="connsiteY4" fmla="*/ 71437 h 142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875" h="142875">
                  <a:moveTo>
                    <a:pt x="142875" y="71437"/>
                  </a:moveTo>
                  <a:cubicBezTo>
                    <a:pt x="142875" y="110891"/>
                    <a:pt x="110892" y="142875"/>
                    <a:pt x="71438" y="142875"/>
                  </a:cubicBezTo>
                  <a:cubicBezTo>
                    <a:pt x="31984" y="142875"/>
                    <a:pt x="0" y="110891"/>
                    <a:pt x="0" y="71437"/>
                  </a:cubicBezTo>
                  <a:cubicBezTo>
                    <a:pt x="0" y="31983"/>
                    <a:pt x="31984" y="0"/>
                    <a:pt x="71438" y="0"/>
                  </a:cubicBezTo>
                  <a:cubicBezTo>
                    <a:pt x="110892" y="0"/>
                    <a:pt x="142875" y="31983"/>
                    <a:pt x="142875" y="71437"/>
                  </a:cubicBezTo>
                  <a:close/>
                </a:path>
              </a:pathLst>
            </a:custGeom>
            <a:grpFill/>
            <a:ln w="9525"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84E00001-E3EF-D855-477C-B4D818D110CD}"/>
                </a:ext>
              </a:extLst>
            </p:cNvPr>
            <p:cNvSpPr/>
            <p:nvPr/>
          </p:nvSpPr>
          <p:spPr>
            <a:xfrm>
              <a:off x="611318" y="4713192"/>
              <a:ext cx="47276" cy="47276"/>
            </a:xfrm>
            <a:custGeom>
              <a:avLst/>
              <a:gdLst>
                <a:gd name="connsiteX0" fmla="*/ 64770 w 57150"/>
                <a:gd name="connsiteY0" fmla="*/ 32385 h 57150"/>
                <a:gd name="connsiteX1" fmla="*/ 32385 w 57150"/>
                <a:gd name="connsiteY1" fmla="*/ 64770 h 57150"/>
                <a:gd name="connsiteX2" fmla="*/ 0 w 57150"/>
                <a:gd name="connsiteY2" fmla="*/ 32385 h 57150"/>
                <a:gd name="connsiteX3" fmla="*/ 32385 w 57150"/>
                <a:gd name="connsiteY3" fmla="*/ 0 h 57150"/>
                <a:gd name="connsiteX4" fmla="*/ 64770 w 57150"/>
                <a:gd name="connsiteY4" fmla="*/ 3238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64770" y="32385"/>
                  </a:moveTo>
                  <a:cubicBezTo>
                    <a:pt x="64770" y="50271"/>
                    <a:pt x="50271" y="64770"/>
                    <a:pt x="32385" y="64770"/>
                  </a:cubicBezTo>
                  <a:cubicBezTo>
                    <a:pt x="14499" y="64770"/>
                    <a:pt x="0" y="50271"/>
                    <a:pt x="0" y="32385"/>
                  </a:cubicBezTo>
                  <a:cubicBezTo>
                    <a:pt x="0" y="14499"/>
                    <a:pt x="14499" y="0"/>
                    <a:pt x="32385" y="0"/>
                  </a:cubicBezTo>
                  <a:cubicBezTo>
                    <a:pt x="50271" y="0"/>
                    <a:pt x="64770" y="14499"/>
                    <a:pt x="64770" y="32385"/>
                  </a:cubicBezTo>
                  <a:close/>
                </a:path>
              </a:pathLst>
            </a:custGeom>
            <a:grpFill/>
            <a:ln w="9525" cap="flat">
              <a:noFill/>
              <a:prstDash val="solid"/>
              <a:miter/>
            </a:ln>
          </p:spPr>
          <p:txBody>
            <a:bodyPr rtlCol="0" anchor="ctr"/>
            <a:lstStyle/>
            <a:p>
              <a:endParaRPr lang="en-GB"/>
            </a:p>
          </p:txBody>
        </p:sp>
      </p:grpSp>
      <p:pic>
        <p:nvPicPr>
          <p:cNvPr id="5" name="Marcador de posición de imagen 4" descr="Un grupo de personas frente a una tienda&#10;&#10;El contenido generado por IA puede ser incorrecto.">
            <a:extLst>
              <a:ext uri="{FF2B5EF4-FFF2-40B4-BE49-F238E27FC236}">
                <a16:creationId xmlns:a16="http://schemas.microsoft.com/office/drawing/2014/main" id="{CBA61E04-E9ED-F5A5-C0E6-4FC32080691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3284" r="23284"/>
          <a:stretch>
            <a:fillRect/>
          </a:stretch>
        </p:blipFill>
        <p:spPr>
          <a:xfrm>
            <a:off x="5585545" y="488117"/>
            <a:ext cx="4095750" cy="5110163"/>
          </a:xfrm>
          <a:custGeom>
            <a:avLst/>
            <a:gdLst>
              <a:gd name="connsiteX0" fmla="*/ 0 w 4095648"/>
              <a:gd name="connsiteY0" fmla="*/ 0 h 5109831"/>
              <a:gd name="connsiteX1" fmla="*/ 4095648 w 4095648"/>
              <a:gd name="connsiteY1" fmla="*/ 0 h 5109831"/>
              <a:gd name="connsiteX2" fmla="*/ 4095648 w 4095648"/>
              <a:gd name="connsiteY2" fmla="*/ 2816574 h 5109831"/>
              <a:gd name="connsiteX3" fmla="*/ 1802391 w 4095648"/>
              <a:gd name="connsiteY3" fmla="*/ 5109831 h 5109831"/>
              <a:gd name="connsiteX4" fmla="*/ 32803 w 4095648"/>
              <a:gd name="connsiteY4" fmla="*/ 4275299 h 5109831"/>
              <a:gd name="connsiteX5" fmla="*/ 0 w 4095648"/>
              <a:gd name="connsiteY5" fmla="*/ 4231433 h 5109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648" h="5109831">
                <a:moveTo>
                  <a:pt x="0" y="0"/>
                </a:moveTo>
                <a:lnTo>
                  <a:pt x="4095648" y="0"/>
                </a:lnTo>
                <a:lnTo>
                  <a:pt x="4095648" y="2816574"/>
                </a:lnTo>
                <a:cubicBezTo>
                  <a:pt x="4095648" y="4083105"/>
                  <a:pt x="3068922" y="5109831"/>
                  <a:pt x="1802391" y="5109831"/>
                </a:cubicBezTo>
                <a:cubicBezTo>
                  <a:pt x="1089968" y="5109831"/>
                  <a:pt x="453420" y="4784969"/>
                  <a:pt x="32803" y="4275299"/>
                </a:cubicBezTo>
                <a:lnTo>
                  <a:pt x="0" y="4231433"/>
                </a:lnTo>
                <a:close/>
              </a:path>
            </a:pathLst>
          </a:custGeom>
        </p:spPr>
      </p:pic>
      <p:pic>
        <p:nvPicPr>
          <p:cNvPr id="1026" name="Picture 2" descr="Office 365 for IT Pros (2026 Edition)">
            <a:extLst>
              <a:ext uri="{FF2B5EF4-FFF2-40B4-BE49-F238E27FC236}">
                <a16:creationId xmlns:a16="http://schemas.microsoft.com/office/drawing/2014/main" id="{4A86B5AD-AE1D-6245-A58B-A06CECF1CA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5545" y="383135"/>
            <a:ext cx="4095750" cy="579359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20DA73-CB2C-1A9B-E156-3B546A39DFB5}"/>
              </a:ext>
            </a:extLst>
          </p:cNvPr>
          <p:cNvSpPr txBox="1"/>
          <p:nvPr/>
        </p:nvSpPr>
        <p:spPr>
          <a:xfrm>
            <a:off x="726176" y="2624411"/>
            <a:ext cx="5080945" cy="400110"/>
          </a:xfrm>
          <a:prstGeom prst="rect">
            <a:avLst/>
          </a:prstGeom>
          <a:noFill/>
        </p:spPr>
        <p:txBody>
          <a:bodyPr wrap="square" rtlCol="0">
            <a:spAutoFit/>
          </a:bodyPr>
          <a:lstStyle/>
          <a:p>
            <a:r>
              <a:rPr lang="en-US" sz="2000">
                <a:solidFill>
                  <a:schemeClr val="accent3"/>
                </a:solidFill>
                <a:latin typeface="Segoe UI" panose="020B0502040204020203" pitchFamily="34" charset="0"/>
                <a:cs typeface="Segoe UI" panose="020B0502040204020203" pitchFamily="34" charset="0"/>
              </a:rPr>
              <a:t>https://o365itpros.gumroad.com/l/O365IT</a:t>
            </a:r>
            <a:endParaRPr lang="en-GB" sz="2000">
              <a:solidFill>
                <a:schemeClr val="accent3"/>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25071780"/>
      </p:ext>
    </p:extLst>
  </p:cSld>
  <p:clrMapOvr>
    <a:masterClrMapping/>
  </p:clrMapOvr>
  <mc:AlternateContent xmlns:mc="http://schemas.openxmlformats.org/markup-compatibility/2006" xmlns:p14="http://schemas.microsoft.com/office/powerpoint/2010/main">
    <mc:Choice Requires="p14">
      <p:transition spd="med">
        <p14:warp dir="in"/>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0FC7AD73-222D-41FA-BFD9-99F5AE9269D2}"/>
              </a:ext>
            </a:extLst>
          </p:cNvPr>
          <p:cNvSpPr txBox="1"/>
          <p:nvPr/>
        </p:nvSpPr>
        <p:spPr>
          <a:xfrm>
            <a:off x="896917" y="1976205"/>
            <a:ext cx="9955233" cy="2708434"/>
          </a:xfrm>
          <a:prstGeom prst="rect">
            <a:avLst/>
          </a:prstGeom>
          <a:noFill/>
        </p:spPr>
        <p:txBody>
          <a:bodyPr wrap="square" rtlCol="0">
            <a:spAutoFit/>
          </a:bodyPr>
          <a:lstStyle/>
          <a:p>
            <a:pPr algn="ctr"/>
            <a:r>
              <a:rPr lang="en-US" sz="17000">
                <a:ln w="15875">
                  <a:solidFill>
                    <a:schemeClr val="accent6">
                      <a:lumMod val="60000"/>
                      <a:lumOff val="40000"/>
                    </a:schemeClr>
                  </a:solidFill>
                </a:ln>
                <a:solidFill>
                  <a:schemeClr val="accent1">
                    <a:lumMod val="75000"/>
                    <a:alpha val="0"/>
                  </a:schemeClr>
                </a:solidFill>
                <a:latin typeface="Segoe UI Black" panose="020B0A02040204020203" pitchFamily="34" charset="0"/>
                <a:ea typeface="Segoe UI Black" panose="020B0A02040204020203" pitchFamily="34" charset="0"/>
                <a:cs typeface="Poppins Black" panose="00000A00000000000000" pitchFamily="2" charset="0"/>
              </a:rPr>
              <a:t>¡Gracias!</a:t>
            </a:r>
          </a:p>
        </p:txBody>
      </p:sp>
      <p:sp>
        <p:nvSpPr>
          <p:cNvPr id="17" name="TextBox 16">
            <a:extLst>
              <a:ext uri="{FF2B5EF4-FFF2-40B4-BE49-F238E27FC236}">
                <a16:creationId xmlns:a16="http://schemas.microsoft.com/office/drawing/2014/main" id="{E22040C8-2145-4C5C-A3B3-5586CFB510E3}"/>
              </a:ext>
            </a:extLst>
          </p:cNvPr>
          <p:cNvSpPr txBox="1"/>
          <p:nvPr/>
        </p:nvSpPr>
        <p:spPr>
          <a:xfrm>
            <a:off x="0" y="2074783"/>
            <a:ext cx="11492716" cy="2708434"/>
          </a:xfrm>
          <a:prstGeom prst="rect">
            <a:avLst/>
          </a:prstGeom>
          <a:noFill/>
        </p:spPr>
        <p:txBody>
          <a:bodyPr wrap="square" rtlCol="0">
            <a:spAutoFit/>
          </a:bodyPr>
          <a:lstStyle/>
          <a:p>
            <a:pPr algn="ctr"/>
            <a:r>
              <a:rPr lang="en-US" sz="17000">
                <a:solidFill>
                  <a:schemeClr val="bg1"/>
                </a:solidFill>
                <a:effectLst>
                  <a:outerShdw blurRad="546100" dist="292100" dir="4200000" algn="t" rotWithShape="0">
                    <a:prstClr val="black">
                      <a:alpha val="35000"/>
                    </a:prstClr>
                  </a:outerShdw>
                </a:effectLst>
                <a:latin typeface="Segoe UI Black" panose="020B0A02040204020203" pitchFamily="34" charset="0"/>
                <a:ea typeface="Segoe UI Black" panose="020B0A02040204020203" pitchFamily="34" charset="0"/>
                <a:cs typeface="Poppins Black" panose="00000A00000000000000" pitchFamily="2" charset="0"/>
              </a:rPr>
              <a:t>¡Gracias! </a:t>
            </a:r>
            <a:endParaRPr lang="en-GB" sz="17000">
              <a:solidFill>
                <a:schemeClr val="bg1"/>
              </a:solidFill>
              <a:effectLst>
                <a:outerShdw blurRad="546100" dist="292100" dir="4200000" algn="t" rotWithShape="0">
                  <a:prstClr val="black">
                    <a:alpha val="35000"/>
                  </a:prstClr>
                </a:outerShdw>
              </a:effectLst>
              <a:latin typeface="Segoe UI Black" panose="020B0A02040204020203" pitchFamily="34" charset="0"/>
              <a:ea typeface="Segoe UI Black" panose="020B0A02040204020203" pitchFamily="34" charset="0"/>
              <a:cs typeface="Poppins Black" panose="00000A00000000000000" pitchFamily="2" charset="0"/>
            </a:endParaRPr>
          </a:p>
        </p:txBody>
      </p:sp>
    </p:spTree>
    <p:extLst>
      <p:ext uri="{BB962C8B-B14F-4D97-AF65-F5344CB8AC3E}">
        <p14:creationId xmlns:p14="http://schemas.microsoft.com/office/powerpoint/2010/main" val="606725454"/>
      </p:ext>
    </p:extLst>
  </p:cSld>
  <p:clrMapOvr>
    <a:masterClrMapping/>
  </p:clrMapOvr>
  <mc:AlternateContent xmlns:mc="http://schemas.openxmlformats.org/markup-compatibility/2006" xmlns:p14="http://schemas.microsoft.com/office/powerpoint/2010/main">
    <mc:Choice Requires="p14">
      <p:transition spd="slow">
        <p14:flip dir="r"/>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3">
            <a:extLst>
              <a:ext uri="{FF2B5EF4-FFF2-40B4-BE49-F238E27FC236}">
                <a16:creationId xmlns:a16="http://schemas.microsoft.com/office/drawing/2014/main" id="{74B94632-32AD-7721-46DA-8A217C5992E8}"/>
              </a:ext>
            </a:extLst>
          </p:cNvPr>
          <p:cNvSpPr txBox="1"/>
          <p:nvPr/>
        </p:nvSpPr>
        <p:spPr>
          <a:xfrm>
            <a:off x="4656873" y="2243947"/>
            <a:ext cx="5925402" cy="3624518"/>
          </a:xfrm>
          <a:prstGeom prst="rect">
            <a:avLst/>
          </a:prstGeom>
          <a:noFill/>
        </p:spPr>
        <p:txBody>
          <a:bodyPr wrap="square">
            <a:spAutoFit/>
          </a:bodyPr>
          <a:lstStyle/>
          <a:p>
            <a:pPr>
              <a:lnSpc>
                <a:spcPct val="250000"/>
              </a:lnSpc>
            </a:pPr>
            <a:r>
              <a:rPr lang="en-US" sz="2400" b="1">
                <a:solidFill>
                  <a:schemeClr val="accent1"/>
                </a:solidFill>
                <a:latin typeface="Segoe UI" panose="020B0502040204020203" pitchFamily="34" charset="0"/>
                <a:ea typeface="Segoe UI Black" panose="020B0A02040204020203" pitchFamily="34" charset="0"/>
                <a:cs typeface="Segoe UI" panose="020B0502040204020203" pitchFamily="34" charset="0"/>
              </a:rPr>
              <a:t>https://bizzsummit.es</a:t>
            </a:r>
          </a:p>
          <a:p>
            <a:pPr>
              <a:lnSpc>
                <a:spcPct val="250000"/>
              </a:lnSpc>
            </a:pPr>
            <a:r>
              <a:rPr lang="en-US" sz="2400" b="1">
                <a:solidFill>
                  <a:schemeClr val="accent1"/>
                </a:solidFill>
                <a:latin typeface="Segoe UI" panose="020B0502040204020203" pitchFamily="34" charset="0"/>
                <a:ea typeface="Segoe UI Black" panose="020B0A02040204020203" pitchFamily="34" charset="0"/>
                <a:cs typeface="Segoe UI" panose="020B0502040204020203" pitchFamily="34" charset="0"/>
              </a:rPr>
              <a:t>https://twitter.com/bizzsummites</a:t>
            </a:r>
          </a:p>
          <a:p>
            <a:pPr>
              <a:lnSpc>
                <a:spcPct val="250000"/>
              </a:lnSpc>
            </a:pPr>
            <a:r>
              <a:rPr lang="en-US" sz="2400" b="1">
                <a:solidFill>
                  <a:schemeClr val="accent1"/>
                </a:solidFill>
                <a:latin typeface="Segoe UI" panose="020B0502040204020203" pitchFamily="34" charset="0"/>
                <a:ea typeface="Segoe UI Black" panose="020B0A02040204020203" pitchFamily="34" charset="0"/>
                <a:cs typeface="Segoe UI" panose="020B0502040204020203" pitchFamily="34" charset="0"/>
              </a:rPr>
              <a:t>http://youtube.com/bizzsummites</a:t>
            </a:r>
          </a:p>
          <a:p>
            <a:pPr>
              <a:lnSpc>
                <a:spcPct val="250000"/>
              </a:lnSpc>
            </a:pPr>
            <a:r>
              <a:rPr lang="es-ES" sz="2400" b="1">
                <a:solidFill>
                  <a:schemeClr val="accent1"/>
                </a:solidFill>
                <a:latin typeface="Segoe UI" panose="020B0502040204020203" pitchFamily="34" charset="0"/>
                <a:ea typeface="Segoe UI Black" panose="020B0A02040204020203" pitchFamily="34" charset="0"/>
                <a:cs typeface="Segoe UI" panose="020B0502040204020203" pitchFamily="34" charset="0"/>
              </a:rPr>
              <a:t>info@bizzsummit.es</a:t>
            </a:r>
          </a:p>
        </p:txBody>
      </p:sp>
      <p:grpSp>
        <p:nvGrpSpPr>
          <p:cNvPr id="30" name="Grupo 29">
            <a:extLst>
              <a:ext uri="{FF2B5EF4-FFF2-40B4-BE49-F238E27FC236}">
                <a16:creationId xmlns:a16="http://schemas.microsoft.com/office/drawing/2014/main" id="{309014DA-0D54-84A5-B7EB-7350564D3247}"/>
              </a:ext>
            </a:extLst>
          </p:cNvPr>
          <p:cNvGrpSpPr/>
          <p:nvPr/>
        </p:nvGrpSpPr>
        <p:grpSpPr>
          <a:xfrm>
            <a:off x="3769405" y="2526787"/>
            <a:ext cx="653729" cy="653729"/>
            <a:chOff x="3520491" y="2465786"/>
            <a:chExt cx="734498" cy="734498"/>
          </a:xfrm>
        </p:grpSpPr>
        <p:sp>
          <p:nvSpPr>
            <p:cNvPr id="3" name="Google Shape;2012;p58">
              <a:extLst>
                <a:ext uri="{FF2B5EF4-FFF2-40B4-BE49-F238E27FC236}">
                  <a16:creationId xmlns:a16="http://schemas.microsoft.com/office/drawing/2014/main" id="{BD9910A2-6B96-1AD0-A1AC-FB408B430340}"/>
                </a:ext>
              </a:extLst>
            </p:cNvPr>
            <p:cNvSpPr/>
            <p:nvPr/>
          </p:nvSpPr>
          <p:spPr>
            <a:xfrm>
              <a:off x="3520491" y="2465786"/>
              <a:ext cx="734498" cy="73449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nvGrpSpPr>
            <p:cNvPr id="13" name="Google Shape;10463;p79">
              <a:extLst>
                <a:ext uri="{FF2B5EF4-FFF2-40B4-BE49-F238E27FC236}">
                  <a16:creationId xmlns:a16="http://schemas.microsoft.com/office/drawing/2014/main" id="{BC6BCCF7-F416-618E-F086-67F1685972EF}"/>
                </a:ext>
              </a:extLst>
            </p:cNvPr>
            <p:cNvGrpSpPr/>
            <p:nvPr/>
          </p:nvGrpSpPr>
          <p:grpSpPr>
            <a:xfrm>
              <a:off x="3639718" y="2581272"/>
              <a:ext cx="465558" cy="471810"/>
              <a:chOff x="7441465" y="2302860"/>
              <a:chExt cx="342192" cy="327140"/>
            </a:xfrm>
            <a:solidFill>
              <a:schemeClr val="bg1"/>
            </a:solidFill>
          </p:grpSpPr>
          <p:sp>
            <p:nvSpPr>
              <p:cNvPr id="14" name="Google Shape;10464;p79">
                <a:extLst>
                  <a:ext uri="{FF2B5EF4-FFF2-40B4-BE49-F238E27FC236}">
                    <a16:creationId xmlns:a16="http://schemas.microsoft.com/office/drawing/2014/main" id="{773E1C4D-3224-22BB-632F-3E680D5235B9}"/>
                  </a:ext>
                </a:extLst>
              </p:cNvPr>
              <p:cNvSpPr/>
              <p:nvPr/>
            </p:nvSpPr>
            <p:spPr>
              <a:xfrm>
                <a:off x="7441465" y="2337727"/>
                <a:ext cx="299862" cy="292273"/>
              </a:xfrm>
              <a:custGeom>
                <a:avLst/>
                <a:gdLst/>
                <a:ahLst/>
                <a:cxnLst/>
                <a:rect l="l" t="t" r="r" b="b"/>
                <a:pathLst>
                  <a:path w="9443" h="9204" extrusionOk="0">
                    <a:moveTo>
                      <a:pt x="8169" y="0"/>
                    </a:moveTo>
                    <a:cubicBezTo>
                      <a:pt x="7835" y="0"/>
                      <a:pt x="7514" y="131"/>
                      <a:pt x="7276" y="370"/>
                    </a:cubicBezTo>
                    <a:lnTo>
                      <a:pt x="6406" y="1251"/>
                    </a:lnTo>
                    <a:cubicBezTo>
                      <a:pt x="6347" y="1310"/>
                      <a:pt x="6347" y="1417"/>
                      <a:pt x="6406" y="1489"/>
                    </a:cubicBezTo>
                    <a:cubicBezTo>
                      <a:pt x="6436" y="1518"/>
                      <a:pt x="6475" y="1533"/>
                      <a:pt x="6517" y="1533"/>
                    </a:cubicBezTo>
                    <a:cubicBezTo>
                      <a:pt x="6558" y="1533"/>
                      <a:pt x="6603" y="1518"/>
                      <a:pt x="6645" y="1489"/>
                    </a:cubicBezTo>
                    <a:lnTo>
                      <a:pt x="7514" y="608"/>
                    </a:lnTo>
                    <a:cubicBezTo>
                      <a:pt x="7692" y="429"/>
                      <a:pt x="7930" y="346"/>
                      <a:pt x="8169" y="346"/>
                    </a:cubicBezTo>
                    <a:cubicBezTo>
                      <a:pt x="8430" y="346"/>
                      <a:pt x="8645" y="453"/>
                      <a:pt x="8823" y="608"/>
                    </a:cubicBezTo>
                    <a:cubicBezTo>
                      <a:pt x="9014" y="786"/>
                      <a:pt x="9097" y="1024"/>
                      <a:pt x="9097" y="1263"/>
                    </a:cubicBezTo>
                    <a:cubicBezTo>
                      <a:pt x="9097" y="1501"/>
                      <a:pt x="8990" y="1739"/>
                      <a:pt x="8823" y="1917"/>
                    </a:cubicBezTo>
                    <a:lnTo>
                      <a:pt x="7621" y="3132"/>
                    </a:lnTo>
                    <a:cubicBezTo>
                      <a:pt x="7502" y="2834"/>
                      <a:pt x="7323" y="2560"/>
                      <a:pt x="7109" y="2334"/>
                    </a:cubicBezTo>
                    <a:cubicBezTo>
                      <a:pt x="6639" y="1870"/>
                      <a:pt x="6022" y="1638"/>
                      <a:pt x="5408" y="1638"/>
                    </a:cubicBezTo>
                    <a:cubicBezTo>
                      <a:pt x="4793" y="1638"/>
                      <a:pt x="4180" y="1870"/>
                      <a:pt x="3716" y="2334"/>
                    </a:cubicBezTo>
                    <a:lnTo>
                      <a:pt x="941" y="5108"/>
                    </a:lnTo>
                    <a:cubicBezTo>
                      <a:pt x="1" y="6049"/>
                      <a:pt x="1" y="7561"/>
                      <a:pt x="941" y="8502"/>
                    </a:cubicBezTo>
                    <a:cubicBezTo>
                      <a:pt x="1406" y="8966"/>
                      <a:pt x="2025" y="9204"/>
                      <a:pt x="2644" y="9204"/>
                    </a:cubicBezTo>
                    <a:cubicBezTo>
                      <a:pt x="3251" y="9204"/>
                      <a:pt x="3870" y="8966"/>
                      <a:pt x="4335" y="8502"/>
                    </a:cubicBezTo>
                    <a:lnTo>
                      <a:pt x="5811" y="7025"/>
                    </a:lnTo>
                    <a:cubicBezTo>
                      <a:pt x="5871" y="6966"/>
                      <a:pt x="5871" y="6858"/>
                      <a:pt x="5811" y="6787"/>
                    </a:cubicBezTo>
                    <a:cubicBezTo>
                      <a:pt x="5783" y="6778"/>
                      <a:pt x="5750" y="6772"/>
                      <a:pt x="5716" y="6772"/>
                    </a:cubicBezTo>
                    <a:cubicBezTo>
                      <a:pt x="5662" y="6772"/>
                      <a:pt x="5605" y="6786"/>
                      <a:pt x="5561" y="6823"/>
                    </a:cubicBezTo>
                    <a:lnTo>
                      <a:pt x="4085" y="8299"/>
                    </a:lnTo>
                    <a:cubicBezTo>
                      <a:pt x="3692" y="8680"/>
                      <a:pt x="3180" y="8906"/>
                      <a:pt x="2620" y="8906"/>
                    </a:cubicBezTo>
                    <a:cubicBezTo>
                      <a:pt x="2073" y="8906"/>
                      <a:pt x="1549" y="8692"/>
                      <a:pt x="1168" y="8299"/>
                    </a:cubicBezTo>
                    <a:cubicBezTo>
                      <a:pt x="358" y="7489"/>
                      <a:pt x="358" y="6180"/>
                      <a:pt x="1168" y="5358"/>
                    </a:cubicBezTo>
                    <a:lnTo>
                      <a:pt x="3930" y="2596"/>
                    </a:lnTo>
                    <a:cubicBezTo>
                      <a:pt x="4323" y="2203"/>
                      <a:pt x="4847" y="1977"/>
                      <a:pt x="5394" y="1977"/>
                    </a:cubicBezTo>
                    <a:cubicBezTo>
                      <a:pt x="5942" y="1977"/>
                      <a:pt x="6466" y="2191"/>
                      <a:pt x="6847" y="2596"/>
                    </a:cubicBezTo>
                    <a:cubicBezTo>
                      <a:pt x="7073" y="2822"/>
                      <a:pt x="7252" y="3096"/>
                      <a:pt x="7359" y="3394"/>
                    </a:cubicBezTo>
                    <a:lnTo>
                      <a:pt x="6049" y="4703"/>
                    </a:lnTo>
                    <a:cubicBezTo>
                      <a:pt x="5871" y="4882"/>
                      <a:pt x="5633" y="4977"/>
                      <a:pt x="5394" y="4977"/>
                    </a:cubicBezTo>
                    <a:cubicBezTo>
                      <a:pt x="5156" y="4977"/>
                      <a:pt x="4918" y="4870"/>
                      <a:pt x="4740" y="4703"/>
                    </a:cubicBezTo>
                    <a:cubicBezTo>
                      <a:pt x="4644" y="4620"/>
                      <a:pt x="4573" y="4513"/>
                      <a:pt x="4525" y="4394"/>
                    </a:cubicBezTo>
                    <a:cubicBezTo>
                      <a:pt x="4507" y="4321"/>
                      <a:pt x="4440" y="4290"/>
                      <a:pt x="4378" y="4290"/>
                    </a:cubicBezTo>
                    <a:cubicBezTo>
                      <a:pt x="4359" y="4290"/>
                      <a:pt x="4340" y="4293"/>
                      <a:pt x="4323" y="4299"/>
                    </a:cubicBezTo>
                    <a:cubicBezTo>
                      <a:pt x="4239" y="4334"/>
                      <a:pt x="4204" y="4441"/>
                      <a:pt x="4228" y="4513"/>
                    </a:cubicBezTo>
                    <a:cubicBezTo>
                      <a:pt x="4287" y="4680"/>
                      <a:pt x="4394" y="4811"/>
                      <a:pt x="4513" y="4930"/>
                    </a:cubicBezTo>
                    <a:cubicBezTo>
                      <a:pt x="4751" y="5168"/>
                      <a:pt x="5061" y="5299"/>
                      <a:pt x="5406" y="5299"/>
                    </a:cubicBezTo>
                    <a:cubicBezTo>
                      <a:pt x="5752" y="5299"/>
                      <a:pt x="6061" y="5168"/>
                      <a:pt x="6299" y="4930"/>
                    </a:cubicBezTo>
                    <a:lnTo>
                      <a:pt x="9062" y="2155"/>
                    </a:lnTo>
                    <a:cubicBezTo>
                      <a:pt x="9300" y="1917"/>
                      <a:pt x="9443" y="1608"/>
                      <a:pt x="9443" y="1263"/>
                    </a:cubicBezTo>
                    <a:cubicBezTo>
                      <a:pt x="9443" y="929"/>
                      <a:pt x="9300" y="608"/>
                      <a:pt x="9062" y="370"/>
                    </a:cubicBezTo>
                    <a:cubicBezTo>
                      <a:pt x="8823" y="131"/>
                      <a:pt x="8514" y="0"/>
                      <a:pt x="8169" y="0"/>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15" name="Google Shape;10465;p79">
                <a:extLst>
                  <a:ext uri="{FF2B5EF4-FFF2-40B4-BE49-F238E27FC236}">
                    <a16:creationId xmlns:a16="http://schemas.microsoft.com/office/drawing/2014/main" id="{462A022C-4D8F-C745-FB0B-369CCE75A2B7}"/>
                  </a:ext>
                </a:extLst>
              </p:cNvPr>
              <p:cNvSpPr/>
              <p:nvPr/>
            </p:nvSpPr>
            <p:spPr>
              <a:xfrm>
                <a:off x="7484588" y="2302860"/>
                <a:ext cx="299069" cy="293130"/>
              </a:xfrm>
              <a:custGeom>
                <a:avLst/>
                <a:gdLst/>
                <a:ahLst/>
                <a:cxnLst/>
                <a:rect l="l" t="t" r="r" b="b"/>
                <a:pathLst>
                  <a:path w="9418" h="9231" extrusionOk="0">
                    <a:moveTo>
                      <a:pt x="6805" y="0"/>
                    </a:moveTo>
                    <a:cubicBezTo>
                      <a:pt x="6191" y="0"/>
                      <a:pt x="5578" y="235"/>
                      <a:pt x="5108" y="706"/>
                    </a:cubicBezTo>
                    <a:lnTo>
                      <a:pt x="3632" y="2170"/>
                    </a:lnTo>
                    <a:cubicBezTo>
                      <a:pt x="3572" y="2230"/>
                      <a:pt x="3572" y="2337"/>
                      <a:pt x="3632" y="2408"/>
                    </a:cubicBezTo>
                    <a:cubicBezTo>
                      <a:pt x="3661" y="2438"/>
                      <a:pt x="3703" y="2453"/>
                      <a:pt x="3746" y="2453"/>
                    </a:cubicBezTo>
                    <a:cubicBezTo>
                      <a:pt x="3789" y="2453"/>
                      <a:pt x="3834" y="2438"/>
                      <a:pt x="3870" y="2408"/>
                    </a:cubicBezTo>
                    <a:lnTo>
                      <a:pt x="5346" y="944"/>
                    </a:lnTo>
                    <a:cubicBezTo>
                      <a:pt x="5745" y="539"/>
                      <a:pt x="6272" y="336"/>
                      <a:pt x="6802" y="336"/>
                    </a:cubicBezTo>
                    <a:cubicBezTo>
                      <a:pt x="7331" y="336"/>
                      <a:pt x="7864" y="539"/>
                      <a:pt x="8275" y="944"/>
                    </a:cubicBezTo>
                    <a:cubicBezTo>
                      <a:pt x="9085" y="1741"/>
                      <a:pt x="9085" y="3051"/>
                      <a:pt x="8275" y="3873"/>
                    </a:cubicBezTo>
                    <a:lnTo>
                      <a:pt x="5513" y="6635"/>
                    </a:lnTo>
                    <a:cubicBezTo>
                      <a:pt x="5120" y="7028"/>
                      <a:pt x="4596" y="7254"/>
                      <a:pt x="4048" y="7254"/>
                    </a:cubicBezTo>
                    <a:cubicBezTo>
                      <a:pt x="3501" y="7254"/>
                      <a:pt x="2977" y="7040"/>
                      <a:pt x="2596" y="6635"/>
                    </a:cubicBezTo>
                    <a:cubicBezTo>
                      <a:pt x="2370" y="6421"/>
                      <a:pt x="2191" y="6135"/>
                      <a:pt x="2084" y="5837"/>
                    </a:cubicBezTo>
                    <a:lnTo>
                      <a:pt x="3393" y="4527"/>
                    </a:lnTo>
                    <a:cubicBezTo>
                      <a:pt x="3572" y="4349"/>
                      <a:pt x="3810" y="4254"/>
                      <a:pt x="4048" y="4254"/>
                    </a:cubicBezTo>
                    <a:cubicBezTo>
                      <a:pt x="4286" y="4254"/>
                      <a:pt x="4525" y="4361"/>
                      <a:pt x="4703" y="4527"/>
                    </a:cubicBezTo>
                    <a:cubicBezTo>
                      <a:pt x="4798" y="4611"/>
                      <a:pt x="4870" y="4718"/>
                      <a:pt x="4917" y="4837"/>
                    </a:cubicBezTo>
                    <a:cubicBezTo>
                      <a:pt x="4936" y="4910"/>
                      <a:pt x="5002" y="4941"/>
                      <a:pt x="5065" y="4941"/>
                    </a:cubicBezTo>
                    <a:cubicBezTo>
                      <a:pt x="5084" y="4941"/>
                      <a:pt x="5103" y="4938"/>
                      <a:pt x="5120" y="4932"/>
                    </a:cubicBezTo>
                    <a:cubicBezTo>
                      <a:pt x="5215" y="4897"/>
                      <a:pt x="5239" y="4789"/>
                      <a:pt x="5215" y="4718"/>
                    </a:cubicBezTo>
                    <a:cubicBezTo>
                      <a:pt x="5156" y="4551"/>
                      <a:pt x="5048" y="4420"/>
                      <a:pt x="4929" y="4301"/>
                    </a:cubicBezTo>
                    <a:cubicBezTo>
                      <a:pt x="4691" y="4063"/>
                      <a:pt x="4382" y="3932"/>
                      <a:pt x="4036" y="3932"/>
                    </a:cubicBezTo>
                    <a:cubicBezTo>
                      <a:pt x="3691" y="3932"/>
                      <a:pt x="3382" y="4063"/>
                      <a:pt x="3143" y="4301"/>
                    </a:cubicBezTo>
                    <a:lnTo>
                      <a:pt x="1786" y="5659"/>
                    </a:lnTo>
                    <a:cubicBezTo>
                      <a:pt x="1762" y="5670"/>
                      <a:pt x="1738" y="5682"/>
                      <a:pt x="1727" y="5718"/>
                    </a:cubicBezTo>
                    <a:lnTo>
                      <a:pt x="369" y="7075"/>
                    </a:lnTo>
                    <a:cubicBezTo>
                      <a:pt x="131" y="7314"/>
                      <a:pt x="0" y="7623"/>
                      <a:pt x="0" y="7968"/>
                    </a:cubicBezTo>
                    <a:cubicBezTo>
                      <a:pt x="0" y="8302"/>
                      <a:pt x="131" y="8623"/>
                      <a:pt x="369" y="8861"/>
                    </a:cubicBezTo>
                    <a:cubicBezTo>
                      <a:pt x="607" y="9099"/>
                      <a:pt x="929" y="9230"/>
                      <a:pt x="1262" y="9230"/>
                    </a:cubicBezTo>
                    <a:cubicBezTo>
                      <a:pt x="1608" y="9230"/>
                      <a:pt x="1917" y="9099"/>
                      <a:pt x="2155" y="8861"/>
                    </a:cubicBezTo>
                    <a:lnTo>
                      <a:pt x="3036" y="7980"/>
                    </a:lnTo>
                    <a:cubicBezTo>
                      <a:pt x="3096" y="7921"/>
                      <a:pt x="3096" y="7814"/>
                      <a:pt x="3036" y="7742"/>
                    </a:cubicBezTo>
                    <a:cubicBezTo>
                      <a:pt x="3006" y="7712"/>
                      <a:pt x="2965" y="7697"/>
                      <a:pt x="2922" y="7697"/>
                    </a:cubicBezTo>
                    <a:cubicBezTo>
                      <a:pt x="2879" y="7697"/>
                      <a:pt x="2834" y="7712"/>
                      <a:pt x="2798" y="7742"/>
                    </a:cubicBezTo>
                    <a:lnTo>
                      <a:pt x="1917" y="8623"/>
                    </a:lnTo>
                    <a:cubicBezTo>
                      <a:pt x="1738" y="8802"/>
                      <a:pt x="1500" y="8885"/>
                      <a:pt x="1262" y="8885"/>
                    </a:cubicBezTo>
                    <a:cubicBezTo>
                      <a:pt x="1012" y="8885"/>
                      <a:pt x="786" y="8778"/>
                      <a:pt x="607" y="8623"/>
                    </a:cubicBezTo>
                    <a:cubicBezTo>
                      <a:pt x="429" y="8445"/>
                      <a:pt x="345" y="8206"/>
                      <a:pt x="345" y="7968"/>
                    </a:cubicBezTo>
                    <a:cubicBezTo>
                      <a:pt x="345" y="7706"/>
                      <a:pt x="453" y="7492"/>
                      <a:pt x="607" y="7314"/>
                    </a:cubicBezTo>
                    <a:lnTo>
                      <a:pt x="1822" y="6099"/>
                    </a:lnTo>
                    <a:cubicBezTo>
                      <a:pt x="1941" y="6397"/>
                      <a:pt x="2119" y="6671"/>
                      <a:pt x="2334" y="6897"/>
                    </a:cubicBezTo>
                    <a:cubicBezTo>
                      <a:pt x="2786" y="7337"/>
                      <a:pt x="3393" y="7587"/>
                      <a:pt x="4036" y="7587"/>
                    </a:cubicBezTo>
                    <a:cubicBezTo>
                      <a:pt x="4679" y="7587"/>
                      <a:pt x="5287" y="7337"/>
                      <a:pt x="5727" y="6897"/>
                    </a:cubicBezTo>
                    <a:lnTo>
                      <a:pt x="8501" y="4123"/>
                    </a:lnTo>
                    <a:cubicBezTo>
                      <a:pt x="9418" y="3158"/>
                      <a:pt x="9418" y="1634"/>
                      <a:pt x="8501" y="706"/>
                    </a:cubicBezTo>
                    <a:cubicBezTo>
                      <a:pt x="8031" y="235"/>
                      <a:pt x="7418" y="0"/>
                      <a:pt x="6805" y="0"/>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grpSp>
      <p:sp>
        <p:nvSpPr>
          <p:cNvPr id="28" name="CuadroTexto 27">
            <a:extLst>
              <a:ext uri="{FF2B5EF4-FFF2-40B4-BE49-F238E27FC236}">
                <a16:creationId xmlns:a16="http://schemas.microsoft.com/office/drawing/2014/main" id="{347CF8FF-0204-C066-C945-0ECA1106C415}"/>
              </a:ext>
            </a:extLst>
          </p:cNvPr>
          <p:cNvSpPr txBox="1"/>
          <p:nvPr/>
        </p:nvSpPr>
        <p:spPr>
          <a:xfrm>
            <a:off x="2532798" y="476250"/>
            <a:ext cx="7639050" cy="769441"/>
          </a:xfrm>
          <a:prstGeom prst="rect">
            <a:avLst/>
          </a:prstGeom>
          <a:noFill/>
        </p:spPr>
        <p:txBody>
          <a:bodyPr wrap="square" rtlCol="0">
            <a:spAutoFit/>
          </a:bodyPr>
          <a:lstStyle/>
          <a:p>
            <a:r>
              <a:rPr lang="es-ES" sz="4400">
                <a:solidFill>
                  <a:schemeClr val="bg1"/>
                </a:solidFill>
                <a:latin typeface="Segoe UI Black" panose="020B0A02040204020203" pitchFamily="34" charset="0"/>
                <a:ea typeface="Segoe UI Black" panose="020B0A02040204020203" pitchFamily="34" charset="0"/>
              </a:rPr>
              <a:t>Redes sociales y contacto</a:t>
            </a:r>
          </a:p>
        </p:txBody>
      </p:sp>
      <p:grpSp>
        <p:nvGrpSpPr>
          <p:cNvPr id="31" name="Grupo 30">
            <a:extLst>
              <a:ext uri="{FF2B5EF4-FFF2-40B4-BE49-F238E27FC236}">
                <a16:creationId xmlns:a16="http://schemas.microsoft.com/office/drawing/2014/main" id="{3384459A-A338-0D10-E18F-B41F921A08FE}"/>
              </a:ext>
            </a:extLst>
          </p:cNvPr>
          <p:cNvGrpSpPr/>
          <p:nvPr/>
        </p:nvGrpSpPr>
        <p:grpSpPr>
          <a:xfrm>
            <a:off x="3782257" y="3437749"/>
            <a:ext cx="653730" cy="653730"/>
            <a:chOff x="3511214" y="3443262"/>
            <a:chExt cx="734498" cy="734498"/>
          </a:xfrm>
        </p:grpSpPr>
        <p:sp>
          <p:nvSpPr>
            <p:cNvPr id="29" name="Google Shape;2012;p58">
              <a:extLst>
                <a:ext uri="{FF2B5EF4-FFF2-40B4-BE49-F238E27FC236}">
                  <a16:creationId xmlns:a16="http://schemas.microsoft.com/office/drawing/2014/main" id="{DA5F6550-82C2-6A8B-9419-C06F7648DD74}"/>
                </a:ext>
              </a:extLst>
            </p:cNvPr>
            <p:cNvSpPr/>
            <p:nvPr/>
          </p:nvSpPr>
          <p:spPr>
            <a:xfrm>
              <a:off x="3511214" y="3443262"/>
              <a:ext cx="734498" cy="734498"/>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pic>
          <p:nvPicPr>
            <p:cNvPr id="25" name="Picture 2">
              <a:extLst>
                <a:ext uri="{FF2B5EF4-FFF2-40B4-BE49-F238E27FC236}">
                  <a16:creationId xmlns:a16="http://schemas.microsoft.com/office/drawing/2014/main" id="{0C8068A1-B752-89CE-7E7E-3BA252CF3D38}"/>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3622355" y="3589948"/>
              <a:ext cx="512216" cy="452903"/>
            </a:xfrm>
            <a:prstGeom prst="rect">
              <a:avLst/>
            </a:prstGeom>
          </p:spPr>
        </p:pic>
      </p:grpSp>
      <p:sp>
        <p:nvSpPr>
          <p:cNvPr id="33" name="Google Shape;2012;p58">
            <a:extLst>
              <a:ext uri="{FF2B5EF4-FFF2-40B4-BE49-F238E27FC236}">
                <a16:creationId xmlns:a16="http://schemas.microsoft.com/office/drawing/2014/main" id="{0DE648EC-DC0B-9C83-AA1C-2E2430F73F19}"/>
              </a:ext>
            </a:extLst>
          </p:cNvPr>
          <p:cNvSpPr/>
          <p:nvPr/>
        </p:nvSpPr>
        <p:spPr>
          <a:xfrm>
            <a:off x="3782257" y="4348712"/>
            <a:ext cx="653730" cy="65373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36" name="Google Shape;2012;p58">
            <a:extLst>
              <a:ext uri="{FF2B5EF4-FFF2-40B4-BE49-F238E27FC236}">
                <a16:creationId xmlns:a16="http://schemas.microsoft.com/office/drawing/2014/main" id="{20FD243B-0F58-A463-B59B-5B3B1DB87C5C}"/>
              </a:ext>
            </a:extLst>
          </p:cNvPr>
          <p:cNvSpPr/>
          <p:nvPr/>
        </p:nvSpPr>
        <p:spPr>
          <a:xfrm>
            <a:off x="3782257" y="5259675"/>
            <a:ext cx="653730" cy="65373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grpSp>
        <p:nvGrpSpPr>
          <p:cNvPr id="38" name="Grupo 37">
            <a:extLst>
              <a:ext uri="{FF2B5EF4-FFF2-40B4-BE49-F238E27FC236}">
                <a16:creationId xmlns:a16="http://schemas.microsoft.com/office/drawing/2014/main" id="{62CB8E45-C653-1484-D40C-83B840056F66}"/>
              </a:ext>
            </a:extLst>
          </p:cNvPr>
          <p:cNvGrpSpPr/>
          <p:nvPr/>
        </p:nvGrpSpPr>
        <p:grpSpPr>
          <a:xfrm>
            <a:off x="3875521" y="4495795"/>
            <a:ext cx="425605" cy="360439"/>
            <a:chOff x="9719097" y="1233644"/>
            <a:chExt cx="384631" cy="292948"/>
          </a:xfrm>
          <a:solidFill>
            <a:schemeClr val="bg1"/>
          </a:solidFill>
        </p:grpSpPr>
        <p:sp>
          <p:nvSpPr>
            <p:cNvPr id="11" name="Google Shape;13786;p85">
              <a:extLst>
                <a:ext uri="{FF2B5EF4-FFF2-40B4-BE49-F238E27FC236}">
                  <a16:creationId xmlns:a16="http://schemas.microsoft.com/office/drawing/2014/main" id="{796D0F28-269F-5CF6-0E89-7E1BD17F03DA}"/>
                </a:ext>
              </a:extLst>
            </p:cNvPr>
            <p:cNvSpPr/>
            <p:nvPr/>
          </p:nvSpPr>
          <p:spPr>
            <a:xfrm>
              <a:off x="9719097" y="1233644"/>
              <a:ext cx="384631" cy="292948"/>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bg1"/>
                </a:solidFill>
                <a:latin typeface="Segoe UI Black" panose="020B0A02040204020203" pitchFamily="34" charset="0"/>
                <a:ea typeface="Segoe UI Black" panose="020B0A02040204020203" pitchFamily="34" charset="0"/>
              </a:endParaRPr>
            </a:p>
          </p:txBody>
        </p:sp>
        <p:sp>
          <p:nvSpPr>
            <p:cNvPr id="12" name="Google Shape;13787;p85">
              <a:extLst>
                <a:ext uri="{FF2B5EF4-FFF2-40B4-BE49-F238E27FC236}">
                  <a16:creationId xmlns:a16="http://schemas.microsoft.com/office/drawing/2014/main" id="{62914A31-BBFB-CACB-56F5-8FBC2CC342CF}"/>
                </a:ext>
              </a:extLst>
            </p:cNvPr>
            <p:cNvSpPr/>
            <p:nvPr/>
          </p:nvSpPr>
          <p:spPr>
            <a:xfrm>
              <a:off x="9850632" y="1299271"/>
              <a:ext cx="154328" cy="161832"/>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grpFill/>
            <a:ln w="952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bg1"/>
                </a:solidFill>
                <a:latin typeface="Segoe UI Black" panose="020B0A02040204020203" pitchFamily="34" charset="0"/>
                <a:ea typeface="Segoe UI Black" panose="020B0A02040204020203" pitchFamily="34" charset="0"/>
              </a:endParaRPr>
            </a:p>
          </p:txBody>
        </p:sp>
      </p:grpSp>
      <p:sp>
        <p:nvSpPr>
          <p:cNvPr id="18" name="Google Shape;13955;p85">
            <a:extLst>
              <a:ext uri="{FF2B5EF4-FFF2-40B4-BE49-F238E27FC236}">
                <a16:creationId xmlns:a16="http://schemas.microsoft.com/office/drawing/2014/main" id="{32F823A1-8D27-4011-F955-ADE8ADAAE42A}"/>
              </a:ext>
            </a:extLst>
          </p:cNvPr>
          <p:cNvSpPr/>
          <p:nvPr/>
        </p:nvSpPr>
        <p:spPr>
          <a:xfrm>
            <a:off x="3888235" y="5327355"/>
            <a:ext cx="396357" cy="455652"/>
          </a:xfrm>
          <a:custGeom>
            <a:avLst/>
            <a:gdLst/>
            <a:ahLst/>
            <a:cxnLst/>
            <a:rect l="l" t="t" r="r" b="b"/>
            <a:pathLst>
              <a:path w="7645" h="8814" extrusionOk="0">
                <a:moveTo>
                  <a:pt x="4192" y="301"/>
                </a:moveTo>
                <a:lnTo>
                  <a:pt x="5228" y="1337"/>
                </a:lnTo>
                <a:lnTo>
                  <a:pt x="3144" y="1337"/>
                </a:lnTo>
                <a:lnTo>
                  <a:pt x="4192" y="301"/>
                </a:lnTo>
                <a:close/>
                <a:moveTo>
                  <a:pt x="4190" y="0"/>
                </a:moveTo>
                <a:cubicBezTo>
                  <a:pt x="4156" y="0"/>
                  <a:pt x="4120" y="9"/>
                  <a:pt x="4097" y="27"/>
                </a:cubicBezTo>
                <a:lnTo>
                  <a:pt x="2787" y="1337"/>
                </a:lnTo>
                <a:lnTo>
                  <a:pt x="703" y="1337"/>
                </a:lnTo>
                <a:cubicBezTo>
                  <a:pt x="632" y="1337"/>
                  <a:pt x="572" y="1396"/>
                  <a:pt x="572" y="1480"/>
                </a:cubicBezTo>
                <a:lnTo>
                  <a:pt x="572" y="3623"/>
                </a:lnTo>
                <a:lnTo>
                  <a:pt x="144" y="3623"/>
                </a:lnTo>
                <a:cubicBezTo>
                  <a:pt x="60" y="3623"/>
                  <a:pt x="1" y="3682"/>
                  <a:pt x="1" y="3754"/>
                </a:cubicBezTo>
                <a:lnTo>
                  <a:pt x="1" y="8683"/>
                </a:lnTo>
                <a:cubicBezTo>
                  <a:pt x="1" y="8754"/>
                  <a:pt x="60" y="8814"/>
                  <a:pt x="144" y="8814"/>
                </a:cubicBezTo>
                <a:lnTo>
                  <a:pt x="1489" y="8814"/>
                </a:lnTo>
                <a:cubicBezTo>
                  <a:pt x="1572" y="8814"/>
                  <a:pt x="1632" y="8754"/>
                  <a:pt x="1632" y="8683"/>
                </a:cubicBezTo>
                <a:cubicBezTo>
                  <a:pt x="1632" y="8599"/>
                  <a:pt x="1572" y="8540"/>
                  <a:pt x="1489" y="8540"/>
                </a:cubicBezTo>
                <a:lnTo>
                  <a:pt x="275" y="8540"/>
                </a:lnTo>
                <a:lnTo>
                  <a:pt x="275" y="4004"/>
                </a:lnTo>
                <a:lnTo>
                  <a:pt x="882" y="4456"/>
                </a:lnTo>
                <a:cubicBezTo>
                  <a:pt x="904" y="4469"/>
                  <a:pt x="928" y="4476"/>
                  <a:pt x="952" y="4476"/>
                </a:cubicBezTo>
                <a:cubicBezTo>
                  <a:pt x="992" y="4476"/>
                  <a:pt x="1031" y="4458"/>
                  <a:pt x="1061" y="4420"/>
                </a:cubicBezTo>
                <a:cubicBezTo>
                  <a:pt x="1108" y="4361"/>
                  <a:pt x="1096" y="4289"/>
                  <a:pt x="1037" y="4242"/>
                </a:cubicBezTo>
                <a:lnTo>
                  <a:pt x="834" y="4087"/>
                </a:lnTo>
                <a:lnTo>
                  <a:pt x="834" y="3766"/>
                </a:lnTo>
                <a:lnTo>
                  <a:pt x="834" y="3754"/>
                </a:lnTo>
                <a:lnTo>
                  <a:pt x="834" y="3730"/>
                </a:lnTo>
                <a:lnTo>
                  <a:pt x="834" y="1610"/>
                </a:lnTo>
                <a:lnTo>
                  <a:pt x="7371" y="1610"/>
                </a:lnTo>
                <a:lnTo>
                  <a:pt x="7371" y="2099"/>
                </a:lnTo>
                <a:cubicBezTo>
                  <a:pt x="7371" y="2170"/>
                  <a:pt x="7430" y="2230"/>
                  <a:pt x="7502" y="2230"/>
                </a:cubicBezTo>
                <a:cubicBezTo>
                  <a:pt x="7585" y="2230"/>
                  <a:pt x="7645" y="2170"/>
                  <a:pt x="7645" y="2099"/>
                </a:cubicBezTo>
                <a:lnTo>
                  <a:pt x="7645" y="1468"/>
                </a:lnTo>
                <a:cubicBezTo>
                  <a:pt x="7633" y="1396"/>
                  <a:pt x="7573" y="1337"/>
                  <a:pt x="7490" y="1337"/>
                </a:cubicBezTo>
                <a:lnTo>
                  <a:pt x="5585" y="1337"/>
                </a:lnTo>
                <a:lnTo>
                  <a:pt x="4275" y="27"/>
                </a:lnTo>
                <a:cubicBezTo>
                  <a:pt x="4257" y="9"/>
                  <a:pt x="4225" y="0"/>
                  <a:pt x="4190" y="0"/>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19" name="Google Shape;13956;p85">
            <a:extLst>
              <a:ext uri="{FF2B5EF4-FFF2-40B4-BE49-F238E27FC236}">
                <a16:creationId xmlns:a16="http://schemas.microsoft.com/office/drawing/2014/main" id="{787D0866-18A7-2E14-F577-E4AAD3059658}"/>
              </a:ext>
            </a:extLst>
          </p:cNvPr>
          <p:cNvSpPr/>
          <p:nvPr/>
        </p:nvSpPr>
        <p:spPr>
          <a:xfrm>
            <a:off x="3964811" y="5445068"/>
            <a:ext cx="55579" cy="55419"/>
          </a:xfrm>
          <a:custGeom>
            <a:avLst/>
            <a:gdLst/>
            <a:ahLst/>
            <a:cxnLst/>
            <a:rect l="l" t="t" r="r" b="b"/>
            <a:pathLst>
              <a:path w="1072" h="1072" extrusionOk="0">
                <a:moveTo>
                  <a:pt x="810" y="262"/>
                </a:moveTo>
                <a:lnTo>
                  <a:pt x="810" y="810"/>
                </a:lnTo>
                <a:lnTo>
                  <a:pt x="274" y="810"/>
                </a:lnTo>
                <a:lnTo>
                  <a:pt x="274" y="262"/>
                </a:lnTo>
                <a:close/>
                <a:moveTo>
                  <a:pt x="143" y="0"/>
                </a:moveTo>
                <a:cubicBezTo>
                  <a:pt x="60" y="0"/>
                  <a:pt x="0" y="60"/>
                  <a:pt x="0" y="131"/>
                </a:cubicBezTo>
                <a:lnTo>
                  <a:pt x="0" y="941"/>
                </a:lnTo>
                <a:cubicBezTo>
                  <a:pt x="0" y="1012"/>
                  <a:pt x="60" y="1072"/>
                  <a:pt x="143" y="1072"/>
                </a:cubicBezTo>
                <a:lnTo>
                  <a:pt x="941" y="1072"/>
                </a:lnTo>
                <a:cubicBezTo>
                  <a:pt x="1012" y="1072"/>
                  <a:pt x="1072" y="1012"/>
                  <a:pt x="1072" y="941"/>
                </a:cubicBezTo>
                <a:lnTo>
                  <a:pt x="1072" y="131"/>
                </a:lnTo>
                <a:cubicBezTo>
                  <a:pt x="1060" y="60"/>
                  <a:pt x="1000" y="0"/>
                  <a:pt x="941" y="0"/>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
        <p:nvSpPr>
          <p:cNvPr id="24" name="Google Shape;13961;p85">
            <a:extLst>
              <a:ext uri="{FF2B5EF4-FFF2-40B4-BE49-F238E27FC236}">
                <a16:creationId xmlns:a16="http://schemas.microsoft.com/office/drawing/2014/main" id="{FFC357AA-5026-6B21-9CCA-440F3B33E55E}"/>
              </a:ext>
            </a:extLst>
          </p:cNvPr>
          <p:cNvSpPr/>
          <p:nvPr/>
        </p:nvSpPr>
        <p:spPr>
          <a:xfrm>
            <a:off x="3953093" y="5456131"/>
            <a:ext cx="361777" cy="326876"/>
          </a:xfrm>
          <a:custGeom>
            <a:avLst/>
            <a:gdLst/>
            <a:ahLst/>
            <a:cxnLst/>
            <a:rect l="l" t="t" r="r" b="b"/>
            <a:pathLst>
              <a:path w="6978" h="6323" extrusionOk="0">
                <a:moveTo>
                  <a:pt x="4679" y="2632"/>
                </a:moveTo>
                <a:lnTo>
                  <a:pt x="4274" y="2929"/>
                </a:lnTo>
                <a:lnTo>
                  <a:pt x="1441" y="2929"/>
                </a:lnTo>
                <a:lnTo>
                  <a:pt x="1024" y="2632"/>
                </a:lnTo>
                <a:close/>
                <a:moveTo>
                  <a:pt x="3905" y="3168"/>
                </a:moveTo>
                <a:lnTo>
                  <a:pt x="3500" y="3465"/>
                </a:lnTo>
                <a:lnTo>
                  <a:pt x="2179" y="3465"/>
                </a:lnTo>
                <a:lnTo>
                  <a:pt x="1774" y="3168"/>
                </a:lnTo>
                <a:close/>
                <a:moveTo>
                  <a:pt x="3143" y="3727"/>
                </a:moveTo>
                <a:lnTo>
                  <a:pt x="2846" y="3942"/>
                </a:lnTo>
                <a:lnTo>
                  <a:pt x="2548" y="3727"/>
                </a:lnTo>
                <a:close/>
                <a:moveTo>
                  <a:pt x="6239" y="1"/>
                </a:moveTo>
                <a:cubicBezTo>
                  <a:pt x="6167" y="1"/>
                  <a:pt x="6108" y="48"/>
                  <a:pt x="6108" y="132"/>
                </a:cubicBezTo>
                <a:lnTo>
                  <a:pt x="6108" y="1263"/>
                </a:lnTo>
                <a:lnTo>
                  <a:pt x="6108" y="1596"/>
                </a:lnTo>
                <a:lnTo>
                  <a:pt x="5036" y="2382"/>
                </a:lnTo>
                <a:lnTo>
                  <a:pt x="667" y="2382"/>
                </a:lnTo>
                <a:lnTo>
                  <a:pt x="226" y="2060"/>
                </a:lnTo>
                <a:cubicBezTo>
                  <a:pt x="204" y="2047"/>
                  <a:pt x="180" y="2040"/>
                  <a:pt x="156" y="2040"/>
                </a:cubicBezTo>
                <a:cubicBezTo>
                  <a:pt x="116" y="2040"/>
                  <a:pt x="77" y="2059"/>
                  <a:pt x="48" y="2096"/>
                </a:cubicBezTo>
                <a:cubicBezTo>
                  <a:pt x="0" y="2156"/>
                  <a:pt x="24" y="2227"/>
                  <a:pt x="83" y="2275"/>
                </a:cubicBezTo>
                <a:lnTo>
                  <a:pt x="2786" y="4203"/>
                </a:lnTo>
                <a:cubicBezTo>
                  <a:pt x="2810" y="4221"/>
                  <a:pt x="2837" y="4230"/>
                  <a:pt x="2863" y="4230"/>
                </a:cubicBezTo>
                <a:cubicBezTo>
                  <a:pt x="2890" y="4230"/>
                  <a:pt x="2917" y="4221"/>
                  <a:pt x="2941" y="4203"/>
                </a:cubicBezTo>
                <a:lnTo>
                  <a:pt x="6703" y="1513"/>
                </a:lnTo>
                <a:lnTo>
                  <a:pt x="6703" y="6049"/>
                </a:lnTo>
                <a:lnTo>
                  <a:pt x="786" y="6049"/>
                </a:lnTo>
                <a:cubicBezTo>
                  <a:pt x="702" y="6049"/>
                  <a:pt x="643" y="6108"/>
                  <a:pt x="643" y="6192"/>
                </a:cubicBezTo>
                <a:cubicBezTo>
                  <a:pt x="643" y="6263"/>
                  <a:pt x="702" y="6323"/>
                  <a:pt x="786" y="6323"/>
                </a:cubicBezTo>
                <a:lnTo>
                  <a:pt x="6834" y="6323"/>
                </a:lnTo>
                <a:cubicBezTo>
                  <a:pt x="6918" y="6323"/>
                  <a:pt x="6977" y="6263"/>
                  <a:pt x="6977" y="6192"/>
                </a:cubicBezTo>
                <a:lnTo>
                  <a:pt x="6977" y="1263"/>
                </a:lnTo>
                <a:cubicBezTo>
                  <a:pt x="6941" y="1263"/>
                  <a:pt x="6941" y="1239"/>
                  <a:pt x="6941" y="1239"/>
                </a:cubicBezTo>
                <a:cubicBezTo>
                  <a:pt x="6929" y="1191"/>
                  <a:pt x="6882" y="1132"/>
                  <a:pt x="6810" y="1132"/>
                </a:cubicBezTo>
                <a:lnTo>
                  <a:pt x="6370" y="1132"/>
                </a:lnTo>
                <a:lnTo>
                  <a:pt x="6370" y="132"/>
                </a:lnTo>
                <a:cubicBezTo>
                  <a:pt x="6370" y="48"/>
                  <a:pt x="6310" y="1"/>
                  <a:pt x="6239" y="1"/>
                </a:cubicBezTo>
                <a:close/>
              </a:path>
            </a:pathLst>
          </a:custGeom>
          <a:solidFill>
            <a:schemeClr val="bg1"/>
          </a:solidFill>
          <a:ln w="3175">
            <a:solidFill>
              <a:schemeClr val="bg1"/>
            </a:solidFill>
          </a:ln>
        </p:spPr>
        <p:txBody>
          <a:bodyPr spcFirstLastPara="1" wrap="square" lIns="91425" tIns="91425" rIns="91425" bIns="91425" anchor="ctr" anchorCtr="0">
            <a:noAutofit/>
          </a:bodyPr>
          <a:lstStyle/>
          <a:p>
            <a:pPr marL="0" lvl="0" indent="0" algn="l" rtl="0">
              <a:spcBef>
                <a:spcPts val="0"/>
              </a:spcBef>
              <a:spcAft>
                <a:spcPts val="0"/>
              </a:spcAft>
              <a:buNone/>
            </a:pPr>
            <a:endParaRPr sz="2800">
              <a:solidFill>
                <a:schemeClr val="accent1"/>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1874862380"/>
      </p:ext>
    </p:extLst>
  </p:cSld>
  <p:clrMapOvr>
    <a:masterClrMapping/>
  </p:clrMapOvr>
</p:sld>
</file>

<file path=ppt/theme/theme1.xml><?xml version="1.0" encoding="utf-8"?>
<a:theme xmlns:a="http://schemas.openxmlformats.org/drawingml/2006/main" name="Office Theme">
  <a:themeElements>
    <a:clrScheme name="Bizz Summit">
      <a:dk1>
        <a:srgbClr val="000000"/>
      </a:dk1>
      <a:lt1>
        <a:srgbClr val="FFFFFF"/>
      </a:lt1>
      <a:dk2>
        <a:srgbClr val="292B45"/>
      </a:dk2>
      <a:lt2>
        <a:srgbClr val="E7E6E6"/>
      </a:lt2>
      <a:accent1>
        <a:srgbClr val="119F9A"/>
      </a:accent1>
      <a:accent2>
        <a:srgbClr val="FF509F"/>
      </a:accent2>
      <a:accent3>
        <a:srgbClr val="FFDA37"/>
      </a:accent3>
      <a:accent4>
        <a:srgbClr val="4BE7D8"/>
      </a:accent4>
      <a:accent5>
        <a:srgbClr val="292B45"/>
      </a:accent5>
      <a:accent6>
        <a:srgbClr val="119F9A"/>
      </a:accent6>
      <a:hlink>
        <a:srgbClr val="FF6EA8"/>
      </a:hlink>
      <a:folHlink>
        <a:srgbClr val="FFDA37"/>
      </a:folHlink>
    </a:clrScheme>
    <a:fontScheme name="Custom 8">
      <a:majorFont>
        <a:latin typeface="Fira Sans"/>
        <a:ea typeface=""/>
        <a:cs typeface=""/>
      </a:majorFont>
      <a:minorFont>
        <a:latin typeface="Open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520a496-9bbc-42e6-b563-20d57e63cd3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3CAA75118B1A74C870DDA809F025FF0" ma:contentTypeVersion="20" ma:contentTypeDescription="Crear nuevo documento." ma:contentTypeScope="" ma:versionID="59f6597b14225d58c71ff444e0f5b2b2">
  <xsd:schema xmlns:xsd="http://www.w3.org/2001/XMLSchema" xmlns:xs="http://www.w3.org/2001/XMLSchema" xmlns:p="http://schemas.microsoft.com/office/2006/metadata/properties" xmlns:ns3="28107edc-7baf-48fc-b71e-89e13ddf6b0b" xmlns:ns4="9520a496-9bbc-42e6-b563-20d57e63cd32" targetNamespace="http://schemas.microsoft.com/office/2006/metadata/properties" ma:root="true" ma:fieldsID="88db39c081f3390f1250962d541b2f19" ns3:_="" ns4:_="">
    <xsd:import namespace="28107edc-7baf-48fc-b71e-89e13ddf6b0b"/>
    <xsd:import namespace="9520a496-9bbc-42e6-b563-20d57e63cd32"/>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GenerationTime" minOccurs="0"/>
                <xsd:element ref="ns4:MediaServiceEventHashCode" minOccurs="0"/>
                <xsd:element ref="ns4:MediaServiceOCR" minOccurs="0"/>
                <xsd:element ref="ns4:MediaServiceAutoKeyPoints" minOccurs="0"/>
                <xsd:element ref="ns4:MediaServiceKeyPoints" minOccurs="0"/>
                <xsd:element ref="ns4:MediaLengthInSeconds" minOccurs="0"/>
                <xsd:element ref="ns4:_activity" minOccurs="0"/>
                <xsd:element ref="ns4:MediaServiceSearchProperties" minOccurs="0"/>
                <xsd:element ref="ns4:MediaServiceObjectDetectorVersions" minOccurs="0"/>
                <xsd:element ref="ns4:MediaServiceSystemTags" minOccurs="0"/>
                <xsd:element ref="ns4:TranslatedLang"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107edc-7baf-48fc-b71e-89e13ddf6b0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SharingHintHash" ma:index="10" nillable="true" ma:displayName="Hash de la sugerencia para comparti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20a496-9bbc-42e6-b563-20d57e63cd32"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TranslatedLang" ma:index="26" nillable="true" ma:displayName="Translated Language" ma:hidden="true" ma:internalName="TranslatedLang"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FFD7846-F70C-452C-BF1E-47F239EE4F25}">
  <ds:schemaRefs>
    <ds:schemaRef ds:uri="http://schemas.microsoft.com/sharepoint/v3/contenttype/forms"/>
  </ds:schemaRefs>
</ds:datastoreItem>
</file>

<file path=customXml/itemProps2.xml><?xml version="1.0" encoding="utf-8"?>
<ds:datastoreItem xmlns:ds="http://schemas.openxmlformats.org/officeDocument/2006/customXml" ds:itemID="{E16D61E8-211B-4934-BE4D-BBB9184803E4}">
  <ds:schemaRefs>
    <ds:schemaRef ds:uri="http://schemas.microsoft.com/office/2006/documentManagement/types"/>
    <ds:schemaRef ds:uri="http://purl.org/dc/terms/"/>
    <ds:schemaRef ds:uri="http://www.w3.org/XML/1998/namespace"/>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9520a496-9bbc-42e6-b563-20d57e63cd32"/>
    <ds:schemaRef ds:uri="28107edc-7baf-48fc-b71e-89e13ddf6b0b"/>
    <ds:schemaRef ds:uri="http://purl.org/dc/dcmitype/"/>
  </ds:schemaRefs>
</ds:datastoreItem>
</file>

<file path=customXml/itemProps3.xml><?xml version="1.0" encoding="utf-8"?>
<ds:datastoreItem xmlns:ds="http://schemas.openxmlformats.org/officeDocument/2006/customXml" ds:itemID="{E93A284C-D34E-4F65-A92F-81B2B2F889DE}">
  <ds:schemaRefs>
    <ds:schemaRef ds:uri="28107edc-7baf-48fc-b71e-89e13ddf6b0b"/>
    <ds:schemaRef ds:uri="9520a496-9bbc-42e6-b563-20d57e63cd3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97a4e13-2bea-4154-b3ea-41ebd928df68}" enabled="0" method="" siteId="{c97a4e13-2bea-4154-b3ea-41ebd928df68}" removed="1"/>
</clbl:labelList>
</file>

<file path=docProps/app.xml><?xml version="1.0" encoding="utf-8"?>
<Properties xmlns="http://schemas.openxmlformats.org/officeDocument/2006/extended-properties" xmlns:vt="http://schemas.openxmlformats.org/officeDocument/2006/docPropsVTypes">
  <Template>Office Theme</Template>
  <TotalTime>0</TotalTime>
  <Words>7110</Words>
  <Application>Microsoft Office PowerPoint</Application>
  <PresentationFormat>Widescreen</PresentationFormat>
  <Paragraphs>788</Paragraphs>
  <Slides>63</Slides>
  <Notes>54</Notes>
  <HiddenSlides>3</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Aptos</vt:lpstr>
      <vt:lpstr>Arial</vt:lpstr>
      <vt:lpstr>Calibri</vt:lpstr>
      <vt:lpstr>Fira Sans</vt:lpstr>
      <vt:lpstr>Open Sans Light</vt:lpstr>
      <vt:lpstr>Oswald (Body)</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Managed security con la Power Platform - De que va esto - JcGonzalez y EArribas</dc:title>
  <dc:creator>Bayu Kresna</dc:creator>
  <cp:lastModifiedBy>Juan Carlos González</cp:lastModifiedBy>
  <cp:revision>2</cp:revision>
  <dcterms:created xsi:type="dcterms:W3CDTF">2019-04-01T15:41:01Z</dcterms:created>
  <dcterms:modified xsi:type="dcterms:W3CDTF">2025-10-08T19:30:42Z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0x01010003CAA75118B1A74C870DDA809F025FF0</vt:lpwstr>
  </property>
  <property fmtid="{D5CDD505-2E9C-101B-9397-08002B2CF9AE}" pid="3" name="MediaServiceImageTags">
    <vt:lpwstr/>
  </property>
  <property fmtid="{D5CDD505-2E9C-101B-9397-08002B2CF9AE}" pid="4" name="Order">
    <vt:lpwstr>131600.000000000</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lpwstr/>
  </property>
</Properties>
</file>
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4" r:id="rId1"/>
    <p:sldMasterId id="2147483702" r:id="rId2"/>
  </p:sldMasterIdLst>
  <p:notesMasterIdLst>
    <p:notesMasterId r:id="rId55"/>
  </p:notesMasterIdLst>
  <p:sldIdLst>
    <p:sldId id="265" r:id="rId3"/>
    <p:sldId id="260" r:id="rId4"/>
    <p:sldId id="266" r:id="rId5"/>
    <p:sldId id="264" r:id="rId6"/>
    <p:sldId id="274" r:id="rId7"/>
    <p:sldId id="275" r:id="rId8"/>
    <p:sldId id="276" r:id="rId9"/>
    <p:sldId id="277" r:id="rId10"/>
    <p:sldId id="278" r:id="rId11"/>
    <p:sldId id="271" r:id="rId12"/>
    <p:sldId id="280" r:id="rId13"/>
    <p:sldId id="281" r:id="rId14"/>
    <p:sldId id="282" r:id="rId15"/>
    <p:sldId id="283" r:id="rId16"/>
    <p:sldId id="284" r:id="rId17"/>
    <p:sldId id="287" r:id="rId18"/>
    <p:sldId id="286" r:id="rId19"/>
    <p:sldId id="288" r:id="rId20"/>
    <p:sldId id="289" r:id="rId21"/>
    <p:sldId id="291" r:id="rId22"/>
    <p:sldId id="272" r:id="rId23"/>
    <p:sldId id="292" r:id="rId24"/>
    <p:sldId id="294" r:id="rId25"/>
    <p:sldId id="295" r:id="rId26"/>
    <p:sldId id="296" r:id="rId27"/>
    <p:sldId id="293" r:id="rId28"/>
    <p:sldId id="290" r:id="rId29"/>
    <p:sldId id="297" r:id="rId30"/>
    <p:sldId id="303" r:id="rId31"/>
    <p:sldId id="298" r:id="rId32"/>
    <p:sldId id="300" r:id="rId33"/>
    <p:sldId id="307" r:id="rId34"/>
    <p:sldId id="306" r:id="rId35"/>
    <p:sldId id="301" r:id="rId36"/>
    <p:sldId id="302" r:id="rId37"/>
    <p:sldId id="299" r:id="rId38"/>
    <p:sldId id="305" r:id="rId39"/>
    <p:sldId id="279" r:id="rId40"/>
    <p:sldId id="311" r:id="rId41"/>
    <p:sldId id="309" r:id="rId42"/>
    <p:sldId id="312" r:id="rId43"/>
    <p:sldId id="310" r:id="rId44"/>
    <p:sldId id="308" r:id="rId45"/>
    <p:sldId id="314" r:id="rId46"/>
    <p:sldId id="316" r:id="rId47"/>
    <p:sldId id="315" r:id="rId48"/>
    <p:sldId id="313" r:id="rId49"/>
    <p:sldId id="317" r:id="rId50"/>
    <p:sldId id="261" r:id="rId51"/>
    <p:sldId id="273" r:id="rId52"/>
    <p:sldId id="270" r:id="rId53"/>
    <p:sldId id="318" r:id="rId54"/>
  </p:sldIdLst>
  <p:sldSz cx="11430000" cy="5981700"/>
  <p:notesSz cx="6858000" cy="9144000"/>
  <p:embeddedFontLst>
    <p:embeddedFont>
      <p:font typeface="Agency FB" panose="020B0503020202020204" pitchFamily="34" charset="0"/>
      <p:regular r:id="rId56"/>
      <p:bold r:id="rId57"/>
    </p:embeddedFont>
    <p:embeddedFont>
      <p:font typeface="Chunk Five" panose="020B0604020202020204" charset="0"/>
      <p:regular r:id="rId58"/>
    </p:embeddedFont>
    <p:embeddedFont>
      <p:font typeface="Open Sans" panose="020B0606030504020204" pitchFamily="34" charset="0"/>
      <p:regular r:id="rId59"/>
      <p:bold r:id="rId60"/>
      <p:italic r:id="rId61"/>
      <p:boldItalic r:id="rId62"/>
    </p:embeddedFont>
    <p:embeddedFont>
      <p:font typeface="Open Sans Bold" panose="020B0806030504020204" charset="0"/>
      <p:regular r:id="rId63"/>
      <p:bold r:id="rId64"/>
    </p:embeddedFont>
    <p:embeddedFont>
      <p:font typeface="Segoe UI" panose="020B0502040204020203" pitchFamily="34" charset="0"/>
      <p:regular r:id="rId65"/>
      <p:bold r:id="rId66"/>
      <p:italic r:id="rId67"/>
      <p:boldItalic r:id="rId68"/>
    </p:embeddedFont>
    <p:embeddedFont>
      <p:font typeface="Segoe UI Semibold" panose="020B0702040204020203" pitchFamily="34" charset="0"/>
      <p:bold r:id="rId69"/>
      <p:boldItalic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a:srgbClr val="333940"/>
    <a:srgbClr val="F8F8F9"/>
    <a:srgbClr val="D806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84980" autoAdjust="0"/>
  </p:normalViewPr>
  <p:slideViewPr>
    <p:cSldViewPr>
      <p:cViewPr varScale="1">
        <p:scale>
          <a:sx n="78" d="100"/>
          <a:sy n="78" d="100"/>
        </p:scale>
        <p:origin x="774" y="2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7.fntdata"/><Relationship Id="rId70"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498D8-4A2C-4FF5-8574-2C15FD3E7AFB}" type="datetimeFigureOut">
              <a:rPr lang="en-US" smtClean="0"/>
              <a:t>6/20/2025</a:t>
            </a:fld>
            <a:endParaRPr lang="en-US"/>
          </a:p>
        </p:txBody>
      </p:sp>
      <p:sp>
        <p:nvSpPr>
          <p:cNvPr id="4" name="Slide Image Placeholder 3"/>
          <p:cNvSpPr>
            <a:spLocks noGrp="1" noRot="1" noChangeAspect="1"/>
          </p:cNvSpPr>
          <p:nvPr>
            <p:ph type="sldImg" idx="2"/>
          </p:nvPr>
        </p:nvSpPr>
        <p:spPr>
          <a:xfrm>
            <a:off x="481013" y="1143000"/>
            <a:ext cx="5895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8B055F-1CCF-439D-891E-E89C506CB894}" type="slidenum">
              <a:rPr lang="en-US" smtClean="0"/>
              <a:t>‹#›</a:t>
            </a:fld>
            <a:endParaRPr lang="en-US"/>
          </a:p>
        </p:txBody>
      </p:sp>
    </p:spTree>
    <p:extLst>
      <p:ext uri="{BB962C8B-B14F-4D97-AF65-F5344CB8AC3E}">
        <p14:creationId xmlns:p14="http://schemas.microsoft.com/office/powerpoint/2010/main" val="2842557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earn.microsoft.com/en-us/power-platform/admin/cross-tenant-restriction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earn.microsoft.com/en-us/power-platform/admin/ip-firewall"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learn.microsoft.com/en-us/power-platform/admin/vnet-support-overview" TargetMode="External"/><Relationship Id="rId4" Type="http://schemas.openxmlformats.org/officeDocument/2006/relationships/hyperlink" Target="https://learn.microsoft.com/en-us/power-platform/admin/block-cookie-replay-attack"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earn.microsoft.com/en-us/power-platform/admin/ip-firewall"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learn.microsoft.com/en-us/power-platform/admin/vnet-support-overview" TargetMode="External"/><Relationship Id="rId4" Type="http://schemas.openxmlformats.org/officeDocument/2006/relationships/hyperlink" Target="https://learn.microsoft.com/en-us/power-platform/admin/block-cookie-replay-attack"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800" dirty="0">
                <a:effectLst/>
                <a:latin typeface="Aptos" panose="020B0004020202020204" pitchFamily="34" charset="0"/>
              </a:rPr>
              <a:t>Managed Security in the Power Platform: Advanced Protection for an AI-Driven World</a:t>
            </a:r>
            <a:endParaRPr lang="en-US" dirty="0"/>
          </a:p>
        </p:txBody>
      </p:sp>
      <p:sp>
        <p:nvSpPr>
          <p:cNvPr id="4" name="Slide Number Placeholder 3"/>
          <p:cNvSpPr>
            <a:spLocks noGrp="1"/>
          </p:cNvSpPr>
          <p:nvPr>
            <p:ph type="sldNum" sz="quarter" idx="5"/>
          </p:nvPr>
        </p:nvSpPr>
        <p:spPr/>
        <p:txBody>
          <a:bodyPr/>
          <a:lstStyle/>
          <a:p>
            <a:fld id="{5F8B055F-1CCF-439D-891E-E89C506CB894}" type="slidenum">
              <a:rPr lang="en-US" smtClean="0"/>
              <a:t>1</a:t>
            </a:fld>
            <a:endParaRPr lang="en-US"/>
          </a:p>
        </p:txBody>
      </p:sp>
    </p:spTree>
    <p:extLst>
      <p:ext uri="{BB962C8B-B14F-4D97-AF65-F5344CB8AC3E}">
        <p14:creationId xmlns:p14="http://schemas.microsoft.com/office/powerpoint/2010/main" val="422620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Protecting data and platforms is a must</a:t>
            </a:r>
          </a:p>
          <a:p>
            <a:pPr marL="171450" marR="0" lvl="0" indent="-171450" fontAlgn="auto">
              <a:lnSpc>
                <a:spcPct val="100000"/>
              </a:lnSpc>
              <a:spcAft>
                <a:spcPts val="0"/>
              </a:spcAft>
              <a:buClrTx/>
              <a:buSzPct val="90000"/>
              <a:buFont typeface="Arial" panose="020B0604020202020204" pitchFamily="34" charset="0"/>
              <a:buChar char="•"/>
              <a:tabLst/>
              <a:defRPr/>
            </a:pPr>
            <a:endParaRPr lang="en-US" sz="1200" dirty="0"/>
          </a:p>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Security layers &amp; Managed Security in the Power Platform</a:t>
            </a:r>
          </a:p>
          <a:p>
            <a:pPr marL="171450" marR="0" lvl="0" indent="-171450" fontAlgn="auto">
              <a:lnSpc>
                <a:spcPct val="100000"/>
              </a:lnSpc>
              <a:spcAft>
                <a:spcPts val="0"/>
              </a:spcAft>
              <a:buClrTx/>
              <a:buSzPct val="90000"/>
              <a:buFont typeface="Arial" panose="020B0604020202020204" pitchFamily="34" charset="0"/>
              <a:buChar char="•"/>
              <a:tabLst/>
              <a:defRPr/>
            </a:pPr>
            <a:endParaRPr lang="en-US" sz="1200" dirty="0"/>
          </a:p>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Identity &amp; Access Management + Network Security</a:t>
            </a:r>
          </a:p>
          <a:p>
            <a:pPr marL="171450" marR="0" lvl="0" indent="-171450" fontAlgn="auto">
              <a:lnSpc>
                <a:spcPct val="100000"/>
              </a:lnSpc>
              <a:spcAft>
                <a:spcPts val="0"/>
              </a:spcAft>
              <a:buClrTx/>
              <a:buSzPct val="90000"/>
              <a:buFont typeface="Arial" panose="020B0604020202020204" pitchFamily="34" charset="0"/>
              <a:buChar char="•"/>
              <a:tabLst/>
              <a:defRPr/>
            </a:pPr>
            <a:endParaRPr lang="en-US" sz="1200" dirty="0"/>
          </a:p>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Data Access Management, Data Security and Data Loss Prevention</a:t>
            </a:r>
          </a:p>
          <a:p>
            <a:pPr marL="171450" marR="0" lvl="0" indent="-171450" fontAlgn="auto">
              <a:lnSpc>
                <a:spcPct val="100000"/>
              </a:lnSpc>
              <a:spcAft>
                <a:spcPts val="0"/>
              </a:spcAft>
              <a:buClrTx/>
              <a:buSzPct val="90000"/>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171450" marR="0" lvl="0" indent="-171450" fontAlgn="auto">
              <a:lnSpc>
                <a:spcPct val="100000"/>
              </a:lnSpc>
              <a:spcAft>
                <a:spcPts val="0"/>
              </a:spcAft>
              <a:buClrTx/>
              <a:buSzPct val="900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Compliance Standards and Regulations</a:t>
            </a:r>
          </a:p>
          <a:p>
            <a:endParaRPr lang="en-US" dirty="0"/>
          </a:p>
        </p:txBody>
      </p:sp>
      <p:sp>
        <p:nvSpPr>
          <p:cNvPr id="4" name="Slide Number Placeholder 3"/>
          <p:cNvSpPr>
            <a:spLocks noGrp="1"/>
          </p:cNvSpPr>
          <p:nvPr>
            <p:ph type="sldNum" sz="quarter" idx="5"/>
          </p:nvPr>
        </p:nvSpPr>
        <p:spPr/>
        <p:txBody>
          <a:bodyPr/>
          <a:lstStyle/>
          <a:p>
            <a:fld id="{5F8B055F-1CCF-439D-891E-E89C506CB894}" type="slidenum">
              <a:rPr lang="en-US" smtClean="0"/>
              <a:t>4</a:t>
            </a:fld>
            <a:endParaRPr lang="en-US"/>
          </a:p>
        </p:txBody>
      </p:sp>
    </p:spTree>
    <p:extLst>
      <p:ext uri="{BB962C8B-B14F-4D97-AF65-F5344CB8AC3E}">
        <p14:creationId xmlns:p14="http://schemas.microsoft.com/office/powerpoint/2010/main" val="2597066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6C01B-FED4-925C-9E35-7212A306B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D62EE9-F1F8-C53A-8B9F-8CDD6727D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2B885-D6A9-0103-D039-06112BC2D2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Growing sophistication of attacks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Drive to leverage data to unlock AI-driven scenarios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Data access demands from an increasingly dynamic workforce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Evolving regulatory and legal requirement </a:t>
            </a:r>
          </a:p>
          <a:p>
            <a:endParaRPr lang="en-US" dirty="0"/>
          </a:p>
        </p:txBody>
      </p:sp>
      <p:sp>
        <p:nvSpPr>
          <p:cNvPr id="4" name="Slide Number Placeholder 3">
            <a:extLst>
              <a:ext uri="{FF2B5EF4-FFF2-40B4-BE49-F238E27FC236}">
                <a16:creationId xmlns:a16="http://schemas.microsoft.com/office/drawing/2014/main" id="{AB8E0A27-750F-21C1-8A07-D08DF82F45BC}"/>
              </a:ext>
            </a:extLst>
          </p:cNvPr>
          <p:cNvSpPr>
            <a:spLocks noGrp="1"/>
          </p:cNvSpPr>
          <p:nvPr>
            <p:ph type="sldNum" sz="quarter" idx="5"/>
          </p:nvPr>
        </p:nvSpPr>
        <p:spPr/>
        <p:txBody>
          <a:bodyPr/>
          <a:lstStyle/>
          <a:p>
            <a:fld id="{5F8B055F-1CCF-439D-891E-E89C506CB894}" type="slidenum">
              <a:rPr lang="en-US" smtClean="0"/>
              <a:t>5</a:t>
            </a:fld>
            <a:endParaRPr lang="en-US"/>
          </a:p>
        </p:txBody>
      </p:sp>
    </p:spTree>
    <p:extLst>
      <p:ext uri="{BB962C8B-B14F-4D97-AF65-F5344CB8AC3E}">
        <p14:creationId xmlns:p14="http://schemas.microsoft.com/office/powerpoint/2010/main" val="3519383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E771-6190-B8EA-7CFE-7DC09DF72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8970C-6D94-41F1-4BD3-97C19B336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E74132-4A13-CA66-9BA9-47874C6A8482}"/>
              </a:ext>
            </a:extLst>
          </p:cNvPr>
          <p:cNvSpPr>
            <a:spLocks noGrp="1"/>
          </p:cNvSpPr>
          <p:nvPr>
            <p:ph type="body" idx="1"/>
          </p:nvPr>
        </p:nvSpPr>
        <p:spPr/>
        <p:txBody>
          <a:bodyPr/>
          <a:lstStyle/>
          <a:p>
            <a:pPr lvl="0">
              <a:lnSpc>
                <a:spcPct val="100000"/>
              </a:lnSpc>
            </a:pPr>
            <a:r>
              <a:rPr lang="en-US" dirty="0"/>
              <a:t>How can I control and limit access to data?</a:t>
            </a:r>
          </a:p>
          <a:p>
            <a:pPr lvl="0">
              <a:lnSpc>
                <a:spcPct val="100000"/>
              </a:lnSpc>
            </a:pPr>
            <a:r>
              <a:rPr lang="en-US" dirty="0"/>
              <a:t>How can I prevent data exfiltration?</a:t>
            </a:r>
          </a:p>
          <a:p>
            <a:pPr lvl="0">
              <a:lnSpc>
                <a:spcPct val="100000"/>
              </a:lnSpc>
            </a:pPr>
            <a:r>
              <a:rPr lang="en-US" dirty="0"/>
              <a:t>How can I stay compliant with regulations?</a:t>
            </a:r>
          </a:p>
          <a:p>
            <a:pPr lvl="0">
              <a:lnSpc>
                <a:spcPct val="100000"/>
              </a:lnSpc>
            </a:pPr>
            <a:r>
              <a:rPr lang="en-US" dirty="0"/>
              <a:t>How can I protect my data from external threats?</a:t>
            </a:r>
          </a:p>
          <a:p>
            <a:pPr lvl="0">
              <a:lnSpc>
                <a:spcPct val="100000"/>
              </a:lnSpc>
            </a:pPr>
            <a:r>
              <a:rPr lang="en-US" dirty="0"/>
              <a:t>How can I gain visibility into user activity?</a:t>
            </a:r>
          </a:p>
          <a:p>
            <a:pPr lvl="0">
              <a:lnSpc>
                <a:spcPct val="100000"/>
              </a:lnSpc>
            </a:pPr>
            <a:r>
              <a:rPr lang="en-US" dirty="0"/>
              <a:t>How can I assess the risk?</a:t>
            </a:r>
          </a:p>
          <a:p>
            <a:endParaRPr lang="en-US" dirty="0"/>
          </a:p>
        </p:txBody>
      </p:sp>
      <p:sp>
        <p:nvSpPr>
          <p:cNvPr id="4" name="Slide Number Placeholder 3">
            <a:extLst>
              <a:ext uri="{FF2B5EF4-FFF2-40B4-BE49-F238E27FC236}">
                <a16:creationId xmlns:a16="http://schemas.microsoft.com/office/drawing/2014/main" id="{EBC32D16-2735-4F9A-3E2A-4D9BF4E90E9B}"/>
              </a:ext>
            </a:extLst>
          </p:cNvPr>
          <p:cNvSpPr>
            <a:spLocks noGrp="1"/>
          </p:cNvSpPr>
          <p:nvPr>
            <p:ph type="sldNum" sz="quarter" idx="5"/>
          </p:nvPr>
        </p:nvSpPr>
        <p:spPr/>
        <p:txBody>
          <a:bodyPr/>
          <a:lstStyle/>
          <a:p>
            <a:fld id="{5F8B055F-1CCF-439D-891E-E89C506CB894}" type="slidenum">
              <a:rPr lang="en-US" smtClean="0"/>
              <a:t>6</a:t>
            </a:fld>
            <a:endParaRPr lang="en-US"/>
          </a:p>
        </p:txBody>
      </p:sp>
    </p:spTree>
    <p:extLst>
      <p:ext uri="{BB962C8B-B14F-4D97-AF65-F5344CB8AC3E}">
        <p14:creationId xmlns:p14="http://schemas.microsoft.com/office/powerpoint/2010/main" val="3263155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367D-E568-F898-3548-3E7C546FB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2CF29-55A0-EEC6-1E43-9BCA7F4198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73621-BC73-27F8-EE47-4FD51E42C5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rgbClr val="000000"/>
                </a:solidFill>
                <a:latin typeface="Arial"/>
                <a:cs typeface="Arial"/>
                <a:sym typeface="Arial"/>
              </a:rPr>
              <a:t>How can I protect my data from external threats?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Identity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Network 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can I control and limit access to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can I prevent data exfiltration?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can I gain visibility into user activity?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E6E6E6">
                    <a:lumMod val="90000"/>
                  </a:srgbClr>
                </a:solidFill>
                <a:effectLst/>
                <a:uLnTx/>
                <a:uFillTx/>
                <a:latin typeface="Segoe UI"/>
                <a:ea typeface="+mn-ea"/>
                <a:cs typeface="Segoe UI" panose="020B0502040204020203" pitchFamily="34" charset="0"/>
              </a:rPr>
              <a:t>User access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Data level 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lumMod val="85000"/>
                  </a:srgbClr>
                </a:solidFill>
                <a:effectLst/>
                <a:uLnTx/>
                <a:uFillTx/>
                <a:latin typeface="Segoe UI"/>
                <a:ea typeface="+mn-ea"/>
                <a:cs typeface="Segoe UI" panose="020B0502040204020203" pitchFamily="34" charset="0"/>
              </a:rPr>
              <a:t>Prevent data exfiltration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lumMod val="85000"/>
                  </a:srgbClr>
                </a:solidFill>
                <a:effectLst/>
                <a:uLnTx/>
                <a:uFillTx/>
                <a:latin typeface="Segoe UI"/>
                <a:ea typeface="+mn-ea"/>
                <a:cs typeface="Segoe UI" panose="020B0502040204020203" pitchFamily="34" charset="0"/>
              </a:rPr>
              <a:t>Increased visibility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How can I stay compliant with regulations?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Data encryption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E6E6E6">
                    <a:lumMod val="90000"/>
                  </a:srgbClr>
                </a:solidFill>
                <a:effectLst/>
                <a:uLnTx/>
                <a:uFillTx/>
                <a:latin typeface="Segoe UI"/>
                <a:ea typeface="+mn-ea"/>
                <a:cs typeface="Segoe UI" panose="020B0502040204020203" pitchFamily="34" charset="0"/>
              </a:rPr>
              <a:t>Compliance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can I assess the risk?</a:t>
            </a:r>
          </a:p>
          <a:p>
            <a:endParaRPr lang="en-US" dirty="0"/>
          </a:p>
        </p:txBody>
      </p:sp>
      <p:sp>
        <p:nvSpPr>
          <p:cNvPr id="4" name="Slide Number Placeholder 3">
            <a:extLst>
              <a:ext uri="{FF2B5EF4-FFF2-40B4-BE49-F238E27FC236}">
                <a16:creationId xmlns:a16="http://schemas.microsoft.com/office/drawing/2014/main" id="{0844AAE1-B7D5-655A-87F5-FBE446981ECC}"/>
              </a:ext>
            </a:extLst>
          </p:cNvPr>
          <p:cNvSpPr>
            <a:spLocks noGrp="1"/>
          </p:cNvSpPr>
          <p:nvPr>
            <p:ph type="sldNum" sz="quarter" idx="5"/>
          </p:nvPr>
        </p:nvSpPr>
        <p:spPr/>
        <p:txBody>
          <a:bodyPr/>
          <a:lstStyle/>
          <a:p>
            <a:fld id="{5F8B055F-1CCF-439D-891E-E89C506CB894}" type="slidenum">
              <a:rPr lang="en-US" smtClean="0"/>
              <a:t>7</a:t>
            </a:fld>
            <a:endParaRPr lang="en-US"/>
          </a:p>
        </p:txBody>
      </p:sp>
    </p:spTree>
    <p:extLst>
      <p:ext uri="{BB962C8B-B14F-4D97-AF65-F5344CB8AC3E}">
        <p14:creationId xmlns:p14="http://schemas.microsoft.com/office/powerpoint/2010/main" val="2862866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E8E26-2DA3-BD6C-95F2-3E91B009D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4DFBE-E335-515E-4AC0-E02D0E9A21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857F7-88A1-04BB-0C0C-A531153795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D85A73-6963-C23C-73CD-D4E1FE2405DB}"/>
              </a:ext>
            </a:extLst>
          </p:cNvPr>
          <p:cNvSpPr>
            <a:spLocks noGrp="1"/>
          </p:cNvSpPr>
          <p:nvPr>
            <p:ph type="sldNum" sz="quarter" idx="5"/>
          </p:nvPr>
        </p:nvSpPr>
        <p:spPr/>
        <p:txBody>
          <a:bodyPr/>
          <a:lstStyle/>
          <a:p>
            <a:fld id="{5F8B055F-1CCF-439D-891E-E89C506CB894}" type="slidenum">
              <a:rPr lang="en-US" smtClean="0"/>
              <a:t>8</a:t>
            </a:fld>
            <a:endParaRPr lang="en-US"/>
          </a:p>
        </p:txBody>
      </p:sp>
    </p:spTree>
    <p:extLst>
      <p:ext uri="{BB962C8B-B14F-4D97-AF65-F5344CB8AC3E}">
        <p14:creationId xmlns:p14="http://schemas.microsoft.com/office/powerpoint/2010/main" val="3949239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7BC07-BDF0-3F1A-7F34-9411DF006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E3290-F63F-3612-D6D6-023F990D8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39022-ABBE-2181-E61B-07AA84DBD5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6D6FBE-ACCB-1210-3B3A-4AAA0D46780C}"/>
              </a:ext>
            </a:extLst>
          </p:cNvPr>
          <p:cNvSpPr>
            <a:spLocks noGrp="1"/>
          </p:cNvSpPr>
          <p:nvPr>
            <p:ph type="sldNum" sz="quarter" idx="5"/>
          </p:nvPr>
        </p:nvSpPr>
        <p:spPr/>
        <p:txBody>
          <a:bodyPr/>
          <a:lstStyle/>
          <a:p>
            <a:fld id="{5F8B055F-1CCF-439D-891E-E89C506CB894}" type="slidenum">
              <a:rPr lang="en-US" smtClean="0"/>
              <a:t>9</a:t>
            </a:fld>
            <a:endParaRPr lang="en-US"/>
          </a:p>
        </p:txBody>
      </p:sp>
    </p:spTree>
    <p:extLst>
      <p:ext uri="{BB962C8B-B14F-4D97-AF65-F5344CB8AC3E}">
        <p14:creationId xmlns:p14="http://schemas.microsoft.com/office/powerpoint/2010/main" val="2323160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26A4A-138D-C576-6164-CB4679FCB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CC489-D334-8D6F-9EA2-BD92AAE89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503EB-6547-D5DE-2704-A347CBF21E0E}"/>
              </a:ext>
            </a:extLst>
          </p:cNvPr>
          <p:cNvSpPr>
            <a:spLocks noGrp="1"/>
          </p:cNvSpPr>
          <p:nvPr>
            <p:ph type="body" idx="1"/>
          </p:nvPr>
        </p:nvSpPr>
        <p:spPr/>
        <p:txBody>
          <a:bodyPr/>
          <a:lstStyle/>
          <a:p>
            <a:r>
              <a:rPr lang="es-ES" dirty="0" err="1"/>
              <a:t>Authentication</a:t>
            </a:r>
            <a:r>
              <a:rPr lang="es-ES" dirty="0"/>
              <a:t>:</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Full support for Microsoft Entra-based identities and access controls</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Security group native integration</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Automatically block access if suspicious activities are detected</a:t>
            </a:r>
          </a:p>
          <a:p>
            <a:r>
              <a:rPr lang="en-US" dirty="0"/>
              <a:t>Conditional Access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Make  decisions and enforce organization policies regarding user/group membership, IP location, device, risk detection, etc.</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Isolation</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Restrict to/from cross tenant connections established via Power Platform applications and flows. </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Allow rules based on business needs</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Continuous Access Evaluation</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Force user re-authentication as response to events such: password change/reset, user account deleted , auth token refresh, MFA enabled, etc.</a:t>
            </a:r>
          </a:p>
          <a:p>
            <a:pPr marL="171450" marR="0" lvl="0" indent="-171450" algn="l" defTabSz="914367"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lang="en-US" sz="1200" dirty="0">
                <a:solidFill>
                  <a:srgbClr val="000000"/>
                </a:solidFill>
                <a:latin typeface="Segoe UI"/>
              </a:rPr>
              <a:t>Current scope: Dataverse, model driven apps</a:t>
            </a: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A2E14161-D7B6-262D-8B29-B023FC047308}"/>
              </a:ext>
            </a:extLst>
          </p:cNvPr>
          <p:cNvSpPr>
            <a:spLocks noGrp="1"/>
          </p:cNvSpPr>
          <p:nvPr>
            <p:ph type="sldNum" sz="quarter" idx="5"/>
          </p:nvPr>
        </p:nvSpPr>
        <p:spPr/>
        <p:txBody>
          <a:bodyPr/>
          <a:lstStyle/>
          <a:p>
            <a:fld id="{5F8B055F-1CCF-439D-891E-E89C506CB894}" type="slidenum">
              <a:rPr lang="en-US" smtClean="0"/>
              <a:t>11</a:t>
            </a:fld>
            <a:endParaRPr lang="en-US"/>
          </a:p>
        </p:txBody>
      </p:sp>
    </p:spTree>
    <p:extLst>
      <p:ext uri="{BB962C8B-B14F-4D97-AF65-F5344CB8AC3E}">
        <p14:creationId xmlns:p14="http://schemas.microsoft.com/office/powerpoint/2010/main" val="296420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7991-A372-F417-2ACE-C233D77B3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99C3E-8AE5-ED92-ACC5-30AA7D5A7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44B4-BECD-F7F1-39D0-965BD86FF2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52EB6F-A513-DFCF-C231-23786CB845C9}"/>
              </a:ext>
            </a:extLst>
          </p:cNvPr>
          <p:cNvSpPr>
            <a:spLocks noGrp="1"/>
          </p:cNvSpPr>
          <p:nvPr>
            <p:ph type="sldNum" sz="quarter" idx="5"/>
          </p:nvPr>
        </p:nvSpPr>
        <p:spPr/>
        <p:txBody>
          <a:bodyPr/>
          <a:lstStyle/>
          <a:p>
            <a:fld id="{5F8B055F-1CCF-439D-891E-E89C506CB894}" type="slidenum">
              <a:rPr lang="en-US" smtClean="0"/>
              <a:t>12</a:t>
            </a:fld>
            <a:endParaRPr lang="en-US"/>
          </a:p>
        </p:txBody>
      </p:sp>
    </p:spTree>
    <p:extLst>
      <p:ext uri="{BB962C8B-B14F-4D97-AF65-F5344CB8AC3E}">
        <p14:creationId xmlns:p14="http://schemas.microsoft.com/office/powerpoint/2010/main" val="2454796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D8A75-0B3A-3F60-E26E-CC53A17EF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968B4-BDE1-889B-060B-975EB1B08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9720F-9AA9-8E85-38A8-DB3A40514D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DA26C3-969C-03F8-1DB4-8F864CEFE2F5}"/>
              </a:ext>
            </a:extLst>
          </p:cNvPr>
          <p:cNvSpPr>
            <a:spLocks noGrp="1"/>
          </p:cNvSpPr>
          <p:nvPr>
            <p:ph type="sldNum" sz="quarter" idx="5"/>
          </p:nvPr>
        </p:nvSpPr>
        <p:spPr/>
        <p:txBody>
          <a:bodyPr/>
          <a:lstStyle/>
          <a:p>
            <a:fld id="{5F8B055F-1CCF-439D-891E-E89C506CB894}" type="slidenum">
              <a:rPr lang="en-US" smtClean="0"/>
              <a:t>13</a:t>
            </a:fld>
            <a:endParaRPr lang="en-US"/>
          </a:p>
        </p:txBody>
      </p:sp>
    </p:spTree>
    <p:extLst>
      <p:ext uri="{BB962C8B-B14F-4D97-AF65-F5344CB8AC3E}">
        <p14:creationId xmlns:p14="http://schemas.microsoft.com/office/powerpoint/2010/main" val="386101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5FFB0-D25C-EF9E-E3D8-E10AEF6F9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633EEB-9067-D88E-2ED6-50A5E073B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6D32C-32FA-730C-63BA-CB7CEB1BCA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Restrict cross-tenant inbound and outbound access - Power Platform | Microsoft Learn</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F950E9A-EA22-C096-984E-D1186B6FC6F7}"/>
              </a:ext>
            </a:extLst>
          </p:cNvPr>
          <p:cNvSpPr>
            <a:spLocks noGrp="1"/>
          </p:cNvSpPr>
          <p:nvPr>
            <p:ph type="sldNum" sz="quarter" idx="5"/>
          </p:nvPr>
        </p:nvSpPr>
        <p:spPr/>
        <p:txBody>
          <a:bodyPr/>
          <a:lstStyle/>
          <a:p>
            <a:fld id="{5F8B055F-1CCF-439D-891E-E89C506CB894}" type="slidenum">
              <a:rPr lang="en-US" smtClean="0"/>
              <a:t>14</a:t>
            </a:fld>
            <a:endParaRPr lang="en-US"/>
          </a:p>
        </p:txBody>
      </p:sp>
    </p:spTree>
    <p:extLst>
      <p:ext uri="{BB962C8B-B14F-4D97-AF65-F5344CB8AC3E}">
        <p14:creationId xmlns:p14="http://schemas.microsoft.com/office/powerpoint/2010/main" val="2828392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05367-4BC7-6014-9D66-EB0057544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EF515-BBA8-4D66-DE3F-4E1C301E9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5B10B-FBC9-31CC-CF14-BD032CA629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0809C-5E20-36B6-34A4-5A2334FCD910}"/>
              </a:ext>
            </a:extLst>
          </p:cNvPr>
          <p:cNvSpPr>
            <a:spLocks noGrp="1"/>
          </p:cNvSpPr>
          <p:nvPr>
            <p:ph type="sldNum" sz="quarter" idx="5"/>
          </p:nvPr>
        </p:nvSpPr>
        <p:spPr/>
        <p:txBody>
          <a:bodyPr/>
          <a:lstStyle/>
          <a:p>
            <a:fld id="{5F8B055F-1CCF-439D-891E-E89C506CB894}" type="slidenum">
              <a:rPr lang="en-US" smtClean="0"/>
              <a:t>15</a:t>
            </a:fld>
            <a:endParaRPr lang="en-US"/>
          </a:p>
        </p:txBody>
      </p:sp>
    </p:spTree>
    <p:extLst>
      <p:ext uri="{BB962C8B-B14F-4D97-AF65-F5344CB8AC3E}">
        <p14:creationId xmlns:p14="http://schemas.microsoft.com/office/powerpoint/2010/main" val="2874603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D008B-3B63-B8A6-C4BD-78FC31F4C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E096A-1D95-BC67-84F5-DD123DA487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C7CC3C-6683-AB6A-E1C8-A8C49BBD56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A8F90F-D50F-5ABB-7A99-E3222FB39BFD}"/>
              </a:ext>
            </a:extLst>
          </p:cNvPr>
          <p:cNvSpPr>
            <a:spLocks noGrp="1"/>
          </p:cNvSpPr>
          <p:nvPr>
            <p:ph type="sldNum" sz="quarter" idx="5"/>
          </p:nvPr>
        </p:nvSpPr>
        <p:spPr/>
        <p:txBody>
          <a:bodyPr/>
          <a:lstStyle/>
          <a:p>
            <a:fld id="{5F8B055F-1CCF-439D-891E-E89C506CB894}" type="slidenum">
              <a:rPr lang="en-US" smtClean="0"/>
              <a:t>16</a:t>
            </a:fld>
            <a:endParaRPr lang="en-US"/>
          </a:p>
        </p:txBody>
      </p:sp>
    </p:spTree>
    <p:extLst>
      <p:ext uri="{BB962C8B-B14F-4D97-AF65-F5344CB8AC3E}">
        <p14:creationId xmlns:p14="http://schemas.microsoft.com/office/powerpoint/2010/main" val="390414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2EE0-EE96-F156-6B9E-03BBEE76B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51328-E9F6-9178-3CBD-11B4CC4179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1D373-60C1-A4EF-7348-AB71B9C02F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2E449A-FABF-9715-19B5-4B6E6997177B}"/>
              </a:ext>
            </a:extLst>
          </p:cNvPr>
          <p:cNvSpPr>
            <a:spLocks noGrp="1"/>
          </p:cNvSpPr>
          <p:nvPr>
            <p:ph type="sldNum" sz="quarter" idx="5"/>
          </p:nvPr>
        </p:nvSpPr>
        <p:spPr/>
        <p:txBody>
          <a:bodyPr/>
          <a:lstStyle/>
          <a:p>
            <a:fld id="{5F8B055F-1CCF-439D-891E-E89C506CB894}" type="slidenum">
              <a:rPr lang="en-US" smtClean="0"/>
              <a:t>19</a:t>
            </a:fld>
            <a:endParaRPr lang="en-US"/>
          </a:p>
        </p:txBody>
      </p:sp>
    </p:spTree>
    <p:extLst>
      <p:ext uri="{BB962C8B-B14F-4D97-AF65-F5344CB8AC3E}">
        <p14:creationId xmlns:p14="http://schemas.microsoft.com/office/powerpoint/2010/main" val="3823272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3911A-3488-F5A0-8508-26DA8BB5F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DC94A-0343-6131-2FFD-B9E9F991C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12B9F-D6C6-4C61-54CC-AFE6DD979D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BD11ED-E25E-79B4-E5F8-D7FB7CD34179}"/>
              </a:ext>
            </a:extLst>
          </p:cNvPr>
          <p:cNvSpPr>
            <a:spLocks noGrp="1"/>
          </p:cNvSpPr>
          <p:nvPr>
            <p:ph type="sldNum" sz="quarter" idx="5"/>
          </p:nvPr>
        </p:nvSpPr>
        <p:spPr/>
        <p:txBody>
          <a:bodyPr/>
          <a:lstStyle/>
          <a:p>
            <a:fld id="{5F8B055F-1CCF-439D-891E-E89C506CB894}" type="slidenum">
              <a:rPr lang="en-US" smtClean="0"/>
              <a:t>20</a:t>
            </a:fld>
            <a:endParaRPr lang="en-US"/>
          </a:p>
        </p:txBody>
      </p:sp>
    </p:spTree>
    <p:extLst>
      <p:ext uri="{BB962C8B-B14F-4D97-AF65-F5344CB8AC3E}">
        <p14:creationId xmlns:p14="http://schemas.microsoft.com/office/powerpoint/2010/main" val="1914517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D4EC8E">
                    <a:lumMod val="50000"/>
                  </a:srgbClr>
                </a:solidFill>
                <a:effectLst/>
                <a:uLnTx/>
                <a:uFillTx/>
                <a:latin typeface="Segoe UI Semibold"/>
                <a:ea typeface="+mn-ea"/>
                <a:cs typeface="Segoe UI" charset="0"/>
              </a:rPr>
              <a:t>Approved host names &amp; IP ranges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charset="0"/>
              </a:rPr>
              <a:t>Filter inbound and outbound traffic</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000000"/>
                </a:solidFill>
                <a:effectLst/>
                <a:uLnTx/>
                <a:uFillTx/>
                <a:latin typeface="Segoe UI"/>
                <a:ea typeface="+mn-ea"/>
                <a:cs typeface="Segoe UI" charset="0"/>
              </a:rPr>
              <a:t>Service tags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Use in network access controls on Network Security Groups (NSGs) or Azure Firewall instead of approved IP ranges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dirty="0">
                <a:solidFill>
                  <a:srgbClr val="000000"/>
                </a:solidFill>
                <a:latin typeface="Segoe UI"/>
              </a:rPr>
              <a:t>Minimize the complexity of frequent updates to network security rules</a:t>
            </a:r>
            <a:r>
              <a:rPr kumimoji="0" lang="en-US" sz="1200" b="0" i="0" u="none" strike="noStrike" kern="1200" cap="none" spc="0" normalizeH="0" baseline="0" noProof="0" dirty="0">
                <a:ln>
                  <a:noFill/>
                </a:ln>
                <a:solidFill>
                  <a:srgbClr val="000000"/>
                </a:solidFill>
                <a:effectLst/>
                <a:uLnTx/>
                <a:uFillTx/>
                <a:latin typeface="Segoe UI"/>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000000"/>
                </a:solidFill>
                <a:effectLst/>
                <a:uLnTx/>
                <a:uFillTx/>
                <a:latin typeface="Segoe UI"/>
                <a:ea typeface="+mn-ea"/>
                <a:cs typeface="Segoe UI" charset="0"/>
              </a:rPr>
              <a:t>IP Firewall </a:t>
            </a:r>
            <a:r>
              <a:rPr lang="en-US" sz="2000" dirty="0">
                <a:hlinkClick r:id="rId3"/>
              </a:rPr>
              <a:t>IP firewall in Power Platform environments - Power Platform | Microsoft Learn</a:t>
            </a: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Prevents  malicious users, outside allowed IP ranges, from accessing your data – </a:t>
            </a:r>
          </a:p>
          <a:p>
            <a:pPr marL="628650" marR="0" lvl="1"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b="1" i="0" dirty="0">
                <a:solidFill>
                  <a:srgbClr val="E6E6E6"/>
                </a:solidFill>
                <a:effectLst/>
                <a:latin typeface="Segoe UI" panose="020B0502040204020203" pitchFamily="34" charset="0"/>
              </a:rPr>
              <a:t>Mitigate insider threats like data exfiltration</a:t>
            </a:r>
            <a:r>
              <a:rPr lang="en-US" b="0" i="0" dirty="0">
                <a:solidFill>
                  <a:srgbClr val="E6E6E6"/>
                </a:solidFill>
                <a:effectLst/>
                <a:latin typeface="Segoe UI" panose="020B0502040204020203" pitchFamily="34" charset="0"/>
              </a:rPr>
              <a:t>: A malicious user who tries to download data from Dataverse using a client tool like Excel or Power BI from a disallowed IP location is blocked from doing so in real time.</a:t>
            </a:r>
          </a:p>
          <a:p>
            <a:pPr marL="628650" marR="0" lvl="1"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b="1" i="0" dirty="0">
                <a:solidFill>
                  <a:srgbClr val="E6E6E6"/>
                </a:solidFill>
                <a:effectLst/>
                <a:latin typeface="Segoe UI" panose="020B0502040204020203" pitchFamily="34" charset="0"/>
              </a:rPr>
              <a:t>Prevent token replay attacks</a:t>
            </a:r>
            <a:r>
              <a:rPr lang="en-US" b="0" i="0" dirty="0">
                <a:solidFill>
                  <a:srgbClr val="E6E6E6"/>
                </a:solidFill>
                <a:effectLst/>
                <a:latin typeface="Segoe UI" panose="020B0502040204020203" pitchFamily="34" charset="0"/>
              </a:rPr>
              <a:t>: If a user steals an access token and tries to use it to access Dataverse from outside allowed IP ranges, Dataverse denies the attempt in real time.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dirty="0">
                <a:solidFill>
                  <a:srgbClr val="000000"/>
                </a:solidFill>
                <a:latin typeface="Segoe UI"/>
              </a:rPr>
              <a:t>Current scope: Dataverse </a:t>
            </a: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b="1" dirty="0"/>
              <a:t>IP Cookie Binding </a:t>
            </a:r>
            <a:r>
              <a:rPr lang="en-US" dirty="0">
                <a:hlinkClick r:id="rId4"/>
              </a:rPr>
              <a:t>Safeguarding Dataverse sessions with IP cookie binding - Power Platform | Microsoft Learn</a:t>
            </a:r>
            <a:endParaRPr lang="en-US" dirty="0"/>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Prevents attackers using cookies to impersonate an authorized user</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dirty="0">
                <a:solidFill>
                  <a:srgbClr val="000000"/>
                </a:solidFill>
                <a:latin typeface="Segoe UI"/>
              </a:rPr>
              <a:t>Current scope: Dataverse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rPr>
              <a:t>Network Isolation </a:t>
            </a:r>
            <a:r>
              <a:rPr lang="en-US" sz="2000" dirty="0">
                <a:hlinkClick r:id="rId5"/>
              </a:rPr>
              <a:t>Virtual Network support overview - Power Platform | Microsoft Learn</a:t>
            </a:r>
            <a:endParaRPr kumimoji="0" lang="en-US" sz="1200" b="1" i="0" u="none" strike="noStrike" kern="1200" cap="none" spc="0" normalizeH="0" baseline="0" noProof="0" dirty="0">
              <a:ln>
                <a:noFill/>
              </a:ln>
              <a:solidFill>
                <a:srgbClr val="000000"/>
              </a:solidFill>
              <a:effectLst/>
              <a:uLnTx/>
              <a:uFillTx/>
              <a:latin typeface="Segoe UI"/>
              <a:ea typeface="+mn-ea"/>
              <a:cs typeface="+mn-cs"/>
            </a:endParaRPr>
          </a:p>
          <a:p>
            <a:pPr marL="171450" marR="0" lvl="0" indent="-171450" algn="l" defTabSz="932472" rtl="0" eaLnBrk="1" fontAlgn="base" latinLnBrk="0" hangingPunct="1">
              <a:lnSpc>
                <a:spcPct val="100000"/>
              </a:lnSpc>
              <a:spcBef>
                <a:spcPct val="0"/>
              </a:spcBef>
              <a:spcAft>
                <a:spcPts val="300"/>
              </a:spcAft>
              <a:buClrTx/>
              <a:buSzTx/>
              <a:buFont typeface="Wingdings" panose="05000000000000000000" pitchFamily="2" charset="2"/>
              <a:buChar char="ü"/>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charset="0"/>
              </a:rPr>
              <a:t>Helps you route all network traffic from Power Platform environments to your v-Net without routing through internet.</a:t>
            </a:r>
          </a:p>
          <a:p>
            <a:pPr marL="171450" marR="0" lvl="0" indent="-171450" algn="l" defTabSz="932472" rtl="0" eaLnBrk="1" fontAlgn="base" latinLnBrk="0" hangingPunct="1">
              <a:lnSpc>
                <a:spcPct val="100000"/>
              </a:lnSpc>
              <a:spcBef>
                <a:spcPct val="0"/>
              </a:spcBef>
              <a:spcAft>
                <a:spcPts val="300"/>
              </a:spcAft>
              <a:buClrTx/>
              <a:buSzTx/>
              <a:buFont typeface="Wingdings" panose="05000000000000000000" pitchFamily="2" charset="2"/>
              <a:buChar char="ü"/>
              <a:tabLst/>
              <a:defRPr/>
            </a:pPr>
            <a:r>
              <a:rPr lang="en-US" sz="1200" kern="0" dirty="0">
                <a:solidFill>
                  <a:srgbClr val="000000"/>
                </a:solidFill>
                <a:latin typeface="Segoe UI"/>
                <a:cs typeface="Segoe UI" charset="0"/>
              </a:rPr>
              <a:t>Scope supported: Dataverse plugins, selected connectors</a:t>
            </a: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endParaRPr lang="en-US" dirty="0"/>
          </a:p>
        </p:txBody>
      </p:sp>
      <p:sp>
        <p:nvSpPr>
          <p:cNvPr id="4" name="Slide Number Placeholder 3"/>
          <p:cNvSpPr>
            <a:spLocks noGrp="1"/>
          </p:cNvSpPr>
          <p:nvPr>
            <p:ph type="sldNum" sz="quarter" idx="5"/>
          </p:nvPr>
        </p:nvSpPr>
        <p:spPr/>
        <p:txBody>
          <a:bodyPr/>
          <a:lstStyle/>
          <a:p>
            <a:fld id="{5F8B055F-1CCF-439D-891E-E89C506CB894}" type="slidenum">
              <a:rPr lang="en-US" smtClean="0"/>
              <a:t>21</a:t>
            </a:fld>
            <a:endParaRPr lang="en-US"/>
          </a:p>
        </p:txBody>
      </p:sp>
    </p:spTree>
    <p:extLst>
      <p:ext uri="{BB962C8B-B14F-4D97-AF65-F5344CB8AC3E}">
        <p14:creationId xmlns:p14="http://schemas.microsoft.com/office/powerpoint/2010/main" val="1629426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D4EC8E">
                    <a:lumMod val="50000"/>
                  </a:srgbClr>
                </a:solidFill>
                <a:effectLst/>
                <a:uLnTx/>
                <a:uFillTx/>
                <a:latin typeface="Segoe UI Semibold"/>
                <a:ea typeface="+mn-ea"/>
                <a:cs typeface="Segoe UI" charset="0"/>
              </a:rPr>
              <a:t>Approved host names &amp; IP ranges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charset="0"/>
              </a:rPr>
              <a:t>Filter inbound and outbound traffic</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000000"/>
                </a:solidFill>
                <a:effectLst/>
                <a:uLnTx/>
                <a:uFillTx/>
                <a:latin typeface="Segoe UI"/>
                <a:ea typeface="+mn-ea"/>
                <a:cs typeface="Segoe UI" charset="0"/>
              </a:rPr>
              <a:t>Service tags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Use in network access controls on Network Security Groups (NSGs) or Azure Firewall instead of approved IP ranges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dirty="0">
                <a:solidFill>
                  <a:srgbClr val="000000"/>
                </a:solidFill>
                <a:latin typeface="Segoe UI"/>
              </a:rPr>
              <a:t>Minimize the complexity of frequent updates to network security rules</a:t>
            </a:r>
            <a:r>
              <a:rPr kumimoji="0" lang="en-US" sz="1200" b="0" i="0" u="none" strike="noStrike" kern="1200" cap="none" spc="0" normalizeH="0" baseline="0" noProof="0" dirty="0">
                <a:ln>
                  <a:noFill/>
                </a:ln>
                <a:solidFill>
                  <a:srgbClr val="000000"/>
                </a:solidFill>
                <a:effectLst/>
                <a:uLnTx/>
                <a:uFillTx/>
                <a:latin typeface="Segoe UI"/>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000000"/>
                </a:solidFill>
                <a:effectLst/>
                <a:uLnTx/>
                <a:uFillTx/>
                <a:latin typeface="Segoe UI"/>
                <a:ea typeface="+mn-ea"/>
                <a:cs typeface="Segoe UI" charset="0"/>
              </a:rPr>
              <a:t>IP Firewall </a:t>
            </a:r>
            <a:r>
              <a:rPr lang="en-US" sz="2000" dirty="0">
                <a:hlinkClick r:id="rId3"/>
              </a:rPr>
              <a:t>IP firewall in Power Platform environments - Power Platform | Microsoft Learn</a:t>
            </a: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Prevents  malicious users, outside allowed IP ranges, from accessing your data – </a:t>
            </a:r>
          </a:p>
          <a:p>
            <a:pPr marL="628650" marR="0" lvl="1"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b="1" i="0" dirty="0">
                <a:solidFill>
                  <a:srgbClr val="E6E6E6"/>
                </a:solidFill>
                <a:effectLst/>
                <a:latin typeface="Segoe UI" panose="020B0502040204020203" pitchFamily="34" charset="0"/>
              </a:rPr>
              <a:t>Mitigate insider threats like data exfiltration</a:t>
            </a:r>
            <a:r>
              <a:rPr lang="en-US" b="0" i="0" dirty="0">
                <a:solidFill>
                  <a:srgbClr val="E6E6E6"/>
                </a:solidFill>
                <a:effectLst/>
                <a:latin typeface="Segoe UI" panose="020B0502040204020203" pitchFamily="34" charset="0"/>
              </a:rPr>
              <a:t>: A malicious user who tries to download data from Dataverse using a client tool like Excel or Power BI from a disallowed IP location is blocked from doing so in real time.</a:t>
            </a:r>
          </a:p>
          <a:p>
            <a:pPr marL="628650" marR="0" lvl="1"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b="1" i="0" dirty="0">
                <a:solidFill>
                  <a:srgbClr val="E6E6E6"/>
                </a:solidFill>
                <a:effectLst/>
                <a:latin typeface="Segoe UI" panose="020B0502040204020203" pitchFamily="34" charset="0"/>
              </a:rPr>
              <a:t>Prevent token replay attacks</a:t>
            </a:r>
            <a:r>
              <a:rPr lang="en-US" b="0" i="0" dirty="0">
                <a:solidFill>
                  <a:srgbClr val="E6E6E6"/>
                </a:solidFill>
                <a:effectLst/>
                <a:latin typeface="Segoe UI" panose="020B0502040204020203" pitchFamily="34" charset="0"/>
              </a:rPr>
              <a:t>: If a user steals an access token and tries to use it to access Dataverse from outside allowed IP ranges, Dataverse denies the attempt in real time.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dirty="0">
                <a:solidFill>
                  <a:srgbClr val="000000"/>
                </a:solidFill>
                <a:latin typeface="Segoe UI"/>
              </a:rPr>
              <a:t>Current scope: Dataverse </a:t>
            </a: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b="1" dirty="0"/>
              <a:t>IP Cookie Binding </a:t>
            </a:r>
            <a:r>
              <a:rPr lang="en-US" dirty="0">
                <a:hlinkClick r:id="rId4"/>
              </a:rPr>
              <a:t>Safeguarding Dataverse sessions with IP cookie binding - Power Platform | Microsoft Learn</a:t>
            </a:r>
            <a:endParaRPr lang="en-US" dirty="0"/>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Prevents attackers using cookies to impersonate an authorized user</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dirty="0">
                <a:solidFill>
                  <a:srgbClr val="000000"/>
                </a:solidFill>
                <a:latin typeface="Segoe UI"/>
              </a:rPr>
              <a:t>Current scope: Dataverse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rPr>
              <a:t>Network Isolation </a:t>
            </a:r>
            <a:r>
              <a:rPr lang="en-US" sz="2000" dirty="0">
                <a:hlinkClick r:id="rId5"/>
              </a:rPr>
              <a:t>Virtual Network support overview - Power Platform | Microsoft Learn</a:t>
            </a:r>
            <a:endParaRPr kumimoji="0" lang="en-US" sz="1200" b="1" i="0" u="none" strike="noStrike" kern="1200" cap="none" spc="0" normalizeH="0" baseline="0" noProof="0" dirty="0">
              <a:ln>
                <a:noFill/>
              </a:ln>
              <a:solidFill>
                <a:srgbClr val="000000"/>
              </a:solidFill>
              <a:effectLst/>
              <a:uLnTx/>
              <a:uFillTx/>
              <a:latin typeface="Segoe UI"/>
              <a:ea typeface="+mn-ea"/>
              <a:cs typeface="+mn-cs"/>
            </a:endParaRPr>
          </a:p>
          <a:p>
            <a:pPr marL="171450" marR="0" lvl="0" indent="-171450" algn="l" defTabSz="932472" rtl="0" eaLnBrk="1" fontAlgn="base" latinLnBrk="0" hangingPunct="1">
              <a:lnSpc>
                <a:spcPct val="100000"/>
              </a:lnSpc>
              <a:spcBef>
                <a:spcPct val="0"/>
              </a:spcBef>
              <a:spcAft>
                <a:spcPts val="300"/>
              </a:spcAft>
              <a:buClrTx/>
              <a:buSzTx/>
              <a:buFont typeface="Wingdings" panose="05000000000000000000" pitchFamily="2" charset="2"/>
              <a:buChar char="ü"/>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charset="0"/>
              </a:rPr>
              <a:t>Helps you route all network traffic from Power Platform environments to your v-Net without routing through internet.</a:t>
            </a:r>
          </a:p>
          <a:p>
            <a:pPr marL="171450" marR="0" lvl="0" indent="-171450" algn="l" defTabSz="932472" rtl="0" eaLnBrk="1" fontAlgn="base" latinLnBrk="0" hangingPunct="1">
              <a:lnSpc>
                <a:spcPct val="100000"/>
              </a:lnSpc>
              <a:spcBef>
                <a:spcPct val="0"/>
              </a:spcBef>
              <a:spcAft>
                <a:spcPts val="300"/>
              </a:spcAft>
              <a:buClrTx/>
              <a:buSzTx/>
              <a:buFont typeface="Wingdings" panose="05000000000000000000" pitchFamily="2" charset="2"/>
              <a:buChar char="ü"/>
              <a:tabLst/>
              <a:defRPr/>
            </a:pPr>
            <a:r>
              <a:rPr lang="en-US" sz="1200" kern="0" dirty="0">
                <a:solidFill>
                  <a:srgbClr val="000000"/>
                </a:solidFill>
                <a:latin typeface="Segoe UI"/>
                <a:cs typeface="Segoe UI" charset="0"/>
              </a:rPr>
              <a:t>Scope supported: Dataverse plugins, selected connectors</a:t>
            </a:r>
            <a:endParaRPr kumimoji="0" lang="en-US" sz="1200" b="0" i="0" u="none" strike="noStrike" kern="0" cap="none" spc="0" normalizeH="0" baseline="0" noProof="0" dirty="0">
              <a:ln>
                <a:noFill/>
              </a:ln>
              <a:solidFill>
                <a:srgbClr val="000000"/>
              </a:solidFill>
              <a:effectLst/>
              <a:uLnTx/>
              <a:uFillTx/>
              <a:latin typeface="Segoe UI"/>
              <a:ea typeface="+mn-ea"/>
              <a:cs typeface="Segoe UI" charset="0"/>
            </a:endParaRPr>
          </a:p>
          <a:p>
            <a:endParaRPr lang="en-US" dirty="0"/>
          </a:p>
        </p:txBody>
      </p:sp>
      <p:sp>
        <p:nvSpPr>
          <p:cNvPr id="4" name="Slide Number Placeholder 3"/>
          <p:cNvSpPr>
            <a:spLocks noGrp="1"/>
          </p:cNvSpPr>
          <p:nvPr>
            <p:ph type="sldNum" sz="quarter" idx="5"/>
          </p:nvPr>
        </p:nvSpPr>
        <p:spPr/>
        <p:txBody>
          <a:bodyPr/>
          <a:lstStyle/>
          <a:p>
            <a:fld id="{5F8B055F-1CCF-439D-891E-E89C506CB894}" type="slidenum">
              <a:rPr lang="en-US" smtClean="0"/>
              <a:t>22</a:t>
            </a:fld>
            <a:endParaRPr lang="en-US"/>
          </a:p>
        </p:txBody>
      </p:sp>
    </p:spTree>
    <p:extLst>
      <p:ext uri="{BB962C8B-B14F-4D97-AF65-F5344CB8AC3E}">
        <p14:creationId xmlns:p14="http://schemas.microsoft.com/office/powerpoint/2010/main" val="791359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42F69-1F6B-8642-D608-0AC1246784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300BF-B39B-5314-7CE0-16EB1E9E0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74B1E-5B57-780E-EDA6-0B76BF5D5D2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C33859AF-829B-4946-60C2-31578A642713}"/>
              </a:ext>
            </a:extLst>
          </p:cNvPr>
          <p:cNvSpPr>
            <a:spLocks noGrp="1"/>
          </p:cNvSpPr>
          <p:nvPr>
            <p:ph type="sldNum" sz="quarter" idx="5"/>
          </p:nvPr>
        </p:nvSpPr>
        <p:spPr/>
        <p:txBody>
          <a:bodyPr/>
          <a:lstStyle/>
          <a:p>
            <a:fld id="{5F8B055F-1CCF-439D-891E-E89C506CB894}" type="slidenum">
              <a:rPr lang="en-US" smtClean="0"/>
              <a:t>28</a:t>
            </a:fld>
            <a:endParaRPr lang="en-US"/>
          </a:p>
        </p:txBody>
      </p:sp>
    </p:spTree>
    <p:extLst>
      <p:ext uri="{BB962C8B-B14F-4D97-AF65-F5344CB8AC3E}">
        <p14:creationId xmlns:p14="http://schemas.microsoft.com/office/powerpoint/2010/main" val="2450175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9AA6F-67EB-5C75-7415-7499AC9E4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24124-555A-27AA-5B3D-426DC8251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7F793-0C53-E7AA-77E7-DAA069D007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F36C95BD-69EB-8B19-456A-34880ECAED5D}"/>
              </a:ext>
            </a:extLst>
          </p:cNvPr>
          <p:cNvSpPr>
            <a:spLocks noGrp="1"/>
          </p:cNvSpPr>
          <p:nvPr>
            <p:ph type="sldNum" sz="quarter" idx="5"/>
          </p:nvPr>
        </p:nvSpPr>
        <p:spPr/>
        <p:txBody>
          <a:bodyPr/>
          <a:lstStyle/>
          <a:p>
            <a:fld id="{5F8B055F-1CCF-439D-891E-E89C506CB894}" type="slidenum">
              <a:rPr lang="en-US" smtClean="0"/>
              <a:t>29</a:t>
            </a:fld>
            <a:endParaRPr lang="en-US"/>
          </a:p>
        </p:txBody>
      </p:sp>
    </p:spTree>
    <p:extLst>
      <p:ext uri="{BB962C8B-B14F-4D97-AF65-F5344CB8AC3E}">
        <p14:creationId xmlns:p14="http://schemas.microsoft.com/office/powerpoint/2010/main" val="2187890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CAEF7-0363-4BFA-BB6E-F6AD55DC8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1B208-77B3-B4EB-716F-892A3DE70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1F05D-1787-2F55-108F-18FA9A3915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CA2FE662-F122-0C63-A382-AD50EAECFD6B}"/>
              </a:ext>
            </a:extLst>
          </p:cNvPr>
          <p:cNvSpPr>
            <a:spLocks noGrp="1"/>
          </p:cNvSpPr>
          <p:nvPr>
            <p:ph type="sldNum" sz="quarter" idx="5"/>
          </p:nvPr>
        </p:nvSpPr>
        <p:spPr/>
        <p:txBody>
          <a:bodyPr/>
          <a:lstStyle/>
          <a:p>
            <a:fld id="{5F8B055F-1CCF-439D-891E-E89C506CB894}" type="slidenum">
              <a:rPr lang="en-US" smtClean="0"/>
              <a:t>30</a:t>
            </a:fld>
            <a:endParaRPr lang="en-US"/>
          </a:p>
        </p:txBody>
      </p:sp>
    </p:spTree>
    <p:extLst>
      <p:ext uri="{BB962C8B-B14F-4D97-AF65-F5344CB8AC3E}">
        <p14:creationId xmlns:p14="http://schemas.microsoft.com/office/powerpoint/2010/main" val="13095195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294FA-6BC8-DF48-BFB1-56A5AB217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63389-6A67-CB3B-D96F-414EEF04E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EA864-2466-D9BE-696A-7368DD03A1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BED2B8EB-E568-C61E-C25A-96D16F02E995}"/>
              </a:ext>
            </a:extLst>
          </p:cNvPr>
          <p:cNvSpPr>
            <a:spLocks noGrp="1"/>
          </p:cNvSpPr>
          <p:nvPr>
            <p:ph type="sldNum" sz="quarter" idx="5"/>
          </p:nvPr>
        </p:nvSpPr>
        <p:spPr/>
        <p:txBody>
          <a:bodyPr/>
          <a:lstStyle/>
          <a:p>
            <a:fld id="{5F8B055F-1CCF-439D-891E-E89C506CB894}" type="slidenum">
              <a:rPr lang="en-US" smtClean="0"/>
              <a:t>31</a:t>
            </a:fld>
            <a:endParaRPr lang="en-US"/>
          </a:p>
        </p:txBody>
      </p:sp>
    </p:spTree>
    <p:extLst>
      <p:ext uri="{BB962C8B-B14F-4D97-AF65-F5344CB8AC3E}">
        <p14:creationId xmlns:p14="http://schemas.microsoft.com/office/powerpoint/2010/main" val="1007969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B097-96F1-E95A-E904-9C09C2AE67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CCBC5-325E-9F10-2CDB-548A222B98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C5AD2-5046-D473-976B-4238FB045D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225795D2-06F1-42EE-BCF4-631B5E42486C}"/>
              </a:ext>
            </a:extLst>
          </p:cNvPr>
          <p:cNvSpPr>
            <a:spLocks noGrp="1"/>
          </p:cNvSpPr>
          <p:nvPr>
            <p:ph type="sldNum" sz="quarter" idx="5"/>
          </p:nvPr>
        </p:nvSpPr>
        <p:spPr/>
        <p:txBody>
          <a:bodyPr/>
          <a:lstStyle/>
          <a:p>
            <a:fld id="{5F8B055F-1CCF-439D-891E-E89C506CB894}" type="slidenum">
              <a:rPr lang="en-US" smtClean="0"/>
              <a:t>32</a:t>
            </a:fld>
            <a:endParaRPr lang="en-US"/>
          </a:p>
        </p:txBody>
      </p:sp>
    </p:spTree>
    <p:extLst>
      <p:ext uri="{BB962C8B-B14F-4D97-AF65-F5344CB8AC3E}">
        <p14:creationId xmlns:p14="http://schemas.microsoft.com/office/powerpoint/2010/main" val="2135318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81EAC-F45D-BF2F-6D99-19BAFBCE9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7BBE9-EF94-3F50-C902-F501AF7C9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B6EE1-697B-5569-B1C7-326338173E1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C6927FDC-4C4F-81F0-22ED-E5463C930045}"/>
              </a:ext>
            </a:extLst>
          </p:cNvPr>
          <p:cNvSpPr>
            <a:spLocks noGrp="1"/>
          </p:cNvSpPr>
          <p:nvPr>
            <p:ph type="sldNum" sz="quarter" idx="5"/>
          </p:nvPr>
        </p:nvSpPr>
        <p:spPr/>
        <p:txBody>
          <a:bodyPr/>
          <a:lstStyle/>
          <a:p>
            <a:fld id="{5F8B055F-1CCF-439D-891E-E89C506CB894}" type="slidenum">
              <a:rPr lang="en-US" smtClean="0"/>
              <a:t>33</a:t>
            </a:fld>
            <a:endParaRPr lang="en-US"/>
          </a:p>
        </p:txBody>
      </p:sp>
    </p:spTree>
    <p:extLst>
      <p:ext uri="{BB962C8B-B14F-4D97-AF65-F5344CB8AC3E}">
        <p14:creationId xmlns:p14="http://schemas.microsoft.com/office/powerpoint/2010/main" val="1591749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E9D44-499E-3467-22B0-A7E791E6E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703F2-2838-57EC-C170-521CF9E54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E1B8E9-8796-6D63-1F72-FDEF5174E0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911A5B8B-D7CE-72A6-851B-E48DA2BB69CC}"/>
              </a:ext>
            </a:extLst>
          </p:cNvPr>
          <p:cNvSpPr>
            <a:spLocks noGrp="1"/>
          </p:cNvSpPr>
          <p:nvPr>
            <p:ph type="sldNum" sz="quarter" idx="5"/>
          </p:nvPr>
        </p:nvSpPr>
        <p:spPr/>
        <p:txBody>
          <a:bodyPr/>
          <a:lstStyle/>
          <a:p>
            <a:fld id="{5F8B055F-1CCF-439D-891E-E89C506CB894}" type="slidenum">
              <a:rPr lang="en-US" smtClean="0"/>
              <a:t>34</a:t>
            </a:fld>
            <a:endParaRPr lang="en-US"/>
          </a:p>
        </p:txBody>
      </p:sp>
    </p:spTree>
    <p:extLst>
      <p:ext uri="{BB962C8B-B14F-4D97-AF65-F5344CB8AC3E}">
        <p14:creationId xmlns:p14="http://schemas.microsoft.com/office/powerpoint/2010/main" val="30897684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0CF8E-54F2-B832-C018-B7435EC2F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E9A1B-D4EF-F2A3-7A1F-12D9E5998D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12F58-7160-E8E1-1C3C-07473E15B9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Only licensed users with a valid Microsoft Entra ID can log into the system.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Environment is the security boundary and the unit of governance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Recommended to assign security groups to environments to manage user access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Resources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co-own components – edit, share,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Access to run components – use only no edit </a:t>
            </a:r>
          </a:p>
          <a:p>
            <a:r>
              <a:rPr lang="en-US" dirty="0"/>
              <a:t>App Access Control</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Protect against data exfiltration by controlling which apps can run in your Dataverse environment. These safeguards prevent unauthorized removal of sensitive information, helping your business maintain continuity and comply with regulations.</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Configure which apps are allowed or blocked in your environment. This prevents malicious users from using unapproved apps to export sensitive data.</a:t>
            </a:r>
          </a:p>
          <a:p>
            <a:endParaRPr lang="en-US" dirty="0"/>
          </a:p>
        </p:txBody>
      </p:sp>
      <p:sp>
        <p:nvSpPr>
          <p:cNvPr id="4" name="Slide Number Placeholder 3">
            <a:extLst>
              <a:ext uri="{FF2B5EF4-FFF2-40B4-BE49-F238E27FC236}">
                <a16:creationId xmlns:a16="http://schemas.microsoft.com/office/drawing/2014/main" id="{ED8A8C2D-4790-A7A8-1D02-96F3E5427690}"/>
              </a:ext>
            </a:extLst>
          </p:cNvPr>
          <p:cNvSpPr>
            <a:spLocks noGrp="1"/>
          </p:cNvSpPr>
          <p:nvPr>
            <p:ph type="sldNum" sz="quarter" idx="5"/>
          </p:nvPr>
        </p:nvSpPr>
        <p:spPr/>
        <p:txBody>
          <a:bodyPr/>
          <a:lstStyle/>
          <a:p>
            <a:fld id="{5F8B055F-1CCF-439D-891E-E89C506CB894}" type="slidenum">
              <a:rPr lang="en-US" smtClean="0"/>
              <a:t>35</a:t>
            </a:fld>
            <a:endParaRPr lang="en-US"/>
          </a:p>
        </p:txBody>
      </p:sp>
    </p:spTree>
    <p:extLst>
      <p:ext uri="{BB962C8B-B14F-4D97-AF65-F5344CB8AC3E}">
        <p14:creationId xmlns:p14="http://schemas.microsoft.com/office/powerpoint/2010/main" val="32037889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noProof="0" dirty="0"/>
              <a:t>Guest Users access setup</a:t>
            </a:r>
          </a:p>
          <a:p>
            <a:pPr marL="171450" indent="-171450">
              <a:buFont typeface="Arial" panose="020B0604020202020204" pitchFamily="34" charset="0"/>
              <a:buChar char="•"/>
            </a:pPr>
            <a:r>
              <a:rPr lang="en-US" noProof="0" dirty="0"/>
              <a:t>App Data Access (Preview)</a:t>
            </a:r>
          </a:p>
          <a:p>
            <a:pPr marL="171450" indent="-171450">
              <a:buFont typeface="Arial" panose="020B0604020202020204" pitchFamily="34" charset="0"/>
              <a:buChar char="•"/>
            </a:pPr>
            <a:r>
              <a:rPr lang="en-US" noProof="0" dirty="0"/>
              <a:t>PIM</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F8B055F-1CCF-439D-891E-E89C506CB894}" type="slidenum">
              <a:rPr lang="en-US" smtClean="0"/>
              <a:t>36</a:t>
            </a:fld>
            <a:endParaRPr lang="en-US"/>
          </a:p>
        </p:txBody>
      </p:sp>
    </p:spTree>
    <p:extLst>
      <p:ext uri="{BB962C8B-B14F-4D97-AF65-F5344CB8AC3E}">
        <p14:creationId xmlns:p14="http://schemas.microsoft.com/office/powerpoint/2010/main" val="13287671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C05E0-3AF7-E5F1-76DA-2AD68539F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1DDDD-67F7-D52A-B32D-3054BFF48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FE1AF-E175-0F57-42D8-E2426D412E4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a:t>Data </a:t>
            </a:r>
            <a:r>
              <a:rPr lang="es-ES" dirty="0" err="1"/>
              <a:t>Policies</a:t>
            </a:r>
            <a:r>
              <a:rPr lang="es-ES" dirty="0"/>
              <a:t> </a:t>
            </a:r>
            <a:r>
              <a:rPr lang="es-ES" dirty="0" err="1"/>
              <a:t>Setup</a:t>
            </a:r>
            <a:endParaRPr lang="es-E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err="1"/>
              <a:t>Dataverse</a:t>
            </a:r>
            <a:r>
              <a:rPr lang="es-ES" dirty="0"/>
              <a:t> Audit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err="1"/>
              <a:t>Purview</a:t>
            </a:r>
            <a:r>
              <a:rPr lang="es-ES" dirty="0"/>
              <a:t> Audit</a:t>
            </a:r>
            <a:endParaRPr lang="en-US"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6E81FBF-660D-7CE8-3F41-35F2767C81B4}"/>
              </a:ext>
            </a:extLst>
          </p:cNvPr>
          <p:cNvSpPr>
            <a:spLocks noGrp="1"/>
          </p:cNvSpPr>
          <p:nvPr>
            <p:ph type="sldNum" sz="quarter" idx="5"/>
          </p:nvPr>
        </p:nvSpPr>
        <p:spPr/>
        <p:txBody>
          <a:bodyPr/>
          <a:lstStyle/>
          <a:p>
            <a:fld id="{5F8B055F-1CCF-439D-891E-E89C506CB894}" type="slidenum">
              <a:rPr lang="en-US" smtClean="0"/>
              <a:t>42</a:t>
            </a:fld>
            <a:endParaRPr lang="en-US"/>
          </a:p>
        </p:txBody>
      </p:sp>
    </p:spTree>
    <p:extLst>
      <p:ext uri="{BB962C8B-B14F-4D97-AF65-F5344CB8AC3E}">
        <p14:creationId xmlns:p14="http://schemas.microsoft.com/office/powerpoint/2010/main" val="35563403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2E2EF-18CB-2BB0-9DE4-8C2F65FE8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D43FE-6289-0300-9E0A-DF6769161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B70AC-7291-124C-80DB-24C60B429E4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a:t>Data </a:t>
            </a:r>
            <a:r>
              <a:rPr lang="es-ES" dirty="0" err="1"/>
              <a:t>Policies</a:t>
            </a:r>
            <a:r>
              <a:rPr lang="es-ES" dirty="0"/>
              <a:t> </a:t>
            </a:r>
            <a:r>
              <a:rPr lang="es-ES" dirty="0" err="1"/>
              <a:t>Setup</a:t>
            </a:r>
            <a:endParaRPr lang="es-E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err="1"/>
              <a:t>Dataverse</a:t>
            </a:r>
            <a:r>
              <a:rPr lang="es-ES" dirty="0"/>
              <a:t> Audit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err="1"/>
              <a:t>Purview</a:t>
            </a:r>
            <a:r>
              <a:rPr lang="es-ES" dirty="0"/>
              <a:t> Audit</a:t>
            </a:r>
            <a:endParaRPr lang="en-US"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6EE6B3D-6EC8-E144-E630-FCCAE500F097}"/>
              </a:ext>
            </a:extLst>
          </p:cNvPr>
          <p:cNvSpPr>
            <a:spLocks noGrp="1"/>
          </p:cNvSpPr>
          <p:nvPr>
            <p:ph type="sldNum" sz="quarter" idx="5"/>
          </p:nvPr>
        </p:nvSpPr>
        <p:spPr/>
        <p:txBody>
          <a:bodyPr/>
          <a:lstStyle/>
          <a:p>
            <a:fld id="{5F8B055F-1CCF-439D-891E-E89C506CB894}" type="slidenum">
              <a:rPr lang="en-US" smtClean="0"/>
              <a:t>47</a:t>
            </a:fld>
            <a:endParaRPr lang="en-US"/>
          </a:p>
        </p:txBody>
      </p:sp>
    </p:spTree>
    <p:extLst>
      <p:ext uri="{BB962C8B-B14F-4D97-AF65-F5344CB8AC3E}">
        <p14:creationId xmlns:p14="http://schemas.microsoft.com/office/powerpoint/2010/main" val="21745756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21" name="Picture 20" descr="A city skyline with a tall tower&#10;&#10;AI-generated content may be incorrect.">
            <a:extLst>
              <a:ext uri="{FF2B5EF4-FFF2-40B4-BE49-F238E27FC236}">
                <a16:creationId xmlns:a16="http://schemas.microsoft.com/office/drawing/2014/main" id="{552780A8-57E1-26B5-DC90-E5933B5E92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 y="374"/>
            <a:ext cx="11428571" cy="5980952"/>
          </a:xfrm>
          <a:prstGeom prst="rect">
            <a:avLst/>
          </a:prstGeom>
        </p:spPr>
      </p:pic>
      <p:sp>
        <p:nvSpPr>
          <p:cNvPr id="32" name="Text Placeholder 31">
            <a:extLst>
              <a:ext uri="{FF2B5EF4-FFF2-40B4-BE49-F238E27FC236}">
                <a16:creationId xmlns:a16="http://schemas.microsoft.com/office/drawing/2014/main" id="{13E8F588-8A0A-461C-56DA-D072609539CB}"/>
              </a:ext>
            </a:extLst>
          </p:cNvPr>
          <p:cNvSpPr>
            <a:spLocks noGrp="1"/>
          </p:cNvSpPr>
          <p:nvPr>
            <p:ph type="body" sz="quarter" idx="10" hasCustomPrompt="1"/>
          </p:nvPr>
        </p:nvSpPr>
        <p:spPr>
          <a:xfrm>
            <a:off x="537136" y="276271"/>
            <a:ext cx="8149664" cy="541810"/>
          </a:xfrm>
        </p:spPr>
        <p:txBody>
          <a:bodyPr>
            <a:normAutofit/>
          </a:bodyPr>
          <a:lstStyle>
            <a:lvl1pPr marL="0" indent="0">
              <a:buNone/>
              <a:defRPr lang="en-US" sz="2800" kern="1200" spc="100" dirty="0">
                <a:solidFill>
                  <a:srgbClr val="000000"/>
                </a:solidFill>
                <a:latin typeface="Chunk Five"/>
                <a:ea typeface="Chunk Five"/>
                <a:cs typeface="Chunk Five"/>
              </a:defRPr>
            </a:lvl1pPr>
          </a:lstStyle>
          <a:p>
            <a:pPr lvl="0"/>
            <a:r>
              <a:rPr lang="en-US" dirty="0"/>
              <a:t>Slide Title</a:t>
            </a:r>
          </a:p>
        </p:txBody>
      </p:sp>
      <p:sp>
        <p:nvSpPr>
          <p:cNvPr id="34" name="Content Placeholder 33">
            <a:extLst>
              <a:ext uri="{FF2B5EF4-FFF2-40B4-BE49-F238E27FC236}">
                <a16:creationId xmlns:a16="http://schemas.microsoft.com/office/drawing/2014/main" id="{269634D6-068E-D45B-15F7-D28D02D0D255}"/>
              </a:ext>
            </a:extLst>
          </p:cNvPr>
          <p:cNvSpPr>
            <a:spLocks noGrp="1"/>
          </p:cNvSpPr>
          <p:nvPr>
            <p:ph sz="quarter" idx="11"/>
          </p:nvPr>
        </p:nvSpPr>
        <p:spPr>
          <a:xfrm>
            <a:off x="536575" y="1085850"/>
            <a:ext cx="10283825" cy="4800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TextBox 32">
            <a:extLst>
              <a:ext uri="{FF2B5EF4-FFF2-40B4-BE49-F238E27FC236}">
                <a16:creationId xmlns:a16="http://schemas.microsoft.com/office/drawing/2014/main" id="{81AE2A8C-3B4D-BB59-0894-2859A0501F3C}"/>
              </a:ext>
            </a:extLst>
          </p:cNvPr>
          <p:cNvSpPr txBox="1"/>
          <p:nvPr userDrawn="1"/>
        </p:nvSpPr>
        <p:spPr>
          <a:xfrm>
            <a:off x="10363200" y="148206"/>
            <a:ext cx="1143000" cy="369332"/>
          </a:xfrm>
          <a:prstGeom prst="rect">
            <a:avLst/>
          </a:prstGeom>
        </p:spPr>
        <p:txBody>
          <a:bodyPr wrap="square" lIns="0" tIns="0" rIns="0" bIns="0" rtlCol="0" anchor="t">
            <a:spAutoFit/>
          </a:bodyPr>
          <a:lstStyle/>
          <a:p>
            <a:pPr algn="ctr">
              <a:lnSpc>
                <a:spcPct val="100000"/>
              </a:lnSpc>
            </a:pPr>
            <a:r>
              <a:rPr lang="en-US" sz="1200" spc="100" dirty="0">
                <a:solidFill>
                  <a:schemeClr val="bg1"/>
                </a:solidFill>
                <a:latin typeface="Agency FB" panose="020B0503020202020204" pitchFamily="34" charset="0"/>
                <a:ea typeface="Chunk Five"/>
                <a:cs typeface="Chunk Five"/>
                <a:sym typeface="Chunk Five"/>
              </a:rPr>
              <a:t>Canadian Cloud Summit</a:t>
            </a:r>
          </a:p>
        </p:txBody>
      </p:sp>
    </p:spTree>
    <p:extLst>
      <p:ext uri="{BB962C8B-B14F-4D97-AF65-F5344CB8AC3E}">
        <p14:creationId xmlns:p14="http://schemas.microsoft.com/office/powerpoint/2010/main" val="775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peaker_Info">
    <p:spTree>
      <p:nvGrpSpPr>
        <p:cNvPr id="1" name=""/>
        <p:cNvGrpSpPr/>
        <p:nvPr/>
      </p:nvGrpSpPr>
      <p:grpSpPr>
        <a:xfrm>
          <a:off x="0" y="0"/>
          <a:ext cx="0" cy="0"/>
          <a:chOff x="0" y="0"/>
          <a:chExt cx="0" cy="0"/>
        </a:xfrm>
      </p:grpSpPr>
      <p:sp>
        <p:nvSpPr>
          <p:cNvPr id="5" name="TextBox 28">
            <a:extLst>
              <a:ext uri="{FF2B5EF4-FFF2-40B4-BE49-F238E27FC236}">
                <a16:creationId xmlns:a16="http://schemas.microsoft.com/office/drawing/2014/main" id="{138E1362-C894-3846-B37A-88101EF5200B}"/>
              </a:ext>
            </a:extLst>
          </p:cNvPr>
          <p:cNvSpPr txBox="1"/>
          <p:nvPr userDrawn="1"/>
        </p:nvSpPr>
        <p:spPr>
          <a:xfrm>
            <a:off x="9576762" y="5733858"/>
            <a:ext cx="1617251" cy="181610"/>
          </a:xfrm>
          <a:prstGeom prst="rect">
            <a:avLst/>
          </a:prstGeom>
        </p:spPr>
        <p:txBody>
          <a:bodyPr lIns="0" tIns="0" rIns="0" bIns="0" rtlCol="0" anchor="t">
            <a:spAutoFit/>
          </a:bodyPr>
          <a:lstStyle/>
          <a:p>
            <a:pPr algn="ctr">
              <a:lnSpc>
                <a:spcPts val="1540"/>
              </a:lnSpc>
            </a:pPr>
            <a:r>
              <a:rPr lang="en-US" sz="1100" b="1">
                <a:solidFill>
                  <a:srgbClr val="FFFFFF"/>
                </a:solidFill>
                <a:latin typeface="Open Sans Bold"/>
                <a:ea typeface="Open Sans Bold"/>
                <a:cs typeface="Open Sans Bold"/>
                <a:sym typeface="Open Sans Bold"/>
              </a:rPr>
              <a:t>Scan to Register Now!</a:t>
            </a:r>
          </a:p>
        </p:txBody>
      </p:sp>
      <p:sp>
        <p:nvSpPr>
          <p:cNvPr id="6" name="TextBox 29">
            <a:extLst>
              <a:ext uri="{FF2B5EF4-FFF2-40B4-BE49-F238E27FC236}">
                <a16:creationId xmlns:a16="http://schemas.microsoft.com/office/drawing/2014/main" id="{942B23B8-D444-9E5C-6111-C1753FEE6059}"/>
              </a:ext>
            </a:extLst>
          </p:cNvPr>
          <p:cNvSpPr txBox="1"/>
          <p:nvPr userDrawn="1"/>
        </p:nvSpPr>
        <p:spPr>
          <a:xfrm>
            <a:off x="641896" y="3894368"/>
            <a:ext cx="2770350" cy="338105"/>
          </a:xfrm>
          <a:prstGeom prst="rect">
            <a:avLst/>
          </a:prstGeom>
        </p:spPr>
        <p:txBody>
          <a:bodyPr lIns="0" tIns="0" rIns="0" bIns="0" rtlCol="0" anchor="t">
            <a:spAutoFit/>
          </a:bodyPr>
          <a:lstStyle/>
          <a:p>
            <a:pPr algn="ctr">
              <a:lnSpc>
                <a:spcPts val="2889"/>
              </a:lnSpc>
            </a:pPr>
            <a:r>
              <a:rPr lang="en-US" sz="2063" b="1">
                <a:solidFill>
                  <a:srgbClr val="FFFFFF"/>
                </a:solidFill>
                <a:latin typeface="Open Sans Bold"/>
                <a:ea typeface="Open Sans Bold"/>
                <a:cs typeface="Open Sans Bold"/>
                <a:sym typeface="Open Sans Bold"/>
              </a:rPr>
              <a:t>Sébastien Levert</a:t>
            </a:r>
          </a:p>
        </p:txBody>
      </p:sp>
      <p:sp>
        <p:nvSpPr>
          <p:cNvPr id="7" name="TextBox 30">
            <a:extLst>
              <a:ext uri="{FF2B5EF4-FFF2-40B4-BE49-F238E27FC236}">
                <a16:creationId xmlns:a16="http://schemas.microsoft.com/office/drawing/2014/main" id="{A1BD354E-90FB-DE9E-CDDD-34AB07DB396B}"/>
              </a:ext>
            </a:extLst>
          </p:cNvPr>
          <p:cNvSpPr txBox="1"/>
          <p:nvPr userDrawn="1"/>
        </p:nvSpPr>
        <p:spPr>
          <a:xfrm>
            <a:off x="641896" y="4280935"/>
            <a:ext cx="2770350" cy="488315"/>
          </a:xfrm>
          <a:prstGeom prst="rect">
            <a:avLst/>
          </a:prstGeom>
        </p:spPr>
        <p:txBody>
          <a:bodyPr lIns="0" tIns="0" rIns="0" bIns="0" rtlCol="0" anchor="t">
            <a:spAutoFit/>
          </a:bodyPr>
          <a:lstStyle/>
          <a:p>
            <a:pPr algn="ctr">
              <a:lnSpc>
                <a:spcPts val="1960"/>
              </a:lnSpc>
            </a:pPr>
            <a:r>
              <a:rPr lang="en-US" sz="1400">
                <a:solidFill>
                  <a:srgbClr val="FFFFFF"/>
                </a:solidFill>
                <a:latin typeface="Open Sans"/>
                <a:ea typeface="Open Sans"/>
                <a:cs typeface="Open Sans"/>
                <a:sym typeface="Open Sans"/>
              </a:rPr>
              <a:t>Principal PM Manager</a:t>
            </a:r>
          </a:p>
          <a:p>
            <a:pPr algn="ctr">
              <a:lnSpc>
                <a:spcPts val="1960"/>
              </a:lnSpc>
            </a:pPr>
            <a:r>
              <a:rPr lang="en-US" sz="1400">
                <a:solidFill>
                  <a:srgbClr val="FFFFFF"/>
                </a:solidFill>
                <a:latin typeface="Open Sans"/>
                <a:ea typeface="Open Sans"/>
                <a:cs typeface="Open Sans"/>
                <a:sym typeface="Open Sans"/>
              </a:rPr>
              <a:t>M365 Copilot DevX team</a:t>
            </a:r>
          </a:p>
        </p:txBody>
      </p:sp>
      <p:sp>
        <p:nvSpPr>
          <p:cNvPr id="8" name="TextBox 31">
            <a:extLst>
              <a:ext uri="{FF2B5EF4-FFF2-40B4-BE49-F238E27FC236}">
                <a16:creationId xmlns:a16="http://schemas.microsoft.com/office/drawing/2014/main" id="{7E8A97A8-D3A4-7525-EFA7-1E3AB8BA9886}"/>
              </a:ext>
            </a:extLst>
          </p:cNvPr>
          <p:cNvSpPr txBox="1"/>
          <p:nvPr userDrawn="1"/>
        </p:nvSpPr>
        <p:spPr>
          <a:xfrm>
            <a:off x="641896" y="3658148"/>
            <a:ext cx="2770350" cy="198120"/>
          </a:xfrm>
          <a:prstGeom prst="rect">
            <a:avLst/>
          </a:prstGeom>
        </p:spPr>
        <p:txBody>
          <a:bodyPr lIns="0" tIns="0" rIns="0" bIns="0" rtlCol="0" anchor="t">
            <a:spAutoFit/>
          </a:bodyPr>
          <a:lstStyle/>
          <a:p>
            <a:pPr algn="ctr">
              <a:lnSpc>
                <a:spcPts val="1679"/>
              </a:lnSpc>
            </a:pPr>
            <a:r>
              <a:rPr lang="en-US" sz="1200" b="1">
                <a:solidFill>
                  <a:srgbClr val="FFFFFF"/>
                </a:solidFill>
                <a:latin typeface="Open Sans Bold"/>
                <a:ea typeface="Open Sans Bold"/>
                <a:cs typeface="Open Sans Bold"/>
                <a:sym typeface="Open Sans Bold"/>
              </a:rPr>
              <a:t>KEYNOTE SPEAKER</a:t>
            </a:r>
          </a:p>
        </p:txBody>
      </p:sp>
      <p:pic>
        <p:nvPicPr>
          <p:cNvPr id="9" name="Picture 8">
            <a:extLst>
              <a:ext uri="{FF2B5EF4-FFF2-40B4-BE49-F238E27FC236}">
                <a16:creationId xmlns:a16="http://schemas.microsoft.com/office/drawing/2014/main" id="{3DCCC8D6-E9E8-0EB0-6FF0-A3E0E6E7A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9" y="748"/>
            <a:ext cx="11428571" cy="5980952"/>
          </a:xfrm>
          <a:prstGeom prst="rect">
            <a:avLst/>
          </a:prstGeom>
        </p:spPr>
      </p:pic>
      <p:sp>
        <p:nvSpPr>
          <p:cNvPr id="12" name="TextBox 32">
            <a:extLst>
              <a:ext uri="{FF2B5EF4-FFF2-40B4-BE49-F238E27FC236}">
                <a16:creationId xmlns:a16="http://schemas.microsoft.com/office/drawing/2014/main" id="{B273268B-0511-188B-684D-D11B998BA8ED}"/>
              </a:ext>
            </a:extLst>
          </p:cNvPr>
          <p:cNvSpPr txBox="1"/>
          <p:nvPr userDrawn="1"/>
        </p:nvSpPr>
        <p:spPr>
          <a:xfrm>
            <a:off x="4604674" y="1593895"/>
            <a:ext cx="5578214" cy="1426673"/>
          </a:xfrm>
          <a:prstGeom prst="rect">
            <a:avLst/>
          </a:prstGeom>
        </p:spPr>
        <p:txBody>
          <a:bodyPr lIns="0" tIns="0" rIns="0" bIns="0" rtlCol="0" anchor="t">
            <a:spAutoFit/>
          </a:bodyPr>
          <a:lstStyle/>
          <a:p>
            <a:pPr algn="l">
              <a:lnSpc>
                <a:spcPts val="5500"/>
              </a:lnSpc>
            </a:pPr>
            <a:r>
              <a:rPr lang="en-US" sz="5000" spc="100" dirty="0">
                <a:solidFill>
                  <a:srgbClr val="000000"/>
                </a:solidFill>
                <a:latin typeface="Chunk Five"/>
                <a:ea typeface="Chunk Five"/>
                <a:cs typeface="Chunk Five"/>
                <a:sym typeface="Chunk Five"/>
              </a:rPr>
              <a:t>Canadian</a:t>
            </a:r>
            <a:r>
              <a:rPr lang="en-IN" sz="5400" b="0" i="0" dirty="0">
                <a:solidFill>
                  <a:srgbClr val="000000"/>
                </a:solidFill>
                <a:effectLst/>
              </a:rPr>
              <a:t>🍁</a:t>
            </a:r>
            <a:endParaRPr lang="en-US" sz="5000" spc="100" dirty="0">
              <a:solidFill>
                <a:srgbClr val="000000"/>
              </a:solidFill>
              <a:latin typeface="Chunk Five"/>
              <a:ea typeface="Chunk Five"/>
              <a:cs typeface="Chunk Five"/>
              <a:sym typeface="Chunk Five"/>
            </a:endParaRPr>
          </a:p>
          <a:p>
            <a:pPr algn="l">
              <a:lnSpc>
                <a:spcPts val="5500"/>
              </a:lnSpc>
            </a:pPr>
            <a:r>
              <a:rPr lang="en-US" sz="5000" spc="100" dirty="0">
                <a:solidFill>
                  <a:srgbClr val="000000"/>
                </a:solidFill>
                <a:latin typeface="Chunk Five"/>
                <a:ea typeface="Chunk Five"/>
                <a:cs typeface="Chunk Five"/>
                <a:sym typeface="Chunk Five"/>
              </a:rPr>
              <a:t>Cloud Summit </a:t>
            </a:r>
          </a:p>
        </p:txBody>
      </p:sp>
      <p:sp>
        <p:nvSpPr>
          <p:cNvPr id="17" name="Picture Placeholder 16">
            <a:extLst>
              <a:ext uri="{FF2B5EF4-FFF2-40B4-BE49-F238E27FC236}">
                <a16:creationId xmlns:a16="http://schemas.microsoft.com/office/drawing/2014/main" id="{EA64E570-B440-3AED-AC28-4314400F3FC4}"/>
              </a:ext>
            </a:extLst>
          </p:cNvPr>
          <p:cNvSpPr>
            <a:spLocks noGrp="1"/>
          </p:cNvSpPr>
          <p:nvPr>
            <p:ph type="pic" sz="quarter" idx="13"/>
          </p:nvPr>
        </p:nvSpPr>
        <p:spPr>
          <a:xfrm>
            <a:off x="685800" y="781050"/>
            <a:ext cx="2671763" cy="2664803"/>
          </a:xfrm>
          <a:prstGeom prst="ellipse">
            <a:avLst/>
          </a:prstGeom>
          <a:ln>
            <a:no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19" name="Text Placeholder 18">
            <a:extLst>
              <a:ext uri="{FF2B5EF4-FFF2-40B4-BE49-F238E27FC236}">
                <a16:creationId xmlns:a16="http://schemas.microsoft.com/office/drawing/2014/main" id="{28637B19-A0BE-7911-EB64-3C6882056970}"/>
              </a:ext>
            </a:extLst>
          </p:cNvPr>
          <p:cNvSpPr>
            <a:spLocks noGrp="1"/>
          </p:cNvSpPr>
          <p:nvPr>
            <p:ph type="body" sz="quarter" idx="14" hasCustomPrompt="1"/>
          </p:nvPr>
        </p:nvSpPr>
        <p:spPr>
          <a:xfrm>
            <a:off x="4691902" y="3242222"/>
            <a:ext cx="5974072" cy="2034627"/>
          </a:xfrm>
        </p:spPr>
        <p:txBody>
          <a:bodyPr/>
          <a:lstStyle>
            <a:lvl1pPr marL="0" indent="0">
              <a:buNone/>
              <a:defRPr/>
            </a:lvl1pPr>
          </a:lstStyle>
          <a:p>
            <a:pPr lvl="0"/>
            <a:r>
              <a:rPr lang="en-US" dirty="0"/>
              <a:t>Session Title</a:t>
            </a:r>
          </a:p>
        </p:txBody>
      </p:sp>
      <p:sp>
        <p:nvSpPr>
          <p:cNvPr id="21" name="Text Placeholder 20">
            <a:extLst>
              <a:ext uri="{FF2B5EF4-FFF2-40B4-BE49-F238E27FC236}">
                <a16:creationId xmlns:a16="http://schemas.microsoft.com/office/drawing/2014/main" id="{ADC70666-CE22-1E34-F9DF-81799DB1AA7C}"/>
              </a:ext>
            </a:extLst>
          </p:cNvPr>
          <p:cNvSpPr>
            <a:spLocks noGrp="1"/>
          </p:cNvSpPr>
          <p:nvPr>
            <p:ph type="body" sz="quarter" idx="15" hasCustomPrompt="1"/>
          </p:nvPr>
        </p:nvSpPr>
        <p:spPr>
          <a:xfrm>
            <a:off x="762000" y="3560020"/>
            <a:ext cx="2895600" cy="476250"/>
          </a:xfrm>
        </p:spPr>
        <p:txBody>
          <a:bodyPr/>
          <a:lstStyle>
            <a:lvl1pPr marL="0" indent="0" algn="ctr">
              <a:buNone/>
              <a:defRPr>
                <a:solidFill>
                  <a:schemeClr val="bg1"/>
                </a:solidFill>
              </a:defRPr>
            </a:lvl1pPr>
          </a:lstStyle>
          <a:p>
            <a:pPr lvl="0"/>
            <a:r>
              <a:rPr lang="en-US" dirty="0"/>
              <a:t>Speaker Name</a:t>
            </a:r>
          </a:p>
        </p:txBody>
      </p:sp>
      <p:sp>
        <p:nvSpPr>
          <p:cNvPr id="13" name="Text Placeholder 12">
            <a:extLst>
              <a:ext uri="{FF2B5EF4-FFF2-40B4-BE49-F238E27FC236}">
                <a16:creationId xmlns:a16="http://schemas.microsoft.com/office/drawing/2014/main" id="{A1E154C3-9850-8238-913D-E10516FC0615}"/>
              </a:ext>
            </a:extLst>
          </p:cNvPr>
          <p:cNvSpPr>
            <a:spLocks noGrp="1"/>
          </p:cNvSpPr>
          <p:nvPr>
            <p:ph type="body" sz="quarter" idx="16" hasCustomPrompt="1"/>
          </p:nvPr>
        </p:nvSpPr>
        <p:spPr>
          <a:xfrm>
            <a:off x="764026" y="4214845"/>
            <a:ext cx="2893573" cy="838200"/>
          </a:xfrm>
        </p:spPr>
        <p:txBody>
          <a:bodyPr/>
          <a:lstStyle>
            <a:lvl1pPr marL="0" indent="0" algn="ctr" defTabSz="914400" rtl="0" eaLnBrk="1" latinLnBrk="0" hangingPunct="1">
              <a:lnSpc>
                <a:spcPts val="1960"/>
              </a:lnSpc>
              <a:buNone/>
              <a:defRPr lang="en-US" sz="1400" kern="1200" dirty="0" smtClean="0">
                <a:solidFill>
                  <a:srgbClr val="FFFFFF"/>
                </a:solidFill>
                <a:latin typeface="Open Sans"/>
                <a:ea typeface="Open Sans"/>
                <a:cs typeface="Open Sans"/>
              </a:defRPr>
            </a:lvl1pPr>
          </a:lstStyle>
          <a:p>
            <a:pPr lvl="0"/>
            <a:r>
              <a:rPr lang="en-US" dirty="0"/>
              <a:t>Speaker Title</a:t>
            </a:r>
          </a:p>
        </p:txBody>
      </p:sp>
      <p:sp>
        <p:nvSpPr>
          <p:cNvPr id="16" name="TextBox 32">
            <a:extLst>
              <a:ext uri="{FF2B5EF4-FFF2-40B4-BE49-F238E27FC236}">
                <a16:creationId xmlns:a16="http://schemas.microsoft.com/office/drawing/2014/main" id="{878EB200-5C3D-EE77-0BAD-FB432760B56F}"/>
              </a:ext>
            </a:extLst>
          </p:cNvPr>
          <p:cNvSpPr txBox="1"/>
          <p:nvPr userDrawn="1"/>
        </p:nvSpPr>
        <p:spPr>
          <a:xfrm>
            <a:off x="10363200" y="148206"/>
            <a:ext cx="1143000" cy="369332"/>
          </a:xfrm>
          <a:prstGeom prst="rect">
            <a:avLst/>
          </a:prstGeom>
        </p:spPr>
        <p:txBody>
          <a:bodyPr wrap="square" lIns="0" tIns="0" rIns="0" bIns="0" rtlCol="0" anchor="t">
            <a:spAutoFit/>
          </a:bodyPr>
          <a:lstStyle/>
          <a:p>
            <a:pPr algn="ctr">
              <a:lnSpc>
                <a:spcPct val="100000"/>
              </a:lnSpc>
            </a:pPr>
            <a:r>
              <a:rPr lang="en-US" sz="1200" spc="100" dirty="0">
                <a:solidFill>
                  <a:schemeClr val="bg1"/>
                </a:solidFill>
                <a:latin typeface="Agency FB" panose="020B0503020202020204" pitchFamily="34" charset="0"/>
                <a:ea typeface="Chunk Five"/>
                <a:cs typeface="Chunk Five"/>
                <a:sym typeface="Chunk Five"/>
              </a:rPr>
              <a:t>Canadian Cloud Summit</a:t>
            </a:r>
          </a:p>
        </p:txBody>
      </p:sp>
    </p:spTree>
    <p:extLst>
      <p:ext uri="{BB962C8B-B14F-4D97-AF65-F5344CB8AC3E}">
        <p14:creationId xmlns:p14="http://schemas.microsoft.com/office/powerpoint/2010/main" val="903946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peaker_Info">
    <p:spTree>
      <p:nvGrpSpPr>
        <p:cNvPr id="1" name=""/>
        <p:cNvGrpSpPr/>
        <p:nvPr/>
      </p:nvGrpSpPr>
      <p:grpSpPr>
        <a:xfrm>
          <a:off x="0" y="0"/>
          <a:ext cx="0" cy="0"/>
          <a:chOff x="0" y="0"/>
          <a:chExt cx="0" cy="0"/>
        </a:xfrm>
      </p:grpSpPr>
      <p:sp>
        <p:nvSpPr>
          <p:cNvPr id="5" name="TextBox 28">
            <a:extLst>
              <a:ext uri="{FF2B5EF4-FFF2-40B4-BE49-F238E27FC236}">
                <a16:creationId xmlns:a16="http://schemas.microsoft.com/office/drawing/2014/main" id="{138E1362-C894-3846-B37A-88101EF5200B}"/>
              </a:ext>
            </a:extLst>
          </p:cNvPr>
          <p:cNvSpPr txBox="1"/>
          <p:nvPr userDrawn="1"/>
        </p:nvSpPr>
        <p:spPr>
          <a:xfrm>
            <a:off x="9576762" y="5733858"/>
            <a:ext cx="1617251" cy="181610"/>
          </a:xfrm>
          <a:prstGeom prst="rect">
            <a:avLst/>
          </a:prstGeom>
        </p:spPr>
        <p:txBody>
          <a:bodyPr lIns="0" tIns="0" rIns="0" bIns="0" rtlCol="0" anchor="t">
            <a:spAutoFit/>
          </a:bodyPr>
          <a:lstStyle/>
          <a:p>
            <a:pPr algn="ctr">
              <a:lnSpc>
                <a:spcPts val="1540"/>
              </a:lnSpc>
            </a:pPr>
            <a:r>
              <a:rPr lang="en-US" sz="1100" b="1">
                <a:solidFill>
                  <a:srgbClr val="FFFFFF"/>
                </a:solidFill>
                <a:latin typeface="Open Sans Bold"/>
                <a:ea typeface="Open Sans Bold"/>
                <a:cs typeface="Open Sans Bold"/>
                <a:sym typeface="Open Sans Bold"/>
              </a:rPr>
              <a:t>Scan to Register Now!</a:t>
            </a:r>
          </a:p>
        </p:txBody>
      </p:sp>
      <p:sp>
        <p:nvSpPr>
          <p:cNvPr id="6" name="TextBox 29">
            <a:extLst>
              <a:ext uri="{FF2B5EF4-FFF2-40B4-BE49-F238E27FC236}">
                <a16:creationId xmlns:a16="http://schemas.microsoft.com/office/drawing/2014/main" id="{942B23B8-D444-9E5C-6111-C1753FEE6059}"/>
              </a:ext>
            </a:extLst>
          </p:cNvPr>
          <p:cNvSpPr txBox="1"/>
          <p:nvPr userDrawn="1"/>
        </p:nvSpPr>
        <p:spPr>
          <a:xfrm>
            <a:off x="641896" y="3894368"/>
            <a:ext cx="2770350" cy="338105"/>
          </a:xfrm>
          <a:prstGeom prst="rect">
            <a:avLst/>
          </a:prstGeom>
        </p:spPr>
        <p:txBody>
          <a:bodyPr lIns="0" tIns="0" rIns="0" bIns="0" rtlCol="0" anchor="t">
            <a:spAutoFit/>
          </a:bodyPr>
          <a:lstStyle/>
          <a:p>
            <a:pPr algn="ctr">
              <a:lnSpc>
                <a:spcPts val="2889"/>
              </a:lnSpc>
            </a:pPr>
            <a:r>
              <a:rPr lang="en-US" sz="2063" b="1">
                <a:solidFill>
                  <a:srgbClr val="FFFFFF"/>
                </a:solidFill>
                <a:latin typeface="Open Sans Bold"/>
                <a:ea typeface="Open Sans Bold"/>
                <a:cs typeface="Open Sans Bold"/>
                <a:sym typeface="Open Sans Bold"/>
              </a:rPr>
              <a:t>Sébastien Levert</a:t>
            </a:r>
          </a:p>
        </p:txBody>
      </p:sp>
      <p:sp>
        <p:nvSpPr>
          <p:cNvPr id="7" name="TextBox 30">
            <a:extLst>
              <a:ext uri="{FF2B5EF4-FFF2-40B4-BE49-F238E27FC236}">
                <a16:creationId xmlns:a16="http://schemas.microsoft.com/office/drawing/2014/main" id="{A1BD354E-90FB-DE9E-CDDD-34AB07DB396B}"/>
              </a:ext>
            </a:extLst>
          </p:cNvPr>
          <p:cNvSpPr txBox="1"/>
          <p:nvPr userDrawn="1"/>
        </p:nvSpPr>
        <p:spPr>
          <a:xfrm>
            <a:off x="641896" y="4280935"/>
            <a:ext cx="2770350" cy="488315"/>
          </a:xfrm>
          <a:prstGeom prst="rect">
            <a:avLst/>
          </a:prstGeom>
        </p:spPr>
        <p:txBody>
          <a:bodyPr lIns="0" tIns="0" rIns="0" bIns="0" rtlCol="0" anchor="t">
            <a:spAutoFit/>
          </a:bodyPr>
          <a:lstStyle/>
          <a:p>
            <a:pPr algn="ctr">
              <a:lnSpc>
                <a:spcPts val="1960"/>
              </a:lnSpc>
            </a:pPr>
            <a:r>
              <a:rPr lang="en-US" sz="1400">
                <a:solidFill>
                  <a:srgbClr val="FFFFFF"/>
                </a:solidFill>
                <a:latin typeface="Open Sans"/>
                <a:ea typeface="Open Sans"/>
                <a:cs typeface="Open Sans"/>
                <a:sym typeface="Open Sans"/>
              </a:rPr>
              <a:t>Principal PM Manager</a:t>
            </a:r>
          </a:p>
          <a:p>
            <a:pPr algn="ctr">
              <a:lnSpc>
                <a:spcPts val="1960"/>
              </a:lnSpc>
            </a:pPr>
            <a:r>
              <a:rPr lang="en-US" sz="1400">
                <a:solidFill>
                  <a:srgbClr val="FFFFFF"/>
                </a:solidFill>
                <a:latin typeface="Open Sans"/>
                <a:ea typeface="Open Sans"/>
                <a:cs typeface="Open Sans"/>
                <a:sym typeface="Open Sans"/>
              </a:rPr>
              <a:t>M365 Copilot DevX team</a:t>
            </a:r>
          </a:p>
        </p:txBody>
      </p:sp>
      <p:sp>
        <p:nvSpPr>
          <p:cNvPr id="8" name="TextBox 31">
            <a:extLst>
              <a:ext uri="{FF2B5EF4-FFF2-40B4-BE49-F238E27FC236}">
                <a16:creationId xmlns:a16="http://schemas.microsoft.com/office/drawing/2014/main" id="{7E8A97A8-D3A4-7525-EFA7-1E3AB8BA9886}"/>
              </a:ext>
            </a:extLst>
          </p:cNvPr>
          <p:cNvSpPr txBox="1"/>
          <p:nvPr userDrawn="1"/>
        </p:nvSpPr>
        <p:spPr>
          <a:xfrm>
            <a:off x="641896" y="3658148"/>
            <a:ext cx="2770350" cy="198120"/>
          </a:xfrm>
          <a:prstGeom prst="rect">
            <a:avLst/>
          </a:prstGeom>
        </p:spPr>
        <p:txBody>
          <a:bodyPr lIns="0" tIns="0" rIns="0" bIns="0" rtlCol="0" anchor="t">
            <a:spAutoFit/>
          </a:bodyPr>
          <a:lstStyle/>
          <a:p>
            <a:pPr algn="ctr">
              <a:lnSpc>
                <a:spcPts val="1679"/>
              </a:lnSpc>
            </a:pPr>
            <a:r>
              <a:rPr lang="en-US" sz="1200" b="1">
                <a:solidFill>
                  <a:srgbClr val="FFFFFF"/>
                </a:solidFill>
                <a:latin typeface="Open Sans Bold"/>
                <a:ea typeface="Open Sans Bold"/>
                <a:cs typeface="Open Sans Bold"/>
                <a:sym typeface="Open Sans Bold"/>
              </a:rPr>
              <a:t>KEYNOTE SPEAKER</a:t>
            </a:r>
          </a:p>
        </p:txBody>
      </p:sp>
      <p:pic>
        <p:nvPicPr>
          <p:cNvPr id="9" name="Picture 8">
            <a:extLst>
              <a:ext uri="{FF2B5EF4-FFF2-40B4-BE49-F238E27FC236}">
                <a16:creationId xmlns:a16="http://schemas.microsoft.com/office/drawing/2014/main" id="{3DCCC8D6-E9E8-0EB0-6FF0-A3E0E6E7A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9" y="748"/>
            <a:ext cx="11428571" cy="5980952"/>
          </a:xfrm>
          <a:prstGeom prst="rect">
            <a:avLst/>
          </a:prstGeom>
        </p:spPr>
      </p:pic>
      <p:sp>
        <p:nvSpPr>
          <p:cNvPr id="17" name="Picture Placeholder 16">
            <a:extLst>
              <a:ext uri="{FF2B5EF4-FFF2-40B4-BE49-F238E27FC236}">
                <a16:creationId xmlns:a16="http://schemas.microsoft.com/office/drawing/2014/main" id="{EA64E570-B440-3AED-AC28-4314400F3FC4}"/>
              </a:ext>
            </a:extLst>
          </p:cNvPr>
          <p:cNvSpPr>
            <a:spLocks noGrp="1"/>
          </p:cNvSpPr>
          <p:nvPr>
            <p:ph type="pic" sz="quarter" idx="13"/>
          </p:nvPr>
        </p:nvSpPr>
        <p:spPr>
          <a:xfrm>
            <a:off x="685800" y="781050"/>
            <a:ext cx="2671763" cy="2664803"/>
          </a:xfrm>
          <a:prstGeom prst="ellipse">
            <a:avLst/>
          </a:prstGeom>
          <a:ln>
            <a:no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16" name="TextBox 32">
            <a:extLst>
              <a:ext uri="{FF2B5EF4-FFF2-40B4-BE49-F238E27FC236}">
                <a16:creationId xmlns:a16="http://schemas.microsoft.com/office/drawing/2014/main" id="{878EB200-5C3D-EE77-0BAD-FB432760B56F}"/>
              </a:ext>
            </a:extLst>
          </p:cNvPr>
          <p:cNvSpPr txBox="1"/>
          <p:nvPr userDrawn="1"/>
        </p:nvSpPr>
        <p:spPr>
          <a:xfrm>
            <a:off x="10363200" y="148206"/>
            <a:ext cx="1143000" cy="369332"/>
          </a:xfrm>
          <a:prstGeom prst="rect">
            <a:avLst/>
          </a:prstGeom>
        </p:spPr>
        <p:txBody>
          <a:bodyPr wrap="square" lIns="0" tIns="0" rIns="0" bIns="0" rtlCol="0" anchor="t">
            <a:spAutoFit/>
          </a:bodyPr>
          <a:lstStyle/>
          <a:p>
            <a:pPr algn="ctr">
              <a:lnSpc>
                <a:spcPct val="100000"/>
              </a:lnSpc>
            </a:pPr>
            <a:r>
              <a:rPr lang="en-US" sz="1200" spc="100" dirty="0">
                <a:solidFill>
                  <a:schemeClr val="bg1"/>
                </a:solidFill>
                <a:latin typeface="Agency FB" panose="020B0503020202020204" pitchFamily="34" charset="0"/>
                <a:ea typeface="Chunk Five"/>
                <a:cs typeface="Chunk Five"/>
                <a:sym typeface="Chunk Five"/>
              </a:rPr>
              <a:t>Canadian Cloud Summit</a:t>
            </a:r>
          </a:p>
        </p:txBody>
      </p:sp>
    </p:spTree>
    <p:extLst>
      <p:ext uri="{BB962C8B-B14F-4D97-AF65-F5344CB8AC3E}">
        <p14:creationId xmlns:p14="http://schemas.microsoft.com/office/powerpoint/2010/main" val="50168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onsors">
    <p:spTree>
      <p:nvGrpSpPr>
        <p:cNvPr id="1" name=""/>
        <p:cNvGrpSpPr/>
        <p:nvPr/>
      </p:nvGrpSpPr>
      <p:grpSpPr>
        <a:xfrm>
          <a:off x="0" y="0"/>
          <a:ext cx="0" cy="0"/>
          <a:chOff x="0" y="0"/>
          <a:chExt cx="0" cy="0"/>
        </a:xfrm>
      </p:grpSpPr>
      <p:pic>
        <p:nvPicPr>
          <p:cNvPr id="8" name="Picture 7" descr="A city skyline with a tall tower&#10;&#10;AI-generated content may be incorrect.">
            <a:extLst>
              <a:ext uri="{FF2B5EF4-FFF2-40B4-BE49-F238E27FC236}">
                <a16:creationId xmlns:a16="http://schemas.microsoft.com/office/drawing/2014/main" id="{6430ED28-8B55-E51F-C9D3-C4E9F807E8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08" y="748"/>
            <a:ext cx="11428571" cy="5980952"/>
          </a:xfrm>
          <a:prstGeom prst="rect">
            <a:avLst/>
          </a:prstGeom>
        </p:spPr>
      </p:pic>
      <p:pic>
        <p:nvPicPr>
          <p:cNvPr id="9" name="Picture 2" descr="Cyclotron Logo">
            <a:extLst>
              <a:ext uri="{FF2B5EF4-FFF2-40B4-BE49-F238E27FC236}">
                <a16:creationId xmlns:a16="http://schemas.microsoft.com/office/drawing/2014/main" id="{3564DA18-B93F-7FAE-5945-8E7358203D8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13631" y="2808735"/>
            <a:ext cx="3303399" cy="75657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32">
            <a:extLst>
              <a:ext uri="{FF2B5EF4-FFF2-40B4-BE49-F238E27FC236}">
                <a16:creationId xmlns:a16="http://schemas.microsoft.com/office/drawing/2014/main" id="{F2B16119-D700-27A2-9A6E-ECEF85064C84}"/>
              </a:ext>
            </a:extLst>
          </p:cNvPr>
          <p:cNvSpPr txBox="1"/>
          <p:nvPr userDrawn="1"/>
        </p:nvSpPr>
        <p:spPr>
          <a:xfrm>
            <a:off x="457200" y="647613"/>
            <a:ext cx="9647108" cy="1421287"/>
          </a:xfrm>
          <a:prstGeom prst="rect">
            <a:avLst/>
          </a:prstGeom>
        </p:spPr>
        <p:txBody>
          <a:bodyPr wrap="square" lIns="0" tIns="0" rIns="0" bIns="0" rtlCol="0" anchor="t">
            <a:spAutoFit/>
          </a:bodyPr>
          <a:lstStyle/>
          <a:p>
            <a:pPr algn="l">
              <a:lnSpc>
                <a:spcPts val="5500"/>
              </a:lnSpc>
            </a:pPr>
            <a:r>
              <a:rPr lang="en-US" sz="5000" spc="100" dirty="0">
                <a:solidFill>
                  <a:srgbClr val="000000"/>
                </a:solidFill>
                <a:latin typeface="Chunk Five"/>
                <a:ea typeface="Chunk Five"/>
                <a:cs typeface="Chunk Five"/>
                <a:sym typeface="Chunk Five"/>
              </a:rPr>
              <a:t>Canadian</a:t>
            </a:r>
            <a:r>
              <a:rPr lang="en-IN" sz="5400" b="0" i="0" dirty="0">
                <a:solidFill>
                  <a:srgbClr val="000000"/>
                </a:solidFill>
                <a:effectLst/>
              </a:rPr>
              <a:t>🍁</a:t>
            </a:r>
            <a:endParaRPr lang="en-US" sz="5000" spc="100" dirty="0">
              <a:solidFill>
                <a:srgbClr val="000000"/>
              </a:solidFill>
              <a:latin typeface="Chunk Five"/>
              <a:ea typeface="Chunk Five"/>
              <a:cs typeface="Chunk Five"/>
              <a:sym typeface="Chunk Five"/>
            </a:endParaRPr>
          </a:p>
          <a:p>
            <a:pPr algn="l">
              <a:lnSpc>
                <a:spcPts val="5500"/>
              </a:lnSpc>
            </a:pPr>
            <a:r>
              <a:rPr lang="en-US" sz="5000" spc="100" dirty="0">
                <a:solidFill>
                  <a:srgbClr val="000000"/>
                </a:solidFill>
                <a:latin typeface="Chunk Five"/>
                <a:ea typeface="Chunk Five"/>
                <a:cs typeface="Chunk Five"/>
                <a:sym typeface="Chunk Five"/>
              </a:rPr>
              <a:t>Cloud Summit</a:t>
            </a:r>
            <a:r>
              <a:rPr lang="en-IN" sz="4800" b="0" i="0" dirty="0">
                <a:solidFill>
                  <a:srgbClr val="000000"/>
                </a:solidFill>
                <a:effectLst/>
              </a:rPr>
              <a:t>🍁</a:t>
            </a:r>
            <a:r>
              <a:rPr lang="en-IN" sz="5000" kern="1200" spc="100" dirty="0">
                <a:solidFill>
                  <a:srgbClr val="FF0000"/>
                </a:solidFill>
                <a:latin typeface="Chunk Five"/>
              </a:rPr>
              <a:t>SPONSORS</a:t>
            </a:r>
            <a:r>
              <a:rPr lang="en-US" sz="5000" kern="1200" spc="100" dirty="0">
                <a:solidFill>
                  <a:srgbClr val="000000"/>
                </a:solidFill>
                <a:latin typeface="Chunk Five"/>
                <a:ea typeface="Chunk Five"/>
                <a:cs typeface="Chunk Five"/>
                <a:sym typeface="Chunk Five"/>
              </a:rPr>
              <a:t> </a:t>
            </a:r>
            <a:r>
              <a:rPr lang="en-US" sz="5000" spc="100" dirty="0">
                <a:solidFill>
                  <a:srgbClr val="000000"/>
                </a:solidFill>
                <a:latin typeface="Chunk Five"/>
                <a:ea typeface="Chunk Five"/>
                <a:cs typeface="Chunk Five"/>
                <a:sym typeface="Chunk Five"/>
              </a:rPr>
              <a:t> </a:t>
            </a:r>
          </a:p>
        </p:txBody>
      </p:sp>
      <p:pic>
        <p:nvPicPr>
          <p:cNvPr id="11" name="Picture 4" descr="Creospark Logo">
            <a:extLst>
              <a:ext uri="{FF2B5EF4-FFF2-40B4-BE49-F238E27FC236}">
                <a16:creationId xmlns:a16="http://schemas.microsoft.com/office/drawing/2014/main" id="{E5EF4F17-05A7-758F-B3F9-B04D6DA1DDA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77775" y="2762250"/>
            <a:ext cx="2819400" cy="114609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Kabesa Logo">
            <a:extLst>
              <a:ext uri="{FF2B5EF4-FFF2-40B4-BE49-F238E27FC236}">
                <a16:creationId xmlns:a16="http://schemas.microsoft.com/office/drawing/2014/main" id="{8E3C05B8-1901-0710-B3AE-E65E34F0247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239000" y="2627426"/>
            <a:ext cx="2705100" cy="111918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32">
            <a:extLst>
              <a:ext uri="{FF2B5EF4-FFF2-40B4-BE49-F238E27FC236}">
                <a16:creationId xmlns:a16="http://schemas.microsoft.com/office/drawing/2014/main" id="{1AB23D62-C4F6-B87D-1271-80454C792FD7}"/>
              </a:ext>
            </a:extLst>
          </p:cNvPr>
          <p:cNvSpPr txBox="1"/>
          <p:nvPr userDrawn="1"/>
        </p:nvSpPr>
        <p:spPr>
          <a:xfrm>
            <a:off x="10363200" y="148206"/>
            <a:ext cx="1143000" cy="369332"/>
          </a:xfrm>
          <a:prstGeom prst="rect">
            <a:avLst/>
          </a:prstGeom>
        </p:spPr>
        <p:txBody>
          <a:bodyPr wrap="square" lIns="0" tIns="0" rIns="0" bIns="0" rtlCol="0" anchor="t">
            <a:spAutoFit/>
          </a:bodyPr>
          <a:lstStyle/>
          <a:p>
            <a:pPr algn="ctr">
              <a:lnSpc>
                <a:spcPct val="100000"/>
              </a:lnSpc>
            </a:pPr>
            <a:r>
              <a:rPr lang="en-US" sz="1200" spc="100" dirty="0">
                <a:solidFill>
                  <a:schemeClr val="bg1"/>
                </a:solidFill>
                <a:latin typeface="Agency FB" panose="020B0503020202020204" pitchFamily="34" charset="0"/>
                <a:ea typeface="Chunk Five"/>
                <a:cs typeface="Chunk Five"/>
                <a:sym typeface="Chunk Five"/>
              </a:rPr>
              <a:t>Canadian Cloud Summit</a:t>
            </a:r>
          </a:p>
        </p:txBody>
      </p:sp>
    </p:spTree>
    <p:extLst>
      <p:ext uri="{BB962C8B-B14F-4D97-AF65-F5344CB8AC3E}">
        <p14:creationId xmlns:p14="http://schemas.microsoft.com/office/powerpoint/2010/main" val="376675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21" name="Picture 20" descr="A city skyline with a tall tower&#10;&#10;AI-generated content may be incorrect.">
            <a:extLst>
              <a:ext uri="{FF2B5EF4-FFF2-40B4-BE49-F238E27FC236}">
                <a16:creationId xmlns:a16="http://schemas.microsoft.com/office/drawing/2014/main" id="{552780A8-57E1-26B5-DC90-E5933B5E92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 y="374"/>
            <a:ext cx="11428571" cy="5980952"/>
          </a:xfrm>
          <a:prstGeom prst="rect">
            <a:avLst/>
          </a:prstGeom>
        </p:spPr>
      </p:pic>
      <p:sp>
        <p:nvSpPr>
          <p:cNvPr id="32" name="Text Placeholder 31">
            <a:extLst>
              <a:ext uri="{FF2B5EF4-FFF2-40B4-BE49-F238E27FC236}">
                <a16:creationId xmlns:a16="http://schemas.microsoft.com/office/drawing/2014/main" id="{13E8F588-8A0A-461C-56DA-D072609539CB}"/>
              </a:ext>
            </a:extLst>
          </p:cNvPr>
          <p:cNvSpPr>
            <a:spLocks noGrp="1"/>
          </p:cNvSpPr>
          <p:nvPr>
            <p:ph type="body" sz="quarter" idx="10" hasCustomPrompt="1"/>
          </p:nvPr>
        </p:nvSpPr>
        <p:spPr>
          <a:xfrm>
            <a:off x="537136" y="276271"/>
            <a:ext cx="8149664" cy="541810"/>
          </a:xfrm>
        </p:spPr>
        <p:txBody>
          <a:bodyPr>
            <a:normAutofit/>
          </a:bodyPr>
          <a:lstStyle>
            <a:lvl1pPr marL="0" indent="0">
              <a:buNone/>
              <a:defRPr lang="en-US" sz="2800" kern="1200" spc="100" dirty="0">
                <a:solidFill>
                  <a:srgbClr val="000000"/>
                </a:solidFill>
                <a:latin typeface="Chunk Five"/>
                <a:ea typeface="Chunk Five"/>
                <a:cs typeface="Chunk Five"/>
              </a:defRPr>
            </a:lvl1pPr>
          </a:lstStyle>
          <a:p>
            <a:pPr lvl="0"/>
            <a:r>
              <a:rPr lang="en-US" dirty="0"/>
              <a:t>Slide Title</a:t>
            </a:r>
          </a:p>
        </p:txBody>
      </p:sp>
      <p:sp>
        <p:nvSpPr>
          <p:cNvPr id="34" name="Content Placeholder 33">
            <a:extLst>
              <a:ext uri="{FF2B5EF4-FFF2-40B4-BE49-F238E27FC236}">
                <a16:creationId xmlns:a16="http://schemas.microsoft.com/office/drawing/2014/main" id="{269634D6-068E-D45B-15F7-D28D02D0D255}"/>
              </a:ext>
            </a:extLst>
          </p:cNvPr>
          <p:cNvSpPr>
            <a:spLocks noGrp="1"/>
          </p:cNvSpPr>
          <p:nvPr>
            <p:ph sz="quarter" idx="11"/>
          </p:nvPr>
        </p:nvSpPr>
        <p:spPr>
          <a:xfrm>
            <a:off x="536575" y="1085850"/>
            <a:ext cx="10283825" cy="4800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TextBox 32">
            <a:extLst>
              <a:ext uri="{FF2B5EF4-FFF2-40B4-BE49-F238E27FC236}">
                <a16:creationId xmlns:a16="http://schemas.microsoft.com/office/drawing/2014/main" id="{81AE2A8C-3B4D-BB59-0894-2859A0501F3C}"/>
              </a:ext>
            </a:extLst>
          </p:cNvPr>
          <p:cNvSpPr txBox="1"/>
          <p:nvPr userDrawn="1"/>
        </p:nvSpPr>
        <p:spPr>
          <a:xfrm>
            <a:off x="10363200" y="148206"/>
            <a:ext cx="1143000" cy="369332"/>
          </a:xfrm>
          <a:prstGeom prst="rect">
            <a:avLst/>
          </a:prstGeom>
        </p:spPr>
        <p:txBody>
          <a:bodyPr wrap="square" lIns="0" tIns="0" rIns="0" bIns="0" rtlCol="0" anchor="t">
            <a:spAutoFit/>
          </a:bodyPr>
          <a:lstStyle/>
          <a:p>
            <a:pPr algn="ctr">
              <a:lnSpc>
                <a:spcPct val="100000"/>
              </a:lnSpc>
            </a:pPr>
            <a:r>
              <a:rPr lang="en-US" sz="1200" spc="100" dirty="0">
                <a:solidFill>
                  <a:schemeClr val="bg1"/>
                </a:solidFill>
                <a:latin typeface="Agency FB" panose="020B0503020202020204" pitchFamily="34" charset="0"/>
                <a:ea typeface="Chunk Five"/>
                <a:cs typeface="Chunk Five"/>
                <a:sym typeface="Chunk Five"/>
              </a:rPr>
              <a:t>Canadian Cloud Summit</a:t>
            </a:r>
          </a:p>
        </p:txBody>
      </p:sp>
    </p:spTree>
    <p:extLst>
      <p:ext uri="{BB962C8B-B14F-4D97-AF65-F5344CB8AC3E}">
        <p14:creationId xmlns:p14="http://schemas.microsoft.com/office/powerpoint/2010/main" val="3605815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peaker_Info">
    <p:spTree>
      <p:nvGrpSpPr>
        <p:cNvPr id="1" name=""/>
        <p:cNvGrpSpPr/>
        <p:nvPr/>
      </p:nvGrpSpPr>
      <p:grpSpPr>
        <a:xfrm>
          <a:off x="0" y="0"/>
          <a:ext cx="0" cy="0"/>
          <a:chOff x="0" y="0"/>
          <a:chExt cx="0" cy="0"/>
        </a:xfrm>
      </p:grpSpPr>
      <p:sp>
        <p:nvSpPr>
          <p:cNvPr id="5" name="TextBox 28">
            <a:extLst>
              <a:ext uri="{FF2B5EF4-FFF2-40B4-BE49-F238E27FC236}">
                <a16:creationId xmlns:a16="http://schemas.microsoft.com/office/drawing/2014/main" id="{138E1362-C894-3846-B37A-88101EF5200B}"/>
              </a:ext>
            </a:extLst>
          </p:cNvPr>
          <p:cNvSpPr txBox="1"/>
          <p:nvPr userDrawn="1"/>
        </p:nvSpPr>
        <p:spPr>
          <a:xfrm>
            <a:off x="9576762" y="5733858"/>
            <a:ext cx="1617251" cy="181610"/>
          </a:xfrm>
          <a:prstGeom prst="rect">
            <a:avLst/>
          </a:prstGeom>
        </p:spPr>
        <p:txBody>
          <a:bodyPr lIns="0" tIns="0" rIns="0" bIns="0" rtlCol="0" anchor="t">
            <a:spAutoFit/>
          </a:bodyPr>
          <a:lstStyle/>
          <a:p>
            <a:pPr algn="ctr">
              <a:lnSpc>
                <a:spcPts val="1540"/>
              </a:lnSpc>
            </a:pPr>
            <a:r>
              <a:rPr lang="en-US" sz="1100" b="1">
                <a:solidFill>
                  <a:srgbClr val="FFFFFF"/>
                </a:solidFill>
                <a:latin typeface="Open Sans Bold"/>
                <a:ea typeface="Open Sans Bold"/>
                <a:cs typeface="Open Sans Bold"/>
                <a:sym typeface="Open Sans Bold"/>
              </a:rPr>
              <a:t>Scan to Register Now!</a:t>
            </a:r>
          </a:p>
        </p:txBody>
      </p:sp>
      <p:sp>
        <p:nvSpPr>
          <p:cNvPr id="6" name="TextBox 29">
            <a:extLst>
              <a:ext uri="{FF2B5EF4-FFF2-40B4-BE49-F238E27FC236}">
                <a16:creationId xmlns:a16="http://schemas.microsoft.com/office/drawing/2014/main" id="{942B23B8-D444-9E5C-6111-C1753FEE6059}"/>
              </a:ext>
            </a:extLst>
          </p:cNvPr>
          <p:cNvSpPr txBox="1"/>
          <p:nvPr userDrawn="1"/>
        </p:nvSpPr>
        <p:spPr>
          <a:xfrm>
            <a:off x="641896" y="3894368"/>
            <a:ext cx="2770350" cy="338105"/>
          </a:xfrm>
          <a:prstGeom prst="rect">
            <a:avLst/>
          </a:prstGeom>
        </p:spPr>
        <p:txBody>
          <a:bodyPr lIns="0" tIns="0" rIns="0" bIns="0" rtlCol="0" anchor="t">
            <a:spAutoFit/>
          </a:bodyPr>
          <a:lstStyle/>
          <a:p>
            <a:pPr algn="ctr">
              <a:lnSpc>
                <a:spcPts val="2889"/>
              </a:lnSpc>
            </a:pPr>
            <a:r>
              <a:rPr lang="en-US" sz="2063" b="1">
                <a:solidFill>
                  <a:srgbClr val="FFFFFF"/>
                </a:solidFill>
                <a:latin typeface="Open Sans Bold"/>
                <a:ea typeface="Open Sans Bold"/>
                <a:cs typeface="Open Sans Bold"/>
                <a:sym typeface="Open Sans Bold"/>
              </a:rPr>
              <a:t>Sébastien Levert</a:t>
            </a:r>
          </a:p>
        </p:txBody>
      </p:sp>
      <p:sp>
        <p:nvSpPr>
          <p:cNvPr id="7" name="TextBox 30">
            <a:extLst>
              <a:ext uri="{FF2B5EF4-FFF2-40B4-BE49-F238E27FC236}">
                <a16:creationId xmlns:a16="http://schemas.microsoft.com/office/drawing/2014/main" id="{A1BD354E-90FB-DE9E-CDDD-34AB07DB396B}"/>
              </a:ext>
            </a:extLst>
          </p:cNvPr>
          <p:cNvSpPr txBox="1"/>
          <p:nvPr userDrawn="1"/>
        </p:nvSpPr>
        <p:spPr>
          <a:xfrm>
            <a:off x="641896" y="4280935"/>
            <a:ext cx="2770350" cy="488315"/>
          </a:xfrm>
          <a:prstGeom prst="rect">
            <a:avLst/>
          </a:prstGeom>
        </p:spPr>
        <p:txBody>
          <a:bodyPr lIns="0" tIns="0" rIns="0" bIns="0" rtlCol="0" anchor="t">
            <a:spAutoFit/>
          </a:bodyPr>
          <a:lstStyle/>
          <a:p>
            <a:pPr algn="ctr">
              <a:lnSpc>
                <a:spcPts val="1960"/>
              </a:lnSpc>
            </a:pPr>
            <a:r>
              <a:rPr lang="en-US" sz="1400">
                <a:solidFill>
                  <a:srgbClr val="FFFFFF"/>
                </a:solidFill>
                <a:latin typeface="Open Sans"/>
                <a:ea typeface="Open Sans"/>
                <a:cs typeface="Open Sans"/>
                <a:sym typeface="Open Sans"/>
              </a:rPr>
              <a:t>Principal PM Manager</a:t>
            </a:r>
          </a:p>
          <a:p>
            <a:pPr algn="ctr">
              <a:lnSpc>
                <a:spcPts val="1960"/>
              </a:lnSpc>
            </a:pPr>
            <a:r>
              <a:rPr lang="en-US" sz="1400">
                <a:solidFill>
                  <a:srgbClr val="FFFFFF"/>
                </a:solidFill>
                <a:latin typeface="Open Sans"/>
                <a:ea typeface="Open Sans"/>
                <a:cs typeface="Open Sans"/>
                <a:sym typeface="Open Sans"/>
              </a:rPr>
              <a:t>M365 Copilot DevX team</a:t>
            </a:r>
          </a:p>
        </p:txBody>
      </p:sp>
      <p:sp>
        <p:nvSpPr>
          <p:cNvPr id="8" name="TextBox 31">
            <a:extLst>
              <a:ext uri="{FF2B5EF4-FFF2-40B4-BE49-F238E27FC236}">
                <a16:creationId xmlns:a16="http://schemas.microsoft.com/office/drawing/2014/main" id="{7E8A97A8-D3A4-7525-EFA7-1E3AB8BA9886}"/>
              </a:ext>
            </a:extLst>
          </p:cNvPr>
          <p:cNvSpPr txBox="1"/>
          <p:nvPr userDrawn="1"/>
        </p:nvSpPr>
        <p:spPr>
          <a:xfrm>
            <a:off x="641896" y="3658148"/>
            <a:ext cx="2770350" cy="198120"/>
          </a:xfrm>
          <a:prstGeom prst="rect">
            <a:avLst/>
          </a:prstGeom>
        </p:spPr>
        <p:txBody>
          <a:bodyPr lIns="0" tIns="0" rIns="0" bIns="0" rtlCol="0" anchor="t">
            <a:spAutoFit/>
          </a:bodyPr>
          <a:lstStyle/>
          <a:p>
            <a:pPr algn="ctr">
              <a:lnSpc>
                <a:spcPts val="1679"/>
              </a:lnSpc>
            </a:pPr>
            <a:r>
              <a:rPr lang="en-US" sz="1200" b="1">
                <a:solidFill>
                  <a:srgbClr val="FFFFFF"/>
                </a:solidFill>
                <a:latin typeface="Open Sans Bold"/>
                <a:ea typeface="Open Sans Bold"/>
                <a:cs typeface="Open Sans Bold"/>
                <a:sym typeface="Open Sans Bold"/>
              </a:rPr>
              <a:t>KEYNOTE SPEAKER</a:t>
            </a:r>
          </a:p>
        </p:txBody>
      </p:sp>
      <p:pic>
        <p:nvPicPr>
          <p:cNvPr id="9" name="Picture 8">
            <a:extLst>
              <a:ext uri="{FF2B5EF4-FFF2-40B4-BE49-F238E27FC236}">
                <a16:creationId xmlns:a16="http://schemas.microsoft.com/office/drawing/2014/main" id="{3DCCC8D6-E9E8-0EB0-6FF0-A3E0E6E7A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9" y="748"/>
            <a:ext cx="11428571" cy="5980952"/>
          </a:xfrm>
          <a:prstGeom prst="rect">
            <a:avLst/>
          </a:prstGeom>
        </p:spPr>
      </p:pic>
      <p:sp>
        <p:nvSpPr>
          <p:cNvPr id="12" name="TextBox 32">
            <a:extLst>
              <a:ext uri="{FF2B5EF4-FFF2-40B4-BE49-F238E27FC236}">
                <a16:creationId xmlns:a16="http://schemas.microsoft.com/office/drawing/2014/main" id="{B273268B-0511-188B-684D-D11B998BA8ED}"/>
              </a:ext>
            </a:extLst>
          </p:cNvPr>
          <p:cNvSpPr txBox="1"/>
          <p:nvPr userDrawn="1"/>
        </p:nvSpPr>
        <p:spPr>
          <a:xfrm>
            <a:off x="4604674" y="1593895"/>
            <a:ext cx="5578214" cy="1426673"/>
          </a:xfrm>
          <a:prstGeom prst="rect">
            <a:avLst/>
          </a:prstGeom>
        </p:spPr>
        <p:txBody>
          <a:bodyPr lIns="0" tIns="0" rIns="0" bIns="0" rtlCol="0" anchor="t">
            <a:spAutoFit/>
          </a:bodyPr>
          <a:lstStyle/>
          <a:p>
            <a:pPr algn="l">
              <a:lnSpc>
                <a:spcPts val="5500"/>
              </a:lnSpc>
            </a:pPr>
            <a:r>
              <a:rPr lang="en-US" sz="5000" spc="100" dirty="0">
                <a:solidFill>
                  <a:srgbClr val="000000"/>
                </a:solidFill>
                <a:latin typeface="Chunk Five"/>
                <a:ea typeface="Chunk Five"/>
                <a:cs typeface="Chunk Five"/>
                <a:sym typeface="Chunk Five"/>
              </a:rPr>
              <a:t>Canadian</a:t>
            </a:r>
            <a:r>
              <a:rPr lang="en-IN" sz="5400" b="0" i="0" dirty="0">
                <a:solidFill>
                  <a:srgbClr val="000000"/>
                </a:solidFill>
                <a:effectLst/>
              </a:rPr>
              <a:t>🍁</a:t>
            </a:r>
            <a:endParaRPr lang="en-US" sz="5000" spc="100" dirty="0">
              <a:solidFill>
                <a:srgbClr val="000000"/>
              </a:solidFill>
              <a:latin typeface="Chunk Five"/>
              <a:ea typeface="Chunk Five"/>
              <a:cs typeface="Chunk Five"/>
              <a:sym typeface="Chunk Five"/>
            </a:endParaRPr>
          </a:p>
          <a:p>
            <a:pPr algn="l">
              <a:lnSpc>
                <a:spcPts val="5500"/>
              </a:lnSpc>
            </a:pPr>
            <a:r>
              <a:rPr lang="en-US" sz="5000" spc="100" dirty="0">
                <a:solidFill>
                  <a:srgbClr val="000000"/>
                </a:solidFill>
                <a:latin typeface="Chunk Five"/>
                <a:ea typeface="Chunk Five"/>
                <a:cs typeface="Chunk Five"/>
                <a:sym typeface="Chunk Five"/>
              </a:rPr>
              <a:t>Cloud Summit </a:t>
            </a:r>
          </a:p>
        </p:txBody>
      </p:sp>
      <p:sp>
        <p:nvSpPr>
          <p:cNvPr id="17" name="Picture Placeholder 16">
            <a:extLst>
              <a:ext uri="{FF2B5EF4-FFF2-40B4-BE49-F238E27FC236}">
                <a16:creationId xmlns:a16="http://schemas.microsoft.com/office/drawing/2014/main" id="{EA64E570-B440-3AED-AC28-4314400F3FC4}"/>
              </a:ext>
            </a:extLst>
          </p:cNvPr>
          <p:cNvSpPr>
            <a:spLocks noGrp="1"/>
          </p:cNvSpPr>
          <p:nvPr>
            <p:ph type="pic" sz="quarter" idx="13"/>
          </p:nvPr>
        </p:nvSpPr>
        <p:spPr>
          <a:xfrm>
            <a:off x="685800" y="781050"/>
            <a:ext cx="2671763" cy="2664803"/>
          </a:xfrm>
          <a:prstGeom prst="ellipse">
            <a:avLst/>
          </a:prstGeom>
          <a:ln>
            <a:no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19" name="Text Placeholder 18">
            <a:extLst>
              <a:ext uri="{FF2B5EF4-FFF2-40B4-BE49-F238E27FC236}">
                <a16:creationId xmlns:a16="http://schemas.microsoft.com/office/drawing/2014/main" id="{28637B19-A0BE-7911-EB64-3C6882056970}"/>
              </a:ext>
            </a:extLst>
          </p:cNvPr>
          <p:cNvSpPr>
            <a:spLocks noGrp="1"/>
          </p:cNvSpPr>
          <p:nvPr>
            <p:ph type="body" sz="quarter" idx="14" hasCustomPrompt="1"/>
          </p:nvPr>
        </p:nvSpPr>
        <p:spPr>
          <a:xfrm>
            <a:off x="4691902" y="3242222"/>
            <a:ext cx="5974072" cy="2034627"/>
          </a:xfrm>
        </p:spPr>
        <p:txBody>
          <a:bodyPr/>
          <a:lstStyle>
            <a:lvl1pPr marL="0" indent="0">
              <a:buNone/>
              <a:defRPr/>
            </a:lvl1pPr>
          </a:lstStyle>
          <a:p>
            <a:pPr lvl="0"/>
            <a:r>
              <a:rPr lang="en-US" dirty="0"/>
              <a:t>Session Title</a:t>
            </a:r>
          </a:p>
        </p:txBody>
      </p:sp>
      <p:sp>
        <p:nvSpPr>
          <p:cNvPr id="21" name="Text Placeholder 20">
            <a:extLst>
              <a:ext uri="{FF2B5EF4-FFF2-40B4-BE49-F238E27FC236}">
                <a16:creationId xmlns:a16="http://schemas.microsoft.com/office/drawing/2014/main" id="{ADC70666-CE22-1E34-F9DF-81799DB1AA7C}"/>
              </a:ext>
            </a:extLst>
          </p:cNvPr>
          <p:cNvSpPr>
            <a:spLocks noGrp="1"/>
          </p:cNvSpPr>
          <p:nvPr>
            <p:ph type="body" sz="quarter" idx="15" hasCustomPrompt="1"/>
          </p:nvPr>
        </p:nvSpPr>
        <p:spPr>
          <a:xfrm>
            <a:off x="762000" y="3560020"/>
            <a:ext cx="2895600" cy="476250"/>
          </a:xfrm>
        </p:spPr>
        <p:txBody>
          <a:bodyPr/>
          <a:lstStyle>
            <a:lvl1pPr marL="0" indent="0" algn="ctr">
              <a:buNone/>
              <a:defRPr>
                <a:solidFill>
                  <a:schemeClr val="bg1"/>
                </a:solidFill>
              </a:defRPr>
            </a:lvl1pPr>
          </a:lstStyle>
          <a:p>
            <a:pPr lvl="0"/>
            <a:r>
              <a:rPr lang="en-US" dirty="0"/>
              <a:t>Speaker Name</a:t>
            </a:r>
          </a:p>
        </p:txBody>
      </p:sp>
      <p:sp>
        <p:nvSpPr>
          <p:cNvPr id="13" name="Text Placeholder 12">
            <a:extLst>
              <a:ext uri="{FF2B5EF4-FFF2-40B4-BE49-F238E27FC236}">
                <a16:creationId xmlns:a16="http://schemas.microsoft.com/office/drawing/2014/main" id="{A1E154C3-9850-8238-913D-E10516FC0615}"/>
              </a:ext>
            </a:extLst>
          </p:cNvPr>
          <p:cNvSpPr>
            <a:spLocks noGrp="1"/>
          </p:cNvSpPr>
          <p:nvPr>
            <p:ph type="body" sz="quarter" idx="16" hasCustomPrompt="1"/>
          </p:nvPr>
        </p:nvSpPr>
        <p:spPr>
          <a:xfrm>
            <a:off x="764026" y="4214845"/>
            <a:ext cx="2893573" cy="838200"/>
          </a:xfrm>
        </p:spPr>
        <p:txBody>
          <a:bodyPr/>
          <a:lstStyle>
            <a:lvl1pPr marL="0" indent="0" algn="ctr" defTabSz="914400" rtl="0" eaLnBrk="1" latinLnBrk="0" hangingPunct="1">
              <a:lnSpc>
                <a:spcPts val="1960"/>
              </a:lnSpc>
              <a:buNone/>
              <a:defRPr lang="en-US" sz="1400" kern="1200" dirty="0" smtClean="0">
                <a:solidFill>
                  <a:srgbClr val="FFFFFF"/>
                </a:solidFill>
                <a:latin typeface="Open Sans"/>
                <a:ea typeface="Open Sans"/>
                <a:cs typeface="Open Sans"/>
              </a:defRPr>
            </a:lvl1pPr>
          </a:lstStyle>
          <a:p>
            <a:pPr lvl="0"/>
            <a:r>
              <a:rPr lang="en-US" dirty="0"/>
              <a:t>Speaker Title</a:t>
            </a:r>
          </a:p>
        </p:txBody>
      </p:sp>
      <p:sp>
        <p:nvSpPr>
          <p:cNvPr id="16" name="TextBox 32">
            <a:extLst>
              <a:ext uri="{FF2B5EF4-FFF2-40B4-BE49-F238E27FC236}">
                <a16:creationId xmlns:a16="http://schemas.microsoft.com/office/drawing/2014/main" id="{878EB200-5C3D-EE77-0BAD-FB432760B56F}"/>
              </a:ext>
            </a:extLst>
          </p:cNvPr>
          <p:cNvSpPr txBox="1"/>
          <p:nvPr userDrawn="1"/>
        </p:nvSpPr>
        <p:spPr>
          <a:xfrm>
            <a:off x="10363200" y="148206"/>
            <a:ext cx="1143000" cy="369332"/>
          </a:xfrm>
          <a:prstGeom prst="rect">
            <a:avLst/>
          </a:prstGeom>
        </p:spPr>
        <p:txBody>
          <a:bodyPr wrap="square" lIns="0" tIns="0" rIns="0" bIns="0" rtlCol="0" anchor="t">
            <a:spAutoFit/>
          </a:bodyPr>
          <a:lstStyle/>
          <a:p>
            <a:pPr algn="ctr">
              <a:lnSpc>
                <a:spcPct val="100000"/>
              </a:lnSpc>
            </a:pPr>
            <a:r>
              <a:rPr lang="en-US" sz="1200" spc="100" dirty="0">
                <a:solidFill>
                  <a:schemeClr val="bg1"/>
                </a:solidFill>
                <a:latin typeface="Agency FB" panose="020B0503020202020204" pitchFamily="34" charset="0"/>
                <a:ea typeface="Chunk Five"/>
                <a:cs typeface="Chunk Five"/>
                <a:sym typeface="Chunk Five"/>
              </a:rPr>
              <a:t>Canadian Cloud Summit</a:t>
            </a:r>
          </a:p>
        </p:txBody>
      </p:sp>
    </p:spTree>
    <p:extLst>
      <p:ext uri="{BB962C8B-B14F-4D97-AF65-F5344CB8AC3E}">
        <p14:creationId xmlns:p14="http://schemas.microsoft.com/office/powerpoint/2010/main" val="1603147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onsors">
    <p:spTree>
      <p:nvGrpSpPr>
        <p:cNvPr id="1" name=""/>
        <p:cNvGrpSpPr/>
        <p:nvPr/>
      </p:nvGrpSpPr>
      <p:grpSpPr>
        <a:xfrm>
          <a:off x="0" y="0"/>
          <a:ext cx="0" cy="0"/>
          <a:chOff x="0" y="0"/>
          <a:chExt cx="0" cy="0"/>
        </a:xfrm>
      </p:grpSpPr>
      <p:pic>
        <p:nvPicPr>
          <p:cNvPr id="8" name="Picture 7" descr="A city skyline with a tall tower&#10;&#10;AI-generated content may be incorrect.">
            <a:extLst>
              <a:ext uri="{FF2B5EF4-FFF2-40B4-BE49-F238E27FC236}">
                <a16:creationId xmlns:a16="http://schemas.microsoft.com/office/drawing/2014/main" id="{6430ED28-8B55-E51F-C9D3-C4E9F807E8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08" y="748"/>
            <a:ext cx="11428571" cy="5980952"/>
          </a:xfrm>
          <a:prstGeom prst="rect">
            <a:avLst/>
          </a:prstGeom>
        </p:spPr>
      </p:pic>
      <p:pic>
        <p:nvPicPr>
          <p:cNvPr id="9" name="Picture 2" descr="Cyclotron Logo">
            <a:extLst>
              <a:ext uri="{FF2B5EF4-FFF2-40B4-BE49-F238E27FC236}">
                <a16:creationId xmlns:a16="http://schemas.microsoft.com/office/drawing/2014/main" id="{3564DA18-B93F-7FAE-5945-8E7358203D8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13631" y="2808735"/>
            <a:ext cx="3303399" cy="75657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32">
            <a:extLst>
              <a:ext uri="{FF2B5EF4-FFF2-40B4-BE49-F238E27FC236}">
                <a16:creationId xmlns:a16="http://schemas.microsoft.com/office/drawing/2014/main" id="{F2B16119-D700-27A2-9A6E-ECEF85064C84}"/>
              </a:ext>
            </a:extLst>
          </p:cNvPr>
          <p:cNvSpPr txBox="1"/>
          <p:nvPr userDrawn="1"/>
        </p:nvSpPr>
        <p:spPr>
          <a:xfrm>
            <a:off x="457200" y="647613"/>
            <a:ext cx="9647108" cy="1421287"/>
          </a:xfrm>
          <a:prstGeom prst="rect">
            <a:avLst/>
          </a:prstGeom>
        </p:spPr>
        <p:txBody>
          <a:bodyPr wrap="square" lIns="0" tIns="0" rIns="0" bIns="0" rtlCol="0" anchor="t">
            <a:spAutoFit/>
          </a:bodyPr>
          <a:lstStyle/>
          <a:p>
            <a:pPr algn="l">
              <a:lnSpc>
                <a:spcPts val="5500"/>
              </a:lnSpc>
            </a:pPr>
            <a:r>
              <a:rPr lang="en-US" sz="5000" spc="100" dirty="0">
                <a:solidFill>
                  <a:srgbClr val="000000"/>
                </a:solidFill>
                <a:latin typeface="Chunk Five"/>
                <a:ea typeface="Chunk Five"/>
                <a:cs typeface="Chunk Five"/>
                <a:sym typeface="Chunk Five"/>
              </a:rPr>
              <a:t>Canadian</a:t>
            </a:r>
            <a:r>
              <a:rPr lang="en-IN" sz="5400" b="0" i="0" dirty="0">
                <a:solidFill>
                  <a:srgbClr val="000000"/>
                </a:solidFill>
                <a:effectLst/>
              </a:rPr>
              <a:t>🍁</a:t>
            </a:r>
            <a:endParaRPr lang="en-US" sz="5000" spc="100" dirty="0">
              <a:solidFill>
                <a:srgbClr val="000000"/>
              </a:solidFill>
              <a:latin typeface="Chunk Five"/>
              <a:ea typeface="Chunk Five"/>
              <a:cs typeface="Chunk Five"/>
              <a:sym typeface="Chunk Five"/>
            </a:endParaRPr>
          </a:p>
          <a:p>
            <a:pPr algn="l">
              <a:lnSpc>
                <a:spcPts val="5500"/>
              </a:lnSpc>
            </a:pPr>
            <a:r>
              <a:rPr lang="en-US" sz="5000" spc="100" dirty="0">
                <a:solidFill>
                  <a:srgbClr val="000000"/>
                </a:solidFill>
                <a:latin typeface="Chunk Five"/>
                <a:ea typeface="Chunk Five"/>
                <a:cs typeface="Chunk Five"/>
                <a:sym typeface="Chunk Five"/>
              </a:rPr>
              <a:t>Cloud Summit</a:t>
            </a:r>
            <a:r>
              <a:rPr lang="en-IN" sz="4800" b="0" i="0" dirty="0">
                <a:solidFill>
                  <a:srgbClr val="000000"/>
                </a:solidFill>
                <a:effectLst/>
              </a:rPr>
              <a:t>🍁</a:t>
            </a:r>
            <a:r>
              <a:rPr lang="en-IN" sz="5000" kern="1200" spc="100" dirty="0">
                <a:solidFill>
                  <a:srgbClr val="FF0000"/>
                </a:solidFill>
                <a:latin typeface="Chunk Five"/>
              </a:rPr>
              <a:t>SPONSORS</a:t>
            </a:r>
            <a:r>
              <a:rPr lang="en-US" sz="5000" kern="1200" spc="100" dirty="0">
                <a:solidFill>
                  <a:srgbClr val="000000"/>
                </a:solidFill>
                <a:latin typeface="Chunk Five"/>
                <a:ea typeface="Chunk Five"/>
                <a:cs typeface="Chunk Five"/>
                <a:sym typeface="Chunk Five"/>
              </a:rPr>
              <a:t> </a:t>
            </a:r>
            <a:r>
              <a:rPr lang="en-US" sz="5000" spc="100" dirty="0">
                <a:solidFill>
                  <a:srgbClr val="000000"/>
                </a:solidFill>
                <a:latin typeface="Chunk Five"/>
                <a:ea typeface="Chunk Five"/>
                <a:cs typeface="Chunk Five"/>
                <a:sym typeface="Chunk Five"/>
              </a:rPr>
              <a:t> </a:t>
            </a:r>
          </a:p>
        </p:txBody>
      </p:sp>
      <p:pic>
        <p:nvPicPr>
          <p:cNvPr id="11" name="Picture 4" descr="Creospark Logo">
            <a:extLst>
              <a:ext uri="{FF2B5EF4-FFF2-40B4-BE49-F238E27FC236}">
                <a16:creationId xmlns:a16="http://schemas.microsoft.com/office/drawing/2014/main" id="{E5EF4F17-05A7-758F-B3F9-B04D6DA1DDA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77775" y="2762250"/>
            <a:ext cx="2819400" cy="114609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Kabesa Logo">
            <a:extLst>
              <a:ext uri="{FF2B5EF4-FFF2-40B4-BE49-F238E27FC236}">
                <a16:creationId xmlns:a16="http://schemas.microsoft.com/office/drawing/2014/main" id="{8E3C05B8-1901-0710-B3AE-E65E34F0247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239000" y="2627426"/>
            <a:ext cx="2705100" cy="111918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32">
            <a:extLst>
              <a:ext uri="{FF2B5EF4-FFF2-40B4-BE49-F238E27FC236}">
                <a16:creationId xmlns:a16="http://schemas.microsoft.com/office/drawing/2014/main" id="{1AB23D62-C4F6-B87D-1271-80454C792FD7}"/>
              </a:ext>
            </a:extLst>
          </p:cNvPr>
          <p:cNvSpPr txBox="1"/>
          <p:nvPr userDrawn="1"/>
        </p:nvSpPr>
        <p:spPr>
          <a:xfrm>
            <a:off x="10363200" y="148206"/>
            <a:ext cx="1143000" cy="369332"/>
          </a:xfrm>
          <a:prstGeom prst="rect">
            <a:avLst/>
          </a:prstGeom>
        </p:spPr>
        <p:txBody>
          <a:bodyPr wrap="square" lIns="0" tIns="0" rIns="0" bIns="0" rtlCol="0" anchor="t">
            <a:spAutoFit/>
          </a:bodyPr>
          <a:lstStyle/>
          <a:p>
            <a:pPr algn="ctr">
              <a:lnSpc>
                <a:spcPct val="100000"/>
              </a:lnSpc>
            </a:pPr>
            <a:r>
              <a:rPr lang="en-US" sz="1200" spc="100" dirty="0">
                <a:solidFill>
                  <a:schemeClr val="bg1"/>
                </a:solidFill>
                <a:latin typeface="Agency FB" panose="020B0503020202020204" pitchFamily="34" charset="0"/>
                <a:ea typeface="Chunk Five"/>
                <a:cs typeface="Chunk Five"/>
                <a:sym typeface="Chunk Five"/>
              </a:rPr>
              <a:t>Canadian Cloud Summit</a:t>
            </a:r>
          </a:p>
        </p:txBody>
      </p:sp>
    </p:spTree>
    <p:extLst>
      <p:ext uri="{BB962C8B-B14F-4D97-AF65-F5344CB8AC3E}">
        <p14:creationId xmlns:p14="http://schemas.microsoft.com/office/powerpoint/2010/main" val="2248801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Thank_You">
    <p:spTree>
      <p:nvGrpSpPr>
        <p:cNvPr id="1" name=""/>
        <p:cNvGrpSpPr/>
        <p:nvPr/>
      </p:nvGrpSpPr>
      <p:grpSpPr>
        <a:xfrm>
          <a:off x="0" y="0"/>
          <a:ext cx="0" cy="0"/>
          <a:chOff x="0" y="0"/>
          <a:chExt cx="0" cy="0"/>
        </a:xfrm>
      </p:grpSpPr>
      <p:pic>
        <p:nvPicPr>
          <p:cNvPr id="6" name="Picture 5" descr="A red and white background with a city in the background&#10;&#10;AI-generated content may be incorrect.">
            <a:extLst>
              <a:ext uri="{FF2B5EF4-FFF2-40B4-BE49-F238E27FC236}">
                <a16:creationId xmlns:a16="http://schemas.microsoft.com/office/drawing/2014/main" id="{7F7058BF-0F5A-EB72-2391-117848B2E7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 y="374"/>
            <a:ext cx="11428571" cy="5980952"/>
          </a:xfrm>
          <a:prstGeom prst="rect">
            <a:avLst/>
          </a:prstGeom>
        </p:spPr>
      </p:pic>
      <p:sp>
        <p:nvSpPr>
          <p:cNvPr id="7" name="TextBox 6">
            <a:extLst>
              <a:ext uri="{FF2B5EF4-FFF2-40B4-BE49-F238E27FC236}">
                <a16:creationId xmlns:a16="http://schemas.microsoft.com/office/drawing/2014/main" id="{EE79E723-E25F-54D0-36C2-CBFFE21E5C54}"/>
              </a:ext>
            </a:extLst>
          </p:cNvPr>
          <p:cNvSpPr txBox="1"/>
          <p:nvPr userDrawn="1"/>
        </p:nvSpPr>
        <p:spPr>
          <a:xfrm>
            <a:off x="-18893" y="3020235"/>
            <a:ext cx="8382000" cy="652936"/>
          </a:xfrm>
          <a:prstGeom prst="rect">
            <a:avLst/>
          </a:prstGeom>
          <a:noFill/>
        </p:spPr>
        <p:txBody>
          <a:bodyPr wrap="square">
            <a:spAutoFit/>
          </a:bodyPr>
          <a:lstStyle/>
          <a:p>
            <a:pPr marL="0" marR="0" lvl="0" indent="0" algn="ctr" defTabSz="914400" rtl="0" eaLnBrk="1" fontAlgn="auto" latinLnBrk="0" hangingPunct="1">
              <a:lnSpc>
                <a:spcPts val="2800"/>
              </a:lnSpc>
              <a:spcBef>
                <a:spcPts val="0"/>
              </a:spcBef>
              <a:spcAft>
                <a:spcPts val="0"/>
              </a:spcAft>
              <a:buClrTx/>
              <a:buSzTx/>
              <a:buFontTx/>
              <a:buNone/>
              <a:tabLst/>
              <a:defRPr/>
            </a:pPr>
            <a:r>
              <a:rPr kumimoji="0" lang="en-US" sz="8800" b="1" i="0" u="none" strike="noStrike" kern="1200" cap="none" spc="0" normalizeH="0" baseline="0" noProof="0" dirty="0">
                <a:ln>
                  <a:noFill/>
                </a:ln>
                <a:solidFill>
                  <a:prstClr val="white"/>
                </a:solidFill>
                <a:effectLst/>
                <a:uLnTx/>
                <a:uFillTx/>
                <a:latin typeface="Open Sans Bold"/>
                <a:ea typeface="Open Sans Bold"/>
                <a:cs typeface="Open Sans Bold"/>
                <a:sym typeface="Open Sans Bold"/>
              </a:rPr>
              <a:t>Thank</a:t>
            </a:r>
            <a:endParaRPr kumimoji="0" lang="en-US" sz="8800" b="1" i="0" u="none" strike="noStrike" kern="1200" cap="none" spc="0" normalizeH="0" baseline="0" noProof="0" dirty="0">
              <a:ln>
                <a:noFill/>
              </a:ln>
              <a:solidFill>
                <a:srgbClr val="D80621"/>
              </a:solidFill>
              <a:effectLst/>
              <a:uLnTx/>
              <a:uFillTx/>
              <a:latin typeface="Open Sans Bold"/>
              <a:ea typeface="Open Sans Bold"/>
              <a:cs typeface="Open Sans Bold"/>
              <a:sym typeface="Open Sans Bold"/>
            </a:endParaRPr>
          </a:p>
        </p:txBody>
      </p:sp>
      <p:sp>
        <p:nvSpPr>
          <p:cNvPr id="8" name="TextBox 7">
            <a:extLst>
              <a:ext uri="{FF2B5EF4-FFF2-40B4-BE49-F238E27FC236}">
                <a16:creationId xmlns:a16="http://schemas.microsoft.com/office/drawing/2014/main" id="{230E2E44-9998-47CE-97AF-FE1973E8D64F}"/>
              </a:ext>
            </a:extLst>
          </p:cNvPr>
          <p:cNvSpPr txBox="1"/>
          <p:nvPr userDrawn="1"/>
        </p:nvSpPr>
        <p:spPr>
          <a:xfrm>
            <a:off x="5334000" y="3506678"/>
            <a:ext cx="5715000" cy="14465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0" normalizeH="0" baseline="0" noProof="0" dirty="0">
                <a:ln>
                  <a:noFill/>
                </a:ln>
                <a:solidFill>
                  <a:srgbClr val="D80621"/>
                </a:solidFill>
                <a:effectLst/>
                <a:uLnTx/>
                <a:uFillTx/>
                <a:latin typeface="Open Sans Bold"/>
                <a:ea typeface="Open Sans Bold"/>
                <a:cs typeface="Open Sans Bold"/>
                <a:sym typeface="Open Sans Bold"/>
              </a:rPr>
              <a:t>You!</a:t>
            </a:r>
            <a:endParaRPr kumimoji="0" lang="en-IN" sz="8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9">
            <a:extLst>
              <a:ext uri="{FF2B5EF4-FFF2-40B4-BE49-F238E27FC236}">
                <a16:creationId xmlns:a16="http://schemas.microsoft.com/office/drawing/2014/main" id="{F8B86CE0-CA1B-905C-203A-BBD353FECE98}"/>
              </a:ext>
            </a:extLst>
          </p:cNvPr>
          <p:cNvSpPr txBox="1"/>
          <p:nvPr userDrawn="1"/>
        </p:nvSpPr>
        <p:spPr>
          <a:xfrm>
            <a:off x="6248400" y="4128138"/>
            <a:ext cx="838200" cy="323165"/>
          </a:xfrm>
          <a:prstGeom prst="rect">
            <a:avLst/>
          </a:prstGeom>
          <a:noFill/>
        </p:spPr>
        <p:txBody>
          <a:bodyPr wrap="square">
            <a:spAutoFit/>
          </a:bodyPr>
          <a:lstStyle/>
          <a:p>
            <a:r>
              <a:rPr lang="en-IN" sz="1500" b="0" i="0" dirty="0">
                <a:solidFill>
                  <a:srgbClr val="000000"/>
                </a:solidFill>
                <a:effectLst/>
              </a:rPr>
              <a:t>🍁</a:t>
            </a:r>
            <a:endParaRPr lang="en-US" sz="1500" dirty="0"/>
          </a:p>
        </p:txBody>
      </p:sp>
      <p:sp>
        <p:nvSpPr>
          <p:cNvPr id="11" name="TextBox 32">
            <a:extLst>
              <a:ext uri="{FF2B5EF4-FFF2-40B4-BE49-F238E27FC236}">
                <a16:creationId xmlns:a16="http://schemas.microsoft.com/office/drawing/2014/main" id="{4F482841-83FB-45B3-7B68-6BA0ACEACB14}"/>
              </a:ext>
            </a:extLst>
          </p:cNvPr>
          <p:cNvSpPr txBox="1"/>
          <p:nvPr userDrawn="1"/>
        </p:nvSpPr>
        <p:spPr>
          <a:xfrm>
            <a:off x="228600" y="323850"/>
            <a:ext cx="1828800" cy="861774"/>
          </a:xfrm>
          <a:prstGeom prst="rect">
            <a:avLst/>
          </a:prstGeom>
        </p:spPr>
        <p:txBody>
          <a:bodyPr wrap="square" lIns="0" tIns="0" rIns="0" bIns="0" rtlCol="0" anchor="t">
            <a:spAutoFit/>
          </a:bodyPr>
          <a:lstStyle/>
          <a:p>
            <a:pPr algn="ctr">
              <a:lnSpc>
                <a:spcPct val="100000"/>
              </a:lnSpc>
            </a:pPr>
            <a:r>
              <a:rPr lang="en-US" sz="2800" spc="100" dirty="0">
                <a:solidFill>
                  <a:schemeClr val="bg1"/>
                </a:solidFill>
                <a:latin typeface="Agency FB" panose="020B0503020202020204" pitchFamily="34" charset="0"/>
                <a:ea typeface="Chunk Five"/>
                <a:cs typeface="Chunk Five"/>
                <a:sym typeface="Chunk Five"/>
              </a:rPr>
              <a:t>Canadian Cloud Summit</a:t>
            </a:r>
          </a:p>
        </p:txBody>
      </p:sp>
      <p:pic>
        <p:nvPicPr>
          <p:cNvPr id="2" name="Picture 2">
            <a:extLst>
              <a:ext uri="{FF2B5EF4-FFF2-40B4-BE49-F238E27FC236}">
                <a16:creationId xmlns:a16="http://schemas.microsoft.com/office/drawing/2014/main" id="{97B0F511-A1C0-B796-F2E3-BCCA9C8E5C3C}"/>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96200" y="215"/>
            <a:ext cx="3756471" cy="3758210"/>
          </a:xfrm>
          <a:prstGeom prst="rect">
            <a:avLst/>
          </a:prstGeom>
          <a:solidFill>
            <a:srgbClr val="686873"/>
          </a:solidFill>
        </p:spPr>
      </p:pic>
    </p:spTree>
    <p:extLst>
      <p:ext uri="{BB962C8B-B14F-4D97-AF65-F5344CB8AC3E}">
        <p14:creationId xmlns:p14="http://schemas.microsoft.com/office/powerpoint/2010/main" val="16851727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2862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6073973"/>
      </p:ext>
    </p:extLst>
  </p:cSld>
  <p:clrMap bg1="lt1" tx1="dk1" bg2="lt2" tx2="dk2" accent1="accent1" accent2="accent2" accent3="accent3" accent4="accent4" accent5="accent5" accent6="accent6" hlink="hlink" folHlink="folHlink"/>
  <p:sldLayoutIdLst>
    <p:sldLayoutId id="2147483691" r:id="rId1"/>
    <p:sldLayoutId id="2147483698" r:id="rId2"/>
    <p:sldLayoutId id="2147483701" r:id="rId3"/>
    <p:sldLayoutId id="2147483699"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2862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996371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8.jpg"/><Relationship Id="rId7" Type="http://schemas.openxmlformats.org/officeDocument/2006/relationships/hyperlink" Target="https://www.youtube.com/@jcgonzalezmartin" TargetMode="External"/><Relationship Id="rId12"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hyperlink" Target="https://jcgonzalezmartin.wordpress.com/" TargetMode="External"/><Relationship Id="rId11" Type="http://schemas.openxmlformats.org/officeDocument/2006/relationships/image" Target="../media/image13.png"/><Relationship Id="rId5" Type="http://schemas.openxmlformats.org/officeDocument/2006/relationships/hyperlink" Target="https://nl.linkedin.com/in/juagon" TargetMode="External"/><Relationship Id="rId10" Type="http://schemas.openxmlformats.org/officeDocument/2006/relationships/image" Target="../media/image12.png"/><Relationship Id="rId4" Type="http://schemas.openxmlformats.org/officeDocument/2006/relationships/hyperlink" Target="mailto:jcgonzalezmartin1978@hotmail.com" TargetMode="External"/><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video" Target="https://www.youtube.com/embed/miFZxDRA_Mw?feature=oembed" TargetMode="External"/><Relationship Id="rId4" Type="http://schemas.openxmlformats.org/officeDocument/2006/relationships/image" Target="../media/image47.jpeg"/></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8" Type="http://schemas.openxmlformats.org/officeDocument/2006/relationships/hyperlink" Target="https://learn.microsoft.com/en-us/power-platform/admin/vnet-support-overview" TargetMode="External"/><Relationship Id="rId3" Type="http://schemas.openxmlformats.org/officeDocument/2006/relationships/hyperlink" Target="https://learn.microsoft.com/en-us/power-platform/guidance/adoption/conditional-access" TargetMode="External"/><Relationship Id="rId7" Type="http://schemas.openxmlformats.org/officeDocument/2006/relationships/hyperlink" Target="https://learn.microsoft.com/en-us/power-platform/admin/block-cookie-replay-attack" TargetMode="External"/><Relationship Id="rId2" Type="http://schemas.openxmlformats.org/officeDocument/2006/relationships/hyperlink" Target="https://learn.microsoft.com/en-us/power-platform/admin/security/authenticate-services" TargetMode="External"/><Relationship Id="rId1" Type="http://schemas.openxmlformats.org/officeDocument/2006/relationships/slideLayout" Target="../slideLayouts/slideLayout1.xml"/><Relationship Id="rId6" Type="http://schemas.openxmlformats.org/officeDocument/2006/relationships/hyperlink" Target="https://learn.microsoft.com/en-us/power-platform/admin/connector-endpoint-filtering" TargetMode="External"/><Relationship Id="rId5" Type="http://schemas.openxmlformats.org/officeDocument/2006/relationships/hyperlink" Target="https://learn.microsoft.com/en-us/power-platform/admin/ip-firewall" TargetMode="External"/><Relationship Id="rId4" Type="http://schemas.openxmlformats.org/officeDocument/2006/relationships/hyperlink" Target="https://learn.microsoft.com/en-us/power-platform/admin/cross-tenant-restriction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hyperlink" Target="https://learn.microsoft.com/en-us/power-platform/admin/cross-tenant-restrictions" TargetMode="External"/><Relationship Id="rId13" Type="http://schemas.openxmlformats.org/officeDocument/2006/relationships/hyperlink" Target="https://learn.microsoft.com/en-us/power-platform/admin/list-tenantsettings#definitions" TargetMode="External"/><Relationship Id="rId3" Type="http://schemas.openxmlformats.org/officeDocument/2006/relationships/hyperlink" Target="https://learn.microsoft.com/en-us/power-platform/guidance/adoption/secure-default-environment" TargetMode="External"/><Relationship Id="rId7" Type="http://schemas.openxmlformats.org/officeDocument/2006/relationships/hyperlink" Target="https://learn.microsoft.com/en-us/power-platform/admin/dlp-custom-connector-parity" TargetMode="External"/><Relationship Id="rId12" Type="http://schemas.openxmlformats.org/officeDocument/2006/relationships/hyperlink" Target="https://learn.microsoft.com/en-us/power-platform/admin/invite-users-azure-active-directory-b2b-collaboration" TargetMode="External"/><Relationship Id="rId17" Type="http://schemas.openxmlformats.org/officeDocument/2006/relationships/hyperlink" Target="https://learn.microsoft.com/en-us/power-platform/admin/use-service-admin-role-manage-tenant" TargetMode="External"/><Relationship Id="rId2" Type="http://schemas.openxmlformats.org/officeDocument/2006/relationships/notesSlide" Target="../notesSlides/notesSlide20.xml"/><Relationship Id="rId16" Type="http://schemas.openxmlformats.org/officeDocument/2006/relationships/hyperlink" Target="https://learn.microsoft.com/en-us/power-platform/admin/wp-security-cds" TargetMode="External"/><Relationship Id="rId1" Type="http://schemas.openxmlformats.org/officeDocument/2006/relationships/slideLayout" Target="../slideLayouts/slideLayout1.xml"/><Relationship Id="rId6" Type="http://schemas.openxmlformats.org/officeDocument/2006/relationships/hyperlink" Target="https://learn.microsoft.com/en-us/power-platform/admin/create-dlp-policy" TargetMode="External"/><Relationship Id="rId11" Type="http://schemas.openxmlformats.org/officeDocument/2006/relationships/hyperlink" Target="https://learn.microsoft.com/en-us/azure/active-directory/conditional-access/concept-conditional-access-users-groups#include-users" TargetMode="External"/><Relationship Id="rId5" Type="http://schemas.openxmlformats.org/officeDocument/2006/relationships/hyperlink" Target="https://learn.microsoft.com/en-us/power-platform/admin/managed-environment-sharing-limits" TargetMode="External"/><Relationship Id="rId15" Type="http://schemas.openxmlformats.org/officeDocument/2006/relationships/hyperlink" Target="https://learn.microsoft.com/en-us/azure/active-directory/conditional-access/concept-conditional-access-users-groups#exclude-users" TargetMode="External"/><Relationship Id="rId10" Type="http://schemas.openxmlformats.org/officeDocument/2006/relationships/hyperlink" Target="https://learn.microsoft.com/en-us/power-apps/maker/canvas-apps/share-app" TargetMode="External"/><Relationship Id="rId4" Type="http://schemas.openxmlformats.org/officeDocument/2006/relationships/hyperlink" Target="https://learn.microsoft.com/en-us/power-platform/guidance/adoption/environment-strategy" TargetMode="External"/><Relationship Id="rId9" Type="http://schemas.openxmlformats.org/officeDocument/2006/relationships/hyperlink" Target="https://learn.microsoft.com/en-us/power-platform/admin/default-environment-routing" TargetMode="External"/><Relationship Id="rId14" Type="http://schemas.openxmlformats.org/officeDocument/2006/relationships/hyperlink" Target="https://devblogs.microsoft.com/premier-developer/control-access-to-power-apps-and-power-automate-with-azure-ad-conditional-access-policie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hyperlink" Target="https://learn.microsoft.com/en-us/power-platform/admin/control-user-access" TargetMode="External"/><Relationship Id="rId3" Type="http://schemas.openxmlformats.org/officeDocument/2006/relationships/hyperlink" Target="https://learn.microsoft.com/en-us/power-apps/guidance/planning/security" TargetMode="External"/><Relationship Id="rId7" Type="http://schemas.openxmlformats.org/officeDocument/2006/relationships/hyperlink" Target="https://learn.microsoft.com/en-us/power-platform/admin/managed-environment-sharing-limits"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learn.microsoft.com/en-us/power-platform/admin/pricing-billing-skus" TargetMode="External"/><Relationship Id="rId11" Type="http://schemas.openxmlformats.org/officeDocument/2006/relationships/hyperlink" Target="https://learn.microsoft.com/en-us/power-platform/admin/manage-high-privileged-admin-roles" TargetMode="External"/><Relationship Id="rId5" Type="http://schemas.openxmlformats.org/officeDocument/2006/relationships/hyperlink" Target="https://learn.microsoft.com/en-us/power-platform/admin/delete-users#about-deleted-users" TargetMode="External"/><Relationship Id="rId10" Type="http://schemas.openxmlformats.org/officeDocument/2006/relationships/hyperlink" Target="https://learn.microsoft.com/en-us/power-platform/admin/use-service-admin-role-manage-tenant" TargetMode="External"/><Relationship Id="rId4" Type="http://schemas.openxmlformats.org/officeDocument/2006/relationships/hyperlink" Target="https://learn.microsoft.com/en-us/power-platform/admin/security/connect-data-sources#authenticating-to-data-sources" TargetMode="External"/><Relationship Id="rId9" Type="http://schemas.openxmlformats.org/officeDocument/2006/relationships/hyperlink" Target="https://learn.microsoft.com/en-us/power-platform/admin/troubleshooting-user-needs-read-write-access-organization#user-diagnostics"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8" Type="http://schemas.openxmlformats.org/officeDocument/2006/relationships/hyperlink" Target="https://learn.microsoft.com/en-us/power-platform/admin/welcome-content" TargetMode="External"/><Relationship Id="rId3" Type="http://schemas.openxmlformats.org/officeDocument/2006/relationships/hyperlink" Target="https://learn.microsoft.com/en-us/power-platform/admin/managed-environment-sharing-limits" TargetMode="External"/><Relationship Id="rId7" Type="http://schemas.openxmlformats.org/officeDocument/2006/relationships/hyperlink" Target="https://learn.microsoft.com/en-us/power-platform/admin/managed-environment-solution-checker" TargetMode="External"/><Relationship Id="rId2" Type="http://schemas.openxmlformats.org/officeDocument/2006/relationships/hyperlink" Target="https://www.youtube.com/watch?v=h9FrOEfc81s&amp;ab_channel=RonGerberAngelbeat" TargetMode="External"/><Relationship Id="rId1" Type="http://schemas.openxmlformats.org/officeDocument/2006/relationships/slideLayout" Target="../slideLayouts/slideLayout1.xml"/><Relationship Id="rId6" Type="http://schemas.openxmlformats.org/officeDocument/2006/relationships/hyperlink" Target="https://learn.microsoft.com/en-us/power-platform/admin/control-user-access" TargetMode="External"/><Relationship Id="rId5" Type="http://schemas.openxmlformats.org/officeDocument/2006/relationships/hyperlink" Target="https://learn.microsoft.com/en-us/power-platform/admin/default-environment-routing" TargetMode="External"/><Relationship Id="rId10" Type="http://schemas.openxmlformats.org/officeDocument/2006/relationships/hyperlink" Target="https://learn.microsoft.com/en-us/power-platform/admin/manage-high-privileged-admin-roles?tabs=new" TargetMode="External"/><Relationship Id="rId4" Type="http://schemas.openxmlformats.org/officeDocument/2006/relationships/hyperlink" Target="https://learn.microsoft.com/en-us/power-platform/admin/pricing-billing-skus" TargetMode="External"/><Relationship Id="rId9" Type="http://schemas.openxmlformats.org/officeDocument/2006/relationships/hyperlink" Target="https://learn.microsoft.com/en-us/power-platform/admin/use-service-admin-role-manage-tenant#assign-a-service-admin-role-to-a-user"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3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 Id="rId5" Type="http://schemas.openxmlformats.org/officeDocument/2006/relationships/image" Target="../media/image82.png"/><Relationship Id="rId4" Type="http://schemas.openxmlformats.org/officeDocument/2006/relationships/image" Target="../media/image81.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hyperlink" Target="https://learn.microsoft.com/en-us/power-platform/alm/admins-makers" TargetMode="External"/><Relationship Id="rId2" Type="http://schemas.openxmlformats.org/officeDocument/2006/relationships/hyperlink" Target="https://learn.microsoft.com/en-us/power-platform/admin/wp-data-loss-prevention" TargetMode="External"/><Relationship Id="rId1" Type="http://schemas.openxmlformats.org/officeDocument/2006/relationships/slideLayout" Target="../slideLayouts/slideLayout1.xml"/><Relationship Id="rId6" Type="http://schemas.openxmlformats.org/officeDocument/2006/relationships/hyperlink" Target="https://www.microsoft.com/en-us/power-platform/blog/power-apps/integrating-microsoft-sentinel-and-power-platform-to-better-monitor-and-protect-your-low-code-solutions/" TargetMode="External"/><Relationship Id="rId5" Type="http://schemas.openxmlformats.org/officeDocument/2006/relationships/hyperlink" Target="https://learn.microsoft.com/en-us/power-platform/admin/manage-dataverse-auditing" TargetMode="External"/><Relationship Id="rId4" Type="http://schemas.openxmlformats.org/officeDocument/2006/relationships/hyperlink" Target="https://learn.microsoft.com/en-us/power-platform/admin/analytics-common-data-service"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4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4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hyperlink" Target="https://learn.microsoft.com/en-us/power-platform/admin/about-encryption" TargetMode="External"/><Relationship Id="rId2" Type="http://schemas.openxmlformats.org/officeDocument/2006/relationships/hyperlink" Target="https://learn.microsoft.com/en-us/power-platform/admin/wp-compliance-data-privacy#trust-center" TargetMode="External"/><Relationship Id="rId1" Type="http://schemas.openxmlformats.org/officeDocument/2006/relationships/slideLayout" Target="../slideLayouts/slideLayout1.xml"/><Relationship Id="rId5" Type="http://schemas.openxmlformats.org/officeDocument/2006/relationships/hyperlink" Target="https://learn.microsoft.com/en-us/power-platform/admin/wp-security-cds" TargetMode="External"/><Relationship Id="rId4" Type="http://schemas.openxmlformats.org/officeDocument/2006/relationships/hyperlink" Target="https://learn.microsoft.com/en-us/power-platform/admin/about-lockbox"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hyperlink" Target="https://o365itpros.gumroad.com/l/O365IT"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smiling for a picture&#10;&#10;AI-generated content may be incorrect.">
            <a:extLst>
              <a:ext uri="{FF2B5EF4-FFF2-40B4-BE49-F238E27FC236}">
                <a16:creationId xmlns:a16="http://schemas.microsoft.com/office/drawing/2014/main" id="{07606AD0-1497-A3DD-BAAB-BE767F9AE17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13" r="1313"/>
          <a:stretch>
            <a:fillRect/>
          </a:stretch>
        </p:blipFill>
        <p:spPr/>
      </p:pic>
      <p:sp>
        <p:nvSpPr>
          <p:cNvPr id="3" name="Text Placeholder 2">
            <a:extLst>
              <a:ext uri="{FF2B5EF4-FFF2-40B4-BE49-F238E27FC236}">
                <a16:creationId xmlns:a16="http://schemas.microsoft.com/office/drawing/2014/main" id="{0F64DDEB-3977-4622-C575-BAB47F751365}"/>
              </a:ext>
            </a:extLst>
          </p:cNvPr>
          <p:cNvSpPr>
            <a:spLocks noGrp="1"/>
          </p:cNvSpPr>
          <p:nvPr>
            <p:ph type="body" sz="quarter" idx="14"/>
          </p:nvPr>
        </p:nvSpPr>
        <p:spPr/>
        <p:txBody>
          <a:bodyPr>
            <a:normAutofit/>
          </a:bodyPr>
          <a:lstStyle/>
          <a:p>
            <a:r>
              <a:rPr lang="en-US" b="1" noProof="0" dirty="0"/>
              <a:t>Managed Security in the Power Platform: Advanced Protection for an AI-Driven World</a:t>
            </a:r>
          </a:p>
        </p:txBody>
      </p:sp>
      <p:sp>
        <p:nvSpPr>
          <p:cNvPr id="4" name="Text Placeholder 3">
            <a:extLst>
              <a:ext uri="{FF2B5EF4-FFF2-40B4-BE49-F238E27FC236}">
                <a16:creationId xmlns:a16="http://schemas.microsoft.com/office/drawing/2014/main" id="{FBC15C8D-3E5E-6821-32A0-0E3114AD5287}"/>
              </a:ext>
            </a:extLst>
          </p:cNvPr>
          <p:cNvSpPr>
            <a:spLocks noGrp="1"/>
          </p:cNvSpPr>
          <p:nvPr>
            <p:ph type="body" sz="quarter" idx="15"/>
          </p:nvPr>
        </p:nvSpPr>
        <p:spPr/>
        <p:txBody>
          <a:bodyPr>
            <a:normAutofit fontScale="77500" lnSpcReduction="20000"/>
          </a:bodyPr>
          <a:lstStyle/>
          <a:p>
            <a:r>
              <a:rPr lang="es-ES" dirty="0"/>
              <a:t>Juan Carlos González</a:t>
            </a:r>
            <a:endParaRPr lang="en-US" dirty="0"/>
          </a:p>
        </p:txBody>
      </p:sp>
      <p:sp>
        <p:nvSpPr>
          <p:cNvPr id="5" name="Text Placeholder 4">
            <a:extLst>
              <a:ext uri="{FF2B5EF4-FFF2-40B4-BE49-F238E27FC236}">
                <a16:creationId xmlns:a16="http://schemas.microsoft.com/office/drawing/2014/main" id="{EB9753EC-8997-301F-285D-1436C62D75B9}"/>
              </a:ext>
            </a:extLst>
          </p:cNvPr>
          <p:cNvSpPr>
            <a:spLocks noGrp="1"/>
          </p:cNvSpPr>
          <p:nvPr>
            <p:ph type="body" sz="quarter" idx="16"/>
          </p:nvPr>
        </p:nvSpPr>
        <p:spPr/>
        <p:txBody>
          <a:bodyPr/>
          <a:lstStyle/>
          <a:p>
            <a:r>
              <a:rPr lang="es-ES" dirty="0"/>
              <a:t>Microsoft 365 &amp; Microsoft Teams MVP</a:t>
            </a:r>
            <a:endParaRPr lang="en-US" dirty="0"/>
          </a:p>
        </p:txBody>
      </p:sp>
    </p:spTree>
    <p:extLst>
      <p:ext uri="{BB962C8B-B14F-4D97-AF65-F5344CB8AC3E}">
        <p14:creationId xmlns:p14="http://schemas.microsoft.com/office/powerpoint/2010/main" val="476838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90DAB42-5EC0-9282-31F7-E3083E665302}"/>
            </a:ext>
          </a:extLst>
        </p:cNvPr>
        <p:cNvGrpSpPr/>
        <p:nvPr/>
      </p:nvGrpSpPr>
      <p:grpSpPr>
        <a:xfrm>
          <a:off x="0" y="0"/>
          <a:ext cx="0" cy="0"/>
          <a:chOff x="0" y="0"/>
          <a:chExt cx="0" cy="0"/>
        </a:xfrm>
      </p:grpSpPr>
      <p:pic>
        <p:nvPicPr>
          <p:cNvPr id="5" name="Picture Placeholder 4" descr="A person smiling for a picture&#10;&#10;AI-generated content may be incorrect.">
            <a:extLst>
              <a:ext uri="{FF2B5EF4-FFF2-40B4-BE49-F238E27FC236}">
                <a16:creationId xmlns:a16="http://schemas.microsoft.com/office/drawing/2014/main" id="{A7A397B8-38A8-F68C-E318-36C3B2D3E6B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13" r="1313"/>
          <a:stretch>
            <a:fillRect/>
          </a:stretch>
        </p:blipFill>
        <p:spPr/>
      </p:pic>
      <p:sp>
        <p:nvSpPr>
          <p:cNvPr id="6" name="TextBox 33">
            <a:extLst>
              <a:ext uri="{FF2B5EF4-FFF2-40B4-BE49-F238E27FC236}">
                <a16:creationId xmlns:a16="http://schemas.microsoft.com/office/drawing/2014/main" id="{328E1E70-8879-AC84-99C2-F8F412411886}"/>
              </a:ext>
            </a:extLst>
          </p:cNvPr>
          <p:cNvSpPr txBox="1"/>
          <p:nvPr/>
        </p:nvSpPr>
        <p:spPr>
          <a:xfrm>
            <a:off x="5791200" y="1543050"/>
            <a:ext cx="3761192" cy="338554"/>
          </a:xfrm>
          <a:prstGeom prst="rect">
            <a:avLst/>
          </a:prstGeom>
          <a:noFill/>
        </p:spPr>
        <p:txBody>
          <a:bodyPr wrap="square" rtlCol="0">
            <a:spAutoFit/>
          </a:bodyPr>
          <a:lstStyle/>
          <a:p>
            <a:r>
              <a:rPr lang="es-CO" sz="1600" b="1">
                <a:cs typeface="Segoe UI Semibold" panose="020B0702040204020203" pitchFamily="34" charset="0"/>
              </a:rPr>
              <a:t>@jcgm1978</a:t>
            </a:r>
          </a:p>
        </p:txBody>
      </p:sp>
      <p:sp>
        <p:nvSpPr>
          <p:cNvPr id="7" name="TextBox 33">
            <a:extLst>
              <a:ext uri="{FF2B5EF4-FFF2-40B4-BE49-F238E27FC236}">
                <a16:creationId xmlns:a16="http://schemas.microsoft.com/office/drawing/2014/main" id="{79BB5663-7A93-8C61-8A76-82E51E5742AA}"/>
              </a:ext>
            </a:extLst>
          </p:cNvPr>
          <p:cNvSpPr txBox="1"/>
          <p:nvPr/>
        </p:nvSpPr>
        <p:spPr>
          <a:xfrm>
            <a:off x="5791200" y="2226082"/>
            <a:ext cx="3465436" cy="338554"/>
          </a:xfrm>
          <a:prstGeom prst="rect">
            <a:avLst/>
          </a:prstGeom>
          <a:noFill/>
        </p:spPr>
        <p:txBody>
          <a:bodyPr wrap="none" rtlCol="0">
            <a:spAutoFit/>
          </a:bodyPr>
          <a:lstStyle/>
          <a:p>
            <a:r>
              <a:rPr lang="es-CO" sz="1600" b="1">
                <a:cs typeface="Segoe UI Semibold" panose="020B0702040204020203" pitchFamily="34" charset="0"/>
                <a:hlinkClick r:id="rId4">
                  <a:extLst>
                    <a:ext uri="{A12FA001-AC4F-418D-AE19-62706E023703}">
                      <ahyp:hlinkClr xmlns:ahyp="http://schemas.microsoft.com/office/drawing/2018/hyperlinkcolor" val="tx"/>
                    </a:ext>
                  </a:extLst>
                </a:hlinkClick>
              </a:rPr>
              <a:t>jcgonzalezmartin1978@hotmail.com</a:t>
            </a:r>
            <a:r>
              <a:rPr lang="es-CO" sz="1600" b="1">
                <a:cs typeface="Segoe UI Semibold" panose="020B0702040204020203" pitchFamily="34" charset="0"/>
              </a:rPr>
              <a:t>   </a:t>
            </a:r>
            <a:endParaRPr lang="en-US" sz="1600" b="1">
              <a:cs typeface="Segoe UI Semibold" panose="020B0702040204020203" pitchFamily="34" charset="0"/>
            </a:endParaRPr>
          </a:p>
        </p:txBody>
      </p:sp>
      <p:sp>
        <p:nvSpPr>
          <p:cNvPr id="8" name="TextBox 33">
            <a:extLst>
              <a:ext uri="{FF2B5EF4-FFF2-40B4-BE49-F238E27FC236}">
                <a16:creationId xmlns:a16="http://schemas.microsoft.com/office/drawing/2014/main" id="{554F7A8E-4966-207F-ED4F-5DBBE056E2BD}"/>
              </a:ext>
            </a:extLst>
          </p:cNvPr>
          <p:cNvSpPr txBox="1"/>
          <p:nvPr/>
        </p:nvSpPr>
        <p:spPr>
          <a:xfrm>
            <a:off x="5791200" y="2921857"/>
            <a:ext cx="3128164" cy="338554"/>
          </a:xfrm>
          <a:prstGeom prst="rect">
            <a:avLst/>
          </a:prstGeom>
          <a:noFill/>
        </p:spPr>
        <p:txBody>
          <a:bodyPr wrap="none" rtlCol="0">
            <a:spAutoFit/>
          </a:bodyPr>
          <a:lstStyle/>
          <a:p>
            <a:r>
              <a:rPr lang="en-US" sz="1600" b="1">
                <a:cs typeface="Segoe UI Semibold" panose="020B0702040204020203" pitchFamily="34" charset="0"/>
                <a:hlinkClick r:id="rId5">
                  <a:extLst>
                    <a:ext uri="{A12FA001-AC4F-418D-AE19-62706E023703}">
                      <ahyp:hlinkClr xmlns:ahyp="http://schemas.microsoft.com/office/drawing/2018/hyperlinkcolor" val="tx"/>
                    </a:ext>
                  </a:extLst>
                </a:hlinkClick>
              </a:rPr>
              <a:t>https://nl.linkedin.com/in/juagon</a:t>
            </a:r>
            <a:r>
              <a:rPr lang="en-US" sz="1600" b="1">
                <a:cs typeface="Segoe UI Semibold" panose="020B0702040204020203" pitchFamily="34" charset="0"/>
              </a:rPr>
              <a:t> </a:t>
            </a:r>
          </a:p>
        </p:txBody>
      </p:sp>
      <p:sp>
        <p:nvSpPr>
          <p:cNvPr id="9" name="TextBox 33">
            <a:extLst>
              <a:ext uri="{FF2B5EF4-FFF2-40B4-BE49-F238E27FC236}">
                <a16:creationId xmlns:a16="http://schemas.microsoft.com/office/drawing/2014/main" id="{B1755D34-0E51-9E0B-7415-857291279306}"/>
              </a:ext>
            </a:extLst>
          </p:cNvPr>
          <p:cNvSpPr txBox="1"/>
          <p:nvPr/>
        </p:nvSpPr>
        <p:spPr>
          <a:xfrm>
            <a:off x="5791200" y="3617632"/>
            <a:ext cx="3811493" cy="338554"/>
          </a:xfrm>
          <a:prstGeom prst="rect">
            <a:avLst/>
          </a:prstGeom>
          <a:noFill/>
        </p:spPr>
        <p:txBody>
          <a:bodyPr wrap="none" rtlCol="0">
            <a:spAutoFit/>
          </a:bodyPr>
          <a:lstStyle/>
          <a:p>
            <a:r>
              <a:rPr lang="en-US" sz="1600" b="1">
                <a:cs typeface="Segoe UI Semibold" panose="020B0702040204020203" pitchFamily="34" charset="0"/>
                <a:hlinkClick r:id="rId6">
                  <a:extLst>
                    <a:ext uri="{A12FA001-AC4F-418D-AE19-62706E023703}">
                      <ahyp:hlinkClr xmlns:ahyp="http://schemas.microsoft.com/office/drawing/2018/hyperlinkcolor" val="tx"/>
                    </a:ext>
                  </a:extLst>
                </a:hlinkClick>
              </a:rPr>
              <a:t>https://jcgonzalezmartin.wordpress.com/</a:t>
            </a:r>
            <a:r>
              <a:rPr lang="en-US" sz="1600" b="1">
                <a:cs typeface="Segoe UI Semibold" panose="020B0702040204020203" pitchFamily="34" charset="0"/>
              </a:rPr>
              <a:t>  </a:t>
            </a:r>
          </a:p>
        </p:txBody>
      </p:sp>
      <p:sp>
        <p:nvSpPr>
          <p:cNvPr id="10" name="TextBox 9">
            <a:extLst>
              <a:ext uri="{FF2B5EF4-FFF2-40B4-BE49-F238E27FC236}">
                <a16:creationId xmlns:a16="http://schemas.microsoft.com/office/drawing/2014/main" id="{66E91A8F-9BE0-0DAD-0E44-2A305ABAAFD8}"/>
              </a:ext>
            </a:extLst>
          </p:cNvPr>
          <p:cNvSpPr txBox="1"/>
          <p:nvPr/>
        </p:nvSpPr>
        <p:spPr>
          <a:xfrm>
            <a:off x="5791200" y="4313407"/>
            <a:ext cx="5301609" cy="338554"/>
          </a:xfrm>
          <a:prstGeom prst="rect">
            <a:avLst/>
          </a:prstGeom>
          <a:noFill/>
        </p:spPr>
        <p:txBody>
          <a:bodyPr wrap="square" rtlCol="0">
            <a:spAutoFit/>
          </a:bodyPr>
          <a:lstStyle/>
          <a:p>
            <a:r>
              <a:rPr lang="en-US" sz="1600" b="1">
                <a:cs typeface="Segoe UI Semibold" panose="020B0702040204020203" pitchFamily="34" charset="0"/>
                <a:hlinkClick r:id="rId7">
                  <a:extLst>
                    <a:ext uri="{A12FA001-AC4F-418D-AE19-62706E023703}">
                      <ahyp:hlinkClr xmlns:ahyp="http://schemas.microsoft.com/office/drawing/2018/hyperlinkcolor" val="tx"/>
                    </a:ext>
                  </a:extLst>
                </a:hlinkClick>
              </a:rPr>
              <a:t>https://www.youtube.com/@jcgonzalezmartin</a:t>
            </a:r>
            <a:r>
              <a:rPr lang="en-US" sz="1600" b="1">
                <a:cs typeface="Segoe UI Semibold" panose="020B0702040204020203" pitchFamily="34" charset="0"/>
              </a:rPr>
              <a:t> </a:t>
            </a:r>
          </a:p>
        </p:txBody>
      </p:sp>
      <p:pic>
        <p:nvPicPr>
          <p:cNvPr id="11" name="Picture 10">
            <a:extLst>
              <a:ext uri="{FF2B5EF4-FFF2-40B4-BE49-F238E27FC236}">
                <a16:creationId xmlns:a16="http://schemas.microsoft.com/office/drawing/2014/main" id="{C26E8183-48C8-02E8-E773-2AAB1426D110}"/>
              </a:ext>
            </a:extLst>
          </p:cNvPr>
          <p:cNvPicPr>
            <a:picLocks noChangeAspect="1"/>
          </p:cNvPicPr>
          <p:nvPr/>
        </p:nvPicPr>
        <p:blipFill>
          <a:blip r:embed="rId8"/>
          <a:stretch>
            <a:fillRect/>
          </a:stretch>
        </p:blipFill>
        <p:spPr>
          <a:xfrm>
            <a:off x="5111013" y="2036170"/>
            <a:ext cx="640080" cy="640080"/>
          </a:xfrm>
          <a:prstGeom prst="rect">
            <a:avLst/>
          </a:prstGeom>
        </p:spPr>
      </p:pic>
      <p:pic>
        <p:nvPicPr>
          <p:cNvPr id="12" name="Picture 11">
            <a:extLst>
              <a:ext uri="{FF2B5EF4-FFF2-40B4-BE49-F238E27FC236}">
                <a16:creationId xmlns:a16="http://schemas.microsoft.com/office/drawing/2014/main" id="{65BD989E-D0E5-1986-5D9D-D1773B08B12D}"/>
              </a:ext>
            </a:extLst>
          </p:cNvPr>
          <p:cNvPicPr>
            <a:picLocks noChangeAspect="1"/>
          </p:cNvPicPr>
          <p:nvPr/>
        </p:nvPicPr>
        <p:blipFill>
          <a:blip r:embed="rId9"/>
          <a:stretch>
            <a:fillRect/>
          </a:stretch>
        </p:blipFill>
        <p:spPr>
          <a:xfrm>
            <a:off x="5111013" y="1379107"/>
            <a:ext cx="640080" cy="640080"/>
          </a:xfrm>
          <a:prstGeom prst="rect">
            <a:avLst/>
          </a:prstGeom>
        </p:spPr>
      </p:pic>
      <p:pic>
        <p:nvPicPr>
          <p:cNvPr id="13" name="Picture 12">
            <a:extLst>
              <a:ext uri="{FF2B5EF4-FFF2-40B4-BE49-F238E27FC236}">
                <a16:creationId xmlns:a16="http://schemas.microsoft.com/office/drawing/2014/main" id="{291C6347-2A4D-8C8C-3B98-C3BC2D4472F7}"/>
              </a:ext>
            </a:extLst>
          </p:cNvPr>
          <p:cNvPicPr>
            <a:picLocks noChangeAspect="1"/>
          </p:cNvPicPr>
          <p:nvPr/>
        </p:nvPicPr>
        <p:blipFill>
          <a:blip r:embed="rId10"/>
          <a:stretch>
            <a:fillRect/>
          </a:stretch>
        </p:blipFill>
        <p:spPr>
          <a:xfrm>
            <a:off x="5111013" y="2765648"/>
            <a:ext cx="640080" cy="640080"/>
          </a:xfrm>
          <a:prstGeom prst="rect">
            <a:avLst/>
          </a:prstGeom>
        </p:spPr>
      </p:pic>
      <p:pic>
        <p:nvPicPr>
          <p:cNvPr id="14" name="Picture 13">
            <a:extLst>
              <a:ext uri="{FF2B5EF4-FFF2-40B4-BE49-F238E27FC236}">
                <a16:creationId xmlns:a16="http://schemas.microsoft.com/office/drawing/2014/main" id="{0A81C281-4AF0-8158-C49B-FA4ADD8D7CA7}"/>
              </a:ext>
            </a:extLst>
          </p:cNvPr>
          <p:cNvPicPr>
            <a:picLocks noChangeAspect="1"/>
          </p:cNvPicPr>
          <p:nvPr/>
        </p:nvPicPr>
        <p:blipFill>
          <a:blip r:embed="rId11"/>
          <a:stretch>
            <a:fillRect/>
          </a:stretch>
        </p:blipFill>
        <p:spPr>
          <a:xfrm>
            <a:off x="5111013" y="3480807"/>
            <a:ext cx="640080" cy="640080"/>
          </a:xfrm>
          <a:prstGeom prst="rect">
            <a:avLst/>
          </a:prstGeom>
        </p:spPr>
      </p:pic>
      <p:pic>
        <p:nvPicPr>
          <p:cNvPr id="15" name="Picture 14">
            <a:extLst>
              <a:ext uri="{FF2B5EF4-FFF2-40B4-BE49-F238E27FC236}">
                <a16:creationId xmlns:a16="http://schemas.microsoft.com/office/drawing/2014/main" id="{0C60B5FD-2340-F9F6-B85C-C292BC86748D}"/>
              </a:ext>
            </a:extLst>
          </p:cNvPr>
          <p:cNvPicPr>
            <a:picLocks noChangeAspect="1"/>
          </p:cNvPicPr>
          <p:nvPr/>
        </p:nvPicPr>
        <p:blipFill>
          <a:blip r:embed="rId12"/>
          <a:stretch>
            <a:fillRect/>
          </a:stretch>
        </p:blipFill>
        <p:spPr>
          <a:xfrm>
            <a:off x="5111013" y="4192958"/>
            <a:ext cx="640080" cy="640080"/>
          </a:xfrm>
          <a:prstGeom prst="rect">
            <a:avLst/>
          </a:prstGeom>
        </p:spPr>
      </p:pic>
      <p:pic>
        <p:nvPicPr>
          <p:cNvPr id="16" name="Imagen 11">
            <a:extLst>
              <a:ext uri="{FF2B5EF4-FFF2-40B4-BE49-F238E27FC236}">
                <a16:creationId xmlns:a16="http://schemas.microsoft.com/office/drawing/2014/main" id="{E6359973-50E5-0B56-144E-C3AA2B2FF28B}"/>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133600" y="3837819"/>
            <a:ext cx="1023335" cy="1023335"/>
          </a:xfrm>
          <a:prstGeom prst="rect">
            <a:avLst/>
          </a:prstGeom>
        </p:spPr>
      </p:pic>
      <p:pic>
        <p:nvPicPr>
          <p:cNvPr id="17" name="Imagen 12">
            <a:extLst>
              <a:ext uri="{FF2B5EF4-FFF2-40B4-BE49-F238E27FC236}">
                <a16:creationId xmlns:a16="http://schemas.microsoft.com/office/drawing/2014/main" id="{BC61B275-7AFF-65B8-DBC3-54B21924DBA8}"/>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044177" y="3668970"/>
            <a:ext cx="813845" cy="1288589"/>
          </a:xfrm>
          <a:prstGeom prst="rect">
            <a:avLst/>
          </a:prstGeom>
        </p:spPr>
      </p:pic>
    </p:spTree>
    <p:extLst>
      <p:ext uri="{BB962C8B-B14F-4D97-AF65-F5344CB8AC3E}">
        <p14:creationId xmlns:p14="http://schemas.microsoft.com/office/powerpoint/2010/main" val="2134076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7280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898A40-749C-8131-0386-C6A2B89A37BE}"/>
              </a:ext>
            </a:extLst>
          </p:cNvPr>
          <p:cNvSpPr>
            <a:spLocks noGrp="1"/>
          </p:cNvSpPr>
          <p:nvPr>
            <p:ph type="body" sz="quarter" idx="10"/>
          </p:nvPr>
        </p:nvSpPr>
        <p:spPr/>
        <p:txBody>
          <a:bodyPr/>
          <a:lstStyle/>
          <a:p>
            <a:r>
              <a:rPr lang="es-ES" dirty="0"/>
              <a:t>Agenda</a:t>
            </a:r>
            <a:endParaRPr lang="en-US" dirty="0"/>
          </a:p>
        </p:txBody>
      </p:sp>
      <p:sp>
        <p:nvSpPr>
          <p:cNvPr id="3" name="Content Placeholder 2">
            <a:extLst>
              <a:ext uri="{FF2B5EF4-FFF2-40B4-BE49-F238E27FC236}">
                <a16:creationId xmlns:a16="http://schemas.microsoft.com/office/drawing/2014/main" id="{3D2A911E-D23E-5A8B-ED38-8FA52A890322}"/>
              </a:ext>
            </a:extLst>
          </p:cNvPr>
          <p:cNvSpPr>
            <a:spLocks noGrp="1"/>
          </p:cNvSpPr>
          <p:nvPr>
            <p:ph sz="quarter" idx="11"/>
          </p:nvPr>
        </p:nvSpPr>
        <p:spPr/>
        <p:txBody>
          <a:bodyPr>
            <a:normAutofit/>
          </a:bodyPr>
          <a:lstStyle/>
          <a:p>
            <a:pPr marR="0" lvl="0" fontAlgn="auto">
              <a:lnSpc>
                <a:spcPct val="100000"/>
              </a:lnSpc>
              <a:spcAft>
                <a:spcPts val="0"/>
              </a:spcAft>
              <a:buClrTx/>
              <a:buSzPct val="90000"/>
              <a:tabLst/>
              <a:defRPr/>
            </a:pPr>
            <a:r>
              <a:rPr lang="en-US" sz="2800" dirty="0"/>
              <a:t>Protecting data and platforms is a must</a:t>
            </a:r>
          </a:p>
          <a:p>
            <a:pPr marR="0" lvl="0" fontAlgn="auto">
              <a:lnSpc>
                <a:spcPct val="100000"/>
              </a:lnSpc>
              <a:spcAft>
                <a:spcPts val="0"/>
              </a:spcAft>
              <a:buClrTx/>
              <a:buSzPct val="90000"/>
              <a:tabLst/>
              <a:defRPr/>
            </a:pPr>
            <a:endParaRPr lang="en-US" sz="2800" dirty="0"/>
          </a:p>
          <a:p>
            <a:pPr marR="0" lvl="0" fontAlgn="auto">
              <a:lnSpc>
                <a:spcPct val="100000"/>
              </a:lnSpc>
              <a:spcAft>
                <a:spcPts val="0"/>
              </a:spcAft>
              <a:buClrTx/>
              <a:buSzPct val="90000"/>
              <a:tabLst/>
              <a:defRPr/>
            </a:pPr>
            <a:r>
              <a:rPr lang="en-US" sz="2800" dirty="0"/>
              <a:t>Security Layers &amp; Managed Security in the Power Platform</a:t>
            </a:r>
          </a:p>
          <a:p>
            <a:pPr marR="0" lvl="0" fontAlgn="auto">
              <a:lnSpc>
                <a:spcPct val="100000"/>
              </a:lnSpc>
              <a:spcAft>
                <a:spcPts val="0"/>
              </a:spcAft>
              <a:buClrTx/>
              <a:buSzPct val="90000"/>
              <a:tabLst/>
              <a:defRPr/>
            </a:pPr>
            <a:endParaRPr lang="en-US" sz="2800" dirty="0"/>
          </a:p>
          <a:p>
            <a:pPr marR="0" lvl="0" fontAlgn="auto">
              <a:lnSpc>
                <a:spcPct val="100000"/>
              </a:lnSpc>
              <a:spcAft>
                <a:spcPts val="0"/>
              </a:spcAft>
              <a:buClrTx/>
              <a:buSzPct val="90000"/>
              <a:tabLst/>
              <a:defRPr/>
            </a:pPr>
            <a:r>
              <a:rPr lang="en-US" sz="2800" dirty="0"/>
              <a:t>Identity &amp; Access Management + Network Security</a:t>
            </a:r>
          </a:p>
          <a:p>
            <a:pPr marR="0" lvl="0" fontAlgn="auto">
              <a:lnSpc>
                <a:spcPct val="100000"/>
              </a:lnSpc>
              <a:spcAft>
                <a:spcPts val="0"/>
              </a:spcAft>
              <a:buClrTx/>
              <a:buSzPct val="90000"/>
              <a:tabLst/>
              <a:defRPr/>
            </a:pPr>
            <a:endParaRPr lang="en-US" sz="2800" dirty="0"/>
          </a:p>
          <a:p>
            <a:pPr marR="0" lvl="0" fontAlgn="auto">
              <a:lnSpc>
                <a:spcPct val="100000"/>
              </a:lnSpc>
              <a:spcAft>
                <a:spcPts val="0"/>
              </a:spcAft>
              <a:buClrTx/>
              <a:buSzPct val="90000"/>
              <a:tabLst/>
              <a:defRPr/>
            </a:pPr>
            <a:r>
              <a:rPr lang="en-US" sz="2800" dirty="0"/>
              <a:t>Data Access Management, Data Security and Data Loss Prevention</a:t>
            </a:r>
          </a:p>
          <a:p>
            <a:pPr marR="0" lvl="0" fontAlgn="auto">
              <a:lnSpc>
                <a:spcPct val="100000"/>
              </a:lnSpc>
              <a:spcAft>
                <a:spcPts val="0"/>
              </a:spcAft>
              <a:buClrTx/>
              <a:buSzPct val="90000"/>
              <a:tabLst/>
              <a:defRPr/>
            </a:pPr>
            <a:endParaRPr lang="en-US" sz="2800" dirty="0"/>
          </a:p>
          <a:p>
            <a:pPr marL="0" indent="0">
              <a:buNone/>
            </a:pPr>
            <a:endParaRPr lang="en-US" dirty="0"/>
          </a:p>
        </p:txBody>
      </p:sp>
    </p:spTree>
    <p:extLst>
      <p:ext uri="{BB962C8B-B14F-4D97-AF65-F5344CB8AC3E}">
        <p14:creationId xmlns:p14="http://schemas.microsoft.com/office/powerpoint/2010/main" val="3691035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F89F0-2558-A11A-E228-2B0E979C2F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C4E39F-AA2F-599A-3936-261E44859DDA}"/>
              </a:ext>
            </a:extLst>
          </p:cNvPr>
          <p:cNvSpPr>
            <a:spLocks noGrp="1"/>
          </p:cNvSpPr>
          <p:nvPr>
            <p:ph type="body" sz="quarter" idx="10"/>
          </p:nvPr>
        </p:nvSpPr>
        <p:spPr/>
        <p:txBody>
          <a:bodyPr>
            <a:normAutofit fontScale="77500" lnSpcReduction="20000"/>
          </a:bodyPr>
          <a:lstStyle/>
          <a:p>
            <a:r>
              <a:rPr lang="en-US" dirty="0"/>
              <a:t>Data Protection Landscape is constantly changing</a:t>
            </a:r>
          </a:p>
          <a:p>
            <a:endParaRPr lang="en-US" dirty="0"/>
          </a:p>
        </p:txBody>
      </p:sp>
      <p:sp>
        <p:nvSpPr>
          <p:cNvPr id="6" name="TextBox 5" descr="Evolving regulatory and legal requirement &#10;">
            <a:extLst>
              <a:ext uri="{FF2B5EF4-FFF2-40B4-BE49-F238E27FC236}">
                <a16:creationId xmlns:a16="http://schemas.microsoft.com/office/drawing/2014/main" id="{66F08201-7826-5DA9-8C3F-F84332CA466E}"/>
              </a:ext>
            </a:extLst>
          </p:cNvPr>
          <p:cNvSpPr txBox="1"/>
          <p:nvPr/>
        </p:nvSpPr>
        <p:spPr>
          <a:xfrm>
            <a:off x="8280787" y="3491962"/>
            <a:ext cx="2011680"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ea typeface="+mn-ea"/>
                <a:cs typeface="+mn-cs"/>
              </a:rPr>
              <a:t>Regulatory and legal requirements are constantly evolving </a:t>
            </a:r>
          </a:p>
        </p:txBody>
      </p:sp>
      <p:sp>
        <p:nvSpPr>
          <p:cNvPr id="7" name="TextBox 6">
            <a:extLst>
              <a:ext uri="{FF2B5EF4-FFF2-40B4-BE49-F238E27FC236}">
                <a16:creationId xmlns:a16="http://schemas.microsoft.com/office/drawing/2014/main" id="{E5BDFF10-F3A1-8347-F117-88480ADEE2CC}"/>
              </a:ext>
            </a:extLst>
          </p:cNvPr>
          <p:cNvSpPr txBox="1"/>
          <p:nvPr/>
        </p:nvSpPr>
        <p:spPr>
          <a:xfrm>
            <a:off x="1156668" y="3491962"/>
            <a:ext cx="2011680"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ea typeface="+mn-ea"/>
                <a:cs typeface="+mn-cs"/>
              </a:rPr>
              <a:t>Growing sophistication of attacks</a:t>
            </a:r>
          </a:p>
        </p:txBody>
      </p:sp>
      <p:sp>
        <p:nvSpPr>
          <p:cNvPr id="8" name="TextBox 7" descr="Drive to leverage data to unlock AI-driven scenarios &#10;">
            <a:extLst>
              <a:ext uri="{FF2B5EF4-FFF2-40B4-BE49-F238E27FC236}">
                <a16:creationId xmlns:a16="http://schemas.microsoft.com/office/drawing/2014/main" id="{5468C243-226C-BCF6-E481-58E217ACE0DA}"/>
              </a:ext>
            </a:extLst>
          </p:cNvPr>
          <p:cNvSpPr txBox="1"/>
          <p:nvPr/>
        </p:nvSpPr>
        <p:spPr>
          <a:xfrm>
            <a:off x="3575597" y="3491962"/>
            <a:ext cx="2011680" cy="110799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ea typeface="+mn-ea"/>
                <a:cs typeface="+mn-cs"/>
              </a:rPr>
              <a:t>Explosion of AI scenarios requires a correct and secure access to data</a:t>
            </a:r>
          </a:p>
        </p:txBody>
      </p:sp>
      <p:sp>
        <p:nvSpPr>
          <p:cNvPr id="9" name="TextBox 8" descr="Data access demands from an increasingly dynamic workforce&#10;">
            <a:extLst>
              <a:ext uri="{FF2B5EF4-FFF2-40B4-BE49-F238E27FC236}">
                <a16:creationId xmlns:a16="http://schemas.microsoft.com/office/drawing/2014/main" id="{C6F1B7A4-DE5D-03AF-C2E2-75E9B69C4047}"/>
              </a:ext>
            </a:extLst>
          </p:cNvPr>
          <p:cNvSpPr txBox="1"/>
          <p:nvPr/>
        </p:nvSpPr>
        <p:spPr>
          <a:xfrm>
            <a:off x="5912043" y="3491962"/>
            <a:ext cx="2011680"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ea typeface="+mn-ea"/>
                <a:cs typeface="+mn-cs"/>
              </a:rPr>
              <a:t>Data access demands from an increasingly dynamic workforce</a:t>
            </a:r>
          </a:p>
        </p:txBody>
      </p:sp>
      <p:pic>
        <p:nvPicPr>
          <p:cNvPr id="10" name="Picture 9" descr="A computer hacker with a hoodie and a computer&#10;&#10;Description automatically generated">
            <a:extLst>
              <a:ext uri="{FF2B5EF4-FFF2-40B4-BE49-F238E27FC236}">
                <a16:creationId xmlns:a16="http://schemas.microsoft.com/office/drawing/2014/main" id="{AC1C131B-DC9F-E3EE-FBDB-C4E118BBE7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16495" y="1847850"/>
            <a:ext cx="1326842" cy="1326842"/>
          </a:xfrm>
          <a:prstGeom prst="rect">
            <a:avLst/>
          </a:prstGeom>
        </p:spPr>
      </p:pic>
      <p:pic>
        <p:nvPicPr>
          <p:cNvPr id="11" name="Picture 10" descr="A hand touching a finger&#10;&#10;Description automatically generated">
            <a:extLst>
              <a:ext uri="{FF2B5EF4-FFF2-40B4-BE49-F238E27FC236}">
                <a16:creationId xmlns:a16="http://schemas.microsoft.com/office/drawing/2014/main" id="{1B10DAB9-A4EA-BBB8-0F14-AF1CA3ADE5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86200" y="1847850"/>
            <a:ext cx="1325880" cy="1325880"/>
          </a:xfrm>
          <a:prstGeom prst="rect">
            <a:avLst/>
          </a:prstGeom>
        </p:spPr>
      </p:pic>
      <p:pic>
        <p:nvPicPr>
          <p:cNvPr id="12" name="Picture 11">
            <a:extLst>
              <a:ext uri="{FF2B5EF4-FFF2-40B4-BE49-F238E27FC236}">
                <a16:creationId xmlns:a16="http://schemas.microsoft.com/office/drawing/2014/main" id="{24CA0AF8-3873-0723-61EC-A7354B506053}"/>
              </a:ext>
            </a:extLst>
          </p:cNvPr>
          <p:cNvPicPr>
            <a:picLocks noChangeAspect="1"/>
          </p:cNvPicPr>
          <p:nvPr/>
        </p:nvPicPr>
        <p:blipFill>
          <a:blip r:embed="rId5"/>
          <a:stretch>
            <a:fillRect/>
          </a:stretch>
        </p:blipFill>
        <p:spPr>
          <a:xfrm>
            <a:off x="6254943" y="1847850"/>
            <a:ext cx="1325880" cy="1325880"/>
          </a:xfrm>
          <a:prstGeom prst="rect">
            <a:avLst/>
          </a:prstGeom>
        </p:spPr>
      </p:pic>
      <p:pic>
        <p:nvPicPr>
          <p:cNvPr id="13" name="Picture 12">
            <a:extLst>
              <a:ext uri="{FF2B5EF4-FFF2-40B4-BE49-F238E27FC236}">
                <a16:creationId xmlns:a16="http://schemas.microsoft.com/office/drawing/2014/main" id="{C6E25A8E-0FA4-CDF2-7D07-2D6D6AAC9126}"/>
              </a:ext>
            </a:extLst>
          </p:cNvPr>
          <p:cNvPicPr>
            <a:picLocks noChangeAspect="1"/>
          </p:cNvPicPr>
          <p:nvPr/>
        </p:nvPicPr>
        <p:blipFill>
          <a:blip r:embed="rId6"/>
          <a:stretch>
            <a:fillRect/>
          </a:stretch>
        </p:blipFill>
        <p:spPr>
          <a:xfrm>
            <a:off x="8623687" y="1847850"/>
            <a:ext cx="1325880" cy="1325880"/>
          </a:xfrm>
          <a:prstGeom prst="rect">
            <a:avLst/>
          </a:prstGeom>
        </p:spPr>
      </p:pic>
    </p:spTree>
    <p:extLst>
      <p:ext uri="{BB962C8B-B14F-4D97-AF65-F5344CB8AC3E}">
        <p14:creationId xmlns:p14="http://schemas.microsoft.com/office/powerpoint/2010/main" val="162267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1000"/>
                                        <p:tgtEl>
                                          <p:spTgt spid="6"/>
                                        </p:tgtEl>
                                      </p:cBhvr>
                                    </p:animEffect>
                                    <p:anim calcmode="lin" valueType="num">
                                      <p:cBhvr>
                                        <p:cTn id="44" dur="1000" fill="hold"/>
                                        <p:tgtEl>
                                          <p:spTgt spid="6"/>
                                        </p:tgtEl>
                                        <p:attrNameLst>
                                          <p:attrName>ppt_x</p:attrName>
                                        </p:attrNameLst>
                                      </p:cBhvr>
                                      <p:tavLst>
                                        <p:tav tm="0">
                                          <p:val>
                                            <p:strVal val="#ppt_x"/>
                                          </p:val>
                                        </p:tav>
                                        <p:tav tm="100000">
                                          <p:val>
                                            <p:strVal val="#ppt_x"/>
                                          </p:val>
                                        </p:tav>
                                      </p:tavLst>
                                    </p:anim>
                                    <p:anim calcmode="lin" valueType="num">
                                      <p:cBhvr>
                                        <p:cTn id="45" dur="1000" fill="hold"/>
                                        <p:tgtEl>
                                          <p:spTgt spid="6"/>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184B8-39FF-B514-11FE-7C4360EFE87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9D8BF96-F51F-125D-1164-385D24B29B4D}"/>
              </a:ext>
            </a:extLst>
          </p:cNvPr>
          <p:cNvSpPr>
            <a:spLocks noGrp="1"/>
          </p:cNvSpPr>
          <p:nvPr>
            <p:ph type="body" sz="quarter" idx="10"/>
          </p:nvPr>
        </p:nvSpPr>
        <p:spPr/>
        <p:txBody>
          <a:bodyPr>
            <a:normAutofit fontScale="92500"/>
          </a:bodyPr>
          <a:lstStyle/>
          <a:p>
            <a:r>
              <a:rPr lang="en-US" dirty="0"/>
              <a:t>How can I keep Data &amp; Applications secure?</a:t>
            </a:r>
          </a:p>
          <a:p>
            <a:endParaRPr lang="en-US" dirty="0"/>
          </a:p>
        </p:txBody>
      </p:sp>
      <p:sp>
        <p:nvSpPr>
          <p:cNvPr id="3" name="TextBox 2">
            <a:extLst>
              <a:ext uri="{FF2B5EF4-FFF2-40B4-BE49-F238E27FC236}">
                <a16:creationId xmlns:a16="http://schemas.microsoft.com/office/drawing/2014/main" id="{2F86EB14-FA5C-166E-0DFD-D5CDE0F32A3F}"/>
              </a:ext>
            </a:extLst>
          </p:cNvPr>
          <p:cNvSpPr txBox="1"/>
          <p:nvPr/>
        </p:nvSpPr>
        <p:spPr>
          <a:xfrm>
            <a:off x="2335198" y="2373991"/>
            <a:ext cx="1770156" cy="830997"/>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effectLst/>
                <a:uLnTx/>
                <a:uFillTx/>
                <a:ea typeface="+mn-ea"/>
                <a:cs typeface="Segoe UI" panose="020B0502040204020203" pitchFamily="34" charset="0"/>
              </a:rPr>
              <a:t>Controlling and limiting access to data</a:t>
            </a:r>
          </a:p>
        </p:txBody>
      </p:sp>
      <p:sp>
        <p:nvSpPr>
          <p:cNvPr id="4" name="TextBox 3">
            <a:extLst>
              <a:ext uri="{FF2B5EF4-FFF2-40B4-BE49-F238E27FC236}">
                <a16:creationId xmlns:a16="http://schemas.microsoft.com/office/drawing/2014/main" id="{7973D5BF-373E-BC9A-887A-BFF5B7EA72C5}"/>
              </a:ext>
            </a:extLst>
          </p:cNvPr>
          <p:cNvSpPr txBox="1"/>
          <p:nvPr/>
        </p:nvSpPr>
        <p:spPr>
          <a:xfrm>
            <a:off x="4692761" y="2373991"/>
            <a:ext cx="1770156" cy="553998"/>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effectLst/>
                <a:uLnTx/>
                <a:uFillTx/>
                <a:ea typeface="+mn-ea"/>
                <a:cs typeface="Segoe UI" panose="020B0502040204020203" pitchFamily="34" charset="0"/>
              </a:rPr>
              <a:t>Preventing data exfiltration</a:t>
            </a:r>
          </a:p>
        </p:txBody>
      </p:sp>
      <p:sp>
        <p:nvSpPr>
          <p:cNvPr id="5" name="TextBox 4">
            <a:extLst>
              <a:ext uri="{FF2B5EF4-FFF2-40B4-BE49-F238E27FC236}">
                <a16:creationId xmlns:a16="http://schemas.microsoft.com/office/drawing/2014/main" id="{19C85E8A-5D93-D14E-0D1B-924231F1153B}"/>
              </a:ext>
            </a:extLst>
          </p:cNvPr>
          <p:cNvSpPr txBox="1"/>
          <p:nvPr/>
        </p:nvSpPr>
        <p:spPr>
          <a:xfrm>
            <a:off x="7050325" y="2373991"/>
            <a:ext cx="1770156" cy="830997"/>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effectLst/>
                <a:uLnTx/>
                <a:uFillTx/>
                <a:ea typeface="+mn-ea"/>
                <a:cs typeface="Segoe UI" panose="020B0502040204020203" pitchFamily="34" charset="0"/>
              </a:rPr>
              <a:t>Staying compliant with standards and regulations</a:t>
            </a:r>
          </a:p>
        </p:txBody>
      </p:sp>
      <p:sp>
        <p:nvSpPr>
          <p:cNvPr id="14" name="TextBox 13">
            <a:extLst>
              <a:ext uri="{FF2B5EF4-FFF2-40B4-BE49-F238E27FC236}">
                <a16:creationId xmlns:a16="http://schemas.microsoft.com/office/drawing/2014/main" id="{A90095CD-BA85-C475-CACB-93FC6A92DC17}"/>
              </a:ext>
            </a:extLst>
          </p:cNvPr>
          <p:cNvSpPr txBox="1"/>
          <p:nvPr/>
        </p:nvSpPr>
        <p:spPr>
          <a:xfrm>
            <a:off x="2276104" y="4954164"/>
            <a:ext cx="1770156" cy="830997"/>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effectLst/>
                <a:uLnTx/>
                <a:uFillTx/>
                <a:ea typeface="+mn-ea"/>
                <a:cs typeface="Segoe UI" panose="020B0502040204020203" pitchFamily="34" charset="0"/>
              </a:rPr>
              <a:t>Protecting data from external threats</a:t>
            </a:r>
          </a:p>
        </p:txBody>
      </p:sp>
      <p:sp>
        <p:nvSpPr>
          <p:cNvPr id="15" name="TextBox 14">
            <a:extLst>
              <a:ext uri="{FF2B5EF4-FFF2-40B4-BE49-F238E27FC236}">
                <a16:creationId xmlns:a16="http://schemas.microsoft.com/office/drawing/2014/main" id="{A1665C0E-6B2E-CE31-CBEE-10F0FBD86A27}"/>
              </a:ext>
            </a:extLst>
          </p:cNvPr>
          <p:cNvSpPr txBox="1"/>
          <p:nvPr/>
        </p:nvSpPr>
        <p:spPr>
          <a:xfrm>
            <a:off x="4663215" y="4954164"/>
            <a:ext cx="1770156" cy="553998"/>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effectLst/>
                <a:uLnTx/>
                <a:uFillTx/>
                <a:ea typeface="+mn-ea"/>
                <a:cs typeface="Segoe UI" panose="020B0502040204020203" pitchFamily="34" charset="0"/>
              </a:rPr>
              <a:t>Gaining visibility into user activity</a:t>
            </a:r>
          </a:p>
        </p:txBody>
      </p:sp>
      <p:sp>
        <p:nvSpPr>
          <p:cNvPr id="16" name="TextBox 15">
            <a:extLst>
              <a:ext uri="{FF2B5EF4-FFF2-40B4-BE49-F238E27FC236}">
                <a16:creationId xmlns:a16="http://schemas.microsoft.com/office/drawing/2014/main" id="{DF254729-1656-3B48-8445-94C5048D5D3B}"/>
              </a:ext>
            </a:extLst>
          </p:cNvPr>
          <p:cNvSpPr txBox="1"/>
          <p:nvPr/>
        </p:nvSpPr>
        <p:spPr>
          <a:xfrm>
            <a:off x="7050325" y="4954164"/>
            <a:ext cx="1770156" cy="553998"/>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effectLst/>
                <a:uLnTx/>
                <a:uFillTx/>
                <a:ea typeface="+mn-ea"/>
                <a:cs typeface="Segoe UI" panose="020B0502040204020203" pitchFamily="34" charset="0"/>
              </a:rPr>
              <a:t>Doing risks assessments</a:t>
            </a:r>
          </a:p>
        </p:txBody>
      </p:sp>
      <p:pic>
        <p:nvPicPr>
          <p:cNvPr id="17" name="Picture 16">
            <a:extLst>
              <a:ext uri="{FF2B5EF4-FFF2-40B4-BE49-F238E27FC236}">
                <a16:creationId xmlns:a16="http://schemas.microsoft.com/office/drawing/2014/main" id="{29567AFF-8C70-A286-6908-6A8FCA718670}"/>
              </a:ext>
            </a:extLst>
          </p:cNvPr>
          <p:cNvPicPr>
            <a:picLocks noChangeAspect="1"/>
          </p:cNvPicPr>
          <p:nvPr/>
        </p:nvPicPr>
        <p:blipFill>
          <a:blip r:embed="rId3"/>
          <a:stretch>
            <a:fillRect/>
          </a:stretch>
        </p:blipFill>
        <p:spPr>
          <a:xfrm>
            <a:off x="2671636" y="1162050"/>
            <a:ext cx="1097280" cy="1097280"/>
          </a:xfrm>
          <a:prstGeom prst="rect">
            <a:avLst/>
          </a:prstGeom>
        </p:spPr>
      </p:pic>
      <p:pic>
        <p:nvPicPr>
          <p:cNvPr id="18" name="Picture 17">
            <a:extLst>
              <a:ext uri="{FF2B5EF4-FFF2-40B4-BE49-F238E27FC236}">
                <a16:creationId xmlns:a16="http://schemas.microsoft.com/office/drawing/2014/main" id="{AD06A732-2D64-AC1E-A59D-50D91540A222}"/>
              </a:ext>
            </a:extLst>
          </p:cNvPr>
          <p:cNvPicPr>
            <a:picLocks noChangeAspect="1"/>
          </p:cNvPicPr>
          <p:nvPr/>
        </p:nvPicPr>
        <p:blipFill>
          <a:blip r:embed="rId4"/>
          <a:stretch>
            <a:fillRect/>
          </a:stretch>
        </p:blipFill>
        <p:spPr>
          <a:xfrm>
            <a:off x="5029200" y="1162050"/>
            <a:ext cx="1097280" cy="1097280"/>
          </a:xfrm>
          <a:prstGeom prst="rect">
            <a:avLst/>
          </a:prstGeom>
        </p:spPr>
      </p:pic>
      <p:pic>
        <p:nvPicPr>
          <p:cNvPr id="19" name="Picture 18">
            <a:extLst>
              <a:ext uri="{FF2B5EF4-FFF2-40B4-BE49-F238E27FC236}">
                <a16:creationId xmlns:a16="http://schemas.microsoft.com/office/drawing/2014/main" id="{E9CC692F-256A-8C58-AC6D-13542B09003C}"/>
              </a:ext>
            </a:extLst>
          </p:cNvPr>
          <p:cNvPicPr>
            <a:picLocks noChangeAspect="1"/>
          </p:cNvPicPr>
          <p:nvPr/>
        </p:nvPicPr>
        <p:blipFill>
          <a:blip r:embed="rId5"/>
          <a:stretch>
            <a:fillRect/>
          </a:stretch>
        </p:blipFill>
        <p:spPr>
          <a:xfrm>
            <a:off x="7386763" y="1162050"/>
            <a:ext cx="1097280" cy="1097280"/>
          </a:xfrm>
          <a:prstGeom prst="rect">
            <a:avLst/>
          </a:prstGeom>
        </p:spPr>
      </p:pic>
      <p:pic>
        <p:nvPicPr>
          <p:cNvPr id="20" name="Picture 19" descr="A computer hacker with a hoodie and a computer&#10;&#10;Description automatically generated">
            <a:extLst>
              <a:ext uri="{FF2B5EF4-FFF2-40B4-BE49-F238E27FC236}">
                <a16:creationId xmlns:a16="http://schemas.microsoft.com/office/drawing/2014/main" id="{A05FA75B-D601-89C0-8D57-2F2DB427F3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12542" y="3750536"/>
            <a:ext cx="1097280" cy="1097280"/>
          </a:xfrm>
          <a:prstGeom prst="rect">
            <a:avLst/>
          </a:prstGeom>
        </p:spPr>
      </p:pic>
      <p:pic>
        <p:nvPicPr>
          <p:cNvPr id="21" name="Picture 20">
            <a:extLst>
              <a:ext uri="{FF2B5EF4-FFF2-40B4-BE49-F238E27FC236}">
                <a16:creationId xmlns:a16="http://schemas.microsoft.com/office/drawing/2014/main" id="{76BDAB1C-6893-48BF-0917-5ADBD761551D}"/>
              </a:ext>
            </a:extLst>
          </p:cNvPr>
          <p:cNvPicPr>
            <a:picLocks noChangeAspect="1"/>
          </p:cNvPicPr>
          <p:nvPr/>
        </p:nvPicPr>
        <p:blipFill>
          <a:blip r:embed="rId7"/>
          <a:stretch>
            <a:fillRect/>
          </a:stretch>
        </p:blipFill>
        <p:spPr>
          <a:xfrm>
            <a:off x="4999653" y="3750536"/>
            <a:ext cx="1097280" cy="1097280"/>
          </a:xfrm>
          <a:prstGeom prst="rect">
            <a:avLst/>
          </a:prstGeom>
        </p:spPr>
      </p:pic>
      <p:pic>
        <p:nvPicPr>
          <p:cNvPr id="22" name="Picture 21">
            <a:extLst>
              <a:ext uri="{FF2B5EF4-FFF2-40B4-BE49-F238E27FC236}">
                <a16:creationId xmlns:a16="http://schemas.microsoft.com/office/drawing/2014/main" id="{F791AEFC-1AAE-4BB3-E293-18CB6067B64A}"/>
              </a:ext>
            </a:extLst>
          </p:cNvPr>
          <p:cNvPicPr>
            <a:picLocks noChangeAspect="1"/>
          </p:cNvPicPr>
          <p:nvPr/>
        </p:nvPicPr>
        <p:blipFill>
          <a:blip r:embed="rId8"/>
          <a:stretch>
            <a:fillRect/>
          </a:stretch>
        </p:blipFill>
        <p:spPr>
          <a:xfrm>
            <a:off x="7386763" y="3750536"/>
            <a:ext cx="1097280" cy="1097280"/>
          </a:xfrm>
          <a:prstGeom prst="rect">
            <a:avLst/>
          </a:prstGeom>
        </p:spPr>
      </p:pic>
    </p:spTree>
    <p:extLst>
      <p:ext uri="{BB962C8B-B14F-4D97-AF65-F5344CB8AC3E}">
        <p14:creationId xmlns:p14="http://schemas.microsoft.com/office/powerpoint/2010/main" val="397043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1000"/>
                                        <p:tgtEl>
                                          <p:spTgt spid="21"/>
                                        </p:tgtEl>
                                      </p:cBhvr>
                                    </p:animEffect>
                                    <p:anim calcmode="lin" valueType="num">
                                      <p:cBhvr>
                                        <p:cTn id="58" dur="1000" fill="hold"/>
                                        <p:tgtEl>
                                          <p:spTgt spid="21"/>
                                        </p:tgtEl>
                                        <p:attrNameLst>
                                          <p:attrName>ppt_x</p:attrName>
                                        </p:attrNameLst>
                                      </p:cBhvr>
                                      <p:tavLst>
                                        <p:tav tm="0">
                                          <p:val>
                                            <p:strVal val="#ppt_x"/>
                                          </p:val>
                                        </p:tav>
                                        <p:tav tm="100000">
                                          <p:val>
                                            <p:strVal val="#ppt_x"/>
                                          </p:val>
                                        </p:tav>
                                      </p:tavLst>
                                    </p:anim>
                                    <p:anim calcmode="lin" valueType="num">
                                      <p:cBhvr>
                                        <p:cTn id="59" dur="100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1000"/>
                                        <p:tgtEl>
                                          <p:spTgt spid="22"/>
                                        </p:tgtEl>
                                      </p:cBhvr>
                                    </p:animEffect>
                                    <p:anim calcmode="lin" valueType="num">
                                      <p:cBhvr>
                                        <p:cTn id="63" dur="1000" fill="hold"/>
                                        <p:tgtEl>
                                          <p:spTgt spid="22"/>
                                        </p:tgtEl>
                                        <p:attrNameLst>
                                          <p:attrName>ppt_x</p:attrName>
                                        </p:attrNameLst>
                                      </p:cBhvr>
                                      <p:tavLst>
                                        <p:tav tm="0">
                                          <p:val>
                                            <p:strVal val="#ppt_x"/>
                                          </p:val>
                                        </p:tav>
                                        <p:tav tm="100000">
                                          <p:val>
                                            <p:strVal val="#ppt_x"/>
                                          </p:val>
                                        </p:tav>
                                      </p:tavLst>
                                    </p:anim>
                                    <p:anim calcmode="lin" valueType="num">
                                      <p:cBhvr>
                                        <p:cTn id="6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4"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7CC54-7A31-F85E-3629-950C93A43A4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0D2621-5CA9-12D0-0121-58BA9823CBF1}"/>
              </a:ext>
            </a:extLst>
          </p:cNvPr>
          <p:cNvSpPr>
            <a:spLocks noGrp="1"/>
          </p:cNvSpPr>
          <p:nvPr>
            <p:ph type="body" sz="quarter" idx="10"/>
          </p:nvPr>
        </p:nvSpPr>
        <p:spPr/>
        <p:txBody>
          <a:bodyPr>
            <a:normAutofit/>
          </a:bodyPr>
          <a:lstStyle/>
          <a:p>
            <a:r>
              <a:rPr lang="en-US" dirty="0"/>
              <a:t>Security Layers in the Power Platform</a:t>
            </a:r>
          </a:p>
          <a:p>
            <a:endParaRPr lang="en-US" dirty="0"/>
          </a:p>
        </p:txBody>
      </p:sp>
      <p:sp>
        <p:nvSpPr>
          <p:cNvPr id="39" name="Rectangle: Rounded Corners 38">
            <a:extLst>
              <a:ext uri="{FF2B5EF4-FFF2-40B4-BE49-F238E27FC236}">
                <a16:creationId xmlns:a16="http://schemas.microsoft.com/office/drawing/2014/main" id="{7440B907-862F-0A74-03AA-1C0DE2E3944B}"/>
              </a:ext>
            </a:extLst>
          </p:cNvPr>
          <p:cNvSpPr/>
          <p:nvPr/>
        </p:nvSpPr>
        <p:spPr>
          <a:xfrm>
            <a:off x="714018" y="3821800"/>
            <a:ext cx="2194560" cy="731520"/>
          </a:xfrm>
          <a:prstGeom prst="roundRect">
            <a:avLst>
              <a:gd name="adj" fmla="val 50000"/>
            </a:avLst>
          </a:prstGeom>
          <a:solidFill>
            <a:srgbClr val="CF142B"/>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defRPr/>
            </a:pPr>
            <a:r>
              <a:rPr lang="en-US" sz="1400" b="1" kern="0" dirty="0">
                <a:solidFill>
                  <a:srgbClr val="FFFFFF"/>
                </a:solidFill>
                <a:cs typeface="Segoe UI" panose="020B0502040204020203" pitchFamily="34" charset="0"/>
              </a:rPr>
              <a:t>Identity &amp; Access Management + Network Security</a:t>
            </a:r>
          </a:p>
        </p:txBody>
      </p:sp>
      <p:sp>
        <p:nvSpPr>
          <p:cNvPr id="40" name="Rectangle: Rounded Corners 39">
            <a:extLst>
              <a:ext uri="{FF2B5EF4-FFF2-40B4-BE49-F238E27FC236}">
                <a16:creationId xmlns:a16="http://schemas.microsoft.com/office/drawing/2014/main" id="{1CA7BA3C-92E8-1E5E-C0E1-F1D5AAC888AC}"/>
              </a:ext>
            </a:extLst>
          </p:cNvPr>
          <p:cNvSpPr/>
          <p:nvPr/>
        </p:nvSpPr>
        <p:spPr>
          <a:xfrm>
            <a:off x="3364472" y="3821800"/>
            <a:ext cx="2194560" cy="731520"/>
          </a:xfrm>
          <a:prstGeom prst="roundRect">
            <a:avLst>
              <a:gd name="adj" fmla="val 50000"/>
            </a:avLst>
          </a:prstGeom>
          <a:solidFill>
            <a:srgbClr val="EC7505"/>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defRPr/>
            </a:pPr>
            <a:r>
              <a:rPr lang="en-US" sz="1400" b="1" kern="0" dirty="0">
                <a:solidFill>
                  <a:srgbClr val="FFFFFF"/>
                </a:solidFill>
                <a:cs typeface="Segoe UI" panose="020B0502040204020203" pitchFamily="34" charset="0"/>
              </a:rPr>
              <a:t>User access management + Data level security</a:t>
            </a:r>
          </a:p>
        </p:txBody>
      </p:sp>
      <p:sp>
        <p:nvSpPr>
          <p:cNvPr id="41" name="Rectangle: Rounded Corners 40">
            <a:extLst>
              <a:ext uri="{FF2B5EF4-FFF2-40B4-BE49-F238E27FC236}">
                <a16:creationId xmlns:a16="http://schemas.microsoft.com/office/drawing/2014/main" id="{76D4D1F8-06EF-9479-39B6-ACC9386B8E5E}"/>
              </a:ext>
            </a:extLst>
          </p:cNvPr>
          <p:cNvSpPr/>
          <p:nvPr/>
        </p:nvSpPr>
        <p:spPr>
          <a:xfrm>
            <a:off x="8743586" y="3821800"/>
            <a:ext cx="2187833" cy="731520"/>
          </a:xfrm>
          <a:prstGeom prst="roundRect">
            <a:avLst>
              <a:gd name="adj" fmla="val 50000"/>
            </a:avLst>
          </a:prstGeom>
          <a:solidFill>
            <a:srgbClr val="227AB0"/>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defRPr/>
            </a:pPr>
            <a:r>
              <a:rPr lang="en-US" sz="1400" b="1" kern="0" dirty="0">
                <a:solidFill>
                  <a:srgbClr val="FFFFFF"/>
                </a:solidFill>
                <a:cs typeface="Segoe UI" panose="020B0502040204020203" pitchFamily="34" charset="0"/>
              </a:rPr>
              <a:t>Data encryption and Compliance</a:t>
            </a:r>
          </a:p>
        </p:txBody>
      </p:sp>
      <p:sp>
        <p:nvSpPr>
          <p:cNvPr id="42" name="Rectangle: Rounded Corners 41">
            <a:extLst>
              <a:ext uri="{FF2B5EF4-FFF2-40B4-BE49-F238E27FC236}">
                <a16:creationId xmlns:a16="http://schemas.microsoft.com/office/drawing/2014/main" id="{7244BC7C-1754-35F4-64A7-AA599BB9006E}"/>
              </a:ext>
            </a:extLst>
          </p:cNvPr>
          <p:cNvSpPr/>
          <p:nvPr/>
        </p:nvSpPr>
        <p:spPr>
          <a:xfrm>
            <a:off x="6054537" y="3821800"/>
            <a:ext cx="2187833" cy="731520"/>
          </a:xfrm>
          <a:prstGeom prst="roundRect">
            <a:avLst>
              <a:gd name="adj" fmla="val 50000"/>
            </a:avLst>
          </a:prstGeom>
          <a:solidFill>
            <a:srgbClr val="92AF04"/>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defRPr/>
            </a:pPr>
            <a:r>
              <a:rPr lang="en-US" sz="1400" b="1" kern="0" dirty="0">
                <a:solidFill>
                  <a:srgbClr val="FFFFFF"/>
                </a:solidFill>
                <a:cs typeface="Segoe UI" panose="020B0502040204020203" pitchFamily="34" charset="0"/>
              </a:rPr>
              <a:t>Prevent data exfiltration + Increase visibility</a:t>
            </a:r>
          </a:p>
        </p:txBody>
      </p:sp>
      <p:sp>
        <p:nvSpPr>
          <p:cNvPr id="43" name="Rounded Rectangle 5">
            <a:extLst>
              <a:ext uri="{FF2B5EF4-FFF2-40B4-BE49-F238E27FC236}">
                <a16:creationId xmlns:a16="http://schemas.microsoft.com/office/drawing/2014/main" id="{C96FB42D-BB2B-9881-5862-A04EC6D8968E}"/>
              </a:ext>
            </a:extLst>
          </p:cNvPr>
          <p:cNvSpPr/>
          <p:nvPr/>
        </p:nvSpPr>
        <p:spPr>
          <a:xfrm>
            <a:off x="83344" y="2381250"/>
            <a:ext cx="11263312" cy="822680"/>
          </a:xfrm>
          <a:prstGeom prst="roundRect">
            <a:avLst>
              <a:gd name="adj" fmla="val 8527"/>
            </a:avLst>
          </a:prstGeom>
          <a:solidFill>
            <a:srgbClr val="717171">
              <a:lumMod val="20000"/>
              <a:lumOff val="80000"/>
            </a:srgbClr>
          </a:solidFill>
          <a:ln w="9525" cap="flat" cmpd="sng" algn="ctr">
            <a:noFill/>
            <a:prstDash val="solid"/>
          </a:ln>
          <a:effectLst/>
        </p:spPr>
        <p:txBody>
          <a:bodyPr rtlCol="0" anchor="ctr"/>
          <a:lstStyle/>
          <a:p>
            <a:pPr algn="ctr">
              <a:defRPr/>
            </a:pPr>
            <a:endParaRPr lang="en-GB" kern="0">
              <a:solidFill>
                <a:prstClr val="white"/>
              </a:solidFill>
              <a:latin typeface="Arial"/>
            </a:endParaRPr>
          </a:p>
        </p:txBody>
      </p:sp>
      <p:sp>
        <p:nvSpPr>
          <p:cNvPr id="44" name="Freeform 6">
            <a:extLst>
              <a:ext uri="{FF2B5EF4-FFF2-40B4-BE49-F238E27FC236}">
                <a16:creationId xmlns:a16="http://schemas.microsoft.com/office/drawing/2014/main" id="{D3D0265C-86A1-E1EA-8DFE-76A50233E6B0}"/>
              </a:ext>
            </a:extLst>
          </p:cNvPr>
          <p:cNvSpPr>
            <a:spLocks noChangeAspect="1"/>
          </p:cNvSpPr>
          <p:nvPr/>
        </p:nvSpPr>
        <p:spPr bwMode="auto">
          <a:xfrm>
            <a:off x="8375101" y="2597570"/>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a:solidFill>
                <a:srgbClr val="000000"/>
              </a:solidFill>
              <a:latin typeface="Arial"/>
            </a:endParaRPr>
          </a:p>
        </p:txBody>
      </p:sp>
      <p:sp>
        <p:nvSpPr>
          <p:cNvPr id="45" name="Freeform 6">
            <a:extLst>
              <a:ext uri="{FF2B5EF4-FFF2-40B4-BE49-F238E27FC236}">
                <a16:creationId xmlns:a16="http://schemas.microsoft.com/office/drawing/2014/main" id="{6DD07F47-3F12-B87B-8448-05D8454AF7E3}"/>
              </a:ext>
            </a:extLst>
          </p:cNvPr>
          <p:cNvSpPr>
            <a:spLocks noChangeAspect="1"/>
          </p:cNvSpPr>
          <p:nvPr/>
        </p:nvSpPr>
        <p:spPr bwMode="auto">
          <a:xfrm>
            <a:off x="5686051" y="2597570"/>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a:solidFill>
                <a:srgbClr val="000000"/>
              </a:solidFill>
              <a:latin typeface="Arial"/>
            </a:endParaRPr>
          </a:p>
        </p:txBody>
      </p:sp>
      <p:sp>
        <p:nvSpPr>
          <p:cNvPr id="46" name="Freeform 6">
            <a:extLst>
              <a:ext uri="{FF2B5EF4-FFF2-40B4-BE49-F238E27FC236}">
                <a16:creationId xmlns:a16="http://schemas.microsoft.com/office/drawing/2014/main" id="{E16CEDFA-CC6C-BC9B-AC2F-EBEE31F532A9}"/>
              </a:ext>
            </a:extLst>
          </p:cNvPr>
          <p:cNvSpPr>
            <a:spLocks noChangeAspect="1"/>
          </p:cNvSpPr>
          <p:nvPr/>
        </p:nvSpPr>
        <p:spPr bwMode="auto">
          <a:xfrm>
            <a:off x="2997001" y="2597570"/>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a:solidFill>
                <a:srgbClr val="000000"/>
              </a:solidFill>
              <a:latin typeface="Arial"/>
            </a:endParaRPr>
          </a:p>
        </p:txBody>
      </p:sp>
      <p:grpSp>
        <p:nvGrpSpPr>
          <p:cNvPr id="47" name="Group 46">
            <a:extLst>
              <a:ext uri="{FF2B5EF4-FFF2-40B4-BE49-F238E27FC236}">
                <a16:creationId xmlns:a16="http://schemas.microsoft.com/office/drawing/2014/main" id="{776750FA-BF53-E271-6A0E-D33A756F085F}"/>
              </a:ext>
            </a:extLst>
          </p:cNvPr>
          <p:cNvGrpSpPr/>
          <p:nvPr/>
        </p:nvGrpSpPr>
        <p:grpSpPr>
          <a:xfrm>
            <a:off x="928420" y="1951404"/>
            <a:ext cx="1683868" cy="1682375"/>
            <a:chOff x="638403" y="2237154"/>
            <a:chExt cx="1450663" cy="1449377"/>
          </a:xfrm>
        </p:grpSpPr>
        <p:sp>
          <p:nvSpPr>
            <p:cNvPr id="48" name="Freeform 5">
              <a:extLst>
                <a:ext uri="{FF2B5EF4-FFF2-40B4-BE49-F238E27FC236}">
                  <a16:creationId xmlns:a16="http://schemas.microsoft.com/office/drawing/2014/main" id="{4BE36CCE-03D8-70E6-65A3-666667889C8A}"/>
                </a:ext>
              </a:extLst>
            </p:cNvPr>
            <p:cNvSpPr>
              <a:spLocks noEditPoints="1"/>
            </p:cNvSpPr>
            <p:nvPr/>
          </p:nvSpPr>
          <p:spPr bwMode="auto">
            <a:xfrm>
              <a:off x="638403" y="2237154"/>
              <a:ext cx="1450663" cy="1449377"/>
            </a:xfrm>
            <a:prstGeom prst="donut">
              <a:avLst>
                <a:gd name="adj" fmla="val 10103"/>
              </a:avLst>
            </a:prstGeom>
            <a:solidFill>
              <a:srgbClr val="CF142B"/>
            </a:solidFill>
          </p:spPr>
          <p:txBody>
            <a:bodyPr/>
            <a:lstStyle/>
            <a:p>
              <a:pPr>
                <a:defRPr/>
              </a:pPr>
              <a:endParaRPr lang="en-US" sz="1600" b="1" kern="0">
                <a:solidFill>
                  <a:srgbClr val="000000"/>
                </a:solidFill>
                <a:latin typeface="Arial"/>
              </a:endParaRPr>
            </a:p>
          </p:txBody>
        </p:sp>
        <p:sp>
          <p:nvSpPr>
            <p:cNvPr id="49" name="Oval 30">
              <a:extLst>
                <a:ext uri="{FF2B5EF4-FFF2-40B4-BE49-F238E27FC236}">
                  <a16:creationId xmlns:a16="http://schemas.microsoft.com/office/drawing/2014/main" id="{08DEE043-2E65-18A5-C316-8C3993D8C7A4}"/>
                </a:ext>
              </a:extLst>
            </p:cNvPr>
            <p:cNvSpPr>
              <a:spLocks noChangeArrowheads="1"/>
            </p:cNvSpPr>
            <p:nvPr/>
          </p:nvSpPr>
          <p:spPr bwMode="auto">
            <a:xfrm>
              <a:off x="785317" y="2374190"/>
              <a:ext cx="1159818" cy="1159332"/>
            </a:xfrm>
            <a:prstGeom prst="ellipse">
              <a:avLst/>
            </a:prstGeom>
            <a:solidFill>
              <a:srgbClr val="FFFFFF"/>
            </a:solidFill>
            <a:ln w="9525" algn="ctr">
              <a:noFill/>
              <a:round/>
              <a:headEnd/>
              <a:tailEnd/>
            </a:ln>
          </p:spPr>
          <p:txBody>
            <a:bodyPr wrap="none" lIns="0" tIns="36000" rIns="0" bIns="36000" anchor="ctr"/>
            <a:lstStyle/>
            <a:p>
              <a:pPr algn="ctr">
                <a:defRPr/>
              </a:pPr>
              <a:endParaRPr lang="en-GB" sz="1600" kern="0">
                <a:solidFill>
                  <a:srgbClr val="000000"/>
                </a:solidFill>
                <a:latin typeface="Arial"/>
              </a:endParaRPr>
            </a:p>
          </p:txBody>
        </p:sp>
      </p:grpSp>
      <p:grpSp>
        <p:nvGrpSpPr>
          <p:cNvPr id="50" name="Group 49">
            <a:extLst>
              <a:ext uri="{FF2B5EF4-FFF2-40B4-BE49-F238E27FC236}">
                <a16:creationId xmlns:a16="http://schemas.microsoft.com/office/drawing/2014/main" id="{350E3F33-A3D0-9295-DBE6-468745D4A6A8}"/>
              </a:ext>
            </a:extLst>
          </p:cNvPr>
          <p:cNvGrpSpPr/>
          <p:nvPr/>
        </p:nvGrpSpPr>
        <p:grpSpPr>
          <a:xfrm>
            <a:off x="3617470" y="1951404"/>
            <a:ext cx="1683868" cy="1682375"/>
            <a:chOff x="2281504" y="2237154"/>
            <a:chExt cx="1450663" cy="1449377"/>
          </a:xfrm>
        </p:grpSpPr>
        <p:sp>
          <p:nvSpPr>
            <p:cNvPr id="51" name="Freeform 5">
              <a:extLst>
                <a:ext uri="{FF2B5EF4-FFF2-40B4-BE49-F238E27FC236}">
                  <a16:creationId xmlns:a16="http://schemas.microsoft.com/office/drawing/2014/main" id="{482B5987-D2EE-0367-FBC4-22E217767328}"/>
                </a:ext>
              </a:extLst>
            </p:cNvPr>
            <p:cNvSpPr>
              <a:spLocks noEditPoints="1"/>
            </p:cNvSpPr>
            <p:nvPr/>
          </p:nvSpPr>
          <p:spPr bwMode="auto">
            <a:xfrm>
              <a:off x="2281504" y="2237154"/>
              <a:ext cx="1450663" cy="1449377"/>
            </a:xfrm>
            <a:prstGeom prst="donut">
              <a:avLst>
                <a:gd name="adj" fmla="val 10103"/>
              </a:avLst>
            </a:prstGeom>
            <a:solidFill>
              <a:srgbClr val="EC7505"/>
            </a:solidFill>
            <a:ln w="9525">
              <a:noFill/>
              <a:round/>
              <a:headEnd/>
              <a:tailEnd/>
            </a:ln>
          </p:spPr>
          <p:txBody>
            <a:bodyPr/>
            <a:lstStyle/>
            <a:p>
              <a:pPr>
                <a:defRPr/>
              </a:pPr>
              <a:endParaRPr lang="en-US" sz="1600" b="1" kern="0">
                <a:solidFill>
                  <a:srgbClr val="000000"/>
                </a:solidFill>
                <a:latin typeface="Arial"/>
              </a:endParaRPr>
            </a:p>
          </p:txBody>
        </p:sp>
        <p:sp>
          <p:nvSpPr>
            <p:cNvPr id="52" name="Oval 30">
              <a:extLst>
                <a:ext uri="{FF2B5EF4-FFF2-40B4-BE49-F238E27FC236}">
                  <a16:creationId xmlns:a16="http://schemas.microsoft.com/office/drawing/2014/main" id="{D64D5308-364D-4FB7-A351-9234589A6FB0}"/>
                </a:ext>
              </a:extLst>
            </p:cNvPr>
            <p:cNvSpPr>
              <a:spLocks noChangeArrowheads="1"/>
            </p:cNvSpPr>
            <p:nvPr/>
          </p:nvSpPr>
          <p:spPr bwMode="auto">
            <a:xfrm>
              <a:off x="2428418" y="2374190"/>
              <a:ext cx="1159818" cy="1159332"/>
            </a:xfrm>
            <a:prstGeom prst="ellipse">
              <a:avLst/>
            </a:prstGeom>
            <a:solidFill>
              <a:srgbClr val="FFFFFF"/>
            </a:solidFill>
            <a:ln w="9525" algn="ctr">
              <a:noFill/>
              <a:round/>
              <a:headEnd/>
              <a:tailEnd/>
            </a:ln>
          </p:spPr>
          <p:txBody>
            <a:bodyPr wrap="none" lIns="0" tIns="36000" rIns="0" bIns="36000" anchor="ctr"/>
            <a:lstStyle/>
            <a:p>
              <a:pPr algn="ctr">
                <a:defRPr/>
              </a:pPr>
              <a:endParaRPr lang="en-GB" sz="1600" kern="0">
                <a:solidFill>
                  <a:srgbClr val="000000"/>
                </a:solidFill>
                <a:latin typeface="Arial"/>
              </a:endParaRPr>
            </a:p>
          </p:txBody>
        </p:sp>
      </p:grpSp>
      <p:grpSp>
        <p:nvGrpSpPr>
          <p:cNvPr id="53" name="Group 52">
            <a:extLst>
              <a:ext uri="{FF2B5EF4-FFF2-40B4-BE49-F238E27FC236}">
                <a16:creationId xmlns:a16="http://schemas.microsoft.com/office/drawing/2014/main" id="{E8BD69A4-FB16-1888-A5A5-52D5C1135C22}"/>
              </a:ext>
            </a:extLst>
          </p:cNvPr>
          <p:cNvGrpSpPr/>
          <p:nvPr/>
        </p:nvGrpSpPr>
        <p:grpSpPr>
          <a:xfrm>
            <a:off x="6306520" y="1951404"/>
            <a:ext cx="1683868" cy="1682375"/>
            <a:chOff x="3924603" y="2237154"/>
            <a:chExt cx="1450663" cy="1449377"/>
          </a:xfrm>
        </p:grpSpPr>
        <p:sp>
          <p:nvSpPr>
            <p:cNvPr id="54" name="Freeform 5">
              <a:extLst>
                <a:ext uri="{FF2B5EF4-FFF2-40B4-BE49-F238E27FC236}">
                  <a16:creationId xmlns:a16="http://schemas.microsoft.com/office/drawing/2014/main" id="{2271D93E-A3A1-6E57-D759-22FFDE077577}"/>
                </a:ext>
              </a:extLst>
            </p:cNvPr>
            <p:cNvSpPr>
              <a:spLocks noEditPoints="1"/>
            </p:cNvSpPr>
            <p:nvPr/>
          </p:nvSpPr>
          <p:spPr bwMode="auto">
            <a:xfrm>
              <a:off x="3924603" y="2237154"/>
              <a:ext cx="1450663" cy="1449377"/>
            </a:xfrm>
            <a:prstGeom prst="donut">
              <a:avLst>
                <a:gd name="adj" fmla="val 10103"/>
              </a:avLst>
            </a:prstGeom>
            <a:solidFill>
              <a:srgbClr val="92AF04"/>
            </a:solidFill>
            <a:ln w="9525">
              <a:noFill/>
              <a:round/>
              <a:headEnd/>
              <a:tailEnd/>
            </a:ln>
          </p:spPr>
          <p:txBody>
            <a:bodyPr/>
            <a:lstStyle/>
            <a:p>
              <a:pPr>
                <a:defRPr/>
              </a:pPr>
              <a:endParaRPr lang="en-US" sz="2400" b="1" kern="0">
                <a:solidFill>
                  <a:srgbClr val="000000"/>
                </a:solidFill>
                <a:latin typeface="Arial"/>
              </a:endParaRPr>
            </a:p>
          </p:txBody>
        </p:sp>
        <p:sp>
          <p:nvSpPr>
            <p:cNvPr id="55" name="Oval 54">
              <a:extLst>
                <a:ext uri="{FF2B5EF4-FFF2-40B4-BE49-F238E27FC236}">
                  <a16:creationId xmlns:a16="http://schemas.microsoft.com/office/drawing/2014/main" id="{62CEC5F9-F31F-E152-F9C7-C5F3BEBCD8AC}"/>
                </a:ext>
              </a:extLst>
            </p:cNvPr>
            <p:cNvSpPr>
              <a:spLocks noChangeArrowheads="1"/>
            </p:cNvSpPr>
            <p:nvPr/>
          </p:nvSpPr>
          <p:spPr bwMode="auto">
            <a:xfrm>
              <a:off x="4071517" y="2374190"/>
              <a:ext cx="1159818" cy="1159332"/>
            </a:xfrm>
            <a:prstGeom prst="ellipse">
              <a:avLst/>
            </a:prstGeom>
            <a:solidFill>
              <a:srgbClr val="FFFFFF"/>
            </a:solidFill>
            <a:ln w="9525" algn="ctr">
              <a:noFill/>
              <a:round/>
              <a:headEnd/>
              <a:tailEnd/>
            </a:ln>
          </p:spPr>
          <p:txBody>
            <a:bodyPr wrap="none" lIns="0" tIns="36000" rIns="0" bIns="36000" anchor="ctr"/>
            <a:lstStyle/>
            <a:p>
              <a:pPr algn="ctr">
                <a:defRPr/>
              </a:pPr>
              <a:endParaRPr lang="en-GB" sz="1600" kern="0">
                <a:solidFill>
                  <a:srgbClr val="000000"/>
                </a:solidFill>
                <a:latin typeface="Arial"/>
              </a:endParaRPr>
            </a:p>
          </p:txBody>
        </p:sp>
      </p:grpSp>
      <p:grpSp>
        <p:nvGrpSpPr>
          <p:cNvPr id="56" name="Group 55">
            <a:extLst>
              <a:ext uri="{FF2B5EF4-FFF2-40B4-BE49-F238E27FC236}">
                <a16:creationId xmlns:a16="http://schemas.microsoft.com/office/drawing/2014/main" id="{CE962D17-9899-8D99-2DBB-8D948D81BB88}"/>
              </a:ext>
            </a:extLst>
          </p:cNvPr>
          <p:cNvGrpSpPr/>
          <p:nvPr/>
        </p:nvGrpSpPr>
        <p:grpSpPr>
          <a:xfrm>
            <a:off x="8995569" y="1951404"/>
            <a:ext cx="1683868" cy="1682375"/>
            <a:chOff x="7202269" y="2237154"/>
            <a:chExt cx="1450663" cy="1449377"/>
          </a:xfrm>
        </p:grpSpPr>
        <p:sp>
          <p:nvSpPr>
            <p:cNvPr id="57" name="Freeform 5">
              <a:extLst>
                <a:ext uri="{FF2B5EF4-FFF2-40B4-BE49-F238E27FC236}">
                  <a16:creationId xmlns:a16="http://schemas.microsoft.com/office/drawing/2014/main" id="{A9F9F020-37BA-6BFA-6D7E-2FB8A805C3F9}"/>
                </a:ext>
              </a:extLst>
            </p:cNvPr>
            <p:cNvSpPr>
              <a:spLocks noEditPoints="1"/>
            </p:cNvSpPr>
            <p:nvPr/>
          </p:nvSpPr>
          <p:spPr bwMode="auto">
            <a:xfrm>
              <a:off x="7202269" y="2237154"/>
              <a:ext cx="1450663" cy="1449377"/>
            </a:xfrm>
            <a:prstGeom prst="donut">
              <a:avLst>
                <a:gd name="adj" fmla="val 10103"/>
              </a:avLst>
            </a:prstGeom>
            <a:solidFill>
              <a:srgbClr val="227AB0"/>
            </a:solidFill>
            <a:ln w="9525">
              <a:noFill/>
              <a:round/>
              <a:headEnd/>
              <a:tailEnd/>
            </a:ln>
          </p:spPr>
          <p:txBody>
            <a:bodyPr/>
            <a:lstStyle/>
            <a:p>
              <a:pPr>
                <a:defRPr/>
              </a:pPr>
              <a:endParaRPr lang="en-US" sz="2400" b="1" kern="0">
                <a:solidFill>
                  <a:srgbClr val="000000"/>
                </a:solidFill>
                <a:latin typeface="Arial"/>
              </a:endParaRPr>
            </a:p>
          </p:txBody>
        </p:sp>
        <p:sp>
          <p:nvSpPr>
            <p:cNvPr id="58" name="Oval 30">
              <a:extLst>
                <a:ext uri="{FF2B5EF4-FFF2-40B4-BE49-F238E27FC236}">
                  <a16:creationId xmlns:a16="http://schemas.microsoft.com/office/drawing/2014/main" id="{8B2098E8-C371-0E17-0A1A-E30BE42F3BC7}"/>
                </a:ext>
              </a:extLst>
            </p:cNvPr>
            <p:cNvSpPr>
              <a:spLocks noChangeArrowheads="1"/>
            </p:cNvSpPr>
            <p:nvPr/>
          </p:nvSpPr>
          <p:spPr bwMode="auto">
            <a:xfrm>
              <a:off x="7349183" y="2374190"/>
              <a:ext cx="1159818" cy="1159332"/>
            </a:xfrm>
            <a:prstGeom prst="ellipse">
              <a:avLst/>
            </a:prstGeom>
            <a:solidFill>
              <a:srgbClr val="FFFFFF"/>
            </a:solidFill>
            <a:ln w="9525" algn="ctr">
              <a:noFill/>
              <a:round/>
              <a:headEnd/>
              <a:tailEnd/>
            </a:ln>
          </p:spPr>
          <p:txBody>
            <a:bodyPr wrap="none" lIns="0" tIns="36000" rIns="0" bIns="36000" anchor="ctr"/>
            <a:lstStyle/>
            <a:p>
              <a:pPr algn="ctr">
                <a:defRPr/>
              </a:pPr>
              <a:endParaRPr lang="en-GB" sz="1600" kern="0">
                <a:solidFill>
                  <a:srgbClr val="000000"/>
                </a:solidFill>
                <a:latin typeface="Arial"/>
              </a:endParaRPr>
            </a:p>
          </p:txBody>
        </p:sp>
      </p:grpSp>
      <p:pic>
        <p:nvPicPr>
          <p:cNvPr id="59" name="Picture 58">
            <a:extLst>
              <a:ext uri="{FF2B5EF4-FFF2-40B4-BE49-F238E27FC236}">
                <a16:creationId xmlns:a16="http://schemas.microsoft.com/office/drawing/2014/main" id="{EE63CEBF-D325-3E5A-B6C5-550E8F45EC80}"/>
              </a:ext>
            </a:extLst>
          </p:cNvPr>
          <p:cNvPicPr>
            <a:picLocks noChangeAspect="1"/>
          </p:cNvPicPr>
          <p:nvPr/>
        </p:nvPicPr>
        <p:blipFill>
          <a:blip r:embed="rId3"/>
          <a:stretch>
            <a:fillRect/>
          </a:stretch>
        </p:blipFill>
        <p:spPr>
          <a:xfrm>
            <a:off x="1328608" y="2377808"/>
            <a:ext cx="914400" cy="914400"/>
          </a:xfrm>
          <a:prstGeom prst="rect">
            <a:avLst/>
          </a:prstGeom>
        </p:spPr>
      </p:pic>
      <p:pic>
        <p:nvPicPr>
          <p:cNvPr id="60" name="Picture 59">
            <a:extLst>
              <a:ext uri="{FF2B5EF4-FFF2-40B4-BE49-F238E27FC236}">
                <a16:creationId xmlns:a16="http://schemas.microsoft.com/office/drawing/2014/main" id="{050ACD7D-8052-A703-2654-CB9F4AB25C76}"/>
              </a:ext>
            </a:extLst>
          </p:cNvPr>
          <p:cNvPicPr>
            <a:picLocks noChangeAspect="1"/>
          </p:cNvPicPr>
          <p:nvPr/>
        </p:nvPicPr>
        <p:blipFill>
          <a:blip r:embed="rId4"/>
          <a:stretch>
            <a:fillRect/>
          </a:stretch>
        </p:blipFill>
        <p:spPr>
          <a:xfrm>
            <a:off x="4002204" y="2335390"/>
            <a:ext cx="914400" cy="914400"/>
          </a:xfrm>
          <a:prstGeom prst="rect">
            <a:avLst/>
          </a:prstGeom>
        </p:spPr>
      </p:pic>
      <p:pic>
        <p:nvPicPr>
          <p:cNvPr id="61" name="Picture 60">
            <a:extLst>
              <a:ext uri="{FF2B5EF4-FFF2-40B4-BE49-F238E27FC236}">
                <a16:creationId xmlns:a16="http://schemas.microsoft.com/office/drawing/2014/main" id="{378A39E1-9620-0000-89D2-CA773BF68903}"/>
              </a:ext>
            </a:extLst>
          </p:cNvPr>
          <p:cNvPicPr>
            <a:picLocks noChangeAspect="1"/>
          </p:cNvPicPr>
          <p:nvPr/>
        </p:nvPicPr>
        <p:blipFill>
          <a:blip r:embed="rId5"/>
          <a:stretch>
            <a:fillRect/>
          </a:stretch>
        </p:blipFill>
        <p:spPr>
          <a:xfrm>
            <a:off x="6691253" y="2350982"/>
            <a:ext cx="914400" cy="914400"/>
          </a:xfrm>
          <a:prstGeom prst="rect">
            <a:avLst/>
          </a:prstGeom>
        </p:spPr>
      </p:pic>
      <p:pic>
        <p:nvPicPr>
          <p:cNvPr id="62" name="Picture 61">
            <a:extLst>
              <a:ext uri="{FF2B5EF4-FFF2-40B4-BE49-F238E27FC236}">
                <a16:creationId xmlns:a16="http://schemas.microsoft.com/office/drawing/2014/main" id="{EF0FF826-62D1-235A-C82C-59071C3AD4C5}"/>
              </a:ext>
            </a:extLst>
          </p:cNvPr>
          <p:cNvPicPr>
            <a:picLocks noChangeAspect="1"/>
          </p:cNvPicPr>
          <p:nvPr/>
        </p:nvPicPr>
        <p:blipFill>
          <a:blip r:embed="rId6"/>
          <a:stretch>
            <a:fillRect/>
          </a:stretch>
        </p:blipFill>
        <p:spPr>
          <a:xfrm>
            <a:off x="9391372" y="2338859"/>
            <a:ext cx="914400" cy="914400"/>
          </a:xfrm>
          <a:prstGeom prst="rect">
            <a:avLst/>
          </a:prstGeom>
        </p:spPr>
      </p:pic>
    </p:spTree>
    <p:extLst>
      <p:ext uri="{BB962C8B-B14F-4D97-AF65-F5344CB8AC3E}">
        <p14:creationId xmlns:p14="http://schemas.microsoft.com/office/powerpoint/2010/main" val="3300810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50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1000"/>
                                        <p:tgtEl>
                                          <p:spTgt spid="39"/>
                                        </p:tgtEl>
                                      </p:cBhvr>
                                    </p:animEffect>
                                    <p:anim calcmode="lin" valueType="num">
                                      <p:cBhvr>
                                        <p:cTn id="8" dur="1000" fill="hold"/>
                                        <p:tgtEl>
                                          <p:spTgt spid="39"/>
                                        </p:tgtEl>
                                        <p:attrNameLst>
                                          <p:attrName>ppt_x</p:attrName>
                                        </p:attrNameLst>
                                      </p:cBhvr>
                                      <p:tavLst>
                                        <p:tav tm="0">
                                          <p:val>
                                            <p:strVal val="#ppt_x"/>
                                          </p:val>
                                        </p:tav>
                                        <p:tav tm="100000">
                                          <p:val>
                                            <p:strVal val="#ppt_x"/>
                                          </p:val>
                                        </p:tav>
                                      </p:tavLst>
                                    </p:anim>
                                    <p:anim calcmode="lin" valueType="num">
                                      <p:cBhvr>
                                        <p:cTn id="9" dur="1000" fill="hold"/>
                                        <p:tgtEl>
                                          <p:spTgt spid="39"/>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150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200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25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1000"/>
                                        <p:tgtEl>
                                          <p:spTgt spid="42"/>
                                        </p:tgtEl>
                                      </p:cBhvr>
                                    </p:animEffect>
                                    <p:anim calcmode="lin" valueType="num">
                                      <p:cBhvr>
                                        <p:cTn id="23" dur="1000" fill="hold"/>
                                        <p:tgtEl>
                                          <p:spTgt spid="42"/>
                                        </p:tgtEl>
                                        <p:attrNameLst>
                                          <p:attrName>ppt_x</p:attrName>
                                        </p:attrNameLst>
                                      </p:cBhvr>
                                      <p:tavLst>
                                        <p:tav tm="0">
                                          <p:val>
                                            <p:strVal val="#ppt_x"/>
                                          </p:val>
                                        </p:tav>
                                        <p:tav tm="100000">
                                          <p:val>
                                            <p:strVal val="#ppt_x"/>
                                          </p:val>
                                        </p:tav>
                                      </p:tavLst>
                                    </p:anim>
                                    <p:anim calcmode="lin" valueType="num">
                                      <p:cBhvr>
                                        <p:cTn id="2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C199B-6B4E-C358-99BA-82505199AB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CD188E-47F4-E909-C121-CE7B013FC4F0}"/>
              </a:ext>
            </a:extLst>
          </p:cNvPr>
          <p:cNvSpPr>
            <a:spLocks noGrp="1"/>
          </p:cNvSpPr>
          <p:nvPr>
            <p:ph type="body" sz="quarter" idx="10"/>
          </p:nvPr>
        </p:nvSpPr>
        <p:spPr/>
        <p:txBody>
          <a:bodyPr>
            <a:normAutofit/>
          </a:bodyPr>
          <a:lstStyle/>
          <a:p>
            <a:r>
              <a:rPr lang="en-US" dirty="0"/>
              <a:t>Managed Security in the Power Platform</a:t>
            </a:r>
          </a:p>
          <a:p>
            <a:endParaRPr lang="en-US" dirty="0"/>
          </a:p>
        </p:txBody>
      </p:sp>
      <p:sp>
        <p:nvSpPr>
          <p:cNvPr id="3" name="Rounded Rectangle 23">
            <a:extLst>
              <a:ext uri="{FF2B5EF4-FFF2-40B4-BE49-F238E27FC236}">
                <a16:creationId xmlns:a16="http://schemas.microsoft.com/office/drawing/2014/main" id="{8407D31B-06D2-840D-3C7A-8AB94E3F1EF8}"/>
              </a:ext>
            </a:extLst>
          </p:cNvPr>
          <p:cNvSpPr/>
          <p:nvPr/>
        </p:nvSpPr>
        <p:spPr>
          <a:xfrm>
            <a:off x="9145848" y="1162567"/>
            <a:ext cx="2143759" cy="4735984"/>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r>
              <a:rPr lang="en-US" sz="1200">
                <a:solidFill>
                  <a:srgbClr val="000000"/>
                </a:solidFill>
                <a:cs typeface="Segoe UI" panose="020B0502040204020203" pitchFamily="34" charset="0"/>
              </a:rPr>
              <a:t>AI-powered detection and monitoring to address and prevent security risks.</a:t>
            </a: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r>
              <a:rPr lang="en-US" sz="1200">
                <a:solidFill>
                  <a:srgbClr val="000000"/>
                </a:solidFill>
                <a:cs typeface="Segoe UI" panose="020B0502040204020203" pitchFamily="34" charset="0"/>
              </a:rPr>
              <a:t> </a:t>
            </a:r>
          </a:p>
        </p:txBody>
      </p:sp>
      <p:sp>
        <p:nvSpPr>
          <p:cNvPr id="4" name="Rounded Rectangle 23">
            <a:extLst>
              <a:ext uri="{FF2B5EF4-FFF2-40B4-BE49-F238E27FC236}">
                <a16:creationId xmlns:a16="http://schemas.microsoft.com/office/drawing/2014/main" id="{9B02E85F-6700-D483-49B0-AD25A434D5AB}"/>
              </a:ext>
            </a:extLst>
          </p:cNvPr>
          <p:cNvSpPr/>
          <p:nvPr/>
        </p:nvSpPr>
        <p:spPr>
          <a:xfrm>
            <a:off x="2398684" y="1163703"/>
            <a:ext cx="2143759" cy="4736592"/>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r>
              <a:rPr lang="en-US" sz="1200">
                <a:solidFill>
                  <a:srgbClr val="000000"/>
                </a:solidFill>
                <a:cs typeface="Segoe UI" panose="020B0502040204020203" pitchFamily="34" charset="0"/>
              </a:rPr>
              <a:t>Robust controls to ensure confidentiality and encryption, ensuring security of sensitive information. </a:t>
            </a:r>
          </a:p>
          <a:p>
            <a:pPr algn="ctr" defTabSz="914367"/>
            <a:endParaRPr lang="en-US" sz="1200">
              <a:solidFill>
                <a:srgbClr val="000000"/>
              </a:solidFill>
              <a:cs typeface="Segoe UI" panose="020B0502040204020203" pitchFamily="34" charset="0"/>
            </a:endParaRPr>
          </a:p>
          <a:p>
            <a:pPr>
              <a:defRPr/>
            </a:pPr>
            <a:endParaRPr lang="en-US" sz="1200" b="1">
              <a:solidFill>
                <a:srgbClr val="000000"/>
              </a:solidFill>
              <a:cs typeface="Segoe UI" panose="020B0502040204020203" pitchFamily="34" charset="0"/>
            </a:endParaRPr>
          </a:p>
          <a:p>
            <a:pPr algn="ctr">
              <a:defRPr/>
            </a:pPr>
            <a:endParaRPr lang="en-US" sz="1200">
              <a:solidFill>
                <a:srgbClr val="000000"/>
              </a:solidFill>
              <a:cs typeface="Segoe UI" panose="020B0502040204020203" pitchFamily="34" charset="0"/>
            </a:endParaRPr>
          </a:p>
        </p:txBody>
      </p:sp>
      <p:sp>
        <p:nvSpPr>
          <p:cNvPr id="5" name="Rounded Rectangle 23">
            <a:extLst>
              <a:ext uri="{FF2B5EF4-FFF2-40B4-BE49-F238E27FC236}">
                <a16:creationId xmlns:a16="http://schemas.microsoft.com/office/drawing/2014/main" id="{FA8CF22D-FE44-B2C2-ECCA-E281F8330560}"/>
              </a:ext>
            </a:extLst>
          </p:cNvPr>
          <p:cNvSpPr/>
          <p:nvPr/>
        </p:nvSpPr>
        <p:spPr>
          <a:xfrm>
            <a:off x="4643120" y="1162050"/>
            <a:ext cx="2143759" cy="4735982"/>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a:defRPr/>
            </a:pPr>
            <a:endParaRPr lang="en-US" sz="1200" b="1">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r>
              <a:rPr lang="en-US" sz="1200">
                <a:solidFill>
                  <a:srgbClr val="000000"/>
                </a:solidFill>
                <a:cs typeface="Segoe UI" panose="020B0502040204020203" pitchFamily="34" charset="0"/>
              </a:rPr>
              <a:t>Seamless and adaptive tools to ensure only authorized resource and data access. </a:t>
            </a:r>
          </a:p>
          <a:p>
            <a:pPr algn="ctr" defTabSz="914367"/>
            <a:endParaRPr lang="en-US" sz="1200" b="1">
              <a:solidFill>
                <a:srgbClr val="000000"/>
              </a:solidFill>
              <a:cs typeface="Segoe UI" panose="020B0502040204020203" pitchFamily="34" charset="0"/>
            </a:endParaRPr>
          </a:p>
          <a:p>
            <a:pPr algn="ctr" defTabSz="914367"/>
            <a:endParaRPr lang="en-US" sz="1200" b="1">
              <a:solidFill>
                <a:srgbClr val="000000"/>
              </a:solidFill>
              <a:cs typeface="Segoe UI" panose="020B0502040204020203" pitchFamily="34" charset="0"/>
            </a:endParaRPr>
          </a:p>
          <a:p>
            <a:pPr algn="ctr" defTabSz="914367"/>
            <a:endParaRPr lang="en-US" sz="1200" b="1">
              <a:solidFill>
                <a:srgbClr val="000000"/>
              </a:solidFill>
              <a:cs typeface="Segoe UI" panose="020B0502040204020203" pitchFamily="34" charset="0"/>
            </a:endParaRPr>
          </a:p>
          <a:p>
            <a:pPr algn="ctr" defTabSz="914367"/>
            <a:endParaRPr lang="en-US" sz="1200" b="1">
              <a:solidFill>
                <a:srgbClr val="000000"/>
              </a:solidFill>
              <a:cs typeface="Segoe UI" panose="020B0502040204020203" pitchFamily="34" charset="0"/>
            </a:endParaRPr>
          </a:p>
          <a:p>
            <a:pPr algn="ctr" defTabSz="914367"/>
            <a:endParaRPr lang="en-US" sz="1200" b="1">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p:txBody>
      </p:sp>
      <p:sp>
        <p:nvSpPr>
          <p:cNvPr id="6" name="Rounded Rectangle 23">
            <a:extLst>
              <a:ext uri="{FF2B5EF4-FFF2-40B4-BE49-F238E27FC236}">
                <a16:creationId xmlns:a16="http://schemas.microsoft.com/office/drawing/2014/main" id="{3D9B7C56-C5F2-58F8-E8A3-3F2316C8F60F}"/>
              </a:ext>
            </a:extLst>
          </p:cNvPr>
          <p:cNvSpPr/>
          <p:nvPr/>
        </p:nvSpPr>
        <p:spPr>
          <a:xfrm>
            <a:off x="6891108" y="1162052"/>
            <a:ext cx="2143759" cy="4735974"/>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b="1">
              <a:solidFill>
                <a:srgbClr val="000000"/>
              </a:solidFill>
              <a:cs typeface="Segoe UI" panose="020B0502040204020203" pitchFamily="34" charset="0"/>
            </a:endParaRPr>
          </a:p>
          <a:p>
            <a:pPr algn="ctr" defTabSz="914367"/>
            <a:endParaRPr lang="en-US" sz="1200" b="1">
              <a:solidFill>
                <a:srgbClr val="000000"/>
              </a:solidFill>
              <a:cs typeface="Segoe UI" panose="020B0502040204020203" pitchFamily="34" charset="0"/>
            </a:endParaRPr>
          </a:p>
          <a:p>
            <a:pPr algn="ctr" defTabSz="914367"/>
            <a:endParaRPr lang="en-US" sz="1200" b="1">
              <a:solidFill>
                <a:srgbClr val="000000"/>
              </a:solidFill>
              <a:cs typeface="Segoe UI" panose="020B0502040204020203" pitchFamily="34" charset="0"/>
            </a:endParaRPr>
          </a:p>
          <a:p>
            <a:pPr algn="ctr" defTabSz="914367"/>
            <a:endParaRPr lang="en-US" sz="1200" b="1">
              <a:solidFill>
                <a:srgbClr val="000000"/>
              </a:solidFill>
              <a:cs typeface="Segoe UI" panose="020B0502040204020203" pitchFamily="34" charset="0"/>
            </a:endParaRPr>
          </a:p>
          <a:p>
            <a:pPr algn="ctr" defTabSz="914367"/>
            <a:r>
              <a:rPr lang="en-US" sz="1200">
                <a:solidFill>
                  <a:srgbClr val="000000"/>
                </a:solidFill>
                <a:cs typeface="Segoe UI" panose="020B0502040204020203" pitchFamily="34" charset="0"/>
              </a:rPr>
              <a:t>Assured visibility and adherence to industry and regional regulatory requirements. </a:t>
            </a:r>
          </a:p>
          <a:p>
            <a:pPr algn="ctr" defTabSz="914367"/>
            <a:endParaRPr lang="en-US" sz="1200">
              <a:solidFill>
                <a:srgbClr val="000000"/>
              </a:solidFill>
              <a:cs typeface="Segoe UI" panose="020B0502040204020203" pitchFamily="34" charset="0"/>
            </a:endParaRPr>
          </a:p>
        </p:txBody>
      </p:sp>
      <p:sp>
        <p:nvSpPr>
          <p:cNvPr id="7" name="Rounded Rectangle 23">
            <a:extLst>
              <a:ext uri="{FF2B5EF4-FFF2-40B4-BE49-F238E27FC236}">
                <a16:creationId xmlns:a16="http://schemas.microsoft.com/office/drawing/2014/main" id="{9BB12E0F-9F6F-3DA4-3E40-7228B3E39899}"/>
              </a:ext>
            </a:extLst>
          </p:cNvPr>
          <p:cNvSpPr/>
          <p:nvPr/>
        </p:nvSpPr>
        <p:spPr>
          <a:xfrm>
            <a:off x="129892" y="1164321"/>
            <a:ext cx="2143759" cy="4735974"/>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endParaRPr lang="en-US" sz="1200">
              <a:solidFill>
                <a:srgbClr val="000000"/>
              </a:solidFill>
              <a:cs typeface="Segoe UI" panose="020B0502040204020203" pitchFamily="34" charset="0"/>
            </a:endParaRPr>
          </a:p>
          <a:p>
            <a:pPr algn="ctr" defTabSz="914367"/>
            <a:r>
              <a:rPr lang="en-US" sz="1200">
                <a:solidFill>
                  <a:srgbClr val="000000"/>
                </a:solidFill>
                <a:cs typeface="Segoe UI" panose="020B0502040204020203" pitchFamily="34" charset="0"/>
              </a:rPr>
              <a:t>Intelligent guidance for scalable and efficient enterprise-grade security.</a:t>
            </a:r>
          </a:p>
          <a:p>
            <a:pPr algn="ctr" defTabSz="914367"/>
            <a:endParaRPr lang="en-US" sz="1200">
              <a:solidFill>
                <a:srgbClr val="000000"/>
              </a:solidFill>
              <a:cs typeface="Segoe UI" panose="020B0502040204020203" pitchFamily="34" charset="0"/>
            </a:endParaRPr>
          </a:p>
          <a:p>
            <a:pPr algn="ctr" defTabSz="914367"/>
            <a:r>
              <a:rPr lang="en-US" sz="1200">
                <a:solidFill>
                  <a:srgbClr val="000000"/>
                </a:solidFill>
                <a:cs typeface="Segoe UI" panose="020B0502040204020203" pitchFamily="34" charset="0"/>
              </a:rPr>
              <a:t> </a:t>
            </a:r>
          </a:p>
        </p:txBody>
      </p:sp>
      <p:sp>
        <p:nvSpPr>
          <p:cNvPr id="8" name="TextBox 7">
            <a:extLst>
              <a:ext uri="{FF2B5EF4-FFF2-40B4-BE49-F238E27FC236}">
                <a16:creationId xmlns:a16="http://schemas.microsoft.com/office/drawing/2014/main" id="{AAA7F49B-8671-6FF4-9044-73F7190EB4BE}"/>
              </a:ext>
            </a:extLst>
          </p:cNvPr>
          <p:cNvSpPr txBox="1"/>
          <p:nvPr/>
        </p:nvSpPr>
        <p:spPr>
          <a:xfrm>
            <a:off x="1371600" y="714081"/>
            <a:ext cx="8514849" cy="400110"/>
          </a:xfrm>
          <a:prstGeom prst="rect">
            <a:avLst/>
          </a:prstGeom>
          <a:noFill/>
        </p:spPr>
        <p:txBody>
          <a:bodyPr wrap="square" rtlCol="0">
            <a:spAutoFit/>
          </a:bodyPr>
          <a:lstStyle/>
          <a:p>
            <a:pPr algn="ctr">
              <a:defRPr/>
            </a:pPr>
            <a:r>
              <a:rPr lang="en-US" sz="2000" b="1" dirty="0">
                <a:cs typeface="Segoe UI" panose="020B0502040204020203" pitchFamily="34" charset="0"/>
              </a:rPr>
              <a:t>Advanced protection for an AI-driven world</a:t>
            </a:r>
          </a:p>
        </p:txBody>
      </p:sp>
      <p:sp>
        <p:nvSpPr>
          <p:cNvPr id="9" name="TextBox 8">
            <a:extLst>
              <a:ext uri="{FF2B5EF4-FFF2-40B4-BE49-F238E27FC236}">
                <a16:creationId xmlns:a16="http://schemas.microsoft.com/office/drawing/2014/main" id="{564E9652-27F9-823A-52B6-A63501949339}"/>
              </a:ext>
              <a:ext uri="{C183D7F6-B498-43B3-948B-1728B52AA6E4}">
                <adec:decorative xmlns:adec="http://schemas.microsoft.com/office/drawing/2017/decorative" val="1"/>
              </a:ext>
            </a:extLst>
          </p:cNvPr>
          <p:cNvSpPr txBox="1"/>
          <p:nvPr/>
        </p:nvSpPr>
        <p:spPr>
          <a:xfrm>
            <a:off x="9385238" y="1354791"/>
            <a:ext cx="1720806" cy="307777"/>
          </a:xfrm>
          <a:prstGeom prst="rect">
            <a:avLst/>
          </a:prstGeom>
          <a:noFill/>
        </p:spPr>
        <p:txBody>
          <a:bodyPr wrap="square">
            <a:spAutoFit/>
          </a:bodyPr>
          <a:lstStyle/>
          <a:p>
            <a:pPr algn="ctr" defTabSz="914367"/>
            <a:endParaRPr lang="en-US" sz="1400" b="1">
              <a:solidFill>
                <a:srgbClr val="000000"/>
              </a:solidFill>
              <a:cs typeface="Segoe UI" panose="020B0502040204020203" pitchFamily="34" charset="0"/>
            </a:endParaRPr>
          </a:p>
        </p:txBody>
      </p:sp>
      <p:sp>
        <p:nvSpPr>
          <p:cNvPr id="10" name="TextBox 9">
            <a:extLst>
              <a:ext uri="{FF2B5EF4-FFF2-40B4-BE49-F238E27FC236}">
                <a16:creationId xmlns:a16="http://schemas.microsoft.com/office/drawing/2014/main" id="{2F17196E-E63F-B49B-5FA8-6D801F8FF265}"/>
              </a:ext>
              <a:ext uri="{C183D7F6-B498-43B3-948B-1728B52AA6E4}">
                <adec:decorative xmlns:adec="http://schemas.microsoft.com/office/drawing/2017/decorative" val="1"/>
              </a:ext>
            </a:extLst>
          </p:cNvPr>
          <p:cNvSpPr txBox="1"/>
          <p:nvPr/>
        </p:nvSpPr>
        <p:spPr>
          <a:xfrm>
            <a:off x="2598056" y="1247069"/>
            <a:ext cx="1720806" cy="307777"/>
          </a:xfrm>
          <a:prstGeom prst="rect">
            <a:avLst/>
          </a:prstGeom>
          <a:noFill/>
        </p:spPr>
        <p:txBody>
          <a:bodyPr wrap="square">
            <a:spAutoFit/>
          </a:bodyPr>
          <a:lstStyle/>
          <a:p>
            <a:pPr algn="ctr" defTabSz="914367"/>
            <a:endParaRPr lang="en-US" sz="1400" b="1">
              <a:solidFill>
                <a:srgbClr val="000000"/>
              </a:solidFill>
              <a:cs typeface="Segoe UI" panose="020B0502040204020203" pitchFamily="34" charset="0"/>
            </a:endParaRPr>
          </a:p>
        </p:txBody>
      </p:sp>
      <p:sp>
        <p:nvSpPr>
          <p:cNvPr id="11" name="TextBox 10">
            <a:extLst>
              <a:ext uri="{FF2B5EF4-FFF2-40B4-BE49-F238E27FC236}">
                <a16:creationId xmlns:a16="http://schemas.microsoft.com/office/drawing/2014/main" id="{9307E6D5-81A0-1937-A442-0D6FE5D075AD}"/>
              </a:ext>
              <a:ext uri="{C183D7F6-B498-43B3-948B-1728B52AA6E4}">
                <adec:decorative xmlns:adec="http://schemas.microsoft.com/office/drawing/2017/decorative" val="1"/>
              </a:ext>
            </a:extLst>
          </p:cNvPr>
          <p:cNvSpPr txBox="1"/>
          <p:nvPr/>
        </p:nvSpPr>
        <p:spPr>
          <a:xfrm>
            <a:off x="4662622" y="1188671"/>
            <a:ext cx="1720806" cy="307777"/>
          </a:xfrm>
          <a:prstGeom prst="rect">
            <a:avLst/>
          </a:prstGeom>
          <a:noFill/>
        </p:spPr>
        <p:txBody>
          <a:bodyPr wrap="square">
            <a:spAutoFit/>
          </a:bodyPr>
          <a:lstStyle/>
          <a:p>
            <a:pPr algn="ctr">
              <a:defRPr/>
            </a:pPr>
            <a:endParaRPr lang="en-US" sz="1400" b="1">
              <a:solidFill>
                <a:srgbClr val="000000"/>
              </a:solidFill>
              <a:cs typeface="Segoe UI" panose="020B0502040204020203" pitchFamily="34" charset="0"/>
            </a:endParaRPr>
          </a:p>
        </p:txBody>
      </p:sp>
      <p:sp>
        <p:nvSpPr>
          <p:cNvPr id="12" name="TextBox 11">
            <a:extLst>
              <a:ext uri="{FF2B5EF4-FFF2-40B4-BE49-F238E27FC236}">
                <a16:creationId xmlns:a16="http://schemas.microsoft.com/office/drawing/2014/main" id="{AE426FE3-9E66-6726-B22D-8232B6161945}"/>
              </a:ext>
              <a:ext uri="{C183D7F6-B498-43B3-948B-1728B52AA6E4}">
                <adec:decorative xmlns:adec="http://schemas.microsoft.com/office/drawing/2017/decorative" val="1"/>
              </a:ext>
            </a:extLst>
          </p:cNvPr>
          <p:cNvSpPr txBox="1"/>
          <p:nvPr/>
        </p:nvSpPr>
        <p:spPr>
          <a:xfrm>
            <a:off x="7067174" y="1354790"/>
            <a:ext cx="1720806" cy="307777"/>
          </a:xfrm>
          <a:prstGeom prst="rect">
            <a:avLst/>
          </a:prstGeom>
          <a:noFill/>
        </p:spPr>
        <p:txBody>
          <a:bodyPr wrap="square">
            <a:spAutoFit/>
          </a:bodyPr>
          <a:lstStyle/>
          <a:p>
            <a:pPr algn="ctr" defTabSz="914367"/>
            <a:endParaRPr lang="en-US" sz="1400" b="1">
              <a:solidFill>
                <a:srgbClr val="000000"/>
              </a:solidFill>
              <a:cs typeface="Segoe UI" panose="020B0502040204020203" pitchFamily="34" charset="0"/>
            </a:endParaRPr>
          </a:p>
        </p:txBody>
      </p:sp>
      <p:sp>
        <p:nvSpPr>
          <p:cNvPr id="13" name="Rectangle: Rounded Corners 102">
            <a:extLst>
              <a:ext uri="{FF2B5EF4-FFF2-40B4-BE49-F238E27FC236}">
                <a16:creationId xmlns:a16="http://schemas.microsoft.com/office/drawing/2014/main" id="{2DE8F5E1-904E-99E5-2732-27D893481300}"/>
              </a:ext>
              <a:ext uri="{C183D7F6-B498-43B3-948B-1728B52AA6E4}">
                <adec:decorative xmlns:adec="http://schemas.microsoft.com/office/drawing/2017/decorative" val="0"/>
              </a:ext>
            </a:extLst>
          </p:cNvPr>
          <p:cNvSpPr/>
          <p:nvPr/>
        </p:nvSpPr>
        <p:spPr bwMode="auto">
          <a:xfrm>
            <a:off x="2405184" y="1141821"/>
            <a:ext cx="2130758" cy="578334"/>
          </a:xfrm>
          <a:prstGeom prst="roundRect">
            <a:avLst>
              <a:gd name="adj" fmla="val 36259"/>
            </a:avLst>
          </a:prstGeom>
          <a:solidFill>
            <a:srgbClr val="9ED49E"/>
          </a:solidFill>
          <a:ln>
            <a:noFill/>
          </a:ln>
          <a:effectLst/>
        </p:spPr>
        <p:txBody>
          <a:bodyPr wrap="square" lIns="0" tIns="0" rIns="0" bIns="27432" anchor="ctr" anchorCtr="0">
            <a:spAutoFit/>
          </a:bodyPr>
          <a:lstStyle/>
          <a:p>
            <a:pPr algn="ctr" defTabSz="914367"/>
            <a:r>
              <a:rPr lang="en-US" sz="1400" b="1">
                <a:solidFill>
                  <a:srgbClr val="000000"/>
                </a:solidFill>
                <a:cs typeface="Segoe UI" panose="020B0502040204020203" pitchFamily="34" charset="0"/>
              </a:rPr>
              <a:t>Data Protection</a:t>
            </a:r>
          </a:p>
          <a:p>
            <a:pPr algn="ctr" defTabSz="914367"/>
            <a:r>
              <a:rPr lang="en-US" sz="1400" b="1">
                <a:solidFill>
                  <a:srgbClr val="000000"/>
                </a:solidFill>
                <a:cs typeface="Segoe UI" panose="020B0502040204020203" pitchFamily="34" charset="0"/>
              </a:rPr>
              <a:t>and Privacy</a:t>
            </a:r>
          </a:p>
        </p:txBody>
      </p:sp>
      <p:sp>
        <p:nvSpPr>
          <p:cNvPr id="14" name="Rectangle: Rounded Corners 102">
            <a:extLst>
              <a:ext uri="{FF2B5EF4-FFF2-40B4-BE49-F238E27FC236}">
                <a16:creationId xmlns:a16="http://schemas.microsoft.com/office/drawing/2014/main" id="{F2BD0B80-BF95-8985-1D8C-2FB60212B218}"/>
              </a:ext>
              <a:ext uri="{C183D7F6-B498-43B3-948B-1728B52AA6E4}">
                <adec:decorative xmlns:adec="http://schemas.microsoft.com/office/drawing/2017/decorative" val="0"/>
              </a:ext>
            </a:extLst>
          </p:cNvPr>
          <p:cNvSpPr/>
          <p:nvPr/>
        </p:nvSpPr>
        <p:spPr bwMode="auto">
          <a:xfrm>
            <a:off x="9152348" y="1148489"/>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defTabSz="914367"/>
            <a:r>
              <a:rPr lang="en-US" sz="1400" b="1">
                <a:solidFill>
                  <a:srgbClr val="000000"/>
                </a:solidFill>
                <a:cs typeface="Segoe UI" panose="020B0502040204020203" pitchFamily="34" charset="0"/>
              </a:rPr>
              <a:t>Threat Protection</a:t>
            </a:r>
          </a:p>
        </p:txBody>
      </p:sp>
      <p:sp>
        <p:nvSpPr>
          <p:cNvPr id="15" name="Rectangle: Rounded Corners 102">
            <a:extLst>
              <a:ext uri="{FF2B5EF4-FFF2-40B4-BE49-F238E27FC236}">
                <a16:creationId xmlns:a16="http://schemas.microsoft.com/office/drawing/2014/main" id="{BED8A7E6-F986-AEC5-75DC-E9D6BC4D6003}"/>
              </a:ext>
              <a:ext uri="{C183D7F6-B498-43B3-948B-1728B52AA6E4}">
                <adec:decorative xmlns:adec="http://schemas.microsoft.com/office/drawing/2017/decorative" val="0"/>
              </a:ext>
            </a:extLst>
          </p:cNvPr>
          <p:cNvSpPr/>
          <p:nvPr/>
        </p:nvSpPr>
        <p:spPr bwMode="auto">
          <a:xfrm>
            <a:off x="4649620" y="1141821"/>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a:defRPr/>
            </a:pPr>
            <a:r>
              <a:rPr lang="en-US" sz="1400" b="1" dirty="0">
                <a:solidFill>
                  <a:srgbClr val="000000"/>
                </a:solidFill>
                <a:cs typeface="Segoe UI" panose="020B0502040204020203" pitchFamily="34" charset="0"/>
              </a:rPr>
              <a:t>Identity and Access </a:t>
            </a:r>
          </a:p>
          <a:p>
            <a:pPr algn="ctr">
              <a:defRPr/>
            </a:pPr>
            <a:r>
              <a:rPr lang="en-US" sz="1400" b="1" dirty="0">
                <a:solidFill>
                  <a:srgbClr val="000000"/>
                </a:solidFill>
                <a:cs typeface="Segoe UI" panose="020B0502040204020203" pitchFamily="34" charset="0"/>
              </a:rPr>
              <a:t>Management + Network Security</a:t>
            </a:r>
          </a:p>
        </p:txBody>
      </p:sp>
      <p:sp>
        <p:nvSpPr>
          <p:cNvPr id="16" name="Rectangle: Rounded Corners 102">
            <a:extLst>
              <a:ext uri="{FF2B5EF4-FFF2-40B4-BE49-F238E27FC236}">
                <a16:creationId xmlns:a16="http://schemas.microsoft.com/office/drawing/2014/main" id="{AE7309DF-F97B-3C09-C07E-9B44783F2DB6}"/>
              </a:ext>
              <a:ext uri="{C183D7F6-B498-43B3-948B-1728B52AA6E4}">
                <adec:decorative xmlns:adec="http://schemas.microsoft.com/office/drawing/2017/decorative" val="0"/>
              </a:ext>
            </a:extLst>
          </p:cNvPr>
          <p:cNvSpPr/>
          <p:nvPr/>
        </p:nvSpPr>
        <p:spPr bwMode="auto">
          <a:xfrm>
            <a:off x="6897608" y="1141821"/>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defTabSz="914367"/>
            <a:r>
              <a:rPr lang="en-US" sz="1400" b="1">
                <a:solidFill>
                  <a:srgbClr val="000000"/>
                </a:solidFill>
                <a:cs typeface="Segoe UI" panose="020B0502040204020203" pitchFamily="34" charset="0"/>
              </a:rPr>
              <a:t>Compliance</a:t>
            </a:r>
          </a:p>
        </p:txBody>
      </p:sp>
      <p:sp>
        <p:nvSpPr>
          <p:cNvPr id="17" name="Rectangle: Rounded Corners 102">
            <a:extLst>
              <a:ext uri="{FF2B5EF4-FFF2-40B4-BE49-F238E27FC236}">
                <a16:creationId xmlns:a16="http://schemas.microsoft.com/office/drawing/2014/main" id="{835B7163-41A7-0921-3A76-AEFADE569382}"/>
              </a:ext>
              <a:ext uri="{C183D7F6-B498-43B3-948B-1728B52AA6E4}">
                <adec:decorative xmlns:adec="http://schemas.microsoft.com/office/drawing/2017/decorative" val="0"/>
              </a:ext>
            </a:extLst>
          </p:cNvPr>
          <p:cNvSpPr/>
          <p:nvPr/>
        </p:nvSpPr>
        <p:spPr bwMode="auto">
          <a:xfrm>
            <a:off x="136392" y="1141821"/>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a:defRPr/>
            </a:pPr>
            <a:r>
              <a:rPr lang="en-US" sz="1400" b="1">
                <a:solidFill>
                  <a:srgbClr val="000000"/>
                </a:solidFill>
                <a:cs typeface="Segoe UI" panose="020B0502040204020203" pitchFamily="34" charset="0"/>
              </a:rPr>
              <a:t>Security Posture Management </a:t>
            </a:r>
          </a:p>
        </p:txBody>
      </p:sp>
      <p:sp>
        <p:nvSpPr>
          <p:cNvPr id="18" name="Rounded Rectangle 1">
            <a:extLst>
              <a:ext uri="{FF2B5EF4-FFF2-40B4-BE49-F238E27FC236}">
                <a16:creationId xmlns:a16="http://schemas.microsoft.com/office/drawing/2014/main" id="{51580C54-54A6-64A0-8338-2CEE033720A5}"/>
              </a:ext>
            </a:extLst>
          </p:cNvPr>
          <p:cNvSpPr/>
          <p:nvPr/>
        </p:nvSpPr>
        <p:spPr>
          <a:xfrm>
            <a:off x="2556163" y="5337101"/>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Network </a:t>
            </a:r>
          </a:p>
          <a:p>
            <a:pPr algn="ctr">
              <a:defRPr/>
            </a:pPr>
            <a:r>
              <a:rPr lang="en-US" sz="1100" kern="0">
                <a:solidFill>
                  <a:srgbClr val="000000"/>
                </a:solidFill>
                <a:cs typeface="Segoe UI" panose="020B0502040204020203" pitchFamily="34" charset="0"/>
              </a:rPr>
              <a:t>Isolation (v-Net)</a:t>
            </a:r>
          </a:p>
        </p:txBody>
      </p:sp>
      <p:sp>
        <p:nvSpPr>
          <p:cNvPr id="19" name="Rounded Rectangle 2">
            <a:extLst>
              <a:ext uri="{FF2B5EF4-FFF2-40B4-BE49-F238E27FC236}">
                <a16:creationId xmlns:a16="http://schemas.microsoft.com/office/drawing/2014/main" id="{F80CBE46-8477-A868-EC92-EB73564B74AF}"/>
              </a:ext>
            </a:extLst>
          </p:cNvPr>
          <p:cNvSpPr/>
          <p:nvPr/>
        </p:nvSpPr>
        <p:spPr>
          <a:xfrm>
            <a:off x="2556163" y="3126709"/>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Customer </a:t>
            </a:r>
            <a:br>
              <a:rPr lang="en-US" sz="1100" kern="0">
                <a:solidFill>
                  <a:srgbClr val="000000"/>
                </a:solidFill>
                <a:cs typeface="Segoe UI" panose="020B0502040204020203" pitchFamily="34" charset="0"/>
              </a:rPr>
            </a:br>
            <a:r>
              <a:rPr lang="en-US" sz="1100" kern="0">
                <a:solidFill>
                  <a:srgbClr val="000000"/>
                </a:solidFill>
                <a:cs typeface="Segoe UI" panose="020B0502040204020203" pitchFamily="34" charset="0"/>
              </a:rPr>
              <a:t>managed keys</a:t>
            </a:r>
          </a:p>
        </p:txBody>
      </p:sp>
      <p:sp>
        <p:nvSpPr>
          <p:cNvPr id="20" name="Rounded Rectangle 3">
            <a:extLst>
              <a:ext uri="{FF2B5EF4-FFF2-40B4-BE49-F238E27FC236}">
                <a16:creationId xmlns:a16="http://schemas.microsoft.com/office/drawing/2014/main" id="{E1761539-7AF1-A314-C925-7430DE1A746F}"/>
              </a:ext>
            </a:extLst>
          </p:cNvPr>
          <p:cNvSpPr/>
          <p:nvPr/>
        </p:nvSpPr>
        <p:spPr>
          <a:xfrm>
            <a:off x="4800599" y="3114601"/>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IP Firewall</a:t>
            </a:r>
          </a:p>
        </p:txBody>
      </p:sp>
      <p:sp>
        <p:nvSpPr>
          <p:cNvPr id="21" name="Rounded Rectangle 4">
            <a:extLst>
              <a:ext uri="{FF2B5EF4-FFF2-40B4-BE49-F238E27FC236}">
                <a16:creationId xmlns:a16="http://schemas.microsoft.com/office/drawing/2014/main" id="{AE44F061-F87B-07C5-8E8B-731C1A890AFD}"/>
              </a:ext>
            </a:extLst>
          </p:cNvPr>
          <p:cNvSpPr/>
          <p:nvPr/>
        </p:nvSpPr>
        <p:spPr>
          <a:xfrm>
            <a:off x="9303327" y="3568954"/>
            <a:ext cx="1828800" cy="365760"/>
          </a:xfrm>
          <a:prstGeom prst="roundRect">
            <a:avLst>
              <a:gd name="adj" fmla="val 17622"/>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Microsoft Sentinel integration</a:t>
            </a:r>
          </a:p>
        </p:txBody>
      </p:sp>
      <p:sp>
        <p:nvSpPr>
          <p:cNvPr id="22" name="Rounded Rectangle 7">
            <a:extLst>
              <a:ext uri="{FF2B5EF4-FFF2-40B4-BE49-F238E27FC236}">
                <a16:creationId xmlns:a16="http://schemas.microsoft.com/office/drawing/2014/main" id="{EF49A249-64E5-53DA-8110-77336934CCEC}"/>
              </a:ext>
            </a:extLst>
          </p:cNvPr>
          <p:cNvSpPr/>
          <p:nvPr/>
        </p:nvSpPr>
        <p:spPr>
          <a:xfrm>
            <a:off x="2556163" y="4013933"/>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Microsoft Purview Data map integration </a:t>
            </a:r>
          </a:p>
        </p:txBody>
      </p:sp>
      <p:sp>
        <p:nvSpPr>
          <p:cNvPr id="23" name="Rounded Rectangle 18">
            <a:extLst>
              <a:ext uri="{FF2B5EF4-FFF2-40B4-BE49-F238E27FC236}">
                <a16:creationId xmlns:a16="http://schemas.microsoft.com/office/drawing/2014/main" id="{B2D34DAD-F91A-1989-07F6-7ECFFAF96495}"/>
              </a:ext>
            </a:extLst>
          </p:cNvPr>
          <p:cNvSpPr/>
          <p:nvPr/>
        </p:nvSpPr>
        <p:spPr>
          <a:xfrm>
            <a:off x="7048587" y="3114601"/>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Lockbox</a:t>
            </a:r>
          </a:p>
        </p:txBody>
      </p:sp>
      <p:sp>
        <p:nvSpPr>
          <p:cNvPr id="24" name="Rounded Rectangle 3">
            <a:extLst>
              <a:ext uri="{FF2B5EF4-FFF2-40B4-BE49-F238E27FC236}">
                <a16:creationId xmlns:a16="http://schemas.microsoft.com/office/drawing/2014/main" id="{1B186160-988E-1F61-9D64-5EEAB387C1E2}"/>
              </a:ext>
            </a:extLst>
          </p:cNvPr>
          <p:cNvSpPr/>
          <p:nvPr/>
        </p:nvSpPr>
        <p:spPr>
          <a:xfrm>
            <a:off x="4800599" y="3558509"/>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Resource sharing limits</a:t>
            </a:r>
          </a:p>
        </p:txBody>
      </p:sp>
      <p:sp>
        <p:nvSpPr>
          <p:cNvPr id="25" name="Rounded Rectangle 3">
            <a:extLst>
              <a:ext uri="{FF2B5EF4-FFF2-40B4-BE49-F238E27FC236}">
                <a16:creationId xmlns:a16="http://schemas.microsoft.com/office/drawing/2014/main" id="{46004108-6D05-0FA7-3A87-ED2A02D32171}"/>
              </a:ext>
            </a:extLst>
          </p:cNvPr>
          <p:cNvSpPr/>
          <p:nvPr/>
        </p:nvSpPr>
        <p:spPr>
          <a:xfrm>
            <a:off x="4800599" y="4002417"/>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IP cookie binding</a:t>
            </a:r>
          </a:p>
        </p:txBody>
      </p:sp>
      <p:sp>
        <p:nvSpPr>
          <p:cNvPr id="26" name="Rounded Rectangle 11">
            <a:extLst>
              <a:ext uri="{FF2B5EF4-FFF2-40B4-BE49-F238E27FC236}">
                <a16:creationId xmlns:a16="http://schemas.microsoft.com/office/drawing/2014/main" id="{2FDE2D1E-512C-6C40-A58B-EE3C71CDDB88}"/>
              </a:ext>
            </a:extLst>
          </p:cNvPr>
          <p:cNvSpPr/>
          <p:nvPr/>
        </p:nvSpPr>
        <p:spPr>
          <a:xfrm>
            <a:off x="9303327" y="3114601"/>
            <a:ext cx="1828800" cy="365760"/>
          </a:xfrm>
          <a:prstGeom prst="roundRect">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Enforceable solution checker</a:t>
            </a:r>
          </a:p>
        </p:txBody>
      </p:sp>
      <p:sp>
        <p:nvSpPr>
          <p:cNvPr id="27" name="Rounded Rectangle 2">
            <a:extLst>
              <a:ext uri="{FF2B5EF4-FFF2-40B4-BE49-F238E27FC236}">
                <a16:creationId xmlns:a16="http://schemas.microsoft.com/office/drawing/2014/main" id="{35350484-5DC5-22CF-FCAF-C4E2F7498251}"/>
              </a:ext>
            </a:extLst>
          </p:cNvPr>
          <p:cNvSpPr/>
          <p:nvPr/>
        </p:nvSpPr>
        <p:spPr>
          <a:xfrm>
            <a:off x="2556163" y="4472317"/>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Data policies (desktop flows)</a:t>
            </a:r>
          </a:p>
        </p:txBody>
      </p:sp>
      <p:sp>
        <p:nvSpPr>
          <p:cNvPr id="28" name="Rounded Rectangle 3">
            <a:extLst>
              <a:ext uri="{FF2B5EF4-FFF2-40B4-BE49-F238E27FC236}">
                <a16:creationId xmlns:a16="http://schemas.microsoft.com/office/drawing/2014/main" id="{94790062-1991-0E61-3AD0-2E6BA35B4DDF}"/>
              </a:ext>
            </a:extLst>
          </p:cNvPr>
          <p:cNvSpPr/>
          <p:nvPr/>
        </p:nvSpPr>
        <p:spPr>
          <a:xfrm>
            <a:off x="4800599" y="4890233"/>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Client app access</a:t>
            </a:r>
          </a:p>
        </p:txBody>
      </p:sp>
      <p:sp>
        <p:nvSpPr>
          <p:cNvPr id="29" name="Rounded Rectangle 7">
            <a:extLst>
              <a:ext uri="{FF2B5EF4-FFF2-40B4-BE49-F238E27FC236}">
                <a16:creationId xmlns:a16="http://schemas.microsoft.com/office/drawing/2014/main" id="{C2B816BC-4865-52EE-2EBD-7089368D7852}"/>
              </a:ext>
            </a:extLst>
          </p:cNvPr>
          <p:cNvSpPr/>
          <p:nvPr/>
        </p:nvSpPr>
        <p:spPr>
          <a:xfrm>
            <a:off x="2556163" y="3570025"/>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Data masking</a:t>
            </a:r>
          </a:p>
        </p:txBody>
      </p:sp>
      <p:sp>
        <p:nvSpPr>
          <p:cNvPr id="30" name="Rounded Rectangle 3">
            <a:extLst>
              <a:ext uri="{FF2B5EF4-FFF2-40B4-BE49-F238E27FC236}">
                <a16:creationId xmlns:a16="http://schemas.microsoft.com/office/drawing/2014/main" id="{C1D95FD0-5FE4-5BBB-D61B-C14BBDBA58DF}"/>
              </a:ext>
            </a:extLst>
          </p:cNvPr>
          <p:cNvSpPr/>
          <p:nvPr/>
        </p:nvSpPr>
        <p:spPr>
          <a:xfrm>
            <a:off x="4800599" y="4446325"/>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Privileged Access management</a:t>
            </a:r>
          </a:p>
        </p:txBody>
      </p:sp>
      <p:sp>
        <p:nvSpPr>
          <p:cNvPr id="31" name="Rounded Rectangle 3">
            <a:extLst>
              <a:ext uri="{FF2B5EF4-FFF2-40B4-BE49-F238E27FC236}">
                <a16:creationId xmlns:a16="http://schemas.microsoft.com/office/drawing/2014/main" id="{2775B322-BEE2-3E8C-0705-B7571EC35708}"/>
              </a:ext>
            </a:extLst>
          </p:cNvPr>
          <p:cNvSpPr/>
          <p:nvPr/>
        </p:nvSpPr>
        <p:spPr>
          <a:xfrm>
            <a:off x="4800599" y="5334142"/>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Conditional Access for Individual Canvas Apps</a:t>
            </a:r>
          </a:p>
        </p:txBody>
      </p:sp>
      <p:sp>
        <p:nvSpPr>
          <p:cNvPr id="32" name="Rounded Rectangle 2">
            <a:extLst>
              <a:ext uri="{FF2B5EF4-FFF2-40B4-BE49-F238E27FC236}">
                <a16:creationId xmlns:a16="http://schemas.microsoft.com/office/drawing/2014/main" id="{2AE5A49D-D684-3A65-4F0C-F1E773FB4A55}"/>
              </a:ext>
            </a:extLst>
          </p:cNvPr>
          <p:cNvSpPr/>
          <p:nvPr/>
        </p:nvSpPr>
        <p:spPr>
          <a:xfrm>
            <a:off x="2568863" y="4904117"/>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Advanced connector policies</a:t>
            </a:r>
          </a:p>
        </p:txBody>
      </p:sp>
      <p:sp>
        <p:nvSpPr>
          <p:cNvPr id="33" name="Rounded Rectangle 18">
            <a:extLst>
              <a:ext uri="{FF2B5EF4-FFF2-40B4-BE49-F238E27FC236}">
                <a16:creationId xmlns:a16="http://schemas.microsoft.com/office/drawing/2014/main" id="{A95B0C99-78CB-6BD1-23DA-68C7B1371F47}"/>
              </a:ext>
            </a:extLst>
          </p:cNvPr>
          <p:cNvSpPr/>
          <p:nvPr/>
        </p:nvSpPr>
        <p:spPr>
          <a:xfrm>
            <a:off x="7067174" y="3556217"/>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Dataverse audit</a:t>
            </a:r>
          </a:p>
        </p:txBody>
      </p:sp>
      <p:sp>
        <p:nvSpPr>
          <p:cNvPr id="34" name="Rounded Rectangle 2">
            <a:extLst>
              <a:ext uri="{FF2B5EF4-FFF2-40B4-BE49-F238E27FC236}">
                <a16:creationId xmlns:a16="http://schemas.microsoft.com/office/drawing/2014/main" id="{C5EE007C-B56D-6A5F-BAF8-B41E87E9EA07}"/>
              </a:ext>
            </a:extLst>
          </p:cNvPr>
          <p:cNvSpPr/>
          <p:nvPr/>
        </p:nvSpPr>
        <p:spPr>
          <a:xfrm>
            <a:off x="285576" y="3114601"/>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cs typeface="Segoe UI" panose="020B0502040204020203" pitchFamily="34" charset="0"/>
              </a:rPr>
              <a:t>Security guidance</a:t>
            </a:r>
          </a:p>
        </p:txBody>
      </p:sp>
    </p:spTree>
    <p:extLst>
      <p:ext uri="{BB962C8B-B14F-4D97-AF65-F5344CB8AC3E}">
        <p14:creationId xmlns:p14="http://schemas.microsoft.com/office/powerpoint/2010/main" val="2936937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38BCB-75FF-CF86-6B38-4D3DC90851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61E47A-B0C2-5515-7BA9-437947ED0C9F}"/>
              </a:ext>
            </a:extLst>
          </p:cNvPr>
          <p:cNvSpPr>
            <a:spLocks noGrp="1"/>
          </p:cNvSpPr>
          <p:nvPr>
            <p:ph type="body" sz="quarter" idx="10"/>
          </p:nvPr>
        </p:nvSpPr>
        <p:spPr/>
        <p:txBody>
          <a:bodyPr>
            <a:normAutofit/>
          </a:bodyPr>
          <a:lstStyle/>
          <a:p>
            <a:r>
              <a:rPr lang="en-US" dirty="0"/>
              <a:t>Managed Security in the Power Platform</a:t>
            </a:r>
          </a:p>
          <a:p>
            <a:endParaRPr lang="en-US" dirty="0"/>
          </a:p>
        </p:txBody>
      </p:sp>
      <p:pic>
        <p:nvPicPr>
          <p:cNvPr id="3" name="Picture 2" descr="power platform admin center screen shot">
            <a:extLst>
              <a:ext uri="{FF2B5EF4-FFF2-40B4-BE49-F238E27FC236}">
                <a16:creationId xmlns:a16="http://schemas.microsoft.com/office/drawing/2014/main" id="{808C0D56-F089-BCFC-D0A6-9CA276302EAC}"/>
              </a:ext>
            </a:extLst>
          </p:cNvPr>
          <p:cNvPicPr>
            <a:picLocks noChangeAspect="1"/>
          </p:cNvPicPr>
          <p:nvPr/>
        </p:nvPicPr>
        <p:blipFill>
          <a:blip r:embed="rId3"/>
          <a:srcRect l="321" r="321"/>
          <a:stretch/>
        </p:blipFill>
        <p:spPr>
          <a:xfrm>
            <a:off x="1219200" y="850071"/>
            <a:ext cx="8810215" cy="4985324"/>
          </a:xfrm>
          <a:prstGeom prst="roundRect">
            <a:avLst>
              <a:gd name="adj" fmla="val 2563"/>
            </a:avLst>
          </a:prstGeom>
          <a:effectLst>
            <a:outerShdw blurRad="190500" sx="102000" sy="102000" algn="ctr" rotWithShape="0">
              <a:prstClr val="black">
                <a:alpha val="10000"/>
              </a:prstClr>
            </a:outerShdw>
          </a:effectLst>
        </p:spPr>
      </p:pic>
    </p:spTree>
    <p:extLst>
      <p:ext uri="{BB962C8B-B14F-4D97-AF65-F5344CB8AC3E}">
        <p14:creationId xmlns:p14="http://schemas.microsoft.com/office/powerpoint/2010/main" val="379437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0C68D6B-0773-6D40-6398-D55C01F66C09}"/>
            </a:ext>
          </a:extLst>
        </p:cNvPr>
        <p:cNvGrpSpPr/>
        <p:nvPr/>
      </p:nvGrpSpPr>
      <p:grpSpPr>
        <a:xfrm>
          <a:off x="0" y="0"/>
          <a:ext cx="0" cy="0"/>
          <a:chOff x="0" y="0"/>
          <a:chExt cx="0" cy="0"/>
        </a:xfrm>
      </p:grpSpPr>
      <p:pic>
        <p:nvPicPr>
          <p:cNvPr id="2" name="Imagen 2">
            <a:extLst>
              <a:ext uri="{FF2B5EF4-FFF2-40B4-BE49-F238E27FC236}">
                <a16:creationId xmlns:a16="http://schemas.microsoft.com/office/drawing/2014/main" id="{AC2B7186-DA90-9BFA-7A90-071CBCF8877B}"/>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6096000" y="86259"/>
            <a:ext cx="2901552" cy="2904591"/>
          </a:xfrm>
          <a:prstGeom prst="rect">
            <a:avLst/>
          </a:prstGeom>
        </p:spPr>
      </p:pic>
      <p:sp>
        <p:nvSpPr>
          <p:cNvPr id="3" name="Marcador de texto 4">
            <a:extLst>
              <a:ext uri="{FF2B5EF4-FFF2-40B4-BE49-F238E27FC236}">
                <a16:creationId xmlns:a16="http://schemas.microsoft.com/office/drawing/2014/main" id="{D4801EE9-8BC3-CCA6-CB32-4B319640C915}"/>
              </a:ext>
            </a:extLst>
          </p:cNvPr>
          <p:cNvSpPr txBox="1">
            <a:spLocks/>
          </p:cNvSpPr>
          <p:nvPr/>
        </p:nvSpPr>
        <p:spPr>
          <a:xfrm>
            <a:off x="4419600" y="3321389"/>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effectLst/>
                <a:uLnTx/>
                <a:uFillTx/>
                <a:ea typeface="+mn-ea"/>
                <a:cs typeface="Segoe UI Semibold" panose="020B0702040204020203" pitchFamily="34" charset="0"/>
              </a:rPr>
              <a:t>Demo #1: </a:t>
            </a:r>
            <a:r>
              <a:rPr lang="en-US" sz="3600" b="1" dirty="0">
                <a:cs typeface="Segoe UI Semibold" panose="020B0702040204020203" pitchFamily="34" charset="0"/>
              </a:rPr>
              <a:t>Power Platform Security Hub</a:t>
            </a:r>
            <a:endParaRPr kumimoji="0" lang="en-US" sz="3600" b="1" i="0" u="none" strike="noStrike" kern="1200" cap="none" spc="0" normalizeH="0" baseline="0" noProof="0" dirty="0">
              <a:ln>
                <a:noFill/>
              </a:ln>
              <a:effectLst/>
              <a:uLnTx/>
              <a:uFillTx/>
              <a:cs typeface="Segoe UI Semibold" panose="020B07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effectLst/>
              <a:uLnTx/>
              <a:uFillTx/>
              <a:ea typeface="+mn-ea"/>
              <a:cs typeface="+mn-cs"/>
            </a:endParaRPr>
          </a:p>
        </p:txBody>
      </p:sp>
      <p:pic>
        <p:nvPicPr>
          <p:cNvPr id="4" name="Picture 18" descr="Minion clipart transparent background, Minion transparent background  Transparent FREE for download on WebStockReview 2021">
            <a:extLst>
              <a:ext uri="{FF2B5EF4-FFF2-40B4-BE49-F238E27FC236}">
                <a16:creationId xmlns:a16="http://schemas.microsoft.com/office/drawing/2014/main" id="{200E7606-4FA7-8ED5-14ED-E4AE19049C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6259"/>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338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EE3A-32D6-3382-A3C4-7A451422B85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0962F-D6D6-C7B4-5BF3-8E87373C14F9}"/>
              </a:ext>
            </a:extLst>
          </p:cNvPr>
          <p:cNvSpPr>
            <a:spLocks noGrp="1"/>
          </p:cNvSpPr>
          <p:nvPr>
            <p:ph type="body" sz="quarter" idx="10"/>
          </p:nvPr>
        </p:nvSpPr>
        <p:spPr/>
        <p:txBody>
          <a:bodyPr>
            <a:normAutofit/>
          </a:bodyPr>
          <a:lstStyle/>
          <a:p>
            <a:r>
              <a:rPr lang="en-US" dirty="0"/>
              <a:t>Identity &amp; Access Management</a:t>
            </a:r>
          </a:p>
          <a:p>
            <a:endParaRPr lang="en-US" dirty="0"/>
          </a:p>
        </p:txBody>
      </p:sp>
      <p:grpSp>
        <p:nvGrpSpPr>
          <p:cNvPr id="4" name="Group 3">
            <a:extLst>
              <a:ext uri="{FF2B5EF4-FFF2-40B4-BE49-F238E27FC236}">
                <a16:creationId xmlns:a16="http://schemas.microsoft.com/office/drawing/2014/main" id="{6DF7801E-B783-9CBF-ACC1-E16FE5104F8C}"/>
              </a:ext>
            </a:extLst>
          </p:cNvPr>
          <p:cNvGrpSpPr/>
          <p:nvPr/>
        </p:nvGrpSpPr>
        <p:grpSpPr>
          <a:xfrm>
            <a:off x="304800" y="1619250"/>
            <a:ext cx="2461366" cy="2150833"/>
            <a:chOff x="6941" y="1161888"/>
            <a:chExt cx="2461366" cy="1837358"/>
          </a:xfrm>
        </p:grpSpPr>
        <p:sp>
          <p:nvSpPr>
            <p:cNvPr id="5" name="Rectangle: Top Corners Rounded 4">
              <a:extLst>
                <a:ext uri="{FF2B5EF4-FFF2-40B4-BE49-F238E27FC236}">
                  <a16:creationId xmlns:a16="http://schemas.microsoft.com/office/drawing/2014/main" id="{9029B235-F1A1-B3AD-242A-57687CF79B8B}"/>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p:spPr>
          <p:txBody>
            <a:bodyPr/>
            <a:lstStyle/>
            <a:p>
              <a:pPr>
                <a:defRPr/>
              </a:pPr>
              <a:endParaRPr lang="en-US" kern="0">
                <a:solidFill>
                  <a:prstClr val="black">
                    <a:hueOff val="0"/>
                    <a:satOff val="0"/>
                    <a:lumOff val="0"/>
                    <a:alphaOff val="0"/>
                  </a:prstClr>
                </a:solidFill>
                <a:cs typeface="Segoe UI" panose="020B0502040204020203" pitchFamily="34" charset="0"/>
              </a:endParaRPr>
            </a:p>
          </p:txBody>
        </p:sp>
        <p:sp>
          <p:nvSpPr>
            <p:cNvPr id="6" name="Rectangle: Top Corners Rounded 4">
              <a:extLst>
                <a:ext uri="{FF2B5EF4-FFF2-40B4-BE49-F238E27FC236}">
                  <a16:creationId xmlns:a16="http://schemas.microsoft.com/office/drawing/2014/main" id="{646712D3-78AC-35C3-A641-FBA172BD6D20}"/>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285750" indent="-285750" defTabSz="914367">
                <a:spcAft>
                  <a:spcPts val="300"/>
                </a:spcAft>
                <a:buFont typeface="Arial" panose="020B0604020202020204" pitchFamily="34" charset="0"/>
                <a:buChar char="•"/>
                <a:defRPr/>
              </a:pPr>
              <a:r>
                <a:rPr lang="en-US" sz="1400" dirty="0">
                  <a:solidFill>
                    <a:srgbClr val="000000"/>
                  </a:solidFill>
                </a:rPr>
                <a:t>Full support for Microsoft Entra-based identities and access controls</a:t>
              </a:r>
            </a:p>
            <a:p>
              <a:pPr marL="285750" indent="-285750" defTabSz="914367">
                <a:spcAft>
                  <a:spcPts val="300"/>
                </a:spcAft>
                <a:buFont typeface="Arial" panose="020B0604020202020204" pitchFamily="34" charset="0"/>
                <a:buChar char="•"/>
                <a:defRPr/>
              </a:pPr>
              <a:r>
                <a:rPr lang="en-US" sz="1400" dirty="0">
                  <a:solidFill>
                    <a:srgbClr val="000000"/>
                  </a:solidFill>
                </a:rPr>
                <a:t>Security groups native integration</a:t>
              </a:r>
            </a:p>
            <a:p>
              <a:pPr marL="285750" indent="-285750" defTabSz="914367">
                <a:spcAft>
                  <a:spcPts val="300"/>
                </a:spcAft>
                <a:buFont typeface="Arial" panose="020B0604020202020204" pitchFamily="34" charset="0"/>
                <a:buChar char="•"/>
                <a:defRPr/>
              </a:pPr>
              <a:r>
                <a:rPr lang="en-US" sz="1400" dirty="0">
                  <a:solidFill>
                    <a:srgbClr val="000000"/>
                  </a:solidFill>
                </a:rPr>
                <a:t>Automatically block access if suspicious activities are detected</a:t>
              </a:r>
            </a:p>
          </p:txBody>
        </p:sp>
      </p:grpSp>
      <p:grpSp>
        <p:nvGrpSpPr>
          <p:cNvPr id="7" name="Group 6">
            <a:extLst>
              <a:ext uri="{FF2B5EF4-FFF2-40B4-BE49-F238E27FC236}">
                <a16:creationId xmlns:a16="http://schemas.microsoft.com/office/drawing/2014/main" id="{565BEE4D-36EA-C99F-5CF7-F8EA41FF0AF6}"/>
              </a:ext>
            </a:extLst>
          </p:cNvPr>
          <p:cNvGrpSpPr/>
          <p:nvPr/>
        </p:nvGrpSpPr>
        <p:grpSpPr>
          <a:xfrm>
            <a:off x="304800" y="3770083"/>
            <a:ext cx="2461366" cy="790063"/>
            <a:chOff x="6941" y="2999246"/>
            <a:chExt cx="2461366" cy="790063"/>
          </a:xfrm>
        </p:grpSpPr>
        <p:sp>
          <p:nvSpPr>
            <p:cNvPr id="8" name="Rectangle 7">
              <a:extLst>
                <a:ext uri="{FF2B5EF4-FFF2-40B4-BE49-F238E27FC236}">
                  <a16:creationId xmlns:a16="http://schemas.microsoft.com/office/drawing/2014/main" id="{8C42390A-E647-77D5-21D9-6D29907A3C73}"/>
                </a:ext>
              </a:extLst>
            </p:cNvPr>
            <p:cNvSpPr/>
            <p:nvPr/>
          </p:nvSpPr>
          <p:spPr>
            <a:xfrm>
              <a:off x="6941" y="2999246"/>
              <a:ext cx="2461366" cy="790063"/>
            </a:xfrm>
            <a:prstGeom prst="rect">
              <a:avLst/>
            </a:prstGeom>
            <a:solidFill>
              <a:srgbClr val="ED7D31">
                <a:hueOff val="0"/>
                <a:satOff val="0"/>
                <a:lumOff val="0"/>
                <a:alphaOff val="0"/>
              </a:srgbClr>
            </a:solidFill>
            <a:ln w="12700" cap="flat" cmpd="sng" algn="ctr">
              <a:solidFill>
                <a:srgbClr val="ED7D31">
                  <a:hueOff val="0"/>
                  <a:satOff val="0"/>
                  <a:lumOff val="0"/>
                  <a:alphaOff val="0"/>
                </a:srgbClr>
              </a:solidFill>
              <a:prstDash val="solid"/>
              <a:miter lim="800000"/>
            </a:ln>
            <a:effectLst/>
          </p:spPr>
          <p:txBody>
            <a:bodyPr/>
            <a:lstStyle/>
            <a:p>
              <a:pPr>
                <a:defRPr/>
              </a:pPr>
              <a:endParaRPr lang="en-US" b="1" kern="0">
                <a:solidFill>
                  <a:schemeClr val="bg1"/>
                </a:solidFill>
                <a:cs typeface="Segoe UI" panose="020B0502040204020203" pitchFamily="34" charset="0"/>
              </a:endParaRPr>
            </a:p>
          </p:txBody>
        </p:sp>
        <p:sp>
          <p:nvSpPr>
            <p:cNvPr id="9" name="TextBox 8">
              <a:extLst>
                <a:ext uri="{FF2B5EF4-FFF2-40B4-BE49-F238E27FC236}">
                  <a16:creationId xmlns:a16="http://schemas.microsoft.com/office/drawing/2014/main" id="{C4144F86-69FC-936C-C0D2-8F2FECF208B7}"/>
                </a:ext>
              </a:extLst>
            </p:cNvPr>
            <p:cNvSpPr txBox="1"/>
            <p:nvPr/>
          </p:nvSpPr>
          <p:spPr>
            <a:xfrm>
              <a:off x="6941"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b="1" kern="0" dirty="0">
                  <a:solidFill>
                    <a:schemeClr val="bg1"/>
                  </a:solidFill>
                  <a:cs typeface="Segoe UI" panose="020B0502040204020203" pitchFamily="34" charset="0"/>
                </a:rPr>
                <a:t>Authentication</a:t>
              </a:r>
            </a:p>
          </p:txBody>
        </p:sp>
      </p:grpSp>
      <p:grpSp>
        <p:nvGrpSpPr>
          <p:cNvPr id="10" name="Group 9">
            <a:extLst>
              <a:ext uri="{FF2B5EF4-FFF2-40B4-BE49-F238E27FC236}">
                <a16:creationId xmlns:a16="http://schemas.microsoft.com/office/drawing/2014/main" id="{64D76654-C6BE-0EA0-636D-D36880276022}"/>
              </a:ext>
            </a:extLst>
          </p:cNvPr>
          <p:cNvGrpSpPr/>
          <p:nvPr/>
        </p:nvGrpSpPr>
        <p:grpSpPr>
          <a:xfrm>
            <a:off x="3066660" y="1619250"/>
            <a:ext cx="2461366" cy="2150833"/>
            <a:chOff x="2884829" y="1161888"/>
            <a:chExt cx="2461366" cy="1837358"/>
          </a:xfrm>
        </p:grpSpPr>
        <p:sp>
          <p:nvSpPr>
            <p:cNvPr id="11" name="Rectangle: Top Corners Rounded 10">
              <a:extLst>
                <a:ext uri="{FF2B5EF4-FFF2-40B4-BE49-F238E27FC236}">
                  <a16:creationId xmlns:a16="http://schemas.microsoft.com/office/drawing/2014/main" id="{375ADE92-D508-BF84-A013-2CE4E21DAFD2}"/>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p:spPr>
          <p:txBody>
            <a:bodyPr/>
            <a:lstStyle/>
            <a:p>
              <a:pPr>
                <a:defRPr/>
              </a:pPr>
              <a:endParaRPr lang="en-US" kern="0">
                <a:solidFill>
                  <a:prstClr val="black">
                    <a:hueOff val="0"/>
                    <a:satOff val="0"/>
                    <a:lumOff val="0"/>
                    <a:alphaOff val="0"/>
                  </a:prstClr>
                </a:solidFill>
                <a:cs typeface="Segoe UI" panose="020B0502040204020203" pitchFamily="34" charset="0"/>
              </a:endParaRPr>
            </a:p>
          </p:txBody>
        </p:sp>
        <p:sp>
          <p:nvSpPr>
            <p:cNvPr id="12" name="Rectangle: Top Corners Rounded 4">
              <a:extLst>
                <a:ext uri="{FF2B5EF4-FFF2-40B4-BE49-F238E27FC236}">
                  <a16:creationId xmlns:a16="http://schemas.microsoft.com/office/drawing/2014/main" id="{0CC965ED-0636-1445-61A2-0E34B28C772D}"/>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285750" indent="-285750" defTabSz="914367">
                <a:spcAft>
                  <a:spcPts val="300"/>
                </a:spcAft>
                <a:buFont typeface="Arial" panose="020B0604020202020204" pitchFamily="34" charset="0"/>
                <a:buChar char="•"/>
                <a:defRPr/>
              </a:pPr>
              <a:r>
                <a:rPr lang="en-US" sz="1400" dirty="0">
                  <a:solidFill>
                    <a:srgbClr val="000000"/>
                  </a:solidFill>
                </a:rPr>
                <a:t>Make  decisions and enforce organization policies regarding user/group membership, IP location, device, risk detection, etc.</a:t>
              </a:r>
            </a:p>
          </p:txBody>
        </p:sp>
      </p:grpSp>
      <p:grpSp>
        <p:nvGrpSpPr>
          <p:cNvPr id="13" name="Group 12">
            <a:extLst>
              <a:ext uri="{FF2B5EF4-FFF2-40B4-BE49-F238E27FC236}">
                <a16:creationId xmlns:a16="http://schemas.microsoft.com/office/drawing/2014/main" id="{5211D080-57B1-2C16-A473-D6649DEC3903}"/>
              </a:ext>
            </a:extLst>
          </p:cNvPr>
          <p:cNvGrpSpPr/>
          <p:nvPr/>
        </p:nvGrpSpPr>
        <p:grpSpPr>
          <a:xfrm>
            <a:off x="3066660" y="3770083"/>
            <a:ext cx="2461366" cy="790063"/>
            <a:chOff x="2884829" y="2999246"/>
            <a:chExt cx="2461366" cy="790063"/>
          </a:xfrm>
        </p:grpSpPr>
        <p:sp>
          <p:nvSpPr>
            <p:cNvPr id="14" name="Rectangle 13">
              <a:extLst>
                <a:ext uri="{FF2B5EF4-FFF2-40B4-BE49-F238E27FC236}">
                  <a16:creationId xmlns:a16="http://schemas.microsoft.com/office/drawing/2014/main" id="{0346C842-598D-46A1-6562-0B7DFB5C457D}"/>
                </a:ext>
              </a:extLst>
            </p:cNvPr>
            <p:cNvSpPr/>
            <p:nvPr/>
          </p:nvSpPr>
          <p:spPr>
            <a:xfrm>
              <a:off x="2884829" y="2999246"/>
              <a:ext cx="2461366" cy="790063"/>
            </a:xfrm>
            <a:prstGeom prst="rect">
              <a:avLst/>
            </a:prstGeom>
            <a:solidFill>
              <a:srgbClr val="A5A5A5">
                <a:hueOff val="0"/>
                <a:satOff val="0"/>
                <a:lumOff val="0"/>
                <a:alphaOff val="0"/>
              </a:srgbClr>
            </a:solidFill>
            <a:ln w="12700" cap="flat" cmpd="sng" algn="ctr">
              <a:solidFill>
                <a:srgbClr val="A5A5A5">
                  <a:hueOff val="0"/>
                  <a:satOff val="0"/>
                  <a:lumOff val="0"/>
                  <a:alphaOff val="0"/>
                </a:srgbClr>
              </a:solidFill>
              <a:prstDash val="solid"/>
              <a:miter lim="800000"/>
            </a:ln>
            <a:effectLst/>
          </p:spPr>
          <p:txBody>
            <a:bodyPr/>
            <a:lstStyle/>
            <a:p>
              <a:pPr>
                <a:defRPr/>
              </a:pPr>
              <a:endParaRPr lang="en-US" b="1" kern="0">
                <a:solidFill>
                  <a:schemeClr val="bg1"/>
                </a:solidFill>
                <a:cs typeface="Segoe UI" panose="020B0502040204020203" pitchFamily="34" charset="0"/>
              </a:endParaRPr>
            </a:p>
          </p:txBody>
        </p:sp>
        <p:sp>
          <p:nvSpPr>
            <p:cNvPr id="15" name="TextBox 14">
              <a:extLst>
                <a:ext uri="{FF2B5EF4-FFF2-40B4-BE49-F238E27FC236}">
                  <a16:creationId xmlns:a16="http://schemas.microsoft.com/office/drawing/2014/main" id="{F0AFCFDA-91E9-A5E5-7591-DBB18F15E5D6}"/>
                </a:ext>
              </a:extLst>
            </p:cNvPr>
            <p:cNvSpPr txBox="1"/>
            <p:nvPr/>
          </p:nvSpPr>
          <p:spPr>
            <a:xfrm>
              <a:off x="2884829"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b="1" kern="0" dirty="0">
                  <a:solidFill>
                    <a:schemeClr val="bg1"/>
                  </a:solidFill>
                  <a:cs typeface="Segoe UI" panose="020B0502040204020203" pitchFamily="34" charset="0"/>
                </a:rPr>
                <a:t>Conditional Access</a:t>
              </a:r>
            </a:p>
          </p:txBody>
        </p:sp>
      </p:grpSp>
      <p:grpSp>
        <p:nvGrpSpPr>
          <p:cNvPr id="16" name="Group 15">
            <a:extLst>
              <a:ext uri="{FF2B5EF4-FFF2-40B4-BE49-F238E27FC236}">
                <a16:creationId xmlns:a16="http://schemas.microsoft.com/office/drawing/2014/main" id="{0747D3A5-A002-F00E-5C95-DBC67D49179A}"/>
              </a:ext>
            </a:extLst>
          </p:cNvPr>
          <p:cNvGrpSpPr/>
          <p:nvPr/>
        </p:nvGrpSpPr>
        <p:grpSpPr>
          <a:xfrm>
            <a:off x="5803869" y="1619250"/>
            <a:ext cx="2461366" cy="2150833"/>
            <a:chOff x="5762718" y="1161888"/>
            <a:chExt cx="2461366" cy="1837358"/>
          </a:xfrm>
        </p:grpSpPr>
        <p:sp>
          <p:nvSpPr>
            <p:cNvPr id="17" name="Rectangle: Top Corners Rounded 16">
              <a:extLst>
                <a:ext uri="{FF2B5EF4-FFF2-40B4-BE49-F238E27FC236}">
                  <a16:creationId xmlns:a16="http://schemas.microsoft.com/office/drawing/2014/main" id="{FA62CADE-8EC4-743F-234F-ADB845EC8550}"/>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p:spPr>
          <p:txBody>
            <a:bodyPr/>
            <a:lstStyle/>
            <a:p>
              <a:pPr>
                <a:defRPr/>
              </a:pPr>
              <a:endParaRPr lang="en-US" kern="0">
                <a:solidFill>
                  <a:prstClr val="black">
                    <a:hueOff val="0"/>
                    <a:satOff val="0"/>
                    <a:lumOff val="0"/>
                    <a:alphaOff val="0"/>
                  </a:prstClr>
                </a:solidFill>
                <a:cs typeface="Segoe UI" panose="020B0502040204020203" pitchFamily="34" charset="0"/>
              </a:endParaRPr>
            </a:p>
          </p:txBody>
        </p:sp>
        <p:sp>
          <p:nvSpPr>
            <p:cNvPr id="18" name="Rectangle: Top Corners Rounded 4">
              <a:extLst>
                <a:ext uri="{FF2B5EF4-FFF2-40B4-BE49-F238E27FC236}">
                  <a16:creationId xmlns:a16="http://schemas.microsoft.com/office/drawing/2014/main" id="{87C16B37-2463-BCE1-D593-AFB76C0EC40D}"/>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285750" indent="-285750" defTabSz="914367">
                <a:spcAft>
                  <a:spcPts val="300"/>
                </a:spcAft>
                <a:buFont typeface="Arial" panose="020B0604020202020204" pitchFamily="34" charset="0"/>
                <a:buChar char="•"/>
                <a:defRPr/>
              </a:pPr>
              <a:r>
                <a:rPr lang="en-US" sz="1400" dirty="0">
                  <a:solidFill>
                    <a:srgbClr val="000000"/>
                  </a:solidFill>
                </a:rPr>
                <a:t>Restrict to/from cross tenant connections established via Power Platform Apps and flows </a:t>
              </a:r>
            </a:p>
            <a:p>
              <a:pPr marL="285750" indent="-285750" defTabSz="914367">
                <a:spcAft>
                  <a:spcPts val="300"/>
                </a:spcAft>
                <a:buFont typeface="Arial" panose="020B0604020202020204" pitchFamily="34" charset="0"/>
                <a:buChar char="•"/>
                <a:defRPr/>
              </a:pPr>
              <a:r>
                <a:rPr lang="en-US" sz="1400" dirty="0">
                  <a:solidFill>
                    <a:srgbClr val="000000"/>
                  </a:solidFill>
                </a:rPr>
                <a:t>Allow exception through rules based on business needs</a:t>
              </a:r>
              <a:endParaRPr lang="es-ES" sz="1400" kern="0" dirty="0">
                <a:solidFill>
                  <a:prstClr val="black">
                    <a:hueOff val="0"/>
                    <a:satOff val="0"/>
                    <a:lumOff val="0"/>
                    <a:alphaOff val="0"/>
                  </a:prstClr>
                </a:solidFill>
                <a:cs typeface="Segoe UI" panose="020B0502040204020203" pitchFamily="34" charset="0"/>
              </a:endParaRPr>
            </a:p>
          </p:txBody>
        </p:sp>
      </p:grpSp>
      <p:grpSp>
        <p:nvGrpSpPr>
          <p:cNvPr id="19" name="Group 18">
            <a:extLst>
              <a:ext uri="{FF2B5EF4-FFF2-40B4-BE49-F238E27FC236}">
                <a16:creationId xmlns:a16="http://schemas.microsoft.com/office/drawing/2014/main" id="{EAF6565A-B18B-E314-5330-A4941E1372F5}"/>
              </a:ext>
            </a:extLst>
          </p:cNvPr>
          <p:cNvGrpSpPr/>
          <p:nvPr/>
        </p:nvGrpSpPr>
        <p:grpSpPr>
          <a:xfrm>
            <a:off x="5803869" y="3770083"/>
            <a:ext cx="2461366" cy="790063"/>
            <a:chOff x="5762718" y="2999246"/>
            <a:chExt cx="2461366" cy="790063"/>
          </a:xfrm>
        </p:grpSpPr>
        <p:sp>
          <p:nvSpPr>
            <p:cNvPr id="20" name="Rectangle 19">
              <a:extLst>
                <a:ext uri="{FF2B5EF4-FFF2-40B4-BE49-F238E27FC236}">
                  <a16:creationId xmlns:a16="http://schemas.microsoft.com/office/drawing/2014/main" id="{8E7151D1-F0CF-0897-10E7-1B8BE61E1AB2}"/>
                </a:ext>
              </a:extLst>
            </p:cNvPr>
            <p:cNvSpPr/>
            <p:nvPr/>
          </p:nvSpPr>
          <p:spPr>
            <a:xfrm>
              <a:off x="5762718" y="2999246"/>
              <a:ext cx="2461366" cy="790063"/>
            </a:xfrm>
            <a:prstGeom prst="rect">
              <a:avLst/>
            </a:prstGeom>
            <a:solidFill>
              <a:srgbClr val="FFC000">
                <a:hueOff val="0"/>
                <a:satOff val="0"/>
                <a:lumOff val="0"/>
                <a:alphaOff val="0"/>
              </a:srgbClr>
            </a:solidFill>
            <a:ln w="12700" cap="flat" cmpd="sng" algn="ctr">
              <a:solidFill>
                <a:srgbClr val="FFC000">
                  <a:hueOff val="0"/>
                  <a:satOff val="0"/>
                  <a:lumOff val="0"/>
                  <a:alphaOff val="0"/>
                </a:srgbClr>
              </a:solidFill>
              <a:prstDash val="solid"/>
              <a:miter lim="800000"/>
            </a:ln>
            <a:effectLst/>
          </p:spPr>
          <p:txBody>
            <a:bodyPr/>
            <a:lstStyle/>
            <a:p>
              <a:pPr>
                <a:defRPr/>
              </a:pPr>
              <a:endParaRPr lang="en-US" b="1" kern="0">
                <a:solidFill>
                  <a:schemeClr val="bg1"/>
                </a:solidFill>
                <a:cs typeface="Segoe UI" panose="020B0502040204020203" pitchFamily="34" charset="0"/>
              </a:endParaRPr>
            </a:p>
          </p:txBody>
        </p:sp>
        <p:sp>
          <p:nvSpPr>
            <p:cNvPr id="21" name="TextBox 20">
              <a:extLst>
                <a:ext uri="{FF2B5EF4-FFF2-40B4-BE49-F238E27FC236}">
                  <a16:creationId xmlns:a16="http://schemas.microsoft.com/office/drawing/2014/main" id="{E61EC434-E7F7-2764-3011-4737E6DA9C01}"/>
                </a:ext>
              </a:extLst>
            </p:cNvPr>
            <p:cNvSpPr txBox="1"/>
            <p:nvPr/>
          </p:nvSpPr>
          <p:spPr>
            <a:xfrm>
              <a:off x="5762718"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b="1" kern="0" dirty="0">
                  <a:solidFill>
                    <a:schemeClr val="bg1"/>
                  </a:solidFill>
                  <a:cs typeface="Segoe UI" panose="020B0502040204020203" pitchFamily="34" charset="0"/>
                </a:rPr>
                <a:t>Tenant Isolation</a:t>
              </a:r>
            </a:p>
          </p:txBody>
        </p:sp>
      </p:grpSp>
      <p:grpSp>
        <p:nvGrpSpPr>
          <p:cNvPr id="22" name="Group 21">
            <a:extLst>
              <a:ext uri="{FF2B5EF4-FFF2-40B4-BE49-F238E27FC236}">
                <a16:creationId xmlns:a16="http://schemas.microsoft.com/office/drawing/2014/main" id="{FEB9098D-E92D-64BC-3F8A-FD12C4BF2C10}"/>
              </a:ext>
            </a:extLst>
          </p:cNvPr>
          <p:cNvGrpSpPr/>
          <p:nvPr/>
        </p:nvGrpSpPr>
        <p:grpSpPr>
          <a:xfrm>
            <a:off x="8544587" y="1615647"/>
            <a:ext cx="2461366" cy="2150833"/>
            <a:chOff x="8640607" y="1161888"/>
            <a:chExt cx="2461366" cy="1837358"/>
          </a:xfrm>
        </p:grpSpPr>
        <p:sp>
          <p:nvSpPr>
            <p:cNvPr id="23" name="Rectangle: Top Corners Rounded 22">
              <a:extLst>
                <a:ext uri="{FF2B5EF4-FFF2-40B4-BE49-F238E27FC236}">
                  <a16:creationId xmlns:a16="http://schemas.microsoft.com/office/drawing/2014/main" id="{7F4D52C1-4C62-3484-F836-176F6AAD1E0E}"/>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p:spPr>
          <p:txBody>
            <a:bodyPr/>
            <a:lstStyle/>
            <a:p>
              <a:pPr>
                <a:defRPr/>
              </a:pPr>
              <a:endParaRPr lang="en-US" kern="0">
                <a:solidFill>
                  <a:prstClr val="black">
                    <a:hueOff val="0"/>
                    <a:satOff val="0"/>
                    <a:lumOff val="0"/>
                    <a:alphaOff val="0"/>
                  </a:prstClr>
                </a:solidFill>
                <a:cs typeface="Segoe UI" panose="020B0502040204020203" pitchFamily="34" charset="0"/>
              </a:endParaRPr>
            </a:p>
          </p:txBody>
        </p:sp>
        <p:sp>
          <p:nvSpPr>
            <p:cNvPr id="24" name="Rectangle: Top Corners Rounded 4">
              <a:extLst>
                <a:ext uri="{FF2B5EF4-FFF2-40B4-BE49-F238E27FC236}">
                  <a16:creationId xmlns:a16="http://schemas.microsoft.com/office/drawing/2014/main" id="{31302DD9-DE1B-D903-0F71-46D1C9E1786B}"/>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285750" indent="-285750" defTabSz="914367">
                <a:spcAft>
                  <a:spcPts val="300"/>
                </a:spcAft>
                <a:buFont typeface="Arial" panose="020B0604020202020204" pitchFamily="34" charset="0"/>
                <a:buChar char="•"/>
                <a:defRPr/>
              </a:pPr>
              <a:r>
                <a:rPr lang="en-US" sz="1400" dirty="0">
                  <a:solidFill>
                    <a:srgbClr val="000000"/>
                  </a:solidFill>
                </a:rPr>
                <a:t>Force user re-authentication as response to events such: password change/reset, user account deleted , auth token refresh, MFA enabled, </a:t>
              </a:r>
              <a:r>
                <a:rPr lang="en-US" sz="1400" dirty="0" err="1">
                  <a:solidFill>
                    <a:srgbClr val="000000"/>
                  </a:solidFill>
                </a:rPr>
                <a:t>etc</a:t>
              </a:r>
              <a:endParaRPr lang="en-US" sz="1400" dirty="0">
                <a:solidFill>
                  <a:srgbClr val="000000"/>
                </a:solidFill>
              </a:endParaRPr>
            </a:p>
            <a:p>
              <a:pPr marL="285750" indent="-285750" defTabSz="914367">
                <a:spcAft>
                  <a:spcPts val="300"/>
                </a:spcAft>
                <a:buFont typeface="Arial" panose="020B0604020202020204" pitchFamily="34" charset="0"/>
                <a:buChar char="•"/>
                <a:defRPr/>
              </a:pPr>
              <a:r>
                <a:rPr lang="en-US" sz="1400" dirty="0">
                  <a:solidFill>
                    <a:srgbClr val="000000"/>
                  </a:solidFill>
                </a:rPr>
                <a:t>In preview for Dataverse (To enable it, you need to reach Microsoft support)</a:t>
              </a:r>
              <a:endParaRPr lang="fr-FR" sz="1200" kern="0" dirty="0">
                <a:solidFill>
                  <a:sysClr val="windowText" lastClr="000000">
                    <a:hueOff val="0"/>
                    <a:satOff val="0"/>
                    <a:lumOff val="0"/>
                    <a:alphaOff val="0"/>
                  </a:sysClr>
                </a:solidFill>
                <a:cs typeface="Segoe UI" panose="020B0502040204020203" pitchFamily="34" charset="0"/>
              </a:endParaRPr>
            </a:p>
          </p:txBody>
        </p:sp>
      </p:grpSp>
      <p:grpSp>
        <p:nvGrpSpPr>
          <p:cNvPr id="25" name="Group 24">
            <a:extLst>
              <a:ext uri="{FF2B5EF4-FFF2-40B4-BE49-F238E27FC236}">
                <a16:creationId xmlns:a16="http://schemas.microsoft.com/office/drawing/2014/main" id="{8AF4F97B-7972-C677-55A8-2AB745B992DA}"/>
              </a:ext>
            </a:extLst>
          </p:cNvPr>
          <p:cNvGrpSpPr/>
          <p:nvPr/>
        </p:nvGrpSpPr>
        <p:grpSpPr>
          <a:xfrm>
            <a:off x="8536662" y="3770083"/>
            <a:ext cx="2461366" cy="790063"/>
            <a:chOff x="8632682" y="3002849"/>
            <a:chExt cx="2461366" cy="790063"/>
          </a:xfrm>
        </p:grpSpPr>
        <p:sp>
          <p:nvSpPr>
            <p:cNvPr id="26" name="Rectangle 25">
              <a:extLst>
                <a:ext uri="{FF2B5EF4-FFF2-40B4-BE49-F238E27FC236}">
                  <a16:creationId xmlns:a16="http://schemas.microsoft.com/office/drawing/2014/main" id="{A6721EDB-BCCC-73C3-2923-3922E430E367}"/>
                </a:ext>
              </a:extLst>
            </p:cNvPr>
            <p:cNvSpPr/>
            <p:nvPr/>
          </p:nvSpPr>
          <p:spPr>
            <a:xfrm>
              <a:off x="8632682" y="3002849"/>
              <a:ext cx="2461366" cy="790063"/>
            </a:xfrm>
            <a:prstGeom prst="rect">
              <a:avLst/>
            </a:prstGeom>
            <a:solidFill>
              <a:srgbClr val="5B9BD5">
                <a:hueOff val="0"/>
                <a:satOff val="0"/>
                <a:lumOff val="0"/>
                <a:alphaOff val="0"/>
              </a:srgbClr>
            </a:solidFill>
            <a:ln w="12700" cap="flat" cmpd="sng" algn="ctr">
              <a:solidFill>
                <a:srgbClr val="5B9BD5">
                  <a:hueOff val="0"/>
                  <a:satOff val="0"/>
                  <a:lumOff val="0"/>
                  <a:alphaOff val="0"/>
                </a:srgbClr>
              </a:solidFill>
              <a:prstDash val="solid"/>
              <a:miter lim="800000"/>
            </a:ln>
            <a:effectLst/>
          </p:spPr>
          <p:txBody>
            <a:bodyPr/>
            <a:lstStyle/>
            <a:p>
              <a:pPr>
                <a:defRPr/>
              </a:pPr>
              <a:endParaRPr lang="en-US" b="1" kern="0">
                <a:solidFill>
                  <a:schemeClr val="bg1"/>
                </a:solidFill>
                <a:cs typeface="Segoe UI" panose="020B0502040204020203" pitchFamily="34" charset="0"/>
              </a:endParaRPr>
            </a:p>
          </p:txBody>
        </p:sp>
        <p:sp>
          <p:nvSpPr>
            <p:cNvPr id="27" name="TextBox 26">
              <a:extLst>
                <a:ext uri="{FF2B5EF4-FFF2-40B4-BE49-F238E27FC236}">
                  <a16:creationId xmlns:a16="http://schemas.microsoft.com/office/drawing/2014/main" id="{36F08957-75F6-EE1B-9704-5B4DBAD2B89E}"/>
                </a:ext>
              </a:extLst>
            </p:cNvPr>
            <p:cNvSpPr txBox="1"/>
            <p:nvPr/>
          </p:nvSpPr>
          <p:spPr>
            <a:xfrm>
              <a:off x="8632682" y="3002849"/>
              <a:ext cx="1733356" cy="790063"/>
            </a:xfrm>
            <a:prstGeom prst="rect">
              <a:avLst/>
            </a:prstGeom>
            <a:noFill/>
            <a:ln>
              <a:no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b="1" kern="0" dirty="0">
                  <a:solidFill>
                    <a:schemeClr val="bg1"/>
                  </a:solidFill>
                  <a:cs typeface="Segoe UI" panose="020B0502040204020203" pitchFamily="34" charset="0"/>
                </a:rPr>
                <a:t>Continuous Access Evaluation</a:t>
              </a:r>
            </a:p>
          </p:txBody>
        </p:sp>
      </p:grpSp>
      <p:pic>
        <p:nvPicPr>
          <p:cNvPr id="28" name="Picture 27">
            <a:extLst>
              <a:ext uri="{FF2B5EF4-FFF2-40B4-BE49-F238E27FC236}">
                <a16:creationId xmlns:a16="http://schemas.microsoft.com/office/drawing/2014/main" id="{ABB4C3CB-92D7-BE08-36A1-ED1A7416E250}"/>
              </a:ext>
            </a:extLst>
          </p:cNvPr>
          <p:cNvPicPr>
            <a:picLocks noChangeAspect="1"/>
          </p:cNvPicPr>
          <p:nvPr/>
        </p:nvPicPr>
        <p:blipFill>
          <a:blip r:embed="rId3"/>
          <a:stretch>
            <a:fillRect/>
          </a:stretch>
        </p:blipFill>
        <p:spPr>
          <a:xfrm>
            <a:off x="2082121" y="3845074"/>
            <a:ext cx="640080" cy="640080"/>
          </a:xfrm>
          <a:prstGeom prst="rect">
            <a:avLst/>
          </a:prstGeom>
        </p:spPr>
      </p:pic>
      <p:pic>
        <p:nvPicPr>
          <p:cNvPr id="29" name="Picture 28">
            <a:extLst>
              <a:ext uri="{FF2B5EF4-FFF2-40B4-BE49-F238E27FC236}">
                <a16:creationId xmlns:a16="http://schemas.microsoft.com/office/drawing/2014/main" id="{AD5EB700-15F6-0BE6-58A0-789E0C789323}"/>
              </a:ext>
            </a:extLst>
          </p:cNvPr>
          <p:cNvPicPr>
            <a:picLocks noChangeAspect="1"/>
          </p:cNvPicPr>
          <p:nvPr/>
        </p:nvPicPr>
        <p:blipFill>
          <a:blip r:embed="rId4"/>
          <a:stretch>
            <a:fillRect/>
          </a:stretch>
        </p:blipFill>
        <p:spPr>
          <a:xfrm>
            <a:off x="4856515" y="3845074"/>
            <a:ext cx="640080" cy="640080"/>
          </a:xfrm>
          <a:prstGeom prst="rect">
            <a:avLst/>
          </a:prstGeom>
        </p:spPr>
      </p:pic>
      <p:pic>
        <p:nvPicPr>
          <p:cNvPr id="30" name="Picture 29">
            <a:extLst>
              <a:ext uri="{FF2B5EF4-FFF2-40B4-BE49-F238E27FC236}">
                <a16:creationId xmlns:a16="http://schemas.microsoft.com/office/drawing/2014/main" id="{51514FD3-900A-505B-E5AD-B1F73EEFB418}"/>
              </a:ext>
            </a:extLst>
          </p:cNvPr>
          <p:cNvPicPr>
            <a:picLocks noChangeAspect="1"/>
          </p:cNvPicPr>
          <p:nvPr/>
        </p:nvPicPr>
        <p:blipFill>
          <a:blip r:embed="rId5"/>
          <a:stretch>
            <a:fillRect/>
          </a:stretch>
        </p:blipFill>
        <p:spPr>
          <a:xfrm>
            <a:off x="7607458" y="3845074"/>
            <a:ext cx="640080" cy="640080"/>
          </a:xfrm>
          <a:prstGeom prst="rect">
            <a:avLst/>
          </a:prstGeom>
        </p:spPr>
      </p:pic>
      <p:pic>
        <p:nvPicPr>
          <p:cNvPr id="31" name="Picture 30">
            <a:extLst>
              <a:ext uri="{FF2B5EF4-FFF2-40B4-BE49-F238E27FC236}">
                <a16:creationId xmlns:a16="http://schemas.microsoft.com/office/drawing/2014/main" id="{E0103256-0CD1-E447-13D1-9CBAA07A8DCF}"/>
              </a:ext>
            </a:extLst>
          </p:cNvPr>
          <p:cNvPicPr>
            <a:picLocks noChangeAspect="1"/>
          </p:cNvPicPr>
          <p:nvPr/>
        </p:nvPicPr>
        <p:blipFill>
          <a:blip r:embed="rId6"/>
          <a:stretch>
            <a:fillRect/>
          </a:stretch>
        </p:blipFill>
        <p:spPr>
          <a:xfrm>
            <a:off x="10322821" y="3845074"/>
            <a:ext cx="640080" cy="640080"/>
          </a:xfrm>
          <a:prstGeom prst="rect">
            <a:avLst/>
          </a:prstGeom>
        </p:spPr>
      </p:pic>
    </p:spTree>
    <p:extLst>
      <p:ext uri="{BB962C8B-B14F-4D97-AF65-F5344CB8AC3E}">
        <p14:creationId xmlns:p14="http://schemas.microsoft.com/office/powerpoint/2010/main" val="18067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F2D02-908D-6808-6414-24D2E9E75F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58F5B6F-C566-7865-05D6-CC5DF1D155BB}"/>
              </a:ext>
            </a:extLst>
          </p:cNvPr>
          <p:cNvSpPr>
            <a:spLocks noGrp="1"/>
          </p:cNvSpPr>
          <p:nvPr>
            <p:ph type="body" sz="quarter" idx="10"/>
          </p:nvPr>
        </p:nvSpPr>
        <p:spPr>
          <a:xfrm>
            <a:off x="537136" y="276271"/>
            <a:ext cx="9826064" cy="541810"/>
          </a:xfrm>
        </p:spPr>
        <p:txBody>
          <a:bodyPr>
            <a:normAutofit/>
          </a:bodyPr>
          <a:lstStyle/>
          <a:p>
            <a:r>
              <a:rPr lang="en-US" sz="2400" dirty="0"/>
              <a:t>Identity &amp; Access Management – Conditional Access</a:t>
            </a:r>
          </a:p>
          <a:p>
            <a:endParaRPr lang="en-US" sz="2400" dirty="0"/>
          </a:p>
        </p:txBody>
      </p:sp>
      <p:pic>
        <p:nvPicPr>
          <p:cNvPr id="32" name="Picture 31">
            <a:extLst>
              <a:ext uri="{FF2B5EF4-FFF2-40B4-BE49-F238E27FC236}">
                <a16:creationId xmlns:a16="http://schemas.microsoft.com/office/drawing/2014/main" id="{3488D0FB-41D4-0077-CDE4-FB3E554A205C}"/>
              </a:ext>
            </a:extLst>
          </p:cNvPr>
          <p:cNvPicPr>
            <a:picLocks noChangeAspect="1"/>
          </p:cNvPicPr>
          <p:nvPr/>
        </p:nvPicPr>
        <p:blipFill>
          <a:blip r:embed="rId3"/>
          <a:stretch>
            <a:fillRect/>
          </a:stretch>
        </p:blipFill>
        <p:spPr>
          <a:xfrm>
            <a:off x="1321143" y="792561"/>
            <a:ext cx="8787714" cy="5123226"/>
          </a:xfrm>
          <a:prstGeom prst="rect">
            <a:avLst/>
          </a:prstGeom>
          <a:ln>
            <a:noFill/>
          </a:ln>
          <a:effectLst>
            <a:outerShdw blurRad="292100" dist="139700" dir="2700000" algn="tl" rotWithShape="0">
              <a:srgbClr val="333333">
                <a:alpha val="65000"/>
              </a:srgbClr>
            </a:outerShdw>
          </a:effectLst>
        </p:spPr>
      </p:pic>
      <p:sp>
        <p:nvSpPr>
          <p:cNvPr id="33" name="Speech Bubble: Rectangle with Corners Rounded 32">
            <a:extLst>
              <a:ext uri="{FF2B5EF4-FFF2-40B4-BE49-F238E27FC236}">
                <a16:creationId xmlns:a16="http://schemas.microsoft.com/office/drawing/2014/main" id="{5C2B1224-A119-AD7B-7169-8EB4BA642096}"/>
              </a:ext>
            </a:extLst>
          </p:cNvPr>
          <p:cNvSpPr/>
          <p:nvPr/>
        </p:nvSpPr>
        <p:spPr>
          <a:xfrm>
            <a:off x="7010400" y="4514850"/>
            <a:ext cx="2601224" cy="789733"/>
          </a:xfrm>
          <a:prstGeom prst="wedgeRoundRectCallout">
            <a:avLst>
              <a:gd name="adj1" fmla="val -64513"/>
              <a:gd name="adj2" fmla="val 7018"/>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ea typeface="+mn-ea"/>
                <a:cs typeface="Segoe UI" panose="020B0502040204020203" pitchFamily="34" charset="0"/>
              </a:rPr>
              <a:t>Conditional Access for the Power Platform</a:t>
            </a:r>
          </a:p>
        </p:txBody>
      </p:sp>
    </p:spTree>
    <p:extLst>
      <p:ext uri="{BB962C8B-B14F-4D97-AF65-F5344CB8AC3E}">
        <p14:creationId xmlns:p14="http://schemas.microsoft.com/office/powerpoint/2010/main" val="821742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E972E-2E53-CDDD-1B0C-FFC5BF8443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8C2294-B261-CB66-2B94-F3E4E98BD86F}"/>
              </a:ext>
            </a:extLst>
          </p:cNvPr>
          <p:cNvSpPr>
            <a:spLocks noGrp="1"/>
          </p:cNvSpPr>
          <p:nvPr>
            <p:ph type="body" sz="quarter" idx="10"/>
          </p:nvPr>
        </p:nvSpPr>
        <p:spPr>
          <a:xfrm>
            <a:off x="537136" y="276271"/>
            <a:ext cx="9826064" cy="541810"/>
          </a:xfrm>
        </p:spPr>
        <p:txBody>
          <a:bodyPr>
            <a:normAutofit/>
          </a:bodyPr>
          <a:lstStyle/>
          <a:p>
            <a:r>
              <a:rPr lang="en-US" sz="2400" dirty="0"/>
              <a:t>Identity &amp; Access Management – Conditional Access</a:t>
            </a:r>
          </a:p>
          <a:p>
            <a:endParaRPr lang="en-US" sz="2400" dirty="0"/>
          </a:p>
        </p:txBody>
      </p:sp>
      <p:pic>
        <p:nvPicPr>
          <p:cNvPr id="5" name="Picture 4">
            <a:extLst>
              <a:ext uri="{FF2B5EF4-FFF2-40B4-BE49-F238E27FC236}">
                <a16:creationId xmlns:a16="http://schemas.microsoft.com/office/drawing/2014/main" id="{1CEEDE0C-AFDC-1968-2DB6-D1A8070C7172}"/>
              </a:ext>
            </a:extLst>
          </p:cNvPr>
          <p:cNvPicPr>
            <a:picLocks noChangeAspect="1"/>
          </p:cNvPicPr>
          <p:nvPr/>
        </p:nvPicPr>
        <p:blipFill>
          <a:blip r:embed="rId3"/>
          <a:stretch>
            <a:fillRect/>
          </a:stretch>
        </p:blipFill>
        <p:spPr>
          <a:xfrm>
            <a:off x="1321143" y="777808"/>
            <a:ext cx="8839048" cy="5178253"/>
          </a:xfrm>
          <a:prstGeom prst="rect">
            <a:avLst/>
          </a:prstGeom>
        </p:spPr>
      </p:pic>
    </p:spTree>
    <p:extLst>
      <p:ext uri="{BB962C8B-B14F-4D97-AF65-F5344CB8AC3E}">
        <p14:creationId xmlns:p14="http://schemas.microsoft.com/office/powerpoint/2010/main" val="1413035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11D5E-CA42-C45B-D194-A115AA67288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14AD824-ABC6-8C19-DEA2-97FC0F6FCB60}"/>
              </a:ext>
            </a:extLst>
          </p:cNvPr>
          <p:cNvSpPr>
            <a:spLocks noGrp="1"/>
          </p:cNvSpPr>
          <p:nvPr>
            <p:ph type="body" sz="quarter" idx="10"/>
          </p:nvPr>
        </p:nvSpPr>
        <p:spPr>
          <a:xfrm>
            <a:off x="537136" y="276271"/>
            <a:ext cx="9826064" cy="541810"/>
          </a:xfrm>
        </p:spPr>
        <p:txBody>
          <a:bodyPr>
            <a:normAutofit fontScale="77500" lnSpcReduction="20000"/>
          </a:bodyPr>
          <a:lstStyle/>
          <a:p>
            <a:r>
              <a:rPr lang="en-US" dirty="0"/>
              <a:t>Identity &amp; Access Management – Tenant Isolation: Scenarios</a:t>
            </a:r>
          </a:p>
          <a:p>
            <a:endParaRPr lang="en-US" dirty="0"/>
          </a:p>
        </p:txBody>
      </p:sp>
      <p:pic>
        <p:nvPicPr>
          <p:cNvPr id="3" name="Picture 2" descr="Restrict outbound and inbound cross-tenant access.">
            <a:extLst>
              <a:ext uri="{FF2B5EF4-FFF2-40B4-BE49-F238E27FC236}">
                <a16:creationId xmlns:a16="http://schemas.microsoft.com/office/drawing/2014/main" id="{67B606B5-A076-C997-5B5C-B68379C20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213329"/>
            <a:ext cx="5253206" cy="20158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3" descr="Restrict inbound connection.">
            <a:extLst>
              <a:ext uri="{FF2B5EF4-FFF2-40B4-BE49-F238E27FC236}">
                <a16:creationId xmlns:a16="http://schemas.microsoft.com/office/drawing/2014/main" id="{F3FF4212-95E3-62E2-DCC6-C8C16B0B7F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196826"/>
            <a:ext cx="5341477" cy="20323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Picture 5" descr="A diagram of a diagram&#10;&#10;Description automatically generated with medium confidence">
            <a:extLst>
              <a:ext uri="{FF2B5EF4-FFF2-40B4-BE49-F238E27FC236}">
                <a16:creationId xmlns:a16="http://schemas.microsoft.com/office/drawing/2014/main" id="{213582DC-FA75-6768-F54C-C3DC1DF501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8221" y="3448050"/>
            <a:ext cx="5410200" cy="20673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9345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CA263-E7DF-140A-9CEA-E68B6B85478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A9A573-DB9E-01AA-A6CF-25034C791499}"/>
              </a:ext>
            </a:extLst>
          </p:cNvPr>
          <p:cNvSpPr>
            <a:spLocks noGrp="1"/>
          </p:cNvSpPr>
          <p:nvPr>
            <p:ph type="body" sz="quarter" idx="10"/>
          </p:nvPr>
        </p:nvSpPr>
        <p:spPr>
          <a:xfrm>
            <a:off x="537136" y="276271"/>
            <a:ext cx="9826064" cy="541810"/>
          </a:xfrm>
        </p:spPr>
        <p:txBody>
          <a:bodyPr>
            <a:normAutofit fontScale="85000" lnSpcReduction="10000"/>
          </a:bodyPr>
          <a:lstStyle/>
          <a:p>
            <a:r>
              <a:rPr lang="en-US" dirty="0"/>
              <a:t>Identity &amp; Access Management – Tenant Isolation Setup</a:t>
            </a:r>
          </a:p>
          <a:p>
            <a:endParaRPr lang="en-US" dirty="0"/>
          </a:p>
        </p:txBody>
      </p:sp>
      <p:pic>
        <p:nvPicPr>
          <p:cNvPr id="7" name="Picture 6">
            <a:extLst>
              <a:ext uri="{FF2B5EF4-FFF2-40B4-BE49-F238E27FC236}">
                <a16:creationId xmlns:a16="http://schemas.microsoft.com/office/drawing/2014/main" id="{DEE7365D-BB6A-0C55-9B51-AAF19D3CC1AF}"/>
              </a:ext>
            </a:extLst>
          </p:cNvPr>
          <p:cNvPicPr>
            <a:picLocks noChangeAspect="1"/>
          </p:cNvPicPr>
          <p:nvPr/>
        </p:nvPicPr>
        <p:blipFill>
          <a:blip r:embed="rId3"/>
          <a:stretch>
            <a:fillRect/>
          </a:stretch>
        </p:blipFill>
        <p:spPr>
          <a:xfrm>
            <a:off x="1294058" y="704850"/>
            <a:ext cx="8841884" cy="5177039"/>
          </a:xfrm>
          <a:prstGeom prst="rect">
            <a:avLst/>
          </a:prstGeom>
          <a:ln>
            <a:noFill/>
          </a:ln>
          <a:effectLst>
            <a:outerShdw blurRad="292100" dist="139700" dir="2700000" algn="tl" rotWithShape="0">
              <a:srgbClr val="333333">
                <a:alpha val="65000"/>
              </a:srgbClr>
            </a:outerShdw>
          </a:effectLst>
        </p:spPr>
      </p:pic>
      <p:sp>
        <p:nvSpPr>
          <p:cNvPr id="8" name="Speech Bubble: Rectangle with Corners Rounded 7">
            <a:extLst>
              <a:ext uri="{FF2B5EF4-FFF2-40B4-BE49-F238E27FC236}">
                <a16:creationId xmlns:a16="http://schemas.microsoft.com/office/drawing/2014/main" id="{7448D14C-8CCC-0C5D-19E9-9A2FCF4B6E42}"/>
              </a:ext>
            </a:extLst>
          </p:cNvPr>
          <p:cNvSpPr/>
          <p:nvPr/>
        </p:nvSpPr>
        <p:spPr>
          <a:xfrm>
            <a:off x="1886998" y="2428539"/>
            <a:ext cx="1849562" cy="638512"/>
          </a:xfrm>
          <a:prstGeom prst="wedgeRoundRectCallout">
            <a:avLst>
              <a:gd name="adj1" fmla="val -30342"/>
              <a:gd name="adj2" fmla="val -8098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Identity and access settings</a:t>
            </a:r>
          </a:p>
        </p:txBody>
      </p:sp>
      <p:sp>
        <p:nvSpPr>
          <p:cNvPr id="9" name="Flowchart: Connector 8">
            <a:extLst>
              <a:ext uri="{FF2B5EF4-FFF2-40B4-BE49-F238E27FC236}">
                <a16:creationId xmlns:a16="http://schemas.microsoft.com/office/drawing/2014/main" id="{EABE2C1B-8B3A-DEDD-4F95-FE1776FF1137}"/>
              </a:ext>
            </a:extLst>
          </p:cNvPr>
          <p:cNvSpPr/>
          <p:nvPr/>
        </p:nvSpPr>
        <p:spPr>
          <a:xfrm>
            <a:off x="2606039" y="314424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10" name="Speech Bubble: Rectangle with Corners Rounded 9">
            <a:extLst>
              <a:ext uri="{FF2B5EF4-FFF2-40B4-BE49-F238E27FC236}">
                <a16:creationId xmlns:a16="http://schemas.microsoft.com/office/drawing/2014/main" id="{0D5C31DB-4521-1340-E9F9-77A1653BAA53}"/>
              </a:ext>
            </a:extLst>
          </p:cNvPr>
          <p:cNvSpPr/>
          <p:nvPr/>
        </p:nvSpPr>
        <p:spPr>
          <a:xfrm>
            <a:off x="7048178" y="1846671"/>
            <a:ext cx="2494824" cy="638512"/>
          </a:xfrm>
          <a:prstGeom prst="wedgeRoundRectCallout">
            <a:avLst>
              <a:gd name="adj1" fmla="val -84490"/>
              <a:gd name="adj2" fmla="val -446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Tenant Isolation enabled</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in the tenant</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1" name="Flowchart: Connector 10">
            <a:extLst>
              <a:ext uri="{FF2B5EF4-FFF2-40B4-BE49-F238E27FC236}">
                <a16:creationId xmlns:a16="http://schemas.microsoft.com/office/drawing/2014/main" id="{9BCBF4EA-7611-AE8A-9797-E342A775D7D7}"/>
              </a:ext>
            </a:extLst>
          </p:cNvPr>
          <p:cNvSpPr/>
          <p:nvPr/>
        </p:nvSpPr>
        <p:spPr>
          <a:xfrm>
            <a:off x="9633732" y="195155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12" name="Speech Bubble: Rectangle with Corners Rounded 11">
            <a:extLst>
              <a:ext uri="{FF2B5EF4-FFF2-40B4-BE49-F238E27FC236}">
                <a16:creationId xmlns:a16="http://schemas.microsoft.com/office/drawing/2014/main" id="{B8E48BF4-4EF7-8C01-2BDF-F77564BF04AB}"/>
              </a:ext>
            </a:extLst>
          </p:cNvPr>
          <p:cNvSpPr/>
          <p:nvPr/>
        </p:nvSpPr>
        <p:spPr>
          <a:xfrm>
            <a:off x="6507335" y="3341345"/>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Exceptions</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can be configured in 1 way or 2 ways</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3" name="Flowchart: Connector 12">
            <a:extLst>
              <a:ext uri="{FF2B5EF4-FFF2-40B4-BE49-F238E27FC236}">
                <a16:creationId xmlns:a16="http://schemas.microsoft.com/office/drawing/2014/main" id="{05700A29-5703-8B1D-D173-225D8776A912}"/>
              </a:ext>
            </a:extLst>
          </p:cNvPr>
          <p:cNvSpPr/>
          <p:nvPr/>
        </p:nvSpPr>
        <p:spPr>
          <a:xfrm>
            <a:off x="9067800" y="353047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Tree>
    <p:extLst>
      <p:ext uri="{BB962C8B-B14F-4D97-AF65-F5344CB8AC3E}">
        <p14:creationId xmlns:p14="http://schemas.microsoft.com/office/powerpoint/2010/main" val="666262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F68E-33F5-CD29-E1FA-D23311D521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B412D5-97C5-F826-9AFA-52A80F7E9DF3}"/>
              </a:ext>
            </a:extLst>
          </p:cNvPr>
          <p:cNvSpPr>
            <a:spLocks noGrp="1"/>
          </p:cNvSpPr>
          <p:nvPr>
            <p:ph type="body" sz="quarter" idx="10"/>
          </p:nvPr>
        </p:nvSpPr>
        <p:spPr>
          <a:xfrm>
            <a:off x="537136" y="276271"/>
            <a:ext cx="9826064" cy="541810"/>
          </a:xfrm>
        </p:spPr>
        <p:txBody>
          <a:bodyPr>
            <a:normAutofit fontScale="85000" lnSpcReduction="10000"/>
          </a:bodyPr>
          <a:lstStyle/>
          <a:p>
            <a:r>
              <a:rPr lang="en-US" dirty="0"/>
              <a:t>Identity &amp; Access Management – Tenant Isolation Setup</a:t>
            </a:r>
          </a:p>
          <a:p>
            <a:endParaRPr lang="en-US" dirty="0"/>
          </a:p>
        </p:txBody>
      </p:sp>
      <p:pic>
        <p:nvPicPr>
          <p:cNvPr id="4" name="Picture 3">
            <a:extLst>
              <a:ext uri="{FF2B5EF4-FFF2-40B4-BE49-F238E27FC236}">
                <a16:creationId xmlns:a16="http://schemas.microsoft.com/office/drawing/2014/main" id="{6E148A23-2D46-5B1D-E338-2D503F865657}"/>
              </a:ext>
            </a:extLst>
          </p:cNvPr>
          <p:cNvPicPr>
            <a:picLocks noChangeAspect="1"/>
          </p:cNvPicPr>
          <p:nvPr/>
        </p:nvPicPr>
        <p:blipFill>
          <a:blip r:embed="rId3"/>
          <a:stretch>
            <a:fillRect/>
          </a:stretch>
        </p:blipFill>
        <p:spPr>
          <a:xfrm>
            <a:off x="1278375" y="704851"/>
            <a:ext cx="8780025" cy="5109446"/>
          </a:xfrm>
          <a:prstGeom prst="rect">
            <a:avLst/>
          </a:prstGeom>
          <a:ln>
            <a:noFill/>
          </a:ln>
          <a:effectLst>
            <a:outerShdw blurRad="292100" dist="139700" dir="2700000" algn="tl" rotWithShape="0">
              <a:srgbClr val="333333">
                <a:alpha val="65000"/>
              </a:srgbClr>
            </a:outerShdw>
          </a:effectLst>
        </p:spPr>
      </p:pic>
      <p:sp>
        <p:nvSpPr>
          <p:cNvPr id="5" name="Speech Bubble: Rectangle with Corners Rounded 4">
            <a:extLst>
              <a:ext uri="{FF2B5EF4-FFF2-40B4-BE49-F238E27FC236}">
                <a16:creationId xmlns:a16="http://schemas.microsoft.com/office/drawing/2014/main" id="{D4A27A1E-6BDF-8C1A-B3FB-FA354707E42A}"/>
              </a:ext>
            </a:extLst>
          </p:cNvPr>
          <p:cNvSpPr/>
          <p:nvPr/>
        </p:nvSpPr>
        <p:spPr>
          <a:xfrm>
            <a:off x="7570765" y="4286250"/>
            <a:ext cx="2494824" cy="638512"/>
          </a:xfrm>
          <a:prstGeom prst="wedgeRoundRectCallout">
            <a:avLst>
              <a:gd name="adj1" fmla="val -69737"/>
              <a:gd name="adj2" fmla="val -5907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Future state of Tenant Isolation in a tenant</a:t>
            </a:r>
          </a:p>
        </p:txBody>
      </p:sp>
    </p:spTree>
    <p:extLst>
      <p:ext uri="{BB962C8B-B14F-4D97-AF65-F5344CB8AC3E}">
        <p14:creationId xmlns:p14="http://schemas.microsoft.com/office/powerpoint/2010/main" val="274750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98C12-A588-AE8B-08C1-4E1D338980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F24D54E-2079-4C37-9C4C-AE91633DD36F}"/>
              </a:ext>
            </a:extLst>
          </p:cNvPr>
          <p:cNvSpPr>
            <a:spLocks noGrp="1"/>
          </p:cNvSpPr>
          <p:nvPr>
            <p:ph type="body" sz="quarter" idx="10"/>
          </p:nvPr>
        </p:nvSpPr>
        <p:spPr>
          <a:xfrm>
            <a:off x="537136" y="276271"/>
            <a:ext cx="9521264" cy="541810"/>
          </a:xfrm>
        </p:spPr>
        <p:txBody>
          <a:bodyPr>
            <a:normAutofit/>
          </a:bodyPr>
          <a:lstStyle/>
          <a:p>
            <a:r>
              <a:rPr lang="en-US" sz="2400" dirty="0"/>
              <a:t>Identity &amp; Access Management – Tenant Isolation</a:t>
            </a:r>
            <a:endParaRPr lang="en-US" sz="2400" noProof="0" dirty="0"/>
          </a:p>
        </p:txBody>
      </p:sp>
      <p:sp>
        <p:nvSpPr>
          <p:cNvPr id="3" name="Content Placeholder 2">
            <a:extLst>
              <a:ext uri="{FF2B5EF4-FFF2-40B4-BE49-F238E27FC236}">
                <a16:creationId xmlns:a16="http://schemas.microsoft.com/office/drawing/2014/main" id="{E15406BF-2919-5695-F384-343BC32A215E}"/>
              </a:ext>
            </a:extLst>
          </p:cNvPr>
          <p:cNvSpPr>
            <a:spLocks noGrp="1"/>
          </p:cNvSpPr>
          <p:nvPr>
            <p:ph sz="quarter" idx="11"/>
          </p:nvPr>
        </p:nvSpPr>
        <p:spPr/>
        <p:txBody>
          <a:bodyPr>
            <a:normAutofit/>
          </a:bodyPr>
          <a:lstStyle/>
          <a:p>
            <a:r>
              <a:rPr lang="en-US" sz="2800" noProof="0" dirty="0"/>
              <a:t>Impact on Apps &amp; Flows:</a:t>
            </a:r>
          </a:p>
        </p:txBody>
      </p:sp>
      <p:pic>
        <p:nvPicPr>
          <p:cNvPr id="4" name="Picture 2" descr="Error: The data didn't load correctly. Please try again.">
            <a:extLst>
              <a:ext uri="{FF2B5EF4-FFF2-40B4-BE49-F238E27FC236}">
                <a16:creationId xmlns:a16="http://schemas.microsoft.com/office/drawing/2014/main" id="{2725C2C1-8BC8-6F3E-0E2D-EBDCFAA4D0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1847850"/>
            <a:ext cx="5334000" cy="33246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4" descr="Error: Couldn't retrieve values. The dynamic invocation request failed with error - error text.">
            <a:extLst>
              <a:ext uri="{FF2B5EF4-FFF2-40B4-BE49-F238E27FC236}">
                <a16:creationId xmlns:a16="http://schemas.microsoft.com/office/drawing/2014/main" id="{8D7D4BE1-83A8-3745-0C1C-B5F73F1E60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847850"/>
            <a:ext cx="5544223" cy="31773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46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2584843-F144-7FC9-EC3E-C5A2A663F9F3}"/>
            </a:ext>
          </a:extLst>
        </p:cNvPr>
        <p:cNvGrpSpPr/>
        <p:nvPr/>
      </p:nvGrpSpPr>
      <p:grpSpPr>
        <a:xfrm>
          <a:off x="0" y="0"/>
          <a:ext cx="0" cy="0"/>
          <a:chOff x="0" y="0"/>
          <a:chExt cx="0" cy="0"/>
        </a:xfrm>
      </p:grpSpPr>
      <p:pic>
        <p:nvPicPr>
          <p:cNvPr id="2" name="Imagen 2">
            <a:extLst>
              <a:ext uri="{FF2B5EF4-FFF2-40B4-BE49-F238E27FC236}">
                <a16:creationId xmlns:a16="http://schemas.microsoft.com/office/drawing/2014/main" id="{5ABEA3F0-4833-8124-2837-B70BC2480451}"/>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6096000" y="86259"/>
            <a:ext cx="2901552" cy="2904591"/>
          </a:xfrm>
          <a:prstGeom prst="rect">
            <a:avLst/>
          </a:prstGeom>
        </p:spPr>
      </p:pic>
      <p:sp>
        <p:nvSpPr>
          <p:cNvPr id="3" name="Marcador de texto 4">
            <a:extLst>
              <a:ext uri="{FF2B5EF4-FFF2-40B4-BE49-F238E27FC236}">
                <a16:creationId xmlns:a16="http://schemas.microsoft.com/office/drawing/2014/main" id="{13C4CFDB-78B0-8DDA-048C-8DA8420B37DA}"/>
              </a:ext>
            </a:extLst>
          </p:cNvPr>
          <p:cNvSpPr txBox="1">
            <a:spLocks/>
          </p:cNvSpPr>
          <p:nvPr/>
        </p:nvSpPr>
        <p:spPr>
          <a:xfrm>
            <a:off x="4419600" y="3321389"/>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effectLst/>
                <a:uLnTx/>
                <a:uFillTx/>
                <a:ea typeface="+mn-ea"/>
                <a:cs typeface="Segoe UI Semibold" panose="020B0702040204020203" pitchFamily="34" charset="0"/>
              </a:rPr>
              <a:t>Demo #2: </a:t>
            </a:r>
            <a:r>
              <a:rPr lang="en-US" sz="3600" b="1" dirty="0">
                <a:cs typeface="Segoe UI Semibold" panose="020B0702040204020203" pitchFamily="34" charset="0"/>
              </a:rPr>
              <a:t>Conditional Access + Tenant Isolation</a:t>
            </a:r>
            <a:endParaRPr kumimoji="0" lang="en-US" sz="3600" b="1" i="0" u="none" strike="noStrike" kern="1200" cap="none" spc="0" normalizeH="0" baseline="0" noProof="0" dirty="0">
              <a:ln>
                <a:noFill/>
              </a:ln>
              <a:effectLst/>
              <a:uLnTx/>
              <a:uFillTx/>
              <a:cs typeface="Segoe UI Semibold" panose="020B07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effectLst/>
              <a:uLnTx/>
              <a:uFillTx/>
              <a:ea typeface="+mn-ea"/>
              <a:cs typeface="+mn-cs"/>
            </a:endParaRPr>
          </a:p>
        </p:txBody>
      </p:sp>
      <p:pic>
        <p:nvPicPr>
          <p:cNvPr id="4" name="Picture 18" descr="Minion clipart transparent background, Minion transparent background  Transparent FREE for download on WebStockReview 2021">
            <a:extLst>
              <a:ext uri="{FF2B5EF4-FFF2-40B4-BE49-F238E27FC236}">
                <a16:creationId xmlns:a16="http://schemas.microsoft.com/office/drawing/2014/main" id="{65749E5D-FB34-6531-7AC1-F415F4C2C0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6259"/>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229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413D5-C4FB-2584-24F8-B4823FEAAD2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AF02B12-9338-2C1D-B925-A85E81FEEB6E}"/>
              </a:ext>
            </a:extLst>
          </p:cNvPr>
          <p:cNvSpPr>
            <a:spLocks noGrp="1"/>
          </p:cNvSpPr>
          <p:nvPr>
            <p:ph type="body" sz="quarter" idx="10"/>
          </p:nvPr>
        </p:nvSpPr>
        <p:spPr>
          <a:xfrm>
            <a:off x="537136" y="276271"/>
            <a:ext cx="9826064" cy="541810"/>
          </a:xfrm>
        </p:spPr>
        <p:txBody>
          <a:bodyPr>
            <a:normAutofit fontScale="77500" lnSpcReduction="20000"/>
          </a:bodyPr>
          <a:lstStyle/>
          <a:p>
            <a:r>
              <a:rPr lang="en-US" dirty="0"/>
              <a:t>Identity &amp; Access Management – Continuous Access Evaluation</a:t>
            </a:r>
          </a:p>
          <a:p>
            <a:endParaRPr lang="en-US" dirty="0"/>
          </a:p>
        </p:txBody>
      </p:sp>
      <p:pic>
        <p:nvPicPr>
          <p:cNvPr id="3" name="Online Media 6" title="Continuous Access evaluation – User critical events evaluation">
            <a:hlinkClick r:id="" action="ppaction://media"/>
            <a:extLst>
              <a:ext uri="{FF2B5EF4-FFF2-40B4-BE49-F238E27FC236}">
                <a16:creationId xmlns:a16="http://schemas.microsoft.com/office/drawing/2014/main" id="{52874401-8B66-B0F2-33F6-428A20857D3C}"/>
              </a:ext>
            </a:extLst>
          </p:cNvPr>
          <p:cNvPicPr>
            <a:picLocks noRot="1" noChangeAspect="1"/>
          </p:cNvPicPr>
          <p:nvPr>
            <a:videoFile r:link="rId1"/>
          </p:nvPr>
        </p:nvPicPr>
        <p:blipFill>
          <a:blip r:embed="rId4"/>
          <a:stretch>
            <a:fillRect/>
          </a:stretch>
        </p:blipFill>
        <p:spPr>
          <a:xfrm>
            <a:off x="1295400" y="704850"/>
            <a:ext cx="8967138" cy="5066433"/>
          </a:xfrm>
          <a:prstGeom prst="rect">
            <a:avLst/>
          </a:prstGeom>
        </p:spPr>
      </p:pic>
    </p:spTree>
    <p:extLst>
      <p:ext uri="{BB962C8B-B14F-4D97-AF65-F5344CB8AC3E}">
        <p14:creationId xmlns:p14="http://schemas.microsoft.com/office/powerpoint/2010/main" val="116529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A3993-C720-3152-2430-626AA7C2791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66E631B-DBF3-ACE6-F0C0-4F531BB0F870}"/>
              </a:ext>
            </a:extLst>
          </p:cNvPr>
          <p:cNvSpPr>
            <a:spLocks noGrp="1"/>
          </p:cNvSpPr>
          <p:nvPr>
            <p:ph type="body" sz="quarter" idx="10"/>
          </p:nvPr>
        </p:nvSpPr>
        <p:spPr>
          <a:xfrm>
            <a:off x="537136" y="276271"/>
            <a:ext cx="9826064" cy="541810"/>
          </a:xfrm>
        </p:spPr>
        <p:txBody>
          <a:bodyPr>
            <a:normAutofit/>
          </a:bodyPr>
          <a:lstStyle/>
          <a:p>
            <a:r>
              <a:rPr lang="en-US" dirty="0"/>
              <a:t>Network Security – The big picture</a:t>
            </a:r>
          </a:p>
          <a:p>
            <a:endParaRPr lang="en-US" dirty="0"/>
          </a:p>
        </p:txBody>
      </p:sp>
      <p:sp>
        <p:nvSpPr>
          <p:cNvPr id="48" name="Trapezoid 47">
            <a:extLst>
              <a:ext uri="{FF2B5EF4-FFF2-40B4-BE49-F238E27FC236}">
                <a16:creationId xmlns:a16="http://schemas.microsoft.com/office/drawing/2014/main" id="{35811C18-ABA1-6B2C-1C19-DF4C6F382ABA}"/>
              </a:ext>
              <a:ext uri="{C183D7F6-B498-43B3-948B-1728B52AA6E4}">
                <adec:decorative xmlns:adec="http://schemas.microsoft.com/office/drawing/2017/decorative" val="1"/>
              </a:ext>
            </a:extLst>
          </p:cNvPr>
          <p:cNvSpPr/>
          <p:nvPr/>
        </p:nvSpPr>
        <p:spPr bwMode="auto">
          <a:xfrm rot="16200000">
            <a:off x="6614050" y="149832"/>
            <a:ext cx="3974404" cy="5624859"/>
          </a:xfrm>
          <a:prstGeom prst="trapezoid">
            <a:avLst/>
          </a:prstGeom>
          <a:gradFill flip="none" rotWithShape="1">
            <a:gsLst>
              <a:gs pos="0">
                <a:srgbClr val="49C5B1">
                  <a:lumMod val="40000"/>
                  <a:lumOff val="60000"/>
                </a:srgbClr>
              </a:gs>
              <a:gs pos="100000">
                <a:srgbClr val="E6E6E6"/>
              </a:gs>
            </a:gsLst>
            <a:lin ang="16200000" scaled="0"/>
            <a:tileRect/>
          </a:gradFill>
          <a:ln w="9525" cap="flat" cmpd="sng" algn="ctr">
            <a:noFill/>
            <a:prstDash val="solid"/>
            <a:headEnd type="none" w="med" len="med"/>
            <a:tailEnd type="none" w="med" len="med"/>
          </a:ln>
          <a:effectLst/>
        </p:spPr>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marL="0" marR="0" lvl="0" indent="0" defTabSz="913927" eaLnBrk="1" fontAlgn="base" latinLnBrk="0" hangingPunct="1">
              <a:lnSpc>
                <a:spcPct val="100000"/>
              </a:lnSpc>
              <a:spcBef>
                <a:spcPct val="0"/>
              </a:spcBef>
              <a:spcAft>
                <a:spcPct val="0"/>
              </a:spcAft>
              <a:buClrTx/>
              <a:buSzTx/>
              <a:buFontTx/>
              <a:buNone/>
              <a:tabLst/>
              <a:defRPr/>
            </a:pPr>
            <a:endParaRPr kumimoji="0" lang="en-US" sz="1961" b="1" i="0" u="none" strike="noStrike" kern="0" cap="none" spc="0" normalizeH="0" baseline="0" noProof="0">
              <a:ln>
                <a:noFill/>
              </a:ln>
              <a:gradFill>
                <a:gsLst>
                  <a:gs pos="0">
                    <a:srgbClr val="FFFFFF"/>
                  </a:gs>
                  <a:gs pos="100000">
                    <a:srgbClr val="FFFFFF"/>
                  </a:gs>
                </a:gsLst>
                <a:lin ang="5400000" scaled="0"/>
              </a:gradFill>
              <a:effectLst/>
              <a:uLnTx/>
              <a:uFillTx/>
              <a:latin typeface="Arial" panose="020B0604020202020204" pitchFamily="34" charset="0"/>
              <a:cs typeface="Arial" panose="020B0604020202020204" pitchFamily="34" charset="0"/>
            </a:endParaRPr>
          </a:p>
        </p:txBody>
      </p:sp>
      <p:sp>
        <p:nvSpPr>
          <p:cNvPr id="49" name="Trapezoid 48">
            <a:extLst>
              <a:ext uri="{FF2B5EF4-FFF2-40B4-BE49-F238E27FC236}">
                <a16:creationId xmlns:a16="http://schemas.microsoft.com/office/drawing/2014/main" id="{6FF8B66C-75EF-FE69-1DB5-D5A433554B57}"/>
              </a:ext>
              <a:ext uri="{C183D7F6-B498-43B3-948B-1728B52AA6E4}">
                <adec:decorative xmlns:adec="http://schemas.microsoft.com/office/drawing/2017/decorative" val="1"/>
              </a:ext>
            </a:extLst>
          </p:cNvPr>
          <p:cNvSpPr/>
          <p:nvPr/>
        </p:nvSpPr>
        <p:spPr bwMode="auto">
          <a:xfrm rot="5400000" flipH="1">
            <a:off x="954642" y="36742"/>
            <a:ext cx="3974404" cy="5851045"/>
          </a:xfrm>
          <a:prstGeom prst="trapezoid">
            <a:avLst/>
          </a:prstGeom>
          <a:gradFill flip="none" rotWithShape="1">
            <a:gsLst>
              <a:gs pos="0">
                <a:srgbClr val="49C5B1">
                  <a:lumMod val="40000"/>
                  <a:lumOff val="60000"/>
                </a:srgbClr>
              </a:gs>
              <a:gs pos="100000">
                <a:srgbClr val="E6E6E6"/>
              </a:gs>
            </a:gsLst>
            <a:lin ang="16200000" scaled="0"/>
            <a:tileRect/>
          </a:gradFill>
          <a:ln w="9525" cap="flat" cmpd="sng" algn="ctr">
            <a:noFill/>
            <a:prstDash val="solid"/>
            <a:headEnd type="none" w="med" len="med"/>
            <a:tailEnd type="none" w="med" len="med"/>
          </a:ln>
          <a:effectLst/>
        </p:spPr>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marL="0" marR="0" lvl="0" indent="0" defTabSz="913927" eaLnBrk="1" fontAlgn="base" latinLnBrk="0" hangingPunct="1">
              <a:lnSpc>
                <a:spcPct val="100000"/>
              </a:lnSpc>
              <a:spcBef>
                <a:spcPct val="0"/>
              </a:spcBef>
              <a:spcAft>
                <a:spcPct val="0"/>
              </a:spcAft>
              <a:buClrTx/>
              <a:buSzTx/>
              <a:buFontTx/>
              <a:buNone/>
              <a:tabLst/>
              <a:defRPr/>
            </a:pPr>
            <a:endParaRPr kumimoji="0" lang="en-US" sz="1961" b="0" i="0" u="none" strike="noStrike" kern="0" cap="none" spc="0" normalizeH="0" baseline="0" noProof="0" err="1">
              <a:ln>
                <a:noFill/>
              </a:ln>
              <a:gradFill>
                <a:gsLst>
                  <a:gs pos="0">
                    <a:srgbClr val="FFFFFF"/>
                  </a:gs>
                  <a:gs pos="100000">
                    <a:srgbClr val="FFFFFF"/>
                  </a:gs>
                </a:gsLst>
                <a:lin ang="5400000" scaled="0"/>
              </a:gradFill>
              <a:effectLst/>
              <a:uLnTx/>
              <a:uFillTx/>
              <a:latin typeface="Arial" panose="020B0604020202020204" pitchFamily="34" charset="0"/>
              <a:cs typeface="Arial" panose="020B0604020202020204" pitchFamily="34" charset="0"/>
            </a:endParaRPr>
          </a:p>
        </p:txBody>
      </p:sp>
      <p:sp>
        <p:nvSpPr>
          <p:cNvPr id="50" name="Oval 49">
            <a:extLst>
              <a:ext uri="{FF2B5EF4-FFF2-40B4-BE49-F238E27FC236}">
                <a16:creationId xmlns:a16="http://schemas.microsoft.com/office/drawing/2014/main" id="{4E1B0076-6AD5-B115-FD8C-61EDC603CCC2}"/>
              </a:ext>
            </a:extLst>
          </p:cNvPr>
          <p:cNvSpPr/>
          <p:nvPr/>
        </p:nvSpPr>
        <p:spPr bwMode="auto">
          <a:xfrm>
            <a:off x="4819182" y="1986151"/>
            <a:ext cx="1926347" cy="1926346"/>
          </a:xfrm>
          <a:prstGeom prst="ellipse">
            <a:avLst/>
          </a:prstGeom>
          <a:solidFill>
            <a:srgbClr val="FFFFFF"/>
          </a:solidFill>
          <a:ln w="10795" cap="flat" cmpd="sng" algn="ctr">
            <a:noFill/>
            <a:prstDash val="solid"/>
            <a:headEnd type="none" w="med" len="med"/>
            <a:tailEnd type="none" w="med" len="med"/>
          </a:ln>
          <a:effectLst>
            <a:outerShdw blurRad="254000" dist="50800" dir="2700000" algn="ctr" rotWithShape="0">
              <a:prstClr val="black">
                <a:alpha val="25000"/>
              </a:prstClr>
            </a:outerShdw>
          </a:effectLst>
        </p:spPr>
        <p:txBody>
          <a:bodyPr vert="horz" wrap="square" lIns="134464" tIns="134464" rIns="134464" bIns="46616" numCol="1" rtlCol="0" anchor="ctr" anchorCtr="0" compatLnSpc="1">
            <a:prstTxWarp prst="textNoShape">
              <a:avLst/>
            </a:prstTxWarp>
          </a:bodyPr>
          <a:lstStyle/>
          <a:p>
            <a:pPr marL="0" marR="0" lvl="0" indent="0" algn="ctr" defTabSz="914400" eaLnBrk="1" fontAlgn="auto" latinLnBrk="0" hangingPunct="1">
              <a:lnSpc>
                <a:spcPct val="100000"/>
              </a:lnSpc>
              <a:spcBef>
                <a:spcPct val="0"/>
              </a:spcBef>
              <a:spcAft>
                <a:spcPts val="588"/>
              </a:spcAft>
              <a:buClrTx/>
              <a:buSzTx/>
              <a:buFontTx/>
              <a:buNone/>
              <a:tabLst/>
              <a:defRPr/>
            </a:pPr>
            <a:endParaRPr kumimoji="0" lang="en-US" sz="1176" b="0" i="0" u="none" strike="noStrike" kern="0" cap="none" spc="0" normalizeH="0" baseline="0" noProof="0" err="1">
              <a:ln w="3175">
                <a:noFill/>
              </a:ln>
              <a:gradFill>
                <a:gsLst>
                  <a:gs pos="0">
                    <a:srgbClr val="6C6E6C"/>
                  </a:gs>
                  <a:gs pos="100000">
                    <a:srgbClr val="6C6E6C"/>
                  </a:gs>
                </a:gsLst>
                <a:lin ang="5400000" scaled="0"/>
              </a:gradFill>
              <a:effectLst/>
              <a:uLnTx/>
              <a:uFillTx/>
              <a:cs typeface="Arial" panose="020B0604020202020204" pitchFamily="34" charset="0"/>
            </a:endParaRPr>
          </a:p>
        </p:txBody>
      </p:sp>
      <p:sp>
        <p:nvSpPr>
          <p:cNvPr id="51" name="Rectangle 50">
            <a:extLst>
              <a:ext uri="{FF2B5EF4-FFF2-40B4-BE49-F238E27FC236}">
                <a16:creationId xmlns:a16="http://schemas.microsoft.com/office/drawing/2014/main" id="{FBEBC516-8A07-BAFC-852A-117D700E46D2}"/>
              </a:ext>
              <a:ext uri="{C183D7F6-B498-43B3-948B-1728B52AA6E4}">
                <adec:decorative xmlns:adec="http://schemas.microsoft.com/office/drawing/2017/decorative" val="1"/>
              </a:ext>
            </a:extLst>
          </p:cNvPr>
          <p:cNvSpPr/>
          <p:nvPr/>
        </p:nvSpPr>
        <p:spPr>
          <a:xfrm>
            <a:off x="4626898" y="1673831"/>
            <a:ext cx="2310915" cy="2475632"/>
          </a:xfrm>
          <a:prstGeom prst="rect">
            <a:avLst/>
          </a:prstGeom>
        </p:spPr>
        <p:txBody>
          <a:bodyPr wrap="square" anchor="ctr">
            <a:prstTxWarp prst="textArchDown">
              <a:avLst/>
            </a:prstTxWarp>
            <a:spAutoFit/>
          </a:bodyPr>
          <a:lstStyle/>
          <a:p>
            <a:pPr algn="ctr" defTabSz="914016">
              <a:defRPr/>
            </a:pPr>
            <a:endParaRPr lang="en-US" sz="1567">
              <a:gradFill>
                <a:gsLst>
                  <a:gs pos="83000">
                    <a:srgbClr val="282828"/>
                  </a:gs>
                  <a:gs pos="100000">
                    <a:srgbClr val="282828"/>
                  </a:gs>
                </a:gsLst>
                <a:lin ang="5400000" scaled="1"/>
              </a:gradFill>
              <a:cs typeface="Arial" panose="020B0604020202020204" pitchFamily="34" charset="0"/>
            </a:endParaRPr>
          </a:p>
        </p:txBody>
      </p:sp>
      <p:sp>
        <p:nvSpPr>
          <p:cNvPr id="53" name="Rectangle 52">
            <a:extLst>
              <a:ext uri="{FF2B5EF4-FFF2-40B4-BE49-F238E27FC236}">
                <a16:creationId xmlns:a16="http://schemas.microsoft.com/office/drawing/2014/main" id="{5516B165-3119-65F3-1A9A-186644749A1E}"/>
              </a:ext>
            </a:extLst>
          </p:cNvPr>
          <p:cNvSpPr/>
          <p:nvPr/>
        </p:nvSpPr>
        <p:spPr>
          <a:xfrm>
            <a:off x="9073840" y="1282853"/>
            <a:ext cx="1659429"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dirty="0">
                <a:ln>
                  <a:noFill/>
                </a:ln>
                <a:gradFill>
                  <a:gsLst>
                    <a:gs pos="83000">
                      <a:srgbClr val="282828"/>
                    </a:gs>
                    <a:gs pos="100000">
                      <a:srgbClr val="282828"/>
                    </a:gs>
                  </a:gsLst>
                  <a:lin ang="5400000" scaled="1"/>
                </a:gradFill>
                <a:effectLst/>
                <a:uLnTx/>
                <a:uFillTx/>
                <a:cs typeface="Arial" panose="020B0604020202020204" pitchFamily="34" charset="0"/>
              </a:rPr>
              <a:t>Private endpoints</a:t>
            </a:r>
          </a:p>
        </p:txBody>
      </p:sp>
      <p:sp>
        <p:nvSpPr>
          <p:cNvPr id="54" name="Rectangle 53">
            <a:extLst>
              <a:ext uri="{FF2B5EF4-FFF2-40B4-BE49-F238E27FC236}">
                <a16:creationId xmlns:a16="http://schemas.microsoft.com/office/drawing/2014/main" id="{BD7F5365-75D6-4A9E-B8BD-C81D24E73872}"/>
              </a:ext>
            </a:extLst>
          </p:cNvPr>
          <p:cNvSpPr/>
          <p:nvPr/>
        </p:nvSpPr>
        <p:spPr>
          <a:xfrm>
            <a:off x="9077959" y="1650363"/>
            <a:ext cx="2199641"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dirty="0">
                <a:ln>
                  <a:noFill/>
                </a:ln>
                <a:gradFill>
                  <a:gsLst>
                    <a:gs pos="83000">
                      <a:srgbClr val="282828"/>
                    </a:gs>
                    <a:gs pos="100000">
                      <a:srgbClr val="282828"/>
                    </a:gs>
                  </a:gsLst>
                  <a:lin ang="5400000" scaled="1"/>
                </a:gradFill>
                <a:effectLst/>
                <a:uLnTx/>
                <a:uFillTx/>
                <a:cs typeface="Arial" panose="020B0604020202020204" pitchFamily="34" charset="0"/>
              </a:rPr>
              <a:t>Azure Network Watcher</a:t>
            </a:r>
          </a:p>
        </p:txBody>
      </p:sp>
      <p:sp>
        <p:nvSpPr>
          <p:cNvPr id="55" name="Rectangle 54">
            <a:extLst>
              <a:ext uri="{FF2B5EF4-FFF2-40B4-BE49-F238E27FC236}">
                <a16:creationId xmlns:a16="http://schemas.microsoft.com/office/drawing/2014/main" id="{DF0C4E89-0810-7DD1-937A-24C5F9BF80C8}"/>
              </a:ext>
            </a:extLst>
          </p:cNvPr>
          <p:cNvSpPr/>
          <p:nvPr/>
        </p:nvSpPr>
        <p:spPr>
          <a:xfrm>
            <a:off x="9077959" y="1989344"/>
            <a:ext cx="1436612"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dirty="0">
                <a:ln>
                  <a:noFill/>
                </a:ln>
                <a:gradFill>
                  <a:gsLst>
                    <a:gs pos="83000">
                      <a:srgbClr val="282828"/>
                    </a:gs>
                    <a:gs pos="100000">
                      <a:srgbClr val="282828"/>
                    </a:gs>
                  </a:gsLst>
                  <a:lin ang="5400000" scaled="1"/>
                </a:gradFill>
                <a:effectLst/>
                <a:uLnTx/>
                <a:uFillTx/>
                <a:cs typeface="Arial" panose="020B0604020202020204" pitchFamily="34" charset="0"/>
              </a:rPr>
              <a:t>Azure Sentinel </a:t>
            </a:r>
          </a:p>
        </p:txBody>
      </p:sp>
      <p:sp>
        <p:nvSpPr>
          <p:cNvPr id="56" name="Rectangle 55">
            <a:extLst>
              <a:ext uri="{FF2B5EF4-FFF2-40B4-BE49-F238E27FC236}">
                <a16:creationId xmlns:a16="http://schemas.microsoft.com/office/drawing/2014/main" id="{8129C561-1335-5731-AB3A-27486F4FE1ED}"/>
              </a:ext>
            </a:extLst>
          </p:cNvPr>
          <p:cNvSpPr/>
          <p:nvPr/>
        </p:nvSpPr>
        <p:spPr>
          <a:xfrm>
            <a:off x="9077959" y="2355271"/>
            <a:ext cx="1420582"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a:ln>
                  <a:noFill/>
                </a:ln>
                <a:gradFill>
                  <a:gsLst>
                    <a:gs pos="83000">
                      <a:srgbClr val="282828"/>
                    </a:gs>
                    <a:gs pos="100000">
                      <a:srgbClr val="282828"/>
                    </a:gs>
                  </a:gsLst>
                  <a:lin ang="5400000" scaled="1"/>
                </a:gradFill>
                <a:effectLst/>
                <a:uLnTx/>
                <a:uFillTx/>
                <a:cs typeface="Arial" panose="020B0604020202020204" pitchFamily="34" charset="0"/>
              </a:rPr>
              <a:t>Azure Firewall </a:t>
            </a:r>
          </a:p>
        </p:txBody>
      </p:sp>
      <p:sp>
        <p:nvSpPr>
          <p:cNvPr id="57" name="Rectangle 56">
            <a:extLst>
              <a:ext uri="{FF2B5EF4-FFF2-40B4-BE49-F238E27FC236}">
                <a16:creationId xmlns:a16="http://schemas.microsoft.com/office/drawing/2014/main" id="{802066A6-0D3B-B257-81AA-B9C08AAFB24F}"/>
              </a:ext>
            </a:extLst>
          </p:cNvPr>
          <p:cNvSpPr/>
          <p:nvPr/>
        </p:nvSpPr>
        <p:spPr>
          <a:xfrm>
            <a:off x="9073840" y="2734534"/>
            <a:ext cx="1112805"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a:ln>
                  <a:noFill/>
                </a:ln>
                <a:gradFill>
                  <a:gsLst>
                    <a:gs pos="83000">
                      <a:srgbClr val="282828"/>
                    </a:gs>
                    <a:gs pos="100000">
                      <a:srgbClr val="282828"/>
                    </a:gs>
                  </a:gsLst>
                  <a:lin ang="5400000" scaled="1"/>
                </a:gradFill>
                <a:effectLst/>
                <a:uLnTx/>
                <a:uFillTx/>
                <a:cs typeface="Arial" panose="020B0604020202020204" pitchFamily="34" charset="0"/>
              </a:rPr>
              <a:t>Azure NSG </a:t>
            </a:r>
          </a:p>
        </p:txBody>
      </p:sp>
      <p:sp>
        <p:nvSpPr>
          <p:cNvPr id="58" name="Rectangle 57">
            <a:extLst>
              <a:ext uri="{FF2B5EF4-FFF2-40B4-BE49-F238E27FC236}">
                <a16:creationId xmlns:a16="http://schemas.microsoft.com/office/drawing/2014/main" id="{2A37138D-377A-B1CF-8CD5-37F1BE8D8839}"/>
              </a:ext>
            </a:extLst>
          </p:cNvPr>
          <p:cNvSpPr/>
          <p:nvPr/>
        </p:nvSpPr>
        <p:spPr>
          <a:xfrm>
            <a:off x="9077959" y="3113797"/>
            <a:ext cx="1249060"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dirty="0">
                <a:ln>
                  <a:noFill/>
                </a:ln>
                <a:gradFill>
                  <a:gsLst>
                    <a:gs pos="83000">
                      <a:srgbClr val="282828"/>
                    </a:gs>
                    <a:gs pos="100000">
                      <a:srgbClr val="282828"/>
                    </a:gs>
                  </a:gsLst>
                  <a:lin ang="5400000" scaled="1"/>
                </a:gradFill>
                <a:effectLst/>
                <a:uLnTx/>
                <a:uFillTx/>
                <a:cs typeface="Arial" panose="020B0604020202020204" pitchFamily="34" charset="0"/>
              </a:rPr>
              <a:t>Azure Policy </a:t>
            </a:r>
          </a:p>
        </p:txBody>
      </p:sp>
      <p:sp>
        <p:nvSpPr>
          <p:cNvPr id="59" name="Rectangle 58">
            <a:extLst>
              <a:ext uri="{FF2B5EF4-FFF2-40B4-BE49-F238E27FC236}">
                <a16:creationId xmlns:a16="http://schemas.microsoft.com/office/drawing/2014/main" id="{7BE1C305-A3F8-7A28-A43F-90C4392D528D}"/>
              </a:ext>
            </a:extLst>
          </p:cNvPr>
          <p:cNvSpPr/>
          <p:nvPr/>
        </p:nvSpPr>
        <p:spPr>
          <a:xfrm>
            <a:off x="9077959" y="3481307"/>
            <a:ext cx="1659429"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dirty="0">
                <a:ln>
                  <a:noFill/>
                </a:ln>
                <a:gradFill>
                  <a:gsLst>
                    <a:gs pos="83000">
                      <a:srgbClr val="282828"/>
                    </a:gs>
                    <a:gs pos="100000">
                      <a:srgbClr val="282828"/>
                    </a:gs>
                  </a:gsLst>
                  <a:lin ang="5400000" scaled="1"/>
                </a:gradFill>
                <a:effectLst/>
                <a:uLnTx/>
                <a:uFillTx/>
                <a:cs typeface="Arial" panose="020B0604020202020204" pitchFamily="34" charset="0"/>
              </a:rPr>
              <a:t>Service Endpoints</a:t>
            </a:r>
          </a:p>
        </p:txBody>
      </p:sp>
      <p:sp>
        <p:nvSpPr>
          <p:cNvPr id="60" name="Rectangle 59">
            <a:extLst>
              <a:ext uri="{FF2B5EF4-FFF2-40B4-BE49-F238E27FC236}">
                <a16:creationId xmlns:a16="http://schemas.microsoft.com/office/drawing/2014/main" id="{F1C11E1D-5644-F90E-BF97-A22E438AE5AA}"/>
              </a:ext>
            </a:extLst>
          </p:cNvPr>
          <p:cNvSpPr/>
          <p:nvPr/>
        </p:nvSpPr>
        <p:spPr>
          <a:xfrm>
            <a:off x="9077959" y="3847234"/>
            <a:ext cx="1199367"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a:ln>
                  <a:noFill/>
                </a:ln>
                <a:gradFill>
                  <a:gsLst>
                    <a:gs pos="83000">
                      <a:srgbClr val="282828"/>
                    </a:gs>
                    <a:gs pos="100000">
                      <a:srgbClr val="282828"/>
                    </a:gs>
                  </a:gsLst>
                  <a:lin ang="5400000" scaled="1"/>
                </a:gradFill>
                <a:effectLst/>
                <a:uLnTx/>
                <a:uFillTx/>
                <a:cs typeface="Arial" panose="020B0604020202020204" pitchFamily="34" charset="0"/>
              </a:rPr>
              <a:t>Service Tags</a:t>
            </a:r>
          </a:p>
        </p:txBody>
      </p:sp>
      <p:sp>
        <p:nvSpPr>
          <p:cNvPr id="61" name="Rectangle 60">
            <a:extLst>
              <a:ext uri="{FF2B5EF4-FFF2-40B4-BE49-F238E27FC236}">
                <a16:creationId xmlns:a16="http://schemas.microsoft.com/office/drawing/2014/main" id="{F6B05DA1-9D32-1651-763F-BBA2D6426912}"/>
              </a:ext>
            </a:extLst>
          </p:cNvPr>
          <p:cNvSpPr/>
          <p:nvPr/>
        </p:nvSpPr>
        <p:spPr>
          <a:xfrm>
            <a:off x="9077959" y="4189307"/>
            <a:ext cx="1697901" cy="333489"/>
          </a:xfrm>
          <a:prstGeom prst="rect">
            <a:avLst/>
          </a:prstGeom>
        </p:spPr>
        <p:txBody>
          <a:bodyPr wrap="none">
            <a:spAutoFit/>
          </a:bodyPr>
          <a:lstStyle/>
          <a:p>
            <a:pPr marL="0" marR="0" lvl="0" indent="0" defTabSz="914016" eaLnBrk="1" fontAlgn="auto" latinLnBrk="0" hangingPunct="1">
              <a:lnSpc>
                <a:spcPct val="100000"/>
              </a:lnSpc>
              <a:spcBef>
                <a:spcPts val="0"/>
              </a:spcBef>
              <a:spcAft>
                <a:spcPts val="0"/>
              </a:spcAft>
              <a:buClrTx/>
              <a:buSzTx/>
              <a:buFontTx/>
              <a:buNone/>
              <a:tabLst/>
              <a:defRPr/>
            </a:pPr>
            <a:r>
              <a:rPr kumimoji="0" lang="en-US" sz="1567" b="1" i="0" u="none" strike="noStrike" kern="0" cap="none" spc="0" normalizeH="0" baseline="0" noProof="0" dirty="0">
                <a:ln>
                  <a:noFill/>
                </a:ln>
                <a:gradFill>
                  <a:gsLst>
                    <a:gs pos="83000">
                      <a:srgbClr val="282828"/>
                    </a:gs>
                    <a:gs pos="100000">
                      <a:srgbClr val="282828"/>
                    </a:gs>
                  </a:gsLst>
                  <a:lin ang="5400000" scaled="1"/>
                </a:gradFill>
                <a:effectLst/>
                <a:uLnTx/>
                <a:uFillTx/>
                <a:cs typeface="Arial" panose="020B0604020202020204" pitchFamily="34" charset="0"/>
              </a:rPr>
              <a:t>Private DNS zones</a:t>
            </a:r>
          </a:p>
        </p:txBody>
      </p:sp>
      <p:sp>
        <p:nvSpPr>
          <p:cNvPr id="62" name="Left Brace 61">
            <a:extLst>
              <a:ext uri="{FF2B5EF4-FFF2-40B4-BE49-F238E27FC236}">
                <a16:creationId xmlns:a16="http://schemas.microsoft.com/office/drawing/2014/main" id="{6A476F2A-11A4-3F44-4DD5-28D85E126D63}"/>
              </a:ext>
            </a:extLst>
          </p:cNvPr>
          <p:cNvSpPr/>
          <p:nvPr/>
        </p:nvSpPr>
        <p:spPr>
          <a:xfrm>
            <a:off x="8763000" y="1384444"/>
            <a:ext cx="259167" cy="880349"/>
          </a:xfrm>
          <a:prstGeom prst="leftBrace">
            <a:avLst/>
          </a:prstGeom>
          <a:noFill/>
          <a:ln w="9525" cap="flat" cmpd="sng" algn="ctr">
            <a:solidFill>
              <a:srgbClr val="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63" name="Left Brace 62">
            <a:extLst>
              <a:ext uri="{FF2B5EF4-FFF2-40B4-BE49-F238E27FC236}">
                <a16:creationId xmlns:a16="http://schemas.microsoft.com/office/drawing/2014/main" id="{DD06C507-E2DA-427C-3596-5FEF3419F30F}"/>
              </a:ext>
            </a:extLst>
          </p:cNvPr>
          <p:cNvSpPr/>
          <p:nvPr/>
        </p:nvSpPr>
        <p:spPr>
          <a:xfrm>
            <a:off x="8767118" y="2480324"/>
            <a:ext cx="299419" cy="853039"/>
          </a:xfrm>
          <a:prstGeom prst="leftBrace">
            <a:avLst/>
          </a:prstGeom>
          <a:noFill/>
          <a:ln w="9525" cap="flat" cmpd="sng" algn="ctr">
            <a:solidFill>
              <a:srgbClr val="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64" name="Left Brace 63">
            <a:extLst>
              <a:ext uri="{FF2B5EF4-FFF2-40B4-BE49-F238E27FC236}">
                <a16:creationId xmlns:a16="http://schemas.microsoft.com/office/drawing/2014/main" id="{05EF4F68-7F61-9544-07F4-128DD6BC4D96}"/>
              </a:ext>
            </a:extLst>
          </p:cNvPr>
          <p:cNvSpPr/>
          <p:nvPr/>
        </p:nvSpPr>
        <p:spPr>
          <a:xfrm>
            <a:off x="8767118" y="3597729"/>
            <a:ext cx="299419" cy="817437"/>
          </a:xfrm>
          <a:prstGeom prst="leftBrace">
            <a:avLst/>
          </a:prstGeom>
          <a:noFill/>
          <a:ln w="9525" cap="flat" cmpd="sng" algn="ctr">
            <a:solidFill>
              <a:srgbClr val="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65" name="TextBox 64">
            <a:extLst>
              <a:ext uri="{FF2B5EF4-FFF2-40B4-BE49-F238E27FC236}">
                <a16:creationId xmlns:a16="http://schemas.microsoft.com/office/drawing/2014/main" id="{A5695E5E-7A41-1C1F-5D30-F1A8F5A0C664}"/>
              </a:ext>
            </a:extLst>
          </p:cNvPr>
          <p:cNvSpPr txBox="1"/>
          <p:nvPr/>
        </p:nvSpPr>
        <p:spPr>
          <a:xfrm>
            <a:off x="6682697" y="1594809"/>
            <a:ext cx="2344194" cy="489365"/>
          </a:xfrm>
          <a:prstGeom prst="rect">
            <a:avLst/>
          </a:prstGeom>
          <a:noFill/>
        </p:spPr>
        <p:txBody>
          <a:bodyPr wrap="square" lIns="182880" tIns="146304" rIns="182880" bIns="146304" rtlCol="0">
            <a:sp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US" sz="1400" b="0" i="0" u="none" strike="noStrike" kern="0" cap="none" spc="0" normalizeH="0" baseline="0" noProof="0" dirty="0">
                <a:ln>
                  <a:noFill/>
                </a:ln>
                <a:gradFill>
                  <a:gsLst>
                    <a:gs pos="2917">
                      <a:srgbClr val="000000"/>
                    </a:gs>
                    <a:gs pos="30000">
                      <a:srgbClr val="000000"/>
                    </a:gs>
                  </a:gsLst>
                  <a:lin ang="5400000" scaled="0"/>
                </a:gradFill>
                <a:effectLst/>
                <a:uLnTx/>
                <a:uFillTx/>
                <a:cs typeface="Arial" panose="020B0604020202020204" pitchFamily="34" charset="0"/>
              </a:rPr>
              <a:t>Prevent data exfiltration</a:t>
            </a:r>
          </a:p>
        </p:txBody>
      </p:sp>
      <p:sp>
        <p:nvSpPr>
          <p:cNvPr id="66" name="TextBox 65">
            <a:extLst>
              <a:ext uri="{FF2B5EF4-FFF2-40B4-BE49-F238E27FC236}">
                <a16:creationId xmlns:a16="http://schemas.microsoft.com/office/drawing/2014/main" id="{817DDC96-20A2-CD38-2C46-35CA9BB49FDE}"/>
              </a:ext>
            </a:extLst>
          </p:cNvPr>
          <p:cNvSpPr txBox="1"/>
          <p:nvPr/>
        </p:nvSpPr>
        <p:spPr>
          <a:xfrm>
            <a:off x="6682697" y="2662998"/>
            <a:ext cx="2595228" cy="489365"/>
          </a:xfrm>
          <a:prstGeom prst="rect">
            <a:avLst/>
          </a:prstGeom>
          <a:noFill/>
        </p:spPr>
        <p:txBody>
          <a:bodyPr wrap="square" lIns="182880" tIns="146304" rIns="182880" bIns="146304" rtlCol="0">
            <a:sp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US" sz="1400" b="0" i="0" u="none" strike="noStrike" kern="0" cap="none" spc="0" normalizeH="0" baseline="0" noProof="0" dirty="0">
                <a:ln>
                  <a:noFill/>
                </a:ln>
                <a:gradFill>
                  <a:gsLst>
                    <a:gs pos="2917">
                      <a:srgbClr val="000000"/>
                    </a:gs>
                    <a:gs pos="30000">
                      <a:srgbClr val="000000"/>
                    </a:gs>
                  </a:gsLst>
                  <a:lin ang="5400000" scaled="0"/>
                </a:gradFill>
                <a:effectLst/>
                <a:uLnTx/>
                <a:uFillTx/>
                <a:cs typeface="Arial" panose="020B0604020202020204" pitchFamily="34" charset="0"/>
              </a:rPr>
              <a:t>Security compliance</a:t>
            </a:r>
          </a:p>
        </p:txBody>
      </p:sp>
      <p:sp>
        <p:nvSpPr>
          <p:cNvPr id="67" name="TextBox 66">
            <a:extLst>
              <a:ext uri="{FF2B5EF4-FFF2-40B4-BE49-F238E27FC236}">
                <a16:creationId xmlns:a16="http://schemas.microsoft.com/office/drawing/2014/main" id="{1828E25C-64F8-7069-EBFC-0D96DC6021ED}"/>
              </a:ext>
            </a:extLst>
          </p:cNvPr>
          <p:cNvSpPr txBox="1"/>
          <p:nvPr/>
        </p:nvSpPr>
        <p:spPr>
          <a:xfrm>
            <a:off x="6682697" y="3749288"/>
            <a:ext cx="2595228" cy="489365"/>
          </a:xfrm>
          <a:prstGeom prst="rect">
            <a:avLst/>
          </a:prstGeom>
          <a:noFill/>
        </p:spPr>
        <p:txBody>
          <a:bodyPr wrap="square" lIns="182880" tIns="146304" rIns="182880" bIns="146304" rtlCol="0">
            <a:sp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US" sz="1400" b="0" i="0" u="none" strike="noStrike" kern="0" cap="none" spc="0" normalizeH="0" baseline="0" noProof="0" dirty="0">
                <a:ln>
                  <a:noFill/>
                </a:ln>
                <a:gradFill>
                  <a:gsLst>
                    <a:gs pos="2917">
                      <a:srgbClr val="000000"/>
                    </a:gs>
                    <a:gs pos="30000">
                      <a:srgbClr val="000000"/>
                    </a:gs>
                  </a:gsLst>
                  <a:lin ang="5400000" scaled="0"/>
                </a:gradFill>
                <a:effectLst/>
                <a:uLnTx/>
                <a:uFillTx/>
                <a:cs typeface="Arial" panose="020B0604020202020204" pitchFamily="34" charset="0"/>
              </a:rPr>
              <a:t>Gain more control</a:t>
            </a:r>
          </a:p>
        </p:txBody>
      </p:sp>
      <p:sp>
        <p:nvSpPr>
          <p:cNvPr id="68" name="Rectangle 67">
            <a:extLst>
              <a:ext uri="{FF2B5EF4-FFF2-40B4-BE49-F238E27FC236}">
                <a16:creationId xmlns:a16="http://schemas.microsoft.com/office/drawing/2014/main" id="{51464860-15CD-0DDA-0DAA-BEE471F28403}"/>
              </a:ext>
            </a:extLst>
          </p:cNvPr>
          <p:cNvSpPr/>
          <p:nvPr/>
        </p:nvSpPr>
        <p:spPr bwMode="auto">
          <a:xfrm>
            <a:off x="4744130" y="882934"/>
            <a:ext cx="6652939" cy="4066529"/>
          </a:xfrm>
          <a:prstGeom prst="rect">
            <a:avLst/>
          </a:prstGeom>
          <a:noFill/>
          <a:ln w="9525" cap="flat" cmpd="sng" algn="ctr">
            <a:solidFill>
              <a:srgbClr val="00B050"/>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90000"/>
              </a:lnSpc>
              <a:spcBef>
                <a:spcPct val="0"/>
              </a:spcBef>
              <a:spcAft>
                <a:spcPct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Arial" panose="020B0604020202020204" pitchFamily="34" charset="0"/>
                <a:ea typeface="Segoe UI" pitchFamily="34" charset="0"/>
                <a:cs typeface="Arial" panose="020B0604020202020204" pitchFamily="34" charset="0"/>
              </a:rPr>
              <a:t>Azure vNet</a:t>
            </a:r>
          </a:p>
        </p:txBody>
      </p:sp>
      <p:sp>
        <p:nvSpPr>
          <p:cNvPr id="69" name="Rectangle 68">
            <a:extLst>
              <a:ext uri="{FF2B5EF4-FFF2-40B4-BE49-F238E27FC236}">
                <a16:creationId xmlns:a16="http://schemas.microsoft.com/office/drawing/2014/main" id="{2E3FE2DE-13BB-0589-23A0-F4FD71287A70}"/>
              </a:ext>
            </a:extLst>
          </p:cNvPr>
          <p:cNvSpPr/>
          <p:nvPr/>
        </p:nvSpPr>
        <p:spPr>
          <a:xfrm>
            <a:off x="51477" y="1645396"/>
            <a:ext cx="2642775" cy="333489"/>
          </a:xfrm>
          <a:prstGeom prst="rect">
            <a:avLst/>
          </a:prstGeom>
        </p:spPr>
        <p:txBody>
          <a:bodyPr wrap="square">
            <a:spAutoFit/>
          </a:bodyPr>
          <a:lstStyle/>
          <a:p>
            <a:pPr defTabSz="914016">
              <a:defRPr/>
            </a:pPr>
            <a:r>
              <a:rPr lang="en-US" sz="1567" b="1" dirty="0">
                <a:gradFill>
                  <a:gsLst>
                    <a:gs pos="83000">
                      <a:srgbClr val="282828"/>
                    </a:gs>
                    <a:gs pos="100000">
                      <a:srgbClr val="282828"/>
                    </a:gs>
                  </a:gsLst>
                  <a:lin ang="5400000" scaled="1"/>
                </a:gradFill>
                <a:cs typeface="Arial" panose="020B0604020202020204" pitchFamily="34" charset="0"/>
              </a:rPr>
              <a:t>Continuous Access Evaluation</a:t>
            </a:r>
          </a:p>
        </p:txBody>
      </p:sp>
      <p:sp>
        <p:nvSpPr>
          <p:cNvPr id="70" name="Rectangle 69">
            <a:extLst>
              <a:ext uri="{FF2B5EF4-FFF2-40B4-BE49-F238E27FC236}">
                <a16:creationId xmlns:a16="http://schemas.microsoft.com/office/drawing/2014/main" id="{280ABB34-FCAB-4588-1B4F-C69C7C67E494}"/>
              </a:ext>
            </a:extLst>
          </p:cNvPr>
          <p:cNvSpPr/>
          <p:nvPr/>
        </p:nvSpPr>
        <p:spPr>
          <a:xfrm>
            <a:off x="51477" y="2760115"/>
            <a:ext cx="2691723" cy="333489"/>
          </a:xfrm>
          <a:prstGeom prst="rect">
            <a:avLst/>
          </a:prstGeom>
        </p:spPr>
        <p:txBody>
          <a:bodyPr wrap="square">
            <a:spAutoFit/>
          </a:bodyPr>
          <a:lstStyle/>
          <a:p>
            <a:pPr defTabSz="914016">
              <a:defRPr/>
            </a:pPr>
            <a:r>
              <a:rPr lang="en-US" sz="1567" b="1" dirty="0">
                <a:gradFill>
                  <a:gsLst>
                    <a:gs pos="83000">
                      <a:srgbClr val="282828"/>
                    </a:gs>
                    <a:gs pos="100000">
                      <a:srgbClr val="282828"/>
                    </a:gs>
                  </a:gsLst>
                  <a:lin ang="5400000" scaled="1"/>
                </a:gradFill>
                <a:cs typeface="Arial" panose="020B0604020202020204" pitchFamily="34" charset="0"/>
              </a:rPr>
              <a:t>Data policies</a:t>
            </a:r>
          </a:p>
        </p:txBody>
      </p:sp>
      <p:sp>
        <p:nvSpPr>
          <p:cNvPr id="71" name="Rectangle 70">
            <a:extLst>
              <a:ext uri="{FF2B5EF4-FFF2-40B4-BE49-F238E27FC236}">
                <a16:creationId xmlns:a16="http://schemas.microsoft.com/office/drawing/2014/main" id="{4B174DC0-46BE-BAD6-3D5D-CD843F8E7124}"/>
              </a:ext>
            </a:extLst>
          </p:cNvPr>
          <p:cNvSpPr/>
          <p:nvPr/>
        </p:nvSpPr>
        <p:spPr>
          <a:xfrm>
            <a:off x="51477" y="3557412"/>
            <a:ext cx="2142574" cy="333489"/>
          </a:xfrm>
          <a:prstGeom prst="rect">
            <a:avLst/>
          </a:prstGeom>
        </p:spPr>
        <p:txBody>
          <a:bodyPr wrap="none">
            <a:spAutoFit/>
          </a:bodyPr>
          <a:lstStyle/>
          <a:p>
            <a:pPr defTabSz="914016">
              <a:defRPr/>
            </a:pPr>
            <a:r>
              <a:rPr lang="en-US" sz="1567" b="1" dirty="0">
                <a:gradFill>
                  <a:gsLst>
                    <a:gs pos="83000">
                      <a:srgbClr val="282828"/>
                    </a:gs>
                    <a:gs pos="100000">
                      <a:srgbClr val="282828"/>
                    </a:gs>
                  </a:gsLst>
                  <a:lin ang="5400000" scaled="1"/>
                </a:gradFill>
                <a:cs typeface="Arial" panose="020B0604020202020204" pitchFamily="34" charset="0"/>
              </a:rPr>
              <a:t>IP based cookie binding</a:t>
            </a:r>
          </a:p>
        </p:txBody>
      </p:sp>
      <p:sp>
        <p:nvSpPr>
          <p:cNvPr id="72" name="Rectangle 71">
            <a:extLst>
              <a:ext uri="{FF2B5EF4-FFF2-40B4-BE49-F238E27FC236}">
                <a16:creationId xmlns:a16="http://schemas.microsoft.com/office/drawing/2014/main" id="{12FCC077-986A-48AC-AD05-5955A8F45FC8}"/>
              </a:ext>
            </a:extLst>
          </p:cNvPr>
          <p:cNvSpPr/>
          <p:nvPr/>
        </p:nvSpPr>
        <p:spPr>
          <a:xfrm>
            <a:off x="51477" y="3923339"/>
            <a:ext cx="1019253" cy="333489"/>
          </a:xfrm>
          <a:prstGeom prst="rect">
            <a:avLst/>
          </a:prstGeom>
        </p:spPr>
        <p:txBody>
          <a:bodyPr wrap="none">
            <a:spAutoFit/>
          </a:bodyPr>
          <a:lstStyle/>
          <a:p>
            <a:pPr defTabSz="914016">
              <a:defRPr/>
            </a:pPr>
            <a:r>
              <a:rPr lang="en-US" sz="1567" b="1">
                <a:gradFill>
                  <a:gsLst>
                    <a:gs pos="83000">
                      <a:srgbClr val="282828"/>
                    </a:gs>
                    <a:gs pos="100000">
                      <a:srgbClr val="282828"/>
                    </a:gs>
                  </a:gsLst>
                  <a:lin ang="5400000" scaled="1"/>
                </a:gradFill>
                <a:cs typeface="Arial" panose="020B0604020202020204" pitchFamily="34" charset="0"/>
              </a:rPr>
              <a:t>IP firewall</a:t>
            </a:r>
          </a:p>
        </p:txBody>
      </p:sp>
      <p:sp>
        <p:nvSpPr>
          <p:cNvPr id="73" name="Rectangle 72">
            <a:extLst>
              <a:ext uri="{FF2B5EF4-FFF2-40B4-BE49-F238E27FC236}">
                <a16:creationId xmlns:a16="http://schemas.microsoft.com/office/drawing/2014/main" id="{8A4E28D4-2462-924E-B7F8-12E6835B24DC}"/>
              </a:ext>
            </a:extLst>
          </p:cNvPr>
          <p:cNvSpPr/>
          <p:nvPr/>
        </p:nvSpPr>
        <p:spPr>
          <a:xfrm>
            <a:off x="51477" y="4290849"/>
            <a:ext cx="1352999" cy="333489"/>
          </a:xfrm>
          <a:prstGeom prst="rect">
            <a:avLst/>
          </a:prstGeom>
        </p:spPr>
        <p:txBody>
          <a:bodyPr wrap="none">
            <a:spAutoFit/>
          </a:bodyPr>
          <a:lstStyle/>
          <a:p>
            <a:pPr defTabSz="914016">
              <a:defRPr/>
            </a:pPr>
            <a:r>
              <a:rPr lang="en-US" sz="1567" b="1">
                <a:gradFill>
                  <a:gsLst>
                    <a:gs pos="83000">
                      <a:srgbClr val="282828"/>
                    </a:gs>
                    <a:gs pos="100000">
                      <a:srgbClr val="282828"/>
                    </a:gs>
                  </a:gsLst>
                  <a:lin ang="5400000" scaled="1"/>
                </a:gradFill>
                <a:cs typeface="Arial" panose="020B0604020202020204" pitchFamily="34" charset="0"/>
              </a:rPr>
              <a:t>Reverse proxy</a:t>
            </a:r>
          </a:p>
        </p:txBody>
      </p:sp>
      <p:sp>
        <p:nvSpPr>
          <p:cNvPr id="74" name="TextBox 73">
            <a:extLst>
              <a:ext uri="{FF2B5EF4-FFF2-40B4-BE49-F238E27FC236}">
                <a16:creationId xmlns:a16="http://schemas.microsoft.com/office/drawing/2014/main" id="{5E4BDEF6-0F7F-492D-036E-5115A70FFF39}"/>
              </a:ext>
            </a:extLst>
          </p:cNvPr>
          <p:cNvSpPr txBox="1"/>
          <p:nvPr/>
        </p:nvSpPr>
        <p:spPr>
          <a:xfrm>
            <a:off x="2943216" y="1589437"/>
            <a:ext cx="2344194" cy="489365"/>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rgbClr val="000000"/>
                    </a:gs>
                    <a:gs pos="30000">
                      <a:srgbClr val="000000"/>
                    </a:gs>
                  </a:gsLst>
                  <a:lin ang="5400000" scaled="0"/>
                </a:gradFill>
                <a:cs typeface="Arial" panose="020B0604020202020204" pitchFamily="34" charset="0"/>
              </a:rPr>
              <a:t>Secure identity</a:t>
            </a:r>
          </a:p>
        </p:txBody>
      </p:sp>
      <p:sp>
        <p:nvSpPr>
          <p:cNvPr id="75" name="TextBox 74">
            <a:extLst>
              <a:ext uri="{FF2B5EF4-FFF2-40B4-BE49-F238E27FC236}">
                <a16:creationId xmlns:a16="http://schemas.microsoft.com/office/drawing/2014/main" id="{830B8A8A-8E2B-3F5F-C13E-F4B0F8B8D2F7}"/>
              </a:ext>
            </a:extLst>
          </p:cNvPr>
          <p:cNvSpPr txBox="1"/>
          <p:nvPr/>
        </p:nvSpPr>
        <p:spPr>
          <a:xfrm>
            <a:off x="2943216" y="2695751"/>
            <a:ext cx="2595228" cy="489365"/>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rgbClr val="000000"/>
                    </a:gs>
                    <a:gs pos="30000">
                      <a:srgbClr val="000000"/>
                    </a:gs>
                  </a:gsLst>
                  <a:lin ang="5400000" scaled="0"/>
                </a:gradFill>
                <a:cs typeface="Arial" panose="020B0604020202020204" pitchFamily="34" charset="0"/>
              </a:rPr>
              <a:t>Secure endpoints</a:t>
            </a:r>
          </a:p>
        </p:txBody>
      </p:sp>
      <p:sp>
        <p:nvSpPr>
          <p:cNvPr id="76" name="TextBox 75">
            <a:extLst>
              <a:ext uri="{FF2B5EF4-FFF2-40B4-BE49-F238E27FC236}">
                <a16:creationId xmlns:a16="http://schemas.microsoft.com/office/drawing/2014/main" id="{6EBDD623-3F00-9DCA-5A7A-96CC506A4FAC}"/>
              </a:ext>
            </a:extLst>
          </p:cNvPr>
          <p:cNvSpPr txBox="1"/>
          <p:nvPr/>
        </p:nvSpPr>
        <p:spPr>
          <a:xfrm>
            <a:off x="2943216" y="3847234"/>
            <a:ext cx="2595228" cy="489365"/>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rgbClr val="000000"/>
                    </a:gs>
                    <a:gs pos="30000">
                      <a:srgbClr val="000000"/>
                    </a:gs>
                  </a:gsLst>
                  <a:lin ang="5400000" scaled="0"/>
                </a:gradFill>
                <a:cs typeface="Arial" panose="020B0604020202020204" pitchFamily="34" charset="0"/>
              </a:rPr>
              <a:t>Secure network</a:t>
            </a:r>
          </a:p>
        </p:txBody>
      </p:sp>
      <p:sp>
        <p:nvSpPr>
          <p:cNvPr id="77" name="Right Brace 76">
            <a:extLst>
              <a:ext uri="{FF2B5EF4-FFF2-40B4-BE49-F238E27FC236}">
                <a16:creationId xmlns:a16="http://schemas.microsoft.com/office/drawing/2014/main" id="{E62863B5-D892-945A-38DD-A13E3D1FBF41}"/>
              </a:ext>
            </a:extLst>
          </p:cNvPr>
          <p:cNvSpPr/>
          <p:nvPr/>
        </p:nvSpPr>
        <p:spPr>
          <a:xfrm>
            <a:off x="2760482" y="1601996"/>
            <a:ext cx="197938" cy="460050"/>
          </a:xfrm>
          <a:prstGeom prst="rightBrace">
            <a:avLst/>
          </a:prstGeom>
          <a:noFill/>
          <a:ln w="9525" cap="flat" cmpd="sng" algn="ctr">
            <a:solidFill>
              <a:srgbClr val="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78" name="Right Brace 77">
            <a:extLst>
              <a:ext uri="{FF2B5EF4-FFF2-40B4-BE49-F238E27FC236}">
                <a16:creationId xmlns:a16="http://schemas.microsoft.com/office/drawing/2014/main" id="{B54C5101-DBB0-4C9C-8278-084133124957}"/>
              </a:ext>
            </a:extLst>
          </p:cNvPr>
          <p:cNvSpPr/>
          <p:nvPr/>
        </p:nvSpPr>
        <p:spPr>
          <a:xfrm>
            <a:off x="2786100" y="2738754"/>
            <a:ext cx="149813" cy="411428"/>
          </a:xfrm>
          <a:prstGeom prst="rightBrace">
            <a:avLst/>
          </a:prstGeom>
          <a:noFill/>
          <a:ln w="9525" cap="flat" cmpd="sng" algn="ctr">
            <a:solidFill>
              <a:srgbClr val="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79" name="Right Brace 78">
            <a:extLst>
              <a:ext uri="{FF2B5EF4-FFF2-40B4-BE49-F238E27FC236}">
                <a16:creationId xmlns:a16="http://schemas.microsoft.com/office/drawing/2014/main" id="{EA73A63F-EC95-DB22-8CC0-AFAB09EEB568}"/>
              </a:ext>
            </a:extLst>
          </p:cNvPr>
          <p:cNvSpPr/>
          <p:nvPr/>
        </p:nvSpPr>
        <p:spPr>
          <a:xfrm>
            <a:off x="2727989" y="3710796"/>
            <a:ext cx="243811" cy="746501"/>
          </a:xfrm>
          <a:prstGeom prst="rightBrace">
            <a:avLst/>
          </a:prstGeom>
          <a:noFill/>
          <a:ln w="9525" cap="flat" cmpd="sng" algn="ctr">
            <a:solidFill>
              <a:srgbClr val="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Arial" panose="020B0604020202020204" pitchFamily="34" charset="0"/>
            </a:endParaRPr>
          </a:p>
        </p:txBody>
      </p:sp>
      <p:pic>
        <p:nvPicPr>
          <p:cNvPr id="80" name="!! xx" descr="Microsoft Dataverse icon">
            <a:extLst>
              <a:ext uri="{FF2B5EF4-FFF2-40B4-BE49-F238E27FC236}">
                <a16:creationId xmlns:a16="http://schemas.microsoft.com/office/drawing/2014/main" id="{49642BFC-320F-1173-ED1C-BCFBCD609C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36713" y="3213504"/>
            <a:ext cx="356731" cy="364373"/>
          </a:xfrm>
          <a:prstGeom prst="rect">
            <a:avLst/>
          </a:prstGeom>
          <a:effectLst/>
        </p:spPr>
      </p:pic>
      <p:pic>
        <p:nvPicPr>
          <p:cNvPr id="81" name="Picture 80" descr="Power Apps icon">
            <a:extLst>
              <a:ext uri="{FF2B5EF4-FFF2-40B4-BE49-F238E27FC236}">
                <a16:creationId xmlns:a16="http://schemas.microsoft.com/office/drawing/2014/main" id="{03A4E219-C364-A81E-4699-EBCED4FE7ED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29389" y="2768547"/>
            <a:ext cx="287351" cy="287351"/>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82" name="Picture 4" descr="Power Automate icon">
            <a:extLst>
              <a:ext uri="{FF2B5EF4-FFF2-40B4-BE49-F238E27FC236}">
                <a16:creationId xmlns:a16="http://schemas.microsoft.com/office/drawing/2014/main" id="{906077B3-27F6-7B31-F2B9-FAC78AB64C8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92004" y="2785639"/>
            <a:ext cx="293411" cy="293411"/>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83" name="Picture 82" descr="Power Pages icon">
            <a:extLst>
              <a:ext uri="{FF2B5EF4-FFF2-40B4-BE49-F238E27FC236}">
                <a16:creationId xmlns:a16="http://schemas.microsoft.com/office/drawing/2014/main" id="{B1AECF36-F87E-8129-27AC-13A8BB95807F}"/>
              </a:ext>
            </a:extLst>
          </p:cNvPr>
          <p:cNvPicPr>
            <a:picLocks noChangeAspect="1"/>
          </p:cNvPicPr>
          <p:nvPr/>
        </p:nvPicPr>
        <p:blipFill>
          <a:blip r:embed="rId7"/>
          <a:stretch>
            <a:fillRect/>
          </a:stretch>
        </p:blipFill>
        <p:spPr>
          <a:xfrm>
            <a:off x="5256181" y="2267347"/>
            <a:ext cx="315881" cy="297736"/>
          </a:xfrm>
          <a:prstGeom prst="rect">
            <a:avLst/>
          </a:prstGeom>
          <a:noFill/>
          <a:effectLst/>
        </p:spPr>
      </p:pic>
      <p:grpSp>
        <p:nvGrpSpPr>
          <p:cNvPr id="84" name="Group 83">
            <a:extLst>
              <a:ext uri="{FF2B5EF4-FFF2-40B4-BE49-F238E27FC236}">
                <a16:creationId xmlns:a16="http://schemas.microsoft.com/office/drawing/2014/main" id="{3FD4C965-1A30-E46B-95AA-5F694D3F52BE}"/>
              </a:ext>
            </a:extLst>
          </p:cNvPr>
          <p:cNvGrpSpPr/>
          <p:nvPr/>
        </p:nvGrpSpPr>
        <p:grpSpPr>
          <a:xfrm>
            <a:off x="65737" y="5387101"/>
            <a:ext cx="11827992" cy="61768"/>
            <a:chOff x="342457" y="1866037"/>
            <a:chExt cx="11827992" cy="61768"/>
          </a:xfrm>
          <a:solidFill>
            <a:schemeClr val="bg1"/>
          </a:solidFill>
        </p:grpSpPr>
        <p:cxnSp>
          <p:nvCxnSpPr>
            <p:cNvPr id="85" name="Straight Arrow Connector 84">
              <a:extLst>
                <a:ext uri="{FF2B5EF4-FFF2-40B4-BE49-F238E27FC236}">
                  <a16:creationId xmlns:a16="http://schemas.microsoft.com/office/drawing/2014/main" id="{E97F12E2-6652-D6B4-D256-AED50904F794}"/>
                </a:ext>
              </a:extLst>
            </p:cNvPr>
            <p:cNvCxnSpPr>
              <a:cxnSpLocks/>
            </p:cNvCxnSpPr>
            <p:nvPr/>
          </p:nvCxnSpPr>
          <p:spPr>
            <a:xfrm flipV="1">
              <a:off x="342457" y="1866037"/>
              <a:ext cx="5227369" cy="61768"/>
            </a:xfrm>
            <a:prstGeom prst="straightConnector1">
              <a:avLst/>
            </a:prstGeom>
            <a:grpFill/>
            <a:ln w="9525" cap="flat" cmpd="sng" algn="ctr">
              <a:solidFill>
                <a:schemeClr val="tx1"/>
              </a:solidFill>
              <a:prstDash val="solid"/>
              <a:headEnd type="none"/>
              <a:tailEnd type="triangle"/>
            </a:ln>
            <a:effectLst/>
          </p:spPr>
        </p:cxnSp>
        <p:cxnSp>
          <p:nvCxnSpPr>
            <p:cNvPr id="86" name="Straight Arrow Connector 85">
              <a:extLst>
                <a:ext uri="{FF2B5EF4-FFF2-40B4-BE49-F238E27FC236}">
                  <a16:creationId xmlns:a16="http://schemas.microsoft.com/office/drawing/2014/main" id="{BE8E5F2A-DDB3-B6D4-DFA7-127D270C8950}"/>
                </a:ext>
              </a:extLst>
            </p:cNvPr>
            <p:cNvCxnSpPr>
              <a:cxnSpLocks/>
            </p:cNvCxnSpPr>
            <p:nvPr/>
          </p:nvCxnSpPr>
          <p:spPr>
            <a:xfrm>
              <a:off x="6379750" y="1899853"/>
              <a:ext cx="5790699" cy="27952"/>
            </a:xfrm>
            <a:prstGeom prst="straightConnector1">
              <a:avLst/>
            </a:prstGeom>
            <a:grpFill/>
            <a:ln w="9525" cap="flat" cmpd="sng" algn="ctr">
              <a:solidFill>
                <a:schemeClr val="tx1"/>
              </a:solidFill>
              <a:prstDash val="solid"/>
              <a:headEnd type="none"/>
              <a:tailEnd type="triangle"/>
            </a:ln>
            <a:effectLst/>
          </p:spPr>
        </p:cxnSp>
      </p:grpSp>
      <p:sp>
        <p:nvSpPr>
          <p:cNvPr id="87" name="TextBox 86">
            <a:extLst>
              <a:ext uri="{FF2B5EF4-FFF2-40B4-BE49-F238E27FC236}">
                <a16:creationId xmlns:a16="http://schemas.microsoft.com/office/drawing/2014/main" id="{5BCACDC1-2F33-D613-48FA-9F94DA8384D3}"/>
              </a:ext>
            </a:extLst>
          </p:cNvPr>
          <p:cNvSpPr txBox="1"/>
          <p:nvPr/>
        </p:nvSpPr>
        <p:spPr>
          <a:xfrm>
            <a:off x="7858918" y="5315928"/>
            <a:ext cx="1914412" cy="215444"/>
          </a:xfrm>
          <a:prstGeom prst="rect">
            <a:avLst/>
          </a:prstGeom>
          <a:solidFill>
            <a:schemeClr val="tx1"/>
          </a:solid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chemeClr val="bg2"/>
                </a:solidFill>
                <a:effectLst/>
                <a:uLnTx/>
                <a:uFillTx/>
                <a:latin typeface="Arial" panose="020B0604020202020204" pitchFamily="34" charset="0"/>
                <a:cs typeface="Arial" panose="020B0604020202020204" pitchFamily="34" charset="0"/>
              </a:rPr>
              <a:t> Outbound connectivity</a:t>
            </a:r>
          </a:p>
        </p:txBody>
      </p:sp>
      <p:sp>
        <p:nvSpPr>
          <p:cNvPr id="88" name="TextBox 87">
            <a:extLst>
              <a:ext uri="{FF2B5EF4-FFF2-40B4-BE49-F238E27FC236}">
                <a16:creationId xmlns:a16="http://schemas.microsoft.com/office/drawing/2014/main" id="{A7EA5998-1EB2-249A-8C2F-6FE0F85A0DED}"/>
              </a:ext>
            </a:extLst>
          </p:cNvPr>
          <p:cNvSpPr txBox="1"/>
          <p:nvPr/>
        </p:nvSpPr>
        <p:spPr>
          <a:xfrm>
            <a:off x="1702709" y="5312510"/>
            <a:ext cx="1723542" cy="215444"/>
          </a:xfrm>
          <a:prstGeom prst="rect">
            <a:avLst/>
          </a:prstGeom>
          <a:solidFill>
            <a:schemeClr val="tx1"/>
          </a:solid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chemeClr val="bg2"/>
                </a:solidFill>
                <a:effectLst/>
                <a:uLnTx/>
                <a:uFillTx/>
                <a:latin typeface="Arial" panose="020B0604020202020204" pitchFamily="34" charset="0"/>
                <a:cs typeface="Arial" panose="020B0604020202020204" pitchFamily="34" charset="0"/>
              </a:rPr>
              <a:t> Inbound connectivity</a:t>
            </a:r>
          </a:p>
        </p:txBody>
      </p:sp>
      <p:pic>
        <p:nvPicPr>
          <p:cNvPr id="89" name="Picture 4" descr="Microsoft">
            <a:extLst>
              <a:ext uri="{FF2B5EF4-FFF2-40B4-BE49-F238E27FC236}">
                <a16:creationId xmlns:a16="http://schemas.microsoft.com/office/drawing/2014/main" id="{C630980B-4C38-8529-F9DF-24392ED3395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20076" y="2255263"/>
            <a:ext cx="365339" cy="326978"/>
          </a:xfrm>
          <a:prstGeom prst="rect">
            <a:avLst/>
          </a:prstGeom>
          <a:noFill/>
          <a:extLst>
            <a:ext uri="{909E8E84-426E-40DD-AFC4-6F175D3DCCD1}">
              <a14:hiddenFill xmlns:a14="http://schemas.microsoft.com/office/drawing/2010/main">
                <a:solidFill>
                  <a:srgbClr val="FFFFFF"/>
                </a:solidFill>
              </a14:hiddenFill>
            </a:ext>
          </a:extLst>
        </p:spPr>
      </p:pic>
      <p:pic>
        <p:nvPicPr>
          <p:cNvPr id="90" name="Graphic 89" descr="Microsoft Power Platform icon">
            <a:extLst>
              <a:ext uri="{FF2B5EF4-FFF2-40B4-BE49-F238E27FC236}">
                <a16:creationId xmlns:a16="http://schemas.microsoft.com/office/drawing/2014/main" id="{8DF04E1A-5342-1F13-D7B6-895B611CFF7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71669" y="5107132"/>
            <a:ext cx="621658" cy="621660"/>
          </a:xfrm>
          <a:prstGeom prst="rect">
            <a:avLst/>
          </a:prstGeom>
        </p:spPr>
      </p:pic>
    </p:spTree>
    <p:extLst>
      <p:ext uri="{BB962C8B-B14F-4D97-AF65-F5344CB8AC3E}">
        <p14:creationId xmlns:p14="http://schemas.microsoft.com/office/powerpoint/2010/main" val="3887750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D5A1-504D-8314-AAB3-91408B481B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FC994BE-F44C-673E-0749-82C31A5CD9E8}"/>
              </a:ext>
            </a:extLst>
          </p:cNvPr>
          <p:cNvSpPr>
            <a:spLocks noGrp="1"/>
          </p:cNvSpPr>
          <p:nvPr>
            <p:ph type="body" sz="quarter" idx="10"/>
          </p:nvPr>
        </p:nvSpPr>
        <p:spPr/>
        <p:txBody>
          <a:bodyPr/>
          <a:lstStyle/>
          <a:p>
            <a:r>
              <a:rPr lang="en-US" noProof="0" dirty="0"/>
              <a:t>Network Security</a:t>
            </a:r>
          </a:p>
        </p:txBody>
      </p:sp>
      <p:grpSp>
        <p:nvGrpSpPr>
          <p:cNvPr id="25" name="Group 24">
            <a:extLst>
              <a:ext uri="{FF2B5EF4-FFF2-40B4-BE49-F238E27FC236}">
                <a16:creationId xmlns:a16="http://schemas.microsoft.com/office/drawing/2014/main" id="{388541D6-FED9-70B2-6FCB-A2C08445B1B0}"/>
              </a:ext>
            </a:extLst>
          </p:cNvPr>
          <p:cNvGrpSpPr/>
          <p:nvPr/>
        </p:nvGrpSpPr>
        <p:grpSpPr>
          <a:xfrm>
            <a:off x="1790184" y="1610889"/>
            <a:ext cx="2461366" cy="2151988"/>
            <a:chOff x="8640607" y="1161888"/>
            <a:chExt cx="2461366" cy="1837358"/>
          </a:xfrm>
        </p:grpSpPr>
        <p:sp>
          <p:nvSpPr>
            <p:cNvPr id="26" name="Rectangle: Top Corners Rounded 25">
              <a:extLst>
                <a:ext uri="{FF2B5EF4-FFF2-40B4-BE49-F238E27FC236}">
                  <a16:creationId xmlns:a16="http://schemas.microsoft.com/office/drawing/2014/main" id="{2ACA244D-A52F-73B1-D207-6FB3D9A24104}"/>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27" name="Rectangle: Top Corners Rounded 4">
              <a:extLst>
                <a:ext uri="{FF2B5EF4-FFF2-40B4-BE49-F238E27FC236}">
                  <a16:creationId xmlns:a16="http://schemas.microsoft.com/office/drawing/2014/main" id="{B9CDCA32-0B74-C7FE-5FAC-D46E0885EF4C}"/>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ea typeface="+mn-ea"/>
                  <a:cs typeface="Segoe UI" charset="0"/>
                </a:rPr>
                <a:t>Filter inbound and outbound traffic</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cs typeface="Segoe UI" panose="020B0502040204020203" pitchFamily="34" charset="0"/>
              </a:endParaRPr>
            </a:p>
          </p:txBody>
        </p:sp>
      </p:grpSp>
      <p:grpSp>
        <p:nvGrpSpPr>
          <p:cNvPr id="28" name="Group 27">
            <a:extLst>
              <a:ext uri="{FF2B5EF4-FFF2-40B4-BE49-F238E27FC236}">
                <a16:creationId xmlns:a16="http://schemas.microsoft.com/office/drawing/2014/main" id="{894C93AC-FD6D-03C0-BAD0-F4EFAD42C567}"/>
              </a:ext>
            </a:extLst>
          </p:cNvPr>
          <p:cNvGrpSpPr/>
          <p:nvPr/>
        </p:nvGrpSpPr>
        <p:grpSpPr>
          <a:xfrm>
            <a:off x="1782258" y="3766480"/>
            <a:ext cx="2461367" cy="790063"/>
            <a:chOff x="8632681" y="3002849"/>
            <a:chExt cx="2461367" cy="790063"/>
          </a:xfrm>
        </p:grpSpPr>
        <p:sp>
          <p:nvSpPr>
            <p:cNvPr id="29" name="Rectangle 28">
              <a:extLst>
                <a:ext uri="{FF2B5EF4-FFF2-40B4-BE49-F238E27FC236}">
                  <a16:creationId xmlns:a16="http://schemas.microsoft.com/office/drawing/2014/main" id="{BA2620B3-2C63-0C55-CCE5-72E16863B0E4}"/>
                </a:ext>
              </a:extLst>
            </p:cNvPr>
            <p:cNvSpPr/>
            <p:nvPr/>
          </p:nvSpPr>
          <p:spPr>
            <a:xfrm>
              <a:off x="8632682" y="3002849"/>
              <a:ext cx="2461366" cy="790063"/>
            </a:xfrm>
            <a:prstGeom prst="rect">
              <a:avLst/>
            </a:prstGeom>
            <a:solidFill>
              <a:srgbClr val="5B9BD5">
                <a:hueOff val="0"/>
                <a:satOff val="0"/>
                <a:lumOff val="0"/>
                <a:alphaOff val="0"/>
              </a:srgb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chemeClr val="bg1"/>
                </a:solidFill>
                <a:effectLst/>
                <a:uLnTx/>
                <a:uFillTx/>
                <a:cs typeface="Segoe UI" panose="020B0502040204020203" pitchFamily="34" charset="0"/>
              </a:endParaRPr>
            </a:p>
          </p:txBody>
        </p:sp>
        <p:sp>
          <p:nvSpPr>
            <p:cNvPr id="30" name="TextBox 29">
              <a:extLst>
                <a:ext uri="{FF2B5EF4-FFF2-40B4-BE49-F238E27FC236}">
                  <a16:creationId xmlns:a16="http://schemas.microsoft.com/office/drawing/2014/main" id="{8D93BD51-40D1-A69E-42F6-8290CA22573C}"/>
                </a:ext>
              </a:extLst>
            </p:cNvPr>
            <p:cNvSpPr txBox="1"/>
            <p:nvPr/>
          </p:nvSpPr>
          <p:spPr>
            <a:xfrm>
              <a:off x="8632681" y="3002849"/>
              <a:ext cx="1799141" cy="790063"/>
            </a:xfrm>
            <a:prstGeom prst="rect">
              <a:avLst/>
            </a:prstGeom>
            <a:noFill/>
            <a:ln>
              <a:noFill/>
            </a:ln>
            <a:effectLst/>
          </p:spPr>
          <p:txBody>
            <a:bodyPr spcFirstLastPara="0" vert="horz" wrap="square" lIns="68580" tIns="0" rIns="22860" bIns="0" numCol="1" spcCol="127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bg1"/>
                  </a:solidFill>
                  <a:effectLst/>
                  <a:uLnTx/>
                  <a:uFillTx/>
                  <a:cs typeface="Segoe UI" panose="020B0502040204020203" pitchFamily="34" charset="0"/>
                </a:rPr>
                <a:t>Approved host names &amp; IP ranges</a:t>
              </a:r>
            </a:p>
          </p:txBody>
        </p:sp>
      </p:grpSp>
      <p:grpSp>
        <p:nvGrpSpPr>
          <p:cNvPr id="31" name="Group 30">
            <a:extLst>
              <a:ext uri="{FF2B5EF4-FFF2-40B4-BE49-F238E27FC236}">
                <a16:creationId xmlns:a16="http://schemas.microsoft.com/office/drawing/2014/main" id="{0124B5E9-8733-F9D7-D7F3-AB6AA7325AC3}"/>
              </a:ext>
            </a:extLst>
          </p:cNvPr>
          <p:cNvGrpSpPr/>
          <p:nvPr/>
        </p:nvGrpSpPr>
        <p:grpSpPr>
          <a:xfrm>
            <a:off x="4552044" y="1614492"/>
            <a:ext cx="2461366" cy="2151988"/>
            <a:chOff x="6941" y="1161888"/>
            <a:chExt cx="2461366" cy="1837358"/>
          </a:xfrm>
        </p:grpSpPr>
        <p:sp>
          <p:nvSpPr>
            <p:cNvPr id="32" name="Rectangle: Top Corners Rounded 31">
              <a:extLst>
                <a:ext uri="{FF2B5EF4-FFF2-40B4-BE49-F238E27FC236}">
                  <a16:creationId xmlns:a16="http://schemas.microsoft.com/office/drawing/2014/main" id="{BE679004-75B7-FF43-65D5-0EB86E82CFA2}"/>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33" name="Rectangle: Top Corners Rounded 4">
              <a:extLst>
                <a:ext uri="{FF2B5EF4-FFF2-40B4-BE49-F238E27FC236}">
                  <a16:creationId xmlns:a16="http://schemas.microsoft.com/office/drawing/2014/main" id="{BF2E33B3-0AB7-2271-37CB-E708C1373D82}"/>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ea typeface="+mn-ea"/>
                  <a:cs typeface="+mn-cs"/>
                </a:rPr>
                <a:t>Use in network access controls on Network Security Groups (NSGs) or Azure Firewall instead of approved IP ranges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400" dirty="0">
                  <a:solidFill>
                    <a:srgbClr val="000000"/>
                  </a:solidFill>
                </a:rPr>
                <a:t>Minimize the complexity of frequent updates to network security rules</a:t>
              </a:r>
              <a:r>
                <a:rPr kumimoji="0" lang="en-US" sz="1400" b="0" i="0" u="none" strike="noStrike" kern="1200" cap="none" spc="0" normalizeH="0" baseline="0" noProof="0" dirty="0">
                  <a:ln>
                    <a:noFill/>
                  </a:ln>
                  <a:solidFill>
                    <a:srgbClr val="000000"/>
                  </a:solidFill>
                  <a:effectLst/>
                  <a:uLnTx/>
                  <a:uFillTx/>
                  <a:ea typeface="+mn-ea"/>
                  <a:cs typeface="+mn-cs"/>
                </a:rPr>
                <a:t> </a:t>
              </a:r>
            </a:p>
          </p:txBody>
        </p:sp>
      </p:grpSp>
      <p:grpSp>
        <p:nvGrpSpPr>
          <p:cNvPr id="34" name="Group 33">
            <a:extLst>
              <a:ext uri="{FF2B5EF4-FFF2-40B4-BE49-F238E27FC236}">
                <a16:creationId xmlns:a16="http://schemas.microsoft.com/office/drawing/2014/main" id="{C3B6A7E1-3CD1-AFDC-FE36-FE6996E63E30}"/>
              </a:ext>
            </a:extLst>
          </p:cNvPr>
          <p:cNvGrpSpPr/>
          <p:nvPr/>
        </p:nvGrpSpPr>
        <p:grpSpPr>
          <a:xfrm>
            <a:off x="4552044" y="3766480"/>
            <a:ext cx="2461366" cy="790063"/>
            <a:chOff x="6941" y="2999246"/>
            <a:chExt cx="2461366" cy="790063"/>
          </a:xfrm>
        </p:grpSpPr>
        <p:sp>
          <p:nvSpPr>
            <p:cNvPr id="35" name="Rectangle 34">
              <a:extLst>
                <a:ext uri="{FF2B5EF4-FFF2-40B4-BE49-F238E27FC236}">
                  <a16:creationId xmlns:a16="http://schemas.microsoft.com/office/drawing/2014/main" id="{1F5183F6-4646-8BD7-CE29-F0997CFA9262}"/>
                </a:ext>
              </a:extLst>
            </p:cNvPr>
            <p:cNvSpPr/>
            <p:nvPr/>
          </p:nvSpPr>
          <p:spPr>
            <a:xfrm>
              <a:off x="6941" y="2999246"/>
              <a:ext cx="2461366" cy="790063"/>
            </a:xfrm>
            <a:prstGeom prst="rect">
              <a:avLst/>
            </a:prstGeom>
            <a:solidFill>
              <a:srgbClr val="ED7D31">
                <a:hueOff val="0"/>
                <a:satOff val="0"/>
                <a:lumOff val="0"/>
                <a:alphaOff val="0"/>
              </a:srgbClr>
            </a:solid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chemeClr val="bg1"/>
                </a:solidFill>
                <a:effectLst/>
                <a:uLnTx/>
                <a:uFillTx/>
                <a:cs typeface="Segoe UI" panose="020B0502040204020203" pitchFamily="34" charset="0"/>
              </a:endParaRPr>
            </a:p>
          </p:txBody>
        </p:sp>
        <p:sp>
          <p:nvSpPr>
            <p:cNvPr id="36" name="TextBox 35">
              <a:extLst>
                <a:ext uri="{FF2B5EF4-FFF2-40B4-BE49-F238E27FC236}">
                  <a16:creationId xmlns:a16="http://schemas.microsoft.com/office/drawing/2014/main" id="{9FB9479C-423E-D262-C1B1-0BD1AB93AFD5}"/>
                </a:ext>
              </a:extLst>
            </p:cNvPr>
            <p:cNvSpPr txBox="1"/>
            <p:nvPr/>
          </p:nvSpPr>
          <p:spPr>
            <a:xfrm>
              <a:off x="6941"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1" i="0" u="none" strike="noStrike" kern="0" cap="none" spc="0" normalizeH="0" baseline="0" noProof="0" dirty="0">
                  <a:ln>
                    <a:noFill/>
                  </a:ln>
                  <a:solidFill>
                    <a:schemeClr val="bg1"/>
                  </a:solidFill>
                  <a:effectLst/>
                  <a:uLnTx/>
                  <a:uFillTx/>
                  <a:ea typeface="+mn-ea"/>
                  <a:cs typeface="Segoe UI" charset="0"/>
                </a:rPr>
                <a:t>Service tags</a:t>
              </a:r>
            </a:p>
          </p:txBody>
        </p:sp>
      </p:grpSp>
      <p:grpSp>
        <p:nvGrpSpPr>
          <p:cNvPr id="37" name="Group 36">
            <a:extLst>
              <a:ext uri="{FF2B5EF4-FFF2-40B4-BE49-F238E27FC236}">
                <a16:creationId xmlns:a16="http://schemas.microsoft.com/office/drawing/2014/main" id="{69A669AA-14B0-E9F1-6663-10FDF753A250}"/>
              </a:ext>
            </a:extLst>
          </p:cNvPr>
          <p:cNvGrpSpPr/>
          <p:nvPr/>
        </p:nvGrpSpPr>
        <p:grpSpPr>
          <a:xfrm>
            <a:off x="7313904" y="1614492"/>
            <a:ext cx="2461366" cy="2151988"/>
            <a:chOff x="2884829" y="1161888"/>
            <a:chExt cx="2461366" cy="1837358"/>
          </a:xfrm>
        </p:grpSpPr>
        <p:sp>
          <p:nvSpPr>
            <p:cNvPr id="38" name="Rectangle: Top Corners Rounded 37">
              <a:extLst>
                <a:ext uri="{FF2B5EF4-FFF2-40B4-BE49-F238E27FC236}">
                  <a16:creationId xmlns:a16="http://schemas.microsoft.com/office/drawing/2014/main" id="{BCC82C47-38E7-D91D-9A17-E5B25BFD0FEA}"/>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39" name="Rectangle: Top Corners Rounded 4">
              <a:extLst>
                <a:ext uri="{FF2B5EF4-FFF2-40B4-BE49-F238E27FC236}">
                  <a16:creationId xmlns:a16="http://schemas.microsoft.com/office/drawing/2014/main" id="{53A0E01C-46EF-4267-34FD-B7ADD0D3605C}"/>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eaLnBrk="1" fontAlgn="auto" latinLnBrk="0" hangingPunct="1">
                <a:lnSpc>
                  <a:spcPct val="90000"/>
                </a:lnSpc>
                <a:spcBef>
                  <a:spcPct val="0"/>
                </a:spcBef>
                <a:spcAft>
                  <a:spcPct val="15000"/>
                </a:spcAft>
                <a:buClrTx/>
                <a:buSzTx/>
                <a:buFontTx/>
                <a:buChar char="•"/>
                <a:tabLst/>
                <a:defRPr/>
              </a:pPr>
              <a:r>
                <a:rPr kumimoji="0" lang="en-US" sz="1400" b="0" i="0" u="none" strike="noStrike" kern="1200" cap="none" spc="0" normalizeH="0" baseline="0" noProof="0" dirty="0">
                  <a:ln>
                    <a:noFill/>
                  </a:ln>
                  <a:solidFill>
                    <a:srgbClr val="000000"/>
                  </a:solidFill>
                  <a:effectLst/>
                  <a:uLnTx/>
                  <a:uFillTx/>
                  <a:ea typeface="+mn-ea"/>
                  <a:cs typeface="+mn-cs"/>
                </a:rPr>
                <a:t>Prevents  malicious users, outside allowed IP ranges, from accessing your data</a:t>
              </a:r>
            </a:p>
            <a:p>
              <a:pPr marL="114300" lvl="1" indent="-114300" defTabSz="533400">
                <a:lnSpc>
                  <a:spcPct val="90000"/>
                </a:lnSpc>
                <a:spcBef>
                  <a:spcPct val="0"/>
                </a:spcBef>
                <a:spcAft>
                  <a:spcPct val="15000"/>
                </a:spcAft>
                <a:buFontTx/>
                <a:buChar char="•"/>
                <a:defRPr/>
              </a:pPr>
              <a:r>
                <a:rPr lang="en-US" sz="1400" dirty="0">
                  <a:solidFill>
                    <a:srgbClr val="000000"/>
                  </a:solidFill>
                </a:rPr>
                <a:t>Mitigate insider threats like data exfiltration + Prevent token replay attacks</a:t>
              </a:r>
            </a:p>
            <a:p>
              <a:pPr marL="114300" lvl="1" indent="-114300" defTabSz="533400">
                <a:lnSpc>
                  <a:spcPct val="90000"/>
                </a:lnSpc>
                <a:spcBef>
                  <a:spcPct val="0"/>
                </a:spcBef>
                <a:spcAft>
                  <a:spcPct val="15000"/>
                </a:spcAft>
                <a:buFontTx/>
                <a:buChar char="•"/>
                <a:defRPr/>
              </a:pPr>
              <a:r>
                <a:rPr lang="en-US" sz="1400" dirty="0">
                  <a:solidFill>
                    <a:srgbClr val="000000"/>
                  </a:solidFill>
                </a:rPr>
                <a:t>Current Scope: Dataverse (Managed Environments, Environment Groups, OData </a:t>
              </a:r>
              <a:r>
                <a:rPr lang="en-US" sz="1400" dirty="0" err="1">
                  <a:solidFill>
                    <a:srgbClr val="000000"/>
                  </a:solidFill>
                </a:rPr>
                <a:t>EndPoints</a:t>
              </a:r>
              <a:r>
                <a:rPr lang="en-US" sz="1400" dirty="0">
                  <a:solidFill>
                    <a:srgbClr val="000000"/>
                  </a:solidFill>
                </a:rPr>
                <a:t>)</a:t>
              </a:r>
            </a:p>
          </p:txBody>
        </p:sp>
      </p:grpSp>
      <p:grpSp>
        <p:nvGrpSpPr>
          <p:cNvPr id="40" name="Group 39">
            <a:extLst>
              <a:ext uri="{FF2B5EF4-FFF2-40B4-BE49-F238E27FC236}">
                <a16:creationId xmlns:a16="http://schemas.microsoft.com/office/drawing/2014/main" id="{BD6DF406-8F88-EACF-57E6-6784DF929032}"/>
              </a:ext>
            </a:extLst>
          </p:cNvPr>
          <p:cNvGrpSpPr/>
          <p:nvPr/>
        </p:nvGrpSpPr>
        <p:grpSpPr>
          <a:xfrm>
            <a:off x="7313904" y="3766480"/>
            <a:ext cx="2461366" cy="790063"/>
            <a:chOff x="2884829" y="2999246"/>
            <a:chExt cx="2461366" cy="790063"/>
          </a:xfrm>
        </p:grpSpPr>
        <p:sp>
          <p:nvSpPr>
            <p:cNvPr id="41" name="Rectangle 40">
              <a:extLst>
                <a:ext uri="{FF2B5EF4-FFF2-40B4-BE49-F238E27FC236}">
                  <a16:creationId xmlns:a16="http://schemas.microsoft.com/office/drawing/2014/main" id="{DC4C6496-FA31-875A-9442-866420A5F492}"/>
                </a:ext>
              </a:extLst>
            </p:cNvPr>
            <p:cNvSpPr/>
            <p:nvPr/>
          </p:nvSpPr>
          <p:spPr>
            <a:xfrm>
              <a:off x="2884829" y="2999246"/>
              <a:ext cx="2461366" cy="790063"/>
            </a:xfrm>
            <a:prstGeom prst="rect">
              <a:avLst/>
            </a:prstGeom>
            <a:solidFill>
              <a:srgbClr val="A5A5A5">
                <a:hueOff val="0"/>
                <a:satOff val="0"/>
                <a:lumOff val="0"/>
                <a:alphaOff val="0"/>
              </a:srgb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42" name="TextBox 41">
              <a:extLst>
                <a:ext uri="{FF2B5EF4-FFF2-40B4-BE49-F238E27FC236}">
                  <a16:creationId xmlns:a16="http://schemas.microsoft.com/office/drawing/2014/main" id="{2CB968DC-C32C-AB1B-373C-BF8C658AC3F6}"/>
                </a:ext>
              </a:extLst>
            </p:cNvPr>
            <p:cNvSpPr txBox="1"/>
            <p:nvPr/>
          </p:nvSpPr>
          <p:spPr>
            <a:xfrm>
              <a:off x="2884829"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noProof="0" dirty="0">
                  <a:ln>
                    <a:noFill/>
                  </a:ln>
                  <a:solidFill>
                    <a:prstClr val="white"/>
                  </a:solidFill>
                  <a:effectLst/>
                  <a:uLnTx/>
                  <a:uFillTx/>
                  <a:cs typeface="Segoe UI" panose="020B0502040204020203" pitchFamily="34" charset="0"/>
                </a:rPr>
                <a:t>IP Firewall</a:t>
              </a:r>
            </a:p>
          </p:txBody>
        </p:sp>
      </p:grpSp>
      <p:pic>
        <p:nvPicPr>
          <p:cNvPr id="43" name="Picture 42">
            <a:extLst>
              <a:ext uri="{FF2B5EF4-FFF2-40B4-BE49-F238E27FC236}">
                <a16:creationId xmlns:a16="http://schemas.microsoft.com/office/drawing/2014/main" id="{1C791733-2997-2AFA-BB71-0463FCA109D7}"/>
              </a:ext>
            </a:extLst>
          </p:cNvPr>
          <p:cNvPicPr>
            <a:picLocks noChangeAspect="1"/>
          </p:cNvPicPr>
          <p:nvPr/>
        </p:nvPicPr>
        <p:blipFill>
          <a:blip r:embed="rId3"/>
          <a:stretch>
            <a:fillRect/>
          </a:stretch>
        </p:blipFill>
        <p:spPr>
          <a:xfrm>
            <a:off x="6318945" y="3838876"/>
            <a:ext cx="640080" cy="640080"/>
          </a:xfrm>
          <a:prstGeom prst="rect">
            <a:avLst/>
          </a:prstGeom>
        </p:spPr>
      </p:pic>
      <p:pic>
        <p:nvPicPr>
          <p:cNvPr id="44" name="Picture 43">
            <a:extLst>
              <a:ext uri="{FF2B5EF4-FFF2-40B4-BE49-F238E27FC236}">
                <a16:creationId xmlns:a16="http://schemas.microsoft.com/office/drawing/2014/main" id="{585DD1EE-3E50-8D24-0A86-468C429D72F4}"/>
              </a:ext>
            </a:extLst>
          </p:cNvPr>
          <p:cNvPicPr>
            <a:picLocks noChangeAspect="1"/>
          </p:cNvPicPr>
          <p:nvPr/>
        </p:nvPicPr>
        <p:blipFill>
          <a:blip r:embed="rId4"/>
          <a:stretch>
            <a:fillRect/>
          </a:stretch>
        </p:blipFill>
        <p:spPr>
          <a:xfrm>
            <a:off x="3547046" y="3831429"/>
            <a:ext cx="640080" cy="640080"/>
          </a:xfrm>
          <a:prstGeom prst="rect">
            <a:avLst/>
          </a:prstGeom>
        </p:spPr>
      </p:pic>
      <p:pic>
        <p:nvPicPr>
          <p:cNvPr id="45" name="Picture 44">
            <a:extLst>
              <a:ext uri="{FF2B5EF4-FFF2-40B4-BE49-F238E27FC236}">
                <a16:creationId xmlns:a16="http://schemas.microsoft.com/office/drawing/2014/main" id="{0A390E3C-94BB-EC84-B1B5-A03E2F5C934D}"/>
              </a:ext>
            </a:extLst>
          </p:cNvPr>
          <p:cNvPicPr>
            <a:picLocks noChangeAspect="1"/>
          </p:cNvPicPr>
          <p:nvPr/>
        </p:nvPicPr>
        <p:blipFill>
          <a:blip r:embed="rId5"/>
          <a:stretch>
            <a:fillRect/>
          </a:stretch>
        </p:blipFill>
        <p:spPr>
          <a:xfrm>
            <a:off x="9092138" y="3830440"/>
            <a:ext cx="640080" cy="640080"/>
          </a:xfrm>
          <a:prstGeom prst="rect">
            <a:avLst/>
          </a:prstGeom>
        </p:spPr>
      </p:pic>
    </p:spTree>
    <p:extLst>
      <p:ext uri="{BB962C8B-B14F-4D97-AF65-F5344CB8AC3E}">
        <p14:creationId xmlns:p14="http://schemas.microsoft.com/office/powerpoint/2010/main" val="3201016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18099-5261-6580-A124-80BB329C57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5FA240C-6D76-B9B3-FAC5-BA8082A7D9D3}"/>
              </a:ext>
            </a:extLst>
          </p:cNvPr>
          <p:cNvSpPr>
            <a:spLocks noGrp="1"/>
          </p:cNvSpPr>
          <p:nvPr>
            <p:ph type="body" sz="quarter" idx="10"/>
          </p:nvPr>
        </p:nvSpPr>
        <p:spPr/>
        <p:txBody>
          <a:bodyPr/>
          <a:lstStyle/>
          <a:p>
            <a:r>
              <a:rPr lang="en-US" noProof="0" dirty="0"/>
              <a:t>Network Security</a:t>
            </a:r>
          </a:p>
        </p:txBody>
      </p:sp>
      <p:grpSp>
        <p:nvGrpSpPr>
          <p:cNvPr id="17" name="Group 16">
            <a:extLst>
              <a:ext uri="{FF2B5EF4-FFF2-40B4-BE49-F238E27FC236}">
                <a16:creationId xmlns:a16="http://schemas.microsoft.com/office/drawing/2014/main" id="{3329C2F9-FB52-EBE6-3B9D-77D99EE271BA}"/>
              </a:ext>
            </a:extLst>
          </p:cNvPr>
          <p:cNvGrpSpPr/>
          <p:nvPr/>
        </p:nvGrpSpPr>
        <p:grpSpPr>
          <a:xfrm>
            <a:off x="6038343" y="1610889"/>
            <a:ext cx="2461366" cy="2151988"/>
            <a:chOff x="8640607" y="1161888"/>
            <a:chExt cx="2461366" cy="1837358"/>
          </a:xfrm>
        </p:grpSpPr>
        <p:sp>
          <p:nvSpPr>
            <p:cNvPr id="18" name="Rectangle: Top Corners Rounded 17">
              <a:extLst>
                <a:ext uri="{FF2B5EF4-FFF2-40B4-BE49-F238E27FC236}">
                  <a16:creationId xmlns:a16="http://schemas.microsoft.com/office/drawing/2014/main" id="{9DAD891D-8B26-9920-F33F-B063650A090B}"/>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19" name="Rectangle: Top Corners Rounded 4">
              <a:extLst>
                <a:ext uri="{FF2B5EF4-FFF2-40B4-BE49-F238E27FC236}">
                  <a16:creationId xmlns:a16="http://schemas.microsoft.com/office/drawing/2014/main" id="{191D2C1B-E0D6-7F31-8A10-827BF06FF803}"/>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base">
                <a:lnSpc>
                  <a:spcPct val="90000"/>
                </a:lnSpc>
                <a:spcBef>
                  <a:spcPct val="0"/>
                </a:spcBef>
                <a:spcAft>
                  <a:spcPct val="15000"/>
                </a:spcAft>
                <a:buClrTx/>
                <a:buSzTx/>
                <a:buFontTx/>
                <a:buChar char="•"/>
                <a:tabLst/>
                <a:defRPr/>
              </a:pPr>
              <a:r>
                <a:rPr lang="en-US" sz="1400" dirty="0">
                  <a:solidFill>
                    <a:srgbClr val="000000"/>
                  </a:solidFill>
                </a:rPr>
                <a:t>Helps to route all network traffic from Power Platform environments to Azure v-Nets without routing through the Internet</a:t>
              </a:r>
            </a:p>
            <a:p>
              <a:pPr marL="114300" marR="0" lvl="1" indent="-114300" defTabSz="533400" fontAlgn="base">
                <a:lnSpc>
                  <a:spcPct val="90000"/>
                </a:lnSpc>
                <a:spcBef>
                  <a:spcPct val="0"/>
                </a:spcBef>
                <a:spcAft>
                  <a:spcPct val="15000"/>
                </a:spcAft>
                <a:buClrTx/>
                <a:buSzTx/>
                <a:buFontTx/>
                <a:buChar char="•"/>
                <a:tabLst/>
                <a:defRPr/>
              </a:pPr>
              <a:r>
                <a:rPr lang="en-US" sz="1400" dirty="0">
                  <a:solidFill>
                    <a:srgbClr val="000000"/>
                  </a:solidFill>
                </a:rPr>
                <a:t>Scope supported: Dataverse plugins, selected connectors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cs typeface="Segoe UI" panose="020B0502040204020203" pitchFamily="34" charset="0"/>
              </a:endParaRPr>
            </a:p>
          </p:txBody>
        </p:sp>
      </p:grpSp>
      <p:grpSp>
        <p:nvGrpSpPr>
          <p:cNvPr id="20" name="Group 19">
            <a:extLst>
              <a:ext uri="{FF2B5EF4-FFF2-40B4-BE49-F238E27FC236}">
                <a16:creationId xmlns:a16="http://schemas.microsoft.com/office/drawing/2014/main" id="{120DAF04-FB4E-E963-BCA1-A8CEFB52F230}"/>
              </a:ext>
            </a:extLst>
          </p:cNvPr>
          <p:cNvGrpSpPr/>
          <p:nvPr/>
        </p:nvGrpSpPr>
        <p:grpSpPr>
          <a:xfrm>
            <a:off x="6030418" y="3766480"/>
            <a:ext cx="2461366" cy="790063"/>
            <a:chOff x="8632682" y="3002849"/>
            <a:chExt cx="2461366" cy="790063"/>
          </a:xfrm>
        </p:grpSpPr>
        <p:sp>
          <p:nvSpPr>
            <p:cNvPr id="21" name="Rectangle 20">
              <a:extLst>
                <a:ext uri="{FF2B5EF4-FFF2-40B4-BE49-F238E27FC236}">
                  <a16:creationId xmlns:a16="http://schemas.microsoft.com/office/drawing/2014/main" id="{1D871B4E-C842-BF52-543C-1D2A400911B3}"/>
                </a:ext>
              </a:extLst>
            </p:cNvPr>
            <p:cNvSpPr/>
            <p:nvPr/>
          </p:nvSpPr>
          <p:spPr>
            <a:xfrm>
              <a:off x="8632682" y="3002849"/>
              <a:ext cx="2461366" cy="790063"/>
            </a:xfrm>
            <a:prstGeom prst="rect">
              <a:avLst/>
            </a:prstGeom>
            <a:solidFill>
              <a:srgbClr val="5B9BD5">
                <a:hueOff val="0"/>
                <a:satOff val="0"/>
                <a:lumOff val="0"/>
                <a:alphaOff val="0"/>
              </a:srgb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chemeClr val="bg1"/>
                </a:solidFill>
                <a:effectLst/>
                <a:uLnTx/>
                <a:uFillTx/>
                <a:cs typeface="Segoe UI" panose="020B0502040204020203" pitchFamily="34" charset="0"/>
              </a:endParaRPr>
            </a:p>
          </p:txBody>
        </p:sp>
        <p:sp>
          <p:nvSpPr>
            <p:cNvPr id="22" name="TextBox 21">
              <a:extLst>
                <a:ext uri="{FF2B5EF4-FFF2-40B4-BE49-F238E27FC236}">
                  <a16:creationId xmlns:a16="http://schemas.microsoft.com/office/drawing/2014/main" id="{5D1E7D95-D290-0003-A105-6AC498AE84CF}"/>
                </a:ext>
              </a:extLst>
            </p:cNvPr>
            <p:cNvSpPr txBox="1"/>
            <p:nvPr/>
          </p:nvSpPr>
          <p:spPr>
            <a:xfrm>
              <a:off x="8632682" y="3002849"/>
              <a:ext cx="1733356" cy="790063"/>
            </a:xfrm>
            <a:prstGeom prst="rect">
              <a:avLst/>
            </a:prstGeom>
            <a:noFill/>
            <a:ln>
              <a:noFill/>
            </a:ln>
            <a:effectLst/>
          </p:spPr>
          <p:txBody>
            <a:bodyPr spcFirstLastPara="0" vert="horz" wrap="square" lIns="68580" tIns="0" rIns="22860" bIns="0" numCol="1" spcCol="127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bg1"/>
                  </a:solidFill>
                  <a:effectLst/>
                  <a:uLnTx/>
                  <a:uFillTx/>
                  <a:cs typeface="Segoe UI" panose="020B0502040204020203" pitchFamily="34" charset="0"/>
                </a:rPr>
                <a:t>Network Isolation</a:t>
              </a:r>
            </a:p>
          </p:txBody>
        </p:sp>
      </p:grpSp>
      <p:grpSp>
        <p:nvGrpSpPr>
          <p:cNvPr id="23" name="Group 22">
            <a:extLst>
              <a:ext uri="{FF2B5EF4-FFF2-40B4-BE49-F238E27FC236}">
                <a16:creationId xmlns:a16="http://schemas.microsoft.com/office/drawing/2014/main" id="{77FE8D98-BE45-D62A-4E60-0FDC33186600}"/>
              </a:ext>
            </a:extLst>
          </p:cNvPr>
          <p:cNvGrpSpPr/>
          <p:nvPr/>
        </p:nvGrpSpPr>
        <p:grpSpPr>
          <a:xfrm>
            <a:off x="3269030" y="1614492"/>
            <a:ext cx="2461366" cy="2151988"/>
            <a:chOff x="5762718" y="1161888"/>
            <a:chExt cx="2461366" cy="1837358"/>
          </a:xfrm>
        </p:grpSpPr>
        <p:sp>
          <p:nvSpPr>
            <p:cNvPr id="24" name="Rectangle: Top Corners Rounded 23">
              <a:extLst>
                <a:ext uri="{FF2B5EF4-FFF2-40B4-BE49-F238E27FC236}">
                  <a16:creationId xmlns:a16="http://schemas.microsoft.com/office/drawing/2014/main" id="{62789459-2676-4805-7814-A20F911D9C37}"/>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46" name="Rectangle: Top Corners Rounded 4">
              <a:extLst>
                <a:ext uri="{FF2B5EF4-FFF2-40B4-BE49-F238E27FC236}">
                  <a16:creationId xmlns:a16="http://schemas.microsoft.com/office/drawing/2014/main" id="{A54D4AE8-F95C-C915-7218-0E00433E8409}"/>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dirty="0">
                  <a:solidFill>
                    <a:srgbClr val="000000"/>
                  </a:solidFill>
                </a:rPr>
                <a:t>Prevents attackers using cookies to impersonate an authorized user</a:t>
              </a:r>
            </a:p>
            <a:p>
              <a:pPr marL="114300" lvl="1" indent="-114300" defTabSz="533400">
                <a:lnSpc>
                  <a:spcPct val="90000"/>
                </a:lnSpc>
                <a:spcBef>
                  <a:spcPct val="0"/>
                </a:spcBef>
                <a:spcAft>
                  <a:spcPct val="15000"/>
                </a:spcAft>
                <a:buFontTx/>
                <a:buChar char="•"/>
                <a:defRPr/>
              </a:pPr>
              <a:r>
                <a:rPr lang="en-US" sz="1400" dirty="0">
                  <a:solidFill>
                    <a:srgbClr val="000000"/>
                  </a:solidFill>
                </a:rPr>
                <a:t>Current Scope: Dataverse (Managed Environments</a:t>
              </a:r>
              <a:r>
                <a:rPr kumimoji="0" lang="en-US" sz="14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rPr>
                <a:t>)</a:t>
              </a:r>
            </a:p>
          </p:txBody>
        </p:sp>
      </p:grpSp>
      <p:grpSp>
        <p:nvGrpSpPr>
          <p:cNvPr id="47" name="Group 46">
            <a:extLst>
              <a:ext uri="{FF2B5EF4-FFF2-40B4-BE49-F238E27FC236}">
                <a16:creationId xmlns:a16="http://schemas.microsoft.com/office/drawing/2014/main" id="{C1845A61-69A3-D688-ADAA-FBBB26BE1FD2}"/>
              </a:ext>
            </a:extLst>
          </p:cNvPr>
          <p:cNvGrpSpPr/>
          <p:nvPr/>
        </p:nvGrpSpPr>
        <p:grpSpPr>
          <a:xfrm>
            <a:off x="3269030" y="3766480"/>
            <a:ext cx="2461366" cy="790063"/>
            <a:chOff x="5762718" y="2999246"/>
            <a:chExt cx="2461366" cy="790063"/>
          </a:xfrm>
        </p:grpSpPr>
        <p:sp>
          <p:nvSpPr>
            <p:cNvPr id="48" name="Rectangle 47">
              <a:extLst>
                <a:ext uri="{FF2B5EF4-FFF2-40B4-BE49-F238E27FC236}">
                  <a16:creationId xmlns:a16="http://schemas.microsoft.com/office/drawing/2014/main" id="{9A2107E7-AB25-DE0C-672E-36FED2FD83EE}"/>
                </a:ext>
              </a:extLst>
            </p:cNvPr>
            <p:cNvSpPr/>
            <p:nvPr/>
          </p:nvSpPr>
          <p:spPr>
            <a:xfrm>
              <a:off x="5762718" y="2999246"/>
              <a:ext cx="2461366" cy="790063"/>
            </a:xfrm>
            <a:prstGeom prst="rect">
              <a:avLst/>
            </a:prstGeom>
            <a:solidFill>
              <a:srgbClr val="FFC000">
                <a:hueOff val="0"/>
                <a:satOff val="0"/>
                <a:lumOff val="0"/>
                <a:alphaOff val="0"/>
              </a:srgb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chemeClr val="bg1"/>
                </a:solidFill>
                <a:effectLst/>
                <a:uLnTx/>
                <a:uFillTx/>
                <a:cs typeface="Segoe UI" panose="020B0502040204020203" pitchFamily="34" charset="0"/>
              </a:endParaRPr>
            </a:p>
          </p:txBody>
        </p:sp>
        <p:sp>
          <p:nvSpPr>
            <p:cNvPr id="49" name="TextBox 48">
              <a:extLst>
                <a:ext uri="{FF2B5EF4-FFF2-40B4-BE49-F238E27FC236}">
                  <a16:creationId xmlns:a16="http://schemas.microsoft.com/office/drawing/2014/main" id="{1239DAAE-3FB3-E798-C1EF-E43F75B9FB68}"/>
                </a:ext>
              </a:extLst>
            </p:cNvPr>
            <p:cNvSpPr txBox="1"/>
            <p:nvPr/>
          </p:nvSpPr>
          <p:spPr>
            <a:xfrm>
              <a:off x="5762718"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fr-FR" sz="1800" b="1" i="0" u="none" strike="noStrike" kern="0" cap="none" spc="0" normalizeH="0" baseline="0" noProof="0" dirty="0">
                  <a:ln>
                    <a:noFill/>
                  </a:ln>
                  <a:solidFill>
                    <a:schemeClr val="bg1"/>
                  </a:solidFill>
                  <a:effectLst/>
                  <a:uLnTx/>
                  <a:uFillTx/>
                  <a:cs typeface="Segoe UI" panose="020B0502040204020203" pitchFamily="34" charset="0"/>
                </a:rPr>
                <a:t>IP Cookie Binding</a:t>
              </a:r>
            </a:p>
          </p:txBody>
        </p:sp>
      </p:grpSp>
      <p:pic>
        <p:nvPicPr>
          <p:cNvPr id="50" name="Picture 49">
            <a:extLst>
              <a:ext uri="{FF2B5EF4-FFF2-40B4-BE49-F238E27FC236}">
                <a16:creationId xmlns:a16="http://schemas.microsoft.com/office/drawing/2014/main" id="{E62B104E-C256-0A67-2FF5-628D0FE55379}"/>
              </a:ext>
            </a:extLst>
          </p:cNvPr>
          <p:cNvPicPr>
            <a:picLocks noChangeAspect="1"/>
          </p:cNvPicPr>
          <p:nvPr/>
        </p:nvPicPr>
        <p:blipFill>
          <a:blip r:embed="rId3"/>
          <a:stretch>
            <a:fillRect/>
          </a:stretch>
        </p:blipFill>
        <p:spPr>
          <a:xfrm>
            <a:off x="5081468" y="3838876"/>
            <a:ext cx="640080" cy="640080"/>
          </a:xfrm>
          <a:prstGeom prst="rect">
            <a:avLst/>
          </a:prstGeom>
        </p:spPr>
      </p:pic>
      <p:pic>
        <p:nvPicPr>
          <p:cNvPr id="51" name="Picture 50">
            <a:extLst>
              <a:ext uri="{FF2B5EF4-FFF2-40B4-BE49-F238E27FC236}">
                <a16:creationId xmlns:a16="http://schemas.microsoft.com/office/drawing/2014/main" id="{36CC9ADC-7595-F6B1-F83F-689CAA5EBC22}"/>
              </a:ext>
            </a:extLst>
          </p:cNvPr>
          <p:cNvPicPr>
            <a:picLocks noChangeAspect="1"/>
          </p:cNvPicPr>
          <p:nvPr/>
        </p:nvPicPr>
        <p:blipFill>
          <a:blip r:embed="rId4"/>
          <a:stretch>
            <a:fillRect/>
          </a:stretch>
        </p:blipFill>
        <p:spPr>
          <a:xfrm>
            <a:off x="7790175" y="3847609"/>
            <a:ext cx="640080" cy="640080"/>
          </a:xfrm>
          <a:prstGeom prst="rect">
            <a:avLst/>
          </a:prstGeom>
        </p:spPr>
      </p:pic>
    </p:spTree>
    <p:extLst>
      <p:ext uri="{BB962C8B-B14F-4D97-AF65-F5344CB8AC3E}">
        <p14:creationId xmlns:p14="http://schemas.microsoft.com/office/powerpoint/2010/main" val="2471217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D88D-D3B6-7293-40A7-7788CAC2EB8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7F784D6-3F99-5631-280E-E245713ECAF7}"/>
              </a:ext>
            </a:extLst>
          </p:cNvPr>
          <p:cNvSpPr>
            <a:spLocks noGrp="1"/>
          </p:cNvSpPr>
          <p:nvPr>
            <p:ph type="body" sz="quarter" idx="10"/>
          </p:nvPr>
        </p:nvSpPr>
        <p:spPr>
          <a:xfrm>
            <a:off x="537136" y="276271"/>
            <a:ext cx="9368864" cy="541810"/>
          </a:xfrm>
        </p:spPr>
        <p:txBody>
          <a:bodyPr>
            <a:normAutofit fontScale="92500"/>
          </a:bodyPr>
          <a:lstStyle/>
          <a:p>
            <a:r>
              <a:rPr lang="en-US" noProof="0" dirty="0"/>
              <a:t>Network Security – IP Firewall for an Environment</a:t>
            </a:r>
          </a:p>
        </p:txBody>
      </p:sp>
      <p:pic>
        <p:nvPicPr>
          <p:cNvPr id="15" name="Picture 14">
            <a:extLst>
              <a:ext uri="{FF2B5EF4-FFF2-40B4-BE49-F238E27FC236}">
                <a16:creationId xmlns:a16="http://schemas.microsoft.com/office/drawing/2014/main" id="{B33C36E7-8390-38B8-A672-2FA1C6680611}"/>
              </a:ext>
            </a:extLst>
          </p:cNvPr>
          <p:cNvPicPr>
            <a:picLocks noChangeAspect="1"/>
          </p:cNvPicPr>
          <p:nvPr/>
        </p:nvPicPr>
        <p:blipFill>
          <a:blip r:embed="rId2"/>
          <a:stretch>
            <a:fillRect/>
          </a:stretch>
        </p:blipFill>
        <p:spPr>
          <a:xfrm>
            <a:off x="457200" y="1695450"/>
            <a:ext cx="10439400" cy="2721801"/>
          </a:xfrm>
          <a:prstGeom prst="rect">
            <a:avLst/>
          </a:prstGeom>
          <a:ln>
            <a:noFill/>
          </a:ln>
          <a:effectLst>
            <a:outerShdw blurRad="292100" dist="139700" dir="2700000" algn="tl" rotWithShape="0">
              <a:srgbClr val="333333">
                <a:alpha val="65000"/>
              </a:srgbClr>
            </a:outerShdw>
          </a:effectLst>
        </p:spPr>
      </p:pic>
      <p:sp>
        <p:nvSpPr>
          <p:cNvPr id="16" name="Speech Bubble: Rectangle with Corners Rounded 15">
            <a:extLst>
              <a:ext uri="{FF2B5EF4-FFF2-40B4-BE49-F238E27FC236}">
                <a16:creationId xmlns:a16="http://schemas.microsoft.com/office/drawing/2014/main" id="{0DC7BB5F-DA19-5D64-F28A-E234281DF4D5}"/>
              </a:ext>
            </a:extLst>
          </p:cNvPr>
          <p:cNvSpPr/>
          <p:nvPr/>
        </p:nvSpPr>
        <p:spPr>
          <a:xfrm>
            <a:off x="914400" y="3627518"/>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Identity &amp; Access</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Management</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25" name="Flowchart: Connector 24">
            <a:extLst>
              <a:ext uri="{FF2B5EF4-FFF2-40B4-BE49-F238E27FC236}">
                <a16:creationId xmlns:a16="http://schemas.microsoft.com/office/drawing/2014/main" id="{547CA181-5813-123F-69B0-2E8ACD22B871}"/>
              </a:ext>
            </a:extLst>
          </p:cNvPr>
          <p:cNvSpPr/>
          <p:nvPr/>
        </p:nvSpPr>
        <p:spPr>
          <a:xfrm>
            <a:off x="1542584" y="450937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26" name="Speech Bubble: Rectangle with Corners Rounded 25">
            <a:extLst>
              <a:ext uri="{FF2B5EF4-FFF2-40B4-BE49-F238E27FC236}">
                <a16:creationId xmlns:a16="http://schemas.microsoft.com/office/drawing/2014/main" id="{42365903-C06E-6B8C-4A12-F4B0C6753752}"/>
              </a:ext>
            </a:extLst>
          </p:cNvPr>
          <p:cNvSpPr/>
          <p:nvPr/>
        </p:nvSpPr>
        <p:spPr>
          <a:xfrm>
            <a:off x="6553200" y="2674365"/>
            <a:ext cx="2494824" cy="789733"/>
          </a:xfrm>
          <a:prstGeom prst="wedgeRoundRectCallout">
            <a:avLst>
              <a:gd name="adj1" fmla="val -86334"/>
              <a:gd name="adj2" fmla="val -3295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IP</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Firewall enabled for the environment</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27" name="Flowchart: Connector 26">
            <a:extLst>
              <a:ext uri="{FF2B5EF4-FFF2-40B4-BE49-F238E27FC236}">
                <a16:creationId xmlns:a16="http://schemas.microsoft.com/office/drawing/2014/main" id="{E0A0C293-B655-76A5-2956-2EF3F4BD94FC}"/>
              </a:ext>
            </a:extLst>
          </p:cNvPr>
          <p:cNvSpPr/>
          <p:nvPr/>
        </p:nvSpPr>
        <p:spPr>
          <a:xfrm>
            <a:off x="9220200" y="286349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
        <p:nvSpPr>
          <p:cNvPr id="28" name="Speech Bubble: Rectangle with Corners Rounded 27">
            <a:extLst>
              <a:ext uri="{FF2B5EF4-FFF2-40B4-BE49-F238E27FC236}">
                <a16:creationId xmlns:a16="http://schemas.microsoft.com/office/drawing/2014/main" id="{2CEA69BE-E273-AEE5-85B7-83CE7E3600D9}"/>
              </a:ext>
            </a:extLst>
          </p:cNvPr>
          <p:cNvSpPr/>
          <p:nvPr/>
        </p:nvSpPr>
        <p:spPr>
          <a:xfrm>
            <a:off x="5486400" y="4417251"/>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IP address or IP addresses range</a:t>
            </a:r>
          </a:p>
        </p:txBody>
      </p:sp>
      <p:sp>
        <p:nvSpPr>
          <p:cNvPr id="29" name="Flowchart: Connector 28">
            <a:extLst>
              <a:ext uri="{FF2B5EF4-FFF2-40B4-BE49-F238E27FC236}">
                <a16:creationId xmlns:a16="http://schemas.microsoft.com/office/drawing/2014/main" id="{C978F611-70AF-82CA-2C22-F9AF854EE633}"/>
              </a:ext>
            </a:extLst>
          </p:cNvPr>
          <p:cNvSpPr/>
          <p:nvPr/>
        </p:nvSpPr>
        <p:spPr>
          <a:xfrm>
            <a:off x="8153400" y="460637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4</a:t>
            </a:r>
            <a:endParaRPr lang="en-US" sz="1400" dirty="0"/>
          </a:p>
        </p:txBody>
      </p:sp>
      <p:sp>
        <p:nvSpPr>
          <p:cNvPr id="30" name="Speech Bubble: Rectangle with Corners Rounded 29">
            <a:extLst>
              <a:ext uri="{FF2B5EF4-FFF2-40B4-BE49-F238E27FC236}">
                <a16:creationId xmlns:a16="http://schemas.microsoft.com/office/drawing/2014/main" id="{8E90AADE-614F-0788-8180-B4C05841F82C}"/>
              </a:ext>
            </a:extLst>
          </p:cNvPr>
          <p:cNvSpPr/>
          <p:nvPr/>
        </p:nvSpPr>
        <p:spPr>
          <a:xfrm>
            <a:off x="1716023" y="1450963"/>
            <a:ext cx="1849562" cy="600605"/>
          </a:xfrm>
          <a:prstGeom prst="wedgeRoundRectCallout">
            <a:avLst>
              <a:gd name="adj1" fmla="val 29669"/>
              <a:gd name="adj2" fmla="val 122804"/>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IP Firewall</a:t>
            </a:r>
          </a:p>
        </p:txBody>
      </p:sp>
      <p:sp>
        <p:nvSpPr>
          <p:cNvPr id="31" name="Flowchart: Connector 30">
            <a:extLst>
              <a:ext uri="{FF2B5EF4-FFF2-40B4-BE49-F238E27FC236}">
                <a16:creationId xmlns:a16="http://schemas.microsoft.com/office/drawing/2014/main" id="{3691194F-C2D0-F697-B4C4-FBA3C571957B}"/>
              </a:ext>
            </a:extLst>
          </p:cNvPr>
          <p:cNvSpPr/>
          <p:nvPr/>
        </p:nvSpPr>
        <p:spPr>
          <a:xfrm>
            <a:off x="3657600" y="150632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Tree>
    <p:extLst>
      <p:ext uri="{BB962C8B-B14F-4D97-AF65-F5344CB8AC3E}">
        <p14:creationId xmlns:p14="http://schemas.microsoft.com/office/powerpoint/2010/main" val="266626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1000"/>
                                        <p:tgtEl>
                                          <p:spTgt spid="27"/>
                                        </p:tgtEl>
                                      </p:cBhvr>
                                    </p:animEffect>
                                    <p:anim calcmode="lin" valueType="num">
                                      <p:cBhvr>
                                        <p:cTn id="20" dur="1000" fill="hold"/>
                                        <p:tgtEl>
                                          <p:spTgt spid="27"/>
                                        </p:tgtEl>
                                        <p:attrNameLst>
                                          <p:attrName>ppt_x</p:attrName>
                                        </p:attrNameLst>
                                      </p:cBhvr>
                                      <p:tavLst>
                                        <p:tav tm="0">
                                          <p:val>
                                            <p:strVal val="#ppt_x"/>
                                          </p:val>
                                        </p:tav>
                                        <p:tav tm="100000">
                                          <p:val>
                                            <p:strVal val="#ppt_x"/>
                                          </p:val>
                                        </p:tav>
                                      </p:tavLst>
                                    </p:anim>
                                    <p:anim calcmode="lin" valueType="num">
                                      <p:cBhvr>
                                        <p:cTn id="21" dur="1000" fill="hold"/>
                                        <p:tgtEl>
                                          <p:spTgt spid="2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1000"/>
                                        <p:tgtEl>
                                          <p:spTgt spid="26"/>
                                        </p:tgtEl>
                                      </p:cBhvr>
                                    </p:animEffect>
                                    <p:anim calcmode="lin" valueType="num">
                                      <p:cBhvr>
                                        <p:cTn id="25" dur="1000" fill="hold"/>
                                        <p:tgtEl>
                                          <p:spTgt spid="26"/>
                                        </p:tgtEl>
                                        <p:attrNameLst>
                                          <p:attrName>ppt_x</p:attrName>
                                        </p:attrNameLst>
                                      </p:cBhvr>
                                      <p:tavLst>
                                        <p:tav tm="0">
                                          <p:val>
                                            <p:strVal val="#ppt_x"/>
                                          </p:val>
                                        </p:tav>
                                        <p:tav tm="100000">
                                          <p:val>
                                            <p:strVal val="#ppt_x"/>
                                          </p:val>
                                        </p:tav>
                                      </p:tavLst>
                                    </p:anim>
                                    <p:anim calcmode="lin" valueType="num">
                                      <p:cBhvr>
                                        <p:cTn id="2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1000"/>
                                        <p:tgtEl>
                                          <p:spTgt spid="29"/>
                                        </p:tgtEl>
                                      </p:cBhvr>
                                    </p:animEffect>
                                    <p:anim calcmode="lin" valueType="num">
                                      <p:cBhvr>
                                        <p:cTn id="32" dur="1000" fill="hold"/>
                                        <p:tgtEl>
                                          <p:spTgt spid="29"/>
                                        </p:tgtEl>
                                        <p:attrNameLst>
                                          <p:attrName>ppt_x</p:attrName>
                                        </p:attrNameLst>
                                      </p:cBhvr>
                                      <p:tavLst>
                                        <p:tav tm="0">
                                          <p:val>
                                            <p:strVal val="#ppt_x"/>
                                          </p:val>
                                        </p:tav>
                                        <p:tav tm="100000">
                                          <p:val>
                                            <p:strVal val="#ppt_x"/>
                                          </p:val>
                                        </p:tav>
                                      </p:tavLst>
                                    </p:anim>
                                    <p:anim calcmode="lin" valueType="num">
                                      <p:cBhvr>
                                        <p:cTn id="33" dur="1000" fill="hold"/>
                                        <p:tgtEl>
                                          <p:spTgt spid="2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1000"/>
                                        <p:tgtEl>
                                          <p:spTgt spid="28"/>
                                        </p:tgtEl>
                                      </p:cBhvr>
                                    </p:animEffect>
                                    <p:anim calcmode="lin" valueType="num">
                                      <p:cBhvr>
                                        <p:cTn id="37" dur="1000" fill="hold"/>
                                        <p:tgtEl>
                                          <p:spTgt spid="28"/>
                                        </p:tgtEl>
                                        <p:attrNameLst>
                                          <p:attrName>ppt_x</p:attrName>
                                        </p:attrNameLst>
                                      </p:cBhvr>
                                      <p:tavLst>
                                        <p:tav tm="0">
                                          <p:val>
                                            <p:strVal val="#ppt_x"/>
                                          </p:val>
                                        </p:tav>
                                        <p:tav tm="100000">
                                          <p:val>
                                            <p:strVal val="#ppt_x"/>
                                          </p:val>
                                        </p:tav>
                                      </p:tavLst>
                                    </p:anim>
                                    <p:anim calcmode="lin" valueType="num">
                                      <p:cBhvr>
                                        <p:cTn id="3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1000"/>
                                        <p:tgtEl>
                                          <p:spTgt spid="31"/>
                                        </p:tgtEl>
                                      </p:cBhvr>
                                    </p:animEffect>
                                    <p:anim calcmode="lin" valueType="num">
                                      <p:cBhvr>
                                        <p:cTn id="44" dur="1000" fill="hold"/>
                                        <p:tgtEl>
                                          <p:spTgt spid="31"/>
                                        </p:tgtEl>
                                        <p:attrNameLst>
                                          <p:attrName>ppt_x</p:attrName>
                                        </p:attrNameLst>
                                      </p:cBhvr>
                                      <p:tavLst>
                                        <p:tav tm="0">
                                          <p:val>
                                            <p:strVal val="#ppt_x"/>
                                          </p:val>
                                        </p:tav>
                                        <p:tav tm="100000">
                                          <p:val>
                                            <p:strVal val="#ppt_x"/>
                                          </p:val>
                                        </p:tav>
                                      </p:tavLst>
                                    </p:anim>
                                    <p:anim calcmode="lin" valueType="num">
                                      <p:cBhvr>
                                        <p:cTn id="45" dur="1000" fill="hold"/>
                                        <p:tgtEl>
                                          <p:spTgt spid="3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1000"/>
                                        <p:tgtEl>
                                          <p:spTgt spid="30"/>
                                        </p:tgtEl>
                                      </p:cBhvr>
                                    </p:animEffect>
                                    <p:anim calcmode="lin" valueType="num">
                                      <p:cBhvr>
                                        <p:cTn id="49" dur="1000" fill="hold"/>
                                        <p:tgtEl>
                                          <p:spTgt spid="30"/>
                                        </p:tgtEl>
                                        <p:attrNameLst>
                                          <p:attrName>ppt_x</p:attrName>
                                        </p:attrNameLst>
                                      </p:cBhvr>
                                      <p:tavLst>
                                        <p:tav tm="0">
                                          <p:val>
                                            <p:strVal val="#ppt_x"/>
                                          </p:val>
                                        </p:tav>
                                        <p:tav tm="100000">
                                          <p:val>
                                            <p:strVal val="#ppt_x"/>
                                          </p:val>
                                        </p:tav>
                                      </p:tavLst>
                                    </p:anim>
                                    <p:anim calcmode="lin" valueType="num">
                                      <p:cBhvr>
                                        <p:cTn id="50"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26" grpId="0" animBg="1"/>
      <p:bldP spid="27" grpId="0" animBg="1"/>
      <p:bldP spid="28" grpId="0" animBg="1"/>
      <p:bldP spid="29" grpId="0" animBg="1"/>
      <p:bldP spid="30" grpId="0" animBg="1"/>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89B2F-9145-291B-B96B-AA31414CF37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9990BAC-617D-FA48-F9C2-72BEA8F85ADB}"/>
              </a:ext>
            </a:extLst>
          </p:cNvPr>
          <p:cNvSpPr>
            <a:spLocks noGrp="1"/>
          </p:cNvSpPr>
          <p:nvPr>
            <p:ph type="body" sz="quarter" idx="10"/>
          </p:nvPr>
        </p:nvSpPr>
        <p:spPr>
          <a:xfrm>
            <a:off x="537136" y="276271"/>
            <a:ext cx="9368864" cy="541810"/>
          </a:xfrm>
        </p:spPr>
        <p:txBody>
          <a:bodyPr>
            <a:normAutofit fontScale="85000" lnSpcReduction="10000"/>
          </a:bodyPr>
          <a:lstStyle/>
          <a:p>
            <a:r>
              <a:rPr lang="en-US" noProof="0" dirty="0"/>
              <a:t>Network Security – IP Firewall for Environment Groups</a:t>
            </a:r>
          </a:p>
        </p:txBody>
      </p:sp>
      <p:pic>
        <p:nvPicPr>
          <p:cNvPr id="4" name="Picture 3">
            <a:extLst>
              <a:ext uri="{FF2B5EF4-FFF2-40B4-BE49-F238E27FC236}">
                <a16:creationId xmlns:a16="http://schemas.microsoft.com/office/drawing/2014/main" id="{F143D575-358F-903E-D3FD-24FB51C47616}"/>
              </a:ext>
            </a:extLst>
          </p:cNvPr>
          <p:cNvPicPr>
            <a:picLocks noChangeAspect="1"/>
          </p:cNvPicPr>
          <p:nvPr/>
        </p:nvPicPr>
        <p:blipFill>
          <a:blip r:embed="rId2"/>
          <a:stretch>
            <a:fillRect/>
          </a:stretch>
        </p:blipFill>
        <p:spPr>
          <a:xfrm>
            <a:off x="1371600" y="762638"/>
            <a:ext cx="8915400" cy="5219062"/>
          </a:xfrm>
          <a:prstGeom prst="rect">
            <a:avLst/>
          </a:prstGeom>
        </p:spPr>
      </p:pic>
      <p:sp>
        <p:nvSpPr>
          <p:cNvPr id="8" name="Speech Bubble: Rectangle with Corners Rounded 7">
            <a:extLst>
              <a:ext uri="{FF2B5EF4-FFF2-40B4-BE49-F238E27FC236}">
                <a16:creationId xmlns:a16="http://schemas.microsoft.com/office/drawing/2014/main" id="{0976DCAF-8D13-858A-F808-EBA3297649BC}"/>
              </a:ext>
            </a:extLst>
          </p:cNvPr>
          <p:cNvSpPr/>
          <p:nvPr/>
        </p:nvSpPr>
        <p:spPr>
          <a:xfrm>
            <a:off x="3810000" y="4286250"/>
            <a:ext cx="1849562" cy="638512"/>
          </a:xfrm>
          <a:prstGeom prst="wedgeRoundRectCallout">
            <a:avLst>
              <a:gd name="adj1" fmla="val -30342"/>
              <a:gd name="adj2" fmla="val -8098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IP</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Firewall settings for the Env. Group</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9" name="Flowchart: Connector 8">
            <a:extLst>
              <a:ext uri="{FF2B5EF4-FFF2-40B4-BE49-F238E27FC236}">
                <a16:creationId xmlns:a16="http://schemas.microsoft.com/office/drawing/2014/main" id="{4CE22F66-E5FC-F498-931F-306C864D880A}"/>
              </a:ext>
            </a:extLst>
          </p:cNvPr>
          <p:cNvSpPr/>
          <p:nvPr/>
        </p:nvSpPr>
        <p:spPr>
          <a:xfrm>
            <a:off x="4529041" y="500195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10" name="Speech Bubble: Rectangle with Corners Rounded 9">
            <a:extLst>
              <a:ext uri="{FF2B5EF4-FFF2-40B4-BE49-F238E27FC236}">
                <a16:creationId xmlns:a16="http://schemas.microsoft.com/office/drawing/2014/main" id="{B26F3753-DCAD-7170-CDA9-3950B1D73AE2}"/>
              </a:ext>
            </a:extLst>
          </p:cNvPr>
          <p:cNvSpPr/>
          <p:nvPr/>
        </p:nvSpPr>
        <p:spPr>
          <a:xfrm>
            <a:off x="6553200" y="1085850"/>
            <a:ext cx="1849562" cy="638512"/>
          </a:xfrm>
          <a:prstGeom prst="wedgeRoundRectCallout">
            <a:avLst>
              <a:gd name="adj1" fmla="val -100613"/>
              <a:gd name="adj2" fmla="val 25299"/>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Enable IP Firewall for the Env. Group</a:t>
            </a:r>
          </a:p>
        </p:txBody>
      </p:sp>
      <p:sp>
        <p:nvSpPr>
          <p:cNvPr id="11" name="Flowchart: Connector 10">
            <a:extLst>
              <a:ext uri="{FF2B5EF4-FFF2-40B4-BE49-F238E27FC236}">
                <a16:creationId xmlns:a16="http://schemas.microsoft.com/office/drawing/2014/main" id="{32E83C06-5860-A56F-EC5B-6F9E12D61014}"/>
              </a:ext>
            </a:extLst>
          </p:cNvPr>
          <p:cNvSpPr/>
          <p:nvPr/>
        </p:nvSpPr>
        <p:spPr>
          <a:xfrm>
            <a:off x="8534400" y="116205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12" name="Speech Bubble: Rectangle with Corners Rounded 11">
            <a:extLst>
              <a:ext uri="{FF2B5EF4-FFF2-40B4-BE49-F238E27FC236}">
                <a16:creationId xmlns:a16="http://schemas.microsoft.com/office/drawing/2014/main" id="{E33BD6C7-CA19-F625-A8F9-055959B5C2A6}"/>
              </a:ext>
            </a:extLst>
          </p:cNvPr>
          <p:cNvSpPr/>
          <p:nvPr/>
        </p:nvSpPr>
        <p:spPr>
          <a:xfrm>
            <a:off x="7096318" y="2819847"/>
            <a:ext cx="1849562" cy="638512"/>
          </a:xfrm>
          <a:prstGeom prst="wedgeRoundRectCallout">
            <a:avLst>
              <a:gd name="adj1" fmla="val -30963"/>
              <a:gd name="adj2" fmla="val -66570"/>
              <a:gd name="adj3" fmla="val 16667"/>
            </a:avLst>
          </a:prstGeom>
          <a:solidFill>
            <a:srgbClr val="C00000"/>
          </a:solidFill>
          <a:ln w="12700" cap="flat" cmpd="sng" algn="ctr">
            <a:solidFill>
              <a:srgbClr val="C00000"/>
            </a:solidFill>
            <a:prstDash val="solid"/>
            <a:miter lim="800000"/>
          </a:ln>
          <a:effectLst/>
        </p:spPr>
        <p:txBody>
          <a:bodyPr rtlCol="0" anchor="ctr"/>
          <a:lstStyle/>
          <a:p>
            <a:pPr lvl="0" algn="ctr">
              <a:defRPr/>
            </a:pPr>
            <a:r>
              <a:rPr lang="en-US" sz="1600" dirty="0">
                <a:solidFill>
                  <a:prstClr val="white"/>
                </a:solidFill>
                <a:cs typeface="Segoe UI" panose="020B0502040204020203" pitchFamily="34" charset="0"/>
              </a:rPr>
              <a:t>IP address or IP addresses range</a:t>
            </a:r>
          </a:p>
        </p:txBody>
      </p:sp>
      <p:sp>
        <p:nvSpPr>
          <p:cNvPr id="13" name="Flowchart: Connector 12">
            <a:extLst>
              <a:ext uri="{FF2B5EF4-FFF2-40B4-BE49-F238E27FC236}">
                <a16:creationId xmlns:a16="http://schemas.microsoft.com/office/drawing/2014/main" id="{A6A5E119-EEFD-8419-A67B-015729A74CE9}"/>
              </a:ext>
            </a:extLst>
          </p:cNvPr>
          <p:cNvSpPr/>
          <p:nvPr/>
        </p:nvSpPr>
        <p:spPr>
          <a:xfrm>
            <a:off x="9077518" y="289604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Tree>
    <p:extLst>
      <p:ext uri="{BB962C8B-B14F-4D97-AF65-F5344CB8AC3E}">
        <p14:creationId xmlns:p14="http://schemas.microsoft.com/office/powerpoint/2010/main" val="30537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95A53-AC19-CF7E-DA60-CA83A3A7C2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755D87A-F3F2-789F-B7CA-EF26358422E0}"/>
              </a:ext>
            </a:extLst>
          </p:cNvPr>
          <p:cNvSpPr>
            <a:spLocks noGrp="1"/>
          </p:cNvSpPr>
          <p:nvPr>
            <p:ph type="body" sz="quarter" idx="10"/>
          </p:nvPr>
        </p:nvSpPr>
        <p:spPr>
          <a:xfrm>
            <a:off x="537136" y="276271"/>
            <a:ext cx="9521264" cy="541810"/>
          </a:xfrm>
        </p:spPr>
        <p:txBody>
          <a:bodyPr>
            <a:normAutofit fontScale="85000" lnSpcReduction="10000"/>
          </a:bodyPr>
          <a:lstStyle/>
          <a:p>
            <a:r>
              <a:rPr lang="en-US" noProof="0" dirty="0"/>
              <a:t>Network Security – IP Cookie Binding for an Environment</a:t>
            </a:r>
          </a:p>
        </p:txBody>
      </p:sp>
      <p:pic>
        <p:nvPicPr>
          <p:cNvPr id="4" name="Picture 3">
            <a:extLst>
              <a:ext uri="{FF2B5EF4-FFF2-40B4-BE49-F238E27FC236}">
                <a16:creationId xmlns:a16="http://schemas.microsoft.com/office/drawing/2014/main" id="{1B941FA8-60FD-C33F-AF5A-9BDFF88C92F1}"/>
              </a:ext>
            </a:extLst>
          </p:cNvPr>
          <p:cNvPicPr>
            <a:picLocks noChangeAspect="1"/>
          </p:cNvPicPr>
          <p:nvPr/>
        </p:nvPicPr>
        <p:blipFill>
          <a:blip r:embed="rId2"/>
          <a:stretch>
            <a:fillRect/>
          </a:stretch>
        </p:blipFill>
        <p:spPr>
          <a:xfrm>
            <a:off x="1247393" y="704850"/>
            <a:ext cx="8935213" cy="5214199"/>
          </a:xfrm>
          <a:prstGeom prst="rect">
            <a:avLst/>
          </a:prstGeom>
          <a:ln>
            <a:noFill/>
          </a:ln>
          <a:effectLst>
            <a:outerShdw blurRad="292100" dist="139700" dir="2700000" algn="tl" rotWithShape="0">
              <a:srgbClr val="333333">
                <a:alpha val="65000"/>
              </a:srgbClr>
            </a:outerShdw>
          </a:effectLst>
        </p:spPr>
      </p:pic>
      <p:sp>
        <p:nvSpPr>
          <p:cNvPr id="5" name="Speech Bubble: Rectangle with Corners Rounded 4">
            <a:extLst>
              <a:ext uri="{FF2B5EF4-FFF2-40B4-BE49-F238E27FC236}">
                <a16:creationId xmlns:a16="http://schemas.microsoft.com/office/drawing/2014/main" id="{64FE8EFB-4006-E4F7-DBE1-4FF09F7F2BB8}"/>
              </a:ext>
            </a:extLst>
          </p:cNvPr>
          <p:cNvSpPr/>
          <p:nvPr/>
        </p:nvSpPr>
        <p:spPr>
          <a:xfrm>
            <a:off x="7315200" y="3905251"/>
            <a:ext cx="2494824" cy="541810"/>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IP cookie binding setting</a:t>
            </a:r>
          </a:p>
        </p:txBody>
      </p:sp>
    </p:spTree>
    <p:extLst>
      <p:ext uri="{BB962C8B-B14F-4D97-AF65-F5344CB8AC3E}">
        <p14:creationId xmlns:p14="http://schemas.microsoft.com/office/powerpoint/2010/main" val="122992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455AC77-0889-322D-19BD-1002D7BD6196}"/>
            </a:ext>
          </a:extLst>
        </p:cNvPr>
        <p:cNvGrpSpPr/>
        <p:nvPr/>
      </p:nvGrpSpPr>
      <p:grpSpPr>
        <a:xfrm>
          <a:off x="0" y="0"/>
          <a:ext cx="0" cy="0"/>
          <a:chOff x="0" y="0"/>
          <a:chExt cx="0" cy="0"/>
        </a:xfrm>
      </p:grpSpPr>
      <p:pic>
        <p:nvPicPr>
          <p:cNvPr id="2" name="Imagen 2">
            <a:extLst>
              <a:ext uri="{FF2B5EF4-FFF2-40B4-BE49-F238E27FC236}">
                <a16:creationId xmlns:a16="http://schemas.microsoft.com/office/drawing/2014/main" id="{9482EE43-5598-FD0F-A4A2-F9DC143275F9}"/>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6096000" y="86259"/>
            <a:ext cx="2901552" cy="2904591"/>
          </a:xfrm>
          <a:prstGeom prst="rect">
            <a:avLst/>
          </a:prstGeom>
        </p:spPr>
      </p:pic>
      <p:sp>
        <p:nvSpPr>
          <p:cNvPr id="3" name="Marcador de texto 4">
            <a:extLst>
              <a:ext uri="{FF2B5EF4-FFF2-40B4-BE49-F238E27FC236}">
                <a16:creationId xmlns:a16="http://schemas.microsoft.com/office/drawing/2014/main" id="{75927FAB-2E52-0D1D-6320-9D4DACC9CE10}"/>
              </a:ext>
            </a:extLst>
          </p:cNvPr>
          <p:cNvSpPr txBox="1">
            <a:spLocks/>
          </p:cNvSpPr>
          <p:nvPr/>
        </p:nvSpPr>
        <p:spPr>
          <a:xfrm>
            <a:off x="4419600" y="3321389"/>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effectLst/>
                <a:uLnTx/>
                <a:uFillTx/>
                <a:ea typeface="+mn-ea"/>
                <a:cs typeface="Segoe UI Semibold" panose="020B0702040204020203" pitchFamily="34" charset="0"/>
              </a:rPr>
              <a:t>Demo #3: </a:t>
            </a:r>
            <a:r>
              <a:rPr lang="en-US" sz="3600" b="1" dirty="0">
                <a:cs typeface="Segoe UI Semibold" panose="020B0702040204020203" pitchFamily="34" charset="0"/>
              </a:rPr>
              <a:t>Network Security</a:t>
            </a:r>
            <a:endParaRPr kumimoji="0" lang="en-US" sz="3600" b="1" i="0" u="none" strike="noStrike" kern="1200" cap="none" spc="0" normalizeH="0" baseline="0" noProof="0" dirty="0">
              <a:ln>
                <a:noFill/>
              </a:ln>
              <a:effectLst/>
              <a:uLnTx/>
              <a:uFillTx/>
              <a:cs typeface="Segoe UI Semibold" panose="020B07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effectLst/>
              <a:uLnTx/>
              <a:uFillTx/>
              <a:ea typeface="+mn-ea"/>
              <a:cs typeface="+mn-cs"/>
            </a:endParaRPr>
          </a:p>
        </p:txBody>
      </p:sp>
      <p:pic>
        <p:nvPicPr>
          <p:cNvPr id="4" name="Picture 18" descr="Minion clipart transparent background, Minion transparent background  Transparent FREE for download on WebStockReview 2021">
            <a:extLst>
              <a:ext uri="{FF2B5EF4-FFF2-40B4-BE49-F238E27FC236}">
                <a16:creationId xmlns:a16="http://schemas.microsoft.com/office/drawing/2014/main" id="{46FA6F9B-9284-C82F-1AF8-180A65356F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6259"/>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358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71EA4-0ED8-51B9-F339-450EF964BA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B410A1-23CD-E5BA-DD8D-5EA9B3AA126E}"/>
              </a:ext>
            </a:extLst>
          </p:cNvPr>
          <p:cNvSpPr>
            <a:spLocks noGrp="1"/>
          </p:cNvSpPr>
          <p:nvPr>
            <p:ph type="body" sz="quarter" idx="10"/>
          </p:nvPr>
        </p:nvSpPr>
        <p:spPr>
          <a:xfrm>
            <a:off x="537136" y="276271"/>
            <a:ext cx="9673664" cy="541810"/>
          </a:xfrm>
        </p:spPr>
        <p:txBody>
          <a:bodyPr>
            <a:normAutofit fontScale="70000" lnSpcReduction="20000"/>
          </a:bodyPr>
          <a:lstStyle/>
          <a:p>
            <a:r>
              <a:rPr lang="en-US" noProof="0" dirty="0"/>
              <a:t>Identity &amp; Access Management + </a:t>
            </a:r>
            <a:r>
              <a:rPr lang="en-US" noProof="0" dirty="0" err="1"/>
              <a:t>Nework</a:t>
            </a:r>
            <a:r>
              <a:rPr lang="en-US" noProof="0" dirty="0"/>
              <a:t> Security: Key Learnings</a:t>
            </a:r>
          </a:p>
        </p:txBody>
      </p:sp>
      <p:sp>
        <p:nvSpPr>
          <p:cNvPr id="3" name="Content Placeholder 2">
            <a:extLst>
              <a:ext uri="{FF2B5EF4-FFF2-40B4-BE49-F238E27FC236}">
                <a16:creationId xmlns:a16="http://schemas.microsoft.com/office/drawing/2014/main" id="{8F2ECABB-8FE1-1F19-D1BE-96E72A67597B}"/>
              </a:ext>
            </a:extLst>
          </p:cNvPr>
          <p:cNvSpPr>
            <a:spLocks noGrp="1"/>
          </p:cNvSpPr>
          <p:nvPr>
            <p:ph sz="quarter" idx="11"/>
          </p:nvPr>
        </p:nvSpPr>
        <p:spPr/>
        <p:txBody>
          <a:bodyPr>
            <a:normAutofit/>
          </a:bodyPr>
          <a:lstStyle/>
          <a:p>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Take advantage of </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hlinkClick r:id="rId2"/>
              </a:rPr>
              <a:t>Microsoft Entra identities</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 native integration</a:t>
            </a:r>
          </a:p>
          <a:p>
            <a:r>
              <a:rPr kumimoji="0" lang="en-US" sz="2200" b="0" i="0" u="none" strike="noStrike" kern="1200" cap="none" spc="0" normalizeH="0" baseline="0" noProof="0" dirty="0">
                <a:ln>
                  <a:noFill/>
                </a:ln>
                <a:effectLst/>
                <a:uLnTx/>
                <a:uFillTx/>
                <a:latin typeface="Arial" panose="020B0604020202020204" pitchFamily="34" charset="0"/>
                <a:cs typeface="Arial" panose="020B0604020202020204" pitchFamily="34" charset="0"/>
              </a:rPr>
              <a:t>Configure </a:t>
            </a:r>
            <a:r>
              <a:rPr kumimoji="0" lang="en-US" sz="2200" b="0" i="0" u="none" strike="noStrike" kern="1200" cap="none" spc="0" normalizeH="0" baseline="0" noProof="0" dirty="0">
                <a:ln>
                  <a:noFill/>
                </a:ln>
                <a:effectLst/>
                <a:uLnTx/>
                <a:uFillTx/>
                <a:latin typeface="Arial" panose="020B0604020202020204" pitchFamily="34" charset="0"/>
                <a:cs typeface="Arial" panose="020B0604020202020204" pitchFamily="34" charset="0"/>
                <a:hlinkClick r:id="rId3"/>
              </a:rPr>
              <a:t>Conditional Access policies</a:t>
            </a:r>
            <a:r>
              <a:rPr kumimoji="0" lang="en-US" sz="22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for Power Apps, Power Automate, Power BI and even Copilot Studio </a:t>
            </a:r>
            <a:endParaRPr lang="en-US" sz="2200" noProof="0" dirty="0">
              <a:ln w="3175"/>
              <a:latin typeface="Arial" panose="020B0604020202020204" pitchFamily="34" charset="0"/>
              <a:cs typeface="Arial" panose="020B0604020202020204" pitchFamily="34" charset="0"/>
            </a:endParaRPr>
          </a:p>
          <a:p>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Evaluate if you need to enable </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hlinkClick r:id="rId4"/>
              </a:rPr>
              <a:t>tenant isolation</a:t>
            </a:r>
            <a:endParaRPr lang="en-US" sz="2200" dirty="0">
              <a:ln w="3175"/>
              <a:latin typeface="Arial" panose="020B0604020202020204" pitchFamily="34" charset="0"/>
              <a:cs typeface="Arial" panose="020B0604020202020204" pitchFamily="34" charset="0"/>
            </a:endParaRPr>
          </a:p>
          <a:p>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Restrict traffic to Power Platform resources to a specified </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hlinkClick r:id="rId5"/>
              </a:rPr>
              <a:t>IP range</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 (Managed environments, up to 200 IP address)</a:t>
            </a:r>
          </a:p>
          <a:p>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Limit the endpoints Power Platform resources can connect to with </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hlinkClick r:id="rId6"/>
              </a:rPr>
              <a:t>connection endpoint filtering</a:t>
            </a:r>
            <a:endParaRPr lang="en-US" sz="2200" dirty="0">
              <a:ln w="3175"/>
              <a:latin typeface="Arial" panose="020B0604020202020204" pitchFamily="34" charset="0"/>
              <a:cs typeface="Arial" panose="020B0604020202020204" pitchFamily="34" charset="0"/>
            </a:endParaRPr>
          </a:p>
          <a:p>
            <a:r>
              <a:rPr lang="en-US" sz="2200" b="0" dirty="0">
                <a:latin typeface="Arial" panose="020B0604020202020204" pitchFamily="34" charset="0"/>
                <a:cs typeface="Arial" panose="020B0604020202020204" pitchFamily="34" charset="0"/>
              </a:rPr>
              <a:t>Prevent cookie replay attacks with </a:t>
            </a:r>
            <a:r>
              <a:rPr lang="en-US" sz="2200" b="0" dirty="0">
                <a:latin typeface="Arial" panose="020B0604020202020204" pitchFamily="34" charset="0"/>
                <a:cs typeface="Arial" panose="020B0604020202020204" pitchFamily="34" charset="0"/>
                <a:hlinkClick r:id="rId7"/>
              </a:rPr>
              <a:t>IP based cookie binding</a:t>
            </a:r>
            <a:r>
              <a:rPr lang="en-US" sz="2200" b="0" dirty="0">
                <a:latin typeface="Arial" panose="020B0604020202020204" pitchFamily="34" charset="0"/>
                <a:cs typeface="Arial" panose="020B0604020202020204" pitchFamily="34" charset="0"/>
              </a:rPr>
              <a:t> </a:t>
            </a:r>
            <a:endParaRPr lang="en-US" sz="2200" dirty="0">
              <a:latin typeface="Arial" panose="020B0604020202020204" pitchFamily="34" charset="0"/>
              <a:cs typeface="Arial" panose="020B0604020202020204" pitchFamily="34" charset="0"/>
            </a:endParaRPr>
          </a:p>
          <a:p>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Use </a:t>
            </a:r>
            <a:r>
              <a:rPr lang="en-US" sz="2200" dirty="0">
                <a:ln w="3175"/>
                <a:latin typeface="Arial" panose="020B0604020202020204" pitchFamily="34" charset="0"/>
                <a:cs typeface="Arial" panose="020B0604020202020204" pitchFamily="34" charset="0"/>
                <a:hlinkClick r:id="rId8"/>
              </a:rPr>
              <a:t>Azure </a:t>
            </a:r>
            <a:r>
              <a:rPr lang="en-US" sz="2200" dirty="0" err="1">
                <a:ln w="3175"/>
                <a:latin typeface="Arial" panose="020B0604020202020204" pitchFamily="34" charset="0"/>
                <a:cs typeface="Arial" panose="020B0604020202020204" pitchFamily="34" charset="0"/>
                <a:hlinkClick r:id="rId8"/>
              </a:rPr>
              <a:t>vNet</a:t>
            </a:r>
            <a:r>
              <a:rPr lang="en-US" sz="2200" dirty="0">
                <a:ln w="3175"/>
                <a:latin typeface="Arial" panose="020B0604020202020204" pitchFamily="34" charset="0"/>
                <a:cs typeface="Arial" panose="020B0604020202020204" pitchFamily="34" charset="0"/>
                <a:hlinkClick r:id="rId8"/>
              </a:rPr>
              <a:t> </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hlinkClick r:id="rId8"/>
              </a:rPr>
              <a:t>to enforce traffic to travel through your virtual private network</a:t>
            </a:r>
            <a:r>
              <a:rPr kumimoji="0" lang="en-US" sz="2200" b="0" i="0" u="none" strike="noStrike" kern="1200" cap="none" spc="0" normalizeH="0" baseline="0" dirty="0">
                <a:ln w="3175"/>
                <a:effectLst/>
                <a:uLnTx/>
                <a:uFillTx/>
                <a:latin typeface="Arial" panose="020B0604020202020204" pitchFamily="34" charset="0"/>
                <a:cs typeface="Arial" panose="020B0604020202020204" pitchFamily="34" charset="0"/>
              </a:rPr>
              <a:t>, without the need to configure on-premises data gateway</a:t>
            </a:r>
            <a:endParaRPr lang="en-US" sz="22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633092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19F2B-EE02-D68F-149E-35F5D4DE288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C8F4166-31FA-4E62-A995-E5E80F4FC010}"/>
              </a:ext>
            </a:extLst>
          </p:cNvPr>
          <p:cNvSpPr>
            <a:spLocks noGrp="1"/>
          </p:cNvSpPr>
          <p:nvPr>
            <p:ph type="body" sz="quarter" idx="10"/>
          </p:nvPr>
        </p:nvSpPr>
        <p:spPr/>
        <p:txBody>
          <a:bodyPr>
            <a:normAutofit fontScale="92500"/>
          </a:bodyPr>
          <a:lstStyle/>
          <a:p>
            <a:r>
              <a:rPr lang="en-US" noProof="0" dirty="0"/>
              <a:t>Data Access Management for Apps &amp; Users</a:t>
            </a:r>
          </a:p>
        </p:txBody>
      </p:sp>
      <p:grpSp>
        <p:nvGrpSpPr>
          <p:cNvPr id="70" name="Group 69">
            <a:extLst>
              <a:ext uri="{FF2B5EF4-FFF2-40B4-BE49-F238E27FC236}">
                <a16:creationId xmlns:a16="http://schemas.microsoft.com/office/drawing/2014/main" id="{926DC011-A707-B19A-6615-B9D6B7E2F243}"/>
              </a:ext>
            </a:extLst>
          </p:cNvPr>
          <p:cNvGrpSpPr/>
          <p:nvPr/>
        </p:nvGrpSpPr>
        <p:grpSpPr>
          <a:xfrm>
            <a:off x="8544587" y="1615647"/>
            <a:ext cx="2461366" cy="2150833"/>
            <a:chOff x="8640607" y="1161888"/>
            <a:chExt cx="2461366" cy="1837358"/>
          </a:xfrm>
        </p:grpSpPr>
        <p:sp>
          <p:nvSpPr>
            <p:cNvPr id="71" name="Rectangle: Top Corners Rounded 70">
              <a:extLst>
                <a:ext uri="{FF2B5EF4-FFF2-40B4-BE49-F238E27FC236}">
                  <a16:creationId xmlns:a16="http://schemas.microsoft.com/office/drawing/2014/main" id="{89897985-8B4C-E62B-9C72-12A6D645D48E}"/>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p:spPr>
          <p:txBody>
            <a:bodyPr/>
            <a:lstStyle/>
            <a:p>
              <a:pPr>
                <a:defRPr/>
              </a:pPr>
              <a:endParaRPr lang="en-US" kern="0">
                <a:solidFill>
                  <a:prstClr val="black">
                    <a:hueOff val="0"/>
                    <a:satOff val="0"/>
                    <a:lumOff val="0"/>
                    <a:alphaOff val="0"/>
                  </a:prstClr>
                </a:solidFill>
                <a:cs typeface="Segoe UI" panose="020B0502040204020203" pitchFamily="34" charset="0"/>
              </a:endParaRPr>
            </a:p>
          </p:txBody>
        </p:sp>
        <p:sp>
          <p:nvSpPr>
            <p:cNvPr id="72" name="Rectangle: Top Corners Rounded 4">
              <a:extLst>
                <a:ext uri="{FF2B5EF4-FFF2-40B4-BE49-F238E27FC236}">
                  <a16:creationId xmlns:a16="http://schemas.microsoft.com/office/drawing/2014/main" id="{A99F6087-8558-2C7B-E600-FF257AEC6F34}"/>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285750" indent="-285750" defTabSz="914367">
                <a:spcAft>
                  <a:spcPts val="300"/>
                </a:spcAft>
                <a:buFont typeface="Arial" panose="020B0604020202020204" pitchFamily="34" charset="0"/>
                <a:buChar char="•"/>
                <a:defRPr/>
              </a:pPr>
              <a:r>
                <a:rPr lang="en-US" sz="1400" dirty="0">
                  <a:solidFill>
                    <a:srgbClr val="000000"/>
                  </a:solidFill>
                </a:rPr>
                <a:t>Prevents malicious users from using unapproved apps to export sensitive data</a:t>
              </a:r>
              <a:endParaRPr lang="fr-FR" sz="1200" kern="0" dirty="0">
                <a:solidFill>
                  <a:sysClr val="windowText" lastClr="000000">
                    <a:hueOff val="0"/>
                    <a:satOff val="0"/>
                    <a:lumOff val="0"/>
                    <a:alphaOff val="0"/>
                  </a:sysClr>
                </a:solidFill>
                <a:cs typeface="Segoe UI" panose="020B0502040204020203" pitchFamily="34" charset="0"/>
              </a:endParaRPr>
            </a:p>
            <a:p>
              <a:pPr marL="285750" indent="-285750" defTabSz="914367">
                <a:spcAft>
                  <a:spcPts val="300"/>
                </a:spcAft>
                <a:buFont typeface="Arial" panose="020B0604020202020204" pitchFamily="34" charset="0"/>
                <a:buChar char="•"/>
                <a:defRPr/>
              </a:pPr>
              <a:r>
                <a:rPr lang="en-US" sz="1400" noProof="0" dirty="0">
                  <a:solidFill>
                    <a:srgbClr val="000000"/>
                  </a:solidFill>
                </a:rPr>
                <a:t>Allows to control which Apps can run in a Dataverse environment</a:t>
              </a:r>
            </a:p>
          </p:txBody>
        </p:sp>
      </p:grpSp>
      <p:grpSp>
        <p:nvGrpSpPr>
          <p:cNvPr id="73" name="Group 72">
            <a:extLst>
              <a:ext uri="{FF2B5EF4-FFF2-40B4-BE49-F238E27FC236}">
                <a16:creationId xmlns:a16="http://schemas.microsoft.com/office/drawing/2014/main" id="{622C608D-82B1-31BF-E078-C854FE7B5B76}"/>
              </a:ext>
            </a:extLst>
          </p:cNvPr>
          <p:cNvGrpSpPr/>
          <p:nvPr/>
        </p:nvGrpSpPr>
        <p:grpSpPr>
          <a:xfrm>
            <a:off x="8536662" y="3770083"/>
            <a:ext cx="2461366" cy="790063"/>
            <a:chOff x="8632682" y="3002849"/>
            <a:chExt cx="2461366" cy="790063"/>
          </a:xfrm>
        </p:grpSpPr>
        <p:sp>
          <p:nvSpPr>
            <p:cNvPr id="74" name="Rectangle 73">
              <a:extLst>
                <a:ext uri="{FF2B5EF4-FFF2-40B4-BE49-F238E27FC236}">
                  <a16:creationId xmlns:a16="http://schemas.microsoft.com/office/drawing/2014/main" id="{A67A0508-D481-8072-BC70-E72F736FBE42}"/>
                </a:ext>
              </a:extLst>
            </p:cNvPr>
            <p:cNvSpPr/>
            <p:nvPr/>
          </p:nvSpPr>
          <p:spPr>
            <a:xfrm>
              <a:off x="8632682" y="3002849"/>
              <a:ext cx="2461366" cy="790063"/>
            </a:xfrm>
            <a:prstGeom prst="rect">
              <a:avLst/>
            </a:prstGeom>
            <a:solidFill>
              <a:srgbClr val="5B9BD5">
                <a:hueOff val="0"/>
                <a:satOff val="0"/>
                <a:lumOff val="0"/>
                <a:alphaOff val="0"/>
              </a:srgbClr>
            </a:solidFill>
            <a:ln w="12700" cap="flat" cmpd="sng" algn="ctr">
              <a:solidFill>
                <a:srgbClr val="5B9BD5">
                  <a:hueOff val="0"/>
                  <a:satOff val="0"/>
                  <a:lumOff val="0"/>
                  <a:alphaOff val="0"/>
                </a:srgbClr>
              </a:solidFill>
              <a:prstDash val="solid"/>
              <a:miter lim="800000"/>
            </a:ln>
            <a:effectLst/>
          </p:spPr>
          <p:txBody>
            <a:bodyPr/>
            <a:lstStyle/>
            <a:p>
              <a:pPr>
                <a:defRPr/>
              </a:pPr>
              <a:endParaRPr lang="en-US" b="1" kern="0">
                <a:solidFill>
                  <a:schemeClr val="bg1"/>
                </a:solidFill>
                <a:cs typeface="Segoe UI" panose="020B0502040204020203" pitchFamily="34" charset="0"/>
              </a:endParaRPr>
            </a:p>
          </p:txBody>
        </p:sp>
        <p:sp>
          <p:nvSpPr>
            <p:cNvPr id="75" name="TextBox 74">
              <a:extLst>
                <a:ext uri="{FF2B5EF4-FFF2-40B4-BE49-F238E27FC236}">
                  <a16:creationId xmlns:a16="http://schemas.microsoft.com/office/drawing/2014/main" id="{A2781427-2737-D728-D661-E86A0A827FFC}"/>
                </a:ext>
              </a:extLst>
            </p:cNvPr>
            <p:cNvSpPr txBox="1"/>
            <p:nvPr/>
          </p:nvSpPr>
          <p:spPr>
            <a:xfrm>
              <a:off x="8632682" y="3002849"/>
              <a:ext cx="1733356" cy="790063"/>
            </a:xfrm>
            <a:prstGeom prst="rect">
              <a:avLst/>
            </a:prstGeom>
            <a:noFill/>
            <a:ln>
              <a:no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b="1" kern="0" dirty="0">
                  <a:solidFill>
                    <a:schemeClr val="bg1"/>
                  </a:solidFill>
                  <a:cs typeface="Segoe UI" panose="020B0502040204020203" pitchFamily="34" charset="0"/>
                </a:rPr>
                <a:t>App Access Control</a:t>
              </a:r>
            </a:p>
          </p:txBody>
        </p:sp>
      </p:grpSp>
      <p:grpSp>
        <p:nvGrpSpPr>
          <p:cNvPr id="101" name="Group 100">
            <a:extLst>
              <a:ext uri="{FF2B5EF4-FFF2-40B4-BE49-F238E27FC236}">
                <a16:creationId xmlns:a16="http://schemas.microsoft.com/office/drawing/2014/main" id="{9B6A6491-6D93-D5FA-0978-378174544CA3}"/>
              </a:ext>
            </a:extLst>
          </p:cNvPr>
          <p:cNvGrpSpPr/>
          <p:nvPr/>
        </p:nvGrpSpPr>
        <p:grpSpPr>
          <a:xfrm>
            <a:off x="320714" y="1619896"/>
            <a:ext cx="2461366" cy="2146584"/>
            <a:chOff x="8640607" y="1161888"/>
            <a:chExt cx="2461366" cy="1837358"/>
          </a:xfrm>
        </p:grpSpPr>
        <p:sp>
          <p:nvSpPr>
            <p:cNvPr id="102" name="Rectangle: Top Corners Rounded 101">
              <a:extLst>
                <a:ext uri="{FF2B5EF4-FFF2-40B4-BE49-F238E27FC236}">
                  <a16:creationId xmlns:a16="http://schemas.microsoft.com/office/drawing/2014/main" id="{C557CBBF-7B13-E87E-DE7D-1675F99C9E19}"/>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103" name="Rectangle: Top Corners Rounded 4">
              <a:extLst>
                <a:ext uri="{FF2B5EF4-FFF2-40B4-BE49-F238E27FC236}">
                  <a16:creationId xmlns:a16="http://schemas.microsoft.com/office/drawing/2014/main" id="{C4FDFEE1-E0E7-0179-BBC3-D66C5DAC9916}"/>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fontAlgn="base">
                <a:lnSpc>
                  <a:spcPct val="90000"/>
                </a:lnSpc>
                <a:spcBef>
                  <a:spcPct val="0"/>
                </a:spcBef>
                <a:spcAft>
                  <a:spcPct val="15000"/>
                </a:spcAft>
                <a:buFontTx/>
                <a:buChar char="•"/>
                <a:defRPr/>
              </a:pPr>
              <a:r>
                <a:rPr lang="en-US" sz="1400" dirty="0">
                  <a:solidFill>
                    <a:srgbClr val="000000"/>
                  </a:solidFill>
                </a:rPr>
                <a:t>Only </a:t>
              </a:r>
              <a:r>
                <a:rPr lang="en-US" sz="1400" strike="sngStrike" dirty="0">
                  <a:solidFill>
                    <a:srgbClr val="000000"/>
                  </a:solidFill>
                </a:rPr>
                <a:t>licensed</a:t>
              </a:r>
              <a:r>
                <a:rPr lang="en-US" sz="1400" dirty="0">
                  <a:solidFill>
                    <a:srgbClr val="000000"/>
                  </a:solidFill>
                </a:rPr>
                <a:t> users with a valid Microsoft Entra ID can log into the system</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cs typeface="Segoe UI" panose="020B0502040204020203" pitchFamily="34" charset="0"/>
              </a:endParaRPr>
            </a:p>
          </p:txBody>
        </p:sp>
      </p:grpSp>
      <p:grpSp>
        <p:nvGrpSpPr>
          <p:cNvPr id="104" name="Group 103">
            <a:extLst>
              <a:ext uri="{FF2B5EF4-FFF2-40B4-BE49-F238E27FC236}">
                <a16:creationId xmlns:a16="http://schemas.microsoft.com/office/drawing/2014/main" id="{E9EB61AE-377F-5F4A-BAA3-757C70C5E901}"/>
              </a:ext>
            </a:extLst>
          </p:cNvPr>
          <p:cNvGrpSpPr/>
          <p:nvPr/>
        </p:nvGrpSpPr>
        <p:grpSpPr>
          <a:xfrm>
            <a:off x="320713" y="3777360"/>
            <a:ext cx="2461366" cy="786384"/>
            <a:chOff x="8632682" y="3002849"/>
            <a:chExt cx="2461366" cy="790063"/>
          </a:xfrm>
          <a:solidFill>
            <a:schemeClr val="accent6">
              <a:lumMod val="75000"/>
            </a:schemeClr>
          </a:solidFill>
        </p:grpSpPr>
        <p:sp>
          <p:nvSpPr>
            <p:cNvPr id="105" name="Rectangle 104">
              <a:extLst>
                <a:ext uri="{FF2B5EF4-FFF2-40B4-BE49-F238E27FC236}">
                  <a16:creationId xmlns:a16="http://schemas.microsoft.com/office/drawing/2014/main" id="{F9EABF90-749C-DDD9-051D-BB967C29980F}"/>
                </a:ext>
              </a:extLst>
            </p:cNvPr>
            <p:cNvSpPr/>
            <p:nvPr/>
          </p:nvSpPr>
          <p:spPr>
            <a:xfrm>
              <a:off x="8632682" y="3002849"/>
              <a:ext cx="2461366" cy="790063"/>
            </a:xfrm>
            <a:prstGeom prst="rect">
              <a:avLst/>
            </a:prstGeom>
            <a:grp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cs typeface="Segoe UI" panose="020B0502040204020203" pitchFamily="34" charset="0"/>
              </a:endParaRPr>
            </a:p>
          </p:txBody>
        </p:sp>
        <p:sp>
          <p:nvSpPr>
            <p:cNvPr id="106" name="TextBox 105">
              <a:extLst>
                <a:ext uri="{FF2B5EF4-FFF2-40B4-BE49-F238E27FC236}">
                  <a16:creationId xmlns:a16="http://schemas.microsoft.com/office/drawing/2014/main" id="{FBB47949-2E16-A9C3-BA78-FD7AFBB42CE0}"/>
                </a:ext>
              </a:extLst>
            </p:cNvPr>
            <p:cNvSpPr txBox="1"/>
            <p:nvPr/>
          </p:nvSpPr>
          <p:spPr>
            <a:xfrm>
              <a:off x="8632682" y="3002849"/>
              <a:ext cx="1733356" cy="790063"/>
            </a:xfrm>
            <a:prstGeom prst="rect">
              <a:avLst/>
            </a:prstGeom>
            <a:grpFill/>
            <a:ln>
              <a:solidFill>
                <a:schemeClr val="accent6">
                  <a:lumMod val="75000"/>
                </a:schemeClr>
              </a:solidFill>
            </a:ln>
            <a:effectLst/>
          </p:spPr>
          <p:txBody>
            <a:bodyPr spcFirstLastPara="0" vert="horz" wrap="square" lIns="68580" tIns="0" rIns="22860" bIns="0" numCol="1" spcCol="127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ea typeface="+mn-ea"/>
                  <a:cs typeface="+mn-cs"/>
                </a:rPr>
                <a:t>Tenant Access</a:t>
              </a:r>
            </a:p>
          </p:txBody>
        </p:sp>
      </p:grpSp>
      <p:grpSp>
        <p:nvGrpSpPr>
          <p:cNvPr id="107" name="Group 106">
            <a:extLst>
              <a:ext uri="{FF2B5EF4-FFF2-40B4-BE49-F238E27FC236}">
                <a16:creationId xmlns:a16="http://schemas.microsoft.com/office/drawing/2014/main" id="{82DFB9DC-031C-8B5C-C7F9-78C559626205}"/>
              </a:ext>
            </a:extLst>
          </p:cNvPr>
          <p:cNvGrpSpPr/>
          <p:nvPr/>
        </p:nvGrpSpPr>
        <p:grpSpPr>
          <a:xfrm>
            <a:off x="3082574" y="1623499"/>
            <a:ext cx="2461366" cy="2146584"/>
            <a:chOff x="6941" y="1161888"/>
            <a:chExt cx="2461366" cy="1837358"/>
          </a:xfrm>
        </p:grpSpPr>
        <p:sp>
          <p:nvSpPr>
            <p:cNvPr id="108" name="Rectangle: Top Corners Rounded 107">
              <a:extLst>
                <a:ext uri="{FF2B5EF4-FFF2-40B4-BE49-F238E27FC236}">
                  <a16:creationId xmlns:a16="http://schemas.microsoft.com/office/drawing/2014/main" id="{06283755-3A46-586B-B910-D9C91A5A5C06}"/>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109" name="Rectangle: Top Corners Rounded 4">
              <a:extLst>
                <a:ext uri="{FF2B5EF4-FFF2-40B4-BE49-F238E27FC236}">
                  <a16:creationId xmlns:a16="http://schemas.microsoft.com/office/drawing/2014/main" id="{8DBA46E1-995D-63E2-1A4F-11A07A616EE0}"/>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base">
                <a:lnSpc>
                  <a:spcPct val="90000"/>
                </a:lnSpc>
                <a:spcBef>
                  <a:spcPct val="0"/>
                </a:spcBef>
                <a:spcAft>
                  <a:spcPct val="15000"/>
                </a:spcAft>
                <a:buClrTx/>
                <a:buSzTx/>
                <a:buFontTx/>
                <a:buChar char="•"/>
                <a:tabLst/>
                <a:defRPr/>
              </a:pPr>
              <a:r>
                <a:rPr lang="en-US" sz="1400" dirty="0">
                  <a:solidFill>
                    <a:srgbClr val="000000"/>
                  </a:solidFill>
                </a:rPr>
                <a:t>A PP environment is the security boundary and the unit of governance management</a:t>
              </a:r>
            </a:p>
            <a:p>
              <a:pPr marL="114300" marR="0" lvl="1" indent="-114300" defTabSz="533400" fontAlgn="base">
                <a:lnSpc>
                  <a:spcPct val="90000"/>
                </a:lnSpc>
                <a:spcBef>
                  <a:spcPct val="0"/>
                </a:spcBef>
                <a:spcAft>
                  <a:spcPct val="15000"/>
                </a:spcAft>
                <a:buClrTx/>
                <a:buSzTx/>
                <a:buFontTx/>
                <a:buChar char="•"/>
                <a:tabLst/>
                <a:defRPr/>
              </a:pPr>
              <a:r>
                <a:rPr lang="en-US" sz="1400" dirty="0">
                  <a:solidFill>
                    <a:srgbClr val="000000"/>
                  </a:solidFill>
                </a:rPr>
                <a:t>Best practice: assign security groups to environments to manage user access</a:t>
              </a:r>
            </a:p>
          </p:txBody>
        </p:sp>
      </p:grpSp>
      <p:grpSp>
        <p:nvGrpSpPr>
          <p:cNvPr id="110" name="Group 109">
            <a:extLst>
              <a:ext uri="{FF2B5EF4-FFF2-40B4-BE49-F238E27FC236}">
                <a16:creationId xmlns:a16="http://schemas.microsoft.com/office/drawing/2014/main" id="{0B1A97B1-985E-FBBE-0567-CED18694E6FB}"/>
              </a:ext>
            </a:extLst>
          </p:cNvPr>
          <p:cNvGrpSpPr/>
          <p:nvPr/>
        </p:nvGrpSpPr>
        <p:grpSpPr>
          <a:xfrm>
            <a:off x="3082574" y="3777360"/>
            <a:ext cx="2461366" cy="786384"/>
            <a:chOff x="6941" y="2999246"/>
            <a:chExt cx="2461366" cy="790063"/>
          </a:xfrm>
          <a:solidFill>
            <a:schemeClr val="bg1">
              <a:lumMod val="75000"/>
            </a:schemeClr>
          </a:solidFill>
        </p:grpSpPr>
        <p:sp>
          <p:nvSpPr>
            <p:cNvPr id="111" name="Rectangle 110">
              <a:extLst>
                <a:ext uri="{FF2B5EF4-FFF2-40B4-BE49-F238E27FC236}">
                  <a16:creationId xmlns:a16="http://schemas.microsoft.com/office/drawing/2014/main" id="{60E12C7E-4AAB-5DEE-CF25-826E95A352D6}"/>
                </a:ext>
              </a:extLst>
            </p:cNvPr>
            <p:cNvSpPr/>
            <p:nvPr/>
          </p:nvSpPr>
          <p:spPr>
            <a:xfrm>
              <a:off x="6941" y="2999246"/>
              <a:ext cx="2461366" cy="790063"/>
            </a:xfrm>
            <a:prstGeom prst="rect">
              <a:avLst/>
            </a:prstGeom>
            <a:grp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cs typeface="Segoe UI" panose="020B0502040204020203" pitchFamily="34" charset="0"/>
              </a:endParaRPr>
            </a:p>
          </p:txBody>
        </p:sp>
        <p:sp>
          <p:nvSpPr>
            <p:cNvPr id="112" name="TextBox 111">
              <a:extLst>
                <a:ext uri="{FF2B5EF4-FFF2-40B4-BE49-F238E27FC236}">
                  <a16:creationId xmlns:a16="http://schemas.microsoft.com/office/drawing/2014/main" id="{93BFD0C2-037F-A857-1A43-E0004D352914}"/>
                </a:ext>
              </a:extLst>
            </p:cNvPr>
            <p:cNvSpPr txBox="1"/>
            <p:nvPr/>
          </p:nvSpPr>
          <p:spPr>
            <a:xfrm>
              <a:off x="6941" y="2999246"/>
              <a:ext cx="1733356" cy="790063"/>
            </a:xfrm>
            <a:prstGeom prst="rect">
              <a:avLst/>
            </a:prstGeom>
            <a:grpFill/>
            <a:ln>
              <a:solidFill>
                <a:schemeClr val="bg1">
                  <a:lumMod val="75000"/>
                </a:schemeClr>
              </a:solidFill>
            </a:ln>
            <a:effectLst/>
          </p:spPr>
          <p:txBody>
            <a:bodyPr spcFirstLastPara="0" vert="horz" wrap="square" lIns="68580" tIns="0" rIns="22860" bIns="0" numCol="1" spcCol="1270" anchor="ctr" anchorCtr="0">
              <a:no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800" b="1" i="0" u="none" strike="noStrike" kern="1200" cap="none" spc="0" normalizeH="0" baseline="0" noProof="0" dirty="0">
                  <a:ln>
                    <a:noFill/>
                  </a:ln>
                  <a:solidFill>
                    <a:schemeClr val="bg1"/>
                  </a:solidFill>
                  <a:effectLst/>
                  <a:uLnTx/>
                  <a:uFillTx/>
                  <a:ea typeface="+mn-ea"/>
                  <a:cs typeface="+mn-cs"/>
                </a:rPr>
                <a:t>Environment Access</a:t>
              </a:r>
            </a:p>
          </p:txBody>
        </p:sp>
      </p:grpSp>
      <p:grpSp>
        <p:nvGrpSpPr>
          <p:cNvPr id="113" name="Group 112">
            <a:extLst>
              <a:ext uri="{FF2B5EF4-FFF2-40B4-BE49-F238E27FC236}">
                <a16:creationId xmlns:a16="http://schemas.microsoft.com/office/drawing/2014/main" id="{ACE9B494-A31C-B748-6195-AFE7571E9728}"/>
              </a:ext>
            </a:extLst>
          </p:cNvPr>
          <p:cNvGrpSpPr/>
          <p:nvPr/>
        </p:nvGrpSpPr>
        <p:grpSpPr>
          <a:xfrm>
            <a:off x="5844434" y="1623499"/>
            <a:ext cx="2461366" cy="2146584"/>
            <a:chOff x="2884829" y="1161888"/>
            <a:chExt cx="2461366" cy="1837358"/>
          </a:xfrm>
        </p:grpSpPr>
        <p:sp>
          <p:nvSpPr>
            <p:cNvPr id="114" name="Rectangle: Top Corners Rounded 113">
              <a:extLst>
                <a:ext uri="{FF2B5EF4-FFF2-40B4-BE49-F238E27FC236}">
                  <a16:creationId xmlns:a16="http://schemas.microsoft.com/office/drawing/2014/main" id="{4B179081-9FC0-3F85-0618-B51E86B796C5}"/>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115" name="Rectangle: Top Corners Rounded 4">
              <a:extLst>
                <a:ext uri="{FF2B5EF4-FFF2-40B4-BE49-F238E27FC236}">
                  <a16:creationId xmlns:a16="http://schemas.microsoft.com/office/drawing/2014/main" id="{3F0812AC-6833-AB0D-5D91-A04EE67CBE1F}"/>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fontAlgn="base">
                <a:lnSpc>
                  <a:spcPct val="90000"/>
                </a:lnSpc>
                <a:spcBef>
                  <a:spcPct val="0"/>
                </a:spcBef>
                <a:spcAft>
                  <a:spcPct val="15000"/>
                </a:spcAft>
                <a:buFontTx/>
                <a:buChar char="•"/>
                <a:defRPr/>
              </a:pPr>
              <a:r>
                <a:rPr lang="en-US" sz="1400" dirty="0">
                  <a:solidFill>
                    <a:srgbClr val="000000"/>
                  </a:solidFill>
                </a:rPr>
                <a:t>Access as owner/co-owner: Edit/Share/Use</a:t>
              </a:r>
            </a:p>
            <a:p>
              <a:pPr marL="114300" lvl="1" indent="-114300" defTabSz="533400" fontAlgn="base">
                <a:lnSpc>
                  <a:spcPct val="90000"/>
                </a:lnSpc>
                <a:spcBef>
                  <a:spcPct val="0"/>
                </a:spcBef>
                <a:spcAft>
                  <a:spcPct val="15000"/>
                </a:spcAft>
                <a:buFontTx/>
                <a:buChar char="•"/>
                <a:defRPr/>
              </a:pPr>
              <a:r>
                <a:rPr lang="en-US" sz="1400" dirty="0">
                  <a:solidFill>
                    <a:srgbClr val="000000"/>
                  </a:solidFill>
                </a:rPr>
                <a:t>Access to run components – use only no edit </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40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p:txBody>
        </p:sp>
      </p:grpSp>
      <p:grpSp>
        <p:nvGrpSpPr>
          <p:cNvPr id="116" name="Group 115">
            <a:extLst>
              <a:ext uri="{FF2B5EF4-FFF2-40B4-BE49-F238E27FC236}">
                <a16:creationId xmlns:a16="http://schemas.microsoft.com/office/drawing/2014/main" id="{DC00A92C-6055-E474-6FE7-0E8C70C301F7}"/>
              </a:ext>
            </a:extLst>
          </p:cNvPr>
          <p:cNvGrpSpPr/>
          <p:nvPr/>
        </p:nvGrpSpPr>
        <p:grpSpPr>
          <a:xfrm>
            <a:off x="5844434" y="3777360"/>
            <a:ext cx="2461366" cy="786384"/>
            <a:chOff x="2884829" y="2999246"/>
            <a:chExt cx="2461366" cy="790063"/>
          </a:xfrm>
          <a:solidFill>
            <a:srgbClr val="FFC000"/>
          </a:solidFill>
        </p:grpSpPr>
        <p:sp>
          <p:nvSpPr>
            <p:cNvPr id="117" name="Rectangle 116">
              <a:extLst>
                <a:ext uri="{FF2B5EF4-FFF2-40B4-BE49-F238E27FC236}">
                  <a16:creationId xmlns:a16="http://schemas.microsoft.com/office/drawing/2014/main" id="{FE5C26A7-4F00-134E-9F13-CDDEB80F4FCA}"/>
                </a:ext>
              </a:extLst>
            </p:cNvPr>
            <p:cNvSpPr/>
            <p:nvPr/>
          </p:nvSpPr>
          <p:spPr>
            <a:xfrm>
              <a:off x="2884829"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cs typeface="Segoe UI" panose="020B0502040204020203" pitchFamily="34" charset="0"/>
              </a:endParaRPr>
            </a:p>
          </p:txBody>
        </p:sp>
        <p:sp>
          <p:nvSpPr>
            <p:cNvPr id="118" name="TextBox 117">
              <a:extLst>
                <a:ext uri="{FF2B5EF4-FFF2-40B4-BE49-F238E27FC236}">
                  <a16:creationId xmlns:a16="http://schemas.microsoft.com/office/drawing/2014/main" id="{82C14F03-2C25-40BD-E2AB-D30E9C65990F}"/>
                </a:ext>
              </a:extLst>
            </p:cNvPr>
            <p:cNvSpPr txBox="1"/>
            <p:nvPr/>
          </p:nvSpPr>
          <p:spPr>
            <a:xfrm>
              <a:off x="2884829" y="2999246"/>
              <a:ext cx="1733356"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schemeClr val="bg1"/>
                  </a:solidFill>
                  <a:effectLst/>
                  <a:uLnTx/>
                  <a:uFillTx/>
                  <a:ea typeface="+mn-ea"/>
                  <a:cs typeface="+mn-cs"/>
                </a:rPr>
                <a:t>Resources Access</a:t>
              </a:r>
              <a:endParaRPr kumimoji="0" lang="en-US" sz="1800" b="1" i="0" u="none" strike="noStrike" kern="0" cap="none" spc="0" normalizeH="0" baseline="0" noProof="0" dirty="0">
                <a:ln>
                  <a:noFill/>
                </a:ln>
                <a:solidFill>
                  <a:schemeClr val="bg1"/>
                </a:solidFill>
                <a:effectLst/>
                <a:uLnTx/>
                <a:uFillTx/>
                <a:cs typeface="Segoe UI" panose="020B0502040204020203" pitchFamily="34" charset="0"/>
              </a:endParaRPr>
            </a:p>
          </p:txBody>
        </p:sp>
      </p:grpSp>
      <p:pic>
        <p:nvPicPr>
          <p:cNvPr id="119" name="Picture 118" descr="A yellow and black barrier&#10;&#10;Description automatically generated">
            <a:extLst>
              <a:ext uri="{FF2B5EF4-FFF2-40B4-BE49-F238E27FC236}">
                <a16:creationId xmlns:a16="http://schemas.microsoft.com/office/drawing/2014/main" id="{009979E5-C6ED-77DB-C148-85AFE15307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7985" y="3791598"/>
            <a:ext cx="640080" cy="747805"/>
          </a:xfrm>
          <a:prstGeom prst="rect">
            <a:avLst/>
          </a:prstGeom>
        </p:spPr>
      </p:pic>
      <p:pic>
        <p:nvPicPr>
          <p:cNvPr id="120" name="Picture 119">
            <a:extLst>
              <a:ext uri="{FF2B5EF4-FFF2-40B4-BE49-F238E27FC236}">
                <a16:creationId xmlns:a16="http://schemas.microsoft.com/office/drawing/2014/main" id="{61E21B1C-3C24-00C5-7C23-0C3E548B3CE6}"/>
              </a:ext>
            </a:extLst>
          </p:cNvPr>
          <p:cNvPicPr>
            <a:picLocks noChangeAspect="1"/>
          </p:cNvPicPr>
          <p:nvPr/>
        </p:nvPicPr>
        <p:blipFill>
          <a:blip r:embed="rId4"/>
          <a:stretch>
            <a:fillRect/>
          </a:stretch>
        </p:blipFill>
        <p:spPr>
          <a:xfrm>
            <a:off x="4819980" y="3802818"/>
            <a:ext cx="640080" cy="747805"/>
          </a:xfrm>
          <a:prstGeom prst="rect">
            <a:avLst/>
          </a:prstGeom>
        </p:spPr>
      </p:pic>
      <p:pic>
        <p:nvPicPr>
          <p:cNvPr id="121" name="Picture 120">
            <a:extLst>
              <a:ext uri="{FF2B5EF4-FFF2-40B4-BE49-F238E27FC236}">
                <a16:creationId xmlns:a16="http://schemas.microsoft.com/office/drawing/2014/main" id="{FD31F824-43CB-F73F-ADC6-CE2605CB84CA}"/>
              </a:ext>
            </a:extLst>
          </p:cNvPr>
          <p:cNvPicPr>
            <a:picLocks noChangeAspect="1"/>
          </p:cNvPicPr>
          <p:nvPr/>
        </p:nvPicPr>
        <p:blipFill>
          <a:blip r:embed="rId5"/>
          <a:stretch>
            <a:fillRect/>
          </a:stretch>
        </p:blipFill>
        <p:spPr>
          <a:xfrm>
            <a:off x="7621755" y="3785391"/>
            <a:ext cx="640080" cy="747805"/>
          </a:xfrm>
          <a:prstGeom prst="rect">
            <a:avLst/>
          </a:prstGeom>
        </p:spPr>
      </p:pic>
      <p:pic>
        <p:nvPicPr>
          <p:cNvPr id="124" name="Picture 123">
            <a:extLst>
              <a:ext uri="{FF2B5EF4-FFF2-40B4-BE49-F238E27FC236}">
                <a16:creationId xmlns:a16="http://schemas.microsoft.com/office/drawing/2014/main" id="{8ADB4EA7-7308-301D-5953-C0E3EC7D509E}"/>
              </a:ext>
            </a:extLst>
          </p:cNvPr>
          <p:cNvPicPr>
            <a:picLocks noChangeAspect="1"/>
          </p:cNvPicPr>
          <p:nvPr/>
        </p:nvPicPr>
        <p:blipFill>
          <a:blip r:embed="rId6"/>
          <a:stretch>
            <a:fillRect/>
          </a:stretch>
        </p:blipFill>
        <p:spPr>
          <a:xfrm>
            <a:off x="10293524" y="3871909"/>
            <a:ext cx="640080" cy="640080"/>
          </a:xfrm>
          <a:prstGeom prst="rect">
            <a:avLst/>
          </a:prstGeom>
        </p:spPr>
      </p:pic>
    </p:spTree>
    <p:extLst>
      <p:ext uri="{BB962C8B-B14F-4D97-AF65-F5344CB8AC3E}">
        <p14:creationId xmlns:p14="http://schemas.microsoft.com/office/powerpoint/2010/main" val="1168439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42E9C-3FA7-C501-F782-D8AD8EC65C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5AA95F4-290B-91AE-4987-4897E21703A2}"/>
              </a:ext>
            </a:extLst>
          </p:cNvPr>
          <p:cNvSpPr>
            <a:spLocks noGrp="1"/>
          </p:cNvSpPr>
          <p:nvPr>
            <p:ph type="body" sz="quarter" idx="10"/>
          </p:nvPr>
        </p:nvSpPr>
        <p:spPr>
          <a:xfrm>
            <a:off x="537136" y="276270"/>
            <a:ext cx="9368864" cy="657179"/>
          </a:xfrm>
        </p:spPr>
        <p:txBody>
          <a:bodyPr>
            <a:normAutofit fontScale="77500" lnSpcReduction="20000"/>
          </a:bodyPr>
          <a:lstStyle/>
          <a:p>
            <a:r>
              <a:rPr lang="en-US" noProof="0" dirty="0"/>
              <a:t>Data Access Management for Apps: Disabling App Access to an environment</a:t>
            </a:r>
          </a:p>
        </p:txBody>
      </p:sp>
      <p:pic>
        <p:nvPicPr>
          <p:cNvPr id="4" name="Picture 3">
            <a:extLst>
              <a:ext uri="{FF2B5EF4-FFF2-40B4-BE49-F238E27FC236}">
                <a16:creationId xmlns:a16="http://schemas.microsoft.com/office/drawing/2014/main" id="{AC298989-346F-465D-F04E-D50BEDB04E51}"/>
              </a:ext>
            </a:extLst>
          </p:cNvPr>
          <p:cNvPicPr>
            <a:picLocks noChangeAspect="1"/>
          </p:cNvPicPr>
          <p:nvPr/>
        </p:nvPicPr>
        <p:blipFill>
          <a:blip r:embed="rId3"/>
          <a:stretch>
            <a:fillRect/>
          </a:stretch>
        </p:blipFill>
        <p:spPr>
          <a:xfrm>
            <a:off x="1447800" y="857250"/>
            <a:ext cx="8534400" cy="5010814"/>
          </a:xfrm>
          <a:prstGeom prst="rect">
            <a:avLst/>
          </a:prstGeom>
          <a:ln>
            <a:noFill/>
          </a:ln>
          <a:effectLst>
            <a:outerShdw blurRad="292100" dist="139700" dir="2700000" algn="tl" rotWithShape="0">
              <a:srgbClr val="333333">
                <a:alpha val="65000"/>
              </a:srgbClr>
            </a:outerShdw>
          </a:effectLst>
        </p:spPr>
      </p:pic>
      <p:sp>
        <p:nvSpPr>
          <p:cNvPr id="5" name="Speech Bubble: Rectangle with Corners Rounded 4">
            <a:extLst>
              <a:ext uri="{FF2B5EF4-FFF2-40B4-BE49-F238E27FC236}">
                <a16:creationId xmlns:a16="http://schemas.microsoft.com/office/drawing/2014/main" id="{86930FE9-ED38-3918-5D93-1EFCF3E8BB7C}"/>
              </a:ext>
            </a:extLst>
          </p:cNvPr>
          <p:cNvSpPr/>
          <p:nvPr/>
        </p:nvSpPr>
        <p:spPr>
          <a:xfrm>
            <a:off x="1281134" y="2521746"/>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Identity &amp; Access Settings</a:t>
            </a:r>
          </a:p>
        </p:txBody>
      </p:sp>
      <p:sp>
        <p:nvSpPr>
          <p:cNvPr id="6" name="Flowchart: Connector 5">
            <a:extLst>
              <a:ext uri="{FF2B5EF4-FFF2-40B4-BE49-F238E27FC236}">
                <a16:creationId xmlns:a16="http://schemas.microsoft.com/office/drawing/2014/main" id="{F71F9B37-1596-3F96-4F71-9069419516B5}"/>
              </a:ext>
            </a:extLst>
          </p:cNvPr>
          <p:cNvSpPr/>
          <p:nvPr/>
        </p:nvSpPr>
        <p:spPr>
          <a:xfrm>
            <a:off x="1909318" y="340360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7" name="Speech Bubble: Rectangle with Corners Rounded 6">
            <a:extLst>
              <a:ext uri="{FF2B5EF4-FFF2-40B4-BE49-F238E27FC236}">
                <a16:creationId xmlns:a16="http://schemas.microsoft.com/office/drawing/2014/main" id="{1522D435-E21B-196D-680F-6B7A2828E446}"/>
              </a:ext>
            </a:extLst>
          </p:cNvPr>
          <p:cNvSpPr/>
          <p:nvPr/>
        </p:nvSpPr>
        <p:spPr>
          <a:xfrm>
            <a:off x="3130696" y="4839509"/>
            <a:ext cx="2494824" cy="657180"/>
          </a:xfrm>
          <a:prstGeom prst="wedgeRoundRectCallout">
            <a:avLst>
              <a:gd name="adj1" fmla="val -19715"/>
              <a:gd name="adj2" fmla="val -6791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App access control setting</a:t>
            </a:r>
          </a:p>
        </p:txBody>
      </p:sp>
      <p:sp>
        <p:nvSpPr>
          <p:cNvPr id="8" name="Flowchart: Connector 7">
            <a:extLst>
              <a:ext uri="{FF2B5EF4-FFF2-40B4-BE49-F238E27FC236}">
                <a16:creationId xmlns:a16="http://schemas.microsoft.com/office/drawing/2014/main" id="{6244EF74-E75B-E2EE-482C-B4AAE5FFA833}"/>
              </a:ext>
            </a:extLst>
          </p:cNvPr>
          <p:cNvSpPr/>
          <p:nvPr/>
        </p:nvSpPr>
        <p:spPr>
          <a:xfrm>
            <a:off x="5715000" y="496235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9" name="Speech Bubble: Rectangle with Corners Rounded 8">
            <a:extLst>
              <a:ext uri="{FF2B5EF4-FFF2-40B4-BE49-F238E27FC236}">
                <a16:creationId xmlns:a16="http://schemas.microsoft.com/office/drawing/2014/main" id="{66777B9A-5744-6E9E-8B29-FB5B432DA9AE}"/>
              </a:ext>
            </a:extLst>
          </p:cNvPr>
          <p:cNvSpPr/>
          <p:nvPr/>
        </p:nvSpPr>
        <p:spPr>
          <a:xfrm>
            <a:off x="4953000" y="2890895"/>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Block / Allow Apps</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access to the environment</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0" name="Flowchart: Connector 9">
            <a:extLst>
              <a:ext uri="{FF2B5EF4-FFF2-40B4-BE49-F238E27FC236}">
                <a16:creationId xmlns:a16="http://schemas.microsoft.com/office/drawing/2014/main" id="{DE6364E4-B274-898C-B18B-E474F452B552}"/>
              </a:ext>
            </a:extLst>
          </p:cNvPr>
          <p:cNvSpPr/>
          <p:nvPr/>
        </p:nvSpPr>
        <p:spPr>
          <a:xfrm>
            <a:off x="7620000" y="308002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Tree>
    <p:extLst>
      <p:ext uri="{BB962C8B-B14F-4D97-AF65-F5344CB8AC3E}">
        <p14:creationId xmlns:p14="http://schemas.microsoft.com/office/powerpoint/2010/main" val="128478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3B6AF-804A-0C90-B2F0-F60E898358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8AE109-DF87-84BB-DD35-FE2913EB2D42}"/>
              </a:ext>
            </a:extLst>
          </p:cNvPr>
          <p:cNvSpPr>
            <a:spLocks noGrp="1"/>
          </p:cNvSpPr>
          <p:nvPr>
            <p:ph type="body" sz="quarter" idx="10"/>
          </p:nvPr>
        </p:nvSpPr>
        <p:spPr>
          <a:xfrm>
            <a:off x="537136" y="276270"/>
            <a:ext cx="9368864" cy="657179"/>
          </a:xfrm>
        </p:spPr>
        <p:txBody>
          <a:bodyPr>
            <a:normAutofit fontScale="77500" lnSpcReduction="20000"/>
          </a:bodyPr>
          <a:lstStyle/>
          <a:p>
            <a:r>
              <a:rPr lang="en-US" noProof="0" dirty="0"/>
              <a:t>Data Access Management by User Type: Some Tips &amp; Recommendations</a:t>
            </a:r>
          </a:p>
        </p:txBody>
      </p:sp>
      <p:grpSp>
        <p:nvGrpSpPr>
          <p:cNvPr id="3" name="Group 2">
            <a:extLst>
              <a:ext uri="{FF2B5EF4-FFF2-40B4-BE49-F238E27FC236}">
                <a16:creationId xmlns:a16="http://schemas.microsoft.com/office/drawing/2014/main" id="{7B60B9EA-03E8-78B7-80CC-2FDD05ED891D}"/>
              </a:ext>
            </a:extLst>
          </p:cNvPr>
          <p:cNvGrpSpPr/>
          <p:nvPr/>
        </p:nvGrpSpPr>
        <p:grpSpPr>
          <a:xfrm>
            <a:off x="537136" y="1085850"/>
            <a:ext cx="4634001" cy="3592290"/>
            <a:chOff x="8640607" y="1161888"/>
            <a:chExt cx="2461366" cy="1837358"/>
          </a:xfrm>
        </p:grpSpPr>
        <p:sp>
          <p:nvSpPr>
            <p:cNvPr id="4" name="Rectangle: Top Corners Rounded 3">
              <a:extLst>
                <a:ext uri="{FF2B5EF4-FFF2-40B4-BE49-F238E27FC236}">
                  <a16:creationId xmlns:a16="http://schemas.microsoft.com/office/drawing/2014/main" id="{CFE30D49-5582-A6ED-1194-980B29F6284A}"/>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endParaRPr>
            </a:p>
          </p:txBody>
        </p:sp>
        <p:sp>
          <p:nvSpPr>
            <p:cNvPr id="5" name="Rectangle: Top Corners Rounded 4">
              <a:extLst>
                <a:ext uri="{FF2B5EF4-FFF2-40B4-BE49-F238E27FC236}">
                  <a16:creationId xmlns:a16="http://schemas.microsoft.com/office/drawing/2014/main" id="{D4DD6A9B-7AFA-DA5D-DA6C-8D0B1757FCB7}"/>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71450" lvl="0" indent="-171450">
                <a:buFont typeface="Arial" panose="020B0604020202020204" pitchFamily="34" charset="0"/>
                <a:buChar char="•"/>
              </a:pPr>
              <a:r>
                <a:rPr lang="en-US" sz="1600" dirty="0">
                  <a:latin typeface="Arial" panose="020B0604020202020204" pitchFamily="34" charset="0"/>
                  <a:cs typeface="Arial" panose="020B0604020202020204" pitchFamily="34" charset="0"/>
                  <a:hlinkClick r:id="rId3"/>
                </a:rPr>
                <a:t>Secure the default environment</a:t>
              </a:r>
              <a:endParaRPr lang="en-US" sz="1600" dirty="0">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dirty="0">
                  <a:latin typeface="Arial" panose="020B0604020202020204" pitchFamily="34" charset="0"/>
                  <a:cs typeface="Arial" panose="020B0604020202020204" pitchFamily="34" charset="0"/>
                </a:rPr>
                <a:t>Define an </a:t>
              </a:r>
              <a:r>
                <a:rPr lang="en-US" sz="1600" dirty="0">
                  <a:latin typeface="Arial" panose="020B0604020202020204" pitchFamily="34" charset="0"/>
                  <a:cs typeface="Arial" panose="020B0604020202020204" pitchFamily="34" charset="0"/>
                  <a:hlinkClick r:id="rId4"/>
                </a:rPr>
                <a:t>environment strategy</a:t>
              </a:r>
              <a:endParaRPr lang="en-US" sz="16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600" dirty="0">
                  <a:latin typeface="Arial" panose="020B0604020202020204" pitchFamily="34" charset="0"/>
                  <a:cs typeface="Arial" panose="020B0604020202020204" pitchFamily="34" charset="0"/>
                </a:rPr>
                <a:t>Limit sharing with everyone: </a:t>
              </a:r>
              <a:r>
                <a:rPr lang="en-US" sz="1600" dirty="0">
                  <a:latin typeface="Arial" panose="020B0604020202020204" pitchFamily="34" charset="0"/>
                  <a:cs typeface="Arial" panose="020B0604020202020204" pitchFamily="34" charset="0"/>
                  <a:hlinkClick r:id="rId5"/>
                </a:rPr>
                <a:t>configure specific limits</a:t>
              </a:r>
              <a:r>
                <a:rPr lang="en-US" sz="1600" dirty="0">
                  <a:latin typeface="Arial" panose="020B0604020202020204" pitchFamily="34" charset="0"/>
                  <a:cs typeface="Arial" panose="020B0604020202020204" pitchFamily="34" charset="0"/>
                </a:rPr>
                <a:t> at the environment level (managed environments)</a:t>
              </a:r>
            </a:p>
            <a:p>
              <a:pPr marL="171450" lvl="0" indent="-171450">
                <a:buFont typeface="Arial" panose="020B0604020202020204" pitchFamily="34" charset="0"/>
                <a:buChar char="•"/>
              </a:pPr>
              <a:r>
                <a:rPr lang="en-US" sz="1600" dirty="0">
                  <a:latin typeface="Arial" panose="020B0604020202020204" pitchFamily="34" charset="0"/>
                  <a:cs typeface="Arial" panose="020B0604020202020204" pitchFamily="34" charset="0"/>
                </a:rPr>
                <a:t>Define </a:t>
              </a:r>
              <a:r>
                <a:rPr lang="en-US" sz="1600" dirty="0">
                  <a:latin typeface="Arial" panose="020B0604020202020204" pitchFamily="34" charset="0"/>
                  <a:cs typeface="Arial" panose="020B0604020202020204" pitchFamily="34" charset="0"/>
                  <a:hlinkClick r:id="rId6"/>
                </a:rPr>
                <a:t>data policies</a:t>
              </a:r>
              <a:endParaRPr lang="en-US" sz="1600" dirty="0">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dirty="0">
                  <a:latin typeface="Arial" panose="020B0604020202020204" pitchFamily="34" charset="0"/>
                  <a:cs typeface="Arial" panose="020B0604020202020204" pitchFamily="34" charset="0"/>
                </a:rPr>
                <a:t>Govern </a:t>
              </a:r>
              <a:r>
                <a:rPr lang="en-US" sz="1600" dirty="0">
                  <a:latin typeface="Arial" panose="020B0604020202020204" pitchFamily="34" charset="0"/>
                  <a:cs typeface="Arial" panose="020B0604020202020204" pitchFamily="34" charset="0"/>
                  <a:hlinkClick r:id="rId7"/>
                </a:rPr>
                <a:t>custom connectors </a:t>
              </a:r>
              <a:r>
                <a:rPr lang="en-US" sz="1600" dirty="0">
                  <a:latin typeface="Arial" panose="020B0604020202020204" pitchFamily="34" charset="0"/>
                  <a:cs typeface="Arial" panose="020B0604020202020204" pitchFamily="34" charset="0"/>
                </a:rPr>
                <a:t>usage</a:t>
              </a:r>
            </a:p>
            <a:p>
              <a:pPr marL="171450" lvl="0" indent="-171450">
                <a:buFont typeface="Arial" panose="020B0604020202020204" pitchFamily="34" charset="0"/>
                <a:buChar char="•"/>
              </a:pPr>
              <a:r>
                <a:rPr lang="en-US" sz="1600" dirty="0">
                  <a:latin typeface="Arial" panose="020B0604020202020204" pitchFamily="34" charset="0"/>
                  <a:cs typeface="Arial" panose="020B0604020202020204" pitchFamily="34" charset="0"/>
                </a:rPr>
                <a:t>Enable </a:t>
              </a:r>
              <a:r>
                <a:rPr lang="en-US" sz="1600" dirty="0">
                  <a:latin typeface="Arial" panose="020B0604020202020204" pitchFamily="34" charset="0"/>
                  <a:cs typeface="Arial" panose="020B0604020202020204" pitchFamily="34" charset="0"/>
                  <a:hlinkClick r:id="rId8"/>
                </a:rPr>
                <a:t>tenant isolation</a:t>
              </a:r>
              <a:endParaRPr lang="en-US" sz="1600" dirty="0">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dirty="0">
                  <a:latin typeface="Arial" panose="020B0604020202020204" pitchFamily="34" charset="0"/>
                  <a:cs typeface="Arial" panose="020B0604020202020204" pitchFamily="34" charset="0"/>
                  <a:hlinkClick r:id="rId9"/>
                </a:rPr>
                <a:t>Route makers </a:t>
              </a:r>
              <a:r>
                <a:rPr lang="en-US" sz="1600" dirty="0">
                  <a:latin typeface="Arial" panose="020B0604020202020204" pitchFamily="34" charset="0"/>
                  <a:cs typeface="Arial" panose="020B0604020202020204" pitchFamily="34" charset="0"/>
                </a:rPr>
                <a:t>to dedicated environments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latin typeface="Arial" panose="020B0604020202020204" pitchFamily="34" charset="0"/>
                <a:cs typeface="Arial" panose="020B0604020202020204" pitchFamily="34" charset="0"/>
              </a:endParaRPr>
            </a:p>
          </p:txBody>
        </p:sp>
      </p:grpSp>
      <p:grpSp>
        <p:nvGrpSpPr>
          <p:cNvPr id="6" name="Group 5">
            <a:extLst>
              <a:ext uri="{FF2B5EF4-FFF2-40B4-BE49-F238E27FC236}">
                <a16:creationId xmlns:a16="http://schemas.microsoft.com/office/drawing/2014/main" id="{2E664CA2-80C5-A4DF-4BE7-79E227878718}"/>
              </a:ext>
            </a:extLst>
          </p:cNvPr>
          <p:cNvGrpSpPr/>
          <p:nvPr/>
        </p:nvGrpSpPr>
        <p:grpSpPr>
          <a:xfrm>
            <a:off x="529211" y="4681742"/>
            <a:ext cx="4641925" cy="790063"/>
            <a:chOff x="8632682" y="3002849"/>
            <a:chExt cx="2461366" cy="790063"/>
          </a:xfrm>
        </p:grpSpPr>
        <p:sp>
          <p:nvSpPr>
            <p:cNvPr id="7" name="Rectangle 6">
              <a:extLst>
                <a:ext uri="{FF2B5EF4-FFF2-40B4-BE49-F238E27FC236}">
                  <a16:creationId xmlns:a16="http://schemas.microsoft.com/office/drawing/2014/main" id="{E6F034B1-6504-8736-44DB-44C5F0490116}"/>
                </a:ext>
              </a:extLst>
            </p:cNvPr>
            <p:cNvSpPr/>
            <p:nvPr/>
          </p:nvSpPr>
          <p:spPr>
            <a:xfrm>
              <a:off x="8632682" y="3002849"/>
              <a:ext cx="2461366" cy="790063"/>
            </a:xfrm>
            <a:prstGeom prst="rect">
              <a:avLst/>
            </a:prstGeom>
            <a:solidFill>
              <a:srgbClr val="5B9BD5">
                <a:hueOff val="0"/>
                <a:satOff val="0"/>
                <a:lumOff val="0"/>
                <a:alphaOff val="0"/>
              </a:srgb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9B4E2F4-C5DE-7A4A-8D27-ABB04CFCE00C}"/>
                </a:ext>
              </a:extLst>
            </p:cNvPr>
            <p:cNvSpPr txBox="1"/>
            <p:nvPr/>
          </p:nvSpPr>
          <p:spPr>
            <a:xfrm>
              <a:off x="8632682" y="3002849"/>
              <a:ext cx="2032817" cy="790063"/>
            </a:xfrm>
            <a:prstGeom prst="rect">
              <a:avLst/>
            </a:prstGeom>
            <a:noFill/>
            <a:ln>
              <a:noFill/>
            </a:ln>
            <a:effectLst/>
          </p:spPr>
          <p:txBody>
            <a:bodyPr spcFirstLastPara="0" vert="horz" wrap="square" lIns="68580" tIns="0" rIns="22860" bIns="0" numCol="1" spcCol="1270" anchor="ctr" anchorCtr="0">
              <a:noAutofit/>
            </a:bodyPr>
            <a:lstStyle/>
            <a:p>
              <a:pPr lvl="0"/>
              <a:r>
                <a:rPr lang="en-US" sz="1800" b="1" dirty="0">
                  <a:solidFill>
                    <a:schemeClr val="bg1"/>
                  </a:solidFill>
                  <a:latin typeface="Arial" panose="020B0604020202020204" pitchFamily="34" charset="0"/>
                  <a:cs typeface="Arial" panose="020B0604020202020204" pitchFamily="34" charset="0"/>
                </a:rPr>
                <a:t>Govern Maker Access </a:t>
              </a:r>
              <a:endParaRPr lang="en-US" sz="1800" b="1" dirty="0">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grpSp>
      <p:grpSp>
        <p:nvGrpSpPr>
          <p:cNvPr id="9" name="Group 8">
            <a:extLst>
              <a:ext uri="{FF2B5EF4-FFF2-40B4-BE49-F238E27FC236}">
                <a16:creationId xmlns:a16="http://schemas.microsoft.com/office/drawing/2014/main" id="{674B455F-0516-C94B-D02A-4457E2869933}"/>
              </a:ext>
            </a:extLst>
          </p:cNvPr>
          <p:cNvGrpSpPr/>
          <p:nvPr/>
        </p:nvGrpSpPr>
        <p:grpSpPr>
          <a:xfrm>
            <a:off x="6211333" y="1085850"/>
            <a:ext cx="4634001" cy="3592290"/>
            <a:chOff x="8640607" y="1161888"/>
            <a:chExt cx="2461366" cy="1837358"/>
          </a:xfrm>
        </p:grpSpPr>
        <p:sp>
          <p:nvSpPr>
            <p:cNvPr id="10" name="Rectangle: Top Corners Rounded 9">
              <a:extLst>
                <a:ext uri="{FF2B5EF4-FFF2-40B4-BE49-F238E27FC236}">
                  <a16:creationId xmlns:a16="http://schemas.microsoft.com/office/drawing/2014/main" id="{5F458798-8A48-85AA-F489-D467DA4135AD}"/>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endParaRPr>
            </a:p>
          </p:txBody>
        </p:sp>
        <p:sp>
          <p:nvSpPr>
            <p:cNvPr id="11" name="Rectangle: Top Corners Rounded 4">
              <a:extLst>
                <a:ext uri="{FF2B5EF4-FFF2-40B4-BE49-F238E27FC236}">
                  <a16:creationId xmlns:a16="http://schemas.microsoft.com/office/drawing/2014/main" id="{5E20ECB8-3B31-2E85-5524-B173C3FCAA9F}"/>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71450" lvl="0" indent="-171450">
                <a:buFont typeface="Arial" panose="020B0604020202020204" pitchFamily="34" charset="0"/>
                <a:buChar char="•"/>
              </a:pPr>
              <a:r>
                <a:rPr lang="en-US" sz="1600" baseline="0" dirty="0">
                  <a:latin typeface="Arial" panose="020B0604020202020204" pitchFamily="34" charset="0"/>
                  <a:cs typeface="Arial" panose="020B0604020202020204" pitchFamily="34" charset="0"/>
                  <a:hlinkClick r:id="rId10"/>
                </a:rPr>
                <a:t>Everyone</a:t>
              </a:r>
              <a:r>
                <a:rPr lang="en-US" sz="1600" baseline="0" dirty="0">
                  <a:latin typeface="Arial" panose="020B0604020202020204" pitchFamily="34" charset="0"/>
                  <a:cs typeface="Arial" panose="020B0604020202020204" pitchFamily="34" charset="0"/>
                </a:rPr>
                <a:t> includes all users in Entra ID, </a:t>
              </a:r>
              <a:r>
                <a:rPr lang="en-US" sz="1600" baseline="0" dirty="0">
                  <a:latin typeface="Arial" panose="020B0604020202020204" pitchFamily="34" charset="0"/>
                  <a:cs typeface="Arial" panose="020B0604020202020204" pitchFamily="34" charset="0"/>
                  <a:hlinkClick r:id="rId11"/>
                </a:rPr>
                <a:t>including guests</a:t>
              </a:r>
              <a:endParaRPr lang="en-US" sz="1600" dirty="0">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baseline="0" dirty="0">
                  <a:latin typeface="Arial" panose="020B0604020202020204" pitchFamily="34" charset="0"/>
                  <a:cs typeface="Arial" panose="020B0604020202020204" pitchFamily="34" charset="0"/>
                  <a:hlinkClick r:id="rId12"/>
                </a:rPr>
                <a:t>Guests are treated as any other users </a:t>
              </a:r>
              <a:r>
                <a:rPr lang="en-US" sz="1600" baseline="0" dirty="0">
                  <a:latin typeface="Arial" panose="020B0604020202020204" pitchFamily="34" charset="0"/>
                  <a:cs typeface="Arial" panose="020B0604020202020204" pitchFamily="34" charset="0"/>
                </a:rPr>
                <a:t>in the tenant</a:t>
              </a:r>
              <a:endParaRPr lang="en-US" sz="1600" dirty="0">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baseline="0" dirty="0">
                  <a:latin typeface="Arial" panose="020B0604020202020204" pitchFamily="34" charset="0"/>
                  <a:cs typeface="Arial" panose="020B0604020202020204" pitchFamily="34" charset="0"/>
                </a:rPr>
                <a:t>Confirm if guests making apps in your organization is required. </a:t>
              </a:r>
              <a:r>
                <a:rPr lang="en-US" sz="1600" baseline="0" dirty="0">
                  <a:latin typeface="Arial" panose="020B0604020202020204" pitchFamily="34" charset="0"/>
                  <a:cs typeface="Arial" panose="020B0604020202020204" pitchFamily="34" charset="0"/>
                  <a:hlinkClick r:id="rId13"/>
                </a:rPr>
                <a:t>Disable if guests are not expected to be makers</a:t>
              </a:r>
              <a:endParaRPr lang="en-US" sz="1600" dirty="0">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baseline="0" dirty="0">
                  <a:latin typeface="Arial" panose="020B0604020202020204" pitchFamily="34" charset="0"/>
                  <a:cs typeface="Arial" panose="020B0604020202020204" pitchFamily="34" charset="0"/>
                  <a:hlinkClick r:id="rId14"/>
                </a:rPr>
                <a:t>Disable guest access to Power Platform </a:t>
              </a:r>
              <a:r>
                <a:rPr lang="en-US" sz="1600" baseline="0" dirty="0">
                  <a:latin typeface="Arial" panose="020B0604020202020204" pitchFamily="34" charset="0"/>
                  <a:cs typeface="Arial" panose="020B0604020202020204" pitchFamily="34" charset="0"/>
                </a:rPr>
                <a:t>resources using </a:t>
              </a:r>
              <a:r>
                <a:rPr lang="en-US" sz="1600" baseline="0" dirty="0">
                  <a:latin typeface="Arial" panose="020B0604020202020204" pitchFamily="34" charset="0"/>
                  <a:cs typeface="Arial" panose="020B0604020202020204" pitchFamily="34" charset="0"/>
                  <a:hlinkClick r:id="rId15"/>
                </a:rPr>
                <a:t>Conditional Access</a:t>
              </a:r>
              <a:endParaRPr lang="en-US" sz="16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defRPr/>
              </a:pPr>
              <a:r>
                <a:rPr lang="en-US" sz="1600" dirty="0">
                  <a:latin typeface="Arial" panose="020B0604020202020204" pitchFamily="34" charset="0"/>
                  <a:cs typeface="Arial" panose="020B0604020202020204" pitchFamily="34" charset="0"/>
                </a:rPr>
                <a:t>Disable </a:t>
              </a:r>
              <a:r>
                <a:rPr lang="en-US" sz="1600" dirty="0">
                  <a:latin typeface="Arial" panose="020B0604020202020204" pitchFamily="34" charset="0"/>
                  <a:cs typeface="Arial" panose="020B0604020202020204" pitchFamily="34" charset="0"/>
                  <a:hlinkClick r:id="rId13"/>
                </a:rPr>
                <a:t>share with everyone</a:t>
              </a:r>
              <a:r>
                <a:rPr lang="en-US" sz="1600" dirty="0">
                  <a:latin typeface="Arial" panose="020B0604020202020204" pitchFamily="34" charset="0"/>
                  <a:cs typeface="Arial" panose="020B0604020202020204" pitchFamily="34" charset="0"/>
                </a:rPr>
                <a:t> </a:t>
              </a:r>
              <a:r>
                <a:rPr kumimoji="0" lang="es-E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(Global vs. </a:t>
              </a:r>
              <a:r>
                <a:rPr kumimoji="0" lang="en-US" sz="1600" b="0" i="0" u="none" strike="noStrike" kern="0" cap="none" spc="0" normalizeH="0" baseline="0" dirty="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Managed Environments</a:t>
              </a:r>
              <a:r>
                <a:rPr kumimoji="0" lang="es-E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a:t>
              </a:r>
              <a:endParaRPr kumimoji="0" lang="en-U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baseline="0" dirty="0">
                  <a:latin typeface="Arial" panose="020B0604020202020204" pitchFamily="34" charset="0"/>
                  <a:cs typeface="Arial" panose="020B0604020202020204" pitchFamily="34" charset="0"/>
                </a:rPr>
                <a:t>Control access using </a:t>
              </a:r>
              <a:r>
                <a:rPr lang="en-US" sz="1600" baseline="0" dirty="0">
                  <a:latin typeface="Arial" panose="020B0604020202020204" pitchFamily="34" charset="0"/>
                  <a:cs typeface="Arial" panose="020B0604020202020204" pitchFamily="34" charset="0"/>
                  <a:hlinkClick r:id="rId16"/>
                </a:rPr>
                <a:t>roles and permissions</a:t>
              </a:r>
              <a:endParaRPr lang="en-US" sz="1600" baseline="0" dirty="0">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600" b="0" i="0" dirty="0">
                  <a:latin typeface="Arial" panose="020B0604020202020204" pitchFamily="34" charset="0"/>
                  <a:cs typeface="Arial" panose="020B0604020202020204" pitchFamily="34" charset="0"/>
                </a:rPr>
                <a:t>Govern </a:t>
              </a:r>
              <a:r>
                <a:rPr lang="en-US" sz="1600" b="0" i="0" dirty="0">
                  <a:latin typeface="Arial" panose="020B0604020202020204" pitchFamily="34" charset="0"/>
                  <a:cs typeface="Arial" panose="020B0604020202020204" pitchFamily="34" charset="0"/>
                  <a:hlinkClick r:id="rId17"/>
                </a:rPr>
                <a:t>administrator roles </a:t>
              </a:r>
              <a:r>
                <a:rPr lang="en-US" sz="1600" b="0" i="0" dirty="0">
                  <a:latin typeface="Arial" panose="020B0604020202020204" pitchFamily="34" charset="0"/>
                  <a:cs typeface="Arial" panose="020B0604020202020204" pitchFamily="34" charset="0"/>
                </a:rPr>
                <a:t>assignment to guests</a:t>
              </a:r>
              <a:endParaRPr lang="en-US" sz="1600" baseline="0" dirty="0">
                <a:latin typeface="Arial" panose="020B0604020202020204" pitchFamily="34" charset="0"/>
                <a:cs typeface="Arial" panose="020B0604020202020204"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latin typeface="Arial" panose="020B0604020202020204" pitchFamily="34" charset="0"/>
                <a:cs typeface="Arial" panose="020B0604020202020204" pitchFamily="34" charset="0"/>
              </a:endParaRPr>
            </a:p>
          </p:txBody>
        </p:sp>
      </p:grpSp>
      <p:grpSp>
        <p:nvGrpSpPr>
          <p:cNvPr id="12" name="Group 11">
            <a:extLst>
              <a:ext uri="{FF2B5EF4-FFF2-40B4-BE49-F238E27FC236}">
                <a16:creationId xmlns:a16="http://schemas.microsoft.com/office/drawing/2014/main" id="{3505050E-A0C8-4382-357F-5F7102519B5D}"/>
              </a:ext>
            </a:extLst>
          </p:cNvPr>
          <p:cNvGrpSpPr/>
          <p:nvPr/>
        </p:nvGrpSpPr>
        <p:grpSpPr>
          <a:xfrm>
            <a:off x="6203408" y="4681742"/>
            <a:ext cx="4641925" cy="790063"/>
            <a:chOff x="8632682" y="3002849"/>
            <a:chExt cx="2461366" cy="790063"/>
          </a:xfrm>
          <a:solidFill>
            <a:srgbClr val="ED7D31"/>
          </a:solidFill>
        </p:grpSpPr>
        <p:sp>
          <p:nvSpPr>
            <p:cNvPr id="13" name="Rectangle 12">
              <a:extLst>
                <a:ext uri="{FF2B5EF4-FFF2-40B4-BE49-F238E27FC236}">
                  <a16:creationId xmlns:a16="http://schemas.microsoft.com/office/drawing/2014/main" id="{62C144D9-0601-CDBA-A22D-677F8F1682B9}"/>
                </a:ext>
              </a:extLst>
            </p:cNvPr>
            <p:cNvSpPr/>
            <p:nvPr/>
          </p:nvSpPr>
          <p:spPr>
            <a:xfrm>
              <a:off x="8632682" y="3002849"/>
              <a:ext cx="2461366" cy="790063"/>
            </a:xfrm>
            <a:prstGeom prst="rect">
              <a:avLst/>
            </a:prstGeom>
            <a:grp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E7AC9C5-2425-BB54-8595-901DB6996F0C}"/>
                </a:ext>
              </a:extLst>
            </p:cNvPr>
            <p:cNvSpPr txBox="1"/>
            <p:nvPr/>
          </p:nvSpPr>
          <p:spPr>
            <a:xfrm>
              <a:off x="8632682" y="3002849"/>
              <a:ext cx="2032817" cy="790063"/>
            </a:xfrm>
            <a:prstGeom prst="rect">
              <a:avLst/>
            </a:prstGeom>
            <a:grpFill/>
            <a:ln>
              <a:noFill/>
            </a:ln>
            <a:effectLst/>
          </p:spPr>
          <p:txBody>
            <a:bodyPr spcFirstLastPara="0" vert="horz" wrap="square" lIns="68580" tIns="0" rIns="22860" bIns="0" numCol="1" spcCol="1270" anchor="ctr" anchorCtr="0">
              <a:noAutofit/>
            </a:bodyPr>
            <a:lstStyle/>
            <a:p>
              <a:pPr lvl="0"/>
              <a:r>
                <a:rPr lang="en-US" sz="1800" b="1" dirty="0">
                  <a:solidFill>
                    <a:schemeClr val="bg1"/>
                  </a:solidFill>
                  <a:latin typeface="Arial" panose="020B0604020202020204" pitchFamily="34" charset="0"/>
                  <a:cs typeface="Arial" panose="020B0604020202020204" pitchFamily="34" charset="0"/>
                </a:rPr>
                <a:t>Govern Guest Access </a:t>
              </a:r>
              <a:endParaRPr lang="en-US" sz="1800" b="1" dirty="0">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grpSp>
    </p:spTree>
    <p:extLst>
      <p:ext uri="{BB962C8B-B14F-4D97-AF65-F5344CB8AC3E}">
        <p14:creationId xmlns:p14="http://schemas.microsoft.com/office/powerpoint/2010/main" val="380215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52C2-5A13-69E0-814B-95FD06C1EBE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C806AB4-F769-4AA9-F00C-63A3B4D528C3}"/>
              </a:ext>
            </a:extLst>
          </p:cNvPr>
          <p:cNvSpPr>
            <a:spLocks noGrp="1"/>
          </p:cNvSpPr>
          <p:nvPr>
            <p:ph type="body" sz="quarter" idx="10"/>
          </p:nvPr>
        </p:nvSpPr>
        <p:spPr>
          <a:xfrm>
            <a:off x="537136" y="276270"/>
            <a:ext cx="9368864" cy="657179"/>
          </a:xfrm>
        </p:spPr>
        <p:txBody>
          <a:bodyPr>
            <a:normAutofit fontScale="77500" lnSpcReduction="20000"/>
          </a:bodyPr>
          <a:lstStyle/>
          <a:p>
            <a:r>
              <a:rPr lang="en-US" noProof="0" dirty="0"/>
              <a:t>Data Access Management by User Type: Sharing Settings for an Environment</a:t>
            </a:r>
          </a:p>
        </p:txBody>
      </p:sp>
      <p:pic>
        <p:nvPicPr>
          <p:cNvPr id="25" name="Picture 24">
            <a:extLst>
              <a:ext uri="{FF2B5EF4-FFF2-40B4-BE49-F238E27FC236}">
                <a16:creationId xmlns:a16="http://schemas.microsoft.com/office/drawing/2014/main" id="{D262BB74-F9E6-C5C0-DF2A-651FDFF2F33E}"/>
              </a:ext>
            </a:extLst>
          </p:cNvPr>
          <p:cNvPicPr>
            <a:picLocks noChangeAspect="1"/>
          </p:cNvPicPr>
          <p:nvPr/>
        </p:nvPicPr>
        <p:blipFill>
          <a:blip r:embed="rId3"/>
          <a:stretch>
            <a:fillRect/>
          </a:stretch>
        </p:blipFill>
        <p:spPr>
          <a:xfrm>
            <a:off x="1295400" y="826605"/>
            <a:ext cx="8790173" cy="5155095"/>
          </a:xfrm>
          <a:prstGeom prst="rect">
            <a:avLst/>
          </a:prstGeom>
          <a:ln>
            <a:noFill/>
          </a:ln>
          <a:effectLst>
            <a:outerShdw blurRad="292100" dist="139700" dir="2700000" algn="tl" rotWithShape="0">
              <a:srgbClr val="333333">
                <a:alpha val="65000"/>
              </a:srgbClr>
            </a:outerShdw>
          </a:effectLst>
        </p:spPr>
      </p:pic>
      <p:sp>
        <p:nvSpPr>
          <p:cNvPr id="26" name="Speech Bubble: Rectangle with Corners Rounded 25">
            <a:extLst>
              <a:ext uri="{FF2B5EF4-FFF2-40B4-BE49-F238E27FC236}">
                <a16:creationId xmlns:a16="http://schemas.microsoft.com/office/drawing/2014/main" id="{9DF916BF-7DAB-6AE7-8B5D-44574C7DFA08}"/>
              </a:ext>
            </a:extLst>
          </p:cNvPr>
          <p:cNvSpPr/>
          <p:nvPr/>
        </p:nvSpPr>
        <p:spPr>
          <a:xfrm>
            <a:off x="1600200" y="2457450"/>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Identity &amp; Access Settings</a:t>
            </a:r>
          </a:p>
        </p:txBody>
      </p:sp>
      <p:sp>
        <p:nvSpPr>
          <p:cNvPr id="27" name="Flowchart: Connector 26">
            <a:extLst>
              <a:ext uri="{FF2B5EF4-FFF2-40B4-BE49-F238E27FC236}">
                <a16:creationId xmlns:a16="http://schemas.microsoft.com/office/drawing/2014/main" id="{BAD49B22-0ADE-F6CF-E712-88F3AB54CA57}"/>
              </a:ext>
            </a:extLst>
          </p:cNvPr>
          <p:cNvSpPr/>
          <p:nvPr/>
        </p:nvSpPr>
        <p:spPr>
          <a:xfrm>
            <a:off x="2228384" y="333930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28" name="Speech Bubble: Rectangle with Corners Rounded 27">
            <a:extLst>
              <a:ext uri="{FF2B5EF4-FFF2-40B4-BE49-F238E27FC236}">
                <a16:creationId xmlns:a16="http://schemas.microsoft.com/office/drawing/2014/main" id="{CFC2C20C-B7F3-16AA-B6F5-850C3C0E9E68}"/>
              </a:ext>
            </a:extLst>
          </p:cNvPr>
          <p:cNvSpPr/>
          <p:nvPr/>
        </p:nvSpPr>
        <p:spPr>
          <a:xfrm>
            <a:off x="1392452" y="4497915"/>
            <a:ext cx="2494824" cy="657180"/>
          </a:xfrm>
          <a:prstGeom prst="wedgeRoundRectCallout">
            <a:avLst>
              <a:gd name="adj1" fmla="val 38605"/>
              <a:gd name="adj2" fmla="val -8628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white"/>
                </a:solidFill>
                <a:latin typeface="Calibri" panose="020F0502020204030204"/>
                <a:cs typeface="Segoe UI" panose="020B0502040204020203" pitchFamily="34" charset="0"/>
              </a:rPr>
              <a:t>Manage sharing </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setting</a:t>
            </a:r>
          </a:p>
        </p:txBody>
      </p:sp>
      <p:sp>
        <p:nvSpPr>
          <p:cNvPr id="29" name="Flowchart: Connector 28">
            <a:extLst>
              <a:ext uri="{FF2B5EF4-FFF2-40B4-BE49-F238E27FC236}">
                <a16:creationId xmlns:a16="http://schemas.microsoft.com/office/drawing/2014/main" id="{693D60E4-758E-8A95-EAD7-333471F10D20}"/>
              </a:ext>
            </a:extLst>
          </p:cNvPr>
          <p:cNvSpPr/>
          <p:nvPr/>
        </p:nvSpPr>
        <p:spPr>
          <a:xfrm>
            <a:off x="3964471" y="460818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30" name="Speech Bubble: Rectangle with Corners Rounded 29">
            <a:extLst>
              <a:ext uri="{FF2B5EF4-FFF2-40B4-BE49-F238E27FC236}">
                <a16:creationId xmlns:a16="http://schemas.microsoft.com/office/drawing/2014/main" id="{1CC2B6D4-6AAD-AA99-0033-0943C9EB1BA4}"/>
              </a:ext>
            </a:extLst>
          </p:cNvPr>
          <p:cNvSpPr/>
          <p:nvPr/>
        </p:nvSpPr>
        <p:spPr>
          <a:xfrm>
            <a:off x="7239000" y="1667717"/>
            <a:ext cx="2494824" cy="789733"/>
          </a:xfrm>
          <a:prstGeom prst="wedgeRoundRectCallout">
            <a:avLst>
              <a:gd name="adj1" fmla="val -72373"/>
              <a:gd name="adj2" fmla="val -715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Canvas Apps Sharing settings</a:t>
            </a:r>
          </a:p>
        </p:txBody>
      </p:sp>
      <p:sp>
        <p:nvSpPr>
          <p:cNvPr id="31" name="Flowchart: Connector 30">
            <a:extLst>
              <a:ext uri="{FF2B5EF4-FFF2-40B4-BE49-F238E27FC236}">
                <a16:creationId xmlns:a16="http://schemas.microsoft.com/office/drawing/2014/main" id="{3FC03A9A-BFFF-721E-9F7B-DF5843BAECDD}"/>
              </a:ext>
            </a:extLst>
          </p:cNvPr>
          <p:cNvSpPr/>
          <p:nvPr/>
        </p:nvSpPr>
        <p:spPr>
          <a:xfrm>
            <a:off x="9906000" y="185684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
        <p:nvSpPr>
          <p:cNvPr id="32" name="Speech Bubble: Rectangle with Corners Rounded 31">
            <a:extLst>
              <a:ext uri="{FF2B5EF4-FFF2-40B4-BE49-F238E27FC236}">
                <a16:creationId xmlns:a16="http://schemas.microsoft.com/office/drawing/2014/main" id="{C051D385-A37B-95B4-D63A-346AED681A5B}"/>
              </a:ext>
            </a:extLst>
          </p:cNvPr>
          <p:cNvSpPr/>
          <p:nvPr/>
        </p:nvSpPr>
        <p:spPr>
          <a:xfrm>
            <a:off x="7239000" y="2621664"/>
            <a:ext cx="2494824" cy="789733"/>
          </a:xfrm>
          <a:prstGeom prst="wedgeRoundRectCallout">
            <a:avLst>
              <a:gd name="adj1" fmla="val -74216"/>
              <a:gd name="adj2" fmla="val -496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Power Automate Sharing settings</a:t>
            </a:r>
          </a:p>
        </p:txBody>
      </p:sp>
      <p:sp>
        <p:nvSpPr>
          <p:cNvPr id="33" name="Flowchart: Connector 32">
            <a:extLst>
              <a:ext uri="{FF2B5EF4-FFF2-40B4-BE49-F238E27FC236}">
                <a16:creationId xmlns:a16="http://schemas.microsoft.com/office/drawing/2014/main" id="{C5A9B368-A41D-4207-761D-7A6135131D8C}"/>
              </a:ext>
            </a:extLst>
          </p:cNvPr>
          <p:cNvSpPr/>
          <p:nvPr/>
        </p:nvSpPr>
        <p:spPr>
          <a:xfrm>
            <a:off x="9906000" y="281079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4</a:t>
            </a:r>
            <a:endParaRPr lang="en-US" sz="1400" dirty="0"/>
          </a:p>
        </p:txBody>
      </p:sp>
      <p:sp>
        <p:nvSpPr>
          <p:cNvPr id="34" name="Speech Bubble: Rectangle with Corners Rounded 33">
            <a:extLst>
              <a:ext uri="{FF2B5EF4-FFF2-40B4-BE49-F238E27FC236}">
                <a16:creationId xmlns:a16="http://schemas.microsoft.com/office/drawing/2014/main" id="{28A8E0F7-632A-9FD9-3613-FC29446F1B6D}"/>
              </a:ext>
            </a:extLst>
          </p:cNvPr>
          <p:cNvSpPr/>
          <p:nvPr/>
        </p:nvSpPr>
        <p:spPr>
          <a:xfrm>
            <a:off x="7239000" y="3606512"/>
            <a:ext cx="2494824" cy="789733"/>
          </a:xfrm>
          <a:prstGeom prst="wedgeRoundRectCallout">
            <a:avLst>
              <a:gd name="adj1" fmla="val -74216"/>
              <a:gd name="adj2" fmla="val -496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Copilot Studio Sharing settings</a:t>
            </a:r>
          </a:p>
        </p:txBody>
      </p:sp>
      <p:sp>
        <p:nvSpPr>
          <p:cNvPr id="35" name="Flowchart: Connector 34">
            <a:extLst>
              <a:ext uri="{FF2B5EF4-FFF2-40B4-BE49-F238E27FC236}">
                <a16:creationId xmlns:a16="http://schemas.microsoft.com/office/drawing/2014/main" id="{5738E2B0-B8F1-FFFA-FB01-E884910C1953}"/>
              </a:ext>
            </a:extLst>
          </p:cNvPr>
          <p:cNvSpPr/>
          <p:nvPr/>
        </p:nvSpPr>
        <p:spPr>
          <a:xfrm>
            <a:off x="9906000" y="379563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5</a:t>
            </a:r>
            <a:endParaRPr lang="en-US" sz="1400" dirty="0"/>
          </a:p>
        </p:txBody>
      </p:sp>
    </p:spTree>
    <p:extLst>
      <p:ext uri="{BB962C8B-B14F-4D97-AF65-F5344CB8AC3E}">
        <p14:creationId xmlns:p14="http://schemas.microsoft.com/office/powerpoint/2010/main" val="89642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anim calcmode="lin" valueType="num">
                                      <p:cBhvr>
                                        <p:cTn id="13" dur="1000" fill="hold"/>
                                        <p:tgtEl>
                                          <p:spTgt spid="26"/>
                                        </p:tgtEl>
                                        <p:attrNameLst>
                                          <p:attrName>ppt_x</p:attrName>
                                        </p:attrNameLst>
                                      </p:cBhvr>
                                      <p:tavLst>
                                        <p:tav tm="0">
                                          <p:val>
                                            <p:strVal val="#ppt_x"/>
                                          </p:val>
                                        </p:tav>
                                        <p:tav tm="100000">
                                          <p:val>
                                            <p:strVal val="#ppt_x"/>
                                          </p:val>
                                        </p:tav>
                                      </p:tavLst>
                                    </p:anim>
                                    <p:anim calcmode="lin" valueType="num">
                                      <p:cBhvr>
                                        <p:cTn id="1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anim calcmode="lin" valueType="num">
                                      <p:cBhvr>
                                        <p:cTn id="25" dur="1000" fill="hold"/>
                                        <p:tgtEl>
                                          <p:spTgt spid="28"/>
                                        </p:tgtEl>
                                        <p:attrNameLst>
                                          <p:attrName>ppt_x</p:attrName>
                                        </p:attrNameLst>
                                      </p:cBhvr>
                                      <p:tavLst>
                                        <p:tav tm="0">
                                          <p:val>
                                            <p:strVal val="#ppt_x"/>
                                          </p:val>
                                        </p:tav>
                                        <p:tav tm="100000">
                                          <p:val>
                                            <p:strVal val="#ppt_x"/>
                                          </p:val>
                                        </p:tav>
                                      </p:tavLst>
                                    </p:anim>
                                    <p:anim calcmode="lin" valueType="num">
                                      <p:cBhvr>
                                        <p:cTn id="2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1000"/>
                                        <p:tgtEl>
                                          <p:spTgt spid="31"/>
                                        </p:tgtEl>
                                      </p:cBhvr>
                                    </p:animEffect>
                                    <p:anim calcmode="lin" valueType="num">
                                      <p:cBhvr>
                                        <p:cTn id="32" dur="1000" fill="hold"/>
                                        <p:tgtEl>
                                          <p:spTgt spid="31"/>
                                        </p:tgtEl>
                                        <p:attrNameLst>
                                          <p:attrName>ppt_x</p:attrName>
                                        </p:attrNameLst>
                                      </p:cBhvr>
                                      <p:tavLst>
                                        <p:tav tm="0">
                                          <p:val>
                                            <p:strVal val="#ppt_x"/>
                                          </p:val>
                                        </p:tav>
                                        <p:tav tm="100000">
                                          <p:val>
                                            <p:strVal val="#ppt_x"/>
                                          </p:val>
                                        </p:tav>
                                      </p:tavLst>
                                    </p:anim>
                                    <p:anim calcmode="lin" valueType="num">
                                      <p:cBhvr>
                                        <p:cTn id="33" dur="1000" fill="hold"/>
                                        <p:tgtEl>
                                          <p:spTgt spid="3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1000"/>
                                        <p:tgtEl>
                                          <p:spTgt spid="30"/>
                                        </p:tgtEl>
                                      </p:cBhvr>
                                    </p:animEffect>
                                    <p:anim calcmode="lin" valueType="num">
                                      <p:cBhvr>
                                        <p:cTn id="37" dur="1000" fill="hold"/>
                                        <p:tgtEl>
                                          <p:spTgt spid="30"/>
                                        </p:tgtEl>
                                        <p:attrNameLst>
                                          <p:attrName>ppt_x</p:attrName>
                                        </p:attrNameLst>
                                      </p:cBhvr>
                                      <p:tavLst>
                                        <p:tav tm="0">
                                          <p:val>
                                            <p:strVal val="#ppt_x"/>
                                          </p:val>
                                        </p:tav>
                                        <p:tav tm="100000">
                                          <p:val>
                                            <p:strVal val="#ppt_x"/>
                                          </p:val>
                                        </p:tav>
                                      </p:tavLst>
                                    </p:anim>
                                    <p:anim calcmode="lin" valueType="num">
                                      <p:cBhvr>
                                        <p:cTn id="3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1000"/>
                                        <p:tgtEl>
                                          <p:spTgt spid="33"/>
                                        </p:tgtEl>
                                      </p:cBhvr>
                                    </p:animEffect>
                                    <p:anim calcmode="lin" valueType="num">
                                      <p:cBhvr>
                                        <p:cTn id="44" dur="1000" fill="hold"/>
                                        <p:tgtEl>
                                          <p:spTgt spid="33"/>
                                        </p:tgtEl>
                                        <p:attrNameLst>
                                          <p:attrName>ppt_x</p:attrName>
                                        </p:attrNameLst>
                                      </p:cBhvr>
                                      <p:tavLst>
                                        <p:tav tm="0">
                                          <p:val>
                                            <p:strVal val="#ppt_x"/>
                                          </p:val>
                                        </p:tav>
                                        <p:tav tm="100000">
                                          <p:val>
                                            <p:strVal val="#ppt_x"/>
                                          </p:val>
                                        </p:tav>
                                      </p:tavLst>
                                    </p:anim>
                                    <p:anim calcmode="lin" valueType="num">
                                      <p:cBhvr>
                                        <p:cTn id="45" dur="1000" fill="hold"/>
                                        <p:tgtEl>
                                          <p:spTgt spid="3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1000"/>
                                        <p:tgtEl>
                                          <p:spTgt spid="32"/>
                                        </p:tgtEl>
                                      </p:cBhvr>
                                    </p:animEffect>
                                    <p:anim calcmode="lin" valueType="num">
                                      <p:cBhvr>
                                        <p:cTn id="49" dur="1000" fill="hold"/>
                                        <p:tgtEl>
                                          <p:spTgt spid="32"/>
                                        </p:tgtEl>
                                        <p:attrNameLst>
                                          <p:attrName>ppt_x</p:attrName>
                                        </p:attrNameLst>
                                      </p:cBhvr>
                                      <p:tavLst>
                                        <p:tav tm="0">
                                          <p:val>
                                            <p:strVal val="#ppt_x"/>
                                          </p:val>
                                        </p:tav>
                                        <p:tav tm="100000">
                                          <p:val>
                                            <p:strVal val="#ppt_x"/>
                                          </p:val>
                                        </p:tav>
                                      </p:tavLst>
                                    </p:anim>
                                    <p:anim calcmode="lin" valueType="num">
                                      <p:cBhvr>
                                        <p:cTn id="5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1000"/>
                                        <p:tgtEl>
                                          <p:spTgt spid="35"/>
                                        </p:tgtEl>
                                      </p:cBhvr>
                                    </p:animEffect>
                                    <p:anim calcmode="lin" valueType="num">
                                      <p:cBhvr>
                                        <p:cTn id="56" dur="1000" fill="hold"/>
                                        <p:tgtEl>
                                          <p:spTgt spid="35"/>
                                        </p:tgtEl>
                                        <p:attrNameLst>
                                          <p:attrName>ppt_x</p:attrName>
                                        </p:attrNameLst>
                                      </p:cBhvr>
                                      <p:tavLst>
                                        <p:tav tm="0">
                                          <p:val>
                                            <p:strVal val="#ppt_x"/>
                                          </p:val>
                                        </p:tav>
                                        <p:tav tm="100000">
                                          <p:val>
                                            <p:strVal val="#ppt_x"/>
                                          </p:val>
                                        </p:tav>
                                      </p:tavLst>
                                    </p:anim>
                                    <p:anim calcmode="lin" valueType="num">
                                      <p:cBhvr>
                                        <p:cTn id="57" dur="1000" fill="hold"/>
                                        <p:tgtEl>
                                          <p:spTgt spid="3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1000"/>
                                        <p:tgtEl>
                                          <p:spTgt spid="34"/>
                                        </p:tgtEl>
                                      </p:cBhvr>
                                    </p:animEffect>
                                    <p:anim calcmode="lin" valueType="num">
                                      <p:cBhvr>
                                        <p:cTn id="61" dur="1000" fill="hold"/>
                                        <p:tgtEl>
                                          <p:spTgt spid="34"/>
                                        </p:tgtEl>
                                        <p:attrNameLst>
                                          <p:attrName>ppt_x</p:attrName>
                                        </p:attrNameLst>
                                      </p:cBhvr>
                                      <p:tavLst>
                                        <p:tav tm="0">
                                          <p:val>
                                            <p:strVal val="#ppt_x"/>
                                          </p:val>
                                        </p:tav>
                                        <p:tav tm="100000">
                                          <p:val>
                                            <p:strVal val="#ppt_x"/>
                                          </p:val>
                                        </p:tav>
                                      </p:tavLst>
                                    </p:anim>
                                    <p:anim calcmode="lin" valueType="num">
                                      <p:cBhvr>
                                        <p:cTn id="6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47EB-6E51-2916-B284-3B462800B7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6E1366C-72AA-EB42-B45B-B50CF43506EE}"/>
              </a:ext>
            </a:extLst>
          </p:cNvPr>
          <p:cNvSpPr>
            <a:spLocks noGrp="1"/>
          </p:cNvSpPr>
          <p:nvPr>
            <p:ph type="body" sz="quarter" idx="10"/>
          </p:nvPr>
        </p:nvSpPr>
        <p:spPr>
          <a:xfrm>
            <a:off x="537136" y="276270"/>
            <a:ext cx="9368864" cy="657179"/>
          </a:xfrm>
        </p:spPr>
        <p:txBody>
          <a:bodyPr>
            <a:normAutofit fontScale="77500" lnSpcReduction="20000"/>
          </a:bodyPr>
          <a:lstStyle/>
          <a:p>
            <a:r>
              <a:rPr lang="en-US" noProof="0" dirty="0"/>
              <a:t>Data Access Management by User Type: Sharing Settings for an Environment</a:t>
            </a:r>
          </a:p>
        </p:txBody>
      </p:sp>
      <p:pic>
        <p:nvPicPr>
          <p:cNvPr id="1026" name="Picture 2" descr="If a user tries to share a canvas app, solution-aware cloud flow, or agent that contradicts the sharing rules, an error message is displayed.">
            <a:extLst>
              <a:ext uri="{FF2B5EF4-FFF2-40B4-BE49-F238E27FC236}">
                <a16:creationId xmlns:a16="http://schemas.microsoft.com/office/drawing/2014/main" id="{E18035ED-BB7B-0A97-96D3-2A7386F38C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25663"/>
            <a:ext cx="11430000" cy="173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303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990F6-B6AC-B78D-8321-2FCFEB0D2F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87AD39-C5C6-6777-82ED-8D7ED201B1DB}"/>
              </a:ext>
            </a:extLst>
          </p:cNvPr>
          <p:cNvSpPr>
            <a:spLocks noGrp="1"/>
          </p:cNvSpPr>
          <p:nvPr>
            <p:ph type="body" sz="quarter" idx="10"/>
          </p:nvPr>
        </p:nvSpPr>
        <p:spPr>
          <a:xfrm>
            <a:off x="537136" y="276270"/>
            <a:ext cx="9368864" cy="657179"/>
          </a:xfrm>
        </p:spPr>
        <p:txBody>
          <a:bodyPr>
            <a:normAutofit fontScale="77500" lnSpcReduction="20000"/>
          </a:bodyPr>
          <a:lstStyle/>
          <a:p>
            <a:r>
              <a:rPr lang="en-US" noProof="0" dirty="0"/>
              <a:t>Data Access Management by User Type: Guests Access Settings for an Environment</a:t>
            </a:r>
          </a:p>
        </p:txBody>
      </p:sp>
      <p:pic>
        <p:nvPicPr>
          <p:cNvPr id="16" name="Picture 15">
            <a:extLst>
              <a:ext uri="{FF2B5EF4-FFF2-40B4-BE49-F238E27FC236}">
                <a16:creationId xmlns:a16="http://schemas.microsoft.com/office/drawing/2014/main" id="{8DE48613-CA5D-CBB6-FC61-4E103FF6D13F}"/>
              </a:ext>
            </a:extLst>
          </p:cNvPr>
          <p:cNvPicPr>
            <a:picLocks noChangeAspect="1"/>
          </p:cNvPicPr>
          <p:nvPr/>
        </p:nvPicPr>
        <p:blipFill>
          <a:blip r:embed="rId3"/>
          <a:stretch>
            <a:fillRect/>
          </a:stretch>
        </p:blipFill>
        <p:spPr>
          <a:xfrm>
            <a:off x="1295400" y="859496"/>
            <a:ext cx="8790173" cy="5122204"/>
          </a:xfrm>
          <a:prstGeom prst="rect">
            <a:avLst/>
          </a:prstGeom>
        </p:spPr>
      </p:pic>
      <p:sp>
        <p:nvSpPr>
          <p:cNvPr id="17" name="Speech Bubble: Rectangle with Corners Rounded 16">
            <a:extLst>
              <a:ext uri="{FF2B5EF4-FFF2-40B4-BE49-F238E27FC236}">
                <a16:creationId xmlns:a16="http://schemas.microsoft.com/office/drawing/2014/main" id="{426092D9-3409-9586-5487-3D43EB175862}"/>
              </a:ext>
            </a:extLst>
          </p:cNvPr>
          <p:cNvSpPr/>
          <p:nvPr/>
        </p:nvSpPr>
        <p:spPr>
          <a:xfrm>
            <a:off x="1695181" y="2916613"/>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Identity &amp; Access Settings</a:t>
            </a:r>
          </a:p>
        </p:txBody>
      </p:sp>
      <p:sp>
        <p:nvSpPr>
          <p:cNvPr id="18" name="Flowchart: Connector 17">
            <a:extLst>
              <a:ext uri="{FF2B5EF4-FFF2-40B4-BE49-F238E27FC236}">
                <a16:creationId xmlns:a16="http://schemas.microsoft.com/office/drawing/2014/main" id="{9AB5F90C-4FE1-C13A-6972-4190695AB44A}"/>
              </a:ext>
            </a:extLst>
          </p:cNvPr>
          <p:cNvSpPr/>
          <p:nvPr/>
        </p:nvSpPr>
        <p:spPr>
          <a:xfrm>
            <a:off x="2323365" y="379846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19" name="Speech Bubble: Rectangle with Corners Rounded 18">
            <a:extLst>
              <a:ext uri="{FF2B5EF4-FFF2-40B4-BE49-F238E27FC236}">
                <a16:creationId xmlns:a16="http://schemas.microsoft.com/office/drawing/2014/main" id="{643F831E-E8F3-8869-536A-8B26A8A19958}"/>
              </a:ext>
            </a:extLst>
          </p:cNvPr>
          <p:cNvSpPr/>
          <p:nvPr/>
        </p:nvSpPr>
        <p:spPr>
          <a:xfrm>
            <a:off x="3130696" y="4839509"/>
            <a:ext cx="2494824" cy="657180"/>
          </a:xfrm>
          <a:prstGeom prst="wedgeRoundRectCallout">
            <a:avLst>
              <a:gd name="adj1" fmla="val -19715"/>
              <a:gd name="adj2" fmla="val -6791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Guest access setting</a:t>
            </a:r>
          </a:p>
        </p:txBody>
      </p:sp>
      <p:sp>
        <p:nvSpPr>
          <p:cNvPr id="20" name="Flowchart: Connector 19">
            <a:extLst>
              <a:ext uri="{FF2B5EF4-FFF2-40B4-BE49-F238E27FC236}">
                <a16:creationId xmlns:a16="http://schemas.microsoft.com/office/drawing/2014/main" id="{3042B51E-D252-A895-A1F4-44B1742CE9ED}"/>
              </a:ext>
            </a:extLst>
          </p:cNvPr>
          <p:cNvSpPr/>
          <p:nvPr/>
        </p:nvSpPr>
        <p:spPr>
          <a:xfrm>
            <a:off x="5715000" y="496235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21" name="Speech Bubble: Rectangle with Corners Rounded 20">
            <a:extLst>
              <a:ext uri="{FF2B5EF4-FFF2-40B4-BE49-F238E27FC236}">
                <a16:creationId xmlns:a16="http://schemas.microsoft.com/office/drawing/2014/main" id="{CCA78D4E-3F44-4B34-88D3-48629489D96E}"/>
              </a:ext>
            </a:extLst>
          </p:cNvPr>
          <p:cNvSpPr/>
          <p:nvPr/>
        </p:nvSpPr>
        <p:spPr>
          <a:xfrm>
            <a:off x="4876800" y="2727486"/>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Enable/Disable</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Guest access for the environment</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22" name="Flowchart: Connector 21">
            <a:extLst>
              <a:ext uri="{FF2B5EF4-FFF2-40B4-BE49-F238E27FC236}">
                <a16:creationId xmlns:a16="http://schemas.microsoft.com/office/drawing/2014/main" id="{9F8FF736-04A3-D126-2F16-226CCF8AD8EB}"/>
              </a:ext>
            </a:extLst>
          </p:cNvPr>
          <p:cNvSpPr/>
          <p:nvPr/>
        </p:nvSpPr>
        <p:spPr>
          <a:xfrm>
            <a:off x="7543800" y="291661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Tree>
    <p:extLst>
      <p:ext uri="{BB962C8B-B14F-4D97-AF65-F5344CB8AC3E}">
        <p14:creationId xmlns:p14="http://schemas.microsoft.com/office/powerpoint/2010/main" val="156081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1000" fill="hold"/>
                                        <p:tgtEl>
                                          <p:spTgt spid="2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B5D55-EC01-A77C-C5A3-7290EC10E26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96F0D8B-AC51-4E47-D8DA-7D875F8902F6}"/>
              </a:ext>
            </a:extLst>
          </p:cNvPr>
          <p:cNvSpPr>
            <a:spLocks noGrp="1"/>
          </p:cNvSpPr>
          <p:nvPr>
            <p:ph type="body" sz="quarter" idx="10"/>
          </p:nvPr>
        </p:nvSpPr>
        <p:spPr>
          <a:xfrm>
            <a:off x="537136" y="276270"/>
            <a:ext cx="9368864" cy="657179"/>
          </a:xfrm>
        </p:spPr>
        <p:txBody>
          <a:bodyPr>
            <a:normAutofit fontScale="77500" lnSpcReduction="20000"/>
          </a:bodyPr>
          <a:lstStyle/>
          <a:p>
            <a:r>
              <a:rPr lang="en-US" noProof="0" dirty="0"/>
              <a:t>Data Access Management by User Type: Some Tips &amp; Recommendations</a:t>
            </a:r>
          </a:p>
        </p:txBody>
      </p:sp>
      <p:grpSp>
        <p:nvGrpSpPr>
          <p:cNvPr id="27" name="Group 26">
            <a:extLst>
              <a:ext uri="{FF2B5EF4-FFF2-40B4-BE49-F238E27FC236}">
                <a16:creationId xmlns:a16="http://schemas.microsoft.com/office/drawing/2014/main" id="{D55CDA01-33AA-E0E3-C4BE-10829CD46F6F}"/>
              </a:ext>
            </a:extLst>
          </p:cNvPr>
          <p:cNvGrpSpPr/>
          <p:nvPr/>
        </p:nvGrpSpPr>
        <p:grpSpPr>
          <a:xfrm>
            <a:off x="522057" y="1089879"/>
            <a:ext cx="4634001" cy="3610186"/>
            <a:chOff x="8640607" y="1161888"/>
            <a:chExt cx="2461366" cy="1837358"/>
          </a:xfrm>
        </p:grpSpPr>
        <p:sp>
          <p:nvSpPr>
            <p:cNvPr id="28" name="Rectangle: Top Corners Rounded 27">
              <a:extLst>
                <a:ext uri="{FF2B5EF4-FFF2-40B4-BE49-F238E27FC236}">
                  <a16:creationId xmlns:a16="http://schemas.microsoft.com/office/drawing/2014/main" id="{098F2DC1-3752-DBE2-55B9-680284D6D618}"/>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ysClr val="window" lastClr="FFFFFF">
                  <a:lumMod val="65000"/>
                </a:sys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29" name="Rectangle: Top Corners Rounded 4">
              <a:extLst>
                <a:ext uri="{FF2B5EF4-FFF2-40B4-BE49-F238E27FC236}">
                  <a16:creationId xmlns:a16="http://schemas.microsoft.com/office/drawing/2014/main" id="{1BE2BACE-1EEA-8A43-5D9B-CF349C58E492}"/>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71450" indent="-171450">
                <a:buFont typeface="Arial" panose="020B0604020202020204" pitchFamily="34" charset="0"/>
                <a:buChar char="•"/>
                <a:defRPr/>
              </a:pPr>
              <a:r>
                <a:rPr lang="en-US" sz="1600" dirty="0">
                  <a:cs typeface="Segoe UI" panose="020B0502040204020203" pitchFamily="34" charset="0"/>
                </a:rPr>
                <a:t>Implement security access using a </a:t>
              </a:r>
              <a:r>
                <a:rPr lang="en-US" sz="1600" dirty="0">
                  <a:cs typeface="Segoe UI" panose="020B0502040204020203" pitchFamily="34" charset="0"/>
                  <a:hlinkClick r:id="rId3"/>
                </a:rPr>
                <a:t>layered approach</a:t>
              </a:r>
              <a:r>
                <a:rPr lang="en-US" sz="1600" dirty="0">
                  <a:cs typeface="Segoe UI" panose="020B0502040204020203" pitchFamily="34" charset="0"/>
                </a:rPr>
                <a:t> (App | Form | Record | Field)</a:t>
              </a:r>
            </a:p>
            <a:p>
              <a:pPr marL="171450" lvl="0" indent="-171450">
                <a:buFont typeface="Arial" panose="020B0604020202020204" pitchFamily="34" charset="0"/>
                <a:buChar char="•"/>
              </a:pPr>
              <a:r>
                <a:rPr lang="en-US" sz="1600" baseline="0" dirty="0">
                  <a:cs typeface="Segoe UI" panose="020B0502040204020203" pitchFamily="34" charset="0"/>
                </a:rPr>
                <a:t>Use </a:t>
              </a:r>
              <a:r>
                <a:rPr lang="en-US" sz="1600" baseline="0" dirty="0">
                  <a:cs typeface="Segoe UI" panose="020B0502040204020203" pitchFamily="34" charset="0"/>
                  <a:hlinkClick r:id="rId4"/>
                </a:rPr>
                <a:t>explicit authentication </a:t>
              </a:r>
              <a:r>
                <a:rPr lang="en-US" sz="1600" baseline="0" dirty="0">
                  <a:cs typeface="Segoe UI" panose="020B0502040204020203" pitchFamily="34" charset="0"/>
                </a:rPr>
                <a:t>for shared connections</a:t>
              </a:r>
              <a:endParaRPr lang="en-US" sz="1600" dirty="0">
                <a:cs typeface="Segoe UI" panose="020B0502040204020203" pitchFamily="34" charset="0"/>
              </a:endParaRPr>
            </a:p>
            <a:p>
              <a:pPr marL="171450" lvl="0" indent="-171450">
                <a:buFont typeface="Arial" panose="020B0604020202020204" pitchFamily="34" charset="0"/>
                <a:buChar char="•"/>
              </a:pPr>
              <a:r>
                <a:rPr lang="en-US" sz="1600" dirty="0">
                  <a:cs typeface="Segoe UI" panose="020B0502040204020203" pitchFamily="34" charset="0"/>
                </a:rPr>
                <a:t>Cleanup of </a:t>
              </a:r>
              <a:r>
                <a:rPr lang="en-US" sz="1600" dirty="0">
                  <a:cs typeface="Segoe UI" panose="020B0502040204020203" pitchFamily="34" charset="0"/>
                  <a:hlinkClick r:id="rId5"/>
                </a:rPr>
                <a:t>deleted users</a:t>
              </a:r>
              <a:r>
                <a:rPr lang="en-US" sz="1600" dirty="0">
                  <a:cs typeface="Segoe UI" panose="020B0502040204020203" pitchFamily="34" charset="0"/>
                </a:rPr>
                <a:t>/reassign owned records</a:t>
              </a:r>
            </a:p>
            <a:p>
              <a:pPr marL="171450" lvl="0" indent="-171450">
                <a:buFont typeface="Arial" panose="020B0604020202020204" pitchFamily="34" charset="0"/>
                <a:buChar char="•"/>
              </a:pPr>
              <a:r>
                <a:rPr lang="en-US" sz="1600" dirty="0">
                  <a:cs typeface="Segoe UI" panose="020B0502040204020203" pitchFamily="34" charset="0"/>
                  <a:hlinkClick r:id="rId6"/>
                </a:rPr>
                <a:t>Licensing</a:t>
              </a:r>
              <a:r>
                <a:rPr lang="en-US" sz="1600" dirty="0">
                  <a:cs typeface="Segoe UI" panose="020B0502040204020203" pitchFamily="34" charset="0"/>
                </a:rPr>
                <a:t> is not a security control</a:t>
              </a:r>
            </a:p>
            <a:p>
              <a:pPr marL="171450" lvl="0" indent="-171450">
                <a:buFont typeface="Arial" panose="020B0604020202020204" pitchFamily="34" charset="0"/>
                <a:buChar char="•"/>
              </a:pPr>
              <a:r>
                <a:rPr lang="en-US" sz="1600" dirty="0">
                  <a:cs typeface="Segoe UI" panose="020B0502040204020203" pitchFamily="34" charset="0"/>
                </a:rPr>
                <a:t>Review </a:t>
              </a:r>
              <a:r>
                <a:rPr lang="en-US" sz="1600" dirty="0">
                  <a:cs typeface="Segoe UI" panose="020B0502040204020203" pitchFamily="34" charset="0"/>
                  <a:hlinkClick r:id="rId7"/>
                </a:rPr>
                <a:t>Sharing limits</a:t>
              </a:r>
              <a:endParaRPr lang="en-US" sz="1600" dirty="0">
                <a:cs typeface="Segoe UI" panose="020B0502040204020203" pitchFamily="34" charset="0"/>
              </a:endParaRPr>
            </a:p>
            <a:p>
              <a:pPr marL="171450" lvl="0" indent="-171450">
                <a:buFont typeface="Arial" panose="020B0604020202020204" pitchFamily="34" charset="0"/>
                <a:buChar char="•"/>
              </a:pPr>
              <a:r>
                <a:rPr lang="en-US" sz="1600" dirty="0">
                  <a:cs typeface="Segoe UI" panose="020B0502040204020203" pitchFamily="34" charset="0"/>
                </a:rPr>
                <a:t>Make use of </a:t>
              </a:r>
              <a:r>
                <a:rPr lang="en-US" sz="1600" dirty="0">
                  <a:cs typeface="Segoe UI" panose="020B0502040204020203" pitchFamily="34" charset="0"/>
                  <a:hlinkClick r:id="rId8"/>
                </a:rPr>
                <a:t>Microsoft Entra security groups</a:t>
              </a:r>
              <a:endParaRPr lang="en-US" sz="1600" dirty="0">
                <a:cs typeface="Segoe UI" panose="020B0502040204020203" pitchFamily="34" charset="0"/>
              </a:endParaRPr>
            </a:p>
            <a:p>
              <a:pPr marL="171450" lvl="0" indent="-171450">
                <a:buFont typeface="Arial" panose="020B0604020202020204" pitchFamily="34" charset="0"/>
                <a:buChar char="•"/>
              </a:pPr>
              <a:r>
                <a:rPr lang="en-US" sz="1600" dirty="0">
                  <a:cs typeface="Segoe UI" panose="020B0502040204020203" pitchFamily="34" charset="0"/>
                </a:rPr>
                <a:t>User access </a:t>
              </a:r>
              <a:r>
                <a:rPr lang="en-US" sz="1600" dirty="0">
                  <a:cs typeface="Segoe UI" panose="020B0502040204020203" pitchFamily="34" charset="0"/>
                  <a:hlinkClick r:id="rId9"/>
                </a:rPr>
                <a:t>diagnostics and troubleshooting</a:t>
              </a:r>
              <a:endParaRPr lang="en-US" sz="1600" dirty="0">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cs typeface="Segoe UI" panose="020B0502040204020203" pitchFamily="34" charset="0"/>
              </a:endParaRPr>
            </a:p>
          </p:txBody>
        </p:sp>
      </p:grpSp>
      <p:grpSp>
        <p:nvGrpSpPr>
          <p:cNvPr id="30" name="Group 29">
            <a:extLst>
              <a:ext uri="{FF2B5EF4-FFF2-40B4-BE49-F238E27FC236}">
                <a16:creationId xmlns:a16="http://schemas.microsoft.com/office/drawing/2014/main" id="{164E2462-E97A-4C4E-D40B-79BB4770DCE1}"/>
              </a:ext>
            </a:extLst>
          </p:cNvPr>
          <p:cNvGrpSpPr/>
          <p:nvPr/>
        </p:nvGrpSpPr>
        <p:grpSpPr>
          <a:xfrm>
            <a:off x="514132" y="4662981"/>
            <a:ext cx="4641925" cy="830749"/>
            <a:chOff x="8632682" y="3002849"/>
            <a:chExt cx="2461366" cy="790063"/>
          </a:xfrm>
          <a:solidFill>
            <a:sysClr val="window" lastClr="FFFFFF">
              <a:lumMod val="65000"/>
            </a:sysClr>
          </a:solidFill>
        </p:grpSpPr>
        <p:sp>
          <p:nvSpPr>
            <p:cNvPr id="31" name="Rectangle 30">
              <a:extLst>
                <a:ext uri="{FF2B5EF4-FFF2-40B4-BE49-F238E27FC236}">
                  <a16:creationId xmlns:a16="http://schemas.microsoft.com/office/drawing/2014/main" id="{45AE61C0-A726-E74E-A083-1EA2FA9A31C8}"/>
                </a:ext>
              </a:extLst>
            </p:cNvPr>
            <p:cNvSpPr/>
            <p:nvPr/>
          </p:nvSpPr>
          <p:spPr>
            <a:xfrm>
              <a:off x="8632682" y="3002849"/>
              <a:ext cx="2461366" cy="790063"/>
            </a:xfrm>
            <a:prstGeom prst="rect">
              <a:avLst/>
            </a:prstGeom>
            <a:grpFill/>
            <a:ln w="12700" cap="flat" cmpd="sng" algn="ctr">
              <a:solidFill>
                <a:sysClr val="window" lastClr="FFFFFF">
                  <a:lumMod val="65000"/>
                </a:sys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32" name="TextBox 31">
              <a:extLst>
                <a:ext uri="{FF2B5EF4-FFF2-40B4-BE49-F238E27FC236}">
                  <a16:creationId xmlns:a16="http://schemas.microsoft.com/office/drawing/2014/main" id="{4A15A497-46C9-026E-FDE8-FA1C6C553C8D}"/>
                </a:ext>
              </a:extLst>
            </p:cNvPr>
            <p:cNvSpPr txBox="1"/>
            <p:nvPr/>
          </p:nvSpPr>
          <p:spPr>
            <a:xfrm>
              <a:off x="8632682" y="3002849"/>
              <a:ext cx="2010921" cy="790063"/>
            </a:xfrm>
            <a:prstGeom prst="rect">
              <a:avLst/>
            </a:prstGeom>
            <a:grpFill/>
            <a:ln>
              <a:solidFill>
                <a:sysClr val="window" lastClr="FFFFFF">
                  <a:lumMod val="65000"/>
                </a:sys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dirty="0">
                  <a:ln>
                    <a:noFill/>
                  </a:ln>
                  <a:solidFill>
                    <a:prstClr val="white"/>
                  </a:solidFill>
                  <a:effectLst/>
                  <a:uLnTx/>
                  <a:uFillTx/>
                  <a:cs typeface="Segoe UI" panose="020B0502040204020203" pitchFamily="34" charset="0"/>
                </a:rPr>
                <a:t>Govern User Access</a:t>
              </a:r>
            </a:p>
          </p:txBody>
        </p:sp>
      </p:grpSp>
      <p:grpSp>
        <p:nvGrpSpPr>
          <p:cNvPr id="33" name="Group 32">
            <a:extLst>
              <a:ext uri="{FF2B5EF4-FFF2-40B4-BE49-F238E27FC236}">
                <a16:creationId xmlns:a16="http://schemas.microsoft.com/office/drawing/2014/main" id="{34BAD2AA-A1CC-225D-EBD7-6BC6F7F92EA2}"/>
              </a:ext>
            </a:extLst>
          </p:cNvPr>
          <p:cNvGrpSpPr/>
          <p:nvPr/>
        </p:nvGrpSpPr>
        <p:grpSpPr>
          <a:xfrm>
            <a:off x="6196254" y="1089879"/>
            <a:ext cx="4634001" cy="3610186"/>
            <a:chOff x="8640607" y="1161888"/>
            <a:chExt cx="2461366" cy="1837358"/>
          </a:xfrm>
        </p:grpSpPr>
        <p:sp>
          <p:nvSpPr>
            <p:cNvPr id="34" name="Rectangle: Top Corners Rounded 33">
              <a:extLst>
                <a:ext uri="{FF2B5EF4-FFF2-40B4-BE49-F238E27FC236}">
                  <a16:creationId xmlns:a16="http://schemas.microsoft.com/office/drawing/2014/main" id="{1DF95F7A-4AEA-BA22-57C7-F6BBFD77CD65}"/>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35" name="Rectangle: Top Corners Rounded 4">
              <a:extLst>
                <a:ext uri="{FF2B5EF4-FFF2-40B4-BE49-F238E27FC236}">
                  <a16:creationId xmlns:a16="http://schemas.microsoft.com/office/drawing/2014/main" id="{BC455013-4C7C-7531-A3C2-6C47F5887043}"/>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71450" lvl="0" indent="-171450">
                <a:buFont typeface="Arial" panose="020B0604020202020204" pitchFamily="34" charset="0"/>
                <a:buChar char="•"/>
              </a:pPr>
              <a:r>
                <a:rPr lang="en-US" sz="1600" b="0" dirty="0">
                  <a:cs typeface="Segoe UI" panose="020B0502040204020203" pitchFamily="34" charset="0"/>
                </a:rPr>
                <a:t>Limit </a:t>
              </a:r>
              <a:r>
                <a:rPr lang="en-US" sz="1600" b="0" dirty="0">
                  <a:cs typeface="Segoe UI" panose="020B0502040204020203" pitchFamily="34" charset="0"/>
                  <a:hlinkClick r:id="rId10"/>
                </a:rPr>
                <a:t>Power Platform administrator roles</a:t>
              </a:r>
              <a:endParaRPr lang="en-US" sz="1600" b="0" dirty="0">
                <a:cs typeface="Segoe UI" panose="020B0502040204020203" pitchFamily="34" charset="0"/>
              </a:endParaRPr>
            </a:p>
            <a:p>
              <a:pPr marL="171450" lvl="0" indent="-171450">
                <a:buFont typeface="Arial" panose="020B0604020202020204" pitchFamily="34" charset="0"/>
                <a:buChar char="•"/>
              </a:pPr>
              <a:r>
                <a:rPr lang="en-US" sz="1600" dirty="0">
                  <a:cs typeface="Segoe UI" panose="020B0502040204020203" pitchFamily="34" charset="0"/>
                </a:rPr>
                <a:t>Enable Power Platform Admin roles </a:t>
              </a:r>
              <a:r>
                <a:rPr lang="en-US" sz="1600" dirty="0">
                  <a:cs typeface="Segoe UI" panose="020B0502040204020203" pitchFamily="34" charset="0"/>
                  <a:hlinkClick r:id="rId11"/>
                </a:rPr>
                <a:t>through Privileged Identity Management</a:t>
              </a:r>
              <a:r>
                <a:rPr lang="en-US" sz="1600" dirty="0">
                  <a:cs typeface="Segoe UI" panose="020B0502040204020203" pitchFamily="34" charset="0"/>
                </a:rPr>
                <a:t>:</a:t>
              </a:r>
            </a:p>
            <a:p>
              <a:pPr marL="742950" lvl="1" indent="-285750">
                <a:buFont typeface="Wingdings" panose="05000000000000000000" pitchFamily="2" charset="2"/>
                <a:buChar char="§"/>
              </a:pPr>
              <a:r>
                <a:rPr lang="en-US" sz="1600" dirty="0">
                  <a:cs typeface="Segoe UI" panose="020B0502040204020203" pitchFamily="34" charset="0"/>
                </a:rPr>
                <a:t>Enforce on-demand, just-in-time administrative access when needed</a:t>
              </a:r>
            </a:p>
            <a:p>
              <a:pPr marL="742950" lvl="1" indent="-285750">
                <a:buFont typeface="Wingdings" panose="05000000000000000000" pitchFamily="2" charset="2"/>
                <a:buChar char="§"/>
              </a:pPr>
              <a:r>
                <a:rPr lang="en-US" sz="1600" dirty="0">
                  <a:cs typeface="Segoe UI" panose="020B0502040204020203" pitchFamily="34" charset="0"/>
                </a:rPr>
                <a:t>Minimize number of privileged users (admins) and duration of access</a:t>
              </a:r>
            </a:p>
            <a:p>
              <a:pPr marL="742950" lvl="1" indent="-285750">
                <a:buFont typeface="Wingdings" panose="05000000000000000000" pitchFamily="2" charset="2"/>
                <a:buChar char="§"/>
              </a:pPr>
              <a:r>
                <a:rPr lang="en-US" sz="1600" dirty="0">
                  <a:cs typeface="Segoe UI" panose="020B0502040204020203" pitchFamily="34" charset="0"/>
                </a:rPr>
                <a:t>Reduce risks of authorized user impact on sensitive data</a:t>
              </a:r>
            </a:p>
            <a:p>
              <a:pPr marL="742950" lvl="1" indent="-285750">
                <a:buFont typeface="Wingdings" panose="05000000000000000000" pitchFamily="2" charset="2"/>
                <a:buChar char="§"/>
              </a:pPr>
              <a:r>
                <a:rPr kumimoji="0" lang="en-US" sz="1600" b="0" i="0" u="none" strike="noStrike" cap="none" spc="0" normalizeH="0" baseline="0" noProof="0" dirty="0">
                  <a:ln/>
                  <a:effectLst/>
                  <a:uLnTx/>
                  <a:uFillTx/>
                  <a:cs typeface="Segoe UI" panose="020B0502040204020203" pitchFamily="34" charset="0"/>
                </a:rPr>
                <a:t>Reduce risks of malicious user getting access</a:t>
              </a:r>
            </a:p>
            <a:p>
              <a:pPr marL="742950" lvl="1" indent="-285750">
                <a:buFont typeface="Wingdings" panose="05000000000000000000" pitchFamily="2" charset="2"/>
                <a:buChar char="§"/>
              </a:pPr>
              <a:r>
                <a:rPr lang="en-US" sz="1600" dirty="0">
                  <a:ln/>
                  <a:cs typeface="Segoe UI" panose="020B0502040204020203" pitchFamily="34" charset="0"/>
                </a:rPr>
                <a:t>Be aware of current limitations in regards of adding/removing the System Administrator Role</a:t>
              </a:r>
              <a:endParaRPr kumimoji="0" lang="en-US" sz="1600" b="0" i="0" u="none" strike="noStrike" cap="none" spc="0" normalizeH="0" baseline="0" noProof="0" dirty="0">
                <a:ln/>
                <a:effectLst/>
                <a:uLnTx/>
                <a:uFillTx/>
                <a:cs typeface="Segoe UI" panose="020B0502040204020203" pitchFamily="34" charset="0"/>
              </a:endParaRPr>
            </a:p>
            <a:p>
              <a:pPr marL="742950" lvl="1" indent="-285750">
                <a:buFont typeface="Wingdings" panose="05000000000000000000" pitchFamily="2" charset="2"/>
                <a:buChar char="§"/>
              </a:pPr>
              <a:endParaRPr lang="en-US" sz="1400" dirty="0"/>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cs typeface="Segoe UI" panose="020B0502040204020203" pitchFamily="34" charset="0"/>
              </a:endParaRPr>
            </a:p>
          </p:txBody>
        </p:sp>
      </p:grpSp>
      <p:grpSp>
        <p:nvGrpSpPr>
          <p:cNvPr id="36" name="Group 35">
            <a:extLst>
              <a:ext uri="{FF2B5EF4-FFF2-40B4-BE49-F238E27FC236}">
                <a16:creationId xmlns:a16="http://schemas.microsoft.com/office/drawing/2014/main" id="{F16FA03C-FC58-193F-83C8-1D57357AD7EC}"/>
              </a:ext>
            </a:extLst>
          </p:cNvPr>
          <p:cNvGrpSpPr/>
          <p:nvPr/>
        </p:nvGrpSpPr>
        <p:grpSpPr>
          <a:xfrm>
            <a:off x="6188329" y="4662981"/>
            <a:ext cx="4641925" cy="830749"/>
            <a:chOff x="8632682" y="3002849"/>
            <a:chExt cx="2461366" cy="790063"/>
          </a:xfrm>
          <a:solidFill>
            <a:srgbClr val="ED7D31"/>
          </a:solidFill>
        </p:grpSpPr>
        <p:sp>
          <p:nvSpPr>
            <p:cNvPr id="37" name="Rectangle 36">
              <a:extLst>
                <a:ext uri="{FF2B5EF4-FFF2-40B4-BE49-F238E27FC236}">
                  <a16:creationId xmlns:a16="http://schemas.microsoft.com/office/drawing/2014/main" id="{042A6AEA-2CCD-BA30-EC1C-2D066B30263D}"/>
                </a:ext>
              </a:extLst>
            </p:cNvPr>
            <p:cNvSpPr/>
            <p:nvPr/>
          </p:nvSpPr>
          <p:spPr>
            <a:xfrm>
              <a:off x="8632682" y="3002849"/>
              <a:ext cx="2461366" cy="790063"/>
            </a:xfrm>
            <a:prstGeom prst="rect">
              <a:avLst/>
            </a:prstGeom>
            <a:solidFill>
              <a:srgbClr val="FFC000"/>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38" name="TextBox 37">
              <a:extLst>
                <a:ext uri="{FF2B5EF4-FFF2-40B4-BE49-F238E27FC236}">
                  <a16:creationId xmlns:a16="http://schemas.microsoft.com/office/drawing/2014/main" id="{A1401338-B363-F659-317C-6506E46CB197}"/>
                </a:ext>
              </a:extLst>
            </p:cNvPr>
            <p:cNvSpPr txBox="1"/>
            <p:nvPr/>
          </p:nvSpPr>
          <p:spPr>
            <a:xfrm>
              <a:off x="8632682" y="3002849"/>
              <a:ext cx="2010921" cy="790063"/>
            </a:xfrm>
            <a:prstGeom prst="rect">
              <a:avLst/>
            </a:prstGeom>
            <a:solidFill>
              <a:srgbClr val="FFC000"/>
            </a:solidFill>
            <a:ln>
              <a:solidFill>
                <a:srgbClr val="FFC000"/>
              </a:solid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b="1" kern="0" dirty="0">
                  <a:solidFill>
                    <a:prstClr val="white"/>
                  </a:solidFill>
                  <a:cs typeface="Segoe UI" panose="020B0502040204020203" pitchFamily="34" charset="0"/>
                </a:rPr>
                <a:t>Govern Admin Access</a:t>
              </a:r>
            </a:p>
          </p:txBody>
        </p:sp>
      </p:grpSp>
    </p:spTree>
    <p:extLst>
      <p:ext uri="{BB962C8B-B14F-4D97-AF65-F5344CB8AC3E}">
        <p14:creationId xmlns:p14="http://schemas.microsoft.com/office/powerpoint/2010/main" val="2281169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0C840-1669-E59E-5A8E-F6F8292726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5D728F3-4353-81F8-7D65-ECD8A03D3503}"/>
              </a:ext>
            </a:extLst>
          </p:cNvPr>
          <p:cNvSpPr>
            <a:spLocks noGrp="1"/>
          </p:cNvSpPr>
          <p:nvPr>
            <p:ph type="body" sz="quarter" idx="10"/>
          </p:nvPr>
        </p:nvSpPr>
        <p:spPr>
          <a:xfrm>
            <a:off x="537136" y="276270"/>
            <a:ext cx="9368864" cy="657179"/>
          </a:xfrm>
        </p:spPr>
        <p:txBody>
          <a:bodyPr>
            <a:normAutofit fontScale="77500" lnSpcReduction="20000"/>
          </a:bodyPr>
          <a:lstStyle/>
          <a:p>
            <a:r>
              <a:rPr lang="en-US" noProof="0" dirty="0"/>
              <a:t>Data Access Management by User Type: Privilege Identity Management</a:t>
            </a:r>
          </a:p>
        </p:txBody>
      </p:sp>
      <p:pic>
        <p:nvPicPr>
          <p:cNvPr id="5" name="Picture 4">
            <a:extLst>
              <a:ext uri="{FF2B5EF4-FFF2-40B4-BE49-F238E27FC236}">
                <a16:creationId xmlns:a16="http://schemas.microsoft.com/office/drawing/2014/main" id="{FF6AB628-1308-15BF-2CC8-D0DC53720138}"/>
              </a:ext>
            </a:extLst>
          </p:cNvPr>
          <p:cNvPicPr>
            <a:picLocks noChangeAspect="1"/>
          </p:cNvPicPr>
          <p:nvPr/>
        </p:nvPicPr>
        <p:blipFill>
          <a:blip r:embed="rId3"/>
          <a:stretch>
            <a:fillRect/>
          </a:stretch>
        </p:blipFill>
        <p:spPr>
          <a:xfrm>
            <a:off x="1295399" y="862924"/>
            <a:ext cx="8790174" cy="5118776"/>
          </a:xfrm>
          <a:prstGeom prst="rect">
            <a:avLst/>
          </a:prstGeom>
        </p:spPr>
      </p:pic>
      <p:sp>
        <p:nvSpPr>
          <p:cNvPr id="6" name="Speech Bubble: Rectangle with Corners Rounded 5">
            <a:extLst>
              <a:ext uri="{FF2B5EF4-FFF2-40B4-BE49-F238E27FC236}">
                <a16:creationId xmlns:a16="http://schemas.microsoft.com/office/drawing/2014/main" id="{31108FE7-F913-36AA-DB66-D56579A87CA4}"/>
              </a:ext>
            </a:extLst>
          </p:cNvPr>
          <p:cNvSpPr/>
          <p:nvPr/>
        </p:nvSpPr>
        <p:spPr>
          <a:xfrm>
            <a:off x="5334000" y="3600450"/>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Eligible Power Platform Admin Role assignment</a:t>
            </a:r>
          </a:p>
        </p:txBody>
      </p:sp>
      <p:sp>
        <p:nvSpPr>
          <p:cNvPr id="7" name="Speech Bubble: Rectangle with Corners Rounded 6">
            <a:extLst>
              <a:ext uri="{FF2B5EF4-FFF2-40B4-BE49-F238E27FC236}">
                <a16:creationId xmlns:a16="http://schemas.microsoft.com/office/drawing/2014/main" id="{099921EA-C51F-F6FB-F03D-934B4F9016A9}"/>
              </a:ext>
            </a:extLst>
          </p:cNvPr>
          <p:cNvSpPr/>
          <p:nvPr/>
        </p:nvSpPr>
        <p:spPr>
          <a:xfrm>
            <a:off x="8838161" y="3905250"/>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Be aware</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of the limitations of using PIM with the PP Admin role</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Tree>
    <p:extLst>
      <p:ext uri="{BB962C8B-B14F-4D97-AF65-F5344CB8AC3E}">
        <p14:creationId xmlns:p14="http://schemas.microsoft.com/office/powerpoint/2010/main" val="351525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96BBA-F5EE-4E28-1ADD-3DB393A0CC30}"/>
            </a:ext>
          </a:extLst>
        </p:cNvPr>
        <p:cNvGrpSpPr/>
        <p:nvPr/>
      </p:nvGrpSpPr>
      <p:grpSpPr>
        <a:xfrm>
          <a:off x="0" y="0"/>
          <a:ext cx="0" cy="0"/>
          <a:chOff x="0" y="0"/>
          <a:chExt cx="0" cy="0"/>
        </a:xfrm>
      </p:grpSpPr>
      <p:pic>
        <p:nvPicPr>
          <p:cNvPr id="2" name="Imagen 2">
            <a:extLst>
              <a:ext uri="{FF2B5EF4-FFF2-40B4-BE49-F238E27FC236}">
                <a16:creationId xmlns:a16="http://schemas.microsoft.com/office/drawing/2014/main" id="{F0242E34-CF2A-9858-1E8F-0987E29C925A}"/>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6096000" y="86259"/>
            <a:ext cx="2901552" cy="2904591"/>
          </a:xfrm>
          <a:prstGeom prst="rect">
            <a:avLst/>
          </a:prstGeom>
        </p:spPr>
      </p:pic>
      <p:sp>
        <p:nvSpPr>
          <p:cNvPr id="3" name="Marcador de texto 4">
            <a:extLst>
              <a:ext uri="{FF2B5EF4-FFF2-40B4-BE49-F238E27FC236}">
                <a16:creationId xmlns:a16="http://schemas.microsoft.com/office/drawing/2014/main" id="{84182E85-C526-3C01-332C-BD36CB50E815}"/>
              </a:ext>
            </a:extLst>
          </p:cNvPr>
          <p:cNvSpPr txBox="1">
            <a:spLocks/>
          </p:cNvSpPr>
          <p:nvPr/>
        </p:nvSpPr>
        <p:spPr>
          <a:xfrm>
            <a:off x="4419600" y="3321389"/>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effectLst/>
                <a:uLnTx/>
                <a:uFillTx/>
                <a:ea typeface="+mn-ea"/>
                <a:cs typeface="Segoe UI Semibold" panose="020B0702040204020203" pitchFamily="34" charset="0"/>
              </a:rPr>
              <a:t>Demo #4: </a:t>
            </a:r>
            <a:r>
              <a:rPr lang="en-US" sz="3600" b="1" dirty="0">
                <a:cs typeface="Segoe UI Semibold" panose="020B0702040204020203" pitchFamily="34" charset="0"/>
              </a:rPr>
              <a:t>Data Access Security</a:t>
            </a:r>
            <a:endParaRPr kumimoji="0" lang="en-US" sz="3600" b="1" i="0" u="none" strike="noStrike" kern="1200" cap="none" spc="0" normalizeH="0" baseline="0" noProof="0" dirty="0">
              <a:ln>
                <a:noFill/>
              </a:ln>
              <a:effectLst/>
              <a:uLnTx/>
              <a:uFillTx/>
              <a:cs typeface="Segoe UI Semibold" panose="020B07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effectLst/>
              <a:uLnTx/>
              <a:uFillTx/>
              <a:ea typeface="+mn-ea"/>
              <a:cs typeface="+mn-cs"/>
            </a:endParaRPr>
          </a:p>
        </p:txBody>
      </p:sp>
      <p:pic>
        <p:nvPicPr>
          <p:cNvPr id="4" name="Picture 18" descr="Minion clipart transparent background, Minion transparent background  Transparent FREE for download on WebStockReview 2021">
            <a:extLst>
              <a:ext uri="{FF2B5EF4-FFF2-40B4-BE49-F238E27FC236}">
                <a16:creationId xmlns:a16="http://schemas.microsoft.com/office/drawing/2014/main" id="{997A662D-926A-33D0-5A51-A5B8B81A5D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6259"/>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844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A95E7-57F5-2E47-E365-B053EB2C158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BAC4C94-2C45-3909-8F58-5CA857C8DCEE}"/>
              </a:ext>
            </a:extLst>
          </p:cNvPr>
          <p:cNvSpPr>
            <a:spLocks noGrp="1"/>
          </p:cNvSpPr>
          <p:nvPr>
            <p:ph type="body" sz="quarter" idx="10"/>
          </p:nvPr>
        </p:nvSpPr>
        <p:spPr>
          <a:xfrm>
            <a:off x="537136" y="276271"/>
            <a:ext cx="9673664" cy="541810"/>
          </a:xfrm>
        </p:spPr>
        <p:txBody>
          <a:bodyPr>
            <a:normAutofit/>
          </a:bodyPr>
          <a:lstStyle/>
          <a:p>
            <a:r>
              <a:rPr lang="en-US" sz="2400" noProof="0" dirty="0"/>
              <a:t>Data Access Security: Key Learnings</a:t>
            </a:r>
          </a:p>
        </p:txBody>
      </p:sp>
      <p:sp>
        <p:nvSpPr>
          <p:cNvPr id="3" name="Content Placeholder 2">
            <a:extLst>
              <a:ext uri="{FF2B5EF4-FFF2-40B4-BE49-F238E27FC236}">
                <a16:creationId xmlns:a16="http://schemas.microsoft.com/office/drawing/2014/main" id="{8AF926DD-0D1D-F0A8-3949-E032F2437BEF}"/>
              </a:ext>
            </a:extLst>
          </p:cNvPr>
          <p:cNvSpPr>
            <a:spLocks noGrp="1"/>
          </p:cNvSpPr>
          <p:nvPr>
            <p:ph sz="quarter" idx="11"/>
          </p:nvPr>
        </p:nvSpPr>
        <p:spPr/>
        <p:txBody>
          <a:bodyPr>
            <a:normAutofit/>
          </a:bodyPr>
          <a:lstStyle/>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hlinkClick r:id="rId2"/>
              </a:rPr>
              <a:t>Secure Your Power Platform Deployment </a:t>
            </a:r>
            <a:r>
              <a:rPr lang="en-US" sz="2200" dirty="0">
                <a:ln w="3175"/>
                <a:latin typeface="Arial" panose="020B0604020202020204" pitchFamily="34" charset="0"/>
                <a:cs typeface="Arial" panose="020B0604020202020204" pitchFamily="34" charset="0"/>
              </a:rPr>
              <a:t>best practices</a:t>
            </a: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hlinkClick r:id="rId3"/>
              </a:rPr>
              <a:t>Limit sharing </a:t>
            </a:r>
            <a:r>
              <a:rPr lang="en-US" sz="2200" dirty="0">
                <a:ln w="3175"/>
                <a:latin typeface="Arial" panose="020B0604020202020204" pitchFamily="34" charset="0"/>
                <a:cs typeface="Arial" panose="020B0604020202020204" pitchFamily="34" charset="0"/>
              </a:rPr>
              <a:t>to business users that need to access the app</a:t>
            </a: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hlinkClick r:id="rId4"/>
              </a:rPr>
              <a:t>Licensing</a:t>
            </a:r>
            <a:r>
              <a:rPr lang="en-US" sz="2200" dirty="0">
                <a:ln w="3175"/>
                <a:latin typeface="Arial" panose="020B0604020202020204" pitchFamily="34" charset="0"/>
                <a:cs typeface="Arial" panose="020B0604020202020204" pitchFamily="34" charset="0"/>
              </a:rPr>
              <a:t> is not a security control</a:t>
            </a: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hlinkClick r:id="rId5"/>
              </a:rPr>
              <a:t>Route makers to dedicated developer environments</a:t>
            </a:r>
            <a:endParaRPr lang="en-US" sz="2200" dirty="0">
              <a:ln w="3175"/>
              <a:latin typeface="Arial" panose="020B0604020202020204" pitchFamily="34" charset="0"/>
              <a:cs typeface="Arial" panose="020B0604020202020204" pitchFamily="34" charset="0"/>
            </a:endParaRP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hlinkClick r:id="rId6"/>
              </a:rPr>
              <a:t>Assign security groups </a:t>
            </a:r>
            <a:r>
              <a:rPr lang="en-US" sz="2200" dirty="0">
                <a:ln w="3175"/>
                <a:latin typeface="Arial" panose="020B0604020202020204" pitchFamily="34" charset="0"/>
                <a:cs typeface="Arial" panose="020B0604020202020204" pitchFamily="34" charset="0"/>
              </a:rPr>
              <a:t>to environments</a:t>
            </a: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rPr>
              <a:t>Configure </a:t>
            </a:r>
            <a:r>
              <a:rPr lang="en-US" sz="2200" dirty="0">
                <a:ln w="3175"/>
                <a:latin typeface="Arial" panose="020B0604020202020204" pitchFamily="34" charset="0"/>
                <a:cs typeface="Arial" panose="020B0604020202020204" pitchFamily="34" charset="0"/>
                <a:hlinkClick r:id="rId7"/>
              </a:rPr>
              <a:t>solution checker</a:t>
            </a:r>
            <a:r>
              <a:rPr lang="en-US" sz="2200" dirty="0">
                <a:ln w="3175"/>
                <a:latin typeface="Arial" panose="020B0604020202020204" pitchFamily="34" charset="0"/>
                <a:cs typeface="Arial" panose="020B0604020202020204" pitchFamily="34" charset="0"/>
              </a:rPr>
              <a:t> to automate analysis against best practices rules and identify solution issues</a:t>
            </a: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rPr>
              <a:t>Educate makers regarding organization’s best practices with </a:t>
            </a:r>
            <a:r>
              <a:rPr lang="en-US" sz="2200" dirty="0">
                <a:ln w="3175"/>
                <a:latin typeface="Arial" panose="020B0604020202020204" pitchFamily="34" charset="0"/>
                <a:cs typeface="Arial" panose="020B0604020202020204" pitchFamily="34" charset="0"/>
                <a:hlinkClick r:id="rId8"/>
              </a:rPr>
              <a:t>maker welcome content</a:t>
            </a:r>
            <a:endParaRPr lang="en-US" sz="2200" dirty="0">
              <a:ln w="3175"/>
              <a:latin typeface="Arial" panose="020B0604020202020204" pitchFamily="34" charset="0"/>
              <a:cs typeface="Arial" panose="020B0604020202020204" pitchFamily="34" charset="0"/>
            </a:endParaRP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hlinkClick r:id="rId9"/>
              </a:rPr>
              <a:t>Assign administrator</a:t>
            </a:r>
            <a:r>
              <a:rPr lang="en-US" sz="2200" dirty="0">
                <a:ln w="3175"/>
                <a:latin typeface="Arial" panose="020B0604020202020204" pitchFamily="34" charset="0"/>
                <a:cs typeface="Arial" panose="020B0604020202020204" pitchFamily="34" charset="0"/>
              </a:rPr>
              <a:t> roles judiciously and </a:t>
            </a:r>
            <a:r>
              <a:rPr lang="en-US" sz="2200" dirty="0">
                <a:ln w="3175"/>
                <a:latin typeface="Arial" panose="020B0604020202020204" pitchFamily="34" charset="0"/>
                <a:cs typeface="Arial" panose="020B0604020202020204" pitchFamily="34" charset="0"/>
                <a:hlinkClick r:id="rId10"/>
              </a:rPr>
              <a:t>enable them just in time</a:t>
            </a:r>
            <a:endParaRPr lang="en-US" sz="2200" dirty="0">
              <a:ln w="3175"/>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1683271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5CE5A-467E-1F39-0CA2-A3CF9AE98C0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DBA9D3-150D-C408-791B-B730298B117F}"/>
              </a:ext>
            </a:extLst>
          </p:cNvPr>
          <p:cNvSpPr>
            <a:spLocks noGrp="1"/>
          </p:cNvSpPr>
          <p:nvPr>
            <p:ph type="body" sz="quarter" idx="10"/>
          </p:nvPr>
        </p:nvSpPr>
        <p:spPr/>
        <p:txBody>
          <a:bodyPr/>
          <a:lstStyle/>
          <a:p>
            <a:r>
              <a:rPr lang="en-US" noProof="0" dirty="0"/>
              <a:t>Data Protection – Data Policies</a:t>
            </a:r>
          </a:p>
        </p:txBody>
      </p:sp>
      <p:grpSp>
        <p:nvGrpSpPr>
          <p:cNvPr id="4" name="Group 3">
            <a:extLst>
              <a:ext uri="{FF2B5EF4-FFF2-40B4-BE49-F238E27FC236}">
                <a16:creationId xmlns:a16="http://schemas.microsoft.com/office/drawing/2014/main" id="{9F192697-AF73-7FE3-74FA-E69EB67245A4}"/>
              </a:ext>
            </a:extLst>
          </p:cNvPr>
          <p:cNvGrpSpPr/>
          <p:nvPr/>
        </p:nvGrpSpPr>
        <p:grpSpPr>
          <a:xfrm>
            <a:off x="250505" y="1615647"/>
            <a:ext cx="2461366" cy="2034388"/>
            <a:chOff x="8640607" y="1161888"/>
            <a:chExt cx="2461366" cy="1837358"/>
          </a:xfrm>
        </p:grpSpPr>
        <p:sp>
          <p:nvSpPr>
            <p:cNvPr id="5" name="Rectangle: Top Corners Rounded 4">
              <a:extLst>
                <a:ext uri="{FF2B5EF4-FFF2-40B4-BE49-F238E27FC236}">
                  <a16:creationId xmlns:a16="http://schemas.microsoft.com/office/drawing/2014/main" id="{B1DAF30A-EAEC-5132-4321-3F3192FE6489}"/>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endParaRPr>
            </a:p>
          </p:txBody>
        </p:sp>
        <p:sp>
          <p:nvSpPr>
            <p:cNvPr id="6" name="Rectangle: Top Corners Rounded 4">
              <a:extLst>
                <a:ext uri="{FF2B5EF4-FFF2-40B4-BE49-F238E27FC236}">
                  <a16:creationId xmlns:a16="http://schemas.microsoft.com/office/drawing/2014/main" id="{B598CBB6-9946-388A-5189-84BF45510AE6}"/>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350" kern="0" dirty="0">
                  <a:solidFill>
                    <a:prstClr val="black">
                      <a:hueOff val="0"/>
                      <a:satOff val="0"/>
                      <a:lumOff val="0"/>
                      <a:alphaOff val="0"/>
                    </a:prstClr>
                  </a:solidFill>
                  <a:cs typeface="Segoe UI" panose="020B0502040204020203" pitchFamily="34" charset="0"/>
                </a:rPr>
                <a:t>Prevent makers to expose corporate Information</a:t>
              </a:r>
            </a:p>
            <a:p>
              <a:pPr marL="114300" marR="0" lvl="1" indent="-114300" defTabSz="533400" fontAlgn="auto">
                <a:lnSpc>
                  <a:spcPct val="90000"/>
                </a:lnSpc>
                <a:spcBef>
                  <a:spcPct val="0"/>
                </a:spcBef>
                <a:spcAft>
                  <a:spcPct val="15000"/>
                </a:spcAft>
                <a:buClrTx/>
                <a:buSzTx/>
                <a:buFontTx/>
                <a:buChar char="•"/>
                <a:tabLst/>
                <a:defRPr/>
              </a:pPr>
              <a:r>
                <a:rPr lang="en-US" sz="1350" kern="0" dirty="0">
                  <a:solidFill>
                    <a:prstClr val="black">
                      <a:hueOff val="0"/>
                      <a:satOff val="0"/>
                      <a:lumOff val="0"/>
                      <a:alphaOff val="0"/>
                    </a:prstClr>
                  </a:solidFill>
                  <a:cs typeface="Segoe UI" panose="020B0502040204020203" pitchFamily="34" charset="0"/>
                </a:rPr>
                <a:t>2 levels of Application</a:t>
              </a:r>
              <a:r>
                <a:rPr lang="es-ES" sz="1350" kern="0" dirty="0">
                  <a:solidFill>
                    <a:prstClr val="black">
                      <a:hueOff val="0"/>
                      <a:satOff val="0"/>
                      <a:lumOff val="0"/>
                      <a:alphaOff val="0"/>
                    </a:prstClr>
                  </a:solidFill>
                  <a:cs typeface="Segoe UI" panose="020B0502040204020203" pitchFamily="34" charset="0"/>
                </a:rPr>
                <a:t>: </a:t>
              </a:r>
              <a:r>
                <a:rPr lang="en-US" sz="1350" kern="0" dirty="0">
                  <a:solidFill>
                    <a:prstClr val="black">
                      <a:hueOff val="0"/>
                      <a:satOff val="0"/>
                      <a:lumOff val="0"/>
                      <a:alphaOff val="0"/>
                    </a:prstClr>
                  </a:solidFill>
                  <a:cs typeface="Segoe UI" panose="020B0502040204020203" pitchFamily="34" charset="0"/>
                </a:rPr>
                <a:t>Tenant-Wide vs. Environment</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endParaRPr>
            </a:p>
          </p:txBody>
        </p:sp>
      </p:grpSp>
      <p:grpSp>
        <p:nvGrpSpPr>
          <p:cNvPr id="7" name="Group 6">
            <a:extLst>
              <a:ext uri="{FF2B5EF4-FFF2-40B4-BE49-F238E27FC236}">
                <a16:creationId xmlns:a16="http://schemas.microsoft.com/office/drawing/2014/main" id="{19AB5A1E-1E55-2E0E-43BF-F7BB786D560D}"/>
              </a:ext>
            </a:extLst>
          </p:cNvPr>
          <p:cNvGrpSpPr/>
          <p:nvPr/>
        </p:nvGrpSpPr>
        <p:grpSpPr>
          <a:xfrm>
            <a:off x="248190" y="3653638"/>
            <a:ext cx="2461366" cy="790063"/>
            <a:chOff x="8632682" y="3002849"/>
            <a:chExt cx="2461366" cy="790063"/>
          </a:xfrm>
          <a:solidFill>
            <a:srgbClr val="5B9BD5"/>
          </a:solidFill>
        </p:grpSpPr>
        <p:sp>
          <p:nvSpPr>
            <p:cNvPr id="8" name="Rectangle 7">
              <a:extLst>
                <a:ext uri="{FF2B5EF4-FFF2-40B4-BE49-F238E27FC236}">
                  <a16:creationId xmlns:a16="http://schemas.microsoft.com/office/drawing/2014/main" id="{3E81BCFC-1637-0AC6-8BB7-93D62A674E10}"/>
                </a:ext>
              </a:extLst>
            </p:cNvPr>
            <p:cNvSpPr/>
            <p:nvPr/>
          </p:nvSpPr>
          <p:spPr>
            <a:xfrm>
              <a:off x="8632682" y="3002849"/>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9" name="TextBox 8">
              <a:extLst>
                <a:ext uri="{FF2B5EF4-FFF2-40B4-BE49-F238E27FC236}">
                  <a16:creationId xmlns:a16="http://schemas.microsoft.com/office/drawing/2014/main" id="{0BE8BE89-511C-D06B-A4D3-4CFC89F77946}"/>
                </a:ext>
              </a:extLst>
            </p:cNvPr>
            <p:cNvSpPr txBox="1"/>
            <p:nvPr/>
          </p:nvSpPr>
          <p:spPr>
            <a:xfrm>
              <a:off x="8632682" y="3002849"/>
              <a:ext cx="1733356"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a:ln>
                    <a:noFill/>
                  </a:ln>
                  <a:solidFill>
                    <a:prstClr val="white"/>
                  </a:solidFill>
                  <a:effectLst/>
                  <a:uLnTx/>
                  <a:uFillTx/>
                </a:rPr>
                <a:t>Data Policies</a:t>
              </a:r>
            </a:p>
          </p:txBody>
        </p:sp>
      </p:grpSp>
      <p:grpSp>
        <p:nvGrpSpPr>
          <p:cNvPr id="10" name="Group 9">
            <a:extLst>
              <a:ext uri="{FF2B5EF4-FFF2-40B4-BE49-F238E27FC236}">
                <a16:creationId xmlns:a16="http://schemas.microsoft.com/office/drawing/2014/main" id="{E5B5B6F5-01F8-691C-EF38-6C7D67E464A3}"/>
              </a:ext>
            </a:extLst>
          </p:cNvPr>
          <p:cNvGrpSpPr/>
          <p:nvPr/>
        </p:nvGrpSpPr>
        <p:grpSpPr>
          <a:xfrm>
            <a:off x="3012365" y="1619250"/>
            <a:ext cx="2461366" cy="2034388"/>
            <a:chOff x="6941" y="1161888"/>
            <a:chExt cx="2461366" cy="1837358"/>
          </a:xfrm>
        </p:grpSpPr>
        <p:sp>
          <p:nvSpPr>
            <p:cNvPr id="11" name="Rectangle: Top Corners Rounded 10">
              <a:extLst>
                <a:ext uri="{FF2B5EF4-FFF2-40B4-BE49-F238E27FC236}">
                  <a16:creationId xmlns:a16="http://schemas.microsoft.com/office/drawing/2014/main" id="{6A4313C5-EC47-5EEE-0CDC-1A6BBD6B4F3C}"/>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ysClr val="window" lastClr="FFFFFF">
                  <a:lumMod val="65000"/>
                </a:sys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endParaRPr>
            </a:p>
          </p:txBody>
        </p:sp>
        <p:sp>
          <p:nvSpPr>
            <p:cNvPr id="12" name="Rectangle: Top Corners Rounded 4">
              <a:extLst>
                <a:ext uri="{FF2B5EF4-FFF2-40B4-BE49-F238E27FC236}">
                  <a16:creationId xmlns:a16="http://schemas.microsoft.com/office/drawing/2014/main" id="{F6CDDEA8-2AD0-13A9-0B1E-5C1D8B4A4969}"/>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50" kern="0" dirty="0">
                  <a:solidFill>
                    <a:prstClr val="black">
                      <a:hueOff val="0"/>
                      <a:satOff val="0"/>
                      <a:lumOff val="0"/>
                      <a:alphaOff val="0"/>
                    </a:prstClr>
                  </a:solidFill>
                  <a:cs typeface="Segoe UI" panose="020B0502040204020203" pitchFamily="34" charset="0"/>
                </a:rPr>
                <a:t>Prevent makers from building apps and flows that leverage blocked connectors </a:t>
              </a:r>
            </a:p>
            <a:p>
              <a:pPr marL="114300" lvl="1" indent="-114300" defTabSz="533400">
                <a:lnSpc>
                  <a:spcPct val="90000"/>
                </a:lnSpc>
                <a:spcBef>
                  <a:spcPct val="0"/>
                </a:spcBef>
                <a:spcAft>
                  <a:spcPct val="15000"/>
                </a:spcAft>
                <a:buFontTx/>
                <a:buChar char="•"/>
                <a:defRPr/>
              </a:pPr>
              <a:r>
                <a:rPr lang="en-US" sz="1350" kern="0" dirty="0">
                  <a:solidFill>
                    <a:prstClr val="black">
                      <a:hueOff val="0"/>
                      <a:satOff val="0"/>
                      <a:lumOff val="0"/>
                      <a:alphaOff val="0"/>
                    </a:prstClr>
                  </a:solidFill>
                  <a:cs typeface="Segoe UI" panose="020B0502040204020203" pitchFamily="34" charset="0"/>
                </a:rPr>
                <a:t>Extended Data Policies to support prevent creating new connections to blocked connectors</a:t>
              </a:r>
            </a:p>
          </p:txBody>
        </p:sp>
      </p:grpSp>
      <p:grpSp>
        <p:nvGrpSpPr>
          <p:cNvPr id="13" name="Group 12">
            <a:extLst>
              <a:ext uri="{FF2B5EF4-FFF2-40B4-BE49-F238E27FC236}">
                <a16:creationId xmlns:a16="http://schemas.microsoft.com/office/drawing/2014/main" id="{CB1B91C7-242B-4C50-D4E9-191C2E79465D}"/>
              </a:ext>
            </a:extLst>
          </p:cNvPr>
          <p:cNvGrpSpPr/>
          <p:nvPr/>
        </p:nvGrpSpPr>
        <p:grpSpPr>
          <a:xfrm>
            <a:off x="3012365" y="3653638"/>
            <a:ext cx="2461366" cy="790063"/>
            <a:chOff x="6941" y="2999246"/>
            <a:chExt cx="2461366" cy="790063"/>
          </a:xfrm>
          <a:solidFill>
            <a:schemeClr val="accent6">
              <a:lumMod val="75000"/>
            </a:schemeClr>
          </a:solidFill>
        </p:grpSpPr>
        <p:sp>
          <p:nvSpPr>
            <p:cNvPr id="14" name="Rectangle 13">
              <a:extLst>
                <a:ext uri="{FF2B5EF4-FFF2-40B4-BE49-F238E27FC236}">
                  <a16:creationId xmlns:a16="http://schemas.microsoft.com/office/drawing/2014/main" id="{475D54FA-71DA-4C9F-8558-FE42C39DDB05}"/>
                </a:ext>
              </a:extLst>
            </p:cNvPr>
            <p:cNvSpPr/>
            <p:nvPr/>
          </p:nvSpPr>
          <p:spPr>
            <a:xfrm>
              <a:off x="6941" y="2999246"/>
              <a:ext cx="2461366" cy="790063"/>
            </a:xfrm>
            <a:prstGeom prst="rect">
              <a:avLst/>
            </a:prstGeom>
            <a:grp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15" name="TextBox 14">
              <a:extLst>
                <a:ext uri="{FF2B5EF4-FFF2-40B4-BE49-F238E27FC236}">
                  <a16:creationId xmlns:a16="http://schemas.microsoft.com/office/drawing/2014/main" id="{A3989B1C-B3B7-BE00-0CBC-31BD054DC260}"/>
                </a:ext>
              </a:extLst>
            </p:cNvPr>
            <p:cNvSpPr txBox="1"/>
            <p:nvPr/>
          </p:nvSpPr>
          <p:spPr>
            <a:xfrm>
              <a:off x="6941" y="2999246"/>
              <a:ext cx="1733356" cy="790063"/>
            </a:xfrm>
            <a:prstGeom prst="rect">
              <a:avLst/>
            </a:prstGeom>
            <a:grpFill/>
            <a:ln>
              <a:solidFill>
                <a:schemeClr val="accent6">
                  <a:lumMod val="75000"/>
                </a:scheme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a:ln>
                    <a:noFill/>
                  </a:ln>
                  <a:solidFill>
                    <a:prstClr val="white"/>
                  </a:solidFill>
                  <a:effectLst/>
                  <a:uLnTx/>
                  <a:uFillTx/>
                </a:rPr>
                <a:t>Data Policies in Design Time</a:t>
              </a:r>
            </a:p>
          </p:txBody>
        </p:sp>
      </p:grpSp>
      <p:grpSp>
        <p:nvGrpSpPr>
          <p:cNvPr id="16" name="Group 15">
            <a:extLst>
              <a:ext uri="{FF2B5EF4-FFF2-40B4-BE49-F238E27FC236}">
                <a16:creationId xmlns:a16="http://schemas.microsoft.com/office/drawing/2014/main" id="{E32A456E-867E-2B07-D849-76EE09E42D20}"/>
              </a:ext>
            </a:extLst>
          </p:cNvPr>
          <p:cNvGrpSpPr/>
          <p:nvPr/>
        </p:nvGrpSpPr>
        <p:grpSpPr>
          <a:xfrm>
            <a:off x="5774225" y="1619250"/>
            <a:ext cx="2461366" cy="2034388"/>
            <a:chOff x="2884829" y="1161888"/>
            <a:chExt cx="2461366" cy="1837358"/>
          </a:xfrm>
        </p:grpSpPr>
        <p:sp>
          <p:nvSpPr>
            <p:cNvPr id="17" name="Rectangle: Top Corners Rounded 16">
              <a:extLst>
                <a:ext uri="{FF2B5EF4-FFF2-40B4-BE49-F238E27FC236}">
                  <a16:creationId xmlns:a16="http://schemas.microsoft.com/office/drawing/2014/main" id="{6F7CD877-F44B-5D93-CE8C-9D9882D688CF}"/>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endParaRPr>
            </a:p>
          </p:txBody>
        </p:sp>
        <p:sp>
          <p:nvSpPr>
            <p:cNvPr id="18" name="Rectangle: Top Corners Rounded 4">
              <a:extLst>
                <a:ext uri="{FF2B5EF4-FFF2-40B4-BE49-F238E27FC236}">
                  <a16:creationId xmlns:a16="http://schemas.microsoft.com/office/drawing/2014/main" id="{5490B42C-441B-1B8C-A2B9-F036B582ED9A}"/>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350" kern="0" dirty="0">
                  <a:solidFill>
                    <a:prstClr val="black">
                      <a:hueOff val="0"/>
                      <a:satOff val="0"/>
                      <a:lumOff val="0"/>
                      <a:alphaOff val="0"/>
                    </a:prstClr>
                  </a:solidFill>
                  <a:cs typeface="Segoe UI" panose="020B0502040204020203" pitchFamily="34" charset="0"/>
                </a:rPr>
                <a:t>Providing admins fine grain control over which actions within a connector are permitted within the environment</a:t>
              </a:r>
              <a:endParaRPr lang="es-ES" sz="1350" kern="0" dirty="0">
                <a:solidFill>
                  <a:prstClr val="black">
                    <a:hueOff val="0"/>
                    <a:satOff val="0"/>
                    <a:lumOff val="0"/>
                    <a:alphaOff val="0"/>
                  </a:prstClr>
                </a:solidFill>
                <a:cs typeface="Segoe UI" panose="020B0502040204020203" pitchFamily="34" charset="0"/>
              </a:endParaRPr>
            </a:p>
          </p:txBody>
        </p:sp>
      </p:grpSp>
      <p:grpSp>
        <p:nvGrpSpPr>
          <p:cNvPr id="19" name="Group 18">
            <a:extLst>
              <a:ext uri="{FF2B5EF4-FFF2-40B4-BE49-F238E27FC236}">
                <a16:creationId xmlns:a16="http://schemas.microsoft.com/office/drawing/2014/main" id="{801593BB-A190-6393-C04F-09126CD05AC2}"/>
              </a:ext>
            </a:extLst>
          </p:cNvPr>
          <p:cNvGrpSpPr/>
          <p:nvPr/>
        </p:nvGrpSpPr>
        <p:grpSpPr>
          <a:xfrm>
            <a:off x="5774225" y="3653638"/>
            <a:ext cx="2461366" cy="790063"/>
            <a:chOff x="2884829" y="2999246"/>
            <a:chExt cx="2461366" cy="790063"/>
          </a:xfrm>
          <a:solidFill>
            <a:schemeClr val="bg1">
              <a:lumMod val="75000"/>
            </a:schemeClr>
          </a:solidFill>
        </p:grpSpPr>
        <p:sp>
          <p:nvSpPr>
            <p:cNvPr id="20" name="Rectangle 19">
              <a:extLst>
                <a:ext uri="{FF2B5EF4-FFF2-40B4-BE49-F238E27FC236}">
                  <a16:creationId xmlns:a16="http://schemas.microsoft.com/office/drawing/2014/main" id="{9E38AAD9-F384-BA4C-CD41-778C7F8F219A}"/>
                </a:ext>
              </a:extLst>
            </p:cNvPr>
            <p:cNvSpPr/>
            <p:nvPr/>
          </p:nvSpPr>
          <p:spPr>
            <a:xfrm>
              <a:off x="2884829" y="2999246"/>
              <a:ext cx="2461366" cy="790063"/>
            </a:xfrm>
            <a:prstGeom prst="rect">
              <a:avLst/>
            </a:prstGeom>
            <a:grp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1" name="TextBox 20">
              <a:extLst>
                <a:ext uri="{FF2B5EF4-FFF2-40B4-BE49-F238E27FC236}">
                  <a16:creationId xmlns:a16="http://schemas.microsoft.com/office/drawing/2014/main" id="{694AAC0F-9DB7-A165-8205-9900487E1A84}"/>
                </a:ext>
              </a:extLst>
            </p:cNvPr>
            <p:cNvSpPr txBox="1"/>
            <p:nvPr/>
          </p:nvSpPr>
          <p:spPr>
            <a:xfrm>
              <a:off x="2884829" y="2999246"/>
              <a:ext cx="1733356" cy="790063"/>
            </a:xfrm>
            <a:prstGeom prst="rect">
              <a:avLst/>
            </a:prstGeom>
            <a:grpFill/>
            <a:ln>
              <a:solidFill>
                <a:schemeClr val="bg1">
                  <a:lumMod val="75000"/>
                </a:scheme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dirty="0">
                  <a:ln>
                    <a:noFill/>
                  </a:ln>
                  <a:solidFill>
                    <a:prstClr val="white"/>
                  </a:solidFill>
                  <a:effectLst/>
                  <a:uLnTx/>
                  <a:uFillTx/>
                </a:rPr>
                <a:t>Connector Action Control</a:t>
              </a:r>
            </a:p>
          </p:txBody>
        </p:sp>
      </p:grpSp>
      <p:grpSp>
        <p:nvGrpSpPr>
          <p:cNvPr id="22" name="Group 21">
            <a:extLst>
              <a:ext uri="{FF2B5EF4-FFF2-40B4-BE49-F238E27FC236}">
                <a16:creationId xmlns:a16="http://schemas.microsoft.com/office/drawing/2014/main" id="{F49B820C-662A-CA41-FD6B-26D4E7C4C1B9}"/>
              </a:ext>
            </a:extLst>
          </p:cNvPr>
          <p:cNvGrpSpPr/>
          <p:nvPr/>
        </p:nvGrpSpPr>
        <p:grpSpPr>
          <a:xfrm>
            <a:off x="8511434" y="1619250"/>
            <a:ext cx="2461366" cy="2034388"/>
            <a:chOff x="5762718" y="1161888"/>
            <a:chExt cx="2461366" cy="1837358"/>
          </a:xfrm>
        </p:grpSpPr>
        <p:sp>
          <p:nvSpPr>
            <p:cNvPr id="23" name="Rectangle: Top Corners Rounded 22">
              <a:extLst>
                <a:ext uri="{FF2B5EF4-FFF2-40B4-BE49-F238E27FC236}">
                  <a16:creationId xmlns:a16="http://schemas.microsoft.com/office/drawing/2014/main" id="{DD66B94C-6684-024E-F072-1670A58BD08F}"/>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endParaRPr>
            </a:p>
          </p:txBody>
        </p:sp>
        <p:sp>
          <p:nvSpPr>
            <p:cNvPr id="24" name="Rectangle: Top Corners Rounded 4">
              <a:extLst>
                <a:ext uri="{FF2B5EF4-FFF2-40B4-BE49-F238E27FC236}">
                  <a16:creationId xmlns:a16="http://schemas.microsoft.com/office/drawing/2014/main" id="{9DB8364C-58C6-38E1-DD7C-B3A9F885EA51}"/>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50" kern="0" dirty="0">
                  <a:solidFill>
                    <a:prstClr val="black">
                      <a:hueOff val="0"/>
                      <a:satOff val="0"/>
                      <a:lumOff val="0"/>
                      <a:alphaOff val="0"/>
                    </a:prstClr>
                  </a:solidFill>
                  <a:cs typeface="Segoe UI" panose="020B0502040204020203" pitchFamily="34" charset="0"/>
                </a:rPr>
                <a:t>Users consents to specific permissions required to establish connections to data sources. </a:t>
              </a:r>
            </a:p>
            <a:p>
              <a:pPr marL="114300" lvl="1" indent="-114300" defTabSz="533400">
                <a:lnSpc>
                  <a:spcPct val="90000"/>
                </a:lnSpc>
                <a:spcBef>
                  <a:spcPct val="0"/>
                </a:spcBef>
                <a:spcAft>
                  <a:spcPct val="15000"/>
                </a:spcAft>
                <a:buFontTx/>
                <a:buChar char="•"/>
                <a:defRPr/>
              </a:pPr>
              <a:r>
                <a:rPr lang="en-US" sz="1350" kern="0" dirty="0">
                  <a:solidFill>
                    <a:prstClr val="black">
                      <a:hueOff val="0"/>
                      <a:satOff val="0"/>
                      <a:lumOff val="0"/>
                      <a:alphaOff val="0"/>
                    </a:prstClr>
                  </a:solidFill>
                  <a:cs typeface="Segoe UI" panose="020B0502040204020203" pitchFamily="34" charset="0"/>
                </a:rPr>
                <a:t>Accurate and concise description of what the connector will be executing prior to connection creation specific to actions executed in the application</a:t>
              </a:r>
              <a:endParaRPr lang="es-ES" sz="1350" kern="0" dirty="0">
                <a:solidFill>
                  <a:prstClr val="black">
                    <a:hueOff val="0"/>
                    <a:satOff val="0"/>
                    <a:lumOff val="0"/>
                    <a:alphaOff val="0"/>
                  </a:prstClr>
                </a:solidFill>
                <a:cs typeface="Segoe UI" panose="020B0502040204020203" pitchFamily="34" charset="0"/>
              </a:endParaRPr>
            </a:p>
          </p:txBody>
        </p:sp>
      </p:grpSp>
      <p:grpSp>
        <p:nvGrpSpPr>
          <p:cNvPr id="25" name="Group 24">
            <a:extLst>
              <a:ext uri="{FF2B5EF4-FFF2-40B4-BE49-F238E27FC236}">
                <a16:creationId xmlns:a16="http://schemas.microsoft.com/office/drawing/2014/main" id="{948B184D-935A-F49A-E1D4-2D6BB2C51B11}"/>
              </a:ext>
            </a:extLst>
          </p:cNvPr>
          <p:cNvGrpSpPr/>
          <p:nvPr/>
        </p:nvGrpSpPr>
        <p:grpSpPr>
          <a:xfrm>
            <a:off x="8511434" y="3653638"/>
            <a:ext cx="2461366" cy="790063"/>
            <a:chOff x="5762718" y="2999246"/>
            <a:chExt cx="2461366" cy="790063"/>
          </a:xfrm>
          <a:solidFill>
            <a:srgbClr val="FFC000"/>
          </a:solidFill>
        </p:grpSpPr>
        <p:sp>
          <p:nvSpPr>
            <p:cNvPr id="26" name="Rectangle 25">
              <a:extLst>
                <a:ext uri="{FF2B5EF4-FFF2-40B4-BE49-F238E27FC236}">
                  <a16:creationId xmlns:a16="http://schemas.microsoft.com/office/drawing/2014/main" id="{C6FADB5F-2F0E-8A69-2732-3C6347C5FD41}"/>
                </a:ext>
              </a:extLst>
            </p:cNvPr>
            <p:cNvSpPr/>
            <p:nvPr/>
          </p:nvSpPr>
          <p:spPr>
            <a:xfrm>
              <a:off x="5762718"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7" name="TextBox 26">
              <a:extLst>
                <a:ext uri="{FF2B5EF4-FFF2-40B4-BE49-F238E27FC236}">
                  <a16:creationId xmlns:a16="http://schemas.microsoft.com/office/drawing/2014/main" id="{85C6A3F7-C7E4-DF57-BB71-53E29E1C295A}"/>
                </a:ext>
              </a:extLst>
            </p:cNvPr>
            <p:cNvSpPr txBox="1"/>
            <p:nvPr/>
          </p:nvSpPr>
          <p:spPr>
            <a:xfrm>
              <a:off x="5762718" y="2999246"/>
              <a:ext cx="1733356"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dirty="0">
                  <a:ln>
                    <a:noFill/>
                  </a:ln>
                  <a:solidFill>
                    <a:prstClr val="white"/>
                  </a:solidFill>
                  <a:effectLst/>
                  <a:uLnTx/>
                  <a:uFillTx/>
                </a:rPr>
                <a:t>User Granular Consent</a:t>
              </a:r>
            </a:p>
          </p:txBody>
        </p:sp>
      </p:grpSp>
      <p:pic>
        <p:nvPicPr>
          <p:cNvPr id="28" name="Picture 27">
            <a:extLst>
              <a:ext uri="{FF2B5EF4-FFF2-40B4-BE49-F238E27FC236}">
                <a16:creationId xmlns:a16="http://schemas.microsoft.com/office/drawing/2014/main" id="{09962E31-7781-2C42-AE76-7AED47A353D0}"/>
              </a:ext>
            </a:extLst>
          </p:cNvPr>
          <p:cNvPicPr>
            <a:picLocks noChangeAspect="1"/>
          </p:cNvPicPr>
          <p:nvPr/>
        </p:nvPicPr>
        <p:blipFill>
          <a:blip r:embed="rId2"/>
          <a:stretch>
            <a:fillRect/>
          </a:stretch>
        </p:blipFill>
        <p:spPr>
          <a:xfrm>
            <a:off x="1999442" y="3726479"/>
            <a:ext cx="640080" cy="640080"/>
          </a:xfrm>
          <a:prstGeom prst="rect">
            <a:avLst/>
          </a:prstGeom>
        </p:spPr>
      </p:pic>
      <p:pic>
        <p:nvPicPr>
          <p:cNvPr id="29" name="Picture 28">
            <a:extLst>
              <a:ext uri="{FF2B5EF4-FFF2-40B4-BE49-F238E27FC236}">
                <a16:creationId xmlns:a16="http://schemas.microsoft.com/office/drawing/2014/main" id="{6F54A29B-0548-4038-1B9E-3C25E2192208}"/>
              </a:ext>
            </a:extLst>
          </p:cNvPr>
          <p:cNvPicPr>
            <a:picLocks noChangeAspect="1"/>
          </p:cNvPicPr>
          <p:nvPr/>
        </p:nvPicPr>
        <p:blipFill>
          <a:blip r:embed="rId3"/>
          <a:stretch>
            <a:fillRect/>
          </a:stretch>
        </p:blipFill>
        <p:spPr>
          <a:xfrm>
            <a:off x="4774564" y="3726034"/>
            <a:ext cx="640080" cy="640080"/>
          </a:xfrm>
          <a:prstGeom prst="rect">
            <a:avLst/>
          </a:prstGeom>
        </p:spPr>
      </p:pic>
      <p:pic>
        <p:nvPicPr>
          <p:cNvPr id="30" name="Picture 29">
            <a:extLst>
              <a:ext uri="{FF2B5EF4-FFF2-40B4-BE49-F238E27FC236}">
                <a16:creationId xmlns:a16="http://schemas.microsoft.com/office/drawing/2014/main" id="{F80AABD3-9C71-0978-5700-D4FF87C6C1D7}"/>
              </a:ext>
            </a:extLst>
          </p:cNvPr>
          <p:cNvPicPr>
            <a:picLocks noChangeAspect="1"/>
          </p:cNvPicPr>
          <p:nvPr/>
        </p:nvPicPr>
        <p:blipFill>
          <a:blip r:embed="rId4"/>
          <a:stretch>
            <a:fillRect/>
          </a:stretch>
        </p:blipFill>
        <p:spPr>
          <a:xfrm>
            <a:off x="10283818" y="3730994"/>
            <a:ext cx="640080" cy="640080"/>
          </a:xfrm>
          <a:prstGeom prst="rect">
            <a:avLst/>
          </a:prstGeom>
        </p:spPr>
      </p:pic>
      <p:pic>
        <p:nvPicPr>
          <p:cNvPr id="31" name="Picture 30">
            <a:extLst>
              <a:ext uri="{FF2B5EF4-FFF2-40B4-BE49-F238E27FC236}">
                <a16:creationId xmlns:a16="http://schemas.microsoft.com/office/drawing/2014/main" id="{0B79ADFE-344B-D77F-3667-631DEB3CFBBE}"/>
              </a:ext>
            </a:extLst>
          </p:cNvPr>
          <p:cNvPicPr>
            <a:picLocks noChangeAspect="1"/>
          </p:cNvPicPr>
          <p:nvPr/>
        </p:nvPicPr>
        <p:blipFill>
          <a:blip r:embed="rId5"/>
          <a:stretch>
            <a:fillRect/>
          </a:stretch>
        </p:blipFill>
        <p:spPr>
          <a:xfrm>
            <a:off x="7505732" y="3726034"/>
            <a:ext cx="640080" cy="640080"/>
          </a:xfrm>
          <a:prstGeom prst="rect">
            <a:avLst/>
          </a:prstGeom>
        </p:spPr>
      </p:pic>
    </p:spTree>
    <p:extLst>
      <p:ext uri="{BB962C8B-B14F-4D97-AF65-F5344CB8AC3E}">
        <p14:creationId xmlns:p14="http://schemas.microsoft.com/office/powerpoint/2010/main" val="15488633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2195D-3ED3-8AD7-E019-AC1688C5122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FBDD6B-56FC-8524-AB0F-3A3949B2D800}"/>
              </a:ext>
            </a:extLst>
          </p:cNvPr>
          <p:cNvSpPr>
            <a:spLocks noGrp="1"/>
          </p:cNvSpPr>
          <p:nvPr>
            <p:ph type="body" sz="quarter" idx="10"/>
          </p:nvPr>
        </p:nvSpPr>
        <p:spPr>
          <a:xfrm>
            <a:off x="537136" y="276271"/>
            <a:ext cx="9673664" cy="541810"/>
          </a:xfrm>
        </p:spPr>
        <p:txBody>
          <a:bodyPr>
            <a:normAutofit/>
          </a:bodyPr>
          <a:lstStyle/>
          <a:p>
            <a:r>
              <a:rPr lang="en-US" sz="2400" noProof="0" dirty="0"/>
              <a:t>Data Protection – Data Policies: Granular Connector Setup</a:t>
            </a:r>
          </a:p>
        </p:txBody>
      </p:sp>
      <p:pic>
        <p:nvPicPr>
          <p:cNvPr id="14" name="Picture 13">
            <a:extLst>
              <a:ext uri="{FF2B5EF4-FFF2-40B4-BE49-F238E27FC236}">
                <a16:creationId xmlns:a16="http://schemas.microsoft.com/office/drawing/2014/main" id="{F848D26D-6F7E-D86F-6B36-D49669CDF824}"/>
              </a:ext>
            </a:extLst>
          </p:cNvPr>
          <p:cNvPicPr>
            <a:picLocks noChangeAspect="1"/>
          </p:cNvPicPr>
          <p:nvPr/>
        </p:nvPicPr>
        <p:blipFill>
          <a:blip r:embed="rId2"/>
          <a:stretch>
            <a:fillRect/>
          </a:stretch>
        </p:blipFill>
        <p:spPr>
          <a:xfrm>
            <a:off x="1524000" y="757381"/>
            <a:ext cx="8766683" cy="5132003"/>
          </a:xfrm>
          <a:prstGeom prst="rect">
            <a:avLst/>
          </a:prstGeom>
          <a:ln>
            <a:noFill/>
          </a:ln>
          <a:effectLst>
            <a:outerShdw blurRad="292100" dist="139700" dir="2700000" algn="tl" rotWithShape="0">
              <a:srgbClr val="333333">
                <a:alpha val="65000"/>
              </a:srgbClr>
            </a:outerShdw>
          </a:effectLst>
        </p:spPr>
      </p:pic>
      <p:sp>
        <p:nvSpPr>
          <p:cNvPr id="15" name="Speech Bubble: Rectangle with Corners Rounded 14">
            <a:extLst>
              <a:ext uri="{FF2B5EF4-FFF2-40B4-BE49-F238E27FC236}">
                <a16:creationId xmlns:a16="http://schemas.microsoft.com/office/drawing/2014/main" id="{E7346CDB-BA24-11E2-501E-DA546660232E}"/>
              </a:ext>
            </a:extLst>
          </p:cNvPr>
          <p:cNvSpPr/>
          <p:nvPr/>
        </p:nvSpPr>
        <p:spPr>
          <a:xfrm>
            <a:off x="1698371" y="2280716"/>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Access Data and privacy settings</a:t>
            </a:r>
          </a:p>
        </p:txBody>
      </p:sp>
      <p:sp>
        <p:nvSpPr>
          <p:cNvPr id="16" name="Flowchart: Connector 15">
            <a:extLst>
              <a:ext uri="{FF2B5EF4-FFF2-40B4-BE49-F238E27FC236}">
                <a16:creationId xmlns:a16="http://schemas.microsoft.com/office/drawing/2014/main" id="{45F26177-B5C1-D366-EFA4-0E17077031FA}"/>
              </a:ext>
            </a:extLst>
          </p:cNvPr>
          <p:cNvSpPr/>
          <p:nvPr/>
        </p:nvSpPr>
        <p:spPr>
          <a:xfrm>
            <a:off x="2417412" y="347783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17" name="Speech Bubble: Rectangle with Corners Rounded 16">
            <a:extLst>
              <a:ext uri="{FF2B5EF4-FFF2-40B4-BE49-F238E27FC236}">
                <a16:creationId xmlns:a16="http://schemas.microsoft.com/office/drawing/2014/main" id="{63381BBC-089D-1BE2-61D2-BB126CCED16F}"/>
              </a:ext>
            </a:extLst>
          </p:cNvPr>
          <p:cNvSpPr/>
          <p:nvPr/>
        </p:nvSpPr>
        <p:spPr>
          <a:xfrm>
            <a:off x="2362200" y="4114466"/>
            <a:ext cx="2494824" cy="657180"/>
          </a:xfrm>
          <a:prstGeom prst="wedgeRoundRectCallout">
            <a:avLst>
              <a:gd name="adj1" fmla="val 58429"/>
              <a:gd name="adj2" fmla="val -45158"/>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Select a connector that can be </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Segoe UI" panose="020B0502040204020203" pitchFamily="34" charset="0"/>
              </a:rPr>
              <a:t>blokect</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8" name="Flowchart: Connector 17">
            <a:extLst>
              <a:ext uri="{FF2B5EF4-FFF2-40B4-BE49-F238E27FC236}">
                <a16:creationId xmlns:a16="http://schemas.microsoft.com/office/drawing/2014/main" id="{43737035-A65E-502B-7393-2CC13E171CBA}"/>
              </a:ext>
            </a:extLst>
          </p:cNvPr>
          <p:cNvSpPr/>
          <p:nvPr/>
        </p:nvSpPr>
        <p:spPr>
          <a:xfrm>
            <a:off x="1828800" y="427417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19" name="Speech Bubble: Rectangle with Corners Rounded 18">
            <a:extLst>
              <a:ext uri="{FF2B5EF4-FFF2-40B4-BE49-F238E27FC236}">
                <a16:creationId xmlns:a16="http://schemas.microsoft.com/office/drawing/2014/main" id="{474865E4-52E4-0F15-1DF5-92D5BED24F7B}"/>
              </a:ext>
            </a:extLst>
          </p:cNvPr>
          <p:cNvSpPr/>
          <p:nvPr/>
        </p:nvSpPr>
        <p:spPr>
          <a:xfrm>
            <a:off x="8229600" y="4376779"/>
            <a:ext cx="2494824" cy="789733"/>
          </a:xfrm>
          <a:prstGeom prst="wedgeRoundRectCallout">
            <a:avLst>
              <a:gd name="adj1" fmla="val -6445"/>
              <a:gd name="adj2" fmla="val -7851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Calibri" panose="020F0502020204030204"/>
                <a:cs typeface="Segoe UI" panose="020B0502040204020203" pitchFamily="34" charset="0"/>
              </a:rPr>
              <a:t>Granular setup of Connector Actions</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20" name="Flowchart: Connector 19">
            <a:extLst>
              <a:ext uri="{FF2B5EF4-FFF2-40B4-BE49-F238E27FC236}">
                <a16:creationId xmlns:a16="http://schemas.microsoft.com/office/drawing/2014/main" id="{5A4E787E-672A-7F8E-40D1-0B62EB9DFDFD}"/>
              </a:ext>
            </a:extLst>
          </p:cNvPr>
          <p:cNvSpPr/>
          <p:nvPr/>
        </p:nvSpPr>
        <p:spPr>
          <a:xfrm>
            <a:off x="10820400" y="456590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
        <p:nvSpPr>
          <p:cNvPr id="21" name="Speech Bubble: Rectangle with Corners Rounded 20">
            <a:extLst>
              <a:ext uri="{FF2B5EF4-FFF2-40B4-BE49-F238E27FC236}">
                <a16:creationId xmlns:a16="http://schemas.microsoft.com/office/drawing/2014/main" id="{8383400B-9F7C-A569-3B0C-279821CEA37F}"/>
              </a:ext>
            </a:extLst>
          </p:cNvPr>
          <p:cNvSpPr/>
          <p:nvPr/>
        </p:nvSpPr>
        <p:spPr>
          <a:xfrm>
            <a:off x="3547933" y="5035192"/>
            <a:ext cx="2494824" cy="789733"/>
          </a:xfrm>
          <a:prstGeom prst="wedgeRoundRectCallout">
            <a:avLst>
              <a:gd name="adj1" fmla="val 59482"/>
              <a:gd name="adj2" fmla="val -2244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Calibri" panose="020F0502020204030204"/>
                <a:cs typeface="Segoe UI" panose="020B0502040204020203" pitchFamily="34" charset="0"/>
              </a:rPr>
              <a:t>Allow/Block new connector actions</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22" name="Flowchart: Connector 21">
            <a:extLst>
              <a:ext uri="{FF2B5EF4-FFF2-40B4-BE49-F238E27FC236}">
                <a16:creationId xmlns:a16="http://schemas.microsoft.com/office/drawing/2014/main" id="{29C957E0-4DB3-C751-19B9-EAE9D219364D}"/>
              </a:ext>
            </a:extLst>
          </p:cNvPr>
          <p:cNvSpPr/>
          <p:nvPr/>
        </p:nvSpPr>
        <p:spPr>
          <a:xfrm>
            <a:off x="3048000" y="522431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4</a:t>
            </a:r>
            <a:endParaRPr lang="en-US" sz="1400" dirty="0"/>
          </a:p>
        </p:txBody>
      </p:sp>
    </p:spTree>
    <p:extLst>
      <p:ext uri="{BB962C8B-B14F-4D97-AF65-F5344CB8AC3E}">
        <p14:creationId xmlns:p14="http://schemas.microsoft.com/office/powerpoint/2010/main" val="120297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1000"/>
                                        <p:tgtEl>
                                          <p:spTgt spid="22"/>
                                        </p:tgtEl>
                                      </p:cBhvr>
                                    </p:animEffect>
                                    <p:anim calcmode="lin" valueType="num">
                                      <p:cBhvr>
                                        <p:cTn id="44" dur="1000" fill="hold"/>
                                        <p:tgtEl>
                                          <p:spTgt spid="22"/>
                                        </p:tgtEl>
                                        <p:attrNameLst>
                                          <p:attrName>ppt_x</p:attrName>
                                        </p:attrNameLst>
                                      </p:cBhvr>
                                      <p:tavLst>
                                        <p:tav tm="0">
                                          <p:val>
                                            <p:strVal val="#ppt_x"/>
                                          </p:val>
                                        </p:tav>
                                        <p:tav tm="100000">
                                          <p:val>
                                            <p:strVal val="#ppt_x"/>
                                          </p:val>
                                        </p:tav>
                                      </p:tavLst>
                                    </p:anim>
                                    <p:anim calcmode="lin" valueType="num">
                                      <p:cBhvr>
                                        <p:cTn id="45" dur="1000" fill="hold"/>
                                        <p:tgtEl>
                                          <p:spTgt spid="2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1000"/>
                                        <p:tgtEl>
                                          <p:spTgt spid="21"/>
                                        </p:tgtEl>
                                      </p:cBhvr>
                                    </p:animEffect>
                                    <p:anim calcmode="lin" valueType="num">
                                      <p:cBhvr>
                                        <p:cTn id="49" dur="1000" fill="hold"/>
                                        <p:tgtEl>
                                          <p:spTgt spid="21"/>
                                        </p:tgtEl>
                                        <p:attrNameLst>
                                          <p:attrName>ppt_x</p:attrName>
                                        </p:attrNameLst>
                                      </p:cBhvr>
                                      <p:tavLst>
                                        <p:tav tm="0">
                                          <p:val>
                                            <p:strVal val="#ppt_x"/>
                                          </p:val>
                                        </p:tav>
                                        <p:tav tm="100000">
                                          <p:val>
                                            <p:strVal val="#ppt_x"/>
                                          </p:val>
                                        </p:tav>
                                      </p:tavLst>
                                    </p:anim>
                                    <p:anim calcmode="lin" valueType="num">
                                      <p:cBhvr>
                                        <p:cTn id="5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6B68-1DBB-065A-5A43-2DDDC26F0E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A4B04D-CD42-86DA-255E-F0995E2459C3}"/>
              </a:ext>
            </a:extLst>
          </p:cNvPr>
          <p:cNvSpPr>
            <a:spLocks noGrp="1"/>
          </p:cNvSpPr>
          <p:nvPr>
            <p:ph type="body" sz="quarter" idx="10"/>
          </p:nvPr>
        </p:nvSpPr>
        <p:spPr>
          <a:xfrm>
            <a:off x="537136" y="276271"/>
            <a:ext cx="9673664" cy="541810"/>
          </a:xfrm>
        </p:spPr>
        <p:txBody>
          <a:bodyPr>
            <a:normAutofit fontScale="92500"/>
          </a:bodyPr>
          <a:lstStyle/>
          <a:p>
            <a:r>
              <a:rPr lang="en-US" sz="2400" noProof="0" dirty="0"/>
              <a:t>Data Protection – Data Policies: Advanced Connector Policies</a:t>
            </a:r>
          </a:p>
        </p:txBody>
      </p:sp>
      <p:sp>
        <p:nvSpPr>
          <p:cNvPr id="3" name="Content Placeholder 2">
            <a:extLst>
              <a:ext uri="{FF2B5EF4-FFF2-40B4-BE49-F238E27FC236}">
                <a16:creationId xmlns:a16="http://schemas.microsoft.com/office/drawing/2014/main" id="{EEDF0293-A117-8149-88CF-F77A8016A16C}"/>
              </a:ext>
            </a:extLst>
          </p:cNvPr>
          <p:cNvSpPr>
            <a:spLocks noGrp="1"/>
          </p:cNvSpPr>
          <p:nvPr>
            <p:ph sz="quarter" idx="11"/>
          </p:nvPr>
        </p:nvSpPr>
        <p:spPr/>
        <p:txBody>
          <a:bodyPr>
            <a:normAutofit/>
          </a:bodyPr>
          <a:lstStyle/>
          <a:p>
            <a:pPr marL="171450" indent="-171450" defTabSz="932742">
              <a:spcBef>
                <a:spcPts val="0"/>
              </a:spcBef>
              <a:buSzPct val="90000"/>
              <a:defRPr/>
            </a:pPr>
            <a:r>
              <a:rPr lang="en-US" sz="2200" dirty="0">
                <a:ln w="3175"/>
                <a:latin typeface="Arial" panose="020B0604020202020204" pitchFamily="34" charset="0"/>
                <a:cs typeface="Arial" panose="020B0604020202020204" pitchFamily="34" charset="0"/>
              </a:rPr>
              <a:t>Apply connector policies at scale within Environment Groups </a:t>
            </a:r>
            <a:endParaRPr lang="en-US" dirty="0"/>
          </a:p>
        </p:txBody>
      </p:sp>
      <p:pic>
        <p:nvPicPr>
          <p:cNvPr id="6" name="Picture 5">
            <a:extLst>
              <a:ext uri="{FF2B5EF4-FFF2-40B4-BE49-F238E27FC236}">
                <a16:creationId xmlns:a16="http://schemas.microsoft.com/office/drawing/2014/main" id="{54F98995-FE95-8A25-BE9D-3A76AC98817F}"/>
              </a:ext>
            </a:extLst>
          </p:cNvPr>
          <p:cNvPicPr>
            <a:picLocks noChangeAspect="1"/>
          </p:cNvPicPr>
          <p:nvPr/>
        </p:nvPicPr>
        <p:blipFill>
          <a:blip r:embed="rId2"/>
          <a:stretch>
            <a:fillRect/>
          </a:stretch>
        </p:blipFill>
        <p:spPr>
          <a:xfrm>
            <a:off x="1895584" y="1486657"/>
            <a:ext cx="7638831" cy="4458541"/>
          </a:xfrm>
          <a:prstGeom prst="rect">
            <a:avLst/>
          </a:prstGeom>
          <a:ln>
            <a:noFill/>
          </a:ln>
          <a:effectLst>
            <a:outerShdw blurRad="292100" dist="139700" dir="2700000" algn="tl" rotWithShape="0">
              <a:srgbClr val="333333">
                <a:alpha val="65000"/>
              </a:srgbClr>
            </a:outerShdw>
          </a:effectLst>
        </p:spPr>
      </p:pic>
      <p:sp>
        <p:nvSpPr>
          <p:cNvPr id="7" name="Speech Bubble: Rectangle with Corners Rounded 6">
            <a:extLst>
              <a:ext uri="{FF2B5EF4-FFF2-40B4-BE49-F238E27FC236}">
                <a16:creationId xmlns:a16="http://schemas.microsoft.com/office/drawing/2014/main" id="{01BD68FD-3FD0-EA85-2198-8D00179B8455}"/>
              </a:ext>
            </a:extLst>
          </p:cNvPr>
          <p:cNvSpPr/>
          <p:nvPr/>
        </p:nvSpPr>
        <p:spPr>
          <a:xfrm>
            <a:off x="1789228" y="2595983"/>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Access Environment Groups</a:t>
            </a:r>
          </a:p>
        </p:txBody>
      </p:sp>
      <p:sp>
        <p:nvSpPr>
          <p:cNvPr id="8" name="Flowchart: Connector 7">
            <a:extLst>
              <a:ext uri="{FF2B5EF4-FFF2-40B4-BE49-F238E27FC236}">
                <a16:creationId xmlns:a16="http://schemas.microsoft.com/office/drawing/2014/main" id="{CBEBF7FD-B385-A823-D082-314872551E1F}"/>
              </a:ext>
            </a:extLst>
          </p:cNvPr>
          <p:cNvSpPr/>
          <p:nvPr/>
        </p:nvSpPr>
        <p:spPr>
          <a:xfrm>
            <a:off x="2417412" y="347783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9" name="Speech Bubble: Rectangle with Corners Rounded 8">
            <a:extLst>
              <a:ext uri="{FF2B5EF4-FFF2-40B4-BE49-F238E27FC236}">
                <a16:creationId xmlns:a16="http://schemas.microsoft.com/office/drawing/2014/main" id="{0B4B11CD-5A1B-CED0-625E-8AC133DA0281}"/>
              </a:ext>
            </a:extLst>
          </p:cNvPr>
          <p:cNvSpPr/>
          <p:nvPr/>
        </p:nvSpPr>
        <p:spPr>
          <a:xfrm>
            <a:off x="2057400" y="1564152"/>
            <a:ext cx="2494824" cy="657180"/>
          </a:xfrm>
          <a:prstGeom prst="wedgeRoundRectCallout">
            <a:avLst>
              <a:gd name="adj1" fmla="val 22930"/>
              <a:gd name="adj2" fmla="val 10273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Advanced</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Connector Policies</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0" name="Flowchart: Connector 9">
            <a:extLst>
              <a:ext uri="{FF2B5EF4-FFF2-40B4-BE49-F238E27FC236}">
                <a16:creationId xmlns:a16="http://schemas.microsoft.com/office/drawing/2014/main" id="{5651FA37-24AA-FD21-CED4-D2536659A745}"/>
              </a:ext>
            </a:extLst>
          </p:cNvPr>
          <p:cNvSpPr/>
          <p:nvPr/>
        </p:nvSpPr>
        <p:spPr>
          <a:xfrm>
            <a:off x="1565012" y="168700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11" name="Speech Bubble: Rectangle with Corners Rounded 10">
            <a:extLst>
              <a:ext uri="{FF2B5EF4-FFF2-40B4-BE49-F238E27FC236}">
                <a16:creationId xmlns:a16="http://schemas.microsoft.com/office/drawing/2014/main" id="{13BF204D-7D60-AA08-6F3B-D309DDE72A58}"/>
              </a:ext>
            </a:extLst>
          </p:cNvPr>
          <p:cNvSpPr/>
          <p:nvPr/>
        </p:nvSpPr>
        <p:spPr>
          <a:xfrm>
            <a:off x="5105400" y="2533650"/>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Add new connectors to the list of allowed ones</a:t>
            </a:r>
          </a:p>
        </p:txBody>
      </p:sp>
      <p:sp>
        <p:nvSpPr>
          <p:cNvPr id="12" name="Flowchart: Connector 11">
            <a:extLst>
              <a:ext uri="{FF2B5EF4-FFF2-40B4-BE49-F238E27FC236}">
                <a16:creationId xmlns:a16="http://schemas.microsoft.com/office/drawing/2014/main" id="{CF456970-056D-327E-05E4-D0472B6EE29F}"/>
              </a:ext>
            </a:extLst>
          </p:cNvPr>
          <p:cNvSpPr/>
          <p:nvPr/>
        </p:nvSpPr>
        <p:spPr>
          <a:xfrm>
            <a:off x="7772400" y="272277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Tree>
    <p:extLst>
      <p:ext uri="{BB962C8B-B14F-4D97-AF65-F5344CB8AC3E}">
        <p14:creationId xmlns:p14="http://schemas.microsoft.com/office/powerpoint/2010/main" val="259889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E795-EA1B-EA3C-1CEF-49BAE765852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7D013D8-6BBA-EFD3-E90E-2E3B8CF1BF31}"/>
              </a:ext>
            </a:extLst>
          </p:cNvPr>
          <p:cNvSpPr>
            <a:spLocks noGrp="1"/>
          </p:cNvSpPr>
          <p:nvPr>
            <p:ph type="body" sz="quarter" idx="10"/>
          </p:nvPr>
        </p:nvSpPr>
        <p:spPr>
          <a:xfrm>
            <a:off x="537136" y="276271"/>
            <a:ext cx="9368864" cy="541810"/>
          </a:xfrm>
        </p:spPr>
        <p:txBody>
          <a:bodyPr>
            <a:normAutofit fontScale="77500" lnSpcReduction="20000"/>
          </a:bodyPr>
          <a:lstStyle/>
          <a:p>
            <a:r>
              <a:rPr lang="en-US" noProof="0" dirty="0"/>
              <a:t>Data Protection – Visibility into User &amp; Application Activity</a:t>
            </a:r>
          </a:p>
        </p:txBody>
      </p:sp>
      <p:grpSp>
        <p:nvGrpSpPr>
          <p:cNvPr id="59" name="Group 58">
            <a:extLst>
              <a:ext uri="{FF2B5EF4-FFF2-40B4-BE49-F238E27FC236}">
                <a16:creationId xmlns:a16="http://schemas.microsoft.com/office/drawing/2014/main" id="{673C17E0-750B-2D7C-D28A-788CDCF6B07A}"/>
              </a:ext>
            </a:extLst>
          </p:cNvPr>
          <p:cNvGrpSpPr/>
          <p:nvPr/>
        </p:nvGrpSpPr>
        <p:grpSpPr>
          <a:xfrm>
            <a:off x="1644832" y="1314450"/>
            <a:ext cx="2461366" cy="1837358"/>
            <a:chOff x="8640607" y="1161888"/>
            <a:chExt cx="2461366" cy="1837358"/>
          </a:xfrm>
        </p:grpSpPr>
        <p:sp>
          <p:nvSpPr>
            <p:cNvPr id="60" name="Rectangle: Top Corners Rounded 59">
              <a:extLst>
                <a:ext uri="{FF2B5EF4-FFF2-40B4-BE49-F238E27FC236}">
                  <a16:creationId xmlns:a16="http://schemas.microsoft.com/office/drawing/2014/main" id="{90C12142-157A-F4B8-B7FF-9440905B9DCB}"/>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endParaRPr>
            </a:p>
          </p:txBody>
        </p:sp>
        <p:sp>
          <p:nvSpPr>
            <p:cNvPr id="61" name="Rectangle: Top Corners Rounded 4">
              <a:extLst>
                <a:ext uri="{FF2B5EF4-FFF2-40B4-BE49-F238E27FC236}">
                  <a16:creationId xmlns:a16="http://schemas.microsoft.com/office/drawing/2014/main" id="{512BDA98-8B0F-D1DA-434B-820EA6FEB0C9}"/>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User access and activity (records changes) </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Monitor system jobs </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Audit deleted jobs</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Manage log records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400" b="0" i="0" u="none" strike="noStrike" kern="0" cap="none" spc="0" normalizeH="0" baseline="0" noProof="0" dirty="0">
                <a:ln>
                  <a:noFill/>
                </a:ln>
                <a:solidFill>
                  <a:prstClr val="black">
                    <a:hueOff val="0"/>
                    <a:satOff val="0"/>
                    <a:lumOff val="0"/>
                    <a:alphaOff val="0"/>
                  </a:prstClr>
                </a:solidFill>
                <a:effectLst/>
                <a:uLnTx/>
                <a:uFillTx/>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400" b="0" i="0" u="none" strike="noStrike" kern="0" cap="none" spc="0" normalizeH="0" baseline="0" noProof="0" dirty="0">
                <a:ln>
                  <a:noFill/>
                </a:ln>
                <a:solidFill>
                  <a:sysClr val="windowText" lastClr="000000">
                    <a:hueOff val="0"/>
                    <a:satOff val="0"/>
                    <a:lumOff val="0"/>
                    <a:alphaOff val="0"/>
                  </a:sysClr>
                </a:solidFill>
                <a:effectLst/>
                <a:uLnTx/>
                <a:uFillTx/>
              </a:endParaRPr>
            </a:p>
          </p:txBody>
        </p:sp>
      </p:grpSp>
      <p:grpSp>
        <p:nvGrpSpPr>
          <p:cNvPr id="62" name="Group 61">
            <a:extLst>
              <a:ext uri="{FF2B5EF4-FFF2-40B4-BE49-F238E27FC236}">
                <a16:creationId xmlns:a16="http://schemas.microsoft.com/office/drawing/2014/main" id="{1BD0329E-E82B-E312-3532-BB98A49C36C9}"/>
              </a:ext>
            </a:extLst>
          </p:cNvPr>
          <p:cNvGrpSpPr/>
          <p:nvPr/>
        </p:nvGrpSpPr>
        <p:grpSpPr>
          <a:xfrm>
            <a:off x="1636907" y="3155411"/>
            <a:ext cx="2461366" cy="790063"/>
            <a:chOff x="8632682" y="3002849"/>
            <a:chExt cx="2461366" cy="790063"/>
          </a:xfrm>
          <a:solidFill>
            <a:srgbClr val="FFC000"/>
          </a:solidFill>
        </p:grpSpPr>
        <p:sp>
          <p:nvSpPr>
            <p:cNvPr id="63" name="Rectangle 62">
              <a:extLst>
                <a:ext uri="{FF2B5EF4-FFF2-40B4-BE49-F238E27FC236}">
                  <a16:creationId xmlns:a16="http://schemas.microsoft.com/office/drawing/2014/main" id="{3D6E5B7D-43F0-A639-A770-1AA10B16192D}"/>
                </a:ext>
              </a:extLst>
            </p:cNvPr>
            <p:cNvSpPr/>
            <p:nvPr/>
          </p:nvSpPr>
          <p:spPr>
            <a:xfrm>
              <a:off x="8632682" y="3002849"/>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64" name="TextBox 63">
              <a:extLst>
                <a:ext uri="{FF2B5EF4-FFF2-40B4-BE49-F238E27FC236}">
                  <a16:creationId xmlns:a16="http://schemas.microsoft.com/office/drawing/2014/main" id="{8B1B06D3-52F8-3A60-5ED2-514EAA1073CA}"/>
                </a:ext>
              </a:extLst>
            </p:cNvPr>
            <p:cNvSpPr txBox="1"/>
            <p:nvPr/>
          </p:nvSpPr>
          <p:spPr>
            <a:xfrm>
              <a:off x="8632682" y="3002849"/>
              <a:ext cx="1733356"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dirty="0">
                  <a:ln>
                    <a:noFill/>
                  </a:ln>
                  <a:solidFill>
                    <a:prstClr val="white"/>
                  </a:solidFill>
                  <a:effectLst/>
                  <a:uLnTx/>
                  <a:uFillTx/>
                  <a:cs typeface="Segoe UI" panose="020B0502040204020203" pitchFamily="34" charset="0"/>
                </a:rPr>
                <a:t>Dataverse Audit</a:t>
              </a:r>
            </a:p>
          </p:txBody>
        </p:sp>
      </p:grpSp>
      <p:grpSp>
        <p:nvGrpSpPr>
          <p:cNvPr id="65" name="Group 64">
            <a:extLst>
              <a:ext uri="{FF2B5EF4-FFF2-40B4-BE49-F238E27FC236}">
                <a16:creationId xmlns:a16="http://schemas.microsoft.com/office/drawing/2014/main" id="{83E7F654-53B2-A329-2574-B402C3A7CB68}"/>
              </a:ext>
            </a:extLst>
          </p:cNvPr>
          <p:cNvGrpSpPr/>
          <p:nvPr/>
        </p:nvGrpSpPr>
        <p:grpSpPr>
          <a:xfrm>
            <a:off x="4406692" y="1318053"/>
            <a:ext cx="2461366" cy="1837358"/>
            <a:chOff x="6941" y="1161888"/>
            <a:chExt cx="2461366" cy="1837358"/>
          </a:xfrm>
        </p:grpSpPr>
        <p:sp>
          <p:nvSpPr>
            <p:cNvPr id="66" name="Rectangle: Top Corners Rounded 65">
              <a:extLst>
                <a:ext uri="{FF2B5EF4-FFF2-40B4-BE49-F238E27FC236}">
                  <a16:creationId xmlns:a16="http://schemas.microsoft.com/office/drawing/2014/main" id="{013267F6-069D-D8A9-B47F-4A57924EC785}"/>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hueOff val="0"/>
                    <a:satOff val="0"/>
                    <a:lumOff val="0"/>
                    <a:alphaOff val="0"/>
                  </a:prstClr>
                </a:solidFill>
                <a:effectLst/>
                <a:uLnTx/>
                <a:uFillTx/>
              </a:endParaRPr>
            </a:p>
          </p:txBody>
        </p:sp>
        <p:sp>
          <p:nvSpPr>
            <p:cNvPr id="67" name="Rectangle: Top Corners Rounded 4">
              <a:extLst>
                <a:ext uri="{FF2B5EF4-FFF2-40B4-BE49-F238E27FC236}">
                  <a16:creationId xmlns:a16="http://schemas.microsoft.com/office/drawing/2014/main" id="{66D93BB2-D3F0-71C2-97B1-BC9A94FBAD5D}"/>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Dataverse, Power Apps, Power Automate, Connectors, Data Activity</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Internal and external audit</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Audit changes to records and user access</a:t>
              </a:r>
            </a:p>
          </p:txBody>
        </p:sp>
      </p:grpSp>
      <p:grpSp>
        <p:nvGrpSpPr>
          <p:cNvPr id="68" name="Group 67">
            <a:extLst>
              <a:ext uri="{FF2B5EF4-FFF2-40B4-BE49-F238E27FC236}">
                <a16:creationId xmlns:a16="http://schemas.microsoft.com/office/drawing/2014/main" id="{8E15509D-689C-71F1-0764-A30F04E41146}"/>
              </a:ext>
            </a:extLst>
          </p:cNvPr>
          <p:cNvGrpSpPr/>
          <p:nvPr/>
        </p:nvGrpSpPr>
        <p:grpSpPr>
          <a:xfrm>
            <a:off x="4406692" y="3155411"/>
            <a:ext cx="2461366" cy="790063"/>
            <a:chOff x="6941" y="2999246"/>
            <a:chExt cx="2461366" cy="790063"/>
          </a:xfrm>
          <a:solidFill>
            <a:srgbClr val="5B9BD5"/>
          </a:solidFill>
        </p:grpSpPr>
        <p:sp>
          <p:nvSpPr>
            <p:cNvPr id="69" name="Rectangle 68">
              <a:extLst>
                <a:ext uri="{FF2B5EF4-FFF2-40B4-BE49-F238E27FC236}">
                  <a16:creationId xmlns:a16="http://schemas.microsoft.com/office/drawing/2014/main" id="{518D738A-CE8C-F1E9-55FA-D858B9EAE98E}"/>
                </a:ext>
              </a:extLst>
            </p:cNvPr>
            <p:cNvSpPr/>
            <p:nvPr/>
          </p:nvSpPr>
          <p:spPr>
            <a:xfrm>
              <a:off x="6941"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70" name="TextBox 69">
              <a:extLst>
                <a:ext uri="{FF2B5EF4-FFF2-40B4-BE49-F238E27FC236}">
                  <a16:creationId xmlns:a16="http://schemas.microsoft.com/office/drawing/2014/main" id="{13AB56C0-97B9-76D5-8C7E-8A666445EEA6}"/>
                </a:ext>
              </a:extLst>
            </p:cNvPr>
            <p:cNvSpPr txBox="1"/>
            <p:nvPr/>
          </p:nvSpPr>
          <p:spPr>
            <a:xfrm>
              <a:off x="6941" y="2999246"/>
              <a:ext cx="1733356"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dirty="0">
                  <a:ln>
                    <a:noFill/>
                  </a:ln>
                  <a:solidFill>
                    <a:prstClr val="white"/>
                  </a:solidFill>
                  <a:effectLst/>
                  <a:uLnTx/>
                  <a:uFillTx/>
                  <a:cs typeface="Segoe UI" panose="020B0502040204020203" pitchFamily="34" charset="0"/>
                </a:rPr>
                <a:t>Activity Logging</a:t>
              </a:r>
            </a:p>
          </p:txBody>
        </p:sp>
      </p:grpSp>
      <p:grpSp>
        <p:nvGrpSpPr>
          <p:cNvPr id="71" name="Group 70">
            <a:extLst>
              <a:ext uri="{FF2B5EF4-FFF2-40B4-BE49-F238E27FC236}">
                <a16:creationId xmlns:a16="http://schemas.microsoft.com/office/drawing/2014/main" id="{6812A91D-70E8-8C51-C959-709B56F860E4}"/>
              </a:ext>
            </a:extLst>
          </p:cNvPr>
          <p:cNvGrpSpPr/>
          <p:nvPr/>
        </p:nvGrpSpPr>
        <p:grpSpPr>
          <a:xfrm>
            <a:off x="7168552" y="1318053"/>
            <a:ext cx="2461366" cy="1837358"/>
            <a:chOff x="2884829" y="1161888"/>
            <a:chExt cx="2461366" cy="1837358"/>
          </a:xfrm>
        </p:grpSpPr>
        <p:sp>
          <p:nvSpPr>
            <p:cNvPr id="72" name="Rectangle: Top Corners Rounded 71">
              <a:extLst>
                <a:ext uri="{FF2B5EF4-FFF2-40B4-BE49-F238E27FC236}">
                  <a16:creationId xmlns:a16="http://schemas.microsoft.com/office/drawing/2014/main" id="{50BC02E8-887A-BAD0-0F3E-5F6073690842}"/>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endParaRPr>
            </a:p>
          </p:txBody>
        </p:sp>
        <p:sp>
          <p:nvSpPr>
            <p:cNvPr id="73" name="Rectangle: Top Corners Rounded 4">
              <a:extLst>
                <a:ext uri="{FF2B5EF4-FFF2-40B4-BE49-F238E27FC236}">
                  <a16:creationId xmlns:a16="http://schemas.microsoft.com/office/drawing/2014/main" id="{FF3B5B24-C386-D9BE-9A32-A77729D059DA}"/>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Activities performed on Environments by the Power Platform Administrator </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Lifecycle operations, property and setting change activities, security and permission change activities</a:t>
              </a:r>
            </a:p>
          </p:txBody>
        </p:sp>
      </p:grpSp>
      <p:grpSp>
        <p:nvGrpSpPr>
          <p:cNvPr id="74" name="Group 73">
            <a:extLst>
              <a:ext uri="{FF2B5EF4-FFF2-40B4-BE49-F238E27FC236}">
                <a16:creationId xmlns:a16="http://schemas.microsoft.com/office/drawing/2014/main" id="{AECF9862-01B8-9D5A-1226-B37CD8BCD598}"/>
              </a:ext>
            </a:extLst>
          </p:cNvPr>
          <p:cNvGrpSpPr/>
          <p:nvPr/>
        </p:nvGrpSpPr>
        <p:grpSpPr>
          <a:xfrm>
            <a:off x="7168552" y="3155411"/>
            <a:ext cx="2461366" cy="790063"/>
            <a:chOff x="2884829" y="2999246"/>
            <a:chExt cx="2461366" cy="790063"/>
          </a:xfrm>
          <a:solidFill>
            <a:schemeClr val="accent6">
              <a:lumMod val="75000"/>
            </a:schemeClr>
          </a:solidFill>
        </p:grpSpPr>
        <p:sp>
          <p:nvSpPr>
            <p:cNvPr id="75" name="Rectangle 74">
              <a:extLst>
                <a:ext uri="{FF2B5EF4-FFF2-40B4-BE49-F238E27FC236}">
                  <a16:creationId xmlns:a16="http://schemas.microsoft.com/office/drawing/2014/main" id="{9D55DB47-594F-CE3B-A465-E2B878F2048B}"/>
                </a:ext>
              </a:extLst>
            </p:cNvPr>
            <p:cNvSpPr/>
            <p:nvPr/>
          </p:nvSpPr>
          <p:spPr>
            <a:xfrm>
              <a:off x="2884829" y="2999246"/>
              <a:ext cx="2461366" cy="790063"/>
            </a:xfrm>
            <a:prstGeom prst="rect">
              <a:avLst/>
            </a:prstGeom>
            <a:grp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76" name="TextBox 75">
              <a:extLst>
                <a:ext uri="{FF2B5EF4-FFF2-40B4-BE49-F238E27FC236}">
                  <a16:creationId xmlns:a16="http://schemas.microsoft.com/office/drawing/2014/main" id="{B87965ED-D65D-A0B5-69C1-4408A6AC695C}"/>
                </a:ext>
              </a:extLst>
            </p:cNvPr>
            <p:cNvSpPr txBox="1"/>
            <p:nvPr/>
          </p:nvSpPr>
          <p:spPr>
            <a:xfrm>
              <a:off x="2884829" y="2999246"/>
              <a:ext cx="1733356" cy="790063"/>
            </a:xfrm>
            <a:prstGeom prst="rect">
              <a:avLst/>
            </a:prstGeom>
            <a:grpFill/>
            <a:ln>
              <a:solidFill>
                <a:schemeClr val="accent6">
                  <a:lumMod val="75000"/>
                </a:scheme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noProof="0" dirty="0">
                  <a:ln>
                    <a:noFill/>
                  </a:ln>
                  <a:solidFill>
                    <a:prstClr val="white"/>
                  </a:solidFill>
                  <a:effectLst/>
                  <a:uLnTx/>
                  <a:uFillTx/>
                  <a:cs typeface="Segoe UI" panose="020B0502040204020203" pitchFamily="34" charset="0"/>
                </a:rPr>
                <a:t>Admin Activity Logging</a:t>
              </a:r>
            </a:p>
          </p:txBody>
        </p:sp>
      </p:grpSp>
      <p:grpSp>
        <p:nvGrpSpPr>
          <p:cNvPr id="77" name="Group 76">
            <a:extLst>
              <a:ext uri="{FF2B5EF4-FFF2-40B4-BE49-F238E27FC236}">
                <a16:creationId xmlns:a16="http://schemas.microsoft.com/office/drawing/2014/main" id="{362F04AF-41EB-6858-0ACB-F23657A3712E}"/>
              </a:ext>
            </a:extLst>
          </p:cNvPr>
          <p:cNvGrpSpPr/>
          <p:nvPr/>
        </p:nvGrpSpPr>
        <p:grpSpPr>
          <a:xfrm>
            <a:off x="1636906" y="4068940"/>
            <a:ext cx="8035985" cy="645917"/>
            <a:chOff x="5762718" y="1161888"/>
            <a:chExt cx="2461366" cy="1837358"/>
          </a:xfrm>
        </p:grpSpPr>
        <p:sp>
          <p:nvSpPr>
            <p:cNvPr id="78" name="Rectangle: Top Corners Rounded 77">
              <a:extLst>
                <a:ext uri="{FF2B5EF4-FFF2-40B4-BE49-F238E27FC236}">
                  <a16:creationId xmlns:a16="http://schemas.microsoft.com/office/drawing/2014/main" id="{2521EA48-F053-0E2B-A633-0699CFDC148E}"/>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endParaRPr>
            </a:p>
          </p:txBody>
        </p:sp>
        <p:sp>
          <p:nvSpPr>
            <p:cNvPr id="79" name="Rectangle: Top Corners Rounded 4">
              <a:extLst>
                <a:ext uri="{FF2B5EF4-FFF2-40B4-BE49-F238E27FC236}">
                  <a16:creationId xmlns:a16="http://schemas.microsoft.com/office/drawing/2014/main" id="{4CFDC11A-52FD-C2F5-661A-376705C1264E}"/>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Capture, record, discover and retain your organization's unified audit log</a:t>
              </a:r>
            </a:p>
          </p:txBody>
        </p:sp>
      </p:grpSp>
      <p:grpSp>
        <p:nvGrpSpPr>
          <p:cNvPr id="80" name="Group 79">
            <a:extLst>
              <a:ext uri="{FF2B5EF4-FFF2-40B4-BE49-F238E27FC236}">
                <a16:creationId xmlns:a16="http://schemas.microsoft.com/office/drawing/2014/main" id="{8D9C59FA-66B3-5DA0-4A39-259B3ED56D32}"/>
              </a:ext>
            </a:extLst>
          </p:cNvPr>
          <p:cNvGrpSpPr/>
          <p:nvPr/>
        </p:nvGrpSpPr>
        <p:grpSpPr>
          <a:xfrm>
            <a:off x="1644831" y="4714857"/>
            <a:ext cx="8028059" cy="497049"/>
            <a:chOff x="5762718" y="2999246"/>
            <a:chExt cx="2461366" cy="790063"/>
          </a:xfrm>
          <a:solidFill>
            <a:schemeClr val="bg1">
              <a:lumMod val="75000"/>
            </a:schemeClr>
          </a:solidFill>
        </p:grpSpPr>
        <p:sp>
          <p:nvSpPr>
            <p:cNvPr id="81" name="Rectangle 80">
              <a:extLst>
                <a:ext uri="{FF2B5EF4-FFF2-40B4-BE49-F238E27FC236}">
                  <a16:creationId xmlns:a16="http://schemas.microsoft.com/office/drawing/2014/main" id="{6BC2710F-5892-5384-C174-6156EA471A26}"/>
                </a:ext>
              </a:extLst>
            </p:cNvPr>
            <p:cNvSpPr/>
            <p:nvPr/>
          </p:nvSpPr>
          <p:spPr>
            <a:xfrm>
              <a:off x="5762718" y="2999246"/>
              <a:ext cx="2461366" cy="790063"/>
            </a:xfrm>
            <a:prstGeom prst="rect">
              <a:avLst/>
            </a:prstGeom>
            <a:grp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82" name="TextBox 81">
              <a:extLst>
                <a:ext uri="{FF2B5EF4-FFF2-40B4-BE49-F238E27FC236}">
                  <a16:creationId xmlns:a16="http://schemas.microsoft.com/office/drawing/2014/main" id="{7E200F02-2DC1-15CB-4B97-0A0C47A8F238}"/>
                </a:ext>
              </a:extLst>
            </p:cNvPr>
            <p:cNvSpPr txBox="1"/>
            <p:nvPr/>
          </p:nvSpPr>
          <p:spPr>
            <a:xfrm>
              <a:off x="5762718" y="2999246"/>
              <a:ext cx="1733356" cy="790063"/>
            </a:xfrm>
            <a:prstGeom prst="rect">
              <a:avLst/>
            </a:prstGeom>
            <a:grpFill/>
            <a:ln>
              <a:solidFill>
                <a:schemeClr val="bg1">
                  <a:lumMod val="75000"/>
                </a:scheme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dirty="0">
                  <a:ln>
                    <a:noFill/>
                  </a:ln>
                  <a:solidFill>
                    <a:prstClr val="white"/>
                  </a:solidFill>
                  <a:effectLst/>
                  <a:uLnTx/>
                  <a:uFillTx/>
                  <a:cs typeface="Segoe UI" panose="020B0502040204020203" pitchFamily="34" charset="0"/>
                </a:rPr>
                <a:t>Microsoft Purview Audit</a:t>
              </a:r>
            </a:p>
          </p:txBody>
        </p:sp>
      </p:grpSp>
      <p:pic>
        <p:nvPicPr>
          <p:cNvPr id="83" name="Picture 82">
            <a:extLst>
              <a:ext uri="{FF2B5EF4-FFF2-40B4-BE49-F238E27FC236}">
                <a16:creationId xmlns:a16="http://schemas.microsoft.com/office/drawing/2014/main" id="{8A693FAE-FFC7-3523-D677-B4DDD21842D2}"/>
              </a:ext>
            </a:extLst>
          </p:cNvPr>
          <p:cNvPicPr>
            <a:picLocks noChangeAspect="1"/>
          </p:cNvPicPr>
          <p:nvPr/>
        </p:nvPicPr>
        <p:blipFill>
          <a:blip r:embed="rId2"/>
          <a:stretch>
            <a:fillRect/>
          </a:stretch>
        </p:blipFill>
        <p:spPr>
          <a:xfrm>
            <a:off x="3399470" y="3231833"/>
            <a:ext cx="640080" cy="640080"/>
          </a:xfrm>
          <a:prstGeom prst="rect">
            <a:avLst/>
          </a:prstGeom>
        </p:spPr>
      </p:pic>
      <p:pic>
        <p:nvPicPr>
          <p:cNvPr id="84" name="Picture 83">
            <a:extLst>
              <a:ext uri="{FF2B5EF4-FFF2-40B4-BE49-F238E27FC236}">
                <a16:creationId xmlns:a16="http://schemas.microsoft.com/office/drawing/2014/main" id="{3BEADABE-F1B4-8459-A03B-460D3C0399D1}"/>
              </a:ext>
            </a:extLst>
          </p:cNvPr>
          <p:cNvPicPr>
            <a:picLocks noChangeAspect="1"/>
          </p:cNvPicPr>
          <p:nvPr/>
        </p:nvPicPr>
        <p:blipFill>
          <a:blip r:embed="rId3"/>
          <a:stretch>
            <a:fillRect/>
          </a:stretch>
        </p:blipFill>
        <p:spPr>
          <a:xfrm>
            <a:off x="6162487" y="3249256"/>
            <a:ext cx="640080" cy="640080"/>
          </a:xfrm>
          <a:prstGeom prst="rect">
            <a:avLst/>
          </a:prstGeom>
        </p:spPr>
      </p:pic>
      <p:pic>
        <p:nvPicPr>
          <p:cNvPr id="85" name="Picture 84">
            <a:extLst>
              <a:ext uri="{FF2B5EF4-FFF2-40B4-BE49-F238E27FC236}">
                <a16:creationId xmlns:a16="http://schemas.microsoft.com/office/drawing/2014/main" id="{484E8225-D7FD-1BC4-5DAF-BFD6CAAC65D0}"/>
              </a:ext>
            </a:extLst>
          </p:cNvPr>
          <p:cNvPicPr>
            <a:picLocks noChangeAspect="1"/>
          </p:cNvPicPr>
          <p:nvPr/>
        </p:nvPicPr>
        <p:blipFill>
          <a:blip r:embed="rId4"/>
          <a:stretch>
            <a:fillRect/>
          </a:stretch>
        </p:blipFill>
        <p:spPr>
          <a:xfrm>
            <a:off x="8967794" y="3230402"/>
            <a:ext cx="640080" cy="640080"/>
          </a:xfrm>
          <a:prstGeom prst="rect">
            <a:avLst/>
          </a:prstGeom>
        </p:spPr>
      </p:pic>
      <p:pic>
        <p:nvPicPr>
          <p:cNvPr id="86" name="Picture 85">
            <a:extLst>
              <a:ext uri="{FF2B5EF4-FFF2-40B4-BE49-F238E27FC236}">
                <a16:creationId xmlns:a16="http://schemas.microsoft.com/office/drawing/2014/main" id="{8CEBC623-1AF0-F1A8-7EDB-74BD49A6DC92}"/>
              </a:ext>
            </a:extLst>
          </p:cNvPr>
          <p:cNvPicPr>
            <a:picLocks noChangeAspect="1"/>
          </p:cNvPicPr>
          <p:nvPr/>
        </p:nvPicPr>
        <p:blipFill>
          <a:blip r:embed="rId5"/>
          <a:stretch>
            <a:fillRect/>
          </a:stretch>
        </p:blipFill>
        <p:spPr>
          <a:xfrm>
            <a:off x="9221106" y="4787614"/>
            <a:ext cx="365760" cy="365760"/>
          </a:xfrm>
          <a:prstGeom prst="rect">
            <a:avLst/>
          </a:prstGeom>
        </p:spPr>
      </p:pic>
      <p:sp>
        <p:nvSpPr>
          <p:cNvPr id="87" name="Explosion: 8 Points 86">
            <a:extLst>
              <a:ext uri="{FF2B5EF4-FFF2-40B4-BE49-F238E27FC236}">
                <a16:creationId xmlns:a16="http://schemas.microsoft.com/office/drawing/2014/main" id="{33EAD716-6EB4-0B43-E692-1239DAAB9CE7}"/>
              </a:ext>
            </a:extLst>
          </p:cNvPr>
          <p:cNvSpPr/>
          <p:nvPr/>
        </p:nvSpPr>
        <p:spPr>
          <a:xfrm>
            <a:off x="-21565" y="4272679"/>
            <a:ext cx="2002766" cy="1613771"/>
          </a:xfrm>
          <a:prstGeom prst="irregularSeal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cs typeface="Segoe UI Semibold" panose="020B0702040204020203" pitchFamily="34" charset="0"/>
              </a:rPr>
              <a:t>Everything is audited in </a:t>
            </a:r>
            <a:r>
              <a:rPr lang="en-US" sz="1600" dirty="0" err="1">
                <a:cs typeface="Segoe UI Semibold" panose="020B0702040204020203" pitchFamily="34" charset="0"/>
              </a:rPr>
              <a:t>th</a:t>
            </a:r>
            <a:r>
              <a:rPr lang="en-US" sz="1600" dirty="0">
                <a:cs typeface="Segoe UI Semibold" panose="020B0702040204020203" pitchFamily="34" charset="0"/>
              </a:rPr>
              <a:t> PP!</a:t>
            </a:r>
          </a:p>
        </p:txBody>
      </p:sp>
    </p:spTree>
    <p:extLst>
      <p:ext uri="{BB962C8B-B14F-4D97-AF65-F5344CB8AC3E}">
        <p14:creationId xmlns:p14="http://schemas.microsoft.com/office/powerpoint/2010/main" val="197515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580">
                                          <p:stCondLst>
                                            <p:cond delay="0"/>
                                          </p:stCondLst>
                                        </p:cTn>
                                        <p:tgtEl>
                                          <p:spTgt spid="87"/>
                                        </p:tgtEl>
                                      </p:cBhvr>
                                    </p:animEffect>
                                    <p:anim calcmode="lin" valueType="num">
                                      <p:cBhvr>
                                        <p:cTn id="8" dur="1822" tmFilter="0,0; 0.14,0.36; 0.43,0.73; 0.71,0.91; 1.0,1.0">
                                          <p:stCondLst>
                                            <p:cond delay="0"/>
                                          </p:stCondLst>
                                        </p:cTn>
                                        <p:tgtEl>
                                          <p:spTgt spid="8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7"/>
                                        </p:tgtEl>
                                        <p:attrNameLst>
                                          <p:attrName>ppt_y</p:attrName>
                                        </p:attrNameLst>
                                      </p:cBhvr>
                                      <p:tavLst>
                                        <p:tav tm="0" fmla="#ppt_y-sin(pi*$)/81">
                                          <p:val>
                                            <p:fltVal val="0"/>
                                          </p:val>
                                        </p:tav>
                                        <p:tav tm="100000">
                                          <p:val>
                                            <p:fltVal val="1"/>
                                          </p:val>
                                        </p:tav>
                                      </p:tavLst>
                                    </p:anim>
                                    <p:animScale>
                                      <p:cBhvr>
                                        <p:cTn id="13" dur="26">
                                          <p:stCondLst>
                                            <p:cond delay="650"/>
                                          </p:stCondLst>
                                        </p:cTn>
                                        <p:tgtEl>
                                          <p:spTgt spid="87"/>
                                        </p:tgtEl>
                                      </p:cBhvr>
                                      <p:to x="100000" y="60000"/>
                                    </p:animScale>
                                    <p:animScale>
                                      <p:cBhvr>
                                        <p:cTn id="14" dur="166" decel="50000">
                                          <p:stCondLst>
                                            <p:cond delay="676"/>
                                          </p:stCondLst>
                                        </p:cTn>
                                        <p:tgtEl>
                                          <p:spTgt spid="87"/>
                                        </p:tgtEl>
                                      </p:cBhvr>
                                      <p:to x="100000" y="100000"/>
                                    </p:animScale>
                                    <p:animScale>
                                      <p:cBhvr>
                                        <p:cTn id="15" dur="26">
                                          <p:stCondLst>
                                            <p:cond delay="1312"/>
                                          </p:stCondLst>
                                        </p:cTn>
                                        <p:tgtEl>
                                          <p:spTgt spid="87"/>
                                        </p:tgtEl>
                                      </p:cBhvr>
                                      <p:to x="100000" y="80000"/>
                                    </p:animScale>
                                    <p:animScale>
                                      <p:cBhvr>
                                        <p:cTn id="16" dur="166" decel="50000">
                                          <p:stCondLst>
                                            <p:cond delay="1338"/>
                                          </p:stCondLst>
                                        </p:cTn>
                                        <p:tgtEl>
                                          <p:spTgt spid="87"/>
                                        </p:tgtEl>
                                      </p:cBhvr>
                                      <p:to x="100000" y="100000"/>
                                    </p:animScale>
                                    <p:animScale>
                                      <p:cBhvr>
                                        <p:cTn id="17" dur="26">
                                          <p:stCondLst>
                                            <p:cond delay="1642"/>
                                          </p:stCondLst>
                                        </p:cTn>
                                        <p:tgtEl>
                                          <p:spTgt spid="87"/>
                                        </p:tgtEl>
                                      </p:cBhvr>
                                      <p:to x="100000" y="90000"/>
                                    </p:animScale>
                                    <p:animScale>
                                      <p:cBhvr>
                                        <p:cTn id="18" dur="166" decel="50000">
                                          <p:stCondLst>
                                            <p:cond delay="1668"/>
                                          </p:stCondLst>
                                        </p:cTn>
                                        <p:tgtEl>
                                          <p:spTgt spid="87"/>
                                        </p:tgtEl>
                                      </p:cBhvr>
                                      <p:to x="100000" y="100000"/>
                                    </p:animScale>
                                    <p:animScale>
                                      <p:cBhvr>
                                        <p:cTn id="19" dur="26">
                                          <p:stCondLst>
                                            <p:cond delay="1808"/>
                                          </p:stCondLst>
                                        </p:cTn>
                                        <p:tgtEl>
                                          <p:spTgt spid="87"/>
                                        </p:tgtEl>
                                      </p:cBhvr>
                                      <p:to x="100000" y="95000"/>
                                    </p:animScale>
                                    <p:animScale>
                                      <p:cBhvr>
                                        <p:cTn id="20" dur="166" decel="50000">
                                          <p:stCondLst>
                                            <p:cond delay="1834"/>
                                          </p:stCondLst>
                                        </p:cTn>
                                        <p:tgtEl>
                                          <p:spTgt spid="8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97E2E-44A5-A8A3-9EF5-0F78CD55DD11}"/>
            </a:ext>
          </a:extLst>
        </p:cNvPr>
        <p:cNvGrpSpPr/>
        <p:nvPr/>
      </p:nvGrpSpPr>
      <p:grpSpPr>
        <a:xfrm>
          <a:off x="0" y="0"/>
          <a:ext cx="0" cy="0"/>
          <a:chOff x="0" y="0"/>
          <a:chExt cx="0" cy="0"/>
        </a:xfrm>
      </p:grpSpPr>
      <p:pic>
        <p:nvPicPr>
          <p:cNvPr id="2" name="Imagen 2">
            <a:extLst>
              <a:ext uri="{FF2B5EF4-FFF2-40B4-BE49-F238E27FC236}">
                <a16:creationId xmlns:a16="http://schemas.microsoft.com/office/drawing/2014/main" id="{9725E0DC-9FBD-AD55-947B-B7A897BE7291}"/>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6096000" y="86259"/>
            <a:ext cx="2901552" cy="2904591"/>
          </a:xfrm>
          <a:prstGeom prst="rect">
            <a:avLst/>
          </a:prstGeom>
        </p:spPr>
      </p:pic>
      <p:sp>
        <p:nvSpPr>
          <p:cNvPr id="3" name="Marcador de texto 4">
            <a:extLst>
              <a:ext uri="{FF2B5EF4-FFF2-40B4-BE49-F238E27FC236}">
                <a16:creationId xmlns:a16="http://schemas.microsoft.com/office/drawing/2014/main" id="{989CFE43-266F-817E-7E7E-30A03A854AC5}"/>
              </a:ext>
            </a:extLst>
          </p:cNvPr>
          <p:cNvSpPr txBox="1">
            <a:spLocks/>
          </p:cNvSpPr>
          <p:nvPr/>
        </p:nvSpPr>
        <p:spPr>
          <a:xfrm>
            <a:off x="4419600" y="3321389"/>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effectLst/>
                <a:uLnTx/>
                <a:uFillTx/>
                <a:ea typeface="+mn-ea"/>
                <a:cs typeface="Segoe UI Semibold" panose="020B0702040204020203" pitchFamily="34" charset="0"/>
              </a:rPr>
              <a:t>Demo #5: </a:t>
            </a:r>
            <a:r>
              <a:rPr lang="en-US" sz="3600" b="1" dirty="0">
                <a:cs typeface="Segoe UI Semibold" panose="020B0702040204020203" pitchFamily="34" charset="0"/>
              </a:rPr>
              <a:t>Data Protection &amp; Increase Visibility</a:t>
            </a:r>
            <a:endParaRPr kumimoji="0" lang="en-US" sz="3600" b="1" i="0" u="none" strike="noStrike" kern="1200" cap="none" spc="0" normalizeH="0" baseline="0" noProof="0" dirty="0">
              <a:ln>
                <a:noFill/>
              </a:ln>
              <a:effectLst/>
              <a:uLnTx/>
              <a:uFillTx/>
              <a:cs typeface="Segoe UI Semibold" panose="020B07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effectLst/>
              <a:uLnTx/>
              <a:uFillTx/>
              <a:ea typeface="+mn-ea"/>
              <a:cs typeface="+mn-cs"/>
            </a:endParaRPr>
          </a:p>
        </p:txBody>
      </p:sp>
      <p:pic>
        <p:nvPicPr>
          <p:cNvPr id="4" name="Picture 18" descr="Minion clipart transparent background, Minion transparent background  Transparent FREE for download on WebStockReview 2021">
            <a:extLst>
              <a:ext uri="{FF2B5EF4-FFF2-40B4-BE49-F238E27FC236}">
                <a16:creationId xmlns:a16="http://schemas.microsoft.com/office/drawing/2014/main" id="{3F689A77-9B0F-2534-8E78-22D34BD3C1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6259"/>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2307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B343D-79D2-3551-C447-0BD5403558C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B759DC-AA15-2284-A4D2-155D9F7D0989}"/>
              </a:ext>
            </a:extLst>
          </p:cNvPr>
          <p:cNvSpPr>
            <a:spLocks noGrp="1"/>
          </p:cNvSpPr>
          <p:nvPr>
            <p:ph type="body" sz="quarter" idx="10"/>
          </p:nvPr>
        </p:nvSpPr>
        <p:spPr>
          <a:xfrm>
            <a:off x="537136" y="276271"/>
            <a:ext cx="9673664" cy="541810"/>
          </a:xfrm>
        </p:spPr>
        <p:txBody>
          <a:bodyPr>
            <a:normAutofit/>
          </a:bodyPr>
          <a:lstStyle/>
          <a:p>
            <a:r>
              <a:rPr lang="en-US" sz="2400" noProof="0" dirty="0"/>
              <a:t>Data Protection + Increase Visibility: Key Learnings</a:t>
            </a:r>
          </a:p>
        </p:txBody>
      </p:sp>
      <p:sp>
        <p:nvSpPr>
          <p:cNvPr id="3" name="Content Placeholder 2">
            <a:extLst>
              <a:ext uri="{FF2B5EF4-FFF2-40B4-BE49-F238E27FC236}">
                <a16:creationId xmlns:a16="http://schemas.microsoft.com/office/drawing/2014/main" id="{30331865-A609-127D-7CB1-DD747D9E589D}"/>
              </a:ext>
            </a:extLst>
          </p:cNvPr>
          <p:cNvSpPr>
            <a:spLocks noGrp="1"/>
          </p:cNvSpPr>
          <p:nvPr>
            <p:ph sz="quarter" idx="11"/>
          </p:nvPr>
        </p:nvSpPr>
        <p:spPr/>
        <p:txBody>
          <a:bodyPr>
            <a:normAutofit/>
          </a:bodyPr>
          <a:lstStyle/>
          <a:p>
            <a:pPr marL="171450" indent="-171450" defTabSz="932742">
              <a:spcBef>
                <a:spcPts val="0"/>
              </a:spcBef>
              <a:buSzPct val="90000"/>
              <a:defRPr/>
            </a:pPr>
            <a:r>
              <a:rPr lang="en-US" sz="2200" dirty="0">
                <a:ln w="3175"/>
                <a:latin typeface="Arial" panose="020B0604020202020204" pitchFamily="34" charset="0"/>
                <a:cs typeface="Arial" panose="020B0604020202020204" pitchFamily="34" charset="0"/>
              </a:rPr>
              <a:t>Manage @scale with proper environment strategy and corresponding </a:t>
            </a:r>
            <a:r>
              <a:rPr lang="en-US" sz="2200" dirty="0">
                <a:ln w="3175"/>
                <a:latin typeface="Arial" panose="020B0604020202020204" pitchFamily="34" charset="0"/>
                <a:cs typeface="Arial" panose="020B0604020202020204" pitchFamily="34" charset="0"/>
                <a:hlinkClick r:id="rId2"/>
              </a:rPr>
              <a:t>data exfiltration prevention policies</a:t>
            </a:r>
            <a:r>
              <a:rPr lang="en-US" sz="2200" dirty="0">
                <a:ln w="3175"/>
                <a:latin typeface="Arial" panose="020B0604020202020204" pitchFamily="34" charset="0"/>
                <a:cs typeface="Arial" panose="020B0604020202020204" pitchFamily="34" charset="0"/>
              </a:rPr>
              <a:t> &amp; </a:t>
            </a:r>
            <a:r>
              <a:rPr lang="en-US" sz="2200" dirty="0">
                <a:ln w="3175"/>
                <a:latin typeface="Arial" panose="020B0604020202020204" pitchFamily="34" charset="0"/>
                <a:cs typeface="Arial" panose="020B0604020202020204" pitchFamily="34" charset="0"/>
                <a:hlinkClick r:id="rId3"/>
              </a:rPr>
              <a:t>ALM</a:t>
            </a:r>
            <a:endParaRPr lang="en-US" sz="2200" dirty="0">
              <a:ln w="3175"/>
              <a:latin typeface="Arial" panose="020B0604020202020204" pitchFamily="34" charset="0"/>
              <a:cs typeface="Arial" panose="020B0604020202020204" pitchFamily="34" charset="0"/>
            </a:endParaRP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2200" dirty="0">
                <a:ln w="3175"/>
                <a:latin typeface="Arial" panose="020B0604020202020204" pitchFamily="34" charset="0"/>
                <a:cs typeface="Arial" panose="020B0604020202020204" pitchFamily="34" charset="0"/>
              </a:rPr>
              <a:t>Leverage </a:t>
            </a:r>
            <a:r>
              <a:rPr lang="en-US" sz="2200" dirty="0">
                <a:ln w="3175"/>
                <a:latin typeface="Arial" panose="020B0604020202020204" pitchFamily="34" charset="0"/>
                <a:cs typeface="Arial" panose="020B0604020202020204" pitchFamily="34" charset="0"/>
                <a:hlinkClick r:id="rId4"/>
              </a:rPr>
              <a:t>analytics</a:t>
            </a:r>
            <a:r>
              <a:rPr lang="en-US" sz="2200" dirty="0">
                <a:ln w="3175"/>
                <a:latin typeface="Arial" panose="020B0604020202020204" pitchFamily="34" charset="0"/>
                <a:cs typeface="Arial" panose="020B0604020202020204" pitchFamily="34" charset="0"/>
              </a:rPr>
              <a:t>, </a:t>
            </a:r>
            <a:r>
              <a:rPr lang="en-US" sz="2200" dirty="0">
                <a:ln w="3175"/>
                <a:latin typeface="Arial" panose="020B0604020202020204" pitchFamily="34" charset="0"/>
                <a:cs typeface="Arial" panose="020B0604020202020204" pitchFamily="34" charset="0"/>
                <a:hlinkClick r:id="rId5"/>
              </a:rPr>
              <a:t>audit</a:t>
            </a:r>
            <a:r>
              <a:rPr lang="en-US" sz="2200" dirty="0">
                <a:ln w="3175"/>
                <a:latin typeface="Arial" panose="020B0604020202020204" pitchFamily="34" charset="0"/>
                <a:cs typeface="Arial" panose="020B0604020202020204" pitchFamily="34" charset="0"/>
              </a:rPr>
              <a:t> and </a:t>
            </a:r>
            <a:r>
              <a:rPr lang="en-US" sz="2200" dirty="0">
                <a:ln w="3175"/>
                <a:latin typeface="Arial" panose="020B0604020202020204" pitchFamily="34" charset="0"/>
                <a:cs typeface="Arial" panose="020B0604020202020204" pitchFamily="34" charset="0"/>
                <a:hlinkClick r:id="rId6"/>
              </a:rPr>
              <a:t>threat detection</a:t>
            </a:r>
            <a:r>
              <a:rPr lang="en-US" sz="2200" dirty="0">
                <a:ln w="3175"/>
                <a:latin typeface="Arial" panose="020B0604020202020204" pitchFamily="34" charset="0"/>
                <a:cs typeface="Arial" panose="020B0604020202020204" pitchFamily="34" charset="0"/>
              </a:rPr>
              <a:t> solutions to get deep visibility into activity on the platform </a:t>
            </a:r>
          </a:p>
          <a:p>
            <a:endParaRPr lang="en-US" dirty="0"/>
          </a:p>
        </p:txBody>
      </p:sp>
    </p:spTree>
    <p:extLst>
      <p:ext uri="{BB962C8B-B14F-4D97-AF65-F5344CB8AC3E}">
        <p14:creationId xmlns:p14="http://schemas.microsoft.com/office/powerpoint/2010/main" val="18152305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4C525-7E00-73EA-EEA0-3FD219E6DA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94F292A-5105-C1E9-606B-E66214538D37}"/>
              </a:ext>
            </a:extLst>
          </p:cNvPr>
          <p:cNvSpPr>
            <a:spLocks noGrp="1"/>
          </p:cNvSpPr>
          <p:nvPr>
            <p:ph type="body" sz="quarter" idx="10"/>
          </p:nvPr>
        </p:nvSpPr>
        <p:spPr>
          <a:xfrm>
            <a:off x="537136" y="276271"/>
            <a:ext cx="9673664" cy="541810"/>
          </a:xfrm>
        </p:spPr>
        <p:txBody>
          <a:bodyPr>
            <a:normAutofit/>
          </a:bodyPr>
          <a:lstStyle/>
          <a:p>
            <a:r>
              <a:rPr lang="en-US" sz="2400" noProof="0" dirty="0"/>
              <a:t>Data Protection + Compliance</a:t>
            </a:r>
          </a:p>
        </p:txBody>
      </p:sp>
      <p:grpSp>
        <p:nvGrpSpPr>
          <p:cNvPr id="6" name="Group 5">
            <a:extLst>
              <a:ext uri="{FF2B5EF4-FFF2-40B4-BE49-F238E27FC236}">
                <a16:creationId xmlns:a16="http://schemas.microsoft.com/office/drawing/2014/main" id="{57FECB71-4D06-0E05-E4A4-CC193B9D21ED}"/>
              </a:ext>
            </a:extLst>
          </p:cNvPr>
          <p:cNvGrpSpPr/>
          <p:nvPr/>
        </p:nvGrpSpPr>
        <p:grpSpPr>
          <a:xfrm>
            <a:off x="1781682" y="1585814"/>
            <a:ext cx="2461366" cy="2064386"/>
            <a:chOff x="8640607" y="1161888"/>
            <a:chExt cx="2461366" cy="1837358"/>
          </a:xfrm>
        </p:grpSpPr>
        <p:sp>
          <p:nvSpPr>
            <p:cNvPr id="7" name="Rectangle: Top Corners Rounded 6">
              <a:extLst>
                <a:ext uri="{FF2B5EF4-FFF2-40B4-BE49-F238E27FC236}">
                  <a16:creationId xmlns:a16="http://schemas.microsoft.com/office/drawing/2014/main" id="{383A911B-AC33-C50B-CDC7-F39D1A1EA7C6}"/>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8" name="Rectangle: Top Corners Rounded 4">
              <a:extLst>
                <a:ext uri="{FF2B5EF4-FFF2-40B4-BE49-F238E27FC236}">
                  <a16:creationId xmlns:a16="http://schemas.microsoft.com/office/drawing/2014/main" id="{52B1ABB2-5A79-62A6-277C-4AAC9807D984}"/>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Encryption - last and strongest line of defense in a multi-layered data security strategy</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Available out of the box for all data/storage types </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cs typeface="Segoe UI" panose="020B0502040204020203" pitchFamily="34" charset="0"/>
              </a:endParaRPr>
            </a:p>
          </p:txBody>
        </p:sp>
      </p:grpSp>
      <p:grpSp>
        <p:nvGrpSpPr>
          <p:cNvPr id="9" name="Group 8">
            <a:extLst>
              <a:ext uri="{FF2B5EF4-FFF2-40B4-BE49-F238E27FC236}">
                <a16:creationId xmlns:a16="http://schemas.microsoft.com/office/drawing/2014/main" id="{6FD35617-2D0F-86B3-63F5-72E19824328E}"/>
              </a:ext>
            </a:extLst>
          </p:cNvPr>
          <p:cNvGrpSpPr/>
          <p:nvPr/>
        </p:nvGrpSpPr>
        <p:grpSpPr>
          <a:xfrm>
            <a:off x="1779894" y="3653803"/>
            <a:ext cx="2461366" cy="790063"/>
            <a:chOff x="8632682" y="3002849"/>
            <a:chExt cx="2461366" cy="790063"/>
          </a:xfrm>
          <a:solidFill>
            <a:schemeClr val="bg1">
              <a:lumMod val="75000"/>
            </a:schemeClr>
          </a:solidFill>
        </p:grpSpPr>
        <p:sp>
          <p:nvSpPr>
            <p:cNvPr id="10" name="Rectangle 9">
              <a:extLst>
                <a:ext uri="{FF2B5EF4-FFF2-40B4-BE49-F238E27FC236}">
                  <a16:creationId xmlns:a16="http://schemas.microsoft.com/office/drawing/2014/main" id="{3B1D9B4B-91DD-34A7-64BD-39F2FC9F4AF1}"/>
                </a:ext>
              </a:extLst>
            </p:cNvPr>
            <p:cNvSpPr/>
            <p:nvPr/>
          </p:nvSpPr>
          <p:spPr>
            <a:xfrm>
              <a:off x="8632682" y="3002849"/>
              <a:ext cx="2461366" cy="790063"/>
            </a:xfrm>
            <a:prstGeom prst="rect">
              <a:avLst/>
            </a:prstGeom>
            <a:grp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11" name="TextBox 10">
              <a:extLst>
                <a:ext uri="{FF2B5EF4-FFF2-40B4-BE49-F238E27FC236}">
                  <a16:creationId xmlns:a16="http://schemas.microsoft.com/office/drawing/2014/main" id="{C2459256-76D9-F9B4-AD6F-2022C677E7EB}"/>
                </a:ext>
              </a:extLst>
            </p:cNvPr>
            <p:cNvSpPr txBox="1"/>
            <p:nvPr/>
          </p:nvSpPr>
          <p:spPr>
            <a:xfrm>
              <a:off x="8632682" y="3002849"/>
              <a:ext cx="1733356" cy="790063"/>
            </a:xfrm>
            <a:prstGeom prst="rect">
              <a:avLst/>
            </a:prstGeom>
            <a:grpFill/>
            <a:ln>
              <a:solidFill>
                <a:schemeClr val="bg1">
                  <a:lumMod val="75000"/>
                </a:scheme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800" b="1" i="0" u="none" strike="noStrike" kern="0" cap="none" spc="0" normalizeH="0" baseline="0" noProof="0" dirty="0">
                  <a:ln>
                    <a:noFill/>
                  </a:ln>
                  <a:solidFill>
                    <a:prstClr val="white"/>
                  </a:solidFill>
                  <a:effectLst/>
                  <a:uLnTx/>
                  <a:uFillTx/>
                  <a:cs typeface="Segoe UI" panose="020B0502040204020203" pitchFamily="34" charset="0"/>
                </a:rPr>
                <a:t>Microsoft </a:t>
              </a:r>
              <a:r>
                <a:rPr kumimoji="0" lang="es-ES" sz="1800" b="1" i="0" u="none" strike="noStrike" kern="0" cap="none" spc="0" normalizeH="0" baseline="0" noProof="0" dirty="0" err="1">
                  <a:ln>
                    <a:noFill/>
                  </a:ln>
                  <a:solidFill>
                    <a:prstClr val="white"/>
                  </a:solidFill>
                  <a:effectLst/>
                  <a:uLnTx/>
                  <a:uFillTx/>
                  <a:cs typeface="Segoe UI" panose="020B0502040204020203" pitchFamily="34" charset="0"/>
                </a:rPr>
                <a:t>Managed</a:t>
              </a:r>
              <a:r>
                <a:rPr kumimoji="0" lang="es-ES" sz="1800" b="1" i="0" u="none" strike="noStrike" kern="0" cap="none" spc="0" normalizeH="0" baseline="0" noProof="0" dirty="0">
                  <a:ln>
                    <a:noFill/>
                  </a:ln>
                  <a:solidFill>
                    <a:prstClr val="white"/>
                  </a:solidFill>
                  <a:effectLst/>
                  <a:uLnTx/>
                  <a:uFillTx/>
                  <a:cs typeface="Segoe UI" panose="020B0502040204020203" pitchFamily="34" charset="0"/>
                </a:rPr>
                <a:t> Key</a:t>
              </a:r>
              <a:endParaRPr kumimoji="0" lang="fr-FR" sz="1800" b="1" i="0" u="none" strike="noStrike" kern="0" cap="none" spc="0" normalizeH="0" baseline="0" noProof="0" dirty="0">
                <a:ln>
                  <a:noFill/>
                </a:ln>
                <a:solidFill>
                  <a:prstClr val="white"/>
                </a:solidFill>
                <a:effectLst/>
                <a:uLnTx/>
                <a:uFillTx/>
                <a:cs typeface="Segoe UI" panose="020B0502040204020203" pitchFamily="34" charset="0"/>
              </a:endParaRPr>
            </a:p>
          </p:txBody>
        </p:sp>
      </p:grpSp>
      <p:grpSp>
        <p:nvGrpSpPr>
          <p:cNvPr id="12" name="Group 11">
            <a:extLst>
              <a:ext uri="{FF2B5EF4-FFF2-40B4-BE49-F238E27FC236}">
                <a16:creationId xmlns:a16="http://schemas.microsoft.com/office/drawing/2014/main" id="{BC9B814B-CE9E-E219-30D9-442DC1CDED0E}"/>
              </a:ext>
            </a:extLst>
          </p:cNvPr>
          <p:cNvGrpSpPr/>
          <p:nvPr/>
        </p:nvGrpSpPr>
        <p:grpSpPr>
          <a:xfrm>
            <a:off x="4543542" y="1585814"/>
            <a:ext cx="2461366" cy="2067989"/>
            <a:chOff x="6941" y="1161888"/>
            <a:chExt cx="2461366" cy="1837358"/>
          </a:xfrm>
        </p:grpSpPr>
        <p:sp>
          <p:nvSpPr>
            <p:cNvPr id="13" name="Rectangle: Top Corners Rounded 12">
              <a:extLst>
                <a:ext uri="{FF2B5EF4-FFF2-40B4-BE49-F238E27FC236}">
                  <a16:creationId xmlns:a16="http://schemas.microsoft.com/office/drawing/2014/main" id="{57EBECD1-C588-5ECE-FD6E-7A7D64EE0544}"/>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14" name="Rectangle: Top Corners Rounded 4">
              <a:extLst>
                <a:ext uri="{FF2B5EF4-FFF2-40B4-BE49-F238E27FC236}">
                  <a16:creationId xmlns:a16="http://schemas.microsoft.com/office/drawing/2014/main" id="{05B7318F-D3F9-BA2D-EAFB-D8700D8B9D8F}"/>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Self-manage the encryption key</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Prevent access to customer content when you revoke the key access to our services, at any time</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Private link </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Azure managed-HSM</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Automatic key rotation</a:t>
              </a:r>
            </a:p>
            <a:p>
              <a:pPr marL="114300" lvl="1" indent="-114300" defTabSz="533400">
                <a:lnSpc>
                  <a:spcPct val="90000"/>
                </a:lnSpc>
                <a:spcBef>
                  <a:spcPct val="0"/>
                </a:spcBef>
                <a:spcAft>
                  <a:spcPct val="15000"/>
                </a:spcAft>
                <a:buFontTx/>
                <a:buChar char="•"/>
                <a:defRPr/>
              </a:pPr>
              <a:endParaRPr lang="es-ES" sz="1400" kern="0" dirty="0">
                <a:solidFill>
                  <a:prstClr val="black">
                    <a:hueOff val="0"/>
                    <a:satOff val="0"/>
                    <a:lumOff val="0"/>
                    <a:alphaOff val="0"/>
                  </a:prstClr>
                </a:solidFill>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4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p:txBody>
        </p:sp>
      </p:grpSp>
      <p:grpSp>
        <p:nvGrpSpPr>
          <p:cNvPr id="15" name="Group 14">
            <a:extLst>
              <a:ext uri="{FF2B5EF4-FFF2-40B4-BE49-F238E27FC236}">
                <a16:creationId xmlns:a16="http://schemas.microsoft.com/office/drawing/2014/main" id="{9D6EC3CA-F920-B3AC-350D-56D14075DFEA}"/>
              </a:ext>
            </a:extLst>
          </p:cNvPr>
          <p:cNvGrpSpPr/>
          <p:nvPr/>
        </p:nvGrpSpPr>
        <p:grpSpPr>
          <a:xfrm>
            <a:off x="4543542" y="3653803"/>
            <a:ext cx="2461366" cy="790063"/>
            <a:chOff x="6941" y="2999246"/>
            <a:chExt cx="2461366" cy="790063"/>
          </a:xfrm>
          <a:solidFill>
            <a:srgbClr val="FFC000"/>
          </a:solidFill>
        </p:grpSpPr>
        <p:sp>
          <p:nvSpPr>
            <p:cNvPr id="16" name="Rectangle 15">
              <a:extLst>
                <a:ext uri="{FF2B5EF4-FFF2-40B4-BE49-F238E27FC236}">
                  <a16:creationId xmlns:a16="http://schemas.microsoft.com/office/drawing/2014/main" id="{8A069FCD-8973-6C66-1E25-CC70FBC53998}"/>
                </a:ext>
              </a:extLst>
            </p:cNvPr>
            <p:cNvSpPr/>
            <p:nvPr/>
          </p:nvSpPr>
          <p:spPr>
            <a:xfrm>
              <a:off x="6941"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17" name="TextBox 16">
              <a:extLst>
                <a:ext uri="{FF2B5EF4-FFF2-40B4-BE49-F238E27FC236}">
                  <a16:creationId xmlns:a16="http://schemas.microsoft.com/office/drawing/2014/main" id="{20086187-B149-5EE0-19C9-8551F7D2D96E}"/>
                </a:ext>
              </a:extLst>
            </p:cNvPr>
            <p:cNvSpPr txBox="1"/>
            <p:nvPr/>
          </p:nvSpPr>
          <p:spPr>
            <a:xfrm>
              <a:off x="6941" y="2999246"/>
              <a:ext cx="1733356"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fr-FR" sz="1800" b="1" i="0" u="none" strike="noStrike" kern="0" cap="none" spc="0" normalizeH="0" baseline="0" noProof="0" dirty="0">
                  <a:ln>
                    <a:noFill/>
                  </a:ln>
                  <a:solidFill>
                    <a:prstClr val="white"/>
                  </a:solidFill>
                  <a:effectLst/>
                  <a:uLnTx/>
                  <a:uFillTx/>
                  <a:cs typeface="Segoe UI" panose="020B0502040204020203" pitchFamily="34" charset="0"/>
                </a:rPr>
                <a:t>Customer </a:t>
              </a:r>
              <a:r>
                <a:rPr kumimoji="0" lang="fr-FR" sz="1800" b="1" i="0" u="none" strike="noStrike" kern="0" cap="none" spc="0" normalizeH="0" baseline="0" noProof="0" dirty="0" err="1">
                  <a:ln>
                    <a:noFill/>
                  </a:ln>
                  <a:solidFill>
                    <a:prstClr val="white"/>
                  </a:solidFill>
                  <a:effectLst/>
                  <a:uLnTx/>
                  <a:uFillTx/>
                  <a:cs typeface="Segoe UI" panose="020B0502040204020203" pitchFamily="34" charset="0"/>
                </a:rPr>
                <a:t>Managed</a:t>
              </a:r>
              <a:r>
                <a:rPr kumimoji="0" lang="fr-FR" sz="1800" b="1" i="0" u="none" strike="noStrike" kern="0" cap="none" spc="0" normalizeH="0" baseline="0" noProof="0" dirty="0">
                  <a:ln>
                    <a:noFill/>
                  </a:ln>
                  <a:solidFill>
                    <a:prstClr val="white"/>
                  </a:solidFill>
                  <a:effectLst/>
                  <a:uLnTx/>
                  <a:uFillTx/>
                  <a:cs typeface="Segoe UI" panose="020B0502040204020203" pitchFamily="34" charset="0"/>
                </a:rPr>
                <a:t> Key</a:t>
              </a:r>
            </a:p>
          </p:txBody>
        </p:sp>
      </p:grpSp>
      <p:grpSp>
        <p:nvGrpSpPr>
          <p:cNvPr id="18" name="Group 17">
            <a:extLst>
              <a:ext uri="{FF2B5EF4-FFF2-40B4-BE49-F238E27FC236}">
                <a16:creationId xmlns:a16="http://schemas.microsoft.com/office/drawing/2014/main" id="{0B7AFFB5-0B88-F729-94FB-716F00A16599}"/>
              </a:ext>
            </a:extLst>
          </p:cNvPr>
          <p:cNvGrpSpPr/>
          <p:nvPr/>
        </p:nvGrpSpPr>
        <p:grpSpPr>
          <a:xfrm>
            <a:off x="7305402" y="1585814"/>
            <a:ext cx="2461366" cy="2067989"/>
            <a:chOff x="2884829" y="1161888"/>
            <a:chExt cx="2461366" cy="1837358"/>
          </a:xfrm>
        </p:grpSpPr>
        <p:sp>
          <p:nvSpPr>
            <p:cNvPr id="19" name="Rectangle: Top Corners Rounded 18">
              <a:extLst>
                <a:ext uri="{FF2B5EF4-FFF2-40B4-BE49-F238E27FC236}">
                  <a16:creationId xmlns:a16="http://schemas.microsoft.com/office/drawing/2014/main" id="{220BB327-A263-3357-31CE-E1D4D22D9340}"/>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20" name="Rectangle: Top Corners Rounded 4">
              <a:extLst>
                <a:ext uri="{FF2B5EF4-FFF2-40B4-BE49-F238E27FC236}">
                  <a16:creationId xmlns:a16="http://schemas.microsoft.com/office/drawing/2014/main" id="{7512204C-B5D8-70B3-FB46-1B96A9EDC394}"/>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Protects user from interception of their communication and helps ensure transaction integrity</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Protects from bulk interception of data</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Protects from interception or loss of data in transit between users</a:t>
              </a:r>
            </a:p>
            <a:p>
              <a:pPr marL="0" marR="0" lvl="1" indent="0" defTabSz="533400" eaLnBrk="1" fontAlgn="auto" latinLnBrk="0" hangingPunct="1">
                <a:lnSpc>
                  <a:spcPct val="90000"/>
                </a:lnSpc>
                <a:spcBef>
                  <a:spcPct val="0"/>
                </a:spcBef>
                <a:spcAft>
                  <a:spcPct val="15000"/>
                </a:spcAft>
                <a:buClrTx/>
                <a:buSzTx/>
                <a:buFontTx/>
                <a:buNone/>
                <a:tabLst/>
                <a:defRPr/>
              </a:pPr>
              <a:endParaRPr kumimoji="0" lang="es-ES" sz="14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p:txBody>
        </p:sp>
      </p:grpSp>
      <p:grpSp>
        <p:nvGrpSpPr>
          <p:cNvPr id="21" name="Group 20">
            <a:extLst>
              <a:ext uri="{FF2B5EF4-FFF2-40B4-BE49-F238E27FC236}">
                <a16:creationId xmlns:a16="http://schemas.microsoft.com/office/drawing/2014/main" id="{D31F49F6-F433-DB14-62C1-6C546BC3F800}"/>
              </a:ext>
            </a:extLst>
          </p:cNvPr>
          <p:cNvGrpSpPr/>
          <p:nvPr/>
        </p:nvGrpSpPr>
        <p:grpSpPr>
          <a:xfrm>
            <a:off x="7305402" y="3653803"/>
            <a:ext cx="2461366" cy="790063"/>
            <a:chOff x="2884829" y="2999246"/>
            <a:chExt cx="2461366" cy="790063"/>
          </a:xfrm>
          <a:solidFill>
            <a:srgbClr val="5B9BD5"/>
          </a:solidFill>
        </p:grpSpPr>
        <p:sp>
          <p:nvSpPr>
            <p:cNvPr id="22" name="Rectangle 21">
              <a:extLst>
                <a:ext uri="{FF2B5EF4-FFF2-40B4-BE49-F238E27FC236}">
                  <a16:creationId xmlns:a16="http://schemas.microsoft.com/office/drawing/2014/main" id="{99F8F9B6-E47A-466F-E189-D49F4C754F00}"/>
                </a:ext>
              </a:extLst>
            </p:cNvPr>
            <p:cNvSpPr/>
            <p:nvPr/>
          </p:nvSpPr>
          <p:spPr>
            <a:xfrm>
              <a:off x="2884829"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23" name="TextBox 22">
              <a:extLst>
                <a:ext uri="{FF2B5EF4-FFF2-40B4-BE49-F238E27FC236}">
                  <a16:creationId xmlns:a16="http://schemas.microsoft.com/office/drawing/2014/main" id="{BF78ADD4-EDB1-CADC-AA3E-31CC4F5AA8F9}"/>
                </a:ext>
              </a:extLst>
            </p:cNvPr>
            <p:cNvSpPr txBox="1"/>
            <p:nvPr/>
          </p:nvSpPr>
          <p:spPr>
            <a:xfrm>
              <a:off x="2884829" y="2999246"/>
              <a:ext cx="1733356"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noProof="0" dirty="0">
                  <a:ln>
                    <a:noFill/>
                  </a:ln>
                  <a:solidFill>
                    <a:prstClr val="white"/>
                  </a:solidFill>
                  <a:effectLst/>
                  <a:uLnTx/>
                  <a:uFillTx/>
                  <a:cs typeface="Segoe UI" panose="020B0502040204020203" pitchFamily="34" charset="0"/>
                </a:rPr>
                <a:t>Protection for </a:t>
              </a:r>
              <a:r>
                <a:rPr kumimoji="0" lang="en-US" sz="1800" b="1" i="0" u="none" strike="noStrike" kern="0" cap="none" spc="0" normalizeH="0" baseline="0" noProof="0" dirty="0" err="1">
                  <a:ln>
                    <a:noFill/>
                  </a:ln>
                  <a:solidFill>
                    <a:prstClr val="white"/>
                  </a:solidFill>
                  <a:effectLst/>
                  <a:uLnTx/>
                  <a:uFillTx/>
                  <a:cs typeface="Segoe UI" panose="020B0502040204020203" pitchFamily="34" charset="0"/>
                </a:rPr>
                <a:t>dat</a:t>
              </a:r>
              <a:r>
                <a:rPr lang="en-US" b="1" kern="0" dirty="0">
                  <a:solidFill>
                    <a:prstClr val="white"/>
                  </a:solidFill>
                  <a:cs typeface="Segoe UI" panose="020B0502040204020203" pitchFamily="34" charset="0"/>
                </a:rPr>
                <a:t>a in transit</a:t>
              </a:r>
              <a:endParaRPr kumimoji="0" lang="en-US" sz="1800" b="1" i="0" u="none" strike="noStrike" kern="0" cap="none" spc="0" normalizeH="0" baseline="0" noProof="0" dirty="0">
                <a:ln>
                  <a:noFill/>
                </a:ln>
                <a:solidFill>
                  <a:prstClr val="white"/>
                </a:solidFill>
                <a:effectLst/>
                <a:uLnTx/>
                <a:uFillTx/>
                <a:cs typeface="Segoe UI" panose="020B0502040204020203" pitchFamily="34" charset="0"/>
              </a:endParaRPr>
            </a:p>
          </p:txBody>
        </p:sp>
      </p:grpSp>
      <p:pic>
        <p:nvPicPr>
          <p:cNvPr id="24" name="Picture 23">
            <a:extLst>
              <a:ext uri="{FF2B5EF4-FFF2-40B4-BE49-F238E27FC236}">
                <a16:creationId xmlns:a16="http://schemas.microsoft.com/office/drawing/2014/main" id="{0B1AF8C2-A64F-34D4-D3DF-1186F1D984AC}"/>
              </a:ext>
            </a:extLst>
          </p:cNvPr>
          <p:cNvPicPr>
            <a:picLocks noChangeAspect="1"/>
          </p:cNvPicPr>
          <p:nvPr/>
        </p:nvPicPr>
        <p:blipFill>
          <a:blip r:embed="rId2"/>
          <a:stretch>
            <a:fillRect/>
          </a:stretch>
        </p:blipFill>
        <p:spPr>
          <a:xfrm>
            <a:off x="3544681" y="3738148"/>
            <a:ext cx="640080" cy="640080"/>
          </a:xfrm>
          <a:prstGeom prst="rect">
            <a:avLst/>
          </a:prstGeom>
        </p:spPr>
      </p:pic>
      <p:pic>
        <p:nvPicPr>
          <p:cNvPr id="25" name="Picture 24">
            <a:extLst>
              <a:ext uri="{FF2B5EF4-FFF2-40B4-BE49-F238E27FC236}">
                <a16:creationId xmlns:a16="http://schemas.microsoft.com/office/drawing/2014/main" id="{1E616F54-EA64-A69D-430F-CAC3D1052F06}"/>
              </a:ext>
            </a:extLst>
          </p:cNvPr>
          <p:cNvPicPr>
            <a:picLocks noChangeAspect="1"/>
          </p:cNvPicPr>
          <p:nvPr/>
        </p:nvPicPr>
        <p:blipFill>
          <a:blip r:embed="rId3"/>
          <a:stretch>
            <a:fillRect/>
          </a:stretch>
        </p:blipFill>
        <p:spPr>
          <a:xfrm>
            <a:off x="6311135" y="3708653"/>
            <a:ext cx="640080" cy="640080"/>
          </a:xfrm>
          <a:prstGeom prst="rect">
            <a:avLst/>
          </a:prstGeom>
        </p:spPr>
      </p:pic>
      <p:pic>
        <p:nvPicPr>
          <p:cNvPr id="26" name="Picture 25">
            <a:extLst>
              <a:ext uri="{FF2B5EF4-FFF2-40B4-BE49-F238E27FC236}">
                <a16:creationId xmlns:a16="http://schemas.microsoft.com/office/drawing/2014/main" id="{CE077789-C167-636C-26BE-237F6AC5C1CD}"/>
              </a:ext>
            </a:extLst>
          </p:cNvPr>
          <p:cNvPicPr>
            <a:picLocks noChangeAspect="1"/>
          </p:cNvPicPr>
          <p:nvPr/>
        </p:nvPicPr>
        <p:blipFill>
          <a:blip r:embed="rId4"/>
          <a:stretch>
            <a:fillRect/>
          </a:stretch>
        </p:blipFill>
        <p:spPr>
          <a:xfrm>
            <a:off x="9045945" y="3734693"/>
            <a:ext cx="640080" cy="640080"/>
          </a:xfrm>
          <a:prstGeom prst="rect">
            <a:avLst/>
          </a:prstGeom>
        </p:spPr>
      </p:pic>
    </p:spTree>
    <p:extLst>
      <p:ext uri="{BB962C8B-B14F-4D97-AF65-F5344CB8AC3E}">
        <p14:creationId xmlns:p14="http://schemas.microsoft.com/office/powerpoint/2010/main" val="148801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5227-06E7-E4E9-6D35-4E00D7CA04A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AD16E02-34E4-A0D7-7C12-BB75178A425D}"/>
              </a:ext>
            </a:extLst>
          </p:cNvPr>
          <p:cNvSpPr>
            <a:spLocks noGrp="1"/>
          </p:cNvSpPr>
          <p:nvPr>
            <p:ph type="body" sz="quarter" idx="10"/>
          </p:nvPr>
        </p:nvSpPr>
        <p:spPr>
          <a:xfrm>
            <a:off x="537136" y="276271"/>
            <a:ext cx="9673664" cy="541810"/>
          </a:xfrm>
        </p:spPr>
        <p:txBody>
          <a:bodyPr>
            <a:normAutofit/>
          </a:bodyPr>
          <a:lstStyle/>
          <a:p>
            <a:r>
              <a:rPr lang="en-US" sz="2400" noProof="0" dirty="0"/>
              <a:t>Data Protection + Compliance</a:t>
            </a:r>
          </a:p>
        </p:txBody>
      </p:sp>
      <p:grpSp>
        <p:nvGrpSpPr>
          <p:cNvPr id="45" name="Group 44">
            <a:extLst>
              <a:ext uri="{FF2B5EF4-FFF2-40B4-BE49-F238E27FC236}">
                <a16:creationId xmlns:a16="http://schemas.microsoft.com/office/drawing/2014/main" id="{7AA61567-50C8-82A1-F1FE-D2BB54B2E76F}"/>
              </a:ext>
            </a:extLst>
          </p:cNvPr>
          <p:cNvGrpSpPr/>
          <p:nvPr/>
        </p:nvGrpSpPr>
        <p:grpSpPr>
          <a:xfrm>
            <a:off x="1779894" y="1585814"/>
            <a:ext cx="2461366" cy="1837358"/>
            <a:chOff x="8640607" y="1161888"/>
            <a:chExt cx="2461366" cy="1837358"/>
          </a:xfrm>
        </p:grpSpPr>
        <p:sp>
          <p:nvSpPr>
            <p:cNvPr id="46" name="Rectangle: Top Corners Rounded 45">
              <a:extLst>
                <a:ext uri="{FF2B5EF4-FFF2-40B4-BE49-F238E27FC236}">
                  <a16:creationId xmlns:a16="http://schemas.microsoft.com/office/drawing/2014/main" id="{DD60BC6A-A8AB-2FAB-2B30-AAEFAB6664C6}"/>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47" name="Rectangle: Top Corners Rounded 4">
              <a:extLst>
                <a:ext uri="{FF2B5EF4-FFF2-40B4-BE49-F238E27FC236}">
                  <a16:creationId xmlns:a16="http://schemas.microsoft.com/office/drawing/2014/main" id="{0CDEE827-86DB-B29D-069F-918CC655F3FE}"/>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Time bound access  from secured station by personnel with security clearance</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Multiple layers of approval</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Audit </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fr-FR" sz="1200" b="0" i="0" u="none" strike="noStrike" kern="0" cap="none" spc="0" normalizeH="0" baseline="0" noProof="0" dirty="0">
                <a:ln>
                  <a:noFill/>
                </a:ln>
                <a:solidFill>
                  <a:sysClr val="windowText" lastClr="000000">
                    <a:hueOff val="0"/>
                    <a:satOff val="0"/>
                    <a:lumOff val="0"/>
                    <a:alphaOff val="0"/>
                  </a:sysClr>
                </a:solidFill>
                <a:effectLst/>
                <a:uLnTx/>
                <a:uFillTx/>
                <a:cs typeface="Segoe UI" panose="020B0502040204020203" pitchFamily="34" charset="0"/>
              </a:endParaRPr>
            </a:p>
          </p:txBody>
        </p:sp>
      </p:grpSp>
      <p:grpSp>
        <p:nvGrpSpPr>
          <p:cNvPr id="48" name="Group 47">
            <a:extLst>
              <a:ext uri="{FF2B5EF4-FFF2-40B4-BE49-F238E27FC236}">
                <a16:creationId xmlns:a16="http://schemas.microsoft.com/office/drawing/2014/main" id="{3CFF6419-820A-2B6D-AAC1-EF20DA85DE35}"/>
              </a:ext>
            </a:extLst>
          </p:cNvPr>
          <p:cNvGrpSpPr/>
          <p:nvPr/>
        </p:nvGrpSpPr>
        <p:grpSpPr>
          <a:xfrm>
            <a:off x="1771969" y="3426775"/>
            <a:ext cx="2461366" cy="790063"/>
            <a:chOff x="8632682" y="3002849"/>
            <a:chExt cx="2461366" cy="790063"/>
          </a:xfrm>
          <a:solidFill>
            <a:schemeClr val="accent6">
              <a:lumMod val="75000"/>
            </a:schemeClr>
          </a:solidFill>
        </p:grpSpPr>
        <p:sp>
          <p:nvSpPr>
            <p:cNvPr id="49" name="Rectangle 48">
              <a:extLst>
                <a:ext uri="{FF2B5EF4-FFF2-40B4-BE49-F238E27FC236}">
                  <a16:creationId xmlns:a16="http://schemas.microsoft.com/office/drawing/2014/main" id="{4D219901-AAC3-57D3-B790-99D2C028AA15}"/>
                </a:ext>
              </a:extLst>
            </p:cNvPr>
            <p:cNvSpPr/>
            <p:nvPr/>
          </p:nvSpPr>
          <p:spPr>
            <a:xfrm>
              <a:off x="8632682" y="3002849"/>
              <a:ext cx="2461366" cy="790063"/>
            </a:xfrm>
            <a:prstGeom prst="rect">
              <a:avLst/>
            </a:prstGeom>
            <a:grpFill/>
            <a:ln w="12700" cap="flat" cmpd="sng" algn="ctr">
              <a:solidFill>
                <a:schemeClr val="accent6">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50" name="TextBox 49">
              <a:extLst>
                <a:ext uri="{FF2B5EF4-FFF2-40B4-BE49-F238E27FC236}">
                  <a16:creationId xmlns:a16="http://schemas.microsoft.com/office/drawing/2014/main" id="{082A9C20-499C-B07F-FAEF-564159675698}"/>
                </a:ext>
              </a:extLst>
            </p:cNvPr>
            <p:cNvSpPr txBox="1"/>
            <p:nvPr/>
          </p:nvSpPr>
          <p:spPr>
            <a:xfrm>
              <a:off x="8632682" y="3002849"/>
              <a:ext cx="1733356" cy="790063"/>
            </a:xfrm>
            <a:prstGeom prst="rect">
              <a:avLst/>
            </a:prstGeom>
            <a:grpFill/>
            <a:ln>
              <a:solidFill>
                <a:schemeClr val="accent6">
                  <a:lumMod val="75000"/>
                </a:scheme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dirty="0">
                  <a:ln>
                    <a:noFill/>
                  </a:ln>
                  <a:solidFill>
                    <a:prstClr val="white"/>
                  </a:solidFill>
                  <a:effectLst/>
                  <a:uLnTx/>
                  <a:uFillTx/>
                  <a:cs typeface="Segoe UI" panose="020B0502040204020203" pitchFamily="34" charset="0"/>
                </a:rPr>
                <a:t>JIT Access Policies</a:t>
              </a:r>
            </a:p>
          </p:txBody>
        </p:sp>
      </p:grpSp>
      <p:grpSp>
        <p:nvGrpSpPr>
          <p:cNvPr id="51" name="Group 50">
            <a:extLst>
              <a:ext uri="{FF2B5EF4-FFF2-40B4-BE49-F238E27FC236}">
                <a16:creationId xmlns:a16="http://schemas.microsoft.com/office/drawing/2014/main" id="{AA2A927F-01DD-48C1-1047-7DDE48C0B348}"/>
              </a:ext>
            </a:extLst>
          </p:cNvPr>
          <p:cNvGrpSpPr/>
          <p:nvPr/>
        </p:nvGrpSpPr>
        <p:grpSpPr>
          <a:xfrm>
            <a:off x="4541754" y="1589417"/>
            <a:ext cx="2461366" cy="1837358"/>
            <a:chOff x="6941" y="1161888"/>
            <a:chExt cx="2461366" cy="1837358"/>
          </a:xfrm>
        </p:grpSpPr>
        <p:sp>
          <p:nvSpPr>
            <p:cNvPr id="52" name="Rectangle: Top Corners Rounded 51">
              <a:extLst>
                <a:ext uri="{FF2B5EF4-FFF2-40B4-BE49-F238E27FC236}">
                  <a16:creationId xmlns:a16="http://schemas.microsoft.com/office/drawing/2014/main" id="{5A5A9FE3-ECBA-A8B3-9178-EAC4A8FD5049}"/>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53" name="Rectangle: Top Corners Rounded 4">
              <a:extLst>
                <a:ext uri="{FF2B5EF4-FFF2-40B4-BE49-F238E27FC236}">
                  <a16:creationId xmlns:a16="http://schemas.microsoft.com/office/drawing/2014/main" id="{E4E462A3-CFE3-B633-D40D-EFDA5FAB00C3}"/>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Extends JIT with customer approval</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Bound to specific environment, user and duration</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cs typeface="Segoe UI" panose="020B0502040204020203" pitchFamily="34" charset="0"/>
                </a:rPr>
                <a:t>OOB audit available to end user</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4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4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p:txBody>
        </p:sp>
      </p:grpSp>
      <p:grpSp>
        <p:nvGrpSpPr>
          <p:cNvPr id="54" name="Group 53">
            <a:extLst>
              <a:ext uri="{FF2B5EF4-FFF2-40B4-BE49-F238E27FC236}">
                <a16:creationId xmlns:a16="http://schemas.microsoft.com/office/drawing/2014/main" id="{80929F0E-618D-DB73-D6D3-253EBF7FBBE2}"/>
              </a:ext>
            </a:extLst>
          </p:cNvPr>
          <p:cNvGrpSpPr/>
          <p:nvPr/>
        </p:nvGrpSpPr>
        <p:grpSpPr>
          <a:xfrm>
            <a:off x="4541754" y="3426775"/>
            <a:ext cx="2461366" cy="790063"/>
            <a:chOff x="6941" y="2999246"/>
            <a:chExt cx="2461366" cy="790063"/>
          </a:xfrm>
          <a:solidFill>
            <a:schemeClr val="bg1">
              <a:lumMod val="75000"/>
            </a:schemeClr>
          </a:solidFill>
        </p:grpSpPr>
        <p:sp>
          <p:nvSpPr>
            <p:cNvPr id="55" name="Rectangle 54">
              <a:extLst>
                <a:ext uri="{FF2B5EF4-FFF2-40B4-BE49-F238E27FC236}">
                  <a16:creationId xmlns:a16="http://schemas.microsoft.com/office/drawing/2014/main" id="{8FAD2484-23EF-1D92-760E-1BB907D8034F}"/>
                </a:ext>
              </a:extLst>
            </p:cNvPr>
            <p:cNvSpPr/>
            <p:nvPr/>
          </p:nvSpPr>
          <p:spPr>
            <a:xfrm>
              <a:off x="6941" y="2999246"/>
              <a:ext cx="2461366" cy="790063"/>
            </a:xfrm>
            <a:prstGeom prst="rect">
              <a:avLst/>
            </a:prstGeom>
            <a:grpFill/>
            <a:ln w="12700" cap="flat" cmpd="sng" algn="ctr">
              <a:solidFill>
                <a:schemeClr val="bg1">
                  <a:lumMod val="75000"/>
                </a:scheme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56" name="TextBox 55">
              <a:extLst>
                <a:ext uri="{FF2B5EF4-FFF2-40B4-BE49-F238E27FC236}">
                  <a16:creationId xmlns:a16="http://schemas.microsoft.com/office/drawing/2014/main" id="{CF58EDC1-47CC-D14C-2117-037C1E5ACF16}"/>
                </a:ext>
              </a:extLst>
            </p:cNvPr>
            <p:cNvSpPr txBox="1"/>
            <p:nvPr/>
          </p:nvSpPr>
          <p:spPr>
            <a:xfrm>
              <a:off x="6941" y="2999246"/>
              <a:ext cx="1733356" cy="790063"/>
            </a:xfrm>
            <a:prstGeom prst="rect">
              <a:avLst/>
            </a:prstGeom>
            <a:grpFill/>
            <a:ln>
              <a:solidFill>
                <a:schemeClr val="bg1">
                  <a:lumMod val="75000"/>
                </a:schemeClr>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800" b="1" i="0" u="none" strike="noStrike" kern="0" cap="none" spc="0" normalizeH="0" baseline="0" dirty="0">
                  <a:ln>
                    <a:noFill/>
                  </a:ln>
                  <a:solidFill>
                    <a:prstClr val="white"/>
                  </a:solidFill>
                  <a:effectLst/>
                  <a:uLnTx/>
                  <a:uFillTx/>
                  <a:cs typeface="Segoe UI" panose="020B0502040204020203" pitchFamily="34" charset="0"/>
                </a:rPr>
                <a:t>Customer Lockbox</a:t>
              </a:r>
            </a:p>
          </p:txBody>
        </p:sp>
      </p:grpSp>
      <p:grpSp>
        <p:nvGrpSpPr>
          <p:cNvPr id="57" name="Group 56">
            <a:extLst>
              <a:ext uri="{FF2B5EF4-FFF2-40B4-BE49-F238E27FC236}">
                <a16:creationId xmlns:a16="http://schemas.microsoft.com/office/drawing/2014/main" id="{DD851283-4483-A8C2-32A7-6548EBEF4760}"/>
              </a:ext>
            </a:extLst>
          </p:cNvPr>
          <p:cNvGrpSpPr/>
          <p:nvPr/>
        </p:nvGrpSpPr>
        <p:grpSpPr>
          <a:xfrm>
            <a:off x="7303614" y="1589417"/>
            <a:ext cx="2461366" cy="1837358"/>
            <a:chOff x="2884829" y="1161888"/>
            <a:chExt cx="2461366" cy="1837358"/>
          </a:xfrm>
        </p:grpSpPr>
        <p:sp>
          <p:nvSpPr>
            <p:cNvPr id="58" name="Rectangle: Top Corners Rounded 57">
              <a:extLst>
                <a:ext uri="{FF2B5EF4-FFF2-40B4-BE49-F238E27FC236}">
                  <a16:creationId xmlns:a16="http://schemas.microsoft.com/office/drawing/2014/main" id="{D9A641E5-D5CA-CF52-3100-84F8360479D7}"/>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cs typeface="Segoe UI" panose="020B0502040204020203" pitchFamily="34" charset="0"/>
              </a:endParaRPr>
            </a:p>
          </p:txBody>
        </p:sp>
        <p:sp>
          <p:nvSpPr>
            <p:cNvPr id="59" name="Rectangle: Top Corners Rounded 4">
              <a:extLst>
                <a:ext uri="{FF2B5EF4-FFF2-40B4-BE49-F238E27FC236}">
                  <a16:creationId xmlns:a16="http://schemas.microsoft.com/office/drawing/2014/main" id="{44F92F6B-EEEF-FD45-F590-867F1928D609}"/>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Tenant home geo default</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Multi-geo support (at environment level) to enable global presence</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cs typeface="Segoe UI" panose="020B0502040204020203" pitchFamily="34" charset="0"/>
                </a:rPr>
                <a:t>Data resiliency ensured within geo </a:t>
              </a:r>
            </a:p>
            <a:p>
              <a:pPr marL="0" marR="0" lvl="1" indent="0" defTabSz="533400" eaLnBrk="1" fontAlgn="auto" latinLnBrk="0" hangingPunct="1">
                <a:lnSpc>
                  <a:spcPct val="90000"/>
                </a:lnSpc>
                <a:spcBef>
                  <a:spcPct val="0"/>
                </a:spcBef>
                <a:spcAft>
                  <a:spcPct val="15000"/>
                </a:spcAft>
                <a:buClrTx/>
                <a:buSzTx/>
                <a:buFontTx/>
                <a:buNone/>
                <a:tabLst/>
                <a:defRPr/>
              </a:pPr>
              <a:endParaRPr kumimoji="0" lang="es-ES" sz="1400" b="0" i="0" u="none" strike="noStrike" kern="0" cap="none" spc="0" normalizeH="0" baseline="0" noProof="0" dirty="0">
                <a:ln>
                  <a:noFill/>
                </a:ln>
                <a:solidFill>
                  <a:prstClr val="black">
                    <a:hueOff val="0"/>
                    <a:satOff val="0"/>
                    <a:lumOff val="0"/>
                    <a:alphaOff val="0"/>
                  </a:prstClr>
                </a:solidFill>
                <a:effectLst/>
                <a:uLnTx/>
                <a:uFillTx/>
                <a:cs typeface="Segoe UI" panose="020B0502040204020203" pitchFamily="34" charset="0"/>
              </a:endParaRPr>
            </a:p>
          </p:txBody>
        </p:sp>
      </p:grpSp>
      <p:grpSp>
        <p:nvGrpSpPr>
          <p:cNvPr id="60" name="Group 59">
            <a:extLst>
              <a:ext uri="{FF2B5EF4-FFF2-40B4-BE49-F238E27FC236}">
                <a16:creationId xmlns:a16="http://schemas.microsoft.com/office/drawing/2014/main" id="{4B502A84-1FC1-6008-6235-8D3609D76D38}"/>
              </a:ext>
            </a:extLst>
          </p:cNvPr>
          <p:cNvGrpSpPr/>
          <p:nvPr/>
        </p:nvGrpSpPr>
        <p:grpSpPr>
          <a:xfrm>
            <a:off x="7303614" y="3426775"/>
            <a:ext cx="2461366" cy="790063"/>
            <a:chOff x="2884829" y="2999246"/>
            <a:chExt cx="2461366" cy="790063"/>
          </a:xfrm>
          <a:solidFill>
            <a:srgbClr val="FFC000"/>
          </a:solidFill>
        </p:grpSpPr>
        <p:sp>
          <p:nvSpPr>
            <p:cNvPr id="61" name="Rectangle 60">
              <a:extLst>
                <a:ext uri="{FF2B5EF4-FFF2-40B4-BE49-F238E27FC236}">
                  <a16:creationId xmlns:a16="http://schemas.microsoft.com/office/drawing/2014/main" id="{6DD39DE4-A86E-E690-B921-B44BD55DA331}"/>
                </a:ext>
              </a:extLst>
            </p:cNvPr>
            <p:cNvSpPr/>
            <p:nvPr/>
          </p:nvSpPr>
          <p:spPr>
            <a:xfrm>
              <a:off x="2884829"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cs typeface="Segoe UI" panose="020B0502040204020203" pitchFamily="34" charset="0"/>
              </a:endParaRPr>
            </a:p>
          </p:txBody>
        </p:sp>
        <p:sp>
          <p:nvSpPr>
            <p:cNvPr id="62" name="TextBox 61">
              <a:extLst>
                <a:ext uri="{FF2B5EF4-FFF2-40B4-BE49-F238E27FC236}">
                  <a16:creationId xmlns:a16="http://schemas.microsoft.com/office/drawing/2014/main" id="{975FA711-37D1-FB25-CD8C-389008B1AFE8}"/>
                </a:ext>
              </a:extLst>
            </p:cNvPr>
            <p:cNvSpPr txBox="1"/>
            <p:nvPr/>
          </p:nvSpPr>
          <p:spPr>
            <a:xfrm>
              <a:off x="2884829" y="2999246"/>
              <a:ext cx="1733356"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800" b="1" i="0" u="none" strike="noStrike" kern="0" cap="none" spc="0" normalizeH="0" baseline="0" noProof="0" dirty="0">
                  <a:ln>
                    <a:noFill/>
                  </a:ln>
                  <a:solidFill>
                    <a:prstClr val="white"/>
                  </a:solidFill>
                  <a:effectLst/>
                  <a:uLnTx/>
                  <a:uFillTx/>
                  <a:cs typeface="Segoe UI" panose="020B0502040204020203" pitchFamily="34" charset="0"/>
                </a:rPr>
                <a:t>Data </a:t>
              </a:r>
              <a:r>
                <a:rPr kumimoji="0" lang="es-ES" sz="1800" b="1" i="0" u="none" strike="noStrike" kern="0" cap="none" spc="0" normalizeH="0" baseline="0" noProof="0" dirty="0" err="1">
                  <a:ln>
                    <a:noFill/>
                  </a:ln>
                  <a:solidFill>
                    <a:prstClr val="white"/>
                  </a:solidFill>
                  <a:effectLst/>
                  <a:uLnTx/>
                  <a:uFillTx/>
                  <a:cs typeface="Segoe UI" panose="020B0502040204020203" pitchFamily="34" charset="0"/>
                </a:rPr>
                <a:t>Residency</a:t>
              </a:r>
              <a:endParaRPr kumimoji="0" lang="en-US" sz="1800" b="1" i="0" u="none" strike="noStrike" kern="0" cap="none" spc="0" normalizeH="0" baseline="0" noProof="0" dirty="0">
                <a:ln>
                  <a:noFill/>
                </a:ln>
                <a:solidFill>
                  <a:prstClr val="white"/>
                </a:solidFill>
                <a:effectLst/>
                <a:uLnTx/>
                <a:uFillTx/>
                <a:cs typeface="Segoe UI" panose="020B0502040204020203" pitchFamily="34" charset="0"/>
              </a:endParaRPr>
            </a:p>
          </p:txBody>
        </p:sp>
      </p:grpSp>
      <p:pic>
        <p:nvPicPr>
          <p:cNvPr id="63" name="Picture 62">
            <a:extLst>
              <a:ext uri="{FF2B5EF4-FFF2-40B4-BE49-F238E27FC236}">
                <a16:creationId xmlns:a16="http://schemas.microsoft.com/office/drawing/2014/main" id="{C1A7CC12-8D47-D68C-EF95-068FC4F8BB5A}"/>
              </a:ext>
            </a:extLst>
          </p:cNvPr>
          <p:cNvPicPr>
            <a:picLocks noChangeAspect="1"/>
          </p:cNvPicPr>
          <p:nvPr/>
        </p:nvPicPr>
        <p:blipFill>
          <a:blip r:embed="rId2"/>
          <a:stretch>
            <a:fillRect/>
          </a:stretch>
        </p:blipFill>
        <p:spPr>
          <a:xfrm>
            <a:off x="6297549" y="3486152"/>
            <a:ext cx="640080" cy="640080"/>
          </a:xfrm>
          <a:prstGeom prst="rect">
            <a:avLst/>
          </a:prstGeom>
        </p:spPr>
      </p:pic>
      <p:pic>
        <p:nvPicPr>
          <p:cNvPr id="64" name="Picture 63">
            <a:extLst>
              <a:ext uri="{FF2B5EF4-FFF2-40B4-BE49-F238E27FC236}">
                <a16:creationId xmlns:a16="http://schemas.microsoft.com/office/drawing/2014/main" id="{AAE0F03F-8E6C-A6AF-0B86-0A94197C9516}"/>
              </a:ext>
            </a:extLst>
          </p:cNvPr>
          <p:cNvPicPr>
            <a:picLocks noChangeAspect="1"/>
          </p:cNvPicPr>
          <p:nvPr/>
        </p:nvPicPr>
        <p:blipFill>
          <a:blip r:embed="rId3"/>
          <a:stretch>
            <a:fillRect/>
          </a:stretch>
        </p:blipFill>
        <p:spPr>
          <a:xfrm>
            <a:off x="3540920" y="3514495"/>
            <a:ext cx="640080" cy="640080"/>
          </a:xfrm>
          <a:prstGeom prst="rect">
            <a:avLst/>
          </a:prstGeom>
        </p:spPr>
      </p:pic>
      <p:pic>
        <p:nvPicPr>
          <p:cNvPr id="65" name="Picture 64">
            <a:extLst>
              <a:ext uri="{FF2B5EF4-FFF2-40B4-BE49-F238E27FC236}">
                <a16:creationId xmlns:a16="http://schemas.microsoft.com/office/drawing/2014/main" id="{654D2C5B-6917-6A1B-A14E-29E518D7CD43}"/>
              </a:ext>
            </a:extLst>
          </p:cNvPr>
          <p:cNvPicPr>
            <a:picLocks noChangeAspect="1"/>
          </p:cNvPicPr>
          <p:nvPr/>
        </p:nvPicPr>
        <p:blipFill>
          <a:blip r:embed="rId4"/>
          <a:stretch>
            <a:fillRect/>
          </a:stretch>
        </p:blipFill>
        <p:spPr>
          <a:xfrm>
            <a:off x="9049006" y="3514495"/>
            <a:ext cx="640080" cy="640080"/>
          </a:xfrm>
          <a:prstGeom prst="rect">
            <a:avLst/>
          </a:prstGeom>
        </p:spPr>
      </p:pic>
    </p:spTree>
    <p:extLst>
      <p:ext uri="{BB962C8B-B14F-4D97-AF65-F5344CB8AC3E}">
        <p14:creationId xmlns:p14="http://schemas.microsoft.com/office/powerpoint/2010/main" val="402645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8AC30-E340-8CC3-3083-23F373F226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14768BB-BB17-015D-F113-C46FD7F7211F}"/>
              </a:ext>
            </a:extLst>
          </p:cNvPr>
          <p:cNvSpPr>
            <a:spLocks noGrp="1"/>
          </p:cNvSpPr>
          <p:nvPr>
            <p:ph type="body" sz="quarter" idx="10"/>
          </p:nvPr>
        </p:nvSpPr>
        <p:spPr>
          <a:xfrm>
            <a:off x="537136" y="276271"/>
            <a:ext cx="9673664" cy="541810"/>
          </a:xfrm>
        </p:spPr>
        <p:txBody>
          <a:bodyPr>
            <a:normAutofit/>
          </a:bodyPr>
          <a:lstStyle/>
          <a:p>
            <a:r>
              <a:rPr lang="en-US" sz="2400" noProof="0" dirty="0"/>
              <a:t>Data Protection + Compliance</a:t>
            </a:r>
          </a:p>
        </p:txBody>
      </p:sp>
      <p:pic>
        <p:nvPicPr>
          <p:cNvPr id="4" name="Picture 3">
            <a:extLst>
              <a:ext uri="{FF2B5EF4-FFF2-40B4-BE49-F238E27FC236}">
                <a16:creationId xmlns:a16="http://schemas.microsoft.com/office/drawing/2014/main" id="{48A6434A-7720-3A44-60FC-6B4BD6BB4208}"/>
              </a:ext>
            </a:extLst>
          </p:cNvPr>
          <p:cNvPicPr>
            <a:picLocks noChangeAspect="1"/>
          </p:cNvPicPr>
          <p:nvPr/>
        </p:nvPicPr>
        <p:blipFill>
          <a:blip r:embed="rId2"/>
          <a:stretch>
            <a:fillRect/>
          </a:stretch>
        </p:blipFill>
        <p:spPr>
          <a:xfrm>
            <a:off x="914400" y="1009650"/>
            <a:ext cx="9673664" cy="4312356"/>
          </a:xfrm>
          <a:prstGeom prst="rect">
            <a:avLst/>
          </a:prstGeom>
          <a:ln>
            <a:noFill/>
          </a:ln>
          <a:effectLst>
            <a:outerShdw blurRad="292100" dist="139700" dir="2700000" algn="tl" rotWithShape="0">
              <a:srgbClr val="333333">
                <a:alpha val="65000"/>
              </a:srgbClr>
            </a:outerShdw>
          </a:effectLst>
        </p:spPr>
      </p:pic>
      <p:sp>
        <p:nvSpPr>
          <p:cNvPr id="5" name="Speech Bubble: Rectangle with Corners Rounded 4">
            <a:extLst>
              <a:ext uri="{FF2B5EF4-FFF2-40B4-BE49-F238E27FC236}">
                <a16:creationId xmlns:a16="http://schemas.microsoft.com/office/drawing/2014/main" id="{AF907FF4-BF87-99A4-415A-36852EF1CF5F}"/>
              </a:ext>
            </a:extLst>
          </p:cNvPr>
          <p:cNvSpPr/>
          <p:nvPr/>
        </p:nvSpPr>
        <p:spPr>
          <a:xfrm>
            <a:off x="990600" y="3067050"/>
            <a:ext cx="1849562" cy="657181"/>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Access Compliance</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settings</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27" name="Flowchart: Connector 26">
            <a:extLst>
              <a:ext uri="{FF2B5EF4-FFF2-40B4-BE49-F238E27FC236}">
                <a16:creationId xmlns:a16="http://schemas.microsoft.com/office/drawing/2014/main" id="{1F163CF2-39D0-4AEA-9CA7-71ADBA97190A}"/>
              </a:ext>
            </a:extLst>
          </p:cNvPr>
          <p:cNvSpPr/>
          <p:nvPr/>
        </p:nvSpPr>
        <p:spPr>
          <a:xfrm>
            <a:off x="1709641" y="382905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28" name="Speech Bubble: Rectangle with Corners Rounded 27">
            <a:extLst>
              <a:ext uri="{FF2B5EF4-FFF2-40B4-BE49-F238E27FC236}">
                <a16:creationId xmlns:a16="http://schemas.microsoft.com/office/drawing/2014/main" id="{A38857BC-FE71-5F09-1C7B-48CBC0D511E4}"/>
              </a:ext>
            </a:extLst>
          </p:cNvPr>
          <p:cNvSpPr/>
          <p:nvPr/>
        </p:nvSpPr>
        <p:spPr>
          <a:xfrm>
            <a:off x="3042530" y="3098068"/>
            <a:ext cx="2494824" cy="657180"/>
          </a:xfrm>
          <a:prstGeom prst="wedgeRoundRectCallout">
            <a:avLst>
              <a:gd name="adj1" fmla="val -25709"/>
              <a:gd name="adj2" fmla="val -6878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Access to Customer Lockbox</a:t>
            </a:r>
          </a:p>
        </p:txBody>
      </p:sp>
      <p:sp>
        <p:nvSpPr>
          <p:cNvPr id="29" name="Flowchart: Connector 28">
            <a:extLst>
              <a:ext uri="{FF2B5EF4-FFF2-40B4-BE49-F238E27FC236}">
                <a16:creationId xmlns:a16="http://schemas.microsoft.com/office/drawing/2014/main" id="{BAFD5E1A-1B42-E8CD-0052-E69C765B76ED}"/>
              </a:ext>
            </a:extLst>
          </p:cNvPr>
          <p:cNvSpPr/>
          <p:nvPr/>
        </p:nvSpPr>
        <p:spPr>
          <a:xfrm>
            <a:off x="5638800" y="322091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30" name="Speech Bubble: Rectangle with Corners Rounded 29">
            <a:extLst>
              <a:ext uri="{FF2B5EF4-FFF2-40B4-BE49-F238E27FC236}">
                <a16:creationId xmlns:a16="http://schemas.microsoft.com/office/drawing/2014/main" id="{BB788880-5AF4-04A7-22D5-D9361FD5FA70}"/>
              </a:ext>
            </a:extLst>
          </p:cNvPr>
          <p:cNvSpPr/>
          <p:nvPr/>
        </p:nvSpPr>
        <p:spPr>
          <a:xfrm>
            <a:off x="6477000" y="2247484"/>
            <a:ext cx="2494824"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Enable/Disable Customer Lockbox</a:t>
            </a:r>
          </a:p>
        </p:txBody>
      </p:sp>
      <p:sp>
        <p:nvSpPr>
          <p:cNvPr id="31" name="Flowchart: Connector 30">
            <a:extLst>
              <a:ext uri="{FF2B5EF4-FFF2-40B4-BE49-F238E27FC236}">
                <a16:creationId xmlns:a16="http://schemas.microsoft.com/office/drawing/2014/main" id="{937B5BBB-DA1E-1BB0-C62A-97ED8D663F41}"/>
              </a:ext>
            </a:extLst>
          </p:cNvPr>
          <p:cNvSpPr/>
          <p:nvPr/>
        </p:nvSpPr>
        <p:spPr>
          <a:xfrm>
            <a:off x="9067800" y="243661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3</a:t>
            </a:r>
            <a:endParaRPr lang="en-US" sz="1400" dirty="0"/>
          </a:p>
        </p:txBody>
      </p:sp>
    </p:spTree>
    <p:extLst>
      <p:ext uri="{BB962C8B-B14F-4D97-AF65-F5344CB8AC3E}">
        <p14:creationId xmlns:p14="http://schemas.microsoft.com/office/powerpoint/2010/main" val="282008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anim calcmode="lin" valueType="num">
                                      <p:cBhvr>
                                        <p:cTn id="25" dur="1000" fill="hold"/>
                                        <p:tgtEl>
                                          <p:spTgt spid="28"/>
                                        </p:tgtEl>
                                        <p:attrNameLst>
                                          <p:attrName>ppt_x</p:attrName>
                                        </p:attrNameLst>
                                      </p:cBhvr>
                                      <p:tavLst>
                                        <p:tav tm="0">
                                          <p:val>
                                            <p:strVal val="#ppt_x"/>
                                          </p:val>
                                        </p:tav>
                                        <p:tav tm="100000">
                                          <p:val>
                                            <p:strVal val="#ppt_x"/>
                                          </p:val>
                                        </p:tav>
                                      </p:tavLst>
                                    </p:anim>
                                    <p:anim calcmode="lin" valueType="num">
                                      <p:cBhvr>
                                        <p:cTn id="2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1000"/>
                                        <p:tgtEl>
                                          <p:spTgt spid="31"/>
                                        </p:tgtEl>
                                      </p:cBhvr>
                                    </p:animEffect>
                                    <p:anim calcmode="lin" valueType="num">
                                      <p:cBhvr>
                                        <p:cTn id="32" dur="1000" fill="hold"/>
                                        <p:tgtEl>
                                          <p:spTgt spid="31"/>
                                        </p:tgtEl>
                                        <p:attrNameLst>
                                          <p:attrName>ppt_x</p:attrName>
                                        </p:attrNameLst>
                                      </p:cBhvr>
                                      <p:tavLst>
                                        <p:tav tm="0">
                                          <p:val>
                                            <p:strVal val="#ppt_x"/>
                                          </p:val>
                                        </p:tav>
                                        <p:tav tm="100000">
                                          <p:val>
                                            <p:strVal val="#ppt_x"/>
                                          </p:val>
                                        </p:tav>
                                      </p:tavLst>
                                    </p:anim>
                                    <p:anim calcmode="lin" valueType="num">
                                      <p:cBhvr>
                                        <p:cTn id="33" dur="1000" fill="hold"/>
                                        <p:tgtEl>
                                          <p:spTgt spid="3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1000"/>
                                        <p:tgtEl>
                                          <p:spTgt spid="30"/>
                                        </p:tgtEl>
                                      </p:cBhvr>
                                    </p:animEffect>
                                    <p:anim calcmode="lin" valueType="num">
                                      <p:cBhvr>
                                        <p:cTn id="37" dur="1000" fill="hold"/>
                                        <p:tgtEl>
                                          <p:spTgt spid="30"/>
                                        </p:tgtEl>
                                        <p:attrNameLst>
                                          <p:attrName>ppt_x</p:attrName>
                                        </p:attrNameLst>
                                      </p:cBhvr>
                                      <p:tavLst>
                                        <p:tav tm="0">
                                          <p:val>
                                            <p:strVal val="#ppt_x"/>
                                          </p:val>
                                        </p:tav>
                                        <p:tav tm="100000">
                                          <p:val>
                                            <p:strVal val="#ppt_x"/>
                                          </p:val>
                                        </p:tav>
                                      </p:tavLst>
                                    </p:anim>
                                    <p:anim calcmode="lin" valueType="num">
                                      <p:cBhvr>
                                        <p:cTn id="3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7" grpId="0" animBg="1"/>
      <p:bldP spid="28" grpId="0" animBg="1"/>
      <p:bldP spid="29" grpId="0" animBg="1"/>
      <p:bldP spid="30" grpId="0" animBg="1"/>
      <p:bldP spid="3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D7CD-C66A-735E-6D4A-F28F25B9BB27}"/>
            </a:ext>
          </a:extLst>
        </p:cNvPr>
        <p:cNvGrpSpPr/>
        <p:nvPr/>
      </p:nvGrpSpPr>
      <p:grpSpPr>
        <a:xfrm>
          <a:off x="0" y="0"/>
          <a:ext cx="0" cy="0"/>
          <a:chOff x="0" y="0"/>
          <a:chExt cx="0" cy="0"/>
        </a:xfrm>
      </p:grpSpPr>
      <p:pic>
        <p:nvPicPr>
          <p:cNvPr id="2" name="Imagen 2">
            <a:extLst>
              <a:ext uri="{FF2B5EF4-FFF2-40B4-BE49-F238E27FC236}">
                <a16:creationId xmlns:a16="http://schemas.microsoft.com/office/drawing/2014/main" id="{438B6403-E3C3-7A4F-1531-FAB37F42829F}"/>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6096000" y="86259"/>
            <a:ext cx="2901552" cy="2904591"/>
          </a:xfrm>
          <a:prstGeom prst="rect">
            <a:avLst/>
          </a:prstGeom>
        </p:spPr>
      </p:pic>
      <p:sp>
        <p:nvSpPr>
          <p:cNvPr id="3" name="Marcador de texto 4">
            <a:extLst>
              <a:ext uri="{FF2B5EF4-FFF2-40B4-BE49-F238E27FC236}">
                <a16:creationId xmlns:a16="http://schemas.microsoft.com/office/drawing/2014/main" id="{D78EBE58-7906-24E5-7C59-2FA64AE250CF}"/>
              </a:ext>
            </a:extLst>
          </p:cNvPr>
          <p:cNvSpPr txBox="1">
            <a:spLocks/>
          </p:cNvSpPr>
          <p:nvPr/>
        </p:nvSpPr>
        <p:spPr>
          <a:xfrm>
            <a:off x="4419600" y="3321389"/>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effectLst/>
                <a:uLnTx/>
                <a:uFillTx/>
                <a:ea typeface="+mn-ea"/>
                <a:cs typeface="Segoe UI Semibold" panose="020B0702040204020203" pitchFamily="34" charset="0"/>
              </a:rPr>
              <a:t>Demo #6: </a:t>
            </a:r>
            <a:r>
              <a:rPr lang="en-US" sz="3600" b="1" dirty="0">
                <a:cs typeface="Segoe UI Semibold" panose="020B0702040204020203" pitchFamily="34" charset="0"/>
              </a:rPr>
              <a:t>Data Encryption &amp; Compliance</a:t>
            </a:r>
            <a:endParaRPr kumimoji="0" lang="en-US" sz="3600" b="1" i="0" u="none" strike="noStrike" kern="1200" cap="none" spc="0" normalizeH="0" baseline="0" noProof="0" dirty="0">
              <a:ln>
                <a:noFill/>
              </a:ln>
              <a:effectLst/>
              <a:uLnTx/>
              <a:uFillTx/>
              <a:cs typeface="Segoe UI Semibold" panose="020B07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effectLst/>
              <a:uLnTx/>
              <a:uFillTx/>
              <a:ea typeface="+mn-ea"/>
              <a:cs typeface="+mn-cs"/>
            </a:endParaRPr>
          </a:p>
        </p:txBody>
      </p:sp>
      <p:pic>
        <p:nvPicPr>
          <p:cNvPr id="4" name="Picture 18" descr="Minion clipart transparent background, Minion transparent background  Transparent FREE for download on WebStockReview 2021">
            <a:extLst>
              <a:ext uri="{FF2B5EF4-FFF2-40B4-BE49-F238E27FC236}">
                <a16:creationId xmlns:a16="http://schemas.microsoft.com/office/drawing/2014/main" id="{971466EF-44AE-C47B-E9C5-603294CD7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6259"/>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745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DF2AD-D183-1518-E960-2CBC5115EA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2F487F7-B9AA-AD7B-430B-2F792A4303A5}"/>
              </a:ext>
            </a:extLst>
          </p:cNvPr>
          <p:cNvSpPr>
            <a:spLocks noGrp="1"/>
          </p:cNvSpPr>
          <p:nvPr>
            <p:ph type="body" sz="quarter" idx="10"/>
          </p:nvPr>
        </p:nvSpPr>
        <p:spPr>
          <a:xfrm>
            <a:off x="537136" y="276271"/>
            <a:ext cx="9673664" cy="541810"/>
          </a:xfrm>
        </p:spPr>
        <p:txBody>
          <a:bodyPr>
            <a:normAutofit/>
          </a:bodyPr>
          <a:lstStyle/>
          <a:p>
            <a:r>
              <a:rPr lang="en-US" sz="2400" noProof="0" dirty="0"/>
              <a:t>Data Encryption + Compliance : Key Learnings</a:t>
            </a:r>
          </a:p>
        </p:txBody>
      </p:sp>
      <p:sp>
        <p:nvSpPr>
          <p:cNvPr id="3" name="Content Placeholder 2">
            <a:extLst>
              <a:ext uri="{FF2B5EF4-FFF2-40B4-BE49-F238E27FC236}">
                <a16:creationId xmlns:a16="http://schemas.microsoft.com/office/drawing/2014/main" id="{E77C8E59-E238-A560-2A6D-03D78E42455B}"/>
              </a:ext>
            </a:extLst>
          </p:cNvPr>
          <p:cNvSpPr>
            <a:spLocks noGrp="1"/>
          </p:cNvSpPr>
          <p:nvPr>
            <p:ph sz="quarter" idx="11"/>
          </p:nvPr>
        </p:nvSpPr>
        <p:spPr/>
        <p:txBody>
          <a:bodyPr>
            <a:normAutofit/>
          </a:bodyPr>
          <a:lstStyle/>
          <a:p>
            <a:pPr marL="171450" marR="0" lvl="0" indent="-171450" defTabSz="932742" fontAlgn="auto">
              <a:lnSpc>
                <a:spcPct val="100000"/>
              </a:lnSpc>
              <a:spcBef>
                <a:spcPts val="0"/>
              </a:spcBef>
              <a:spcAft>
                <a:spcPts val="0"/>
              </a:spcAft>
              <a:buClrTx/>
              <a:buSzPct val="90000"/>
              <a:tabLst/>
              <a:defRPr/>
            </a:pPr>
            <a:r>
              <a:rPr lang="en-US" sz="2200" dirty="0">
                <a:ln w="3175"/>
                <a:latin typeface="Arial" panose="020B0604020202020204" pitchFamily="34" charset="0"/>
                <a:cs typeface="Arial" panose="020B0604020202020204" pitchFamily="34" charset="0"/>
              </a:rPr>
              <a:t>Use </a:t>
            </a:r>
            <a:r>
              <a:rPr lang="en-US" sz="2200" dirty="0">
                <a:ln w="3175"/>
                <a:latin typeface="Arial" panose="020B0604020202020204" pitchFamily="34" charset="0"/>
                <a:cs typeface="Arial" panose="020B0604020202020204" pitchFamily="34" charset="0"/>
                <a:hlinkClick r:id="rId2"/>
              </a:rPr>
              <a:t>Power Platform Trust Center</a:t>
            </a:r>
            <a:r>
              <a:rPr lang="en-US" sz="2200" dirty="0">
                <a:ln w="3175"/>
                <a:latin typeface="Arial" panose="020B0604020202020204" pitchFamily="34" charset="0"/>
                <a:cs typeface="Arial" panose="020B0604020202020204" pitchFamily="34" charset="0"/>
              </a:rPr>
              <a:t> for latest on security, privacy, compliance, and transparency </a:t>
            </a:r>
          </a:p>
          <a:p>
            <a:pPr marL="171450" lvl="0" indent="-171450" defTabSz="932742">
              <a:spcBef>
                <a:spcPts val="0"/>
              </a:spcBef>
              <a:buSzPct val="90000"/>
              <a:defRPr/>
            </a:pPr>
            <a:r>
              <a:rPr lang="en-US" sz="2200" dirty="0">
                <a:ln w="3175"/>
                <a:latin typeface="Arial" panose="020B0604020202020204" pitchFamily="34" charset="0"/>
                <a:cs typeface="Arial" panose="020B0604020202020204" pitchFamily="34" charset="0"/>
              </a:rPr>
              <a:t>Govern Microsoft access to sensitive data with </a:t>
            </a:r>
            <a:r>
              <a:rPr lang="en-US" sz="2200" dirty="0">
                <a:ln w="3175"/>
                <a:latin typeface="Arial" panose="020B0604020202020204" pitchFamily="34" charset="0"/>
                <a:cs typeface="Arial" panose="020B0604020202020204" pitchFamily="34" charset="0"/>
                <a:hlinkClick r:id="rId3"/>
              </a:rPr>
              <a:t>CMK</a:t>
            </a:r>
            <a:r>
              <a:rPr lang="en-US" sz="2200" dirty="0">
                <a:ln w="3175"/>
                <a:latin typeface="Arial" panose="020B0604020202020204" pitchFamily="34" charset="0"/>
                <a:cs typeface="Arial" panose="020B0604020202020204" pitchFamily="34" charset="0"/>
              </a:rPr>
              <a:t> and </a:t>
            </a:r>
            <a:r>
              <a:rPr lang="en-US" sz="2200" dirty="0">
                <a:ln w="3175"/>
                <a:latin typeface="Arial" panose="020B0604020202020204" pitchFamily="34" charset="0"/>
                <a:cs typeface="Arial" panose="020B0604020202020204" pitchFamily="34" charset="0"/>
                <a:hlinkClick r:id="rId4"/>
              </a:rPr>
              <a:t>Lockbox</a:t>
            </a:r>
            <a:endParaRPr lang="en-US" sz="2200" dirty="0">
              <a:ln w="3175"/>
              <a:latin typeface="Arial" panose="020B0604020202020204" pitchFamily="34" charset="0"/>
              <a:cs typeface="Arial" panose="020B0604020202020204" pitchFamily="34" charset="0"/>
            </a:endParaRPr>
          </a:p>
          <a:p>
            <a:pPr marL="171450" lvl="0" indent="-171450" defTabSz="932742">
              <a:spcBef>
                <a:spcPts val="0"/>
              </a:spcBef>
              <a:buSzPct val="90000"/>
              <a:defRPr/>
            </a:pPr>
            <a:r>
              <a:rPr lang="en-US" sz="2200" dirty="0">
                <a:ln w="3175"/>
                <a:latin typeface="Arial" panose="020B0604020202020204" pitchFamily="34" charset="0"/>
                <a:cs typeface="Arial" panose="020B0604020202020204" pitchFamily="34" charset="0"/>
              </a:rPr>
              <a:t>Govern AI access to sensitive data using </a:t>
            </a:r>
            <a:r>
              <a:rPr lang="en-US" sz="2200" dirty="0">
                <a:ln w="3175"/>
                <a:latin typeface="Arial" panose="020B0604020202020204" pitchFamily="34" charset="0"/>
                <a:cs typeface="Arial" panose="020B0604020202020204" pitchFamily="34" charset="0"/>
                <a:hlinkClick r:id="rId5"/>
              </a:rPr>
              <a:t>Dataverse security</a:t>
            </a:r>
            <a:r>
              <a:rPr lang="en-US" sz="2200" dirty="0">
                <a:ln w="3175"/>
                <a:latin typeface="Arial" panose="020B0604020202020204" pitchFamily="34" charset="0"/>
                <a:cs typeface="Arial" panose="020B0604020202020204" pitchFamily="34" charset="0"/>
              </a:rPr>
              <a:t> controls</a:t>
            </a:r>
          </a:p>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lang="en-US" sz="2200" dirty="0">
              <a:ln w="3175"/>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1547729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E865F43-40FF-24E2-E47D-A4DA6F48FD5F}"/>
            </a:ext>
          </a:extLst>
        </p:cNvPr>
        <p:cNvGrpSpPr/>
        <p:nvPr/>
      </p:nvGrpSpPr>
      <p:grpSpPr>
        <a:xfrm>
          <a:off x="0" y="0"/>
          <a:ext cx="0" cy="0"/>
          <a:chOff x="0" y="0"/>
          <a:chExt cx="0" cy="0"/>
        </a:xfrm>
      </p:grpSpPr>
      <p:sp>
        <p:nvSpPr>
          <p:cNvPr id="2" name="Marcador de texto 4">
            <a:extLst>
              <a:ext uri="{FF2B5EF4-FFF2-40B4-BE49-F238E27FC236}">
                <a16:creationId xmlns:a16="http://schemas.microsoft.com/office/drawing/2014/main" id="{7346354A-0B9A-F539-79F9-65557F2E93F9}"/>
              </a:ext>
            </a:extLst>
          </p:cNvPr>
          <p:cNvSpPr txBox="1">
            <a:spLocks/>
          </p:cNvSpPr>
          <p:nvPr/>
        </p:nvSpPr>
        <p:spPr>
          <a:xfrm>
            <a:off x="1" y="2093518"/>
            <a:ext cx="4800600"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effectLst/>
                <a:uLnTx/>
                <a:uFillTx/>
                <a:ea typeface="+mn-ea"/>
                <a:cs typeface="Segoe UI Semibold" panose="020B0702040204020203" pitchFamily="34" charset="0"/>
              </a:rPr>
              <a:t>Questions?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effectLst/>
              <a:uLnTx/>
              <a:uFillTx/>
              <a:ea typeface="+mn-ea"/>
              <a:cs typeface="+mn-cs"/>
            </a:endParaRPr>
          </a:p>
        </p:txBody>
      </p:sp>
      <p:pic>
        <p:nvPicPr>
          <p:cNvPr id="3" name="Picture 2" descr="Minion Rush – FAQs">
            <a:extLst>
              <a:ext uri="{FF2B5EF4-FFF2-40B4-BE49-F238E27FC236}">
                <a16:creationId xmlns:a16="http://schemas.microsoft.com/office/drawing/2014/main" id="{9A892849-49E3-E5F2-FD35-3B317F023B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47637"/>
            <a:ext cx="5076825" cy="568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2129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92261-6D1C-9642-707B-8549B8586E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2D2CD5-F721-9D0A-6E9B-C31EB45E55F1}"/>
              </a:ext>
            </a:extLst>
          </p:cNvPr>
          <p:cNvSpPr>
            <a:spLocks noGrp="1"/>
          </p:cNvSpPr>
          <p:nvPr>
            <p:ph type="body" sz="quarter" idx="10"/>
          </p:nvPr>
        </p:nvSpPr>
        <p:spPr/>
        <p:txBody>
          <a:bodyPr/>
          <a:lstStyle/>
          <a:p>
            <a:r>
              <a:rPr lang="en-US" noProof="0" dirty="0"/>
              <a:t>Office 365 for IT Pros</a:t>
            </a:r>
          </a:p>
        </p:txBody>
      </p:sp>
      <p:sp>
        <p:nvSpPr>
          <p:cNvPr id="3" name="Content Placeholder 2">
            <a:extLst>
              <a:ext uri="{FF2B5EF4-FFF2-40B4-BE49-F238E27FC236}">
                <a16:creationId xmlns:a16="http://schemas.microsoft.com/office/drawing/2014/main" id="{15F4B8CF-F026-DA54-89AB-F2737FD2F594}"/>
              </a:ext>
            </a:extLst>
          </p:cNvPr>
          <p:cNvSpPr>
            <a:spLocks noGrp="1"/>
          </p:cNvSpPr>
          <p:nvPr>
            <p:ph sz="quarter" idx="11"/>
          </p:nvPr>
        </p:nvSpPr>
        <p:spPr>
          <a:xfrm>
            <a:off x="536575" y="1085850"/>
            <a:ext cx="5483225" cy="4800600"/>
          </a:xfrm>
        </p:spPr>
        <p:txBody>
          <a:bodyPr/>
          <a:lstStyle/>
          <a:p>
            <a:r>
              <a:rPr lang="en-US" sz="2400" noProof="0" dirty="0"/>
              <a:t>The best way to stay up to date with Microsoft 365 changes:</a:t>
            </a:r>
          </a:p>
          <a:p>
            <a:pPr lvl="1"/>
            <a:r>
              <a:rPr lang="en-US" sz="2000" dirty="0">
                <a:latin typeface="+mj-lt"/>
                <a:cs typeface="Segoe UI" panose="020B0502040204020203" pitchFamily="34" charset="0"/>
                <a:hlinkClick r:id="rId2">
                  <a:extLst>
                    <a:ext uri="{A12FA001-AC4F-418D-AE19-62706E023703}">
                      <ahyp:hlinkClr xmlns:ahyp="http://schemas.microsoft.com/office/drawing/2018/hyperlinkcolor" val="tx"/>
                    </a:ext>
                  </a:extLst>
                </a:hlinkClick>
              </a:rPr>
              <a:t>https://o365itpros.gumroad.com/l/O365IT</a:t>
            </a:r>
            <a:r>
              <a:rPr lang="en-US" sz="2000" dirty="0">
                <a:latin typeface="+mj-lt"/>
                <a:cs typeface="Segoe UI" panose="020B0502040204020203" pitchFamily="34" charset="0"/>
              </a:rPr>
              <a:t>  </a:t>
            </a:r>
          </a:p>
          <a:p>
            <a:endParaRPr lang="en-US" dirty="0"/>
          </a:p>
        </p:txBody>
      </p:sp>
      <p:pic>
        <p:nvPicPr>
          <p:cNvPr id="4" name="Picture 2">
            <a:extLst>
              <a:ext uri="{FF2B5EF4-FFF2-40B4-BE49-F238E27FC236}">
                <a16:creationId xmlns:a16="http://schemas.microsoft.com/office/drawing/2014/main" id="{AAC4C61A-EC95-EA41-585C-E8FA432369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4600" y="400050"/>
            <a:ext cx="3779518" cy="5344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950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1CB1F-4C98-BD77-A802-10DF6CA50288}"/>
            </a:ext>
          </a:extLst>
        </p:cNvPr>
        <p:cNvGrpSpPr/>
        <p:nvPr/>
      </p:nvGrpSpPr>
      <p:grpSpPr>
        <a:xfrm>
          <a:off x="0" y="0"/>
          <a:ext cx="0" cy="0"/>
          <a:chOff x="0" y="0"/>
          <a:chExt cx="0" cy="0"/>
        </a:xfrm>
      </p:grpSpPr>
    </p:spTree>
    <p:extLst>
      <p:ext uri="{BB962C8B-B14F-4D97-AF65-F5344CB8AC3E}">
        <p14:creationId xmlns:p14="http://schemas.microsoft.com/office/powerpoint/2010/main" val="7661254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088629"/>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d1e988b-855c-431f-9f0a-8b7c0ed26957}" enabled="1" method="Privileged" siteId="{6583636b-d156-492e-86ce-b8fccb790df1}" removed="0"/>
</clbl:labelList>
</file>

<file path=docProps/app.xml><?xml version="1.0" encoding="utf-8"?>
<Properties xmlns="http://schemas.openxmlformats.org/officeDocument/2006/extended-properties" xmlns:vt="http://schemas.openxmlformats.org/officeDocument/2006/docPropsVTypes">
  <TotalTime>0</TotalTime>
  <Words>3931</Words>
  <Application>Microsoft Office PowerPoint</Application>
  <PresentationFormat>Custom</PresentationFormat>
  <Paragraphs>591</Paragraphs>
  <Slides>52</Slides>
  <Notes>28</Notes>
  <HiddenSlides>0</HiddenSlides>
  <MMClips>1</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52</vt:i4>
      </vt:variant>
    </vt:vector>
  </HeadingPairs>
  <TitlesOfParts>
    <vt:vector size="64" baseType="lpstr">
      <vt:lpstr>Wingdings</vt:lpstr>
      <vt:lpstr>Arial</vt:lpstr>
      <vt:lpstr>Segoe UI Semibold</vt:lpstr>
      <vt:lpstr>Open Sans Bold</vt:lpstr>
      <vt:lpstr>Segoe UI</vt:lpstr>
      <vt:lpstr>Open Sans</vt:lpstr>
      <vt:lpstr>Chunk Five</vt:lpstr>
      <vt:lpstr>Calibri</vt:lpstr>
      <vt:lpstr>Aptos</vt:lpstr>
      <vt:lpstr>Agency FB</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Managed Security in the Power Platform: Advanced Protection for an AI-Driven World</dc:title>
  <dc:creator>Mohamed Derhalli</dc:creator>
  <cp:lastModifiedBy>Juan Carlos González</cp:lastModifiedBy>
  <cp:revision>43</cp:revision>
  <dcterms:created xsi:type="dcterms:W3CDTF">2006-08-16T00:00:00Z</dcterms:created>
  <dcterms:modified xsi:type="dcterms:W3CDTF">2025-06-20T07:27:36Z</dcterms:modified>
  <dc:identifier>DAGhspscVDE</dc:identifier>
</cp:coreProperties>
</file>
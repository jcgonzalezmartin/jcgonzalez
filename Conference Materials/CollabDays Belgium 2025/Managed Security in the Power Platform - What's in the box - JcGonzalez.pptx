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58"/>
  </p:notesMasterIdLst>
  <p:sldIdLst>
    <p:sldId id="466" r:id="rId3"/>
    <p:sldId id="261" r:id="rId4"/>
    <p:sldId id="264" r:id="rId5"/>
    <p:sldId id="271" r:id="rId6"/>
    <p:sldId id="273" r:id="rId7"/>
    <p:sldId id="272" r:id="rId8"/>
    <p:sldId id="266" r:id="rId9"/>
    <p:sldId id="319" r:id="rId10"/>
    <p:sldId id="386" r:id="rId11"/>
    <p:sldId id="464" r:id="rId12"/>
    <p:sldId id="412" r:id="rId13"/>
    <p:sldId id="413" r:id="rId14"/>
    <p:sldId id="389" r:id="rId15"/>
    <p:sldId id="388" r:id="rId16"/>
    <p:sldId id="429" r:id="rId17"/>
    <p:sldId id="431" r:id="rId18"/>
    <p:sldId id="433" r:id="rId19"/>
    <p:sldId id="432" r:id="rId20"/>
    <p:sldId id="435" r:id="rId21"/>
    <p:sldId id="436" r:id="rId22"/>
    <p:sldId id="430" r:id="rId23"/>
    <p:sldId id="437" r:id="rId24"/>
    <p:sldId id="438" r:id="rId25"/>
    <p:sldId id="440" r:id="rId26"/>
    <p:sldId id="441" r:id="rId27"/>
    <p:sldId id="442" r:id="rId28"/>
    <p:sldId id="443" r:id="rId29"/>
    <p:sldId id="444" r:id="rId30"/>
    <p:sldId id="445" r:id="rId31"/>
    <p:sldId id="439" r:id="rId32"/>
    <p:sldId id="446" r:id="rId33"/>
    <p:sldId id="447" r:id="rId34"/>
    <p:sldId id="449" r:id="rId35"/>
    <p:sldId id="450" r:id="rId36"/>
    <p:sldId id="451" r:id="rId37"/>
    <p:sldId id="452" r:id="rId38"/>
    <p:sldId id="453" r:id="rId39"/>
    <p:sldId id="454" r:id="rId40"/>
    <p:sldId id="448" r:id="rId41"/>
    <p:sldId id="455" r:id="rId42"/>
    <p:sldId id="456" r:id="rId43"/>
    <p:sldId id="457" r:id="rId44"/>
    <p:sldId id="422" r:id="rId45"/>
    <p:sldId id="459" r:id="rId46"/>
    <p:sldId id="460" r:id="rId47"/>
    <p:sldId id="461" r:id="rId48"/>
    <p:sldId id="462" r:id="rId49"/>
    <p:sldId id="463" r:id="rId50"/>
    <p:sldId id="458" r:id="rId51"/>
    <p:sldId id="424" r:id="rId52"/>
    <p:sldId id="427" r:id="rId53"/>
    <p:sldId id="428" r:id="rId54"/>
    <p:sldId id="343" r:id="rId55"/>
    <p:sldId id="263" r:id="rId56"/>
    <p:sldId id="46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79573" autoAdjust="0"/>
  </p:normalViewPr>
  <p:slideViewPr>
    <p:cSldViewPr snapToGrid="0">
      <p:cViewPr varScale="1">
        <p:scale>
          <a:sx n="75" d="100"/>
          <a:sy n="75" d="100"/>
        </p:scale>
        <p:origin x="83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B6E99-AD27-42EB-B26E-33EE60F9E699}" type="datetimeFigureOut">
              <a:rPr lang="en-US" smtClean="0"/>
              <a:t>10/18/2025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E54CC-9E98-4C00-870E-B3ADD81613B8}" type="slidenum">
              <a:rPr lang="en-US" smtClean="0"/>
              <a:t>‹#›</a:t>
            </a:fld>
            <a:endParaRPr lang="en-US"/>
          </a:p>
        </p:txBody>
      </p:sp>
    </p:spTree>
    <p:extLst>
      <p:ext uri="{BB962C8B-B14F-4D97-AF65-F5344CB8AC3E}">
        <p14:creationId xmlns:p14="http://schemas.microsoft.com/office/powerpoint/2010/main" val="92893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learn.microsoft.com/en-us/purview/register-scan-dataverse?" TargetMode="External"/><Relationship Id="rId13" Type="http://schemas.openxmlformats.org/officeDocument/2006/relationships/hyperlink" Target="https://learn.microsoft.com/en-us/power-platform/admin/managed-identity-overview" TargetMode="External"/><Relationship Id="rId3" Type="http://schemas.openxmlformats.org/officeDocument/2006/relationships/hyperlink" Target="https://learn.microsoft.com/en-us/power-platform/admin/about-lockbox" TargetMode="External"/><Relationship Id="rId7" Type="http://schemas.openxmlformats.org/officeDocument/2006/relationships/hyperlink" Target="https://learn.microsoft.com/en-us/power-platform/admin/create-manage-masking-rules" TargetMode="External"/><Relationship Id="rId12" Type="http://schemas.openxmlformats.org/officeDocument/2006/relationships/hyperlink" Target="https://learn.microsoft.com/en-us/power-platform-release-plan/2022wave1/power-apps/conditional-access-policies-individual-power-app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learn.microsoft.com/en-us/power-platform/admin/managed-environment-data-policies" TargetMode="External"/><Relationship Id="rId11" Type="http://schemas.openxmlformats.org/officeDocument/2006/relationships/hyperlink" Target="https://learn.microsoft.com/en-us/power-platform/admin/managed-environment-sharing-limits" TargetMode="External"/><Relationship Id="rId5" Type="http://schemas.openxmlformats.org/officeDocument/2006/relationships/hyperlink" Target="https://learn.microsoft.com/en-us/power-platform/admin/customer-managed-key" TargetMode="External"/><Relationship Id="rId15" Type="http://schemas.openxmlformats.org/officeDocument/2006/relationships/hyperlink" Target="https://learn.microsoft.com/en-us/azure/sentinel/business-applications/power-platform-solution-overview" TargetMode="External"/><Relationship Id="rId10" Type="http://schemas.openxmlformats.org/officeDocument/2006/relationships/hyperlink" Target="https://learn.microsoft.com/en-us/power-platform/admin/block-cookie-replay-attack" TargetMode="External"/><Relationship Id="rId4" Type="http://schemas.openxmlformats.org/officeDocument/2006/relationships/hyperlink" Target="https://learn.microsoft.com/en-us/power-platform/admin/vnet-support-overview" TargetMode="External"/><Relationship Id="rId9" Type="http://schemas.openxmlformats.org/officeDocument/2006/relationships/hyperlink" Target="https://learn.microsoft.com/en-us/power-platform/admin/ip-firewall" TargetMode="External"/><Relationship Id="rId14" Type="http://schemas.openxmlformats.org/officeDocument/2006/relationships/hyperlink" Target="https://learn.microsoft.com/en-us/power-platform/admin/security/access-contro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earn.microsoft.com/en-us/power-platform/admin/vnet-support-overview" TargetMode="External"/><Relationship Id="rId7" Type="http://schemas.openxmlformats.org/officeDocument/2006/relationships/hyperlink" Target="https://learn.microsoft.com/en-us/purview/register-scan-dataverse?"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learn.microsoft.com/en-us/power-platform/admin/create-manage-masking-rules" TargetMode="External"/><Relationship Id="rId5" Type="http://schemas.openxmlformats.org/officeDocument/2006/relationships/hyperlink" Target="https://learn.microsoft.com/en-us/power-platform/admin/managed-environment-data-policies" TargetMode="External"/><Relationship Id="rId4" Type="http://schemas.openxmlformats.org/officeDocument/2006/relationships/hyperlink" Target="https://learn.microsoft.com/en-us/power-platform/admin/customer-managed-key"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learn.microsoft.com/en-us/power-platform/admin/dlp-connector-classification" TargetMode="External"/><Relationship Id="rId3" Type="http://schemas.openxmlformats.org/officeDocument/2006/relationships/hyperlink" Target="https://learn.microsoft.com/en-us/power-platform/admin/vnet-support-overview" TargetMode="External"/><Relationship Id="rId7" Type="http://schemas.openxmlformats.org/officeDocument/2006/relationships/hyperlink" Target="https://learn.microsoft.com/en-us/purview/register-scan-dataverse?"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learn.microsoft.com/en-us/power-platform/admin/create-manage-masking-rules" TargetMode="External"/><Relationship Id="rId5" Type="http://schemas.openxmlformats.org/officeDocument/2006/relationships/hyperlink" Target="https://learn.microsoft.com/en-us/power-platform/admin/managed-environment-data-policies" TargetMode="External"/><Relationship Id="rId4" Type="http://schemas.openxmlformats.org/officeDocument/2006/relationships/hyperlink" Target="https://learn.microsoft.com/en-us/power-platform/admin/customer-managed-key" TargetMode="External"/><Relationship Id="rId9" Type="http://schemas.openxmlformats.org/officeDocument/2006/relationships/hyperlink" Target="https://learn.microsoft.com/en-us/power-platform/admin/environment-groups"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earn.microsoft.com/en-us/power-platform/admin/dlp-connector-classification"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learn.microsoft.com/en-us/power-platform/admin/wp-data-loss-prevention#virtual-connectors" TargetMode="External"/><Relationship Id="rId4" Type="http://schemas.openxmlformats.org/officeDocument/2006/relationships/hyperlink" Target="https://learn.microsoft.com/en-us/power-platform/admin/environment-groups"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en-us/azure/virtual-network/virtual-networks-overview"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learn.microsoft.com/en-us/azure/virtual-network/subnet-delegation-overview"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learn.microsoft.com/en-us/power-platform/admin/security/access-control" TargetMode="External"/><Relationship Id="rId3" Type="http://schemas.openxmlformats.org/officeDocument/2006/relationships/hyperlink" Target="https://learn.microsoft.com/en-us/power-platform/admin/ip-firewall" TargetMode="External"/><Relationship Id="rId7" Type="http://schemas.openxmlformats.org/officeDocument/2006/relationships/hyperlink" Target="https://learn.microsoft.com/en-us/power-platform/admin/managed-identity-overview"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learn.microsoft.com/en-us/power-platform-release-plan/2022wave1/power-apps/conditional-access-policies-individual-power-apps" TargetMode="External"/><Relationship Id="rId5" Type="http://schemas.openxmlformats.org/officeDocument/2006/relationships/hyperlink" Target="https://learn.microsoft.com/en-us/power-platform/admin/managed-environment-sharing-limits" TargetMode="External"/><Relationship Id="rId4" Type="http://schemas.openxmlformats.org/officeDocument/2006/relationships/hyperlink" Target="https://learn.microsoft.com/en-us/power-platform/admin/block-cookie-replay-attack"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learn.microsoft.com/en-us/power-platform/admin/security/access-control" TargetMode="External"/><Relationship Id="rId3" Type="http://schemas.openxmlformats.org/officeDocument/2006/relationships/hyperlink" Target="https://learn.microsoft.com/en-us/power-platform/admin/ip-firewall" TargetMode="External"/><Relationship Id="rId7" Type="http://schemas.openxmlformats.org/officeDocument/2006/relationships/hyperlink" Target="https://learn.microsoft.com/en-us/power-platform/admin/managed-identity-overview" TargetMode="External"/><Relationship Id="rId2" Type="http://schemas.openxmlformats.org/officeDocument/2006/relationships/slide" Target="../slides/slide31.xml"/><Relationship Id="rId1" Type="http://schemas.openxmlformats.org/officeDocument/2006/relationships/notesMaster" Target="../notesMasters/notesMaster1.xml"/><Relationship Id="rId6" Type="http://schemas.openxmlformats.org/officeDocument/2006/relationships/hyperlink" Target="https://learn.microsoft.com/en-us/power-platform-release-plan/2022wave1/power-apps/conditional-access-policies-individual-power-apps" TargetMode="External"/><Relationship Id="rId5" Type="http://schemas.openxmlformats.org/officeDocument/2006/relationships/hyperlink" Target="https://learn.microsoft.com/en-us/power-platform/admin/managed-environment-sharing-limits" TargetMode="External"/><Relationship Id="rId4" Type="http://schemas.openxmlformats.org/officeDocument/2006/relationships/hyperlink" Target="https://learn.microsoft.com/en-us/power-platform/admin/block-cookie-replay-attack" TargetMode="External"/><Relationship Id="rId9" Type="http://schemas.openxmlformats.org/officeDocument/2006/relationships/hyperlink" Target="https://learn.microsoft.com/en-us/power-platform/admin/control-app-access-environment"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learn.microsoft.com/en-us/microsoft-copilot-studio/configuration-end-user-authentication#authenticate-manually"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learn.microsoft.com/en-us/azure/sentinel/business-applications/power-platform-solution-overview"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webhooks-interface-developers"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s://learn.microsoft.com/en-us/defender-cloud-apps/real-time-agent-protection-during-runtime" TargetMode="Externa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webhooks-interface-developers"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s://learn.microsoft.com/en-us/defender-cloud-apps/real-time-agent-protection-during-runtime"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411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Protecting data and platforms is a must</a:t>
            </a:r>
          </a:p>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Security layers &amp; Managed Security in the Power Platform</a:t>
            </a:r>
          </a:p>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Identity &amp; Access Management + Network Security</a:t>
            </a:r>
          </a:p>
          <a:p>
            <a:pPr marL="171450" marR="0" lvl="0" indent="-171450" fontAlgn="auto">
              <a:lnSpc>
                <a:spcPct val="100000"/>
              </a:lnSpc>
              <a:spcAft>
                <a:spcPts val="0"/>
              </a:spcAft>
              <a:buClrTx/>
              <a:buSzPct val="90000"/>
              <a:buFont typeface="Arial" panose="020B0604020202020204" pitchFamily="34" charset="0"/>
              <a:buChar char="•"/>
              <a:tabLst/>
              <a:defRPr/>
            </a:pPr>
            <a:r>
              <a:rPr lang="en-US" sz="1200" dirty="0"/>
              <a:t>Data Access Management, Data Security and Data Loss Prevention</a:t>
            </a:r>
            <a:endPar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171450" marR="0" lvl="0" indent="-171450" fontAlgn="auto">
              <a:lnSpc>
                <a:spcPct val="100000"/>
              </a:lnSpc>
              <a:spcAft>
                <a:spcPts val="0"/>
              </a:spcAft>
              <a:buClrTx/>
              <a:buSzPct val="90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Compliance Standards and Regulations</a:t>
            </a:r>
          </a:p>
          <a:p>
            <a:pPr marL="0" marR="0" lvl="0" indent="0" fontAlgn="auto">
              <a:lnSpc>
                <a:spcPct val="100000"/>
              </a:lnSpc>
              <a:spcAft>
                <a:spcPts val="0"/>
              </a:spcAft>
              <a:buClrTx/>
              <a:buSzPct val="90000"/>
              <a:buFont typeface="Arial" panose="020B0604020202020204" pitchFamily="34" charset="0"/>
              <a:buNone/>
              <a:tabLst/>
              <a:defRPr/>
            </a:pPr>
            <a:r>
              <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Compliance</a:t>
            </a:r>
            <a:r>
              <a:rPr lang="en-US" sz="1200" b="0" i="0" kern="1200" dirty="0">
                <a:solidFill>
                  <a:schemeClr val="tx1"/>
                </a:solidFill>
                <a:effectLst/>
                <a:latin typeface="+mn-lt"/>
                <a:ea typeface="+mn-ea"/>
                <a:cs typeface="+mn-cs"/>
              </a:rPr>
              <a:t>: Implement robust compliance measures to safeguard organizational data and ensure adherence to industry regulations through features such as </a:t>
            </a:r>
            <a:r>
              <a:rPr lang="en-US" sz="1200" b="0" i="0" u="none" strike="noStrike" kern="1200" dirty="0">
                <a:solidFill>
                  <a:schemeClr val="tx1"/>
                </a:solidFill>
                <a:effectLst/>
                <a:latin typeface="+mn-lt"/>
                <a:ea typeface="+mn-ea"/>
                <a:cs typeface="+mn-cs"/>
                <a:hlinkClick r:id="rId3"/>
              </a:rPr>
              <a:t>Customer Lockbox</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Data protection and privacy</a:t>
            </a:r>
            <a:r>
              <a:rPr lang="en-US" sz="1200" b="0" i="0" kern="1200" dirty="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dirty="0">
                <a:solidFill>
                  <a:schemeClr val="tx1"/>
                </a:solidFill>
                <a:effectLst/>
                <a:latin typeface="+mn-lt"/>
                <a:ea typeface="+mn-ea"/>
                <a:cs typeface="+mn-cs"/>
                <a:hlinkClick r:id="rId4"/>
              </a:rPr>
              <a:t>Azure Virtual Network</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a:rPr>
              <a:t>customer-managed keys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a:rPr>
              <a:t>data policies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7"/>
              </a:rPr>
              <a:t>data masking</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8"/>
              </a:rPr>
              <a:t>Microsoft Purview Data Map</a:t>
            </a:r>
            <a:r>
              <a:rPr lang="en-US" sz="1200" b="0" i="0" kern="1200" dirty="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Identity and access management</a:t>
            </a:r>
            <a:r>
              <a:rPr lang="en-US" sz="1200" b="0" i="0" kern="1200" dirty="0">
                <a:solidFill>
                  <a:schemeClr val="tx1"/>
                </a:solidFill>
                <a:effectLst/>
                <a:latin typeface="+mn-lt"/>
                <a:ea typeface="+mn-ea"/>
                <a:cs typeface="+mn-cs"/>
              </a:rPr>
              <a:t>: Ensure that only authorized users can access specific resources, through features such as </a:t>
            </a:r>
            <a:r>
              <a:rPr lang="en-US" sz="1200" b="0" i="0" u="none" strike="noStrike" kern="1200" dirty="0">
                <a:solidFill>
                  <a:schemeClr val="tx1"/>
                </a:solidFill>
                <a:effectLst/>
                <a:latin typeface="+mn-lt"/>
                <a:ea typeface="+mn-ea"/>
                <a:cs typeface="+mn-cs"/>
                <a:hlinkClick r:id="rId9"/>
              </a:rPr>
              <a:t>IP firewall</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0"/>
              </a:rPr>
              <a:t>IP cookie binding</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1"/>
              </a:rPr>
              <a:t>Manage sharing</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2"/>
              </a:rPr>
              <a:t>conditional access policies for individual apps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13"/>
              </a:rPr>
              <a:t>managed identities for Dataverse plug-ins</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14"/>
              </a:rPr>
              <a:t>privileged access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Threat protection</a:t>
            </a:r>
            <a:r>
              <a:rPr lang="en-US" sz="1200" b="0" i="0" kern="1200" dirty="0">
                <a:solidFill>
                  <a:schemeClr val="tx1"/>
                </a:solidFill>
                <a:effectLst/>
                <a:latin typeface="+mn-lt"/>
                <a:ea typeface="+mn-ea"/>
                <a:cs typeface="+mn-cs"/>
              </a:rPr>
              <a:t>: Protect your organization's assets and resources through unified detection by using </a:t>
            </a:r>
            <a:r>
              <a:rPr lang="en-US" sz="1200" b="0" i="0" u="none" strike="noStrike" kern="1200" dirty="0">
                <a:solidFill>
                  <a:schemeClr val="tx1"/>
                </a:solidFill>
                <a:effectLst/>
                <a:latin typeface="+mn-lt"/>
                <a:ea typeface="+mn-ea"/>
                <a:cs typeface="+mn-cs"/>
                <a:hlinkClick r:id="rId15"/>
              </a:rPr>
              <a:t>Microsoft Sentinel solution for Power Platform</a:t>
            </a:r>
            <a:r>
              <a:rPr lang="en-US" sz="1200" b="0" i="0" kern="1200" dirty="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a:p>
            <a:pPr marL="0" marR="0" lvl="0" indent="0" fontAlgn="auto">
              <a:lnSpc>
                <a:spcPct val="100000"/>
              </a:lnSpc>
              <a:spcAft>
                <a:spcPts val="0"/>
              </a:spcAft>
              <a:buClrTx/>
              <a:buSzPct val="90000"/>
              <a:buFont typeface="Arial" panose="020B0604020202020204" pitchFamily="34" charset="0"/>
              <a:buNone/>
              <a:tabLst/>
              <a:defRPr/>
            </a:pPr>
            <a:endPar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9394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Growing sophistication of attacks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Drive to leverage data to unlock AI-driven scenarios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Data access demands from an increasingly dynamic workforce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mn-cs"/>
              </a:rPr>
              <a:t>Evolving regulatory and legal requirement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012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100000"/>
              </a:lnSpc>
            </a:pPr>
            <a:r>
              <a:rPr lang="en-US" dirty="0"/>
              <a:t>How can I control and limit access to data?</a:t>
            </a:r>
          </a:p>
          <a:p>
            <a:pPr lvl="0">
              <a:lnSpc>
                <a:spcPct val="100000"/>
              </a:lnSpc>
            </a:pPr>
            <a:r>
              <a:rPr lang="en-US" dirty="0"/>
              <a:t>How can I prevent data exfiltration?</a:t>
            </a:r>
          </a:p>
          <a:p>
            <a:pPr lvl="0">
              <a:lnSpc>
                <a:spcPct val="100000"/>
              </a:lnSpc>
            </a:pPr>
            <a:r>
              <a:rPr lang="en-US" dirty="0"/>
              <a:t>How can I stay compliant with regulations?</a:t>
            </a:r>
          </a:p>
          <a:p>
            <a:pPr lvl="0">
              <a:lnSpc>
                <a:spcPct val="100000"/>
              </a:lnSpc>
            </a:pPr>
            <a:r>
              <a:rPr lang="en-US" dirty="0"/>
              <a:t>How can I protect my data from external threats?</a:t>
            </a:r>
          </a:p>
          <a:p>
            <a:pPr lvl="0">
              <a:lnSpc>
                <a:spcPct val="100000"/>
              </a:lnSpc>
            </a:pPr>
            <a:r>
              <a:rPr lang="en-US" dirty="0"/>
              <a:t>How can I gain visibility into user activity?</a:t>
            </a:r>
          </a:p>
          <a:p>
            <a:pPr lvl="0">
              <a:lnSpc>
                <a:spcPct val="100000"/>
              </a:lnSpc>
            </a:pPr>
            <a:r>
              <a:rPr lang="en-US" dirty="0"/>
              <a:t>How can I assess the risk?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073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13685-9C51-A97A-A7F1-9B4727009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60C2A-E47C-46BD-11FC-E5FD776FE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7293B-65B0-44E7-059E-E34B469B7AB9}"/>
              </a:ext>
            </a:extLst>
          </p:cNvPr>
          <p:cNvSpPr>
            <a:spLocks noGrp="1"/>
          </p:cNvSpPr>
          <p:nvPr>
            <p:ph type="body" idx="1"/>
          </p:nvPr>
        </p:nvSpPr>
        <p:spPr/>
        <p:txBody>
          <a:bodyPr/>
          <a:lstStyle/>
          <a:p>
            <a:pPr marL="171450" indent="-171450">
              <a:buFont typeface="Arial" panose="020B0604020202020204" pitchFamily="34" charset="0"/>
              <a:buChar char="•"/>
              <a:defRPr/>
            </a:pPr>
            <a:r>
              <a:rPr lang="en-US" dirty="0"/>
              <a:t>Account impersonation -&gt; SQL -&gt; EAB: </a:t>
            </a:r>
            <a:r>
              <a:rPr lang="en-US" dirty="0" err="1"/>
              <a:t>preguntar</a:t>
            </a:r>
            <a:r>
              <a:rPr lang="en-US" dirty="0"/>
              <a:t> al </a:t>
            </a:r>
            <a:r>
              <a:rPr lang="en-US" dirty="0" err="1"/>
              <a:t>público</a:t>
            </a:r>
            <a:r>
              <a:rPr lang="en-US" dirty="0"/>
              <a:t>: ¿</a:t>
            </a:r>
            <a:r>
              <a:rPr lang="en-US" dirty="0" err="1"/>
              <a:t>cuántos</a:t>
            </a:r>
            <a:r>
              <a:rPr lang="en-US" dirty="0"/>
              <a:t> </a:t>
            </a:r>
            <a:r>
              <a:rPr lang="en-US" dirty="0" err="1"/>
              <a:t>sabéis</a:t>
            </a:r>
            <a:r>
              <a:rPr lang="en-US" dirty="0"/>
              <a:t> </a:t>
            </a:r>
            <a:r>
              <a:rPr lang="en-US" dirty="0" err="1"/>
              <a:t>qué</a:t>
            </a:r>
            <a:r>
              <a:rPr lang="en-US" dirty="0"/>
              <a:t> </a:t>
            </a:r>
            <a:r>
              <a:rPr lang="en-US" dirty="0" err="1"/>
              <a:t>copnsecuencias</a:t>
            </a:r>
            <a:r>
              <a:rPr lang="en-US" dirty="0"/>
              <a:t> </a:t>
            </a:r>
            <a:r>
              <a:rPr lang="en-US" dirty="0" err="1"/>
              <a:t>tiene</a:t>
            </a:r>
            <a:r>
              <a:rPr lang="en-US" dirty="0"/>
              <a:t> </a:t>
            </a:r>
            <a:r>
              <a:rPr lang="en-US" dirty="0" err="1"/>
              <a:t>compartir</a:t>
            </a:r>
            <a:r>
              <a:rPr lang="en-US" dirty="0"/>
              <a:t> </a:t>
            </a:r>
            <a:r>
              <a:rPr lang="en-US" dirty="0" err="1"/>
              <a:t>una</a:t>
            </a:r>
            <a:r>
              <a:rPr lang="en-US" dirty="0"/>
              <a:t> </a:t>
            </a:r>
            <a:r>
              <a:rPr lang="en-US" dirty="0" err="1"/>
              <a:t>conexión</a:t>
            </a:r>
            <a:r>
              <a:rPr lang="en-US" dirty="0"/>
              <a:t> </a:t>
            </a:r>
            <a:r>
              <a:rPr lang="en-US" dirty="0" err="1"/>
              <a:t>en</a:t>
            </a:r>
            <a:r>
              <a:rPr lang="en-US" dirty="0"/>
              <a:t> Power Platform?</a:t>
            </a:r>
          </a:p>
          <a:p>
            <a:pPr marL="171450" indent="-171450">
              <a:buFont typeface="Arial" panose="020B0604020202020204" pitchFamily="34" charset="0"/>
              <a:buChar char="•"/>
              <a:defRPr/>
            </a:pPr>
            <a:r>
              <a:rPr lang="en-US" dirty="0"/>
              <a:t>Misuse of authorization -&gt; Rol (</a:t>
            </a:r>
            <a:r>
              <a:rPr lang="en-US" dirty="0" err="1"/>
              <a:t>autenticacion</a:t>
            </a:r>
            <a:r>
              <a:rPr lang="en-US" dirty="0"/>
              <a:t> vs </a:t>
            </a:r>
            <a:r>
              <a:rPr lang="en-US" dirty="0" err="1"/>
              <a:t>autorizacion</a:t>
            </a:r>
            <a:r>
              <a:rPr lang="en-US" dirty="0"/>
              <a:t>)</a:t>
            </a:r>
          </a:p>
          <a:p>
            <a:pPr marL="171450" indent="-171450">
              <a:buFont typeface="Arial" panose="020B0604020202020204" pitchFamily="34" charset="0"/>
              <a:buChar char="•"/>
              <a:defRPr/>
            </a:pPr>
            <a:r>
              <a:rPr lang="en-US" dirty="0"/>
              <a:t>Data leakage and unexpected consequences -&gt; </a:t>
            </a:r>
            <a:r>
              <a:rPr lang="en-US" dirty="0" err="1"/>
              <a:t>origen</a:t>
            </a:r>
            <a:r>
              <a:rPr lang="en-US" dirty="0"/>
              <a:t> </a:t>
            </a:r>
            <a:r>
              <a:rPr lang="en-US" dirty="0" err="1"/>
              <a:t>datos</a:t>
            </a:r>
            <a:r>
              <a:rPr lang="en-US" dirty="0"/>
              <a:t> mal </a:t>
            </a:r>
            <a:r>
              <a:rPr lang="en-US" dirty="0" err="1"/>
              <a:t>compartido</a:t>
            </a:r>
            <a:endParaRPr lang="en-US" dirty="0"/>
          </a:p>
          <a:p>
            <a:pPr marL="171450" indent="-171450">
              <a:buFont typeface="Arial" panose="020B0604020202020204" pitchFamily="34" charset="0"/>
              <a:buChar char="•"/>
              <a:defRPr/>
            </a:pPr>
            <a:r>
              <a:rPr lang="en-US" dirty="0"/>
              <a:t>Failures of authentication and secure communication -&gt; power pages</a:t>
            </a:r>
          </a:p>
          <a:p>
            <a:pPr marL="171450" indent="-171450">
              <a:buFont typeface="Arial" panose="020B0604020202020204" pitchFamily="34" charset="0"/>
              <a:buChar char="•"/>
              <a:defRPr/>
            </a:pPr>
            <a:r>
              <a:rPr lang="en-US" dirty="0"/>
              <a:t>Misconfigured security -&gt; </a:t>
            </a:r>
            <a:r>
              <a:rPr lang="en-US" dirty="0" err="1"/>
              <a:t>charla</a:t>
            </a:r>
            <a:endParaRPr lang="en-US" dirty="0"/>
          </a:p>
          <a:p>
            <a:pPr marL="171450" indent="-171450">
              <a:buFont typeface="Arial" panose="020B0604020202020204" pitchFamily="34" charset="0"/>
              <a:buChar char="•"/>
              <a:defRPr/>
            </a:pPr>
            <a:r>
              <a:rPr lang="en-US" dirty="0"/>
              <a:t>Injection handling failures -&gt; </a:t>
            </a:r>
            <a:r>
              <a:rPr lang="en-US" dirty="0" err="1"/>
              <a:t>injeccion</a:t>
            </a:r>
            <a:r>
              <a:rPr lang="en-US" dirty="0"/>
              <a:t> </a:t>
            </a:r>
            <a:r>
              <a:rPr lang="en-US" dirty="0" err="1"/>
              <a:t>en</a:t>
            </a:r>
            <a:r>
              <a:rPr lang="en-US" dirty="0"/>
              <a:t> </a:t>
            </a:r>
            <a:r>
              <a:rPr lang="en-US" dirty="0" err="1"/>
              <a:t>sql</a:t>
            </a:r>
            <a:endParaRPr lang="en-US" dirty="0"/>
          </a:p>
          <a:p>
            <a:pPr marL="171450" indent="-171450">
              <a:buFont typeface="Arial" panose="020B0604020202020204" pitchFamily="34" charset="0"/>
              <a:buChar char="•"/>
              <a:defRPr/>
            </a:pPr>
            <a:r>
              <a:rPr lang="en-US" dirty="0"/>
              <a:t>Vulnerable and untrusted components -&gt; PCF</a:t>
            </a:r>
          </a:p>
          <a:p>
            <a:pPr marL="171450" indent="-171450">
              <a:buFont typeface="Arial" panose="020B0604020202020204" pitchFamily="34" charset="0"/>
              <a:buChar char="•"/>
              <a:defRPr/>
            </a:pPr>
            <a:r>
              <a:rPr lang="en-US" dirty="0"/>
              <a:t>Failure to handle data and secrets properly -&gt; </a:t>
            </a:r>
            <a:r>
              <a:rPr lang="en-US" dirty="0" err="1"/>
              <a:t>como</a:t>
            </a:r>
            <a:r>
              <a:rPr lang="en-US" dirty="0"/>
              <a:t> se </a:t>
            </a:r>
            <a:r>
              <a:rPr lang="en-US" dirty="0" err="1"/>
              <a:t>guarda</a:t>
            </a:r>
            <a:r>
              <a:rPr lang="en-US" dirty="0"/>
              <a:t>. HTTP </a:t>
            </a:r>
            <a:r>
              <a:rPr lang="en-US" dirty="0" err="1"/>
              <a:t>conector</a:t>
            </a:r>
            <a:endParaRPr lang="en-US" dirty="0"/>
          </a:p>
          <a:p>
            <a:pPr marL="171450" indent="-171450">
              <a:buFont typeface="Arial" panose="020B0604020202020204" pitchFamily="34" charset="0"/>
              <a:buChar char="•"/>
              <a:defRPr/>
            </a:pPr>
            <a:r>
              <a:rPr lang="en-US" dirty="0"/>
              <a:t>Failure to manage assets securely -&gt; </a:t>
            </a:r>
            <a:r>
              <a:rPr lang="en-US" dirty="0" err="1"/>
              <a:t>muchas</a:t>
            </a:r>
            <a:r>
              <a:rPr lang="en-US" dirty="0"/>
              <a:t> apps y </a:t>
            </a:r>
            <a:r>
              <a:rPr lang="en-US" dirty="0" err="1"/>
              <a:t>usuarios</a:t>
            </a:r>
            <a:r>
              <a:rPr lang="en-US" dirty="0"/>
              <a:t> </a:t>
            </a:r>
            <a:r>
              <a:rPr lang="en-US" dirty="0" err="1"/>
              <a:t>que</a:t>
            </a:r>
            <a:r>
              <a:rPr lang="en-US" dirty="0"/>
              <a:t> se </a:t>
            </a:r>
            <a:r>
              <a:rPr lang="en-US" dirty="0" err="1"/>
              <a:t>mueven</a:t>
            </a:r>
            <a:endParaRPr lang="en-US" dirty="0"/>
          </a:p>
          <a:p>
            <a:pPr marL="171450" indent="-171450">
              <a:buFont typeface="Arial" panose="020B0604020202020204" pitchFamily="34" charset="0"/>
              <a:buChar char="•"/>
              <a:defRPr/>
            </a:pPr>
            <a:r>
              <a:rPr lang="en-US" dirty="0"/>
              <a:t>Failures of security logging and monitoring -&gt; insights</a:t>
            </a:r>
            <a:endParaRPr lang="en-US" sz="1200" b="0" i="0" kern="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0A76A969-BB57-D2F4-5AEB-C783AD19F8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2194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0462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0222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s-ES" dirty="0"/>
              <a:t>Power Platform Security Hub</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1185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Data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Privacy</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Customer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managed</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keys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masking</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Purview</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Data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map</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Advaced</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connector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Network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Isonaliton</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(v-Net)</a:t>
            </a:r>
            <a:endParaRPr lang="en-US" dirty="0"/>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Data protection and privacy</a:t>
            </a:r>
            <a:r>
              <a:rPr lang="en-US" sz="1200" b="0" i="0" kern="1200" dirty="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dirty="0">
                <a:solidFill>
                  <a:schemeClr val="tx1"/>
                </a:solidFill>
                <a:effectLst/>
                <a:latin typeface="+mn-lt"/>
                <a:ea typeface="+mn-ea"/>
                <a:cs typeface="+mn-cs"/>
                <a:hlinkClick r:id="rId3"/>
              </a:rPr>
              <a:t>Azure Virtual Network</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customer-managed keys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a:rPr>
              <a:t>data policies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a:rPr>
              <a:t>data masking</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7"/>
              </a:rPr>
              <a:t>Microsoft Purview Data Map</a:t>
            </a:r>
            <a:r>
              <a:rPr lang="en-US" sz="1200" b="0" i="0" kern="1200" dirty="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Customer Managed Keys</a:t>
            </a:r>
            <a:r>
              <a:rPr lang="en-US" sz="1200" b="0" i="0" kern="1200" dirty="0">
                <a:solidFill>
                  <a:schemeClr val="tx1"/>
                </a:solidFill>
                <a:effectLst/>
                <a:latin typeface="+mn-lt"/>
                <a:ea typeface="+mn-ea"/>
                <a:cs typeface="+mn-cs"/>
              </a:rPr>
              <a:t>: All customer data stored in Power Platform is encrypted at-rest with strong Microsoft-managed encryption keys by default. Microsoft stores and manages the database encryption key for all your data so you don't have to. However, Power Platform provides this customer-managed encryption key (CMK) for your added data protection control where you can self-manage the database encryption key that is associated with your Microsoft Dataverse environment. This allows you to rotate or swap the encryption key on demand, and also allows you to prevent Microsoft's access to your customer data when you revoke the key access to our services at any time.</a:t>
            </a:r>
          </a:p>
          <a:p>
            <a:pPr marL="0" indent="0">
              <a:buFont typeface="Arial" panose="020B0604020202020204" pitchFamily="34" charset="0"/>
              <a:buNone/>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Data Masking: </a:t>
            </a:r>
            <a:r>
              <a:rPr lang="en-US" sz="1200" b="0" i="0" kern="1200" dirty="0">
                <a:solidFill>
                  <a:schemeClr val="tx1"/>
                </a:solidFill>
                <a:effectLst/>
                <a:latin typeface="+mn-lt"/>
                <a:ea typeface="+mn-ea"/>
                <a:cs typeface="+mn-cs"/>
              </a:rPr>
              <a:t>Data masking helps protect sensitive information during customer interactions and prevents data leaks. Data masking, also known as de-identification or obfuscation, replaces sensitive data with masked strings. The masked strings ensure that the original, unmasked values remain hidden. Only authorized users can read the unmasked values—one record at a time. In the context of customer interactions, frontline support users are prevented from exposing sensitive information like credit card numbers, social security numbers, or any personal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2799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9606C-3928-4A62-7D2A-85D5154D5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39048-6797-76FC-F957-E7976780A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243101-F131-9C74-0C09-558772DC01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EDA43A-67DA-A4CC-B952-8DDE3FB1EE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133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9A653-2915-9221-9A16-CF8A1EE3F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376CA-2F28-D6C6-FF63-763897388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ECA34-2898-4AE0-972A-FE847ECF80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656F28-4EF9-F57B-8C81-6367237161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826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B395-518B-D454-F323-EEE713489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27F8D-5CB3-4B68-D0A2-3F4A9A5B0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954C2-7DB5-C191-7A05-59193313D88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Data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Privacy</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Customer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managed</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keys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masking</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Purview</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Data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map</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Advaced</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connector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Network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Isonaliton</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(v-Net)</a:t>
            </a:r>
            <a:endParaRPr lang="en-US" dirty="0"/>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Data protection and privacy</a:t>
            </a:r>
            <a:r>
              <a:rPr lang="en-US" sz="1200" b="0" i="0" kern="1200" dirty="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dirty="0">
                <a:solidFill>
                  <a:schemeClr val="tx1"/>
                </a:solidFill>
                <a:effectLst/>
                <a:latin typeface="+mn-lt"/>
                <a:ea typeface="+mn-ea"/>
                <a:cs typeface="+mn-cs"/>
                <a:hlinkClick r:id="rId3"/>
              </a:rPr>
              <a:t>Azure Virtual Network</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customer-managed keys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a:rPr>
              <a:t>data policies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a:rPr>
              <a:t>data masking</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7"/>
              </a:rPr>
              <a:t>Microsoft Purview Data Map</a:t>
            </a:r>
            <a:r>
              <a:rPr lang="en-US" sz="1200" b="0" i="0" kern="1200" dirty="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Advanced Connector Policies: </a:t>
            </a:r>
            <a:r>
              <a:rPr lang="en-US" sz="1200" b="0" i="0" kern="1200" dirty="0">
                <a:solidFill>
                  <a:schemeClr val="tx1"/>
                </a:solidFill>
                <a:effectLst/>
                <a:latin typeface="+mn-lt"/>
                <a:ea typeface="+mn-ea"/>
                <a:cs typeface="+mn-cs"/>
              </a:rPr>
              <a:t>Advanced connector policies (ACP) represent the next generation of securing connector usage within the Power Platform. This feature provides a modern and flexible approach to managing all </a:t>
            </a:r>
            <a:r>
              <a:rPr lang="en-US" sz="1200" b="0" i="0" u="none" strike="noStrike" kern="1200" dirty="0">
                <a:solidFill>
                  <a:schemeClr val="tx1"/>
                </a:solidFill>
                <a:effectLst/>
                <a:latin typeface="+mn-lt"/>
                <a:ea typeface="+mn-ea"/>
                <a:cs typeface="+mn-cs"/>
                <a:hlinkClick r:id="rId8"/>
              </a:rPr>
              <a:t>certified connectors</a:t>
            </a:r>
            <a:r>
              <a:rPr lang="en-US" sz="1200" b="0" i="0" kern="1200" dirty="0">
                <a:solidFill>
                  <a:schemeClr val="tx1"/>
                </a:solidFill>
                <a:effectLst/>
                <a:latin typeface="+mn-lt"/>
                <a:ea typeface="+mn-ea"/>
                <a:cs typeface="+mn-cs"/>
              </a:rPr>
              <a:t>, aligning with the broader governance strategy of per-environment security controls paired with </a:t>
            </a:r>
            <a:r>
              <a:rPr lang="en-US" sz="1200" b="0" i="0" u="none" strike="noStrike" kern="1200" dirty="0">
                <a:solidFill>
                  <a:schemeClr val="tx1"/>
                </a:solidFill>
                <a:effectLst/>
                <a:latin typeface="+mn-lt"/>
                <a:ea typeface="+mn-ea"/>
                <a:cs typeface="+mn-cs"/>
                <a:hlinkClick r:id="rId9"/>
              </a:rPr>
              <a:t>environment group support</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Azure Virtual Network</a:t>
            </a:r>
            <a:r>
              <a:rPr lang="en-US" sz="1200" b="0" i="0" kern="1200" dirty="0">
                <a:solidFill>
                  <a:schemeClr val="tx1"/>
                </a:solidFill>
                <a:effectLst/>
                <a:latin typeface="+mn-lt"/>
                <a:ea typeface="+mn-ea"/>
                <a:cs typeface="+mn-cs"/>
              </a:rPr>
              <a:t>:</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Data protection</a:t>
            </a:r>
            <a:r>
              <a:rPr lang="en-US" sz="1200" b="0" i="0" kern="1200" dirty="0">
                <a:solidFill>
                  <a:schemeClr val="tx1"/>
                </a:solidFill>
                <a:effectLst/>
                <a:latin typeface="+mn-lt"/>
                <a:ea typeface="+mn-ea"/>
                <a:cs typeface="+mn-cs"/>
              </a:rPr>
              <a:t>: Virtual Network allows Power Platform services to connect to your private and protected resources without exposing them to the internet.</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No unauthorized access</a:t>
            </a:r>
            <a:r>
              <a:rPr lang="en-US" sz="1200" b="0" i="0" kern="1200" dirty="0">
                <a:solidFill>
                  <a:schemeClr val="tx1"/>
                </a:solidFill>
                <a:effectLst/>
                <a:latin typeface="+mn-lt"/>
                <a:ea typeface="+mn-ea"/>
                <a:cs typeface="+mn-cs"/>
              </a:rPr>
              <a:t>: Virtual Network connects with your resources without needing Power Platform IP ranges or service tags in the connection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58D32646-2940-5E08-EC1E-603A1A7701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2178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CC686-D8E4-BF57-C78A-F017A91D7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CC653-9015-8D77-896F-246E2461B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8F63F-3BF5-80C1-3ADC-7A27799C6D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8DB7A8-4DCF-8933-7C53-4D4FE528F3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0606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5188D-0DBA-BA94-ABD1-ECA19D254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89A39-BC0E-A93B-2D2A-C08D72BE3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62BCC-9A85-A282-0998-119182DF34D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Advanced connector policies (ACP) represent the next generation of securing connector usage within the Power Platform. This feature provides a modern and flexible approach to managing all </a:t>
            </a:r>
            <a:r>
              <a:rPr lang="en-US" sz="1200" b="0" i="0" u="none" strike="noStrike" kern="1200" dirty="0">
                <a:solidFill>
                  <a:schemeClr val="tx1"/>
                </a:solidFill>
                <a:effectLst/>
                <a:latin typeface="+mn-lt"/>
                <a:ea typeface="+mn-ea"/>
                <a:cs typeface="+mn-cs"/>
                <a:hlinkClick r:id="rId3"/>
              </a:rPr>
              <a:t>certified connectors</a:t>
            </a:r>
            <a:r>
              <a:rPr lang="en-US" sz="1200" b="0" i="0" kern="1200" dirty="0">
                <a:solidFill>
                  <a:schemeClr val="tx1"/>
                </a:solidFill>
                <a:effectLst/>
                <a:latin typeface="+mn-lt"/>
                <a:ea typeface="+mn-ea"/>
                <a:cs typeface="+mn-cs"/>
              </a:rPr>
              <a:t>, aligning with the broader governance strategy of per-environment security controls paired with </a:t>
            </a:r>
            <a:r>
              <a:rPr lang="en-US" sz="1200" b="0" i="0" u="none" strike="noStrike" kern="1200" dirty="0">
                <a:solidFill>
                  <a:schemeClr val="tx1"/>
                </a:solidFill>
                <a:effectLst/>
                <a:latin typeface="+mn-lt"/>
                <a:ea typeface="+mn-ea"/>
                <a:cs typeface="+mn-cs"/>
                <a:hlinkClick r:id="rId4"/>
              </a:rPr>
              <a:t>environment group support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By adopting advanced connector policies, administrators gain greater control and granularity in securing and managing connector usage while enhancing the overall governance of their Power Platform environments.</a:t>
            </a:r>
          </a:p>
          <a:p>
            <a:endParaRPr lang="en-US" sz="1200" b="0" i="0" kern="1200" dirty="0">
              <a:solidFill>
                <a:schemeClr val="tx1"/>
              </a:solidFill>
              <a:effectLst/>
              <a:latin typeface="+mn-lt"/>
              <a:ea typeface="+mn-ea"/>
              <a:cs typeface="+mn-cs"/>
            </a:endParaRPr>
          </a:p>
          <a:p>
            <a:r>
              <a:rPr lang="en-US" dirty="0">
                <a:hlinkClick r:id="rId5"/>
              </a:rPr>
              <a:t>Data policies - Power Platform | Microsoft Learn</a:t>
            </a:r>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1D9EDF44-7B96-1C62-3F1A-BA99632515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4757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59834-CB48-0175-626D-2451E1968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6A3C0-41DD-81F1-9AB8-4C0D74150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D6EB4-AB8B-5617-AD8B-A16FCF7481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With </a:t>
            </a:r>
            <a:r>
              <a:rPr lang="en-US" sz="1200" b="0" i="0" u="none" strike="noStrike" kern="1200" dirty="0">
                <a:solidFill>
                  <a:schemeClr val="tx1"/>
                </a:solidFill>
                <a:effectLst/>
                <a:latin typeface="+mn-lt"/>
                <a:ea typeface="+mn-ea"/>
                <a:cs typeface="+mn-cs"/>
                <a:hlinkClick r:id="rId3"/>
              </a:rPr>
              <a:t>Azure Virtual Network</a:t>
            </a:r>
            <a:r>
              <a:rPr lang="en-US" sz="1200" b="0" i="0" kern="1200" dirty="0">
                <a:solidFill>
                  <a:schemeClr val="tx1"/>
                </a:solidFill>
                <a:effectLst/>
                <a:latin typeface="+mn-lt"/>
                <a:ea typeface="+mn-ea"/>
                <a:cs typeface="+mn-cs"/>
              </a:rPr>
              <a:t> support for Power Platform, you can integrate Power Platform with resources inside your virtual network without exposing them over the public internet. Virtual Network support uses </a:t>
            </a:r>
            <a:r>
              <a:rPr lang="en-US" sz="1200" b="0" i="0" u="none" strike="noStrike" kern="1200" dirty="0">
                <a:solidFill>
                  <a:schemeClr val="tx1"/>
                </a:solidFill>
                <a:effectLst/>
                <a:latin typeface="+mn-lt"/>
                <a:ea typeface="+mn-ea"/>
                <a:cs typeface="+mn-cs"/>
                <a:hlinkClick r:id="rId4"/>
              </a:rPr>
              <a:t>Azure subnet delegation</a:t>
            </a:r>
            <a:r>
              <a:rPr lang="en-US" sz="1200" b="0" i="0" kern="1200" dirty="0">
                <a:solidFill>
                  <a:schemeClr val="tx1"/>
                </a:solidFill>
                <a:effectLst/>
                <a:latin typeface="+mn-lt"/>
                <a:ea typeface="+mn-ea"/>
                <a:cs typeface="+mn-cs"/>
              </a:rPr>
              <a:t> to manage outbound traffic from Power Platform at runtime. Using Azure Subnet delegation avoids the need for protected resources to be available over the internet to integrate with Power Platform. With virtual network support, Power Platform components can call resources owned by your enterprise inside your network, whether they're hosted in Azure or on-premises, and use plug-ins and connectors to make outbound call</a:t>
            </a:r>
          </a:p>
          <a:p>
            <a:endParaRPr lang="en-US" dirty="0"/>
          </a:p>
        </p:txBody>
      </p:sp>
      <p:sp>
        <p:nvSpPr>
          <p:cNvPr id="4" name="Slide Number Placeholder 3">
            <a:extLst>
              <a:ext uri="{FF2B5EF4-FFF2-40B4-BE49-F238E27FC236}">
                <a16:creationId xmlns:a16="http://schemas.microsoft.com/office/drawing/2014/main" id="{D8DA96B5-3A2B-003B-E31F-E3690E08E0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406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2142-E38B-847E-B9A4-EAE5D7C37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B3B47-DEFC-1521-78C7-EF01B7818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D1B73-68E5-CD58-9927-DA79E942B4C8}"/>
              </a:ext>
            </a:extLst>
          </p:cNvPr>
          <p:cNvSpPr>
            <a:spLocks noGrp="1"/>
          </p:cNvSpPr>
          <p:nvPr>
            <p:ph type="body" idx="1"/>
          </p:nvPr>
        </p:nvSpPr>
        <p:spPr/>
        <p:txBody>
          <a:bodyPr/>
          <a:lstStyle/>
          <a:p>
            <a:pPr marL="171450" indent="-171450">
              <a:buFont typeface="Arial" panose="020B0604020202020204" pitchFamily="34" charset="0"/>
              <a:buChar char="•"/>
            </a:pPr>
            <a:r>
              <a:rPr lang="es-ES" dirty="0" err="1"/>
              <a:t>Customer</a:t>
            </a:r>
            <a:r>
              <a:rPr lang="es-ES" dirty="0"/>
              <a:t> Key – Video in Microsoft </a:t>
            </a:r>
            <a:r>
              <a:rPr lang="es-ES" dirty="0" err="1"/>
              <a:t>Learn</a:t>
            </a:r>
            <a:r>
              <a:rPr lang="es-ES" dirty="0"/>
              <a:t>: https://learn.microsoft.com/en-us/power-platform/admin/customer-managed-key</a:t>
            </a:r>
          </a:p>
          <a:p>
            <a:pPr marL="171450" indent="-171450">
              <a:buFont typeface="Arial" panose="020B0604020202020204" pitchFamily="34" charset="0"/>
              <a:buChar char="•"/>
            </a:pPr>
            <a:r>
              <a:rPr lang="es-ES" dirty="0"/>
              <a:t>Data </a:t>
            </a:r>
            <a:r>
              <a:rPr lang="es-ES" dirty="0" err="1"/>
              <a:t>Masking</a:t>
            </a:r>
            <a:endParaRPr lang="es-ES" dirty="0"/>
          </a:p>
          <a:p>
            <a:pPr marL="171450" indent="-171450">
              <a:buFont typeface="Arial" panose="020B0604020202020204" pitchFamily="34" charset="0"/>
              <a:buChar char="•"/>
            </a:pPr>
            <a:r>
              <a:rPr lang="es-ES" dirty="0"/>
              <a:t>Data </a:t>
            </a:r>
            <a:r>
              <a:rPr lang="es-ES" dirty="0" err="1"/>
              <a:t>Policies</a:t>
            </a:r>
            <a:r>
              <a:rPr lang="es-ES" dirty="0"/>
              <a:t>: Global vs. Grupo de Entornos vs. Entorno</a:t>
            </a:r>
          </a:p>
          <a:p>
            <a:pPr marL="171450" indent="-171450">
              <a:buFont typeface="Arial" panose="020B0604020202020204" pitchFamily="34" charset="0"/>
              <a:buChar char="•"/>
            </a:pPr>
            <a:r>
              <a:rPr lang="es-ES" dirty="0" err="1"/>
              <a:t>Advaced</a:t>
            </a:r>
            <a:r>
              <a:rPr lang="es-ES" dirty="0"/>
              <a:t> </a:t>
            </a:r>
            <a:r>
              <a:rPr lang="es-ES" dirty="0" err="1"/>
              <a:t>Connector</a:t>
            </a:r>
            <a:r>
              <a:rPr lang="es-ES" dirty="0"/>
              <a:t> </a:t>
            </a:r>
            <a:r>
              <a:rPr lang="es-ES" dirty="0" err="1"/>
              <a:t>Policies</a:t>
            </a:r>
            <a:endParaRPr lang="es-ES" dirty="0"/>
          </a:p>
        </p:txBody>
      </p:sp>
      <p:sp>
        <p:nvSpPr>
          <p:cNvPr id="4" name="Slide Number Placeholder 3">
            <a:extLst>
              <a:ext uri="{FF2B5EF4-FFF2-40B4-BE49-F238E27FC236}">
                <a16:creationId xmlns:a16="http://schemas.microsoft.com/office/drawing/2014/main" id="{A37BD834-88EF-837E-1A0F-58CC240EAD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0501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8BB61-6F11-5A94-ABB4-F35805062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46F91-394C-3F85-1DD5-A0ACC0E73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BC814-0956-7706-63CF-289AEED9E5A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Identity and access management</a:t>
            </a:r>
            <a:r>
              <a:rPr lang="en-US" sz="1200" b="0" i="0" kern="1200" dirty="0">
                <a:solidFill>
                  <a:schemeClr val="tx1"/>
                </a:solidFill>
                <a:effectLst/>
                <a:latin typeface="+mn-lt"/>
                <a:ea typeface="+mn-ea"/>
                <a:cs typeface="+mn-cs"/>
              </a:rPr>
              <a:t>: Ensure that only authorized users can access specific resources, through features such as </a:t>
            </a:r>
            <a:r>
              <a:rPr lang="en-US" sz="1200" b="0" i="0" u="none" strike="noStrike" kern="1200" dirty="0">
                <a:solidFill>
                  <a:schemeClr val="tx1"/>
                </a:solidFill>
                <a:effectLst/>
                <a:latin typeface="+mn-lt"/>
                <a:ea typeface="+mn-ea"/>
                <a:cs typeface="+mn-cs"/>
                <a:hlinkClick r:id="rId3"/>
              </a:rPr>
              <a:t>IP firewall</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IP cookie binding</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a:rPr>
              <a:t>Manage sharing</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a:rPr>
              <a:t>conditional access policies for individual apps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7"/>
              </a:rPr>
              <a:t>managed identities for Dataverse plug-ins</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8"/>
              </a:rPr>
              <a:t>privileged access</a:t>
            </a:r>
            <a:r>
              <a:rPr lang="en-US" sz="1200" b="0" i="0" kern="1200" dirty="0">
                <a:solidFill>
                  <a:schemeClr val="tx1"/>
                </a:solidFill>
                <a:effectLst/>
                <a:latin typeface="+mn-lt"/>
                <a:ea typeface="+mn-ea"/>
                <a:cs typeface="+mn-cs"/>
              </a:rPr>
              <a:t>.</a:t>
            </a:r>
          </a:p>
          <a:p>
            <a:pPr marL="0" indent="0">
              <a:buFont typeface="Arial" panose="020B0604020202020204" pitchFamily="34" charset="0"/>
              <a:buNone/>
            </a:pPr>
            <a:endParaRPr lang="en-US" sz="1200" b="1"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Acces</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Management + Network Security: </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IP Firewall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Resource</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sharing</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limits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IP cookie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binding</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Isolationt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PIM | Client app Access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Conditional</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Access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Individual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Canvas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Apps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Access &amp;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Authentication</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s-ES" sz="1200" b="0"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IP Firewall</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n-US" sz="1200" b="0" i="0" kern="1200" dirty="0">
                <a:solidFill>
                  <a:schemeClr val="tx1"/>
                </a:solidFill>
                <a:effectLst/>
                <a:latin typeface="+mn-lt"/>
                <a:ea typeface="+mn-ea"/>
                <a:cs typeface="+mn-cs"/>
              </a:rPr>
              <a:t>The IP firewall feature in Microsoft Power Platform is a security control that applies only to Managed Environments with Dataverse. It provides a critical layer of security by controlling inbound traffic to Power Platform environments. Administrators can use this feature to define and enforce IP-based access controls. In this way, they can ensure that only authorized IP addresses can access the Power Platform environment. By using IP firewall, organizations can mitigate risks that are associated with unauthorized access and data breaches, and therefore enhance the overall security of their Power Platform deployments. Learn more in </a:t>
            </a:r>
            <a:r>
              <a:rPr lang="en-US" sz="1200" b="0" i="0" u="none" strike="noStrike" kern="1200" dirty="0">
                <a:solidFill>
                  <a:schemeClr val="tx1"/>
                </a:solidFill>
                <a:effectLst/>
                <a:latin typeface="+mn-lt"/>
                <a:ea typeface="+mn-ea"/>
                <a:cs typeface="+mn-cs"/>
                <a:hlinkClick r:id="rId3"/>
              </a:rPr>
              <a:t>IP firewall in Power Platform environments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endParaRPr lang="en-US" sz="1200" b="0" i="0" kern="1200" noProof="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noProof="0" dirty="0">
                <a:solidFill>
                  <a:schemeClr val="tx1"/>
                </a:solidFill>
                <a:effectLst/>
                <a:latin typeface="+mn-lt"/>
                <a:ea typeface="+mn-ea"/>
                <a:cs typeface="+mn-cs"/>
              </a:rPr>
              <a:t>Resource Sharing Limits: </a:t>
            </a:r>
            <a:r>
              <a:rPr lang="en-US" sz="1200" b="0" i="0" kern="1200" dirty="0">
                <a:solidFill>
                  <a:schemeClr val="tx1"/>
                </a:solidFill>
                <a:effectLst/>
                <a:latin typeface="+mn-lt"/>
                <a:ea typeface="+mn-ea"/>
                <a:cs typeface="+mn-cs"/>
              </a:rPr>
              <a:t>In Managed Environments, admins can limit how broadly users can share canvas apps, flows, and agents.</a:t>
            </a:r>
          </a:p>
          <a:p>
            <a:pPr marL="171450" indent="-171450">
              <a:buFont typeface="Arial" panose="020B0604020202020204" pitchFamily="34" charset="0"/>
              <a:buChar char="•"/>
            </a:pPr>
            <a:endParaRPr lang="en-US" sz="1200" b="0" i="0" kern="1200" noProof="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noProof="0" dirty="0">
                <a:solidFill>
                  <a:schemeClr val="tx1"/>
                </a:solidFill>
                <a:effectLst/>
                <a:latin typeface="+mn-lt"/>
                <a:ea typeface="+mn-ea"/>
                <a:cs typeface="+mn-cs"/>
              </a:rPr>
              <a:t>IP Cookie Binding</a:t>
            </a:r>
            <a:r>
              <a:rPr lang="en-US" sz="1200" b="0" i="0" kern="1200" noProof="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Prevent session hijacking exploits in Dataverse with IP address-based cookie binding. Let's say that a malicious user copies a valid session cookie from an authorized computer that has cookie IP binding enabled. The user then tries to use the cookie on a different computer to gain unauthorized access to Dataverse. In real time, Dataverse compares the IP address of the cookie's origin against the IP address of the computer making the request. If the two are different, the attempt is blocked, and an error message is shown.</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Power</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Platform</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Isolation</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n-US" sz="1200" b="0" i="0" kern="1200" dirty="0">
                <a:solidFill>
                  <a:schemeClr val="tx1"/>
                </a:solidFill>
                <a:effectLst/>
                <a:latin typeface="+mn-lt"/>
                <a:ea typeface="+mn-ea"/>
                <a:cs typeface="+mn-cs"/>
              </a:rPr>
              <a:t>Power Platform tenant isolation is different from Microsoft Entra ID-wide tenant restriction. It </a:t>
            </a:r>
            <a:r>
              <a:rPr lang="en-US" sz="1200" b="0" i="1" kern="1200" dirty="0">
                <a:solidFill>
                  <a:schemeClr val="tx1"/>
                </a:solidFill>
                <a:effectLst/>
                <a:latin typeface="+mn-lt"/>
                <a:ea typeface="+mn-ea"/>
                <a:cs typeface="+mn-cs"/>
              </a:rPr>
              <a:t>doesn't</a:t>
            </a:r>
            <a:r>
              <a:rPr lang="en-US" sz="1200" b="0" i="0" kern="1200" dirty="0">
                <a:solidFill>
                  <a:schemeClr val="tx1"/>
                </a:solidFill>
                <a:effectLst/>
                <a:latin typeface="+mn-lt"/>
                <a:ea typeface="+mn-ea"/>
                <a:cs typeface="+mn-cs"/>
              </a:rPr>
              <a:t> impact Microsoft Entra ID-based access outside of Power Platform. Power Platform tenant isolation only works for connectors using Microsoft Entra ID-based authentication such as Office 365 Outlook or SharePoint.</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endParaRPr lang="en-US" dirty="0"/>
          </a:p>
        </p:txBody>
      </p:sp>
      <p:sp>
        <p:nvSpPr>
          <p:cNvPr id="4" name="Slide Number Placeholder 3">
            <a:extLst>
              <a:ext uri="{FF2B5EF4-FFF2-40B4-BE49-F238E27FC236}">
                <a16:creationId xmlns:a16="http://schemas.microsoft.com/office/drawing/2014/main" id="{57905B0F-A5C4-2525-0D00-4A204CB3C4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3881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A4A50-FA91-0722-6AA9-78AA5F1FC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145E5-DB0F-0628-188E-859C1D20B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F3180-8361-2A4E-8C9B-5D20282D5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BA6755-CC3E-94AF-D03A-763BC45BAB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4602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86E37-1396-4B34-FA24-E8ED9548D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1CEBA-4BED-A3C9-6F06-4045C61F1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64AF7-7E99-9C2B-E15A-51D4E1A454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71D3D3-7CCD-AFE4-741A-A73751DB3D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956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81CA8-297D-5262-2C22-0DF6C3C35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74C6B-24B2-1448-E496-7996BF3B5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E6985-47E8-528A-3E83-171B54539A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F17BA6-53AB-8ECE-D927-33A7D91A77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73506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13CA7-667D-41D0-9FF3-8999E25A0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EE4F1-5F10-E174-7552-FF2B2D953A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38C32-69DF-C9AE-7E57-9C9E916A84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63B4A3-818D-C280-99F9-67A57E24FC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4621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84DB-8341-3130-B311-68853CEE0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0BC4A-3E50-5947-906B-37E4A21E2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1DF760-A6EC-8EEB-BA97-B228015F84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D5CDE-C3E4-FF07-7833-5A221E6236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0832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91AA6-B1D9-60DC-E740-31D662D00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DE8D8-85F4-9745-9201-59AFF2BEBF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C2E5B-7014-7FEA-1200-6ACF81BD77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B78EDB-0639-5503-3646-8602AEA39D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3280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4FD67-601E-3F6D-39C5-1663F68C9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48FF1-CE6C-51A7-41E8-BB48A379A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C7C32-78AA-5A67-1A34-F055583CC85F}"/>
              </a:ext>
            </a:extLst>
          </p:cNvPr>
          <p:cNvSpPr>
            <a:spLocks noGrp="1"/>
          </p:cNvSpPr>
          <p:nvPr>
            <p:ph type="body" idx="1"/>
          </p:nvPr>
        </p:nvSpPr>
        <p:spPr/>
        <p:txBody>
          <a:bodyPr/>
          <a:lstStyle/>
          <a:p>
            <a:pPr marL="171450" indent="-171450">
              <a:buFont typeface="Arial" panose="020B0604020202020204" pitchFamily="34" charset="0"/>
              <a:buChar char="•"/>
            </a:pPr>
            <a:r>
              <a:rPr lang="es-ES" dirty="0"/>
              <a:t>IP Firewall</a:t>
            </a:r>
            <a:r>
              <a:rPr lang="en-US" dirty="0"/>
              <a:t>: Environment Level vs. Environment Group Level</a:t>
            </a:r>
          </a:p>
          <a:p>
            <a:pPr marL="171450" indent="-171450">
              <a:buFont typeface="Arial" panose="020B0604020202020204" pitchFamily="34" charset="0"/>
              <a:buChar char="•"/>
            </a:pPr>
            <a:r>
              <a:rPr lang="en-US" dirty="0"/>
              <a:t>Manage Sharing: Environment vs. Environment Group Level</a:t>
            </a:r>
          </a:p>
          <a:p>
            <a:pPr marL="171450" indent="-171450">
              <a:buFont typeface="Arial" panose="020B0604020202020204" pitchFamily="34" charset="0"/>
              <a:buChar char="•"/>
            </a:pPr>
            <a:r>
              <a:rPr lang="en-US" dirty="0"/>
              <a:t>IP Cookie Binding</a:t>
            </a:r>
          </a:p>
          <a:p>
            <a:pPr marL="171450" indent="-171450">
              <a:buFont typeface="Arial" panose="020B0604020202020204" pitchFamily="34" charset="0"/>
              <a:buChar char="•"/>
            </a:pPr>
            <a:r>
              <a:rPr lang="en-US" dirty="0"/>
              <a:t>Tenant Isolation</a:t>
            </a:r>
          </a:p>
          <a:p>
            <a:endParaRPr lang="en-US" dirty="0"/>
          </a:p>
        </p:txBody>
      </p:sp>
      <p:sp>
        <p:nvSpPr>
          <p:cNvPr id="4" name="Slide Number Placeholder 3">
            <a:extLst>
              <a:ext uri="{FF2B5EF4-FFF2-40B4-BE49-F238E27FC236}">
                <a16:creationId xmlns:a16="http://schemas.microsoft.com/office/drawing/2014/main" id="{4A60EDD6-6D69-97D9-A5BE-4CCF1B16BC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95020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8170-1A61-19CB-05B9-95E3AAF63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EF3FF-F8C6-65A3-3560-F1170C971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1D6A4-DA2A-A839-766E-DB8EB02F1694}"/>
              </a:ext>
            </a:extLst>
          </p:cNvPr>
          <p:cNvSpPr>
            <a:spLocks noGrp="1"/>
          </p:cNvSpPr>
          <p:nvPr>
            <p:ph type="body" idx="1"/>
          </p:nvPr>
        </p:nvSpPr>
        <p:spPr/>
        <p:txBody>
          <a:bodyPr/>
          <a:lstStyle/>
          <a:p>
            <a:pPr marL="171450" indent="-171450">
              <a:buFont typeface="Arial" panose="020B0604020202020204" pitchFamily="34" charset="0"/>
              <a:buChar char="•"/>
            </a:pPr>
            <a:r>
              <a:rPr lang="es-ES" dirty="0"/>
              <a:t>IP Firewall</a:t>
            </a:r>
            <a:r>
              <a:rPr lang="en-US" dirty="0"/>
              <a:t>: Environment Level vs. Environment Group Level</a:t>
            </a:r>
          </a:p>
          <a:p>
            <a:pPr marL="171450" indent="-171450">
              <a:buFont typeface="Arial" panose="020B0604020202020204" pitchFamily="34" charset="0"/>
              <a:buChar char="•"/>
            </a:pPr>
            <a:r>
              <a:rPr lang="en-US" dirty="0"/>
              <a:t>Manage Sharing: Environment vs. Environment Group Level</a:t>
            </a:r>
          </a:p>
          <a:p>
            <a:pPr marL="171450" indent="-171450">
              <a:buFont typeface="Arial" panose="020B0604020202020204" pitchFamily="34" charset="0"/>
              <a:buChar char="•"/>
            </a:pPr>
            <a:r>
              <a:rPr lang="en-US" dirty="0"/>
              <a:t>IP Cookie Binding</a:t>
            </a:r>
          </a:p>
          <a:p>
            <a:pPr marL="171450" indent="-171450">
              <a:buFont typeface="Arial" panose="020B0604020202020204" pitchFamily="34" charset="0"/>
              <a:buChar char="•"/>
            </a:pPr>
            <a:r>
              <a:rPr lang="en-US" dirty="0"/>
              <a:t>Tenant Isolation</a:t>
            </a:r>
          </a:p>
          <a:p>
            <a:pPr marL="171450" indent="-171450">
              <a:buFont typeface="Arial" panose="020B0604020202020204" pitchFamily="34" charset="0"/>
              <a:buChar char="•"/>
            </a:pPr>
            <a:endParaRPr lang="es-ES" dirty="0"/>
          </a:p>
        </p:txBody>
      </p:sp>
      <p:sp>
        <p:nvSpPr>
          <p:cNvPr id="4" name="Slide Number Placeholder 3">
            <a:extLst>
              <a:ext uri="{FF2B5EF4-FFF2-40B4-BE49-F238E27FC236}">
                <a16:creationId xmlns:a16="http://schemas.microsoft.com/office/drawing/2014/main" id="{ACFF38CF-0D64-9D9A-F606-6517B7456A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3756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48C0-46BF-86E4-2B96-451BBABC4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64E46-06AE-4638-5E1A-D7D7D38B5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1AD7C-7A11-DB3A-6519-1A7940FB373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Identity and access management</a:t>
            </a:r>
            <a:r>
              <a:rPr lang="en-US" sz="1200" b="0" i="0" kern="1200" dirty="0">
                <a:solidFill>
                  <a:schemeClr val="tx1"/>
                </a:solidFill>
                <a:effectLst/>
                <a:latin typeface="+mn-lt"/>
                <a:ea typeface="+mn-ea"/>
                <a:cs typeface="+mn-cs"/>
              </a:rPr>
              <a:t>: Ensure that only authorized users can access specific resources, through features such as </a:t>
            </a:r>
            <a:r>
              <a:rPr lang="en-US" sz="1200" b="0" i="0" u="none" strike="noStrike" kern="1200" dirty="0">
                <a:solidFill>
                  <a:schemeClr val="tx1"/>
                </a:solidFill>
                <a:effectLst/>
                <a:latin typeface="+mn-lt"/>
                <a:ea typeface="+mn-ea"/>
                <a:cs typeface="+mn-cs"/>
                <a:hlinkClick r:id="rId3"/>
              </a:rPr>
              <a:t>IP firewall</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IP cookie binding</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5"/>
              </a:rPr>
              <a:t>Manage sharing</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a:rPr>
              <a:t>conditional access policies for individual apps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7"/>
              </a:rPr>
              <a:t>managed identities for Dataverse plug-ins</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8"/>
              </a:rPr>
              <a:t>privileged access</a:t>
            </a:r>
            <a:r>
              <a:rPr lang="en-US" sz="1200" b="0" i="0" kern="1200" dirty="0">
                <a:solidFill>
                  <a:schemeClr val="tx1"/>
                </a:solidFill>
                <a:effectLst/>
                <a:latin typeface="+mn-lt"/>
                <a:ea typeface="+mn-ea"/>
                <a:cs typeface="+mn-cs"/>
              </a:rPr>
              <a:t>.</a:t>
            </a:r>
          </a:p>
          <a:p>
            <a:pPr marL="0" indent="0">
              <a:buFont typeface="Arial" panose="020B0604020202020204" pitchFamily="34" charset="0"/>
              <a:buNone/>
            </a:pPr>
            <a:endParaRPr lang="en-US" sz="1200" b="1"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Acces</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Management + Network Security: </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IP Firewall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Resource</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sharing</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limits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IP cookie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binding</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Isolationt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PIM | Client app Access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Conditional</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Access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Individual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Canvas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Apps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Access &amp;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Authentication</a:t>
            </a:r>
            <a:endParaRPr lang="es-ES" sz="1200" b="0"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0" noProof="0" dirty="0">
              <a:solidFill>
                <a:schemeClr val="tx1">
                  <a:lumMod val="75000"/>
                  <a:lumOff val="25000"/>
                </a:scheme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Privileged</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Management:  </a:t>
            </a:r>
          </a:p>
          <a:p>
            <a:pPr marL="571500" lvl="2"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Enforce on-demand, just-in-time administrative access when needed</a:t>
            </a:r>
          </a:p>
          <a:p>
            <a:pPr marL="571500" lvl="2"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Minimize number of privileged users (admins) and duration of access</a:t>
            </a:r>
          </a:p>
          <a:p>
            <a:pPr marL="571500" lvl="2"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Reduce risks of authorized user impact on sensitive data / malicious user getting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App Access Control: </a:t>
            </a:r>
            <a:r>
              <a:rPr lang="en-US" sz="1200" b="0" i="0" kern="1200" dirty="0">
                <a:solidFill>
                  <a:schemeClr val="tx1"/>
                </a:solidFill>
                <a:effectLst/>
                <a:latin typeface="+mn-lt"/>
                <a:ea typeface="+mn-ea"/>
                <a:cs typeface="+mn-cs"/>
              </a:rPr>
              <a:t>The app access control feature applies only to Managed Environments. It prevents data exfiltration by controlling which apps are allowed and blocked in each environment. Learn more in </a:t>
            </a:r>
            <a:r>
              <a:rPr lang="en-US" sz="1200" b="0" i="0" u="none" strike="noStrike" kern="1200" dirty="0">
                <a:solidFill>
                  <a:schemeClr val="tx1"/>
                </a:solidFill>
                <a:effectLst/>
                <a:latin typeface="+mn-lt"/>
                <a:ea typeface="+mn-ea"/>
                <a:cs typeface="+mn-cs"/>
                <a:hlinkClick r:id="rId9"/>
              </a:rPr>
              <a:t>Control which apps are allowed in your environment</a:t>
            </a:r>
            <a:r>
              <a:rPr lang="en-US" sz="1200" b="0" i="0" kern="1200" dirty="0">
                <a:solidFill>
                  <a:schemeClr val="tx1"/>
                </a:solidFill>
                <a:effectLst/>
                <a:latin typeface="+mn-lt"/>
                <a:ea typeface="+mn-ea"/>
                <a:cs typeface="+mn-cs"/>
              </a:rPr>
              <a:t>.</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Controls</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Use new governance controls to limit agent sharing, turn off anonymous access, enforce preferred authentication providers, and provide better security. These controls help reduce the risks of data exfiltration, ensure agent development meets all organizational governance requirements, and proactively reduce security risks.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Agent Authentication: This feature allows administrators to configure authentication for all agent interactions in the environment.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Agent Access: This feature gives administrators control over where agents can be published, allowing customer engagement across multiple platforms. Admins can select multiple available channels, such as Microsoft Teams, Direct Line, Facebook, Dynamics 365 for Customer Service, SharePoint, and WhatsApp.</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endParaRPr lang="en-US" dirty="0"/>
          </a:p>
        </p:txBody>
      </p:sp>
      <p:sp>
        <p:nvSpPr>
          <p:cNvPr id="4" name="Slide Number Placeholder 3">
            <a:extLst>
              <a:ext uri="{FF2B5EF4-FFF2-40B4-BE49-F238E27FC236}">
                <a16:creationId xmlns:a16="http://schemas.microsoft.com/office/drawing/2014/main" id="{DD746BD1-5D2B-7845-DB74-B80F0E3848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09106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E21A-500D-2E26-B93B-6C4BB6793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27451-22C3-C2B9-BF76-4DA8BAF12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C191D-FF09-DF73-7F91-26ACEE850D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82C560-CBFB-CF92-F14A-39980CC273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6417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FE78-4944-41A8-364E-D96C33606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E3461-BF95-C2FC-0C47-E05700DE0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B41E3-D979-0C73-2BCD-B0C6F94388A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Microsoft no longer automatically assigns the </a:t>
            </a:r>
            <a:r>
              <a:rPr lang="en-US" sz="1200" b="1" i="0" kern="1200" dirty="0">
                <a:solidFill>
                  <a:schemeClr val="tx1"/>
                </a:solidFill>
                <a:effectLst/>
                <a:latin typeface="+mn-lt"/>
                <a:ea typeface="+mn-ea"/>
                <a:cs typeface="+mn-cs"/>
              </a:rPr>
              <a:t>System Administrator</a:t>
            </a:r>
            <a:r>
              <a:rPr lang="en-US" sz="1200" b="0" i="0" kern="1200" dirty="0">
                <a:solidFill>
                  <a:schemeClr val="tx1"/>
                </a:solidFill>
                <a:effectLst/>
                <a:latin typeface="+mn-lt"/>
                <a:ea typeface="+mn-ea"/>
                <a:cs typeface="+mn-cs"/>
              </a:rPr>
              <a:t> role to users with global or service level admin roles such as Power Platform Administrator and Dynamics 365 Administrator.</a:t>
            </a:r>
          </a:p>
          <a:p>
            <a:r>
              <a:rPr lang="en-US" sz="1200" b="0" i="0" kern="1200" dirty="0">
                <a:solidFill>
                  <a:schemeClr val="tx1"/>
                </a:solidFill>
                <a:effectLst/>
                <a:latin typeface="+mn-lt"/>
                <a:ea typeface="+mn-ea"/>
                <a:cs typeface="+mn-cs"/>
              </a:rPr>
              <a:t>These admins can continue to sign in, to the Power Platform admin center, with these privileges: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Enable or disable tenant level settings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View analytics information for environments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View capacity consumption</a:t>
            </a:r>
          </a:p>
          <a:p>
            <a:r>
              <a:rPr lang="en-US" sz="1200" b="0" i="0" kern="1200" dirty="0">
                <a:solidFill>
                  <a:schemeClr val="tx1"/>
                </a:solidFill>
                <a:effectLst/>
                <a:latin typeface="+mn-lt"/>
                <a:ea typeface="+mn-ea"/>
                <a:cs typeface="+mn-cs"/>
              </a:rPr>
              <a:t>These admins can't perform activities that require direct access to Dataverse data without a license. Examples of these activities include: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Updating the security role for a user in an environment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Installing apps for an environment</a:t>
            </a:r>
            <a:endParaRPr lang="en-US" dirty="0"/>
          </a:p>
        </p:txBody>
      </p:sp>
      <p:sp>
        <p:nvSpPr>
          <p:cNvPr id="4" name="Slide Number Placeholder 3">
            <a:extLst>
              <a:ext uri="{FF2B5EF4-FFF2-40B4-BE49-F238E27FC236}">
                <a16:creationId xmlns:a16="http://schemas.microsoft.com/office/drawing/2014/main" id="{F54AEF82-4E15-0798-69B9-EBDE42D780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515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5DA96-F5E7-6E47-C054-5375829CD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2F2D6-63F1-8EA5-BDB7-5DC76B206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B648D-AB9D-AB5E-396C-19F05B05D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F4B4CC-D9A5-B0A4-6C01-1A933FFE03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9935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58CA-55A3-BFAC-EF70-E9B8E84DF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A3DEA-377D-73F3-D36A-89BA89D82F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12C44-2B46-78B6-B0B0-116F96CDFD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0AD11F-7F65-228A-3F9D-DEF6B073A1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75317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65471-4724-7F4B-410D-1B53618BB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7C4CF-AA11-F2AC-DE63-ADD394862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19B94-E3B0-BA76-EFBB-D52FFE6FE557}"/>
              </a:ext>
            </a:extLst>
          </p:cNvPr>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When an admin configures this environment setting, guests can't connect to data sources in the environment. Guests can't perform any maker actions, and they can't use any apps or flows shared with them. Admins implement this security within the Power Platform admin center without using controls like conditional access or continuous access evaluation.</a:t>
            </a:r>
          </a:p>
          <a:p>
            <a:endParaRPr lang="en-US" dirty="0"/>
          </a:p>
        </p:txBody>
      </p:sp>
      <p:sp>
        <p:nvSpPr>
          <p:cNvPr id="4" name="Slide Number Placeholder 3">
            <a:extLst>
              <a:ext uri="{FF2B5EF4-FFF2-40B4-BE49-F238E27FC236}">
                <a16:creationId xmlns:a16="http://schemas.microsoft.com/office/drawing/2014/main" id="{6BD6FE36-56A4-F1B0-47E2-BE74EA78C9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51752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98D14-9EFA-6E9D-1C46-DD8CEC1C6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5D534-60C1-6F8A-A4EF-4A0BF79A3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BC31A5-375D-AFA1-D0A3-0BD4157438E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feature allows administrators to configure authentication for all agent interactions in the environment. Admins can select one of the following options:</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Authenticate with Microsoft or Authenticate Manually</a:t>
            </a:r>
            <a:r>
              <a:rPr lang="en-US" sz="1200" b="0" i="0" kern="1200" dirty="0">
                <a:solidFill>
                  <a:schemeClr val="tx1"/>
                </a:solidFill>
                <a:effectLst/>
                <a:latin typeface="+mn-lt"/>
                <a:ea typeface="+mn-ea"/>
                <a:cs typeface="+mn-cs"/>
              </a:rPr>
              <a:t> allows you to force authentication through Microsoft Entra ID or </a:t>
            </a:r>
            <a:r>
              <a:rPr lang="en-US" sz="1200" b="0" i="0" u="none" strike="noStrike" kern="1200" dirty="0">
                <a:solidFill>
                  <a:schemeClr val="tx1"/>
                </a:solidFill>
                <a:effectLst/>
                <a:latin typeface="+mn-lt"/>
                <a:ea typeface="+mn-ea"/>
                <a:cs typeface="+mn-cs"/>
                <a:hlinkClick r:id="rId3"/>
              </a:rPr>
              <a:t>authenticate manually</a:t>
            </a:r>
            <a:r>
              <a:rPr lang="en-US" sz="1200" b="0" i="0" kern="1200" dirty="0">
                <a:solidFill>
                  <a:schemeClr val="tx1"/>
                </a:solidFill>
                <a:effectLst/>
                <a:latin typeface="+mn-lt"/>
                <a:ea typeface="+mn-ea"/>
                <a:cs typeface="+mn-cs"/>
              </a:rPr>
              <a:t>. This helps prevent makers from creating or using agents with no authentication.</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No authentication</a:t>
            </a:r>
            <a:r>
              <a:rPr lang="en-US" sz="1200" b="0" i="0" kern="1200" dirty="0">
                <a:solidFill>
                  <a:schemeClr val="tx1"/>
                </a:solidFill>
                <a:effectLst/>
                <a:latin typeface="+mn-lt"/>
                <a:ea typeface="+mn-ea"/>
                <a:cs typeface="+mn-cs"/>
              </a:rPr>
              <a:t> allows anonymous access.</a:t>
            </a:r>
          </a:p>
          <a:p>
            <a:endParaRPr lang="en-US" dirty="0"/>
          </a:p>
        </p:txBody>
      </p:sp>
      <p:sp>
        <p:nvSpPr>
          <p:cNvPr id="4" name="Slide Number Placeholder 3">
            <a:extLst>
              <a:ext uri="{FF2B5EF4-FFF2-40B4-BE49-F238E27FC236}">
                <a16:creationId xmlns:a16="http://schemas.microsoft.com/office/drawing/2014/main" id="{9D2B67B0-0624-E741-4167-14B8C45FD4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6176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F42A9-ABA9-236B-035B-E1221D60C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706C1-422C-D3B2-8DBB-37E872E10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E0BB9D-C88D-2472-4071-9B09A573FB0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This feature gives administrators control over where agents can be published, allowing customer engagement across multiple platforms. Admins can select multiple available channels, such as Microsoft Teams, Direct Line, Facebook, Dynamics 365 for Customer Service, SharePoint, and WhatsApp.</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endParaRPr lang="en-US" dirty="0"/>
          </a:p>
        </p:txBody>
      </p:sp>
      <p:sp>
        <p:nvSpPr>
          <p:cNvPr id="4" name="Slide Number Placeholder 3">
            <a:extLst>
              <a:ext uri="{FF2B5EF4-FFF2-40B4-BE49-F238E27FC236}">
                <a16:creationId xmlns:a16="http://schemas.microsoft.com/office/drawing/2014/main" id="{710BE0E7-3ABE-F9BE-AD06-740A13E12E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276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CF12C-1A26-CBC3-65BD-406BFD106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88B47-15B6-65E1-0B32-FD33DEFB8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6AC94B-DCE8-84A4-2503-8A22F8B00048}"/>
              </a:ext>
            </a:extLst>
          </p:cNvPr>
          <p:cNvSpPr>
            <a:spLocks noGrp="1"/>
          </p:cNvSpPr>
          <p:nvPr>
            <p:ph type="body" idx="1"/>
          </p:nvPr>
        </p:nvSpPr>
        <p:spPr/>
        <p:txBody>
          <a:bodyPr/>
          <a:lstStyle/>
          <a:p>
            <a:pPr marL="171450" indent="-171450">
              <a:buFont typeface="Arial" panose="020B0604020202020204" pitchFamily="34" charset="0"/>
              <a:buChar char="•"/>
            </a:pPr>
            <a:r>
              <a:rPr lang="es-ES" dirty="0"/>
              <a:t>PIM</a:t>
            </a:r>
          </a:p>
          <a:p>
            <a:pPr marL="171450" indent="-171450">
              <a:buFont typeface="Arial" panose="020B0604020202020204" pitchFamily="34" charset="0"/>
              <a:buChar char="•"/>
            </a:pPr>
            <a:r>
              <a:rPr lang="en-US" dirty="0"/>
              <a:t>Block/Enable Client Access App</a:t>
            </a:r>
          </a:p>
          <a:p>
            <a:pPr marL="171450" indent="-171450">
              <a:buFont typeface="Arial" panose="020B0604020202020204" pitchFamily="34" charset="0"/>
              <a:buChar char="•"/>
            </a:pPr>
            <a:r>
              <a:rPr lang="en-US" dirty="0"/>
              <a:t>Conditional Access + Guest Access</a:t>
            </a:r>
          </a:p>
          <a:p>
            <a:pPr marL="171450" indent="-171450">
              <a:buFont typeface="Arial" panose="020B0604020202020204" pitchFamily="34" charset="0"/>
              <a:buChar char="•"/>
            </a:pPr>
            <a:r>
              <a:rPr lang="en-US" dirty="0"/>
              <a:t>Agents Authentication + Agent Access</a:t>
            </a:r>
          </a:p>
          <a:p>
            <a:pPr marL="171450" indent="-171450">
              <a:buFont typeface="Arial" panose="020B0604020202020204" pitchFamily="34" charset="0"/>
              <a:buChar char="•"/>
            </a:pPr>
            <a:endParaRPr lang="es-ES" dirty="0"/>
          </a:p>
        </p:txBody>
      </p:sp>
      <p:sp>
        <p:nvSpPr>
          <p:cNvPr id="4" name="Slide Number Placeholder 3">
            <a:extLst>
              <a:ext uri="{FF2B5EF4-FFF2-40B4-BE49-F238E27FC236}">
                <a16:creationId xmlns:a16="http://schemas.microsoft.com/office/drawing/2014/main" id="{32D01114-F4F6-EE5B-D827-2C7545D65F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69413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87EC8-D3F3-446F-3C06-6D82E9956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C2565-63F0-E1CC-83BC-DC1459F35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F77AC-1C68-2E97-D8D9-8BA58377EADD}"/>
              </a:ext>
            </a:extLst>
          </p:cNvPr>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dirty="0">
                <a:ln>
                  <a:noFill/>
                </a:ln>
                <a:solidFill>
                  <a:srgbClr val="000000"/>
                </a:solidFill>
                <a:effectLst/>
                <a:uLnTx/>
                <a:uFillTx/>
                <a:latin typeface="Segoe UI"/>
                <a:ea typeface="+mn-ea"/>
                <a:cs typeface="+mn-cs"/>
                <a:sym typeface="Arial"/>
              </a:rPr>
              <a:t>Customer Lockbox</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srgbClr val="000000"/>
                </a:solidFill>
                <a:effectLst/>
                <a:uLnTx/>
                <a:uFillTx/>
                <a:latin typeface="Segoe UI"/>
                <a:ea typeface="+mn-ea"/>
                <a:cs typeface="+mn-cs"/>
              </a:rPr>
              <a:t>Extendss</a:t>
            </a:r>
            <a:r>
              <a:rPr kumimoji="0" lang="en-US" sz="1200" b="0" i="0" u="none" strike="noStrike" kern="1200" cap="none" spc="0" normalizeH="0" baseline="0" noProof="0" dirty="0">
                <a:ln>
                  <a:noFill/>
                </a:ln>
                <a:solidFill>
                  <a:srgbClr val="000000"/>
                </a:solidFill>
                <a:effectLst/>
                <a:uLnTx/>
                <a:uFillTx/>
                <a:latin typeface="Segoe UI"/>
                <a:ea typeface="+mn-ea"/>
                <a:cs typeface="+mn-cs"/>
              </a:rPr>
              <a:t> JIT with customer approval</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Bound to specific environment, user and duration</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OOB audit available to end user</a:t>
            </a: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rPr>
              <a:t>Data residency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home geo default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Multi-geo support (at environment level) to enable global presence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Data resiliency ensured within geo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sym typeface="Arial"/>
              </a:rPr>
              <a:t>Compliance standards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National, regional and industry-specific regulations for data collection and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E.g., </a:t>
            </a:r>
            <a:r>
              <a:rPr kumimoji="0" lang="en-US" sz="1200" b="0" i="0" u="none" strike="noStrike" kern="1200" cap="none" spc="0" normalizeH="0" baseline="0" noProof="0" dirty="0" err="1">
                <a:ln>
                  <a:noFill/>
                </a:ln>
                <a:solidFill>
                  <a:srgbClr val="000000"/>
                </a:solidFill>
                <a:effectLst/>
                <a:uLnTx/>
                <a:uFillTx/>
                <a:latin typeface="Segoe UI"/>
                <a:ea typeface="+mn-ea"/>
                <a:cs typeface="+mn-cs"/>
              </a:rPr>
              <a:t>FedRamp</a:t>
            </a:r>
            <a:r>
              <a:rPr kumimoji="0" lang="en-US" sz="1200" b="0" i="0" u="none" strike="noStrike" kern="1200" cap="none" spc="0" normalizeH="0" baseline="0" noProof="0" dirty="0">
                <a:ln>
                  <a:noFill/>
                </a:ln>
                <a:solidFill>
                  <a:srgbClr val="000000"/>
                </a:solidFill>
                <a:effectLst/>
                <a:uLnTx/>
                <a:uFillTx/>
                <a:latin typeface="Segoe UI"/>
                <a:ea typeface="+mn-ea"/>
                <a:cs typeface="+mn-cs"/>
              </a:rPr>
              <a:t>, FERPA, HIPAA, SOC, IRS 1075, SEC Regulation, FISC (Japan), FACT (UK), etc.</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sym typeface="Arial"/>
              </a:rPr>
              <a:t>Data Privacy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GDPR compliant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Microsoft Trust Center</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7A61AFC5-270E-88E7-3879-896C28DFD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4035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96994-BE2B-17D7-EF36-AFD42D165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E0281-82AF-FB8D-75FC-2A61C10C7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FE858-C981-21F4-0495-2A33A98DE802}"/>
              </a:ext>
            </a:extLst>
          </p:cNvPr>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dirty="0">
                <a:ln>
                  <a:noFill/>
                </a:ln>
                <a:solidFill>
                  <a:srgbClr val="000000"/>
                </a:solidFill>
                <a:effectLst/>
                <a:uLnTx/>
                <a:uFillTx/>
                <a:latin typeface="Segoe UI"/>
                <a:ea typeface="+mn-ea"/>
                <a:cs typeface="+mn-cs"/>
                <a:sym typeface="Arial"/>
              </a:rPr>
              <a:t>Customer Lockbox</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Extends JIT with customer approval</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Bound to specific environment, user and duration</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OOB audit available to end user</a:t>
            </a: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rPr>
              <a:t>Data residency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home geo default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Multi-geo support (at environment level) to enable global presence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Data resiliency ensured within geo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sym typeface="Arial"/>
              </a:rPr>
              <a:t>Compliance standards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National, regional and industry-specific regulations for data collection and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E.g., </a:t>
            </a:r>
            <a:r>
              <a:rPr kumimoji="0" lang="en-US" sz="1200" b="0" i="0" u="none" strike="noStrike" kern="1200" cap="none" spc="0" normalizeH="0" baseline="0" noProof="0" dirty="0" err="1">
                <a:ln>
                  <a:noFill/>
                </a:ln>
                <a:solidFill>
                  <a:srgbClr val="000000"/>
                </a:solidFill>
                <a:effectLst/>
                <a:uLnTx/>
                <a:uFillTx/>
                <a:latin typeface="Segoe UI"/>
                <a:ea typeface="+mn-ea"/>
                <a:cs typeface="+mn-cs"/>
              </a:rPr>
              <a:t>FedRamp</a:t>
            </a:r>
            <a:r>
              <a:rPr kumimoji="0" lang="en-US" sz="1200" b="0" i="0" u="none" strike="noStrike" kern="1200" cap="none" spc="0" normalizeH="0" baseline="0" noProof="0" dirty="0">
                <a:ln>
                  <a:noFill/>
                </a:ln>
                <a:solidFill>
                  <a:srgbClr val="000000"/>
                </a:solidFill>
                <a:effectLst/>
                <a:uLnTx/>
                <a:uFillTx/>
                <a:latin typeface="Segoe UI"/>
                <a:ea typeface="+mn-ea"/>
                <a:cs typeface="+mn-cs"/>
              </a:rPr>
              <a:t>, FERPA, HIPAA, SOC, IRS 1075, SEC Regulation, FISC (Japan), FACT (UK), etc.</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sym typeface="Arial"/>
              </a:rPr>
              <a:t>Data Privacy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GDPR compliant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Microsoft Trust Center</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509328BB-2A3F-0FFF-8355-5C2FCFCD16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359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516DE-EAF7-9371-AABB-3BAC75A5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3EB58-4FFA-F179-0EA3-3095EF69A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36D5B-4B66-EB67-2107-EB0DCB450F22}"/>
              </a:ext>
            </a:extLst>
          </p:cNvPr>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dirty="0">
                <a:ln>
                  <a:noFill/>
                </a:ln>
                <a:solidFill>
                  <a:srgbClr val="000000"/>
                </a:solidFill>
                <a:effectLst/>
                <a:uLnTx/>
                <a:uFillTx/>
                <a:latin typeface="Segoe UI"/>
                <a:ea typeface="+mn-ea"/>
                <a:cs typeface="+mn-cs"/>
                <a:sym typeface="Arial"/>
              </a:rPr>
              <a:t>Customer Lockbox</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srgbClr val="000000"/>
                </a:solidFill>
                <a:effectLst/>
                <a:uLnTx/>
                <a:uFillTx/>
                <a:latin typeface="Segoe UI"/>
                <a:ea typeface="+mn-ea"/>
                <a:cs typeface="+mn-cs"/>
              </a:rPr>
              <a:t>Extendss</a:t>
            </a:r>
            <a:r>
              <a:rPr kumimoji="0" lang="en-US" sz="1200" b="0" i="0" u="none" strike="noStrike" kern="1200" cap="none" spc="0" normalizeH="0" baseline="0" noProof="0" dirty="0">
                <a:ln>
                  <a:noFill/>
                </a:ln>
                <a:solidFill>
                  <a:srgbClr val="000000"/>
                </a:solidFill>
                <a:effectLst/>
                <a:uLnTx/>
                <a:uFillTx/>
                <a:latin typeface="Segoe UI"/>
                <a:ea typeface="+mn-ea"/>
                <a:cs typeface="+mn-cs"/>
              </a:rPr>
              <a:t> JIT with customer approval</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Bound to specific environment, user and duration</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OOB audit available to end user</a:t>
            </a: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rPr>
              <a:t>Data residency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Tenant home geo default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Multi-geo support (at environment level) to enable global presence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Data resiliency ensured within geo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sym typeface="Arial"/>
              </a:rPr>
              <a:t>Compliance standards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National, regional and industry-specific regulations for data collection and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E.g., </a:t>
            </a:r>
            <a:r>
              <a:rPr kumimoji="0" lang="en-US" sz="1200" b="0" i="0" u="none" strike="noStrike" kern="1200" cap="none" spc="0" normalizeH="0" baseline="0" noProof="0" dirty="0" err="1">
                <a:ln>
                  <a:noFill/>
                </a:ln>
                <a:solidFill>
                  <a:srgbClr val="000000"/>
                </a:solidFill>
                <a:effectLst/>
                <a:uLnTx/>
                <a:uFillTx/>
                <a:latin typeface="Segoe UI"/>
                <a:ea typeface="+mn-ea"/>
                <a:cs typeface="+mn-cs"/>
              </a:rPr>
              <a:t>FedRamp</a:t>
            </a:r>
            <a:r>
              <a:rPr kumimoji="0" lang="en-US" sz="1200" b="0" i="0" u="none" strike="noStrike" kern="1200" cap="none" spc="0" normalizeH="0" baseline="0" noProof="0" dirty="0">
                <a:ln>
                  <a:noFill/>
                </a:ln>
                <a:solidFill>
                  <a:srgbClr val="000000"/>
                </a:solidFill>
                <a:effectLst/>
                <a:uLnTx/>
                <a:uFillTx/>
                <a:latin typeface="Segoe UI"/>
                <a:ea typeface="+mn-ea"/>
                <a:cs typeface="+mn-cs"/>
              </a:rPr>
              <a:t>, FERPA, HIPAA, SOC, IRS 1075, SEC Regulation, FISC (Japan), FACT (UK), etc.</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Segoe UI"/>
                <a:ea typeface="+mn-ea"/>
                <a:cs typeface="+mn-cs"/>
                <a:sym typeface="Arial"/>
              </a:rPr>
              <a:t>Data Privacy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GDPR compliant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Microsoft Trust Center</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7A4D8DB7-CAD3-16B3-829C-1F4FC9782C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51818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Customer</a:t>
            </a:r>
            <a:r>
              <a:rPr lang="es-ES" dirty="0"/>
              <a:t> </a:t>
            </a:r>
            <a:r>
              <a:rPr lang="es-ES" dirty="0" err="1"/>
              <a:t>Lockbox</a:t>
            </a:r>
            <a:endParaRPr lang="es-E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Dataverse</a:t>
            </a:r>
            <a:r>
              <a:rPr lang="es-ES" dirty="0"/>
              <a:t> Audit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dirty="0" err="1"/>
              <a:t>Purview</a:t>
            </a:r>
            <a:r>
              <a:rPr lang="es-ES" dirty="0"/>
              <a:t> Audit</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2949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236DF-168B-1D92-2D41-AF4AE203F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9A29A-959E-2F63-BEFA-3BC544554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9A53C-5FB7-351F-E7F8-9DE989983E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200" b="1" dirty="0">
                <a:solidFill>
                  <a:schemeClr val="tx1">
                    <a:lumMod val="75000"/>
                    <a:lumOff val="25000"/>
                  </a:schemeClr>
                </a:solidFill>
                <a:latin typeface="Segoe UI" panose="020B0502040204020203" pitchFamily="34" charset="0"/>
                <a:cs typeface="Segoe UI" panose="020B0502040204020203" pitchFamily="34" charset="0"/>
              </a:rPr>
              <a:t>Protección frente a amenazas</a:t>
            </a:r>
          </a:p>
          <a:p>
            <a:pPr marL="0" indent="0">
              <a:buFont typeface="Arial" panose="020B0604020202020204" pitchFamily="34" charset="0"/>
              <a:buNone/>
            </a:pPr>
            <a:endParaRPr lang="en-US" sz="1200" b="1"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Threat protection</a:t>
            </a:r>
            <a:r>
              <a:rPr lang="en-US" sz="1200" b="0" i="0" kern="1200" dirty="0">
                <a:solidFill>
                  <a:schemeClr val="tx1"/>
                </a:solidFill>
                <a:effectLst/>
                <a:latin typeface="+mn-lt"/>
                <a:ea typeface="+mn-ea"/>
                <a:cs typeface="+mn-cs"/>
              </a:rPr>
              <a:t>: Protect your organization's assets and resources through unified detection by using </a:t>
            </a:r>
            <a:r>
              <a:rPr lang="en-US" sz="1200" b="0" i="0" u="none" strike="noStrike" kern="1200" dirty="0">
                <a:solidFill>
                  <a:schemeClr val="tx1"/>
                </a:solidFill>
                <a:effectLst/>
                <a:latin typeface="+mn-lt"/>
                <a:ea typeface="+mn-ea"/>
                <a:cs typeface="+mn-cs"/>
                <a:hlinkClick r:id="rId3"/>
              </a:rPr>
              <a:t>Microsoft Sentinel solution for Power Platform</a:t>
            </a:r>
            <a:r>
              <a:rPr lang="en-US" sz="1200" b="0" i="0" kern="1200" dirty="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Thread</a:t>
            </a:r>
            <a:r>
              <a:rPr lang="es-ES" sz="1200" b="1"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dirty="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Solution</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Checker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Sentinel</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Integration</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Thread</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Detection</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Copilot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Agents</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 Microsoft Defender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Copilot</a:t>
            </a:r>
            <a:r>
              <a:rPr lang="es-ES" sz="1200" b="0" noProof="0" dirty="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dirty="0" err="1">
                <a:solidFill>
                  <a:schemeClr val="tx1">
                    <a:lumMod val="75000"/>
                    <a:lumOff val="25000"/>
                  </a:schemeClr>
                </a:solidFill>
                <a:latin typeface="Segoe UI" panose="020B0502040204020203" pitchFamily="34" charset="0"/>
                <a:cs typeface="Segoe UI" panose="020B0502040204020203" pitchFamily="34" charset="0"/>
              </a:rPr>
              <a:t>Agents</a:t>
            </a:r>
            <a:endParaRPr lang="es-ES" sz="1200" b="1" noProof="0" dirty="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Solution Checker: </a:t>
            </a:r>
            <a:r>
              <a:rPr lang="en-US" sz="1200" b="0" i="0" kern="1200" dirty="0">
                <a:solidFill>
                  <a:schemeClr val="tx1"/>
                </a:solidFill>
                <a:effectLst/>
                <a:latin typeface="+mn-lt"/>
                <a:ea typeface="+mn-ea"/>
                <a:cs typeface="+mn-cs"/>
              </a:rPr>
              <a:t>The solution checker is a powerful tool that performs a comprehensive static analysis of your solution objects against a set of best practice rules. By using solution checker, you can quickly identify problematic patterns in solution components and receive detailed reports that highlight issues, affected components, and provide links to documentation on how to resolve each issue.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Microsoft Sentinel Integration</a:t>
            </a:r>
            <a:r>
              <a:rPr lang="en-US" sz="1200" b="0" i="0" kern="1200" dirty="0">
                <a:solidFill>
                  <a:schemeClr val="tx1"/>
                </a:solidFill>
                <a:effectLst/>
                <a:latin typeface="+mn-lt"/>
                <a:ea typeface="+mn-ea"/>
                <a:cs typeface="+mn-cs"/>
              </a:rPr>
              <a:t>: Monitor and detect suspicious or malicious activities in your Power Platform environment. Monitor and secure your Dynamics 365 Customer Engagement environment, which uses the Microsoft Dataverse common data store known as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Thread Detection and Protection for Copilot Studio</a:t>
            </a:r>
            <a:r>
              <a:rPr lang="en-US" sz="1200" b="0" i="0" kern="1200" dirty="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To further increase the monitoring capabilities and security of custom agents, Copilot Studio lets organizations configure </a:t>
            </a:r>
            <a:r>
              <a:rPr lang="en-US" sz="1200" b="0" i="1" kern="1200" dirty="0">
                <a:solidFill>
                  <a:schemeClr val="tx1"/>
                </a:solidFill>
                <a:effectLst/>
                <a:latin typeface="+mn-lt"/>
                <a:ea typeface="+mn-ea"/>
                <a:cs typeface="+mn-cs"/>
              </a:rPr>
              <a:t>external threat detection systems</a:t>
            </a:r>
            <a:r>
              <a:rPr lang="en-US" sz="1200" b="0" i="0" kern="1200" dirty="0">
                <a:solidFill>
                  <a:schemeClr val="tx1"/>
                </a:solidFill>
                <a:effectLst/>
                <a:latin typeface="+mn-lt"/>
                <a:ea typeface="+mn-ea"/>
                <a:cs typeface="+mn-cs"/>
              </a:rPr>
              <a:t> for enhanced oversight. These tools operate during the agent's runtime, continuously evaluating agent activity. If the system detects any suspicious tools or actions, it can intervene to block them from executing. This threat detection provides an extra layer of real-time protection and compliance enforcement.</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Microsoft Defender – Copilot Studio AI Agents: </a:t>
            </a:r>
            <a:r>
              <a:rPr lang="en-US" sz="1200" b="0" i="0" kern="1200" dirty="0">
                <a:solidFill>
                  <a:schemeClr val="tx1"/>
                </a:solidFill>
                <a:effectLst/>
                <a:latin typeface="+mn-lt"/>
                <a:ea typeface="+mn-ea"/>
                <a:cs typeface="+mn-cs"/>
              </a:rPr>
              <a:t>Microsoft Defender is providing new detection capabilities to secure Copilot Studio AI Agents from oversharing, misconfiguration, etc. It monitors agent behavior in your tenant and helps detect cross-domain prompt injection attacks (XPIA) in real time.</a:t>
            </a:r>
          </a:p>
          <a:p>
            <a:endParaRPr lang="en-US" dirty="0"/>
          </a:p>
        </p:txBody>
      </p:sp>
      <p:sp>
        <p:nvSpPr>
          <p:cNvPr id="4" name="Slide Number Placeholder 3">
            <a:extLst>
              <a:ext uri="{FF2B5EF4-FFF2-40B4-BE49-F238E27FC236}">
                <a16:creationId xmlns:a16="http://schemas.microsoft.com/office/drawing/2014/main" id="{841B3531-DB62-EB85-829E-02EA621B15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98178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584D5-00E2-C12A-268D-DDD5DD14B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0519D-FC23-B9F3-7805-0C8ABF60F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23CDC-34EC-985A-AE03-A30FBD2F823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Solution Checker: </a:t>
            </a:r>
            <a:r>
              <a:rPr lang="en-US" sz="1200" b="0" i="0" kern="1200" dirty="0">
                <a:solidFill>
                  <a:schemeClr val="tx1"/>
                </a:solidFill>
                <a:effectLst/>
                <a:latin typeface="+mn-lt"/>
                <a:ea typeface="+mn-ea"/>
                <a:cs typeface="+mn-cs"/>
              </a:rPr>
              <a:t>The solution checker is a powerful tool that performs a comprehensive static analysis of your solution objects against a set of best practice rules. By using solution checker, you can quickly identify problematic patterns in solution components and receive detailed reports that highlight issues, affected components, and provide links to documentation on how to resolve each issue.</a:t>
            </a:r>
          </a:p>
          <a:p>
            <a:endParaRPr lang="en-US" dirty="0"/>
          </a:p>
        </p:txBody>
      </p:sp>
      <p:sp>
        <p:nvSpPr>
          <p:cNvPr id="4" name="Slide Number Placeholder 3">
            <a:extLst>
              <a:ext uri="{FF2B5EF4-FFF2-40B4-BE49-F238E27FC236}">
                <a16:creationId xmlns:a16="http://schemas.microsoft.com/office/drawing/2014/main" id="{724272F6-5ADE-84B7-BDD9-4953438D73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44954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7418-B443-9640-33FB-0B9F20916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0D1E8-A514-2B2F-96C6-71B61C215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C0D42-8549-6F2E-559D-D5145A1561F8}"/>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Thread Detection and Protection for Copilot Studio</a:t>
            </a:r>
            <a:r>
              <a:rPr lang="en-US" sz="1200" b="0" i="0" kern="1200" dirty="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To further increase the monitoring capabilities and security of custom agents, Copilot Studio lets organizations configure </a:t>
            </a:r>
            <a:r>
              <a:rPr lang="en-US" sz="1200" b="0" i="1" kern="1200" dirty="0">
                <a:solidFill>
                  <a:schemeClr val="tx1"/>
                </a:solidFill>
                <a:effectLst/>
                <a:latin typeface="+mn-lt"/>
                <a:ea typeface="+mn-ea"/>
                <a:cs typeface="+mn-cs"/>
              </a:rPr>
              <a:t>external threat detection systems</a:t>
            </a:r>
            <a:r>
              <a:rPr lang="en-US" sz="1200" b="0" i="0" kern="1200" dirty="0">
                <a:solidFill>
                  <a:schemeClr val="tx1"/>
                </a:solidFill>
                <a:effectLst/>
                <a:latin typeface="+mn-lt"/>
                <a:ea typeface="+mn-ea"/>
                <a:cs typeface="+mn-cs"/>
              </a:rPr>
              <a:t> for enhanced oversight. These tools operate during the agent's runtime, continuously evaluating agent activity. If the system detects any suspicious tools or actions, it can intervene to block them from executing. This threat detection provides an extra layer of real-time protection and compliance enforcement.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Copilot Studio supports a flexible "bring your own protection" approach. Organizations have the freedom to integrate security solutions that best fit their unique requirements.</a:t>
            </a:r>
          </a:p>
          <a:p>
            <a:r>
              <a:rPr lang="en-US" sz="1200" b="0" i="0" kern="1200" dirty="0">
                <a:solidFill>
                  <a:schemeClr val="tx1"/>
                </a:solidFill>
                <a:effectLst/>
                <a:latin typeface="+mn-lt"/>
                <a:ea typeface="+mn-ea"/>
                <a:cs typeface="+mn-cs"/>
              </a:rPr>
              <a:t>Options include: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Develop your own custom monitoring tools, or have someone develop them for you. For more information on how to set up the system endpoint so that your agent can connect to it, see </a:t>
            </a:r>
            <a:r>
              <a:rPr lang="en-US" sz="1200" b="0" i="0" u="none" strike="noStrike" kern="1200" dirty="0">
                <a:solidFill>
                  <a:schemeClr val="tx1"/>
                </a:solidFill>
                <a:effectLst/>
                <a:latin typeface="+mn-lt"/>
                <a:ea typeface="+mn-ea"/>
                <a:cs typeface="+mn-cs"/>
                <a:hlinkClick r:id="rId3"/>
              </a:rPr>
              <a:t>Build a runtime threat detection system for Copilot Studio agents</a:t>
            </a: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Apply a robust enterprise solution by </a:t>
            </a:r>
            <a:r>
              <a:rPr lang="en-US" sz="1200" b="0" i="0" u="none" strike="noStrike" kern="1200" dirty="0">
                <a:solidFill>
                  <a:schemeClr val="tx1"/>
                </a:solidFill>
                <a:effectLst/>
                <a:latin typeface="+mn-lt"/>
                <a:ea typeface="+mn-ea"/>
                <a:cs typeface="+mn-cs"/>
                <a:hlinkClick r:id="rId4"/>
              </a:rPr>
              <a:t>Microsoft Defender</a:t>
            </a: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Use products from other trusted security providers</a:t>
            </a:r>
          </a:p>
          <a:p>
            <a:endParaRPr lang="en-US" dirty="0"/>
          </a:p>
        </p:txBody>
      </p:sp>
      <p:sp>
        <p:nvSpPr>
          <p:cNvPr id="4" name="Slide Number Placeholder 3">
            <a:extLst>
              <a:ext uri="{FF2B5EF4-FFF2-40B4-BE49-F238E27FC236}">
                <a16:creationId xmlns:a16="http://schemas.microsoft.com/office/drawing/2014/main" id="{2453EADD-7E4F-5982-BB1D-0E88C4046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28623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D11CD-E73D-6E0D-6309-7504CEC56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44383-0DE3-92FE-B800-E94DB9046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A96EF-BA3D-AF48-E143-F9EEB756A87A}"/>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Thread Detection and Protection for Copilot Studio</a:t>
            </a:r>
            <a:r>
              <a:rPr lang="en-US" sz="1200" b="0" i="0" kern="1200" dirty="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To further increase the monitoring capabilities and security of custom agents, Copilot Studio lets organizations configure </a:t>
            </a:r>
            <a:r>
              <a:rPr lang="en-US" sz="1200" b="0" i="1" kern="1200" dirty="0">
                <a:solidFill>
                  <a:schemeClr val="tx1"/>
                </a:solidFill>
                <a:effectLst/>
                <a:latin typeface="+mn-lt"/>
                <a:ea typeface="+mn-ea"/>
                <a:cs typeface="+mn-cs"/>
              </a:rPr>
              <a:t>external threat detection systems</a:t>
            </a:r>
            <a:r>
              <a:rPr lang="en-US" sz="1200" b="0" i="0" kern="1200" dirty="0">
                <a:solidFill>
                  <a:schemeClr val="tx1"/>
                </a:solidFill>
                <a:effectLst/>
                <a:latin typeface="+mn-lt"/>
                <a:ea typeface="+mn-ea"/>
                <a:cs typeface="+mn-cs"/>
              </a:rPr>
              <a:t> for enhanced oversight. These tools operate during the agent's runtime, continuously evaluating agent activity. If the system detects any suspicious tools or actions, it can intervene to block them from executing. This threat detection provides an extra layer of real-time protection and compliance enforcement.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Copilot Studio supports a flexible "bring your own protection" approach. Organizations have the freedom to integrate security solutions that best fit their unique requirements.</a:t>
            </a:r>
          </a:p>
          <a:p>
            <a:r>
              <a:rPr lang="en-US" sz="1200" b="0" i="0" kern="1200" dirty="0">
                <a:solidFill>
                  <a:schemeClr val="tx1"/>
                </a:solidFill>
                <a:effectLst/>
                <a:latin typeface="+mn-lt"/>
                <a:ea typeface="+mn-ea"/>
                <a:cs typeface="+mn-cs"/>
              </a:rPr>
              <a:t>Options include: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Develop your own custom monitoring tools, or have someone develop them for you. For more information on how to set up the system endpoint so that your agent can connect to it, see </a:t>
            </a:r>
            <a:r>
              <a:rPr lang="en-US" sz="1200" b="0" i="0" u="none" strike="noStrike" kern="1200" dirty="0">
                <a:solidFill>
                  <a:schemeClr val="tx1"/>
                </a:solidFill>
                <a:effectLst/>
                <a:latin typeface="+mn-lt"/>
                <a:ea typeface="+mn-ea"/>
                <a:cs typeface="+mn-cs"/>
                <a:hlinkClick r:id="rId3"/>
              </a:rPr>
              <a:t>Build a runtime threat detection system for Copilot Studio agents</a:t>
            </a: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Apply a robust enterprise solution by </a:t>
            </a:r>
            <a:r>
              <a:rPr lang="en-US" sz="1200" b="0" i="0" u="none" strike="noStrike" kern="1200" dirty="0">
                <a:solidFill>
                  <a:schemeClr val="tx1"/>
                </a:solidFill>
                <a:effectLst/>
                <a:latin typeface="+mn-lt"/>
                <a:ea typeface="+mn-ea"/>
                <a:cs typeface="+mn-cs"/>
                <a:hlinkClick r:id="rId4"/>
              </a:rPr>
              <a:t>Microsoft Defender</a:t>
            </a: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Use products from other trusted security providers</a:t>
            </a:r>
          </a:p>
          <a:p>
            <a:endParaRPr lang="en-US" dirty="0"/>
          </a:p>
        </p:txBody>
      </p:sp>
      <p:sp>
        <p:nvSpPr>
          <p:cNvPr id="4" name="Slide Number Placeholder 3">
            <a:extLst>
              <a:ext uri="{FF2B5EF4-FFF2-40B4-BE49-F238E27FC236}">
                <a16:creationId xmlns:a16="http://schemas.microsoft.com/office/drawing/2014/main" id="{4A4D7CC9-B0B2-5407-4535-7B872D47B6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83761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45169-C0B6-E79B-4681-632450120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B0096-6ABC-330C-D946-BA370C152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5261A-B8C6-21D4-D9CD-EEC22EE55A54}"/>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Thread Detection and Protection for Copilot Studio</a:t>
            </a:r>
            <a:r>
              <a:rPr lang="en-US" sz="1200" b="0" i="0" kern="1200" dirty="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Real-time protection during agent runtime in Microsoft Defender reduces these risks by inspecting user messages before the agent runs any actions.</a:t>
            </a:r>
          </a:p>
          <a:p>
            <a:r>
              <a:rPr lang="en-US" sz="1200" b="0" i="0" kern="1200" dirty="0">
                <a:solidFill>
                  <a:schemeClr val="tx1"/>
                </a:solidFill>
                <a:effectLst/>
                <a:latin typeface="+mn-lt"/>
                <a:ea typeface="+mn-ea"/>
                <a:cs typeface="+mn-cs"/>
              </a:rPr>
              <a:t>If Microsoft Defender determines that a prompt is suspicious: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tool invocation is blocked before it runs.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user gets notified that their message was blocked.</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 informative alert is created and appears in the Microsoft Defender portal under XDR Incidents and Alerts.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This capability adds another security layer on top of Microsoft Copilot Studio, helping ensure AI agents remain resilient against evolving threats.</a:t>
            </a:r>
          </a:p>
          <a:p>
            <a:endParaRPr lang="en-US" dirty="0"/>
          </a:p>
        </p:txBody>
      </p:sp>
      <p:sp>
        <p:nvSpPr>
          <p:cNvPr id="4" name="Slide Number Placeholder 3">
            <a:extLst>
              <a:ext uri="{FF2B5EF4-FFF2-40B4-BE49-F238E27FC236}">
                <a16:creationId xmlns:a16="http://schemas.microsoft.com/office/drawing/2014/main" id="{ACC71E03-277C-4CC2-7CA2-2175FBEA42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106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2FE0C-A621-7325-3E0D-0382493AE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7FE6A-D89C-D1B3-26B6-F08F99B47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E3C86-638E-0839-3B93-93F626C970CE}"/>
              </a:ext>
            </a:extLst>
          </p:cNvPr>
          <p:cNvSpPr>
            <a:spLocks noGrp="1"/>
          </p:cNvSpPr>
          <p:nvPr>
            <p:ph type="body" idx="1"/>
          </p:nvPr>
        </p:nvSpPr>
        <p:spPr/>
        <p:txBody>
          <a:bodyPr/>
          <a:lstStyle/>
          <a:p>
            <a:pPr marL="171450" indent="-171450">
              <a:buFont typeface="Arial" panose="020B0604020202020204" pitchFamily="34" charset="0"/>
              <a:buChar char="•"/>
            </a:pPr>
            <a:r>
              <a:rPr lang="es-ES" dirty="0" err="1"/>
              <a:t>Solution</a:t>
            </a:r>
            <a:r>
              <a:rPr lang="es-ES" dirty="0"/>
              <a:t> </a:t>
            </a:r>
            <a:r>
              <a:rPr lang="es-ES" dirty="0" err="1"/>
              <a:t>Checker</a:t>
            </a:r>
            <a:endParaRPr lang="es-ES" dirty="0"/>
          </a:p>
          <a:p>
            <a:pPr marL="171450" indent="-171450">
              <a:buFont typeface="Arial" panose="020B0604020202020204" pitchFamily="34" charset="0"/>
              <a:buChar char="•"/>
            </a:pPr>
            <a:r>
              <a:rPr lang="es-ES" dirty="0" err="1"/>
              <a:t>Additional</a:t>
            </a:r>
            <a:r>
              <a:rPr lang="es-ES" dirty="0"/>
              <a:t> </a:t>
            </a:r>
            <a:r>
              <a:rPr lang="es-ES" dirty="0" err="1"/>
              <a:t>Thread</a:t>
            </a:r>
            <a:r>
              <a:rPr lang="es-ES" dirty="0"/>
              <a:t> </a:t>
            </a:r>
            <a:r>
              <a:rPr lang="es-ES" dirty="0" err="1"/>
              <a:t>Detection</a:t>
            </a:r>
            <a:endParaRPr lang="es-ES" dirty="0"/>
          </a:p>
          <a:p>
            <a:pPr marL="171450" indent="-171450">
              <a:buFont typeface="Arial" panose="020B0604020202020204" pitchFamily="34" charset="0"/>
              <a:buChar char="•"/>
            </a:pPr>
            <a:r>
              <a:rPr lang="es-ES" dirty="0"/>
              <a:t>Microsoft Defender </a:t>
            </a:r>
            <a:r>
              <a:rPr lang="es-ES" dirty="0" err="1"/>
              <a:t>Integration</a:t>
            </a:r>
            <a:endParaRPr lang="es-ES" dirty="0"/>
          </a:p>
          <a:p>
            <a:pPr marL="171450" indent="-171450">
              <a:buFont typeface="Arial" panose="020B0604020202020204" pitchFamily="34" charset="0"/>
              <a:buChar char="•"/>
            </a:pPr>
            <a:r>
              <a:rPr lang="es-ES" dirty="0"/>
              <a:t>Microsoft </a:t>
            </a:r>
            <a:r>
              <a:rPr lang="es-ES" dirty="0" err="1"/>
              <a:t>Sentinel</a:t>
            </a:r>
            <a:r>
              <a:rPr lang="es-ES" dirty="0"/>
              <a:t> </a:t>
            </a:r>
            <a:r>
              <a:rPr lang="es-ES" dirty="0" err="1"/>
              <a:t>Integration</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C9B9540A-0361-498F-3368-4B7A86C706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35227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61048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E1412-162E-D106-9154-D52488F88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8934F-5D8E-86D6-D0AF-EBE5966F0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D7229-EB29-9C58-C1FC-919E66632D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260505-4C1F-1E9B-EDA9-8280C30A67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07135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ED2D-B14C-7BE1-A1C7-356EE5FEF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6D009-9C99-7927-7041-61AAF89E2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E1C04-CF7B-8AB3-3AEF-11FBDEBCEE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624F7A-5CFB-3B2E-19EA-7DF0EA4E0D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58396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6943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sv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engagetime.live/" TargetMode="External"/><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40400-A9FB-471E-A044-F2EF801E77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EF0D40F-507F-473B-AD6C-4494E6796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7B3D8A0-A07C-4E78-A697-4A0E1EB4F915}"/>
              </a:ext>
            </a:extLst>
          </p:cNvPr>
          <p:cNvSpPr>
            <a:spLocks noGrp="1"/>
          </p:cNvSpPr>
          <p:nvPr>
            <p:ph type="dt" sz="half" idx="10"/>
          </p:nvPr>
        </p:nvSpPr>
        <p:spPr/>
        <p:txBody>
          <a:bodyPr/>
          <a:lstStyle/>
          <a:p>
            <a:fld id="{0F441804-0920-40BF-97AC-7A78A971688B}" type="datetime1">
              <a:rPr lang="en-GB" smtClean="0"/>
              <a:t>18/10/2025</a:t>
            </a:fld>
            <a:endParaRPr lang="en-GB"/>
          </a:p>
        </p:txBody>
      </p:sp>
      <p:sp>
        <p:nvSpPr>
          <p:cNvPr id="5" name="Footer Placeholder 4">
            <a:extLst>
              <a:ext uri="{FF2B5EF4-FFF2-40B4-BE49-F238E27FC236}">
                <a16:creationId xmlns:a16="http://schemas.microsoft.com/office/drawing/2014/main" id="{9335395F-4B55-4A49-B9D9-324AC3A4BA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A2F147-EAE9-4E4E-B9A7-5496873C91D7}"/>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3506543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1BAC-A059-414E-9E62-391C12ACAF6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018EA71-8674-4AB5-BE25-6CF7ABBC1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53ECB7-E7EE-4256-98AF-026C3E03648C}"/>
              </a:ext>
            </a:extLst>
          </p:cNvPr>
          <p:cNvSpPr>
            <a:spLocks noGrp="1"/>
          </p:cNvSpPr>
          <p:nvPr>
            <p:ph type="dt" sz="half" idx="10"/>
          </p:nvPr>
        </p:nvSpPr>
        <p:spPr/>
        <p:txBody>
          <a:bodyPr/>
          <a:lstStyle/>
          <a:p>
            <a:fld id="{98B7B86E-9EB5-473A-8A5C-2A43F282CC9E}" type="datetime1">
              <a:rPr lang="en-GB" smtClean="0"/>
              <a:t>18/10/2025</a:t>
            </a:fld>
            <a:endParaRPr lang="en-GB"/>
          </a:p>
        </p:txBody>
      </p:sp>
      <p:sp>
        <p:nvSpPr>
          <p:cNvPr id="5" name="Footer Placeholder 4">
            <a:extLst>
              <a:ext uri="{FF2B5EF4-FFF2-40B4-BE49-F238E27FC236}">
                <a16:creationId xmlns:a16="http://schemas.microsoft.com/office/drawing/2014/main" id="{9B252A21-3EE9-40BB-A84C-A2DE239C7D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FF4301-7A32-4BED-9D76-649919402E6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28759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8555-54FA-4D68-9BD8-59EB247C1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38D9E14-97A8-4013-B483-BD053BAE8D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29EF45-FD1D-44AC-9CA4-7D6099171739}"/>
              </a:ext>
            </a:extLst>
          </p:cNvPr>
          <p:cNvSpPr>
            <a:spLocks noGrp="1"/>
          </p:cNvSpPr>
          <p:nvPr>
            <p:ph type="dt" sz="half" idx="10"/>
          </p:nvPr>
        </p:nvSpPr>
        <p:spPr/>
        <p:txBody>
          <a:bodyPr/>
          <a:lstStyle/>
          <a:p>
            <a:fld id="{75163C9A-8D97-4802-AAB9-7607D6590DB1}" type="datetime1">
              <a:rPr lang="en-GB" smtClean="0"/>
              <a:t>18/10/2025</a:t>
            </a:fld>
            <a:endParaRPr lang="en-GB"/>
          </a:p>
        </p:txBody>
      </p:sp>
      <p:sp>
        <p:nvSpPr>
          <p:cNvPr id="5" name="Footer Placeholder 4">
            <a:extLst>
              <a:ext uri="{FF2B5EF4-FFF2-40B4-BE49-F238E27FC236}">
                <a16:creationId xmlns:a16="http://schemas.microsoft.com/office/drawing/2014/main" id="{939E24CE-3597-4E9D-B0F0-85457E7007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6EDAB0-CEAB-4E01-A950-21D7F1F272F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4095863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5CE3-AC61-477D-8708-D4C1C80EF2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C1785E-B42E-4F42-B9BE-00F7437D7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8E5B735-3A7D-4EFB-B204-852ACA306B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838184D-CD81-4422-873A-9A4F12672409}"/>
              </a:ext>
            </a:extLst>
          </p:cNvPr>
          <p:cNvSpPr>
            <a:spLocks noGrp="1"/>
          </p:cNvSpPr>
          <p:nvPr>
            <p:ph type="dt" sz="half" idx="10"/>
          </p:nvPr>
        </p:nvSpPr>
        <p:spPr/>
        <p:txBody>
          <a:bodyPr/>
          <a:lstStyle/>
          <a:p>
            <a:fld id="{DE9472C5-01B7-4B3B-AB38-BDEF135BBA3A}" type="datetime1">
              <a:rPr lang="en-GB" smtClean="0"/>
              <a:t>18/10/2025</a:t>
            </a:fld>
            <a:endParaRPr lang="en-GB"/>
          </a:p>
        </p:txBody>
      </p:sp>
      <p:sp>
        <p:nvSpPr>
          <p:cNvPr id="6" name="Footer Placeholder 5">
            <a:extLst>
              <a:ext uri="{FF2B5EF4-FFF2-40B4-BE49-F238E27FC236}">
                <a16:creationId xmlns:a16="http://schemas.microsoft.com/office/drawing/2014/main" id="{D044EF39-4B10-4A49-9040-30583816FB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33FD8E-5486-4744-B45E-55C26E90075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352805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F7975-EAC7-43B6-86FF-F33BF458BA4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74A71D-59C1-4737-8DD1-F933921E7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B46263-2F53-41BE-BF84-C6EDA6B847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9869CE3-9560-44BB-9B21-DC64E5D01F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254F0F-C6AA-4554-B685-A75879D7AE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D83BF29-15DE-4371-BC45-CD9B8013F529}"/>
              </a:ext>
            </a:extLst>
          </p:cNvPr>
          <p:cNvSpPr>
            <a:spLocks noGrp="1"/>
          </p:cNvSpPr>
          <p:nvPr>
            <p:ph type="dt" sz="half" idx="10"/>
          </p:nvPr>
        </p:nvSpPr>
        <p:spPr/>
        <p:txBody>
          <a:bodyPr/>
          <a:lstStyle/>
          <a:p>
            <a:fld id="{963B7A85-C4FE-458F-87E9-B41EE31EF3FF}" type="datetime1">
              <a:rPr lang="en-GB" smtClean="0"/>
              <a:t>18/10/2025</a:t>
            </a:fld>
            <a:endParaRPr lang="en-GB"/>
          </a:p>
        </p:txBody>
      </p:sp>
      <p:sp>
        <p:nvSpPr>
          <p:cNvPr id="8" name="Footer Placeholder 7">
            <a:extLst>
              <a:ext uri="{FF2B5EF4-FFF2-40B4-BE49-F238E27FC236}">
                <a16:creationId xmlns:a16="http://schemas.microsoft.com/office/drawing/2014/main" id="{4F5B2217-0DFC-45C1-9922-AFE4FC85AD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AF6713A-EC5C-4C78-A04F-6C1784BD6903}"/>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98185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20B4C-00C3-42AA-A54F-1A787E49321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93FA789-476E-46D1-B858-9B4C00CF2234}"/>
              </a:ext>
            </a:extLst>
          </p:cNvPr>
          <p:cNvSpPr>
            <a:spLocks noGrp="1"/>
          </p:cNvSpPr>
          <p:nvPr>
            <p:ph type="dt" sz="half" idx="10"/>
          </p:nvPr>
        </p:nvSpPr>
        <p:spPr/>
        <p:txBody>
          <a:bodyPr/>
          <a:lstStyle/>
          <a:p>
            <a:fld id="{AD830102-376B-4E7F-AA18-0DF5FB4E63F0}" type="datetime1">
              <a:rPr lang="en-GB" smtClean="0"/>
              <a:t>18/10/2025</a:t>
            </a:fld>
            <a:endParaRPr lang="en-GB"/>
          </a:p>
        </p:txBody>
      </p:sp>
      <p:sp>
        <p:nvSpPr>
          <p:cNvPr id="4" name="Footer Placeholder 3">
            <a:extLst>
              <a:ext uri="{FF2B5EF4-FFF2-40B4-BE49-F238E27FC236}">
                <a16:creationId xmlns:a16="http://schemas.microsoft.com/office/drawing/2014/main" id="{4BC7D314-953F-44EE-9611-0991A2851E5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ADEFB1-7F84-4EAF-9845-5EC7BCECCF86}"/>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802168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DEFFB-C937-45E6-A512-964752D562B4}"/>
              </a:ext>
            </a:extLst>
          </p:cNvPr>
          <p:cNvSpPr>
            <a:spLocks noGrp="1"/>
          </p:cNvSpPr>
          <p:nvPr>
            <p:ph type="dt" sz="half" idx="10"/>
          </p:nvPr>
        </p:nvSpPr>
        <p:spPr/>
        <p:txBody>
          <a:bodyPr/>
          <a:lstStyle/>
          <a:p>
            <a:fld id="{311AE055-CA3E-4373-877C-B517B3ED1E1B}" type="datetime1">
              <a:rPr lang="en-GB" smtClean="0"/>
              <a:t>18/10/2025</a:t>
            </a:fld>
            <a:endParaRPr lang="en-GB"/>
          </a:p>
        </p:txBody>
      </p:sp>
      <p:sp>
        <p:nvSpPr>
          <p:cNvPr id="3" name="Footer Placeholder 2">
            <a:extLst>
              <a:ext uri="{FF2B5EF4-FFF2-40B4-BE49-F238E27FC236}">
                <a16:creationId xmlns:a16="http://schemas.microsoft.com/office/drawing/2014/main" id="{7D0DAF9D-8B51-4DF6-BC99-9AFC35F921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E7B643C-C531-4895-B931-ED95CC9A783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4142861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1C38-CDDB-4AAF-B0DE-CFA2C0B2DF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6A781A5-3416-4FD7-A5D3-79AC15966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203A011-CABA-4E68-9936-869FAD1B6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41E98-0329-4FCB-8154-D409BEFD6F26}"/>
              </a:ext>
            </a:extLst>
          </p:cNvPr>
          <p:cNvSpPr>
            <a:spLocks noGrp="1"/>
          </p:cNvSpPr>
          <p:nvPr>
            <p:ph type="dt" sz="half" idx="10"/>
          </p:nvPr>
        </p:nvSpPr>
        <p:spPr/>
        <p:txBody>
          <a:bodyPr/>
          <a:lstStyle/>
          <a:p>
            <a:fld id="{02868C9C-AA04-4FC6-AAE5-11AD7B500715}" type="datetime1">
              <a:rPr lang="en-GB" smtClean="0"/>
              <a:t>18/10/2025</a:t>
            </a:fld>
            <a:endParaRPr lang="en-GB"/>
          </a:p>
        </p:txBody>
      </p:sp>
      <p:sp>
        <p:nvSpPr>
          <p:cNvPr id="6" name="Footer Placeholder 5">
            <a:extLst>
              <a:ext uri="{FF2B5EF4-FFF2-40B4-BE49-F238E27FC236}">
                <a16:creationId xmlns:a16="http://schemas.microsoft.com/office/drawing/2014/main" id="{D7B9E163-A5A1-4183-87EB-62632D3EA3D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77C62D-7500-4AE3-B0ED-B5A47E31BA37}"/>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589592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1292F-537C-4F92-9C92-AF69D0DA76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456782-1BCC-43AC-872B-79001D4C0E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BDEFE27-6BB9-4E9E-BE03-92641484E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A5CF3-AC56-4C2A-AE6C-4AF7673E131C}"/>
              </a:ext>
            </a:extLst>
          </p:cNvPr>
          <p:cNvSpPr>
            <a:spLocks noGrp="1"/>
          </p:cNvSpPr>
          <p:nvPr>
            <p:ph type="dt" sz="half" idx="10"/>
          </p:nvPr>
        </p:nvSpPr>
        <p:spPr/>
        <p:txBody>
          <a:bodyPr/>
          <a:lstStyle/>
          <a:p>
            <a:fld id="{FFA5E22E-3C08-4153-803A-1A39445C409A}" type="datetime1">
              <a:rPr lang="en-GB" smtClean="0"/>
              <a:t>18/10/2025</a:t>
            </a:fld>
            <a:endParaRPr lang="en-GB"/>
          </a:p>
        </p:txBody>
      </p:sp>
      <p:sp>
        <p:nvSpPr>
          <p:cNvPr id="6" name="Footer Placeholder 5">
            <a:extLst>
              <a:ext uri="{FF2B5EF4-FFF2-40B4-BE49-F238E27FC236}">
                <a16:creationId xmlns:a16="http://schemas.microsoft.com/office/drawing/2014/main" id="{E208879E-738B-450D-A7D2-CECDCA3A04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7BBFEA-A9C5-4D98-B8D2-23A92B887508}"/>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754988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C0B35-5154-44F9-8CAC-9E34FA79CDD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081AC9-13AD-4F27-8652-4D24F163D7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21CD9B-EDD3-4CCD-9A3E-860C7300AFD4}"/>
              </a:ext>
            </a:extLst>
          </p:cNvPr>
          <p:cNvSpPr>
            <a:spLocks noGrp="1"/>
          </p:cNvSpPr>
          <p:nvPr>
            <p:ph type="dt" sz="half" idx="10"/>
          </p:nvPr>
        </p:nvSpPr>
        <p:spPr/>
        <p:txBody>
          <a:bodyPr/>
          <a:lstStyle/>
          <a:p>
            <a:fld id="{D1617CAB-7E81-4807-A554-CE1C4DCE1E91}" type="datetime1">
              <a:rPr lang="en-GB" smtClean="0"/>
              <a:t>18/10/2025</a:t>
            </a:fld>
            <a:endParaRPr lang="en-GB"/>
          </a:p>
        </p:txBody>
      </p:sp>
      <p:sp>
        <p:nvSpPr>
          <p:cNvPr id="5" name="Footer Placeholder 4">
            <a:extLst>
              <a:ext uri="{FF2B5EF4-FFF2-40B4-BE49-F238E27FC236}">
                <a16:creationId xmlns:a16="http://schemas.microsoft.com/office/drawing/2014/main" id="{B2CC2224-4724-4BB3-9657-C3189A0AB3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476152-D10D-4786-AD71-565DF28EF88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2508699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49C6DA-C596-4A35-AF45-3AAB562C29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B8A5FF-D580-4763-9A9C-EB4ECEF00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7CBF0B-D10C-408B-A794-8C2AA69C3E64}"/>
              </a:ext>
            </a:extLst>
          </p:cNvPr>
          <p:cNvSpPr>
            <a:spLocks noGrp="1"/>
          </p:cNvSpPr>
          <p:nvPr>
            <p:ph type="dt" sz="half" idx="10"/>
          </p:nvPr>
        </p:nvSpPr>
        <p:spPr/>
        <p:txBody>
          <a:bodyPr/>
          <a:lstStyle/>
          <a:p>
            <a:fld id="{FCE25068-4CED-435E-82B3-43FA9C56F53B}" type="datetime1">
              <a:rPr lang="en-GB" smtClean="0"/>
              <a:t>18/10/2025</a:t>
            </a:fld>
            <a:endParaRPr lang="en-GB"/>
          </a:p>
        </p:txBody>
      </p:sp>
      <p:sp>
        <p:nvSpPr>
          <p:cNvPr id="5" name="Footer Placeholder 4">
            <a:extLst>
              <a:ext uri="{FF2B5EF4-FFF2-40B4-BE49-F238E27FC236}">
                <a16:creationId xmlns:a16="http://schemas.microsoft.com/office/drawing/2014/main" id="{EA897DAE-969E-4A98-9A14-D78998FCA2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BE57AD-36D7-4612-BC6C-FD26E4F5F3F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407218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E26-252F-0F79-4241-A0069AD03064}"/>
              </a:ext>
            </a:extLst>
          </p:cNvPr>
          <p:cNvSpPr>
            <a:spLocks noGrp="1"/>
          </p:cNvSpPr>
          <p:nvPr>
            <p:ph type="title" hasCustomPrompt="1"/>
          </p:nvPr>
        </p:nvSpPr>
        <p:spPr>
          <a:xfrm>
            <a:off x="609600" y="557784"/>
            <a:ext cx="7988300" cy="1325563"/>
          </a:xfrm>
        </p:spPr>
        <p:txBody>
          <a:bodyPr/>
          <a:lstStyle>
            <a:lvl1pPr>
              <a:defRPr/>
            </a:lvl1pPr>
          </a:lstStyle>
          <a:p>
            <a:r>
              <a:rPr lang="en-US" dirty="0"/>
              <a:t>[SESSION TITLE]</a:t>
            </a:r>
            <a:endParaRPr lang="LID4096" dirty="0"/>
          </a:p>
        </p:txBody>
      </p:sp>
      <p:sp>
        <p:nvSpPr>
          <p:cNvPr id="3" name="Date Placeholder 2">
            <a:extLst>
              <a:ext uri="{FF2B5EF4-FFF2-40B4-BE49-F238E27FC236}">
                <a16:creationId xmlns:a16="http://schemas.microsoft.com/office/drawing/2014/main" id="{7A71C5E9-3E9F-901D-45A5-FCFCBEF9C9F6}"/>
              </a:ext>
            </a:extLst>
          </p:cNvPr>
          <p:cNvSpPr>
            <a:spLocks noGrp="1"/>
          </p:cNvSpPr>
          <p:nvPr>
            <p:ph type="dt" sz="half" idx="10"/>
          </p:nvPr>
        </p:nvSpPr>
        <p:spPr/>
        <p:txBody>
          <a:bodyPr/>
          <a:lstStyle/>
          <a:p>
            <a:fld id="{F481A142-DA77-4A5F-AD1F-14E6C18F0F5F}" type="datetime1">
              <a:rPr lang="en-US" smtClean="0"/>
              <a:t>10/18/2025</a:t>
            </a:fld>
            <a:endParaRPr lang="en-US" dirty="0"/>
          </a:p>
        </p:txBody>
      </p:sp>
      <p:sp>
        <p:nvSpPr>
          <p:cNvPr id="4" name="Footer Placeholder 3">
            <a:extLst>
              <a:ext uri="{FF2B5EF4-FFF2-40B4-BE49-F238E27FC236}">
                <a16:creationId xmlns:a16="http://schemas.microsoft.com/office/drawing/2014/main" id="{B41A4250-A7AC-77FB-93F0-E59EEF8A2F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8E2AF39-34EE-0186-7FE7-014B443B05D3}"/>
              </a:ext>
            </a:extLst>
          </p:cNvPr>
          <p:cNvSpPr>
            <a:spLocks noGrp="1"/>
          </p:cNvSpPr>
          <p:nvPr>
            <p:ph type="sldNum" sz="quarter" idx="12"/>
          </p:nvPr>
        </p:nvSpPr>
        <p:spPr/>
        <p:txBody>
          <a:bodyPr/>
          <a:lstStyle/>
          <a:p>
            <a:fld id="{1F646F3F-274D-499B-ABBE-824EB4ABDC3D}" type="slidenum">
              <a:rPr lang="en-US" smtClean="0"/>
              <a:pPr/>
              <a:t>‹#›</a:t>
            </a:fld>
            <a:endParaRPr lang="en-US"/>
          </a:p>
        </p:txBody>
      </p:sp>
      <p:sp>
        <p:nvSpPr>
          <p:cNvPr id="6" name="Text Placeholder 2">
            <a:extLst>
              <a:ext uri="{FF2B5EF4-FFF2-40B4-BE49-F238E27FC236}">
                <a16:creationId xmlns:a16="http://schemas.microsoft.com/office/drawing/2014/main" id="{1E993054-6075-0793-4E7D-36667CA88348}"/>
              </a:ext>
            </a:extLst>
          </p:cNvPr>
          <p:cNvSpPr>
            <a:spLocks noGrp="1"/>
          </p:cNvSpPr>
          <p:nvPr>
            <p:ph idx="1" hasCustomPrompt="1"/>
          </p:nvPr>
        </p:nvSpPr>
        <p:spPr>
          <a:xfrm>
            <a:off x="609600" y="2106204"/>
            <a:ext cx="7988300" cy="712180"/>
          </a:xfrm>
          <a:prstGeom prst="rect">
            <a:avLst/>
          </a:prstGeom>
        </p:spPr>
        <p:txBody>
          <a:bodyPr vert="horz" lIns="91440" tIns="45720" rIns="91440" bIns="45720" rtlCol="0">
            <a:normAutofit/>
          </a:bodyPr>
          <a:lstStyle>
            <a:lvl1pPr>
              <a:defRPr/>
            </a:lvl1pPr>
          </a:lstStyle>
          <a:p>
            <a:pPr lvl="0"/>
            <a:r>
              <a:rPr lang="en-US" dirty="0"/>
              <a:t>[FIRST + LAST NAME]</a:t>
            </a:r>
          </a:p>
        </p:txBody>
      </p:sp>
      <p:sp>
        <p:nvSpPr>
          <p:cNvPr id="8" name="Picture Placeholder 7">
            <a:extLst>
              <a:ext uri="{FF2B5EF4-FFF2-40B4-BE49-F238E27FC236}">
                <a16:creationId xmlns:a16="http://schemas.microsoft.com/office/drawing/2014/main" id="{401D0A53-D023-1936-42E5-5D12E3866846}"/>
              </a:ext>
            </a:extLst>
          </p:cNvPr>
          <p:cNvSpPr>
            <a:spLocks noGrp="1"/>
          </p:cNvSpPr>
          <p:nvPr>
            <p:ph type="pic" sz="quarter" idx="13"/>
          </p:nvPr>
        </p:nvSpPr>
        <p:spPr>
          <a:xfrm>
            <a:off x="9004300" y="557784"/>
            <a:ext cx="2260600" cy="2260600"/>
          </a:xfrm>
        </p:spPr>
        <p:txBody>
          <a:bodyPr/>
          <a:lstStyle/>
          <a:p>
            <a:endParaRPr lang="LID4096"/>
          </a:p>
        </p:txBody>
      </p:sp>
      <p:pic>
        <p:nvPicPr>
          <p:cNvPr id="9" name="Picture 8" descr="Icon&#10;&#10;Description automatically generated">
            <a:extLst>
              <a:ext uri="{FF2B5EF4-FFF2-40B4-BE49-F238E27FC236}">
                <a16:creationId xmlns:a16="http://schemas.microsoft.com/office/drawing/2014/main" id="{E7AABC20-010C-2CBB-F3D2-308F9A075AC7}"/>
              </a:ext>
            </a:extLst>
          </p:cNvPr>
          <p:cNvPicPr>
            <a:picLocks noChangeAspect="1"/>
          </p:cNvPicPr>
          <p:nvPr userDrawn="1"/>
        </p:nvPicPr>
        <p:blipFill>
          <a:blip r:embed="rId2"/>
          <a:stretch>
            <a:fillRect/>
          </a:stretch>
        </p:blipFill>
        <p:spPr>
          <a:xfrm>
            <a:off x="8744134" y="2926124"/>
            <a:ext cx="2780932" cy="820376"/>
          </a:xfrm>
          <a:prstGeom prst="rect">
            <a:avLst/>
          </a:prstGeom>
        </p:spPr>
      </p:pic>
    </p:spTree>
    <p:extLst>
      <p:ext uri="{BB962C8B-B14F-4D97-AF65-F5344CB8AC3E}">
        <p14:creationId xmlns:p14="http://schemas.microsoft.com/office/powerpoint/2010/main" val="13287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A71C5E9-3E9F-901D-45A5-FCFCBEF9C9F6}"/>
              </a:ext>
            </a:extLst>
          </p:cNvPr>
          <p:cNvSpPr>
            <a:spLocks noGrp="1"/>
          </p:cNvSpPr>
          <p:nvPr>
            <p:ph type="dt" sz="half" idx="10"/>
          </p:nvPr>
        </p:nvSpPr>
        <p:spPr/>
        <p:txBody>
          <a:bodyPr/>
          <a:lstStyle/>
          <a:p>
            <a:fld id="{F481A142-DA77-4A5F-AD1F-14E6C18F0F5F}" type="datetime1">
              <a:rPr lang="en-US" smtClean="0"/>
              <a:t>10/18/2025</a:t>
            </a:fld>
            <a:endParaRPr lang="en-US" dirty="0"/>
          </a:p>
        </p:txBody>
      </p:sp>
      <p:sp>
        <p:nvSpPr>
          <p:cNvPr id="4" name="Footer Placeholder 3">
            <a:extLst>
              <a:ext uri="{FF2B5EF4-FFF2-40B4-BE49-F238E27FC236}">
                <a16:creationId xmlns:a16="http://schemas.microsoft.com/office/drawing/2014/main" id="{B41A4250-A7AC-77FB-93F0-E59EEF8A2F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8E2AF39-34EE-0186-7FE7-014B443B05D3}"/>
              </a:ext>
            </a:extLst>
          </p:cNvPr>
          <p:cNvSpPr>
            <a:spLocks noGrp="1"/>
          </p:cNvSpPr>
          <p:nvPr>
            <p:ph type="sldNum" sz="quarter" idx="12"/>
          </p:nvPr>
        </p:nvSpPr>
        <p:spPr/>
        <p:txBody>
          <a:bodyPr/>
          <a:lstStyle/>
          <a:p>
            <a:fld id="{1F646F3F-274D-499B-ABBE-824EB4ABDC3D}" type="slidenum">
              <a:rPr lang="en-US" smtClean="0"/>
              <a:pPr/>
              <a:t>‹#›</a:t>
            </a:fld>
            <a:endParaRPr lang="en-US"/>
          </a:p>
        </p:txBody>
      </p:sp>
      <p:sp>
        <p:nvSpPr>
          <p:cNvPr id="7" name="Title Placeholder 1">
            <a:extLst>
              <a:ext uri="{FF2B5EF4-FFF2-40B4-BE49-F238E27FC236}">
                <a16:creationId xmlns:a16="http://schemas.microsoft.com/office/drawing/2014/main" id="{651E4D8F-F419-2116-B037-10B888A2226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dirty="0"/>
              <a:t>Click to edit Master title style</a:t>
            </a:r>
          </a:p>
        </p:txBody>
      </p:sp>
      <p:sp>
        <p:nvSpPr>
          <p:cNvPr id="10" name="Text Placeholder 2">
            <a:extLst>
              <a:ext uri="{FF2B5EF4-FFF2-40B4-BE49-F238E27FC236}">
                <a16:creationId xmlns:a16="http://schemas.microsoft.com/office/drawing/2014/main" id="{62899244-3E53-227A-5AC9-845D9744E92B}"/>
              </a:ext>
            </a:extLst>
          </p:cNvPr>
          <p:cNvSpPr>
            <a:spLocks noGrp="1"/>
          </p:cNvSpPr>
          <p:nvPr>
            <p:ph idx="1"/>
          </p:nvPr>
        </p:nvSpPr>
        <p:spPr>
          <a:xfrm>
            <a:off x="609600" y="2106204"/>
            <a:ext cx="10972800" cy="403653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4051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ponsors 2024">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BCC086-13F3-0F5F-731E-F0677E066274}"/>
              </a:ext>
            </a:extLst>
          </p:cNvPr>
          <p:cNvSpPr txBox="1"/>
          <p:nvPr userDrawn="1"/>
        </p:nvSpPr>
        <p:spPr>
          <a:xfrm>
            <a:off x="494739" y="1854706"/>
            <a:ext cx="1181093" cy="369332"/>
          </a:xfrm>
          <a:prstGeom prst="rect">
            <a:avLst/>
          </a:prstGeom>
          <a:noFill/>
        </p:spPr>
        <p:txBody>
          <a:bodyPr wrap="none" rtlCol="0">
            <a:spAutoFit/>
          </a:bodyPr>
          <a:lstStyle/>
          <a:p>
            <a:r>
              <a:rPr lang="en-US" b="1" dirty="0">
                <a:solidFill>
                  <a:schemeClr val="accent3"/>
                </a:solidFill>
                <a:effectLst/>
              </a:rPr>
              <a:t>Platinum</a:t>
            </a:r>
          </a:p>
        </p:txBody>
      </p:sp>
      <p:sp>
        <p:nvSpPr>
          <p:cNvPr id="9" name="TextBox 8">
            <a:extLst>
              <a:ext uri="{FF2B5EF4-FFF2-40B4-BE49-F238E27FC236}">
                <a16:creationId xmlns:a16="http://schemas.microsoft.com/office/drawing/2014/main" id="{74881B3C-8866-3918-8374-304B8E441431}"/>
              </a:ext>
            </a:extLst>
          </p:cNvPr>
          <p:cNvSpPr txBox="1"/>
          <p:nvPr userDrawn="1"/>
        </p:nvSpPr>
        <p:spPr>
          <a:xfrm>
            <a:off x="494739" y="3651420"/>
            <a:ext cx="729687" cy="369332"/>
          </a:xfrm>
          <a:prstGeom prst="rect">
            <a:avLst/>
          </a:prstGeom>
          <a:noFill/>
        </p:spPr>
        <p:txBody>
          <a:bodyPr wrap="none" rtlCol="0">
            <a:spAutoFit/>
          </a:bodyPr>
          <a:lstStyle/>
          <a:p>
            <a:r>
              <a:rPr lang="en-US" b="1" dirty="0">
                <a:solidFill>
                  <a:schemeClr val="accent4"/>
                </a:solidFill>
                <a:effectLst/>
              </a:rPr>
              <a:t>Gold</a:t>
            </a:r>
          </a:p>
        </p:txBody>
      </p:sp>
      <p:sp>
        <p:nvSpPr>
          <p:cNvPr id="10" name="TextBox 9">
            <a:extLst>
              <a:ext uri="{FF2B5EF4-FFF2-40B4-BE49-F238E27FC236}">
                <a16:creationId xmlns:a16="http://schemas.microsoft.com/office/drawing/2014/main" id="{29078D7D-9ABA-EC16-54C4-7D2ACF1EBC46}"/>
              </a:ext>
            </a:extLst>
          </p:cNvPr>
          <p:cNvSpPr txBox="1"/>
          <p:nvPr userDrawn="1"/>
        </p:nvSpPr>
        <p:spPr>
          <a:xfrm>
            <a:off x="494957" y="5067085"/>
            <a:ext cx="819455" cy="369332"/>
          </a:xfrm>
          <a:prstGeom prst="rect">
            <a:avLst/>
          </a:prstGeom>
          <a:noFill/>
        </p:spPr>
        <p:txBody>
          <a:bodyPr wrap="none" rtlCol="0">
            <a:spAutoFit/>
          </a:bodyPr>
          <a:lstStyle/>
          <a:p>
            <a:r>
              <a:rPr lang="en-US" b="1" dirty="0">
                <a:solidFill>
                  <a:schemeClr val="tx1">
                    <a:lumMod val="75000"/>
                    <a:lumOff val="25000"/>
                  </a:schemeClr>
                </a:solidFill>
                <a:effectLst/>
              </a:rPr>
              <a:t>Silver</a:t>
            </a:r>
          </a:p>
        </p:txBody>
      </p:sp>
      <p:sp>
        <p:nvSpPr>
          <p:cNvPr id="11" name="TextBox 10">
            <a:extLst>
              <a:ext uri="{FF2B5EF4-FFF2-40B4-BE49-F238E27FC236}">
                <a16:creationId xmlns:a16="http://schemas.microsoft.com/office/drawing/2014/main" id="{2AB42AF6-1908-FB21-797A-E7F317A71FCC}"/>
              </a:ext>
            </a:extLst>
          </p:cNvPr>
          <p:cNvSpPr txBox="1"/>
          <p:nvPr userDrawn="1"/>
        </p:nvSpPr>
        <p:spPr>
          <a:xfrm>
            <a:off x="3208570" y="6118567"/>
            <a:ext cx="1485087" cy="369332"/>
          </a:xfrm>
          <a:prstGeom prst="rect">
            <a:avLst/>
          </a:prstGeom>
          <a:noFill/>
        </p:spPr>
        <p:txBody>
          <a:bodyPr wrap="none" rtlCol="0">
            <a:spAutoFit/>
          </a:bodyPr>
          <a:lstStyle/>
          <a:p>
            <a:r>
              <a:rPr lang="en-US" b="1" dirty="0">
                <a:effectLst/>
              </a:rPr>
              <a:t>Community</a:t>
            </a:r>
          </a:p>
        </p:txBody>
      </p:sp>
      <p:cxnSp>
        <p:nvCxnSpPr>
          <p:cNvPr id="12" name="Straight Connector 11">
            <a:extLst>
              <a:ext uri="{FF2B5EF4-FFF2-40B4-BE49-F238E27FC236}">
                <a16:creationId xmlns:a16="http://schemas.microsoft.com/office/drawing/2014/main" id="{89504F65-2DF7-0113-1D38-42AB287BB761}"/>
              </a:ext>
            </a:extLst>
          </p:cNvPr>
          <p:cNvCxnSpPr/>
          <p:nvPr userDrawn="1"/>
        </p:nvCxnSpPr>
        <p:spPr>
          <a:xfrm>
            <a:off x="0" y="3065531"/>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2AF102-3F4C-E380-B36D-80DC857DEBA4}"/>
              </a:ext>
            </a:extLst>
          </p:cNvPr>
          <p:cNvCxnSpPr/>
          <p:nvPr userDrawn="1"/>
        </p:nvCxnSpPr>
        <p:spPr>
          <a:xfrm>
            <a:off x="0" y="470028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054C50D-B7D3-E136-0E84-C2C153358FF0}"/>
              </a:ext>
            </a:extLst>
          </p:cNvPr>
          <p:cNvCxnSpPr/>
          <p:nvPr userDrawn="1"/>
        </p:nvCxnSpPr>
        <p:spPr>
          <a:xfrm>
            <a:off x="0" y="5803214"/>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98AAFB4-EBCA-FCF0-E95E-FAAC8F06DC8B}"/>
              </a:ext>
            </a:extLst>
          </p:cNvPr>
          <p:cNvSpPr/>
          <p:nvPr userDrawn="1"/>
        </p:nvSpPr>
        <p:spPr>
          <a:xfrm>
            <a:off x="0" y="-1440"/>
            <a:ext cx="12192000" cy="646331"/>
          </a:xfrm>
          <a:prstGeom prst="rect">
            <a:avLst/>
          </a:prstGeom>
        </p:spPr>
        <p:txBody>
          <a:bodyPr wrap="square">
            <a:spAutoFit/>
          </a:bodyPr>
          <a:lstStyle/>
          <a:p>
            <a:pPr algn="ctr"/>
            <a:r>
              <a:rPr lang="en-US" sz="3600" b="1" dirty="0">
                <a:latin typeface="+mj-lt"/>
              </a:rPr>
              <a:t>Thanks to our sponsors!</a:t>
            </a:r>
            <a:endParaRPr lang="en-US" sz="3600" dirty="0">
              <a:latin typeface="+mj-lt"/>
            </a:endParaRPr>
          </a:p>
        </p:txBody>
      </p:sp>
      <p:pic>
        <p:nvPicPr>
          <p:cNvPr id="24" name="Graphic 23">
            <a:extLst>
              <a:ext uri="{FF2B5EF4-FFF2-40B4-BE49-F238E27FC236}">
                <a16:creationId xmlns:a16="http://schemas.microsoft.com/office/drawing/2014/main" id="{5E6A95DB-F73F-50BC-E4B5-C40A145E580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9611" b="39604"/>
          <a:stretch/>
        </p:blipFill>
        <p:spPr>
          <a:xfrm>
            <a:off x="8604545" y="6297309"/>
            <a:ext cx="1797468" cy="373606"/>
          </a:xfrm>
          <a:prstGeom prst="rect">
            <a:avLst/>
          </a:prstGeom>
        </p:spPr>
      </p:pic>
      <p:sp>
        <p:nvSpPr>
          <p:cNvPr id="25" name="TextBox 24">
            <a:extLst>
              <a:ext uri="{FF2B5EF4-FFF2-40B4-BE49-F238E27FC236}">
                <a16:creationId xmlns:a16="http://schemas.microsoft.com/office/drawing/2014/main" id="{753E6FA1-64A8-6508-DA33-6C909FA4BE6B}"/>
              </a:ext>
            </a:extLst>
          </p:cNvPr>
          <p:cNvSpPr txBox="1"/>
          <p:nvPr userDrawn="1"/>
        </p:nvSpPr>
        <p:spPr>
          <a:xfrm>
            <a:off x="8160162" y="5859470"/>
            <a:ext cx="1712969" cy="369332"/>
          </a:xfrm>
          <a:prstGeom prst="rect">
            <a:avLst/>
          </a:prstGeom>
          <a:noFill/>
        </p:spPr>
        <p:txBody>
          <a:bodyPr wrap="none" rtlCol="0">
            <a:spAutoFit/>
          </a:bodyPr>
          <a:lstStyle/>
          <a:p>
            <a:r>
              <a:rPr lang="en-US" b="1" dirty="0"/>
              <a:t>Organized by</a:t>
            </a:r>
          </a:p>
        </p:txBody>
      </p:sp>
      <p:sp>
        <p:nvSpPr>
          <p:cNvPr id="26" name="TextBox 25">
            <a:extLst>
              <a:ext uri="{FF2B5EF4-FFF2-40B4-BE49-F238E27FC236}">
                <a16:creationId xmlns:a16="http://schemas.microsoft.com/office/drawing/2014/main" id="{4D66F9C0-9598-AFEF-7E24-538E0BAD7FDE}"/>
              </a:ext>
            </a:extLst>
          </p:cNvPr>
          <p:cNvSpPr txBox="1"/>
          <p:nvPr userDrawn="1"/>
        </p:nvSpPr>
        <p:spPr>
          <a:xfrm>
            <a:off x="494957" y="6114968"/>
            <a:ext cx="1256370" cy="369332"/>
          </a:xfrm>
          <a:prstGeom prst="rect">
            <a:avLst/>
          </a:prstGeom>
          <a:noFill/>
        </p:spPr>
        <p:txBody>
          <a:bodyPr wrap="none" rtlCol="0">
            <a:spAutoFit/>
          </a:bodyPr>
          <a:lstStyle/>
          <a:p>
            <a:r>
              <a:rPr lang="en-US" b="1" dirty="0">
                <a:solidFill>
                  <a:schemeClr val="tx1"/>
                </a:solidFill>
                <a:effectLst/>
              </a:rPr>
              <a:t>SharePint</a:t>
            </a:r>
          </a:p>
        </p:txBody>
      </p:sp>
      <p:cxnSp>
        <p:nvCxnSpPr>
          <p:cNvPr id="27" name="Straight Connector 26">
            <a:extLst>
              <a:ext uri="{FF2B5EF4-FFF2-40B4-BE49-F238E27FC236}">
                <a16:creationId xmlns:a16="http://schemas.microsoft.com/office/drawing/2014/main" id="{873ED98D-0D60-E065-692F-360A82345119}"/>
              </a:ext>
            </a:extLst>
          </p:cNvPr>
          <p:cNvCxnSpPr>
            <a:cxnSpLocks/>
          </p:cNvCxnSpPr>
          <p:nvPr userDrawn="1"/>
        </p:nvCxnSpPr>
        <p:spPr>
          <a:xfrm>
            <a:off x="3071336" y="5803214"/>
            <a:ext cx="0" cy="1054786"/>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A589B37-BD03-3521-E4C0-9C095510C1DC}"/>
              </a:ext>
            </a:extLst>
          </p:cNvPr>
          <p:cNvCxnSpPr>
            <a:cxnSpLocks/>
          </p:cNvCxnSpPr>
          <p:nvPr userDrawn="1"/>
        </p:nvCxnSpPr>
        <p:spPr>
          <a:xfrm>
            <a:off x="8086474" y="5802083"/>
            <a:ext cx="0" cy="1054786"/>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30" name="Picture 29" descr="A blue and orange logo&#10;&#10;Description automatically generated">
            <a:extLst>
              <a:ext uri="{FF2B5EF4-FFF2-40B4-BE49-F238E27FC236}">
                <a16:creationId xmlns:a16="http://schemas.microsoft.com/office/drawing/2014/main" id="{6B6A305E-3B58-434C-6A43-17BBC017DAF4}"/>
              </a:ext>
            </a:extLst>
          </p:cNvPr>
          <p:cNvPicPr>
            <a:picLocks noChangeAspect="1"/>
          </p:cNvPicPr>
          <p:nvPr userDrawn="1"/>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61990" y="4753774"/>
            <a:ext cx="1880355" cy="989018"/>
          </a:xfrm>
          <a:prstGeom prst="rect">
            <a:avLst/>
          </a:prstGeom>
        </p:spPr>
      </p:pic>
      <p:pic>
        <p:nvPicPr>
          <p:cNvPr id="31" name="Picture 30" descr="A blue and green logo&#10;&#10;Description automatically generated">
            <a:extLst>
              <a:ext uri="{FF2B5EF4-FFF2-40B4-BE49-F238E27FC236}">
                <a16:creationId xmlns:a16="http://schemas.microsoft.com/office/drawing/2014/main" id="{81BA16C3-8D5A-A708-035C-E6A93E2657A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368656" y="6097928"/>
            <a:ext cx="1555314" cy="816540"/>
          </a:xfrm>
          <a:prstGeom prst="rect">
            <a:avLst/>
          </a:prstGeom>
        </p:spPr>
      </p:pic>
      <p:pic>
        <p:nvPicPr>
          <p:cNvPr id="20" name="Picture 19" descr="Text&#10;&#10;Description automatically generated">
            <a:extLst>
              <a:ext uri="{FF2B5EF4-FFF2-40B4-BE49-F238E27FC236}">
                <a16:creationId xmlns:a16="http://schemas.microsoft.com/office/drawing/2014/main" id="{04CCE626-B052-E707-2B23-CB2C83463AC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992902" y="3499318"/>
            <a:ext cx="1969397" cy="759493"/>
          </a:xfrm>
          <a:prstGeom prst="rect">
            <a:avLst/>
          </a:prstGeom>
        </p:spPr>
      </p:pic>
      <p:pic>
        <p:nvPicPr>
          <p:cNvPr id="37" name="Picture 36" descr="A black and blue text&#10;&#10;Description automatically generated">
            <a:extLst>
              <a:ext uri="{FF2B5EF4-FFF2-40B4-BE49-F238E27FC236}">
                <a16:creationId xmlns:a16="http://schemas.microsoft.com/office/drawing/2014/main" id="{592D31D3-9F76-4853-642E-74B877561C7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776964" y="3499318"/>
            <a:ext cx="2463486" cy="649507"/>
          </a:xfrm>
          <a:prstGeom prst="rect">
            <a:avLst/>
          </a:prstGeom>
        </p:spPr>
      </p:pic>
      <p:pic>
        <p:nvPicPr>
          <p:cNvPr id="52" name="Graphic 51">
            <a:extLst>
              <a:ext uri="{FF2B5EF4-FFF2-40B4-BE49-F238E27FC236}">
                <a16:creationId xmlns:a16="http://schemas.microsoft.com/office/drawing/2014/main" id="{4A12AB24-BFBA-6F99-4813-4D5D738349F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910745" y="5957560"/>
            <a:ext cx="691345" cy="691345"/>
          </a:xfrm>
          <a:prstGeom prst="rect">
            <a:avLst/>
          </a:prstGeom>
        </p:spPr>
      </p:pic>
      <p:pic>
        <p:nvPicPr>
          <p:cNvPr id="56" name="Graphic 55">
            <a:extLst>
              <a:ext uri="{FF2B5EF4-FFF2-40B4-BE49-F238E27FC236}">
                <a16:creationId xmlns:a16="http://schemas.microsoft.com/office/drawing/2014/main" id="{B7A9FA69-546B-398F-9B62-AEB0AF7819B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579575" y="5979345"/>
            <a:ext cx="1133475" cy="209550"/>
          </a:xfrm>
          <a:prstGeom prst="rect">
            <a:avLst/>
          </a:prstGeom>
        </p:spPr>
      </p:pic>
      <p:pic>
        <p:nvPicPr>
          <p:cNvPr id="58" name="Graphic 57">
            <a:extLst>
              <a:ext uri="{FF2B5EF4-FFF2-40B4-BE49-F238E27FC236}">
                <a16:creationId xmlns:a16="http://schemas.microsoft.com/office/drawing/2014/main" id="{EDA9A05B-A7B0-CFE3-427D-1A3C0AA294D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818026" y="5954712"/>
            <a:ext cx="1443557" cy="266876"/>
          </a:xfrm>
          <a:prstGeom prst="rect">
            <a:avLst/>
          </a:prstGeom>
        </p:spPr>
      </p:pic>
      <p:pic>
        <p:nvPicPr>
          <p:cNvPr id="60" name="Picture 59">
            <a:extLst>
              <a:ext uri="{FF2B5EF4-FFF2-40B4-BE49-F238E27FC236}">
                <a16:creationId xmlns:a16="http://schemas.microsoft.com/office/drawing/2014/main" id="{6893905C-BF73-B2E1-4192-1241EA67A393}"/>
              </a:ext>
            </a:extLst>
          </p:cNvPr>
          <p:cNvPicPr>
            <a:picLocks noChangeAspect="1"/>
          </p:cNvPicPr>
          <p:nvPr userDrawn="1"/>
        </p:nvPicPr>
        <p:blipFill>
          <a:blip r:embed="rId14"/>
          <a:stretch>
            <a:fillRect/>
          </a:stretch>
        </p:blipFill>
        <p:spPr>
          <a:xfrm>
            <a:off x="494739" y="396745"/>
            <a:ext cx="1609483" cy="475529"/>
          </a:xfrm>
          <a:prstGeom prst="rect">
            <a:avLst/>
          </a:prstGeom>
        </p:spPr>
      </p:pic>
      <p:pic>
        <p:nvPicPr>
          <p:cNvPr id="1026" name="Picture 2" descr="Transform Your Digital Workplace with Ichicraft Boards">
            <a:extLst>
              <a:ext uri="{FF2B5EF4-FFF2-40B4-BE49-F238E27FC236}">
                <a16:creationId xmlns:a16="http://schemas.microsoft.com/office/drawing/2014/main" id="{A783AD12-9002-702B-DCDE-BC409F9B9B15}"/>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373781" y="1545060"/>
            <a:ext cx="4258996" cy="8748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ponsors 2024 - Nordic Summit">
            <a:extLst>
              <a:ext uri="{FF2B5EF4-FFF2-40B4-BE49-F238E27FC236}">
                <a16:creationId xmlns:a16="http://schemas.microsoft.com/office/drawing/2014/main" id="{4451AD6C-0294-24DD-F8BF-39E3653A687F}"/>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5098991" y="4775354"/>
            <a:ext cx="1853363" cy="104251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ointFire Multilingual SharePoint">
            <a:extLst>
              <a:ext uri="{FF2B5EF4-FFF2-40B4-BE49-F238E27FC236}">
                <a16:creationId xmlns:a16="http://schemas.microsoft.com/office/drawing/2014/main" id="{C24C4F78-4474-9D91-D409-FDB8E6845877}"/>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9328834" y="4883358"/>
            <a:ext cx="2024053" cy="73645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TTT2023">
            <a:extLst>
              <a:ext uri="{FF2B5EF4-FFF2-40B4-BE49-F238E27FC236}">
                <a16:creationId xmlns:a16="http://schemas.microsoft.com/office/drawing/2014/main" id="{31A60431-6721-D4FF-CF5D-8F24D5DCE45A}"/>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5162903" y="6170012"/>
            <a:ext cx="851103" cy="63666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28852913-F428-EBBD-260C-DBCAEDDD5188}"/>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873141" y="1508962"/>
            <a:ext cx="5006537" cy="86636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CollabDays Belgium 2024 |">
            <a:extLst>
              <a:ext uri="{FF2B5EF4-FFF2-40B4-BE49-F238E27FC236}">
                <a16:creationId xmlns:a16="http://schemas.microsoft.com/office/drawing/2014/main" id="{75C0DB9D-3CE6-BA42-E75F-F437731406CD}"/>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1660167" y="4436609"/>
            <a:ext cx="3187136" cy="16733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heart with a blue ribbon on a black background&#10;&#10;AI-generated content may be incorrect.">
            <a:extLst>
              <a:ext uri="{FF2B5EF4-FFF2-40B4-BE49-F238E27FC236}">
                <a16:creationId xmlns:a16="http://schemas.microsoft.com/office/drawing/2014/main" id="{ED7EFBE3-7A2A-55FA-AF06-9D9F29AFA727}"/>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6391461" y="2863859"/>
            <a:ext cx="3481670" cy="1958439"/>
          </a:xfrm>
          <a:prstGeom prst="rect">
            <a:avLst/>
          </a:prstGeom>
        </p:spPr>
      </p:pic>
      <p:pic>
        <p:nvPicPr>
          <p:cNvPr id="4" name="Picture 2" descr="Press kit | Keepit">
            <a:extLst>
              <a:ext uri="{FF2B5EF4-FFF2-40B4-BE49-F238E27FC236}">
                <a16:creationId xmlns:a16="http://schemas.microsoft.com/office/drawing/2014/main" id="{04C2915D-803E-0CA5-F8B6-F1BEFE803F4E}"/>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1434826" y="3508565"/>
            <a:ext cx="1986940" cy="65890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D3574702-C790-6795-C441-FD460BA7CEDC}"/>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10752614" y="5963077"/>
            <a:ext cx="821054" cy="821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102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E26-252F-0F79-4241-A0069AD03064}"/>
              </a:ext>
            </a:extLst>
          </p:cNvPr>
          <p:cNvSpPr>
            <a:spLocks noGrp="1"/>
          </p:cNvSpPr>
          <p:nvPr>
            <p:ph type="title" hasCustomPrompt="1"/>
          </p:nvPr>
        </p:nvSpPr>
        <p:spPr/>
        <p:txBody>
          <a:bodyPr/>
          <a:lstStyle>
            <a:lvl1pPr>
              <a:defRPr/>
            </a:lvl1pPr>
          </a:lstStyle>
          <a:p>
            <a:r>
              <a:rPr lang="en-US" dirty="0"/>
              <a:t>European Collaboration Summit</a:t>
            </a:r>
            <a:endParaRPr lang="LID4096" dirty="0"/>
          </a:p>
        </p:txBody>
      </p:sp>
      <p:sp>
        <p:nvSpPr>
          <p:cNvPr id="3" name="Date Placeholder 2">
            <a:extLst>
              <a:ext uri="{FF2B5EF4-FFF2-40B4-BE49-F238E27FC236}">
                <a16:creationId xmlns:a16="http://schemas.microsoft.com/office/drawing/2014/main" id="{7A71C5E9-3E9F-901D-45A5-FCFCBEF9C9F6}"/>
              </a:ext>
            </a:extLst>
          </p:cNvPr>
          <p:cNvSpPr>
            <a:spLocks noGrp="1"/>
          </p:cNvSpPr>
          <p:nvPr>
            <p:ph type="dt" sz="half" idx="10"/>
          </p:nvPr>
        </p:nvSpPr>
        <p:spPr/>
        <p:txBody>
          <a:bodyPr/>
          <a:lstStyle/>
          <a:p>
            <a:fld id="{F481A142-DA77-4A5F-AD1F-14E6C18F0F5F}" type="datetime1">
              <a:rPr lang="en-US" smtClean="0"/>
              <a:t>10/18/2025</a:t>
            </a:fld>
            <a:endParaRPr lang="en-US" dirty="0"/>
          </a:p>
        </p:txBody>
      </p:sp>
      <p:sp>
        <p:nvSpPr>
          <p:cNvPr id="4" name="Footer Placeholder 3">
            <a:extLst>
              <a:ext uri="{FF2B5EF4-FFF2-40B4-BE49-F238E27FC236}">
                <a16:creationId xmlns:a16="http://schemas.microsoft.com/office/drawing/2014/main" id="{B41A4250-A7AC-77FB-93F0-E59EEF8A2F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8E2AF39-34EE-0186-7FE7-014B443B05D3}"/>
              </a:ext>
            </a:extLst>
          </p:cNvPr>
          <p:cNvSpPr>
            <a:spLocks noGrp="1"/>
          </p:cNvSpPr>
          <p:nvPr>
            <p:ph type="sldNum" sz="quarter" idx="12"/>
          </p:nvPr>
        </p:nvSpPr>
        <p:spPr/>
        <p:txBody>
          <a:bodyPr/>
          <a:lstStyle/>
          <a:p>
            <a:fld id="{1F646F3F-274D-499B-ABBE-824EB4ABDC3D}" type="slidenum">
              <a:rPr lang="en-US" smtClean="0"/>
              <a:pPr/>
              <a:t>‹#›</a:t>
            </a:fld>
            <a:endParaRPr lang="en-US"/>
          </a:p>
        </p:txBody>
      </p:sp>
      <p:sp>
        <p:nvSpPr>
          <p:cNvPr id="6" name="Text Placeholder 2">
            <a:extLst>
              <a:ext uri="{FF2B5EF4-FFF2-40B4-BE49-F238E27FC236}">
                <a16:creationId xmlns:a16="http://schemas.microsoft.com/office/drawing/2014/main" id="{1E993054-6075-0793-4E7D-36667CA88348}"/>
              </a:ext>
            </a:extLst>
          </p:cNvPr>
          <p:cNvSpPr>
            <a:spLocks noGrp="1"/>
          </p:cNvSpPr>
          <p:nvPr>
            <p:ph idx="1" hasCustomPrompt="1"/>
          </p:nvPr>
        </p:nvSpPr>
        <p:spPr>
          <a:xfrm>
            <a:off x="609600" y="2106204"/>
            <a:ext cx="10972800" cy="4036534"/>
          </a:xfrm>
          <a:prstGeom prst="rect">
            <a:avLst/>
          </a:prstGeom>
        </p:spPr>
        <p:txBody>
          <a:bodyPr vert="horz" lIns="91440" tIns="45720" rIns="91440" bIns="45720" rtlCol="0">
            <a:normAutofit/>
          </a:bodyPr>
          <a:lstStyle>
            <a:lvl1pPr>
              <a:defRPr/>
            </a:lvl1pPr>
          </a:lstStyle>
          <a:p>
            <a:pPr lvl="0"/>
            <a:r>
              <a:rPr lang="en-US" dirty="0"/>
              <a:t>📍 Cologne, Germany</a:t>
            </a:r>
          </a:p>
          <a:p>
            <a:pPr lvl="0"/>
            <a:r>
              <a:rPr lang="en-US" dirty="0"/>
              <a:t>📅 May 5–7, 2026</a:t>
            </a:r>
          </a:p>
          <a:p>
            <a:pPr lvl="0"/>
            <a:r>
              <a:rPr lang="en-US" dirty="0"/>
              <a:t>👥 3,000+ attendees | 240+ sessions | 85+ exhibitors</a:t>
            </a:r>
          </a:p>
        </p:txBody>
      </p:sp>
      <p:pic>
        <p:nvPicPr>
          <p:cNvPr id="7" name="Graphic 6">
            <a:extLst>
              <a:ext uri="{FF2B5EF4-FFF2-40B4-BE49-F238E27FC236}">
                <a16:creationId xmlns:a16="http://schemas.microsoft.com/office/drawing/2014/main" id="{E6A95F61-8D72-1C43-35DE-FE318270DC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596213" y="4076700"/>
            <a:ext cx="8999574" cy="1663786"/>
          </a:xfrm>
          <a:prstGeom prst="rect">
            <a:avLst/>
          </a:prstGeom>
        </p:spPr>
      </p:pic>
    </p:spTree>
    <p:extLst>
      <p:ext uri="{BB962C8B-B14F-4D97-AF65-F5344CB8AC3E}">
        <p14:creationId xmlns:p14="http://schemas.microsoft.com/office/powerpoint/2010/main" val="1786038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eedbackReques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D45E51-2EB7-A29C-5BBF-043D565F17DE}"/>
              </a:ext>
            </a:extLst>
          </p:cNvPr>
          <p:cNvSpPr/>
          <p:nvPr userDrawn="1"/>
        </p:nvSpPr>
        <p:spPr>
          <a:xfrm>
            <a:off x="1420540" y="2576667"/>
            <a:ext cx="2275346" cy="2293601"/>
          </a:xfrm>
          <a:prstGeom prst="rect">
            <a:avLst/>
          </a:prstGeom>
          <a:solidFill>
            <a:schemeClr val="bg1">
              <a:lumMod val="95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Put your QR code from your session here.</a:t>
            </a:r>
            <a:br>
              <a:rPr lang="en-US" sz="1400" dirty="0"/>
            </a:br>
            <a:br>
              <a:rPr lang="en-US" sz="1400" dirty="0"/>
            </a:br>
            <a:r>
              <a:rPr lang="en-US" sz="1400" dirty="0">
                <a:hlinkClick r:id="rId2"/>
              </a:rPr>
              <a:t>https://engagetime.live</a:t>
            </a:r>
            <a:endParaRPr lang="en-US" sz="1400" dirty="0"/>
          </a:p>
        </p:txBody>
      </p:sp>
      <p:pic>
        <p:nvPicPr>
          <p:cNvPr id="7" name="Picture 6" descr="Icon&#10;&#10;Description automatically generated">
            <a:extLst>
              <a:ext uri="{FF2B5EF4-FFF2-40B4-BE49-F238E27FC236}">
                <a16:creationId xmlns:a16="http://schemas.microsoft.com/office/drawing/2014/main" id="{3489B6DA-BB62-12D7-114B-FB1583F8E207}"/>
              </a:ext>
            </a:extLst>
          </p:cNvPr>
          <p:cNvPicPr>
            <a:picLocks noChangeAspect="1"/>
          </p:cNvPicPr>
          <p:nvPr userDrawn="1"/>
        </p:nvPicPr>
        <p:blipFill>
          <a:blip r:embed="rId3"/>
          <a:stretch>
            <a:fillRect/>
          </a:stretch>
        </p:blipFill>
        <p:spPr>
          <a:xfrm>
            <a:off x="8696985" y="825493"/>
            <a:ext cx="2780932" cy="820376"/>
          </a:xfrm>
          <a:prstGeom prst="rect">
            <a:avLst/>
          </a:prstGeom>
        </p:spPr>
      </p:pic>
      <p:sp>
        <p:nvSpPr>
          <p:cNvPr id="11" name="TextBox 10">
            <a:extLst>
              <a:ext uri="{FF2B5EF4-FFF2-40B4-BE49-F238E27FC236}">
                <a16:creationId xmlns:a16="http://schemas.microsoft.com/office/drawing/2014/main" id="{1CE01A35-0993-A104-EFD8-8AD5F18839A8}"/>
              </a:ext>
            </a:extLst>
          </p:cNvPr>
          <p:cNvSpPr txBox="1"/>
          <p:nvPr userDrawn="1"/>
        </p:nvSpPr>
        <p:spPr>
          <a:xfrm>
            <a:off x="4144097" y="2661638"/>
            <a:ext cx="8129622" cy="2123658"/>
          </a:xfrm>
          <a:prstGeom prst="rect">
            <a:avLst/>
          </a:prstGeom>
          <a:noFill/>
        </p:spPr>
        <p:txBody>
          <a:bodyPr wrap="square" rtlCol="0">
            <a:spAutoFit/>
          </a:bodyPr>
          <a:lstStyle/>
          <a:p>
            <a:r>
              <a:rPr lang="en-US" sz="6600" dirty="0">
                <a:latin typeface="+mj-lt"/>
              </a:rPr>
              <a:t>Please rate</a:t>
            </a:r>
            <a:br>
              <a:rPr lang="en-US" sz="6600" dirty="0">
                <a:latin typeface="+mj-lt"/>
              </a:rPr>
            </a:br>
            <a:r>
              <a:rPr lang="en-US" sz="6600" dirty="0">
                <a:latin typeface="+mj-lt"/>
              </a:rPr>
              <a:t>this session👍</a:t>
            </a:r>
            <a:endParaRPr lang="en-BE" sz="6600" dirty="0">
              <a:latin typeface="+mj-lt"/>
            </a:endParaRPr>
          </a:p>
        </p:txBody>
      </p:sp>
      <p:pic>
        <p:nvPicPr>
          <p:cNvPr id="3" name="Picture 2">
            <a:extLst>
              <a:ext uri="{FF2B5EF4-FFF2-40B4-BE49-F238E27FC236}">
                <a16:creationId xmlns:a16="http://schemas.microsoft.com/office/drawing/2014/main" id="{72DAB975-B0CC-969C-3B28-F7BAE7B34753}"/>
              </a:ext>
            </a:extLst>
          </p:cNvPr>
          <p:cNvPicPr>
            <a:picLocks noChangeAspect="1"/>
          </p:cNvPicPr>
          <p:nvPr userDrawn="1"/>
        </p:nvPicPr>
        <p:blipFill>
          <a:blip r:embed="rId4"/>
          <a:stretch>
            <a:fillRect/>
          </a:stretch>
        </p:blipFill>
        <p:spPr>
          <a:xfrm>
            <a:off x="1546355" y="4954767"/>
            <a:ext cx="2149531" cy="534627"/>
          </a:xfrm>
          <a:prstGeom prst="rect">
            <a:avLst/>
          </a:prstGeom>
        </p:spPr>
      </p:pic>
    </p:spTree>
    <p:extLst>
      <p:ext uri="{BB962C8B-B14F-4D97-AF65-F5344CB8AC3E}">
        <p14:creationId xmlns:p14="http://schemas.microsoft.com/office/powerpoint/2010/main" val="1217853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BA6DE3-0760-41AD-BF39-11F2AE3280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AE5769-DE97-452B-ADF6-47B774918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AB7824-5F2D-4009-B8E8-FAF80DB0E8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80940-8675-4BEF-85B2-83D18652CAFC}" type="datetime1">
              <a:rPr lang="en-GB" smtClean="0"/>
              <a:t>18/10/2025</a:t>
            </a:fld>
            <a:endParaRPr lang="en-GB"/>
          </a:p>
        </p:txBody>
      </p:sp>
      <p:sp>
        <p:nvSpPr>
          <p:cNvPr id="5" name="Footer Placeholder 4">
            <a:extLst>
              <a:ext uri="{FF2B5EF4-FFF2-40B4-BE49-F238E27FC236}">
                <a16:creationId xmlns:a16="http://schemas.microsoft.com/office/drawing/2014/main" id="{5A30603D-F9D5-4B1F-8D76-39192D04A9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7E2158-3615-4121-8953-3310715B38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89C5C-8171-4CA3-86B1-670B90C02708}" type="slidenum">
              <a:rPr lang="en-GB" smtClean="0"/>
              <a:t>‹#›</a:t>
            </a:fld>
            <a:endParaRPr lang="en-GB"/>
          </a:p>
        </p:txBody>
      </p:sp>
    </p:spTree>
    <p:extLst>
      <p:ext uri="{BB962C8B-B14F-4D97-AF65-F5344CB8AC3E}">
        <p14:creationId xmlns:p14="http://schemas.microsoft.com/office/powerpoint/2010/main" val="1178500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10/18/2025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35982998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hyperlink" Target="http://twitter.com/jcgm1978" TargetMode="External"/><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svg"/><Relationship Id="rId17" Type="http://schemas.openxmlformats.org/officeDocument/2006/relationships/image" Target="../media/image36.jpg"/><Relationship Id="rId2" Type="http://schemas.openxmlformats.org/officeDocument/2006/relationships/notesSlide" Target="../notesSlides/notesSlide1.xml"/><Relationship Id="rId16" Type="http://schemas.openxmlformats.org/officeDocument/2006/relationships/image" Target="../media/image35.svg"/><Relationship Id="rId20"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hyperlink" Target="https://jcgonzalezmartin.wordpress.com/" TargetMode="External"/><Relationship Id="rId11" Type="http://schemas.openxmlformats.org/officeDocument/2006/relationships/image" Target="../media/image30.png"/><Relationship Id="rId5" Type="http://schemas.openxmlformats.org/officeDocument/2006/relationships/hyperlink" Target="https://nl.linkedin.com/in/juagon" TargetMode="External"/><Relationship Id="rId15" Type="http://schemas.openxmlformats.org/officeDocument/2006/relationships/image" Target="../media/image34.png"/><Relationship Id="rId10" Type="http://schemas.openxmlformats.org/officeDocument/2006/relationships/image" Target="../media/image29.svg"/><Relationship Id="rId19" Type="http://schemas.openxmlformats.org/officeDocument/2006/relationships/image" Target="../media/image38.svg"/><Relationship Id="rId4" Type="http://schemas.openxmlformats.org/officeDocument/2006/relationships/hyperlink" Target="mailto:jcgonzalezmartin1978@hotmail.com" TargetMode="External"/><Relationship Id="rId9" Type="http://schemas.openxmlformats.org/officeDocument/2006/relationships/image" Target="../media/image28.png"/><Relationship Id="rId14" Type="http://schemas.openxmlformats.org/officeDocument/2006/relationships/image" Target="../media/image33.svg"/><Relationship Id="rId22" Type="http://schemas.openxmlformats.org/officeDocument/2006/relationships/image" Target="../media/image4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51.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hyperlink" Target="https://owasp.org/www-project-top-10-low-code-no-code-security-risk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power-platform/admin/customer-managed-key?tabs=new"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power-platform/admin/create-manage-masking-rule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62.png"/></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power-platform/admin/connector-action-contro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hyperlink" Target="https://learn.microsoft.com/en-us/power-platform/admin/connector-endpoint-filterin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en-us/power-platform/admin/connector-action-control"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hyperlink" Target="https://learn.microsoft.com/en-us/power-platform/admin/connector-endpoint-filterin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power-platform/admin/vnet-support-overview"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learn.microsoft.com/en-us/power-platform/admin/managed-environment-sharing-limits?tabs=new"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learn.microsoft.com/en-us/power-platform/admin/block-cookie-replay-attack"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hyperlink" Target="https://learn.microsoft.com/en-us/power-platform/admin/block-cookie-replay-attack" TargetMode="External"/><Relationship Id="rId7"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hyperlink" Target="https://learn.microsoft.com/en-us/power-platform/admin/cross-tenant-restrictions?tabs=new"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learn.microsoft.com/en-us/power-platform/admin/block-cookie-replay-attack"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81.png"/><Relationship Id="rId4" Type="http://schemas.openxmlformats.org/officeDocument/2006/relationships/hyperlink" Target="https://learn.microsoft.com/en-us/power-platform/admin/cross-tenant-restrictions?tabs=new"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learn.microsoft.com/en-us/power-platform/admin/block-cookie-replay-attack"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hyperlink" Target="https://learn.microsoft.com/en-us/power-platform/admin/cross-tenant-restrictions?tabs=new"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learn.microsoft.com/en-us/power-platform/admin/manage-high-privileged-admin-roles?tabs=new"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9.png"/></Relationships>
</file>

<file path=ppt/slides/_rels/slide34.xml.rels><?xml version="1.0" encoding="UTF-8" standalone="yes"?>
<Relationships xmlns="http://schemas.openxmlformats.org/package/2006/relationships"><Relationship Id="rId3" Type="http://schemas.openxmlformats.org/officeDocument/2006/relationships/hyperlink" Target="https://learn.microsoft.com/en-us/power-platform/admin/control-app-access-environment?tabs=new"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3" Type="http://schemas.openxmlformats.org/officeDocument/2006/relationships/hyperlink" Target="https://learn.microsoft.com/en-us/power-platform/admin/restrict-access-online-trusted-ip-rules"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92.png"/><Relationship Id="rId4" Type="http://schemas.openxmlformats.org/officeDocument/2006/relationships/image" Target="../media/image91.png"/></Relationships>
</file>

<file path=ppt/slides/_rels/slide36.xml.rels><?xml version="1.0" encoding="UTF-8" standalone="yes"?>
<Relationships xmlns="http://schemas.openxmlformats.org/package/2006/relationships"><Relationship Id="rId3" Type="http://schemas.openxmlformats.org/officeDocument/2006/relationships/hyperlink" Target="https://learn.microsoft.com/en-us/power-platform/release-plan/2024wave2/power-platform-governance-administration/permit-or-deny-guest-access-environment"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93.png"/></Relationships>
</file>

<file path=ppt/slides/_rels/slide37.xml.rels><?xml version="1.0" encoding="UTF-8" standalone="yes"?>
<Relationships xmlns="http://schemas.openxmlformats.org/package/2006/relationships"><Relationship Id="rId3" Type="http://schemas.openxmlformats.org/officeDocument/2006/relationships/hyperlink" Target="https://learn.microsoft.com/en-us/power-platform/release-plan/2025wave1/power-platform-governance-administration/manage-copilot-security-enhanced-admin-controls"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94.png"/></Relationships>
</file>

<file path=ppt/slides/_rels/slide38.xml.rels><?xml version="1.0" encoding="UTF-8" standalone="yes"?>
<Relationships xmlns="http://schemas.openxmlformats.org/package/2006/relationships"><Relationship Id="rId3" Type="http://schemas.openxmlformats.org/officeDocument/2006/relationships/hyperlink" Target="https://learn.microsoft.com/en-us/power-platform/release-plan/2025wave1/power-platform-governance-administration/manage-copilot-security-enhanced-admin-controls"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power-platform/admin/about-lockbox"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4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5.xml.rels><?xml version="1.0" encoding="UTF-8" standalone="yes"?>
<Relationships xmlns="http://schemas.openxmlformats.org/package/2006/relationships"><Relationship Id="rId3" Type="http://schemas.openxmlformats.org/officeDocument/2006/relationships/hyperlink" Target="https://learn.microsoft.com/en-us/power-platform/admin/managed-environment-solution-checker"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47.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10.png"/></Relationships>
</file>

<file path=ppt/slides/_rels/slide48.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50.xml.rels><?xml version="1.0" encoding="UTF-8" standalone="yes"?>
<Relationships xmlns="http://schemas.openxmlformats.org/package/2006/relationships"><Relationship Id="rId8" Type="http://schemas.openxmlformats.org/officeDocument/2006/relationships/hyperlink" Target="https://learn.microsoft.com/en-us/power-platform/admin/connector-action-control" TargetMode="External"/><Relationship Id="rId3" Type="http://schemas.openxmlformats.org/officeDocument/2006/relationships/hyperlink" Target="https://learn.microsoft.com/en-us/power-platform/admin/security/managed-security" TargetMode="External"/><Relationship Id="rId7" Type="http://schemas.openxmlformats.org/officeDocument/2006/relationships/hyperlink" Target="https://learn.microsoft.com/en-us/power-platform/admin/managed-environment-data-policies" TargetMode="External"/><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hyperlink" Target="https://learn.microsoft.com/en-us/purview/register-scan-dataverse?tabs=MI" TargetMode="External"/><Relationship Id="rId11" Type="http://schemas.openxmlformats.org/officeDocument/2006/relationships/hyperlink" Target="https://learn.microsoft.com/en-us/power-platform/admin/security/identity-access-management" TargetMode="External"/><Relationship Id="rId5" Type="http://schemas.openxmlformats.org/officeDocument/2006/relationships/hyperlink" Target="https://learn.microsoft.com/en-us/power-platform/admin/create-manage-masking-rules" TargetMode="External"/><Relationship Id="rId10" Type="http://schemas.openxmlformats.org/officeDocument/2006/relationships/hyperlink" Target="https://learn.microsoft.com/en-us/power-platform/admin/vnet-support-overview" TargetMode="External"/><Relationship Id="rId4" Type="http://schemas.openxmlformats.org/officeDocument/2006/relationships/hyperlink" Target="https://learn.microsoft.com/en-us/power-platform/admin/customer-managed-key?tabs=new" TargetMode="External"/><Relationship Id="rId9" Type="http://schemas.openxmlformats.org/officeDocument/2006/relationships/hyperlink" Target="https://learn.microsoft.com/en-us/power-platform/admin/connector-endpoint-filtering"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learn.microsoft.com/en-us/power-platform/release-plan/2024wave2/power-platform-governance-administration/permit-or-deny-guest-access-environment" TargetMode="External"/><Relationship Id="rId3" Type="http://schemas.openxmlformats.org/officeDocument/2006/relationships/hyperlink" Target="https://learn.microsoft.com/en-us/power-platform/admin/ip-firewall" TargetMode="External"/><Relationship Id="rId7" Type="http://schemas.openxmlformats.org/officeDocument/2006/relationships/hyperlink" Target="https://learn.microsoft.com/en-us/power-platform/admin/restrict-access-online-trusted-ip-rules"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hyperlink" Target="https://learn.microsoft.com/en-us/power-platform/admin/manage-high-privileged-admin-roles?tabs=new" TargetMode="External"/><Relationship Id="rId5" Type="http://schemas.openxmlformats.org/officeDocument/2006/relationships/hyperlink" Target="https://learn.microsoft.com/en-us/power-platform/admin/block-cookie-replay-attack" TargetMode="External"/><Relationship Id="rId4" Type="http://schemas.openxmlformats.org/officeDocument/2006/relationships/hyperlink" Target="https://learn.microsoft.com/en-us/power-platform/admin/managed-environment-sharing-limits?tabs=new" TargetMode="External"/><Relationship Id="rId9" Type="http://schemas.openxmlformats.org/officeDocument/2006/relationships/hyperlink" Target="https://learn.microsoft.com/en-us/power-platform/admin/security/identity-access-management" TargetMode="External"/></Relationships>
</file>

<file path=ppt/slides/_rels/slide52.xml.rels><?xml version="1.0" encoding="UTF-8" standalone="yes"?>
<Relationships xmlns="http://schemas.openxmlformats.org/package/2006/relationships"><Relationship Id="rId8" Type="http://schemas.openxmlformats.org/officeDocument/2006/relationships/hyperlink" Target="https://learn.microsoft.com/en-us/defender-cloud-apps/real-time-agent-protection-during-runtime" TargetMode="External"/><Relationship Id="rId3" Type="http://schemas.openxmlformats.org/officeDocument/2006/relationships/hyperlink" Target="https://learn.microsoft.com/en-us/power-platform/admin/about-lockbox" TargetMode="External"/><Relationship Id="rId7"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hyperlink" Target="https://learn.microsoft.com/en-us/azure/sentinel/business-applications/solution-overview" TargetMode="External"/><Relationship Id="rId5" Type="http://schemas.openxmlformats.org/officeDocument/2006/relationships/hyperlink" Target="https://learn.microsoft.com/en-us/power-platform/admin/managed-environment-solution-checker" TargetMode="External"/><Relationship Id="rId4" Type="http://schemas.openxmlformats.org/officeDocument/2006/relationships/hyperlink" Target="https://learn.microsoft.com/en-us/power-platform/admin/manage-dataverse-auditing?tabs=new"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o365itpros.gumroad.com/l/O365IT"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12.jpe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7CD90-00F5-765B-C5F9-666A522A4D40}"/>
              </a:ext>
            </a:extLst>
          </p:cNvPr>
          <p:cNvSpPr>
            <a:spLocks noGrp="1"/>
          </p:cNvSpPr>
          <p:nvPr>
            <p:ph type="title"/>
          </p:nvPr>
        </p:nvSpPr>
        <p:spPr/>
        <p:txBody>
          <a:bodyPr>
            <a:normAutofit fontScale="90000"/>
          </a:bodyPr>
          <a:lstStyle/>
          <a:p>
            <a:r>
              <a:rPr lang="en-US" noProof="0" dirty="0"/>
              <a:t>Managed Security in the Power Platform: What’s in the box</a:t>
            </a:r>
          </a:p>
        </p:txBody>
      </p:sp>
      <p:sp>
        <p:nvSpPr>
          <p:cNvPr id="3" name="Content Placeholder 2">
            <a:extLst>
              <a:ext uri="{FF2B5EF4-FFF2-40B4-BE49-F238E27FC236}">
                <a16:creationId xmlns:a16="http://schemas.microsoft.com/office/drawing/2014/main" id="{2BF97050-03A7-4EBB-6C96-3C63FB4CE285}"/>
              </a:ext>
            </a:extLst>
          </p:cNvPr>
          <p:cNvSpPr>
            <a:spLocks noGrp="1"/>
          </p:cNvSpPr>
          <p:nvPr>
            <p:ph idx="1"/>
          </p:nvPr>
        </p:nvSpPr>
        <p:spPr/>
        <p:txBody>
          <a:bodyPr>
            <a:normAutofit lnSpcReduction="10000"/>
          </a:bodyPr>
          <a:lstStyle/>
          <a:p>
            <a:r>
              <a:rPr lang="es-ES" dirty="0"/>
              <a:t>Juan Carlos González | </a:t>
            </a:r>
            <a:r>
              <a:rPr lang="en-US" noProof="0" dirty="0"/>
              <a:t>Microsoft 365 &amp; Microsoft 365 Copilot MVP | Microsoft 365 SME</a:t>
            </a:r>
            <a:endParaRPr lang="LID4096" dirty="0"/>
          </a:p>
        </p:txBody>
      </p:sp>
      <p:pic>
        <p:nvPicPr>
          <p:cNvPr id="4" name="Picture 3" descr="A qr code with a hand and a chat bubble&#10;&#10;AI-generated content may be incorrect.">
            <a:extLst>
              <a:ext uri="{FF2B5EF4-FFF2-40B4-BE49-F238E27FC236}">
                <a16:creationId xmlns:a16="http://schemas.microsoft.com/office/drawing/2014/main" id="{1C0A66D3-8AC8-D805-68E3-BC4DB6019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266" y="3041241"/>
            <a:ext cx="1496483" cy="1496483"/>
          </a:xfrm>
          <a:prstGeom prst="rect">
            <a:avLst/>
          </a:prstGeom>
        </p:spPr>
      </p:pic>
    </p:spTree>
    <p:extLst>
      <p:ext uri="{BB962C8B-B14F-4D97-AF65-F5344CB8AC3E}">
        <p14:creationId xmlns:p14="http://schemas.microsoft.com/office/powerpoint/2010/main" val="3797638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TextBox 33">
            <a:extLst>
              <a:ext uri="{FF2B5EF4-FFF2-40B4-BE49-F238E27FC236}">
                <a16:creationId xmlns:a16="http://schemas.microsoft.com/office/drawing/2014/main" id="{185BF12B-084D-46B6-A345-EF6BBBD11F79}"/>
              </a:ext>
            </a:extLst>
          </p:cNvPr>
          <p:cNvSpPr txBox="1"/>
          <p:nvPr/>
        </p:nvSpPr>
        <p:spPr>
          <a:xfrm>
            <a:off x="6616546" y="696878"/>
            <a:ext cx="5575453" cy="369332"/>
          </a:xfrm>
          <a:prstGeom prst="rect">
            <a:avLst/>
          </a:prstGeom>
          <a:noFill/>
        </p:spPr>
        <p:txBody>
          <a:bodyPr wrap="square" rtlCol="0">
            <a:spAutoFit/>
          </a:bodyPr>
          <a:lstStyle/>
          <a:p>
            <a:pPr lvl="0">
              <a:defRPr/>
            </a:pPr>
            <a:r>
              <a:rPr kumimoji="0" lang="es-CO"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3">
                  <a:extLst>
                    <a:ext uri="{A12FA001-AC4F-418D-AE19-62706E023703}">
                      <ahyp:hlinkClr xmlns:ahyp="http://schemas.microsoft.com/office/drawing/2018/hyperlinkcolor" val="tx"/>
                    </a:ext>
                  </a:extLst>
                </a:hlinkClick>
              </a:rPr>
              <a:t>@jcgm1978</a:t>
            </a:r>
            <a:r>
              <a:rPr lang="es-CO" dirty="0">
                <a:solidFill>
                  <a:prstClr val="white"/>
                </a:solidFill>
                <a:latin typeface="Segoe UI Semibold" panose="020B0702040204020203" pitchFamily="34" charset="0"/>
                <a:cs typeface="Segoe UI Semibold" panose="020B0702040204020203" pitchFamily="34" charset="0"/>
              </a:rPr>
              <a:t> | @jcgm1978.bsky.social</a:t>
            </a:r>
            <a:r>
              <a:rPr kumimoji="0" lang="es-CO"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 </a:t>
            </a:r>
          </a:p>
        </p:txBody>
      </p:sp>
      <p:sp>
        <p:nvSpPr>
          <p:cNvPr id="27" name="TextBox 33">
            <a:extLst>
              <a:ext uri="{FF2B5EF4-FFF2-40B4-BE49-F238E27FC236}">
                <a16:creationId xmlns:a16="http://schemas.microsoft.com/office/drawing/2014/main" id="{74894F26-2531-4919-AD94-D242B61D9ABC}"/>
              </a:ext>
            </a:extLst>
          </p:cNvPr>
          <p:cNvSpPr txBox="1"/>
          <p:nvPr/>
        </p:nvSpPr>
        <p:spPr>
          <a:xfrm>
            <a:off x="6616547" y="1358012"/>
            <a:ext cx="40497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4">
                  <a:extLst>
                    <a:ext uri="{A12FA001-AC4F-418D-AE19-62706E023703}">
                      <ahyp:hlinkClr xmlns:ahyp="http://schemas.microsoft.com/office/drawing/2018/hyperlinkcolor" val="tx"/>
                    </a:ext>
                  </a:extLst>
                </a:hlinkClick>
              </a:rPr>
              <a:t>jcgonzalezmartin1978@hotmail.com</a:t>
            </a:r>
            <a:r>
              <a:rPr kumimoji="0" lang="es-CO"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 </a:t>
            </a:r>
            <a:endPar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8" name="TextBox 33">
            <a:extLst>
              <a:ext uri="{FF2B5EF4-FFF2-40B4-BE49-F238E27FC236}">
                <a16:creationId xmlns:a16="http://schemas.microsoft.com/office/drawing/2014/main" id="{A5402183-D47A-4420-AA88-00385585C397}"/>
              </a:ext>
            </a:extLst>
          </p:cNvPr>
          <p:cNvSpPr txBox="1"/>
          <p:nvPr/>
        </p:nvSpPr>
        <p:spPr>
          <a:xfrm>
            <a:off x="6616547" y="2076469"/>
            <a:ext cx="36815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5">
                  <a:extLst>
                    <a:ext uri="{A12FA001-AC4F-418D-AE19-62706E023703}">
                      <ahyp:hlinkClr xmlns:ahyp="http://schemas.microsoft.com/office/drawing/2018/hyperlinkcolor" val="tx"/>
                    </a:ext>
                  </a:extLst>
                </a:hlinkClick>
              </a:rPr>
              <a:t>https://nl.linkedin.com/in/juagon</a:t>
            </a:r>
            <a:endPar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9" name="TextBox 33">
            <a:extLst>
              <a:ext uri="{FF2B5EF4-FFF2-40B4-BE49-F238E27FC236}">
                <a16:creationId xmlns:a16="http://schemas.microsoft.com/office/drawing/2014/main" id="{016B611D-7570-4388-89B6-8CE0C17E088A}"/>
              </a:ext>
            </a:extLst>
          </p:cNvPr>
          <p:cNvSpPr txBox="1"/>
          <p:nvPr/>
        </p:nvSpPr>
        <p:spPr>
          <a:xfrm>
            <a:off x="6616547" y="2722355"/>
            <a:ext cx="45096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6">
                  <a:extLst>
                    <a:ext uri="{A12FA001-AC4F-418D-AE19-62706E023703}">
                      <ahyp:hlinkClr xmlns:ahyp="http://schemas.microsoft.com/office/drawing/2018/hyperlinkcolor" val="tx"/>
                    </a:ext>
                  </a:extLst>
                </a:hlinkClick>
              </a:rPr>
              <a:t>https://jcgonzalezmartin.wordpress.com/</a:t>
            </a:r>
            <a:endPar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4" name="TextBox 33">
            <a:extLst>
              <a:ext uri="{FF2B5EF4-FFF2-40B4-BE49-F238E27FC236}">
                <a16:creationId xmlns:a16="http://schemas.microsoft.com/office/drawing/2014/main" id="{1A45BD1A-1158-492D-A42E-94A957682656}"/>
              </a:ext>
            </a:extLst>
          </p:cNvPr>
          <p:cNvSpPr txBox="1"/>
          <p:nvPr/>
        </p:nvSpPr>
        <p:spPr>
          <a:xfrm>
            <a:off x="6616547" y="3536042"/>
            <a:ext cx="5301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https://www.youtube.com/@jcgonzalezmartin </a:t>
            </a:r>
          </a:p>
        </p:txBody>
      </p:sp>
      <p:pic>
        <p:nvPicPr>
          <p:cNvPr id="35" name="Graphic 34" descr="Presentation with media">
            <a:extLst>
              <a:ext uri="{FF2B5EF4-FFF2-40B4-BE49-F238E27FC236}">
                <a16:creationId xmlns:a16="http://schemas.microsoft.com/office/drawing/2014/main" id="{F11064A7-B4FB-453C-9A1E-689194DDAE1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98260" y="3459380"/>
            <a:ext cx="603945" cy="603945"/>
          </a:xfrm>
          <a:prstGeom prst="rect">
            <a:avLst/>
          </a:prstGeom>
        </p:spPr>
      </p:pic>
      <p:pic>
        <p:nvPicPr>
          <p:cNvPr id="36" name="Graphic 35" descr="Chat bubble">
            <a:extLst>
              <a:ext uri="{FF2B5EF4-FFF2-40B4-BE49-F238E27FC236}">
                <a16:creationId xmlns:a16="http://schemas.microsoft.com/office/drawing/2014/main" id="{F9C00632-7EFB-4429-BC45-7BB42E4D830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10620" y="623707"/>
            <a:ext cx="603504" cy="603504"/>
          </a:xfrm>
          <a:prstGeom prst="rect">
            <a:avLst/>
          </a:prstGeom>
        </p:spPr>
      </p:pic>
      <p:pic>
        <p:nvPicPr>
          <p:cNvPr id="37" name="Graphic 36" descr="Podcast">
            <a:extLst>
              <a:ext uri="{FF2B5EF4-FFF2-40B4-BE49-F238E27FC236}">
                <a16:creationId xmlns:a16="http://schemas.microsoft.com/office/drawing/2014/main" id="{9C4A9E7B-405D-47FB-B13F-AFC796D2AC3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84329" y="2683097"/>
            <a:ext cx="603946" cy="603946"/>
          </a:xfrm>
          <a:prstGeom prst="rect">
            <a:avLst/>
          </a:prstGeom>
        </p:spPr>
      </p:pic>
      <p:pic>
        <p:nvPicPr>
          <p:cNvPr id="38" name="Graphic 37" descr="Envelope">
            <a:extLst>
              <a:ext uri="{FF2B5EF4-FFF2-40B4-BE49-F238E27FC236}">
                <a16:creationId xmlns:a16="http://schemas.microsoft.com/office/drawing/2014/main" id="{6BF4B86D-41ED-4B4D-9575-7AFB22B1311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929636" y="1308168"/>
            <a:ext cx="603504" cy="603504"/>
          </a:xfrm>
          <a:prstGeom prst="rect">
            <a:avLst/>
          </a:prstGeom>
        </p:spPr>
      </p:pic>
      <p:pic>
        <p:nvPicPr>
          <p:cNvPr id="39" name="Graphic 38" descr="Hero Male">
            <a:extLst>
              <a:ext uri="{FF2B5EF4-FFF2-40B4-BE49-F238E27FC236}">
                <a16:creationId xmlns:a16="http://schemas.microsoft.com/office/drawing/2014/main" id="{273740DE-0FC9-4788-A59B-CFD24131378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10620" y="1967914"/>
            <a:ext cx="603504" cy="603504"/>
          </a:xfrm>
          <a:prstGeom prst="rect">
            <a:avLst/>
          </a:prstGeom>
        </p:spPr>
      </p:pic>
      <p:pic>
        <p:nvPicPr>
          <p:cNvPr id="20" name="Picture 19" descr="A person in a blue shirt&#10;&#10;Description automatically generated">
            <a:extLst>
              <a:ext uri="{FF2B5EF4-FFF2-40B4-BE49-F238E27FC236}">
                <a16:creationId xmlns:a16="http://schemas.microsoft.com/office/drawing/2014/main" id="{19549145-39BA-44E4-7D38-52D107BCC31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74054" y="883929"/>
            <a:ext cx="2669935" cy="3013453"/>
          </a:xfrm>
          <a:prstGeom prst="ellipse">
            <a:avLst/>
          </a:prstGeom>
          <a:ln>
            <a:noFill/>
          </a:ln>
          <a:effectLst>
            <a:softEdge rad="112500"/>
          </a:effectLst>
        </p:spPr>
      </p:pic>
      <p:sp>
        <p:nvSpPr>
          <p:cNvPr id="2" name="CuadroTexto 14">
            <a:extLst>
              <a:ext uri="{FF2B5EF4-FFF2-40B4-BE49-F238E27FC236}">
                <a16:creationId xmlns:a16="http://schemas.microsoft.com/office/drawing/2014/main" id="{8F8FA7A6-BCFB-9254-785A-DA5FF5150F9C}"/>
              </a:ext>
            </a:extLst>
          </p:cNvPr>
          <p:cNvSpPr txBox="1"/>
          <p:nvPr/>
        </p:nvSpPr>
        <p:spPr>
          <a:xfrm>
            <a:off x="2482809" y="6488880"/>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3" name="Slide Number Placeholder 2">
            <a:extLst>
              <a:ext uri="{FF2B5EF4-FFF2-40B4-BE49-F238E27FC236}">
                <a16:creationId xmlns:a16="http://schemas.microsoft.com/office/drawing/2014/main" id="{181EEE7D-26E0-C306-E553-ECC078C412D9}"/>
              </a:ext>
            </a:extLst>
          </p:cNvPr>
          <p:cNvSpPr>
            <a:spLocks noGrp="1"/>
          </p:cNvSpPr>
          <p:nvPr>
            <p:ph type="sldNum" sz="quarter" idx="12"/>
          </p:nvPr>
        </p:nvSpPr>
        <p:spPr/>
        <p:txBody>
          <a:bodyPr/>
          <a:lstStyle/>
          <a:p>
            <a:fld id="{86889C5C-8171-4CA3-86B1-670B90C02708}" type="slidenum">
              <a:rPr lang="en-GB" smtClean="0"/>
              <a:t>2</a:t>
            </a:fld>
            <a:endParaRPr lang="en-GB"/>
          </a:p>
        </p:txBody>
      </p:sp>
      <p:sp>
        <p:nvSpPr>
          <p:cNvPr id="5" name="TextBox 4">
            <a:extLst>
              <a:ext uri="{FF2B5EF4-FFF2-40B4-BE49-F238E27FC236}">
                <a16:creationId xmlns:a16="http://schemas.microsoft.com/office/drawing/2014/main" id="{9D2FD5B9-F9DF-8C48-13A2-70EB636373EB}"/>
              </a:ext>
            </a:extLst>
          </p:cNvPr>
          <p:cNvSpPr txBox="1"/>
          <p:nvPr/>
        </p:nvSpPr>
        <p:spPr>
          <a:xfrm>
            <a:off x="6616547" y="4362049"/>
            <a:ext cx="5301609" cy="369332"/>
          </a:xfrm>
          <a:prstGeom prst="rect">
            <a:avLst/>
          </a:prstGeom>
          <a:noFill/>
        </p:spPr>
        <p:txBody>
          <a:bodyPr wrap="square">
            <a:spAutoFit/>
          </a:bodyPr>
          <a:lstStyle/>
          <a:p>
            <a:r>
              <a:rPr lang="en-US" u="sng" dirty="0">
                <a:solidFill>
                  <a:schemeClr val="bg1"/>
                </a:solidFill>
                <a:latin typeface="Segoe UI Semibold" panose="020B0702040204020203" pitchFamily="34" charset="0"/>
                <a:cs typeface="Segoe UI Semibold" panose="020B0702040204020203" pitchFamily="34" charset="0"/>
              </a:rPr>
              <a:t>https://office365itpros.com/</a:t>
            </a:r>
          </a:p>
        </p:txBody>
      </p:sp>
      <p:pic>
        <p:nvPicPr>
          <p:cNvPr id="7" name="Graphic 6" descr="Storytelling with solid fill">
            <a:extLst>
              <a:ext uri="{FF2B5EF4-FFF2-40B4-BE49-F238E27FC236}">
                <a16:creationId xmlns:a16="http://schemas.microsoft.com/office/drawing/2014/main" id="{3DBD34B1-63FD-6DE3-CCC4-C0446E4AFCA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989681" y="4228397"/>
            <a:ext cx="603504" cy="603504"/>
          </a:xfrm>
          <a:prstGeom prst="rect">
            <a:avLst/>
          </a:prstGeom>
        </p:spPr>
      </p:pic>
      <p:pic>
        <p:nvPicPr>
          <p:cNvPr id="4" name="Imagen 11">
            <a:extLst>
              <a:ext uri="{FF2B5EF4-FFF2-40B4-BE49-F238E27FC236}">
                <a16:creationId xmlns:a16="http://schemas.microsoft.com/office/drawing/2014/main" id="{BFFD08B2-9593-7D70-FC16-4E629BE030C6}"/>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2046583" y="4504429"/>
            <a:ext cx="1023335" cy="1023335"/>
          </a:xfrm>
          <a:prstGeom prst="rect">
            <a:avLst/>
          </a:prstGeom>
        </p:spPr>
      </p:pic>
      <p:pic>
        <p:nvPicPr>
          <p:cNvPr id="6" name="Imagen 12">
            <a:extLst>
              <a:ext uri="{FF2B5EF4-FFF2-40B4-BE49-F238E27FC236}">
                <a16:creationId xmlns:a16="http://schemas.microsoft.com/office/drawing/2014/main" id="{26F57E78-F9C0-D860-5639-81641448C6A5}"/>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991188" y="4335580"/>
            <a:ext cx="813845" cy="1288589"/>
          </a:xfrm>
          <a:prstGeom prst="rect">
            <a:avLst/>
          </a:prstGeom>
        </p:spPr>
      </p:pic>
      <p:pic>
        <p:nvPicPr>
          <p:cNvPr id="8" name="Picture 28" descr="A black and white logo&#10;&#10;Description automatically generated">
            <a:extLst>
              <a:ext uri="{FF2B5EF4-FFF2-40B4-BE49-F238E27FC236}">
                <a16:creationId xmlns:a16="http://schemas.microsoft.com/office/drawing/2014/main" id="{F3B5AE3E-775B-BB40-718E-B6A5CC8464BC}"/>
              </a:ext>
            </a:extLst>
          </p:cNvPr>
          <p:cNvPicPr>
            <a:picLocks noChangeAspect="1"/>
          </p:cNvPicPr>
          <p:nvPr/>
        </p:nvPicPr>
        <p:blipFill>
          <a:blip r:embed="rId22"/>
          <a:stretch>
            <a:fillRect/>
          </a:stretch>
        </p:blipFill>
        <p:spPr>
          <a:xfrm>
            <a:off x="3311468" y="4774546"/>
            <a:ext cx="1252385" cy="483099"/>
          </a:xfrm>
          <a:prstGeom prst="rect">
            <a:avLst/>
          </a:prstGeom>
        </p:spPr>
      </p:pic>
    </p:spTree>
    <p:extLst>
      <p:ext uri="{BB962C8B-B14F-4D97-AF65-F5344CB8AC3E}">
        <p14:creationId xmlns:p14="http://schemas.microsoft.com/office/powerpoint/2010/main" val="177922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04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and white card with a qr code&#10;&#10;AI-generated content may be incorrect.">
            <a:extLst>
              <a:ext uri="{FF2B5EF4-FFF2-40B4-BE49-F238E27FC236}">
                <a16:creationId xmlns:a16="http://schemas.microsoft.com/office/drawing/2014/main" id="{70FDA24C-EB81-36FF-17A7-91A1AC4637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591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erson in a suit&#10;&#10;AI-generated content may be incorrect.">
            <a:extLst>
              <a:ext uri="{FF2B5EF4-FFF2-40B4-BE49-F238E27FC236}">
                <a16:creationId xmlns:a16="http://schemas.microsoft.com/office/drawing/2014/main" id="{24C448A3-6A7D-D084-B5C8-7F531B6AE0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78871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large audience in a large room&#10;&#10;AI-generated content may be incorrect.">
            <a:extLst>
              <a:ext uri="{FF2B5EF4-FFF2-40B4-BE49-F238E27FC236}">
                <a16:creationId xmlns:a16="http://schemas.microsoft.com/office/drawing/2014/main" id="{4ACF30E1-DE85-AC31-3D8C-9F2CEC157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Tree>
    <p:extLst>
      <p:ext uri="{BB962C8B-B14F-4D97-AF65-F5344CB8AC3E}">
        <p14:creationId xmlns:p14="http://schemas.microsoft.com/office/powerpoint/2010/main" val="510480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8633561"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Agenda</a:t>
            </a: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3" name="Text Placeholder 4">
            <a:extLst>
              <a:ext uri="{FF2B5EF4-FFF2-40B4-BE49-F238E27FC236}">
                <a16:creationId xmlns:a16="http://schemas.microsoft.com/office/drawing/2014/main" id="{3620BA6E-30C5-44DF-9089-25BCFEB87085}"/>
              </a:ext>
            </a:extLst>
          </p:cNvPr>
          <p:cNvSpPr txBox="1">
            <a:spLocks/>
          </p:cNvSpPr>
          <p:nvPr/>
        </p:nvSpPr>
        <p:spPr>
          <a:xfrm>
            <a:off x="525234" y="1783669"/>
            <a:ext cx="9144000" cy="3477875"/>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Why are we </a:t>
            </a:r>
            <a:r>
              <a:rPr lang="en-US" sz="1600" dirty="0">
                <a:solidFill>
                  <a:prstClr val="white"/>
                </a:solidFill>
                <a:latin typeface="Segoe UI Semibold" panose="020B0702040204020203" pitchFamily="34" charset="0"/>
                <a:cs typeface="Segoe UI Semibold" panose="020B0702040204020203" pitchFamily="34" charset="0"/>
              </a:rPr>
              <a:t>talking about Managed Security in the Power Platform?</a:t>
            </a: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Managed Security and Security Posture in the Power Platform</a:t>
            </a: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Data Protection &amp; Privacy</a:t>
            </a: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s-E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Compliance &amp; Auditing</a:t>
            </a: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lang="en-US" sz="1600" dirty="0">
                <a:solidFill>
                  <a:prstClr val="white"/>
                </a:solidFill>
                <a:latin typeface="Segoe UI Semibold" panose="020B0702040204020203" pitchFamily="34" charset="0"/>
                <a:cs typeface="Segoe UI Semibold" panose="020B0702040204020203" pitchFamily="34" charset="0"/>
              </a:rPr>
              <a:t>Thread Protection</a:t>
            </a: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s-E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s-E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800" b="0" i="0" u="none" strike="noStrike" kern="1200" cap="none" spc="0" normalizeH="0" baseline="0" noProof="0" dirty="0">
              <a:ln>
                <a:noFill/>
              </a:ln>
              <a:gradFill>
                <a:gsLst>
                  <a:gs pos="91000">
                    <a:srgbClr val="FFFFFF"/>
                  </a:gs>
                  <a:gs pos="0">
                    <a:srgbClr val="FFFFFF"/>
                  </a:gs>
                </a:gsLst>
                <a:lin ang="5400000" scaled="0"/>
              </a:gradFill>
              <a:effectLst/>
              <a:uLnTx/>
              <a:uFillTx/>
              <a:latin typeface="Segoe UI"/>
              <a:ea typeface="+mn-ea"/>
              <a:cs typeface="Segoe UI" panose="020B0502040204020203" pitchFamily="34" charset="0"/>
            </a:endParaRPr>
          </a:p>
        </p:txBody>
      </p:sp>
      <p:sp>
        <p:nvSpPr>
          <p:cNvPr id="2" name="CuadroTexto 14">
            <a:extLst>
              <a:ext uri="{FF2B5EF4-FFF2-40B4-BE49-F238E27FC236}">
                <a16:creationId xmlns:a16="http://schemas.microsoft.com/office/drawing/2014/main" id="{4EA17D51-B649-FE5B-0283-EE4CBF97B13E}"/>
              </a:ext>
            </a:extLst>
          </p:cNvPr>
          <p:cNvSpPr txBox="1"/>
          <p:nvPr/>
        </p:nvSpPr>
        <p:spPr>
          <a:xfrm>
            <a:off x="2482809" y="6488880"/>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3" name="Slide Number Placeholder 2">
            <a:extLst>
              <a:ext uri="{FF2B5EF4-FFF2-40B4-BE49-F238E27FC236}">
                <a16:creationId xmlns:a16="http://schemas.microsoft.com/office/drawing/2014/main" id="{2B3DFE00-0F4B-BE4C-DC34-DF7207C74442}"/>
              </a:ext>
            </a:extLst>
          </p:cNvPr>
          <p:cNvSpPr>
            <a:spLocks noGrp="1"/>
          </p:cNvSpPr>
          <p:nvPr>
            <p:ph type="sldNum" sz="quarter" idx="12"/>
          </p:nvPr>
        </p:nvSpPr>
        <p:spPr/>
        <p:txBody>
          <a:bodyPr/>
          <a:lstStyle/>
          <a:p>
            <a:fld id="{86889C5C-8171-4CA3-86B1-670B90C02708}" type="slidenum">
              <a:rPr lang="en-GB" smtClean="0"/>
              <a:t>7</a:t>
            </a:fld>
            <a:endParaRPr lang="en-GB"/>
          </a:p>
        </p:txBody>
      </p:sp>
    </p:spTree>
    <p:extLst>
      <p:ext uri="{BB962C8B-B14F-4D97-AF65-F5344CB8AC3E}">
        <p14:creationId xmlns:p14="http://schemas.microsoft.com/office/powerpoint/2010/main" val="2611795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Landscape is constantly changing</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F43C85B-9E04-6E88-090B-43CBD48033C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8" name="TextBox 7" descr="Evolving regulatory and legal requirement &#10;">
            <a:extLst>
              <a:ext uri="{FF2B5EF4-FFF2-40B4-BE49-F238E27FC236}">
                <a16:creationId xmlns:a16="http://schemas.microsoft.com/office/drawing/2014/main" id="{9199440B-17DD-6716-0FCC-EC3E2DFA6D3A}"/>
              </a:ext>
            </a:extLst>
          </p:cNvPr>
          <p:cNvSpPr txBox="1"/>
          <p:nvPr/>
        </p:nvSpPr>
        <p:spPr>
          <a:xfrm>
            <a:off x="8400435" y="3959002"/>
            <a:ext cx="2011680" cy="110799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a:ea typeface="+mn-ea"/>
                <a:cs typeface="+mn-cs"/>
              </a:rPr>
              <a:t>Regulatory and legal requirements are constantly evolving </a:t>
            </a:r>
          </a:p>
        </p:txBody>
      </p:sp>
      <p:sp>
        <p:nvSpPr>
          <p:cNvPr id="12" name="TextBox 11">
            <a:extLst>
              <a:ext uri="{FF2B5EF4-FFF2-40B4-BE49-F238E27FC236}">
                <a16:creationId xmlns:a16="http://schemas.microsoft.com/office/drawing/2014/main" id="{0F8A54F3-1EF5-E125-39DD-3D17DFA4DF3A}"/>
              </a:ext>
            </a:extLst>
          </p:cNvPr>
          <p:cNvSpPr txBox="1"/>
          <p:nvPr/>
        </p:nvSpPr>
        <p:spPr>
          <a:xfrm>
            <a:off x="1276316" y="3959002"/>
            <a:ext cx="2011680"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a:ea typeface="+mn-ea"/>
                <a:cs typeface="+mn-cs"/>
              </a:rPr>
              <a:t>Growing sophistication of attacks</a:t>
            </a:r>
          </a:p>
        </p:txBody>
      </p:sp>
      <p:sp>
        <p:nvSpPr>
          <p:cNvPr id="15" name="TextBox 14" descr="Drive to leverage data to unlock AI-driven scenarios &#10;">
            <a:extLst>
              <a:ext uri="{FF2B5EF4-FFF2-40B4-BE49-F238E27FC236}">
                <a16:creationId xmlns:a16="http://schemas.microsoft.com/office/drawing/2014/main" id="{BD3DAB6F-2338-B7FA-5426-2DBF2856FCFD}"/>
              </a:ext>
            </a:extLst>
          </p:cNvPr>
          <p:cNvSpPr txBox="1"/>
          <p:nvPr/>
        </p:nvSpPr>
        <p:spPr>
          <a:xfrm>
            <a:off x="3695245" y="3959002"/>
            <a:ext cx="2011680" cy="110799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a:ea typeface="+mn-ea"/>
                <a:cs typeface="+mn-cs"/>
              </a:rPr>
              <a:t>Explosion of AI scenarios requires a correct and secure access to data</a:t>
            </a:r>
          </a:p>
        </p:txBody>
      </p:sp>
      <p:sp>
        <p:nvSpPr>
          <p:cNvPr id="16" name="TextBox 15" descr="Data access demands from an increasingly dynamic workforce&#10;">
            <a:extLst>
              <a:ext uri="{FF2B5EF4-FFF2-40B4-BE49-F238E27FC236}">
                <a16:creationId xmlns:a16="http://schemas.microsoft.com/office/drawing/2014/main" id="{D57ECC58-6057-CFAD-A5C3-48DEED2FB76B}"/>
              </a:ext>
            </a:extLst>
          </p:cNvPr>
          <p:cNvSpPr txBox="1"/>
          <p:nvPr/>
        </p:nvSpPr>
        <p:spPr>
          <a:xfrm>
            <a:off x="6031691" y="3959002"/>
            <a:ext cx="2011680" cy="110799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a:ea typeface="+mn-ea"/>
                <a:cs typeface="+mn-cs"/>
              </a:rPr>
              <a:t>Data access demands from an increasingly dynamic workforce</a:t>
            </a:r>
          </a:p>
        </p:txBody>
      </p:sp>
      <p:pic>
        <p:nvPicPr>
          <p:cNvPr id="17" name="Picture 16" descr="A computer hacker with a hoodie and a computer&#10;&#10;Description automatically generated">
            <a:extLst>
              <a:ext uri="{FF2B5EF4-FFF2-40B4-BE49-F238E27FC236}">
                <a16:creationId xmlns:a16="http://schemas.microsoft.com/office/drawing/2014/main" id="{DD74079A-8775-6E88-0D6B-B2B497E00E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6143" y="2314890"/>
            <a:ext cx="1326842" cy="1326842"/>
          </a:xfrm>
          <a:prstGeom prst="rect">
            <a:avLst/>
          </a:prstGeom>
        </p:spPr>
      </p:pic>
      <p:pic>
        <p:nvPicPr>
          <p:cNvPr id="18" name="Picture 17" descr="A hand touching a finger&#10;&#10;Description automatically generated">
            <a:extLst>
              <a:ext uri="{FF2B5EF4-FFF2-40B4-BE49-F238E27FC236}">
                <a16:creationId xmlns:a16="http://schemas.microsoft.com/office/drawing/2014/main" id="{39354F98-B742-0438-3C23-87C7434ED2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5848" y="2314890"/>
            <a:ext cx="1325880" cy="1325880"/>
          </a:xfrm>
          <a:prstGeom prst="rect">
            <a:avLst/>
          </a:prstGeom>
        </p:spPr>
      </p:pic>
      <p:pic>
        <p:nvPicPr>
          <p:cNvPr id="19" name="Picture 18">
            <a:extLst>
              <a:ext uri="{FF2B5EF4-FFF2-40B4-BE49-F238E27FC236}">
                <a16:creationId xmlns:a16="http://schemas.microsoft.com/office/drawing/2014/main" id="{0971BD29-AB2F-3030-7BC6-73FF341D1980}"/>
              </a:ext>
            </a:extLst>
          </p:cNvPr>
          <p:cNvPicPr>
            <a:picLocks noChangeAspect="1"/>
          </p:cNvPicPr>
          <p:nvPr/>
        </p:nvPicPr>
        <p:blipFill>
          <a:blip r:embed="rId5"/>
          <a:stretch>
            <a:fillRect/>
          </a:stretch>
        </p:blipFill>
        <p:spPr>
          <a:xfrm>
            <a:off x="6374591" y="2314890"/>
            <a:ext cx="1325880" cy="1325880"/>
          </a:xfrm>
          <a:prstGeom prst="rect">
            <a:avLst/>
          </a:prstGeom>
        </p:spPr>
      </p:pic>
      <p:pic>
        <p:nvPicPr>
          <p:cNvPr id="20" name="Picture 19">
            <a:extLst>
              <a:ext uri="{FF2B5EF4-FFF2-40B4-BE49-F238E27FC236}">
                <a16:creationId xmlns:a16="http://schemas.microsoft.com/office/drawing/2014/main" id="{CAFEFFD1-4922-D21F-BD77-EF7F3A3193B4}"/>
              </a:ext>
            </a:extLst>
          </p:cNvPr>
          <p:cNvPicPr>
            <a:picLocks noChangeAspect="1"/>
          </p:cNvPicPr>
          <p:nvPr/>
        </p:nvPicPr>
        <p:blipFill>
          <a:blip r:embed="rId6"/>
          <a:stretch>
            <a:fillRect/>
          </a:stretch>
        </p:blipFill>
        <p:spPr>
          <a:xfrm>
            <a:off x="8743335" y="2314890"/>
            <a:ext cx="1325880" cy="1325880"/>
          </a:xfrm>
          <a:prstGeom prst="rect">
            <a:avLst/>
          </a:prstGeom>
        </p:spPr>
      </p:pic>
      <p:sp>
        <p:nvSpPr>
          <p:cNvPr id="2" name="Slide Number Placeholder 1">
            <a:extLst>
              <a:ext uri="{FF2B5EF4-FFF2-40B4-BE49-F238E27FC236}">
                <a16:creationId xmlns:a16="http://schemas.microsoft.com/office/drawing/2014/main" id="{9B002B55-B81A-5BD6-23D7-0DDBD2C4C819}"/>
              </a:ext>
            </a:extLst>
          </p:cNvPr>
          <p:cNvSpPr>
            <a:spLocks noGrp="1"/>
          </p:cNvSpPr>
          <p:nvPr>
            <p:ph type="sldNum" sz="quarter" idx="12"/>
          </p:nvPr>
        </p:nvSpPr>
        <p:spPr/>
        <p:txBody>
          <a:bodyPr/>
          <a:lstStyle/>
          <a:p>
            <a:fld id="{86889C5C-8171-4CA3-86B1-670B90C02708}" type="slidenum">
              <a:rPr lang="en-GB" smtClean="0"/>
              <a:t>8</a:t>
            </a:fld>
            <a:endParaRPr lang="en-GB"/>
          </a:p>
        </p:txBody>
      </p:sp>
      <p:sp>
        <p:nvSpPr>
          <p:cNvPr id="4" name="Explosion: 8 Points 3">
            <a:extLst>
              <a:ext uri="{FF2B5EF4-FFF2-40B4-BE49-F238E27FC236}">
                <a16:creationId xmlns:a16="http://schemas.microsoft.com/office/drawing/2014/main" id="{78C2489E-0605-4B48-96C1-EA57FEFDADBC}"/>
              </a:ext>
            </a:extLst>
          </p:cNvPr>
          <p:cNvSpPr/>
          <p:nvPr/>
        </p:nvSpPr>
        <p:spPr>
          <a:xfrm>
            <a:off x="540553" y="4850786"/>
            <a:ext cx="2743200" cy="1726142"/>
          </a:xfrm>
          <a:prstGeom prst="irregularSeal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The why….</a:t>
            </a:r>
          </a:p>
        </p:txBody>
      </p:sp>
    </p:spTree>
    <p:extLst>
      <p:ext uri="{BB962C8B-B14F-4D97-AF65-F5344CB8AC3E}">
        <p14:creationId xmlns:p14="http://schemas.microsoft.com/office/powerpoint/2010/main" val="130693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1000"/>
                                        <p:tgtEl>
                                          <p:spTgt spid="19"/>
                                        </p:tgtEl>
                                      </p:cBhvr>
                                    </p:animEffect>
                                    <p:anim calcmode="lin" valueType="num">
                                      <p:cBhvr>
                                        <p:cTn id="38" dur="1000" fill="hold"/>
                                        <p:tgtEl>
                                          <p:spTgt spid="19"/>
                                        </p:tgtEl>
                                        <p:attrNameLst>
                                          <p:attrName>ppt_x</p:attrName>
                                        </p:attrNameLst>
                                      </p:cBhvr>
                                      <p:tavLst>
                                        <p:tav tm="0">
                                          <p:val>
                                            <p:strVal val="#ppt_x"/>
                                          </p:val>
                                        </p:tav>
                                        <p:tav tm="100000">
                                          <p:val>
                                            <p:strVal val="#ppt_x"/>
                                          </p:val>
                                        </p:tav>
                                      </p:tavLst>
                                    </p:anim>
                                    <p:anim calcmode="lin" valueType="num">
                                      <p:cBhvr>
                                        <p:cTn id="39" dur="10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down)">
                                      <p:cBhvr>
                                        <p:cTn id="49" dur="580">
                                          <p:stCondLst>
                                            <p:cond delay="0"/>
                                          </p:stCondLst>
                                        </p:cTn>
                                        <p:tgtEl>
                                          <p:spTgt spid="4"/>
                                        </p:tgtEl>
                                      </p:cBhvr>
                                    </p:animEffect>
                                    <p:anim calcmode="lin" valueType="num">
                                      <p:cBhvr>
                                        <p:cTn id="5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55" dur="26">
                                          <p:stCondLst>
                                            <p:cond delay="650"/>
                                          </p:stCondLst>
                                        </p:cTn>
                                        <p:tgtEl>
                                          <p:spTgt spid="4"/>
                                        </p:tgtEl>
                                      </p:cBhvr>
                                      <p:to x="100000" y="60000"/>
                                    </p:animScale>
                                    <p:animScale>
                                      <p:cBhvr>
                                        <p:cTn id="56" dur="166" decel="50000">
                                          <p:stCondLst>
                                            <p:cond delay="676"/>
                                          </p:stCondLst>
                                        </p:cTn>
                                        <p:tgtEl>
                                          <p:spTgt spid="4"/>
                                        </p:tgtEl>
                                      </p:cBhvr>
                                      <p:to x="100000" y="100000"/>
                                    </p:animScale>
                                    <p:animScale>
                                      <p:cBhvr>
                                        <p:cTn id="57" dur="26">
                                          <p:stCondLst>
                                            <p:cond delay="1312"/>
                                          </p:stCondLst>
                                        </p:cTn>
                                        <p:tgtEl>
                                          <p:spTgt spid="4"/>
                                        </p:tgtEl>
                                      </p:cBhvr>
                                      <p:to x="100000" y="80000"/>
                                    </p:animScale>
                                    <p:animScale>
                                      <p:cBhvr>
                                        <p:cTn id="58" dur="166" decel="50000">
                                          <p:stCondLst>
                                            <p:cond delay="1338"/>
                                          </p:stCondLst>
                                        </p:cTn>
                                        <p:tgtEl>
                                          <p:spTgt spid="4"/>
                                        </p:tgtEl>
                                      </p:cBhvr>
                                      <p:to x="100000" y="100000"/>
                                    </p:animScale>
                                    <p:animScale>
                                      <p:cBhvr>
                                        <p:cTn id="59" dur="26">
                                          <p:stCondLst>
                                            <p:cond delay="1642"/>
                                          </p:stCondLst>
                                        </p:cTn>
                                        <p:tgtEl>
                                          <p:spTgt spid="4"/>
                                        </p:tgtEl>
                                      </p:cBhvr>
                                      <p:to x="100000" y="90000"/>
                                    </p:animScale>
                                    <p:animScale>
                                      <p:cBhvr>
                                        <p:cTn id="60" dur="166" decel="50000">
                                          <p:stCondLst>
                                            <p:cond delay="1668"/>
                                          </p:stCondLst>
                                        </p:cTn>
                                        <p:tgtEl>
                                          <p:spTgt spid="4"/>
                                        </p:tgtEl>
                                      </p:cBhvr>
                                      <p:to x="100000" y="100000"/>
                                    </p:animScale>
                                    <p:animScale>
                                      <p:cBhvr>
                                        <p:cTn id="61" dur="26">
                                          <p:stCondLst>
                                            <p:cond delay="1808"/>
                                          </p:stCondLst>
                                        </p:cTn>
                                        <p:tgtEl>
                                          <p:spTgt spid="4"/>
                                        </p:tgtEl>
                                      </p:cBhvr>
                                      <p:to x="100000" y="95000"/>
                                    </p:animScale>
                                    <p:animScale>
                                      <p:cBhvr>
                                        <p:cTn id="62"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5" grpId="0"/>
      <p:bldP spid="16"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How can I keep data secure?</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F43C85B-9E04-6E88-090B-43CBD48033C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4" name="TextBox 3">
            <a:extLst>
              <a:ext uri="{FF2B5EF4-FFF2-40B4-BE49-F238E27FC236}">
                <a16:creationId xmlns:a16="http://schemas.microsoft.com/office/drawing/2014/main" id="{9323C5ED-9834-D464-A22D-03568AB09CDD}"/>
              </a:ext>
            </a:extLst>
          </p:cNvPr>
          <p:cNvSpPr txBox="1"/>
          <p:nvPr/>
        </p:nvSpPr>
        <p:spPr>
          <a:xfrm>
            <a:off x="2607631" y="2862269"/>
            <a:ext cx="1770156" cy="830997"/>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panose="020B0502040204020203" pitchFamily="34" charset="0"/>
                <a:ea typeface="+mn-ea"/>
                <a:cs typeface="Segoe UI" panose="020B0502040204020203" pitchFamily="34" charset="0"/>
              </a:rPr>
              <a:t>Controlling and limiting access to data</a:t>
            </a:r>
          </a:p>
        </p:txBody>
      </p:sp>
      <p:sp>
        <p:nvSpPr>
          <p:cNvPr id="5" name="TextBox 4">
            <a:extLst>
              <a:ext uri="{FF2B5EF4-FFF2-40B4-BE49-F238E27FC236}">
                <a16:creationId xmlns:a16="http://schemas.microsoft.com/office/drawing/2014/main" id="{F569BA79-C860-4ABA-CF00-4F9AB6C59336}"/>
              </a:ext>
            </a:extLst>
          </p:cNvPr>
          <p:cNvSpPr txBox="1"/>
          <p:nvPr/>
        </p:nvSpPr>
        <p:spPr>
          <a:xfrm>
            <a:off x="4965194" y="2862269"/>
            <a:ext cx="1770156" cy="553998"/>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panose="020B0502040204020203" pitchFamily="34" charset="0"/>
                <a:ea typeface="+mn-ea"/>
                <a:cs typeface="Segoe UI" panose="020B0502040204020203" pitchFamily="34" charset="0"/>
              </a:rPr>
              <a:t>Preventing data exfiltration</a:t>
            </a:r>
          </a:p>
        </p:txBody>
      </p:sp>
      <p:sp>
        <p:nvSpPr>
          <p:cNvPr id="6" name="TextBox 5">
            <a:extLst>
              <a:ext uri="{FF2B5EF4-FFF2-40B4-BE49-F238E27FC236}">
                <a16:creationId xmlns:a16="http://schemas.microsoft.com/office/drawing/2014/main" id="{22E36D40-0DD2-5F28-F5D0-DE324B007207}"/>
              </a:ext>
            </a:extLst>
          </p:cNvPr>
          <p:cNvSpPr txBox="1"/>
          <p:nvPr/>
        </p:nvSpPr>
        <p:spPr>
          <a:xfrm>
            <a:off x="7322758" y="2862269"/>
            <a:ext cx="1770156" cy="1107996"/>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panose="020B0502040204020203" pitchFamily="34" charset="0"/>
                <a:ea typeface="+mn-ea"/>
                <a:cs typeface="Segoe UI" panose="020B0502040204020203" pitchFamily="34" charset="0"/>
              </a:rPr>
              <a:t>Staying compliant with standards and regulations</a:t>
            </a:r>
          </a:p>
        </p:txBody>
      </p:sp>
      <p:sp>
        <p:nvSpPr>
          <p:cNvPr id="7" name="TextBox 6">
            <a:extLst>
              <a:ext uri="{FF2B5EF4-FFF2-40B4-BE49-F238E27FC236}">
                <a16:creationId xmlns:a16="http://schemas.microsoft.com/office/drawing/2014/main" id="{8B288FB1-847E-0CE6-FE8B-A67C471ED3B2}"/>
              </a:ext>
            </a:extLst>
          </p:cNvPr>
          <p:cNvSpPr txBox="1"/>
          <p:nvPr/>
        </p:nvSpPr>
        <p:spPr>
          <a:xfrm>
            <a:off x="2548537" y="5442442"/>
            <a:ext cx="1770156" cy="830997"/>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panose="020B0502040204020203" pitchFamily="34" charset="0"/>
                <a:ea typeface="+mn-ea"/>
                <a:cs typeface="Segoe UI" panose="020B0502040204020203" pitchFamily="34" charset="0"/>
              </a:rPr>
              <a:t>Protecting data from external threats</a:t>
            </a:r>
          </a:p>
        </p:txBody>
      </p:sp>
      <p:sp>
        <p:nvSpPr>
          <p:cNvPr id="8" name="TextBox 7">
            <a:extLst>
              <a:ext uri="{FF2B5EF4-FFF2-40B4-BE49-F238E27FC236}">
                <a16:creationId xmlns:a16="http://schemas.microsoft.com/office/drawing/2014/main" id="{C5E7BD53-BFF0-F872-5F83-2EDED813D96C}"/>
              </a:ext>
            </a:extLst>
          </p:cNvPr>
          <p:cNvSpPr txBox="1"/>
          <p:nvPr/>
        </p:nvSpPr>
        <p:spPr>
          <a:xfrm>
            <a:off x="4935648" y="5442442"/>
            <a:ext cx="1770156" cy="553998"/>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panose="020B0502040204020203" pitchFamily="34" charset="0"/>
                <a:ea typeface="+mn-ea"/>
                <a:cs typeface="Segoe UI" panose="020B0502040204020203" pitchFamily="34" charset="0"/>
              </a:rPr>
              <a:t>Gaining visibility into user activity</a:t>
            </a:r>
          </a:p>
        </p:txBody>
      </p:sp>
      <p:sp>
        <p:nvSpPr>
          <p:cNvPr id="9" name="TextBox 8">
            <a:extLst>
              <a:ext uri="{FF2B5EF4-FFF2-40B4-BE49-F238E27FC236}">
                <a16:creationId xmlns:a16="http://schemas.microsoft.com/office/drawing/2014/main" id="{3A70A842-E62D-50DB-240D-C23820441F68}"/>
              </a:ext>
            </a:extLst>
          </p:cNvPr>
          <p:cNvSpPr txBox="1"/>
          <p:nvPr/>
        </p:nvSpPr>
        <p:spPr>
          <a:xfrm>
            <a:off x="7322758" y="5442442"/>
            <a:ext cx="1770156" cy="553998"/>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n-US" sz="1800" b="0" i="0" u="none" strike="noStrike" kern="1200" cap="none" spc="0" normalizeH="0" baseline="0" noProof="0" dirty="0">
                <a:ln>
                  <a:noFill/>
                </a:ln>
                <a:solidFill>
                  <a:schemeClr val="bg2"/>
                </a:solidFill>
                <a:effectLst/>
                <a:uLnTx/>
                <a:uFillTx/>
                <a:latin typeface="Segoe UI" panose="020B0502040204020203" pitchFamily="34" charset="0"/>
                <a:ea typeface="+mn-ea"/>
                <a:cs typeface="Segoe UI" panose="020B0502040204020203" pitchFamily="34" charset="0"/>
              </a:rPr>
              <a:t>Doing risks assessments</a:t>
            </a:r>
          </a:p>
        </p:txBody>
      </p:sp>
      <p:pic>
        <p:nvPicPr>
          <p:cNvPr id="10" name="Picture 9">
            <a:extLst>
              <a:ext uri="{FF2B5EF4-FFF2-40B4-BE49-F238E27FC236}">
                <a16:creationId xmlns:a16="http://schemas.microsoft.com/office/drawing/2014/main" id="{C7B5F258-6EED-1031-90AF-C08E7CAC832B}"/>
              </a:ext>
            </a:extLst>
          </p:cNvPr>
          <p:cNvPicPr>
            <a:picLocks noChangeAspect="1"/>
          </p:cNvPicPr>
          <p:nvPr/>
        </p:nvPicPr>
        <p:blipFill>
          <a:blip r:embed="rId3"/>
          <a:stretch>
            <a:fillRect/>
          </a:stretch>
        </p:blipFill>
        <p:spPr>
          <a:xfrm>
            <a:off x="2944069" y="1650328"/>
            <a:ext cx="1097280" cy="1097280"/>
          </a:xfrm>
          <a:prstGeom prst="rect">
            <a:avLst/>
          </a:prstGeom>
        </p:spPr>
      </p:pic>
      <p:pic>
        <p:nvPicPr>
          <p:cNvPr id="11" name="Picture 10">
            <a:extLst>
              <a:ext uri="{FF2B5EF4-FFF2-40B4-BE49-F238E27FC236}">
                <a16:creationId xmlns:a16="http://schemas.microsoft.com/office/drawing/2014/main" id="{2E1FF89D-94D6-9182-CC2A-0F0B839ACDAE}"/>
              </a:ext>
            </a:extLst>
          </p:cNvPr>
          <p:cNvPicPr>
            <a:picLocks noChangeAspect="1"/>
          </p:cNvPicPr>
          <p:nvPr/>
        </p:nvPicPr>
        <p:blipFill>
          <a:blip r:embed="rId4"/>
          <a:stretch>
            <a:fillRect/>
          </a:stretch>
        </p:blipFill>
        <p:spPr>
          <a:xfrm>
            <a:off x="5301633" y="1650328"/>
            <a:ext cx="1097280" cy="1097280"/>
          </a:xfrm>
          <a:prstGeom prst="rect">
            <a:avLst/>
          </a:prstGeom>
        </p:spPr>
      </p:pic>
      <p:pic>
        <p:nvPicPr>
          <p:cNvPr id="12" name="Picture 11">
            <a:extLst>
              <a:ext uri="{FF2B5EF4-FFF2-40B4-BE49-F238E27FC236}">
                <a16:creationId xmlns:a16="http://schemas.microsoft.com/office/drawing/2014/main" id="{6888872E-C95C-2F9F-D5D3-809D64F6E3A9}"/>
              </a:ext>
            </a:extLst>
          </p:cNvPr>
          <p:cNvPicPr>
            <a:picLocks noChangeAspect="1"/>
          </p:cNvPicPr>
          <p:nvPr/>
        </p:nvPicPr>
        <p:blipFill>
          <a:blip r:embed="rId5"/>
          <a:stretch>
            <a:fillRect/>
          </a:stretch>
        </p:blipFill>
        <p:spPr>
          <a:xfrm>
            <a:off x="7659196" y="1650328"/>
            <a:ext cx="1097280" cy="1097280"/>
          </a:xfrm>
          <a:prstGeom prst="rect">
            <a:avLst/>
          </a:prstGeom>
        </p:spPr>
      </p:pic>
      <p:pic>
        <p:nvPicPr>
          <p:cNvPr id="13" name="Picture 12" descr="A computer hacker with a hoodie and a computer&#10;&#10;Description automatically generated">
            <a:extLst>
              <a:ext uri="{FF2B5EF4-FFF2-40B4-BE49-F238E27FC236}">
                <a16:creationId xmlns:a16="http://schemas.microsoft.com/office/drawing/2014/main" id="{4BA2F34D-5225-9BB1-29C8-F306B4D492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4975" y="4238814"/>
            <a:ext cx="1097280" cy="1097280"/>
          </a:xfrm>
          <a:prstGeom prst="rect">
            <a:avLst/>
          </a:prstGeom>
        </p:spPr>
      </p:pic>
      <p:pic>
        <p:nvPicPr>
          <p:cNvPr id="14" name="Picture 13">
            <a:extLst>
              <a:ext uri="{FF2B5EF4-FFF2-40B4-BE49-F238E27FC236}">
                <a16:creationId xmlns:a16="http://schemas.microsoft.com/office/drawing/2014/main" id="{42B3FCF2-3024-D79F-55B5-4981E15651CE}"/>
              </a:ext>
            </a:extLst>
          </p:cNvPr>
          <p:cNvPicPr>
            <a:picLocks noChangeAspect="1"/>
          </p:cNvPicPr>
          <p:nvPr/>
        </p:nvPicPr>
        <p:blipFill>
          <a:blip r:embed="rId7"/>
          <a:stretch>
            <a:fillRect/>
          </a:stretch>
        </p:blipFill>
        <p:spPr>
          <a:xfrm>
            <a:off x="5272086" y="4238814"/>
            <a:ext cx="1097280" cy="1097280"/>
          </a:xfrm>
          <a:prstGeom prst="rect">
            <a:avLst/>
          </a:prstGeom>
        </p:spPr>
      </p:pic>
      <p:pic>
        <p:nvPicPr>
          <p:cNvPr id="15" name="Picture 14">
            <a:extLst>
              <a:ext uri="{FF2B5EF4-FFF2-40B4-BE49-F238E27FC236}">
                <a16:creationId xmlns:a16="http://schemas.microsoft.com/office/drawing/2014/main" id="{C55FBD9B-0528-179B-16F9-3C2A2705D856}"/>
              </a:ext>
            </a:extLst>
          </p:cNvPr>
          <p:cNvPicPr>
            <a:picLocks noChangeAspect="1"/>
          </p:cNvPicPr>
          <p:nvPr/>
        </p:nvPicPr>
        <p:blipFill>
          <a:blip r:embed="rId8"/>
          <a:stretch>
            <a:fillRect/>
          </a:stretch>
        </p:blipFill>
        <p:spPr>
          <a:xfrm>
            <a:off x="7659196" y="4238814"/>
            <a:ext cx="1097280" cy="1097280"/>
          </a:xfrm>
          <a:prstGeom prst="rect">
            <a:avLst/>
          </a:prstGeom>
        </p:spPr>
      </p:pic>
      <p:sp>
        <p:nvSpPr>
          <p:cNvPr id="2" name="Slide Number Placeholder 1">
            <a:extLst>
              <a:ext uri="{FF2B5EF4-FFF2-40B4-BE49-F238E27FC236}">
                <a16:creationId xmlns:a16="http://schemas.microsoft.com/office/drawing/2014/main" id="{CC3837F8-3686-75D8-537B-F2605540C8A6}"/>
              </a:ext>
            </a:extLst>
          </p:cNvPr>
          <p:cNvSpPr>
            <a:spLocks noGrp="1"/>
          </p:cNvSpPr>
          <p:nvPr>
            <p:ph type="sldNum" sz="quarter" idx="12"/>
          </p:nvPr>
        </p:nvSpPr>
        <p:spPr/>
        <p:txBody>
          <a:bodyPr/>
          <a:lstStyle/>
          <a:p>
            <a:fld id="{86889C5C-8171-4CA3-86B1-670B90C02708}" type="slidenum">
              <a:rPr lang="en-GB" smtClean="0"/>
              <a:t>9</a:t>
            </a:fld>
            <a:endParaRPr lang="en-GB"/>
          </a:p>
        </p:txBody>
      </p:sp>
      <p:sp>
        <p:nvSpPr>
          <p:cNvPr id="16" name="Explosion: 8 Points 15">
            <a:extLst>
              <a:ext uri="{FF2B5EF4-FFF2-40B4-BE49-F238E27FC236}">
                <a16:creationId xmlns:a16="http://schemas.microsoft.com/office/drawing/2014/main" id="{94F4C50E-167D-F71B-B57D-269AA8266070}"/>
              </a:ext>
            </a:extLst>
          </p:cNvPr>
          <p:cNvSpPr/>
          <p:nvPr/>
        </p:nvSpPr>
        <p:spPr>
          <a:xfrm>
            <a:off x="9191697" y="4131798"/>
            <a:ext cx="2743200" cy="1726142"/>
          </a:xfrm>
          <a:prstGeom prst="irregularSeal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The how….</a:t>
            </a:r>
          </a:p>
        </p:txBody>
      </p:sp>
    </p:spTree>
    <p:extLst>
      <p:ext uri="{BB962C8B-B14F-4D97-AF65-F5344CB8AC3E}">
        <p14:creationId xmlns:p14="http://schemas.microsoft.com/office/powerpoint/2010/main" val="84470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1000"/>
                                        <p:tgtEl>
                                          <p:spTgt spid="11"/>
                                        </p:tgtEl>
                                      </p:cBhvr>
                                    </p:animEffect>
                                    <p:anim calcmode="lin" valueType="num">
                                      <p:cBhvr>
                                        <p:cTn id="48" dur="1000" fill="hold"/>
                                        <p:tgtEl>
                                          <p:spTgt spid="11"/>
                                        </p:tgtEl>
                                        <p:attrNameLst>
                                          <p:attrName>ppt_x</p:attrName>
                                        </p:attrNameLst>
                                      </p:cBhvr>
                                      <p:tavLst>
                                        <p:tav tm="0">
                                          <p:val>
                                            <p:strVal val="#ppt_x"/>
                                          </p:val>
                                        </p:tav>
                                        <p:tav tm="100000">
                                          <p:val>
                                            <p:strVal val="#ppt_x"/>
                                          </p:val>
                                        </p:tav>
                                      </p:tavLst>
                                    </p:anim>
                                    <p:anim calcmode="lin" valueType="num">
                                      <p:cBhvr>
                                        <p:cTn id="49" dur="100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1000"/>
                                        <p:tgtEl>
                                          <p:spTgt spid="12"/>
                                        </p:tgtEl>
                                      </p:cBhvr>
                                    </p:animEffect>
                                    <p:anim calcmode="lin" valueType="num">
                                      <p:cBhvr>
                                        <p:cTn id="53" dur="1000" fill="hold"/>
                                        <p:tgtEl>
                                          <p:spTgt spid="12"/>
                                        </p:tgtEl>
                                        <p:attrNameLst>
                                          <p:attrName>ppt_x</p:attrName>
                                        </p:attrNameLst>
                                      </p:cBhvr>
                                      <p:tavLst>
                                        <p:tav tm="0">
                                          <p:val>
                                            <p:strVal val="#ppt_x"/>
                                          </p:val>
                                        </p:tav>
                                        <p:tav tm="100000">
                                          <p:val>
                                            <p:strVal val="#ppt_x"/>
                                          </p:val>
                                        </p:tav>
                                      </p:tavLst>
                                    </p:anim>
                                    <p:anim calcmode="lin" valueType="num">
                                      <p:cBhvr>
                                        <p:cTn id="54" dur="10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1000"/>
                                        <p:tgtEl>
                                          <p:spTgt spid="14"/>
                                        </p:tgtEl>
                                      </p:cBhvr>
                                    </p:animEffect>
                                    <p:anim calcmode="lin" valueType="num">
                                      <p:cBhvr>
                                        <p:cTn id="58" dur="1000" fill="hold"/>
                                        <p:tgtEl>
                                          <p:spTgt spid="14"/>
                                        </p:tgtEl>
                                        <p:attrNameLst>
                                          <p:attrName>ppt_x</p:attrName>
                                        </p:attrNameLst>
                                      </p:cBhvr>
                                      <p:tavLst>
                                        <p:tav tm="0">
                                          <p:val>
                                            <p:strVal val="#ppt_x"/>
                                          </p:val>
                                        </p:tav>
                                        <p:tav tm="100000">
                                          <p:val>
                                            <p:strVal val="#ppt_x"/>
                                          </p:val>
                                        </p:tav>
                                      </p:tavLst>
                                    </p:anim>
                                    <p:anim calcmode="lin" valueType="num">
                                      <p:cBhvr>
                                        <p:cTn id="59" dur="100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1000"/>
                                        <p:tgtEl>
                                          <p:spTgt spid="15"/>
                                        </p:tgtEl>
                                      </p:cBhvr>
                                    </p:animEffect>
                                    <p:anim calcmode="lin" valueType="num">
                                      <p:cBhvr>
                                        <p:cTn id="63" dur="1000" fill="hold"/>
                                        <p:tgtEl>
                                          <p:spTgt spid="15"/>
                                        </p:tgtEl>
                                        <p:attrNameLst>
                                          <p:attrName>ppt_x</p:attrName>
                                        </p:attrNameLst>
                                      </p:cBhvr>
                                      <p:tavLst>
                                        <p:tav tm="0">
                                          <p:val>
                                            <p:strVal val="#ppt_x"/>
                                          </p:val>
                                        </p:tav>
                                        <p:tav tm="100000">
                                          <p:val>
                                            <p:strVal val="#ppt_x"/>
                                          </p:val>
                                        </p:tav>
                                      </p:tavLst>
                                    </p:anim>
                                    <p:anim calcmode="lin" valueType="num">
                                      <p:cBhvr>
                                        <p:cTn id="6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down)">
                                      <p:cBhvr>
                                        <p:cTn id="69" dur="580">
                                          <p:stCondLst>
                                            <p:cond delay="0"/>
                                          </p:stCondLst>
                                        </p:cTn>
                                        <p:tgtEl>
                                          <p:spTgt spid="16"/>
                                        </p:tgtEl>
                                      </p:cBhvr>
                                    </p:animEffect>
                                    <p:anim calcmode="lin" valueType="num">
                                      <p:cBhvr>
                                        <p:cTn id="7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75" dur="26">
                                          <p:stCondLst>
                                            <p:cond delay="650"/>
                                          </p:stCondLst>
                                        </p:cTn>
                                        <p:tgtEl>
                                          <p:spTgt spid="16"/>
                                        </p:tgtEl>
                                      </p:cBhvr>
                                      <p:to x="100000" y="60000"/>
                                    </p:animScale>
                                    <p:animScale>
                                      <p:cBhvr>
                                        <p:cTn id="76" dur="166" decel="50000">
                                          <p:stCondLst>
                                            <p:cond delay="676"/>
                                          </p:stCondLst>
                                        </p:cTn>
                                        <p:tgtEl>
                                          <p:spTgt spid="16"/>
                                        </p:tgtEl>
                                      </p:cBhvr>
                                      <p:to x="100000" y="100000"/>
                                    </p:animScale>
                                    <p:animScale>
                                      <p:cBhvr>
                                        <p:cTn id="77" dur="26">
                                          <p:stCondLst>
                                            <p:cond delay="1312"/>
                                          </p:stCondLst>
                                        </p:cTn>
                                        <p:tgtEl>
                                          <p:spTgt spid="16"/>
                                        </p:tgtEl>
                                      </p:cBhvr>
                                      <p:to x="100000" y="80000"/>
                                    </p:animScale>
                                    <p:animScale>
                                      <p:cBhvr>
                                        <p:cTn id="78" dur="166" decel="50000">
                                          <p:stCondLst>
                                            <p:cond delay="1338"/>
                                          </p:stCondLst>
                                        </p:cTn>
                                        <p:tgtEl>
                                          <p:spTgt spid="16"/>
                                        </p:tgtEl>
                                      </p:cBhvr>
                                      <p:to x="100000" y="100000"/>
                                    </p:animScale>
                                    <p:animScale>
                                      <p:cBhvr>
                                        <p:cTn id="79" dur="26">
                                          <p:stCondLst>
                                            <p:cond delay="1642"/>
                                          </p:stCondLst>
                                        </p:cTn>
                                        <p:tgtEl>
                                          <p:spTgt spid="16"/>
                                        </p:tgtEl>
                                      </p:cBhvr>
                                      <p:to x="100000" y="90000"/>
                                    </p:animScale>
                                    <p:animScale>
                                      <p:cBhvr>
                                        <p:cTn id="80" dur="166" decel="50000">
                                          <p:stCondLst>
                                            <p:cond delay="1668"/>
                                          </p:stCondLst>
                                        </p:cTn>
                                        <p:tgtEl>
                                          <p:spTgt spid="16"/>
                                        </p:tgtEl>
                                      </p:cBhvr>
                                      <p:to x="100000" y="100000"/>
                                    </p:animScale>
                                    <p:animScale>
                                      <p:cBhvr>
                                        <p:cTn id="81" dur="26">
                                          <p:stCondLst>
                                            <p:cond delay="1808"/>
                                          </p:stCondLst>
                                        </p:cTn>
                                        <p:tgtEl>
                                          <p:spTgt spid="16"/>
                                        </p:tgtEl>
                                      </p:cBhvr>
                                      <p:to x="100000" y="95000"/>
                                    </p:animScale>
                                    <p:animScale>
                                      <p:cBhvr>
                                        <p:cTn id="82"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B10F73-E940-9500-56E4-03D8015A2FE4}"/>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92115C5-2A8B-F4C8-392A-53F544B88058}"/>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Top 10 No Code/Low Code security vulnerabilities</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9DD81E95-2EC3-C7E6-FD3A-CE635684517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1F53EEA5-A730-6056-4F90-A4A1CEFFEED6}"/>
              </a:ext>
            </a:extLst>
          </p:cNvPr>
          <p:cNvSpPr>
            <a:spLocks noGrp="1"/>
          </p:cNvSpPr>
          <p:nvPr>
            <p:ph type="sldNum" sz="quarter" idx="12"/>
          </p:nvPr>
        </p:nvSpPr>
        <p:spPr/>
        <p:txBody>
          <a:bodyPr/>
          <a:lstStyle/>
          <a:p>
            <a:fld id="{86889C5C-8171-4CA3-86B1-670B90C02708}" type="slidenum">
              <a:rPr lang="en-GB" smtClean="0"/>
              <a:t>10</a:t>
            </a:fld>
            <a:endParaRPr lang="en-GB"/>
          </a:p>
        </p:txBody>
      </p:sp>
      <p:sp>
        <p:nvSpPr>
          <p:cNvPr id="16" name="TextBox 4">
            <a:extLst>
              <a:ext uri="{FF2B5EF4-FFF2-40B4-BE49-F238E27FC236}">
                <a16:creationId xmlns:a16="http://schemas.microsoft.com/office/drawing/2014/main" id="{0BBF5E49-9F6C-892B-1E24-8454C881300E}"/>
              </a:ext>
            </a:extLst>
          </p:cNvPr>
          <p:cNvSpPr txBox="1"/>
          <p:nvPr/>
        </p:nvSpPr>
        <p:spPr>
          <a:xfrm>
            <a:off x="1448118" y="1729718"/>
            <a:ext cx="4846320" cy="3693319"/>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pPr>
            <a:endParaRPr lang="en-US" dirty="0">
              <a:solidFill>
                <a:schemeClr val="bg1"/>
              </a:solidFill>
              <a:latin typeface="Segoe UI" panose="020B0502040204020203" pitchFamily="34" charset="0"/>
              <a:ea typeface="Roboto" panose="02000000000000000000" pitchFamily="2" charset="0"/>
              <a:cs typeface="Segoe UI" panose="020B0502040204020203" pitchFamily="34" charset="0"/>
            </a:endParaRPr>
          </a:p>
          <a:p>
            <a:pPr lvl="0">
              <a:defRPr/>
            </a:pPr>
            <a:r>
              <a:rPr lang="en-US" dirty="0">
                <a:solidFill>
                  <a:schemeClr val="bg1"/>
                </a:solidFill>
                <a:latin typeface="Segoe UI" panose="020B0502040204020203" pitchFamily="34" charset="0"/>
                <a:cs typeface="Segoe UI" panose="020B0502040204020203" pitchFamily="34" charset="0"/>
              </a:rPr>
              <a:t>Account impersonation </a:t>
            </a:r>
          </a:p>
          <a:p>
            <a:pPr marL="171450" lvl="0" indent="-171450">
              <a:buFont typeface="Arial" panose="020B0604020202020204" pitchFamily="34" charset="0"/>
              <a:buChar char="•"/>
              <a:defRPr/>
            </a:pPr>
            <a:endParaRPr lang="en-US" dirty="0">
              <a:solidFill>
                <a:schemeClr val="bg1"/>
              </a:solidFill>
              <a:latin typeface="Segoe UI" panose="020B0502040204020203" pitchFamily="34" charset="0"/>
              <a:cs typeface="Segoe UI" panose="020B0502040204020203" pitchFamily="34" charset="0"/>
            </a:endParaRPr>
          </a:p>
          <a:p>
            <a:pPr lvl="0">
              <a:defRPr/>
            </a:pPr>
            <a:r>
              <a:rPr lang="en-US" dirty="0">
                <a:solidFill>
                  <a:schemeClr val="bg1"/>
                </a:solidFill>
                <a:latin typeface="Segoe UI" panose="020B0502040204020203" pitchFamily="34" charset="0"/>
                <a:cs typeface="Segoe UI" panose="020B0502040204020203" pitchFamily="34" charset="0"/>
              </a:rPr>
              <a:t>Misuse of authorization</a:t>
            </a:r>
          </a:p>
          <a:p>
            <a:pPr marL="171450" lvl="0" indent="-171450">
              <a:buFont typeface="Arial" panose="020B0604020202020204" pitchFamily="34" charset="0"/>
              <a:buChar char="•"/>
              <a:defRPr/>
            </a:pPr>
            <a:endParaRPr lang="en-US" dirty="0">
              <a:solidFill>
                <a:schemeClr val="bg1"/>
              </a:solidFill>
              <a:latin typeface="Segoe UI" panose="020B0502040204020203" pitchFamily="34" charset="0"/>
              <a:cs typeface="Segoe UI" panose="020B0502040204020203" pitchFamily="34" charset="0"/>
            </a:endParaRPr>
          </a:p>
          <a:p>
            <a:pPr lvl="0">
              <a:defRPr/>
            </a:pPr>
            <a:r>
              <a:rPr lang="en-US" dirty="0">
                <a:solidFill>
                  <a:schemeClr val="bg1"/>
                </a:solidFill>
                <a:latin typeface="Segoe UI" panose="020B0502040204020203" pitchFamily="34" charset="0"/>
                <a:cs typeface="Segoe UI" panose="020B0502040204020203" pitchFamily="34" charset="0"/>
              </a:rPr>
              <a:t>Data leakage and unexpected consequences</a:t>
            </a:r>
          </a:p>
          <a:p>
            <a:pPr lvl="0">
              <a:defRPr/>
            </a:pPr>
            <a:r>
              <a:rPr lang="en-US" dirty="0">
                <a:solidFill>
                  <a:schemeClr val="bg1"/>
                </a:solidFill>
                <a:latin typeface="Segoe UI" panose="020B0502040204020203" pitchFamily="34" charset="0"/>
                <a:cs typeface="Segoe UI" panose="020B0502040204020203" pitchFamily="34" charset="0"/>
              </a:rPr>
              <a:t> </a:t>
            </a:r>
          </a:p>
          <a:p>
            <a:pPr lvl="0">
              <a:defRPr/>
            </a:pPr>
            <a:r>
              <a:rPr lang="en-US" dirty="0">
                <a:solidFill>
                  <a:schemeClr val="bg1"/>
                </a:solidFill>
                <a:latin typeface="Segoe UI" panose="020B0502040204020203" pitchFamily="34" charset="0"/>
                <a:cs typeface="Segoe UI" panose="020B0502040204020203" pitchFamily="34" charset="0"/>
              </a:rPr>
              <a:t>Failures of authentication and secure communication</a:t>
            </a:r>
          </a:p>
          <a:p>
            <a:pPr marL="171450" lvl="0" indent="-171450">
              <a:buFont typeface="Arial" panose="020B0604020202020204" pitchFamily="34" charset="0"/>
              <a:buChar char="•"/>
              <a:defRPr/>
            </a:pPr>
            <a:endParaRPr lang="en-US" dirty="0">
              <a:solidFill>
                <a:schemeClr val="bg1"/>
              </a:solidFill>
              <a:latin typeface="Segoe UI" panose="020B0502040204020203" pitchFamily="34" charset="0"/>
              <a:cs typeface="Segoe UI" panose="020B0502040204020203" pitchFamily="34" charset="0"/>
            </a:endParaRPr>
          </a:p>
          <a:p>
            <a:pPr lvl="0">
              <a:defRPr/>
            </a:pPr>
            <a:r>
              <a:rPr lang="en-US" dirty="0">
                <a:solidFill>
                  <a:schemeClr val="bg1"/>
                </a:solidFill>
                <a:latin typeface="Segoe UI" panose="020B0502040204020203" pitchFamily="34" charset="0"/>
                <a:cs typeface="Segoe UI" panose="020B0502040204020203" pitchFamily="34" charset="0"/>
              </a:rPr>
              <a:t>Misconfigured security </a:t>
            </a:r>
          </a:p>
          <a:p>
            <a:pPr marL="285750" indent="-285750">
              <a:buClr>
                <a:schemeClr val="bg1"/>
              </a:buClr>
              <a:buFont typeface="Arial" panose="020B0604020202020204" pitchFamily="34" charset="0"/>
              <a:buChar char="•"/>
            </a:pPr>
            <a:endParaRPr lang="en-US" dirty="0"/>
          </a:p>
          <a:p>
            <a:pPr marL="285750" lvl="8" indent="-285750">
              <a:buClr>
                <a:schemeClr val="bg1"/>
              </a:buClr>
              <a:buFont typeface="Arial" panose="020B0604020202020204" pitchFamily="34" charset="0"/>
              <a:buChar char="•"/>
            </a:pPr>
            <a:endParaRPr lang="es-ES" dirty="0">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
        <p:nvSpPr>
          <p:cNvPr id="17" name="Flowchart: Connector 16">
            <a:extLst>
              <a:ext uri="{FF2B5EF4-FFF2-40B4-BE49-F238E27FC236}">
                <a16:creationId xmlns:a16="http://schemas.microsoft.com/office/drawing/2014/main" id="{37E09484-2F5F-1407-129A-EE57893D003F}"/>
              </a:ext>
            </a:extLst>
          </p:cNvPr>
          <p:cNvSpPr/>
          <p:nvPr/>
        </p:nvSpPr>
        <p:spPr>
          <a:xfrm>
            <a:off x="916513" y="198150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18" name="Flowchart: Connector 17">
            <a:extLst>
              <a:ext uri="{FF2B5EF4-FFF2-40B4-BE49-F238E27FC236}">
                <a16:creationId xmlns:a16="http://schemas.microsoft.com/office/drawing/2014/main" id="{F392E1BA-4E96-D6E6-78DE-A209B03AE534}"/>
              </a:ext>
            </a:extLst>
          </p:cNvPr>
          <p:cNvSpPr/>
          <p:nvPr/>
        </p:nvSpPr>
        <p:spPr>
          <a:xfrm>
            <a:off x="916513" y="257940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19" name="Flowchart: Connector 18">
            <a:extLst>
              <a:ext uri="{FF2B5EF4-FFF2-40B4-BE49-F238E27FC236}">
                <a16:creationId xmlns:a16="http://schemas.microsoft.com/office/drawing/2014/main" id="{D9927295-7EEE-81C5-FDEF-79092A71C536}"/>
              </a:ext>
            </a:extLst>
          </p:cNvPr>
          <p:cNvSpPr/>
          <p:nvPr/>
        </p:nvSpPr>
        <p:spPr>
          <a:xfrm>
            <a:off x="916513" y="316489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
        <p:nvSpPr>
          <p:cNvPr id="20" name="Flowchart: Connector 19">
            <a:extLst>
              <a:ext uri="{FF2B5EF4-FFF2-40B4-BE49-F238E27FC236}">
                <a16:creationId xmlns:a16="http://schemas.microsoft.com/office/drawing/2014/main" id="{CC162477-77A6-A56D-E217-45FE6A42893F}"/>
              </a:ext>
            </a:extLst>
          </p:cNvPr>
          <p:cNvSpPr/>
          <p:nvPr/>
        </p:nvSpPr>
        <p:spPr>
          <a:xfrm>
            <a:off x="916513" y="375038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4</a:t>
            </a:r>
            <a:endParaRPr lang="en-US" sz="1400"/>
          </a:p>
        </p:txBody>
      </p:sp>
      <p:sp>
        <p:nvSpPr>
          <p:cNvPr id="22" name="Flowchart: Connector 21">
            <a:extLst>
              <a:ext uri="{FF2B5EF4-FFF2-40B4-BE49-F238E27FC236}">
                <a16:creationId xmlns:a16="http://schemas.microsoft.com/office/drawing/2014/main" id="{3FFD26D0-1D77-BCE9-A0C6-09AB76D58D03}"/>
              </a:ext>
            </a:extLst>
          </p:cNvPr>
          <p:cNvSpPr/>
          <p:nvPr/>
        </p:nvSpPr>
        <p:spPr>
          <a:xfrm>
            <a:off x="924972" y="444777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5</a:t>
            </a:r>
            <a:endParaRPr lang="en-US" sz="1400"/>
          </a:p>
        </p:txBody>
      </p:sp>
      <p:sp>
        <p:nvSpPr>
          <p:cNvPr id="23" name="TextBox 4">
            <a:extLst>
              <a:ext uri="{FF2B5EF4-FFF2-40B4-BE49-F238E27FC236}">
                <a16:creationId xmlns:a16="http://schemas.microsoft.com/office/drawing/2014/main" id="{F1EDE75C-FA43-DDA2-5FF2-8283ED7D1516}"/>
              </a:ext>
            </a:extLst>
          </p:cNvPr>
          <p:cNvSpPr txBox="1"/>
          <p:nvPr/>
        </p:nvSpPr>
        <p:spPr>
          <a:xfrm>
            <a:off x="6859349" y="1720840"/>
            <a:ext cx="4846320" cy="3416320"/>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Injection handling failures </a:t>
            </a:r>
          </a:p>
          <a:p>
            <a:pP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Vulnerable and untrusted components </a:t>
            </a:r>
          </a:p>
          <a:p>
            <a:pP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Failure to handle data and secrets properly</a:t>
            </a:r>
          </a:p>
          <a:p>
            <a:pPr marL="171450" indent="-171450">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Failure to manage assets securely </a:t>
            </a:r>
          </a:p>
          <a:p>
            <a:pP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Failures of security logging and monitoring </a:t>
            </a:r>
          </a:p>
          <a:p>
            <a:pPr marL="285750" indent="-285750">
              <a:buClr>
                <a:schemeClr val="bg1"/>
              </a:buClr>
              <a:buFont typeface="Arial" panose="020B0604020202020204" pitchFamily="34" charset="0"/>
              <a:buChar char="•"/>
            </a:pPr>
            <a:endParaRPr lang="en-US"/>
          </a:p>
          <a:p>
            <a:pPr marL="285750" lvl="8"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
        <p:nvSpPr>
          <p:cNvPr id="24" name="Flowchart: Connector 23">
            <a:extLst>
              <a:ext uri="{FF2B5EF4-FFF2-40B4-BE49-F238E27FC236}">
                <a16:creationId xmlns:a16="http://schemas.microsoft.com/office/drawing/2014/main" id="{D8BA1277-4C0C-3E2A-9B3D-1E1815007C88}"/>
              </a:ext>
            </a:extLst>
          </p:cNvPr>
          <p:cNvSpPr/>
          <p:nvPr/>
        </p:nvSpPr>
        <p:spPr>
          <a:xfrm>
            <a:off x="6358465" y="198150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6</a:t>
            </a:r>
            <a:endParaRPr lang="en-US" sz="1400"/>
          </a:p>
        </p:txBody>
      </p:sp>
      <p:sp>
        <p:nvSpPr>
          <p:cNvPr id="25" name="Flowchart: Connector 24">
            <a:extLst>
              <a:ext uri="{FF2B5EF4-FFF2-40B4-BE49-F238E27FC236}">
                <a16:creationId xmlns:a16="http://schemas.microsoft.com/office/drawing/2014/main" id="{5207C451-BD67-7508-2148-6C65D8AE1B1D}"/>
              </a:ext>
            </a:extLst>
          </p:cNvPr>
          <p:cNvSpPr/>
          <p:nvPr/>
        </p:nvSpPr>
        <p:spPr>
          <a:xfrm>
            <a:off x="6358465" y="257940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7</a:t>
            </a:r>
            <a:endParaRPr lang="en-US" sz="1400"/>
          </a:p>
        </p:txBody>
      </p:sp>
      <p:sp>
        <p:nvSpPr>
          <p:cNvPr id="26" name="Flowchart: Connector 25">
            <a:extLst>
              <a:ext uri="{FF2B5EF4-FFF2-40B4-BE49-F238E27FC236}">
                <a16:creationId xmlns:a16="http://schemas.microsoft.com/office/drawing/2014/main" id="{4420A003-24E7-F8DA-DB29-0F80C0F40C5C}"/>
              </a:ext>
            </a:extLst>
          </p:cNvPr>
          <p:cNvSpPr/>
          <p:nvPr/>
        </p:nvSpPr>
        <p:spPr>
          <a:xfrm>
            <a:off x="6358465" y="314049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8</a:t>
            </a:r>
            <a:endParaRPr lang="en-US" sz="1400"/>
          </a:p>
        </p:txBody>
      </p:sp>
      <p:sp>
        <p:nvSpPr>
          <p:cNvPr id="27" name="Flowchart: Connector 26">
            <a:extLst>
              <a:ext uri="{FF2B5EF4-FFF2-40B4-BE49-F238E27FC236}">
                <a16:creationId xmlns:a16="http://schemas.microsoft.com/office/drawing/2014/main" id="{CA74D624-E3A5-6909-B7E6-DAFCD85E0BA6}"/>
              </a:ext>
            </a:extLst>
          </p:cNvPr>
          <p:cNvSpPr/>
          <p:nvPr/>
        </p:nvSpPr>
        <p:spPr>
          <a:xfrm>
            <a:off x="6358465" y="368094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9</a:t>
            </a:r>
            <a:endParaRPr lang="en-US" sz="1400"/>
          </a:p>
        </p:txBody>
      </p:sp>
      <p:sp>
        <p:nvSpPr>
          <p:cNvPr id="28" name="Flowchart: Connector 27">
            <a:extLst>
              <a:ext uri="{FF2B5EF4-FFF2-40B4-BE49-F238E27FC236}">
                <a16:creationId xmlns:a16="http://schemas.microsoft.com/office/drawing/2014/main" id="{3C415572-EEB3-5D68-B5D8-E4B568A64EE2}"/>
              </a:ext>
            </a:extLst>
          </p:cNvPr>
          <p:cNvSpPr/>
          <p:nvPr/>
        </p:nvSpPr>
        <p:spPr>
          <a:xfrm>
            <a:off x="6285702" y="4242038"/>
            <a:ext cx="557006"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10</a:t>
            </a:r>
            <a:endParaRPr lang="en-US" sz="1400"/>
          </a:p>
        </p:txBody>
      </p:sp>
      <p:sp>
        <p:nvSpPr>
          <p:cNvPr id="30" name="TextBox 29">
            <a:extLst>
              <a:ext uri="{FF2B5EF4-FFF2-40B4-BE49-F238E27FC236}">
                <a16:creationId xmlns:a16="http://schemas.microsoft.com/office/drawing/2014/main" id="{C5CE17A7-44A6-90A5-EE57-5008B3985440}"/>
              </a:ext>
            </a:extLst>
          </p:cNvPr>
          <p:cNvSpPr txBox="1"/>
          <p:nvPr/>
        </p:nvSpPr>
        <p:spPr>
          <a:xfrm>
            <a:off x="2768600" y="5385424"/>
            <a:ext cx="6096000" cy="338554"/>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hlinkClick r:id="rId3"/>
              </a:rPr>
              <a:t>OWASP Low-Code/No-Code Top 10 | OWASP Foundation</a:t>
            </a:r>
            <a:endParaRPr lang="en-US" sz="1600" dirty="0">
              <a:latin typeface="Segoe UI" panose="020B0502040204020203" pitchFamily="34" charset="0"/>
              <a:cs typeface="Segoe UI" panose="020B0502040204020203" pitchFamily="34" charset="0"/>
            </a:endParaRPr>
          </a:p>
        </p:txBody>
      </p:sp>
      <p:sp>
        <p:nvSpPr>
          <p:cNvPr id="4" name="Explosion: 8 Points 3">
            <a:extLst>
              <a:ext uri="{FF2B5EF4-FFF2-40B4-BE49-F238E27FC236}">
                <a16:creationId xmlns:a16="http://schemas.microsoft.com/office/drawing/2014/main" id="{D1A0E2CD-12F6-3998-8960-71ADA53DE8E2}"/>
              </a:ext>
            </a:extLst>
          </p:cNvPr>
          <p:cNvSpPr/>
          <p:nvPr/>
        </p:nvSpPr>
        <p:spPr>
          <a:xfrm>
            <a:off x="8954004" y="4798133"/>
            <a:ext cx="2743200" cy="1726142"/>
          </a:xfrm>
          <a:prstGeom prst="irregularSeal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The security problems…</a:t>
            </a:r>
          </a:p>
        </p:txBody>
      </p:sp>
    </p:spTree>
    <p:extLst>
      <p:ext uri="{BB962C8B-B14F-4D97-AF65-F5344CB8AC3E}">
        <p14:creationId xmlns:p14="http://schemas.microsoft.com/office/powerpoint/2010/main" val="76990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1000"/>
                                        <p:tgtEl>
                                          <p:spTgt spid="25"/>
                                        </p:tgtEl>
                                      </p:cBhvr>
                                    </p:animEffect>
                                    <p:anim calcmode="lin" valueType="num">
                                      <p:cBhvr>
                                        <p:cTn id="48" dur="1000" fill="hold"/>
                                        <p:tgtEl>
                                          <p:spTgt spid="25"/>
                                        </p:tgtEl>
                                        <p:attrNameLst>
                                          <p:attrName>ppt_x</p:attrName>
                                        </p:attrNameLst>
                                      </p:cBhvr>
                                      <p:tavLst>
                                        <p:tav tm="0">
                                          <p:val>
                                            <p:strVal val="#ppt_x"/>
                                          </p:val>
                                        </p:tav>
                                        <p:tav tm="100000">
                                          <p:val>
                                            <p:strVal val="#ppt_x"/>
                                          </p:val>
                                        </p:tav>
                                      </p:tavLst>
                                    </p:anim>
                                    <p:anim calcmode="lin" valueType="num">
                                      <p:cBhvr>
                                        <p:cTn id="49" dur="1000" fill="hold"/>
                                        <p:tgtEl>
                                          <p:spTgt spid="25"/>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1000"/>
                                        <p:tgtEl>
                                          <p:spTgt spid="26"/>
                                        </p:tgtEl>
                                      </p:cBhvr>
                                    </p:animEffect>
                                    <p:anim calcmode="lin" valueType="num">
                                      <p:cBhvr>
                                        <p:cTn id="53" dur="1000" fill="hold"/>
                                        <p:tgtEl>
                                          <p:spTgt spid="26"/>
                                        </p:tgtEl>
                                        <p:attrNameLst>
                                          <p:attrName>ppt_x</p:attrName>
                                        </p:attrNameLst>
                                      </p:cBhvr>
                                      <p:tavLst>
                                        <p:tav tm="0">
                                          <p:val>
                                            <p:strVal val="#ppt_x"/>
                                          </p:val>
                                        </p:tav>
                                        <p:tav tm="100000">
                                          <p:val>
                                            <p:strVal val="#ppt_x"/>
                                          </p:val>
                                        </p:tav>
                                      </p:tavLst>
                                    </p:anim>
                                    <p:anim calcmode="lin" valueType="num">
                                      <p:cBhvr>
                                        <p:cTn id="54" dur="1000" fill="hold"/>
                                        <p:tgtEl>
                                          <p:spTgt spid="2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1000"/>
                                        <p:tgtEl>
                                          <p:spTgt spid="27"/>
                                        </p:tgtEl>
                                      </p:cBhvr>
                                    </p:animEffect>
                                    <p:anim calcmode="lin" valueType="num">
                                      <p:cBhvr>
                                        <p:cTn id="58" dur="1000" fill="hold"/>
                                        <p:tgtEl>
                                          <p:spTgt spid="27"/>
                                        </p:tgtEl>
                                        <p:attrNameLst>
                                          <p:attrName>ppt_x</p:attrName>
                                        </p:attrNameLst>
                                      </p:cBhvr>
                                      <p:tavLst>
                                        <p:tav tm="0">
                                          <p:val>
                                            <p:strVal val="#ppt_x"/>
                                          </p:val>
                                        </p:tav>
                                        <p:tav tm="100000">
                                          <p:val>
                                            <p:strVal val="#ppt_x"/>
                                          </p:val>
                                        </p:tav>
                                      </p:tavLst>
                                    </p:anim>
                                    <p:anim calcmode="lin" valueType="num">
                                      <p:cBhvr>
                                        <p:cTn id="59" dur="1000" fill="hold"/>
                                        <p:tgtEl>
                                          <p:spTgt spid="2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1000"/>
                                        <p:tgtEl>
                                          <p:spTgt spid="28"/>
                                        </p:tgtEl>
                                      </p:cBhvr>
                                    </p:animEffect>
                                    <p:anim calcmode="lin" valueType="num">
                                      <p:cBhvr>
                                        <p:cTn id="63" dur="1000" fill="hold"/>
                                        <p:tgtEl>
                                          <p:spTgt spid="28"/>
                                        </p:tgtEl>
                                        <p:attrNameLst>
                                          <p:attrName>ppt_x</p:attrName>
                                        </p:attrNameLst>
                                      </p:cBhvr>
                                      <p:tavLst>
                                        <p:tav tm="0">
                                          <p:val>
                                            <p:strVal val="#ppt_x"/>
                                          </p:val>
                                        </p:tav>
                                        <p:tav tm="100000">
                                          <p:val>
                                            <p:strVal val="#ppt_x"/>
                                          </p:val>
                                        </p:tav>
                                      </p:tavLst>
                                    </p:anim>
                                    <p:anim calcmode="lin" valueType="num">
                                      <p:cBhvr>
                                        <p:cTn id="64" dur="1000" fill="hold"/>
                                        <p:tgtEl>
                                          <p:spTgt spid="28"/>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1000"/>
                                        <p:tgtEl>
                                          <p:spTgt spid="30"/>
                                        </p:tgtEl>
                                      </p:cBhvr>
                                    </p:animEffect>
                                    <p:anim calcmode="lin" valueType="num">
                                      <p:cBhvr>
                                        <p:cTn id="68" dur="1000" fill="hold"/>
                                        <p:tgtEl>
                                          <p:spTgt spid="30"/>
                                        </p:tgtEl>
                                        <p:attrNameLst>
                                          <p:attrName>ppt_x</p:attrName>
                                        </p:attrNameLst>
                                      </p:cBhvr>
                                      <p:tavLst>
                                        <p:tav tm="0">
                                          <p:val>
                                            <p:strVal val="#ppt_x"/>
                                          </p:val>
                                        </p:tav>
                                        <p:tav tm="100000">
                                          <p:val>
                                            <p:strVal val="#ppt_x"/>
                                          </p:val>
                                        </p:tav>
                                      </p:tavLst>
                                    </p:anim>
                                    <p:anim calcmode="lin" valueType="num">
                                      <p:cBhvr>
                                        <p:cTn id="6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6" presetClass="entr" presetSubtype="0" fill="hold" grpId="0"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down)">
                                      <p:cBhvr>
                                        <p:cTn id="74" dur="580">
                                          <p:stCondLst>
                                            <p:cond delay="0"/>
                                          </p:stCondLst>
                                        </p:cTn>
                                        <p:tgtEl>
                                          <p:spTgt spid="4"/>
                                        </p:tgtEl>
                                      </p:cBhvr>
                                    </p:animEffect>
                                    <p:anim calcmode="lin" valueType="num">
                                      <p:cBhvr>
                                        <p:cTn id="7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7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7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7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7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80" dur="26">
                                          <p:stCondLst>
                                            <p:cond delay="650"/>
                                          </p:stCondLst>
                                        </p:cTn>
                                        <p:tgtEl>
                                          <p:spTgt spid="4"/>
                                        </p:tgtEl>
                                      </p:cBhvr>
                                      <p:to x="100000" y="60000"/>
                                    </p:animScale>
                                    <p:animScale>
                                      <p:cBhvr>
                                        <p:cTn id="81" dur="166" decel="50000">
                                          <p:stCondLst>
                                            <p:cond delay="676"/>
                                          </p:stCondLst>
                                        </p:cTn>
                                        <p:tgtEl>
                                          <p:spTgt spid="4"/>
                                        </p:tgtEl>
                                      </p:cBhvr>
                                      <p:to x="100000" y="100000"/>
                                    </p:animScale>
                                    <p:animScale>
                                      <p:cBhvr>
                                        <p:cTn id="82" dur="26">
                                          <p:stCondLst>
                                            <p:cond delay="1312"/>
                                          </p:stCondLst>
                                        </p:cTn>
                                        <p:tgtEl>
                                          <p:spTgt spid="4"/>
                                        </p:tgtEl>
                                      </p:cBhvr>
                                      <p:to x="100000" y="80000"/>
                                    </p:animScale>
                                    <p:animScale>
                                      <p:cBhvr>
                                        <p:cTn id="83" dur="166" decel="50000">
                                          <p:stCondLst>
                                            <p:cond delay="1338"/>
                                          </p:stCondLst>
                                        </p:cTn>
                                        <p:tgtEl>
                                          <p:spTgt spid="4"/>
                                        </p:tgtEl>
                                      </p:cBhvr>
                                      <p:to x="100000" y="100000"/>
                                    </p:animScale>
                                    <p:animScale>
                                      <p:cBhvr>
                                        <p:cTn id="84" dur="26">
                                          <p:stCondLst>
                                            <p:cond delay="1642"/>
                                          </p:stCondLst>
                                        </p:cTn>
                                        <p:tgtEl>
                                          <p:spTgt spid="4"/>
                                        </p:tgtEl>
                                      </p:cBhvr>
                                      <p:to x="100000" y="90000"/>
                                    </p:animScale>
                                    <p:animScale>
                                      <p:cBhvr>
                                        <p:cTn id="85" dur="166" decel="50000">
                                          <p:stCondLst>
                                            <p:cond delay="1668"/>
                                          </p:stCondLst>
                                        </p:cTn>
                                        <p:tgtEl>
                                          <p:spTgt spid="4"/>
                                        </p:tgtEl>
                                      </p:cBhvr>
                                      <p:to x="100000" y="100000"/>
                                    </p:animScale>
                                    <p:animScale>
                                      <p:cBhvr>
                                        <p:cTn id="86" dur="26">
                                          <p:stCondLst>
                                            <p:cond delay="1808"/>
                                          </p:stCondLst>
                                        </p:cTn>
                                        <p:tgtEl>
                                          <p:spTgt spid="4"/>
                                        </p:tgtEl>
                                      </p:cBhvr>
                                      <p:to x="100000" y="95000"/>
                                    </p:animScale>
                                    <p:animScale>
                                      <p:cBhvr>
                                        <p:cTn id="87"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animBg="1"/>
      <p:bldP spid="19" grpId="0" animBg="1"/>
      <p:bldP spid="20" grpId="0" animBg="1"/>
      <p:bldP spid="22" grpId="0" animBg="1"/>
      <p:bldP spid="23" grpId="0"/>
      <p:bldP spid="24" grpId="0" animBg="1"/>
      <p:bldP spid="25" grpId="0" animBg="1"/>
      <p:bldP spid="26" grpId="0" animBg="1"/>
      <p:bldP spid="27" grpId="0" animBg="1"/>
      <p:bldP spid="28" grpId="0" animBg="1"/>
      <p:bldP spid="30" grpId="0"/>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Managed Security in the Power Platform</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F43C85B-9E04-6E88-090B-43CBD48033C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8E7D1639-A5A8-C4D5-95B3-300C1F80A1D4}"/>
              </a:ext>
            </a:extLst>
          </p:cNvPr>
          <p:cNvSpPr>
            <a:spLocks noGrp="1"/>
          </p:cNvSpPr>
          <p:nvPr>
            <p:ph type="sldNum" sz="quarter" idx="12"/>
          </p:nvPr>
        </p:nvSpPr>
        <p:spPr/>
        <p:txBody>
          <a:bodyPr/>
          <a:lstStyle/>
          <a:p>
            <a:fld id="{86889C5C-8171-4CA3-86B1-670B90C02708}" type="slidenum">
              <a:rPr lang="en-GB" smtClean="0"/>
              <a:t>11</a:t>
            </a:fld>
            <a:endParaRPr lang="en-GB"/>
          </a:p>
        </p:txBody>
      </p:sp>
      <p:sp>
        <p:nvSpPr>
          <p:cNvPr id="9" name="TextBox 8">
            <a:extLst>
              <a:ext uri="{FF2B5EF4-FFF2-40B4-BE49-F238E27FC236}">
                <a16:creationId xmlns:a16="http://schemas.microsoft.com/office/drawing/2014/main" id="{8A6314A7-D3CC-C28F-0355-5A6760796039}"/>
              </a:ext>
            </a:extLst>
          </p:cNvPr>
          <p:cNvSpPr txBox="1"/>
          <p:nvPr/>
        </p:nvSpPr>
        <p:spPr>
          <a:xfrm>
            <a:off x="1707946" y="1028226"/>
            <a:ext cx="8514849" cy="400110"/>
          </a:xfrm>
          <a:prstGeom prst="rect">
            <a:avLst/>
          </a:prstGeom>
          <a:noFill/>
        </p:spPr>
        <p:txBody>
          <a:bodyPr wrap="square" rtlCol="0">
            <a:spAutoFit/>
          </a:bodyPr>
          <a:lstStyle/>
          <a:p>
            <a:pPr algn="ctr">
              <a:defRPr/>
            </a:pPr>
            <a:r>
              <a:rPr lang="en-US" sz="2000" dirty="0">
                <a:solidFill>
                  <a:schemeClr val="bg1"/>
                </a:solidFill>
                <a:latin typeface="Segoe UI" panose="020B0502040204020203" pitchFamily="34" charset="0"/>
                <a:cs typeface="Segoe UI" panose="020B0502040204020203" pitchFamily="34" charset="0"/>
              </a:rPr>
              <a:t>Advanced protection for an AI-driven world</a:t>
            </a:r>
          </a:p>
        </p:txBody>
      </p:sp>
      <p:sp>
        <p:nvSpPr>
          <p:cNvPr id="29" name="Rounded Rectangle 23">
            <a:extLst>
              <a:ext uri="{FF2B5EF4-FFF2-40B4-BE49-F238E27FC236}">
                <a16:creationId xmlns:a16="http://schemas.microsoft.com/office/drawing/2014/main" id="{520FE9AC-E125-3DB3-71DB-866BEC644399}"/>
              </a:ext>
            </a:extLst>
          </p:cNvPr>
          <p:cNvSpPr/>
          <p:nvPr/>
        </p:nvSpPr>
        <p:spPr>
          <a:xfrm>
            <a:off x="9493866" y="1410372"/>
            <a:ext cx="2143759" cy="5227496"/>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chemeClr val="bg1"/>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AI-powered detection and monitoring to address and prevent security risks.</a:t>
            </a: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rgbClr val="000000"/>
                </a:solidFill>
                <a:latin typeface="Segoe UI" panose="020B0502040204020203" pitchFamily="34" charset="0"/>
                <a:cs typeface="Segoe UI" panose="020B0502040204020203" pitchFamily="34" charset="0"/>
              </a:rPr>
              <a:t> </a:t>
            </a:r>
          </a:p>
        </p:txBody>
      </p:sp>
      <p:sp>
        <p:nvSpPr>
          <p:cNvPr id="30" name="Rounded Rectangle 23">
            <a:extLst>
              <a:ext uri="{FF2B5EF4-FFF2-40B4-BE49-F238E27FC236}">
                <a16:creationId xmlns:a16="http://schemas.microsoft.com/office/drawing/2014/main" id="{C544304C-3BFD-9165-FE0B-510AB67ACA94}"/>
              </a:ext>
            </a:extLst>
          </p:cNvPr>
          <p:cNvSpPr/>
          <p:nvPr/>
        </p:nvSpPr>
        <p:spPr>
          <a:xfrm>
            <a:off x="2746702" y="1411508"/>
            <a:ext cx="2143759" cy="5226377"/>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dirty="0">
              <a:solidFill>
                <a:srgbClr val="000000"/>
              </a:solidFill>
              <a:latin typeface="Segoe UI" panose="020B0502040204020203" pitchFamily="34" charset="0"/>
              <a:cs typeface="Segoe UI" panose="020B0502040204020203" pitchFamily="34" charset="0"/>
            </a:endParaRPr>
          </a:p>
          <a:p>
            <a:pPr algn="ctr" defTabSz="914367"/>
            <a:endParaRPr lang="en-US" sz="1200" dirty="0">
              <a:solidFill>
                <a:srgbClr val="000000"/>
              </a:solidFill>
              <a:latin typeface="Segoe UI" panose="020B0502040204020203" pitchFamily="34" charset="0"/>
              <a:cs typeface="Segoe UI" panose="020B0502040204020203" pitchFamily="34" charset="0"/>
            </a:endParaRPr>
          </a:p>
          <a:p>
            <a:pPr algn="ctr" defTabSz="914367"/>
            <a:endParaRPr lang="en-US" sz="1200" dirty="0">
              <a:solidFill>
                <a:srgbClr val="000000"/>
              </a:solidFill>
              <a:latin typeface="Segoe UI" panose="020B0502040204020203" pitchFamily="34" charset="0"/>
              <a:cs typeface="Segoe UI" panose="020B0502040204020203" pitchFamily="34" charset="0"/>
            </a:endParaRPr>
          </a:p>
          <a:p>
            <a:pPr algn="ctr" defTabSz="914367"/>
            <a:r>
              <a:rPr lang="en-US" sz="1200" dirty="0">
                <a:solidFill>
                  <a:schemeClr val="bg1"/>
                </a:solidFill>
                <a:latin typeface="Segoe UI" panose="020B0502040204020203" pitchFamily="34" charset="0"/>
                <a:cs typeface="Segoe UI" panose="020B0502040204020203" pitchFamily="34" charset="0"/>
              </a:rPr>
              <a:t>Robust controls to ensure confidentiality and encryption, ensuring security of sensitive information. </a:t>
            </a:r>
          </a:p>
          <a:p>
            <a:pPr algn="ctr" defTabSz="914367"/>
            <a:endParaRPr lang="en-US" sz="1200" dirty="0">
              <a:solidFill>
                <a:srgbClr val="000000"/>
              </a:solidFill>
              <a:latin typeface="Segoe UI" panose="020B0502040204020203" pitchFamily="34" charset="0"/>
              <a:cs typeface="Segoe UI" panose="020B0502040204020203" pitchFamily="34" charset="0"/>
            </a:endParaRPr>
          </a:p>
          <a:p>
            <a:pPr>
              <a:defRPr/>
            </a:pPr>
            <a:endParaRPr lang="en-US" sz="1200" b="1" dirty="0">
              <a:solidFill>
                <a:srgbClr val="000000"/>
              </a:solidFill>
              <a:latin typeface="Segoe UI" panose="020B0502040204020203" pitchFamily="34" charset="0"/>
              <a:cs typeface="Segoe UI" panose="020B0502040204020203" pitchFamily="34" charset="0"/>
            </a:endParaRPr>
          </a:p>
          <a:p>
            <a:pPr algn="ctr">
              <a:defRPr/>
            </a:pPr>
            <a:endParaRPr lang="en-US" sz="1200" dirty="0">
              <a:solidFill>
                <a:srgbClr val="000000"/>
              </a:solidFill>
              <a:latin typeface="Segoe UI" panose="020B0502040204020203" pitchFamily="34" charset="0"/>
              <a:cs typeface="Segoe UI" panose="020B0502040204020203" pitchFamily="34" charset="0"/>
            </a:endParaRPr>
          </a:p>
        </p:txBody>
      </p:sp>
      <p:sp>
        <p:nvSpPr>
          <p:cNvPr id="31" name="Rounded Rectangle 23">
            <a:extLst>
              <a:ext uri="{FF2B5EF4-FFF2-40B4-BE49-F238E27FC236}">
                <a16:creationId xmlns:a16="http://schemas.microsoft.com/office/drawing/2014/main" id="{FC184022-A96B-078D-14AC-781E7D77965D}"/>
              </a:ext>
            </a:extLst>
          </p:cNvPr>
          <p:cNvSpPr/>
          <p:nvPr/>
        </p:nvSpPr>
        <p:spPr>
          <a:xfrm>
            <a:off x="4991138" y="1409855"/>
            <a:ext cx="2143759" cy="5228006"/>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a:defRPr/>
            </a:pPr>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Seamless and adaptive tools to ensure only authorized resource and data access. </a:t>
            </a: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p:txBody>
      </p:sp>
      <p:sp>
        <p:nvSpPr>
          <p:cNvPr id="32" name="Rounded Rectangle 23">
            <a:extLst>
              <a:ext uri="{FF2B5EF4-FFF2-40B4-BE49-F238E27FC236}">
                <a16:creationId xmlns:a16="http://schemas.microsoft.com/office/drawing/2014/main" id="{D8331791-465B-0659-792B-FE083B548112}"/>
              </a:ext>
            </a:extLst>
          </p:cNvPr>
          <p:cNvSpPr/>
          <p:nvPr/>
        </p:nvSpPr>
        <p:spPr>
          <a:xfrm>
            <a:off x="7239126" y="1409857"/>
            <a:ext cx="2143759" cy="5228003"/>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chemeClr val="bg1"/>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Assured visibility and adherence to industry and regional regulatory requirements</a:t>
            </a:r>
            <a:r>
              <a:rPr lang="en-US" sz="1200">
                <a:solidFill>
                  <a:srgbClr val="000000"/>
                </a:solidFill>
                <a:latin typeface="Segoe UI" panose="020B0502040204020203" pitchFamily="34" charset="0"/>
                <a:cs typeface="Segoe UI" panose="020B0502040204020203" pitchFamily="34" charset="0"/>
              </a:rPr>
              <a:t>. </a:t>
            </a:r>
          </a:p>
          <a:p>
            <a:pPr algn="ctr" defTabSz="914367"/>
            <a:endParaRPr lang="en-US" sz="1200">
              <a:solidFill>
                <a:srgbClr val="000000"/>
              </a:solidFill>
              <a:latin typeface="Segoe UI" panose="020B0502040204020203" pitchFamily="34" charset="0"/>
              <a:cs typeface="Segoe UI" panose="020B0502040204020203" pitchFamily="34" charset="0"/>
            </a:endParaRPr>
          </a:p>
        </p:txBody>
      </p:sp>
      <p:sp>
        <p:nvSpPr>
          <p:cNvPr id="33" name="Rounded Rectangle 23">
            <a:extLst>
              <a:ext uri="{FF2B5EF4-FFF2-40B4-BE49-F238E27FC236}">
                <a16:creationId xmlns:a16="http://schemas.microsoft.com/office/drawing/2014/main" id="{44409956-8639-0A74-3E55-4B2C275EDA9E}"/>
              </a:ext>
            </a:extLst>
          </p:cNvPr>
          <p:cNvSpPr/>
          <p:nvPr/>
        </p:nvSpPr>
        <p:spPr>
          <a:xfrm>
            <a:off x="477910" y="1412126"/>
            <a:ext cx="2143759" cy="5225769"/>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Intelligent guidance for scalable and efficient enterprise-grade security</a:t>
            </a:r>
            <a:r>
              <a:rPr lang="en-US" sz="1200">
                <a:solidFill>
                  <a:srgbClr val="000000"/>
                </a:solidFill>
                <a:latin typeface="Segoe UI" panose="020B0502040204020203" pitchFamily="34" charset="0"/>
                <a:cs typeface="Segoe UI" panose="020B0502040204020203" pitchFamily="34" charset="0"/>
              </a:rPr>
              <a:t>.</a:t>
            </a: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rgbClr val="000000"/>
                </a:solidFill>
                <a:latin typeface="Segoe UI" panose="020B0502040204020203" pitchFamily="34" charset="0"/>
                <a:cs typeface="Segoe UI" panose="020B0502040204020203" pitchFamily="34" charset="0"/>
              </a:rPr>
              <a:t> </a:t>
            </a:r>
          </a:p>
        </p:txBody>
      </p:sp>
      <p:sp>
        <p:nvSpPr>
          <p:cNvPr id="34" name="TextBox 33">
            <a:extLst>
              <a:ext uri="{FF2B5EF4-FFF2-40B4-BE49-F238E27FC236}">
                <a16:creationId xmlns:a16="http://schemas.microsoft.com/office/drawing/2014/main" id="{08739A1D-9424-60F4-A94C-AABB4ED15E91}"/>
              </a:ext>
              <a:ext uri="{C183D7F6-B498-43B3-948B-1728B52AA6E4}">
                <adec:decorative xmlns:adec="http://schemas.microsoft.com/office/drawing/2017/decorative" val="1"/>
              </a:ext>
            </a:extLst>
          </p:cNvPr>
          <p:cNvSpPr txBox="1"/>
          <p:nvPr/>
        </p:nvSpPr>
        <p:spPr>
          <a:xfrm>
            <a:off x="9733256" y="1602596"/>
            <a:ext cx="1720806" cy="307777"/>
          </a:xfrm>
          <a:prstGeom prst="rect">
            <a:avLst/>
          </a:prstGeom>
          <a:noFill/>
        </p:spPr>
        <p:txBody>
          <a:bodyPr wrap="square">
            <a:spAutoFit/>
          </a:bodyPr>
          <a:lstStyle/>
          <a:p>
            <a:pPr algn="ctr" defTabSz="914367"/>
            <a:endParaRPr lang="en-US" sz="1400" b="1">
              <a:solidFill>
                <a:srgbClr val="000000"/>
              </a:solidFill>
              <a:latin typeface="Segoe UI" panose="020B0502040204020203" pitchFamily="34" charset="0"/>
              <a:cs typeface="Segoe UI" panose="020B0502040204020203" pitchFamily="34" charset="0"/>
            </a:endParaRPr>
          </a:p>
        </p:txBody>
      </p:sp>
      <p:sp>
        <p:nvSpPr>
          <p:cNvPr id="35" name="TextBox 34">
            <a:extLst>
              <a:ext uri="{FF2B5EF4-FFF2-40B4-BE49-F238E27FC236}">
                <a16:creationId xmlns:a16="http://schemas.microsoft.com/office/drawing/2014/main" id="{C1BE3BE2-D369-197B-A518-FE339A2AD6DD}"/>
              </a:ext>
              <a:ext uri="{C183D7F6-B498-43B3-948B-1728B52AA6E4}">
                <adec:decorative xmlns:adec="http://schemas.microsoft.com/office/drawing/2017/decorative" val="1"/>
              </a:ext>
            </a:extLst>
          </p:cNvPr>
          <p:cNvSpPr txBox="1"/>
          <p:nvPr/>
        </p:nvSpPr>
        <p:spPr>
          <a:xfrm>
            <a:off x="2946074" y="1494874"/>
            <a:ext cx="1720806" cy="307777"/>
          </a:xfrm>
          <a:prstGeom prst="rect">
            <a:avLst/>
          </a:prstGeom>
          <a:noFill/>
        </p:spPr>
        <p:txBody>
          <a:bodyPr wrap="square">
            <a:spAutoFit/>
          </a:bodyPr>
          <a:lstStyle/>
          <a:p>
            <a:pPr algn="ctr" defTabSz="914367"/>
            <a:endParaRPr lang="en-US" sz="1400" b="1">
              <a:solidFill>
                <a:srgbClr val="000000"/>
              </a:solidFill>
              <a:latin typeface="Segoe UI" panose="020B0502040204020203" pitchFamily="34" charset="0"/>
              <a:cs typeface="Segoe UI" panose="020B0502040204020203" pitchFamily="34" charset="0"/>
            </a:endParaRPr>
          </a:p>
        </p:txBody>
      </p:sp>
      <p:sp>
        <p:nvSpPr>
          <p:cNvPr id="36" name="TextBox 35">
            <a:extLst>
              <a:ext uri="{FF2B5EF4-FFF2-40B4-BE49-F238E27FC236}">
                <a16:creationId xmlns:a16="http://schemas.microsoft.com/office/drawing/2014/main" id="{D08F58CD-1C2B-8780-E2D1-A6BC47AF6D4F}"/>
              </a:ext>
              <a:ext uri="{C183D7F6-B498-43B3-948B-1728B52AA6E4}">
                <adec:decorative xmlns:adec="http://schemas.microsoft.com/office/drawing/2017/decorative" val="1"/>
              </a:ext>
            </a:extLst>
          </p:cNvPr>
          <p:cNvSpPr txBox="1"/>
          <p:nvPr/>
        </p:nvSpPr>
        <p:spPr>
          <a:xfrm>
            <a:off x="5010640" y="1436476"/>
            <a:ext cx="1720806" cy="307777"/>
          </a:xfrm>
          <a:prstGeom prst="rect">
            <a:avLst/>
          </a:prstGeom>
          <a:noFill/>
        </p:spPr>
        <p:txBody>
          <a:bodyPr wrap="square">
            <a:spAutoFit/>
          </a:bodyPr>
          <a:lstStyle/>
          <a:p>
            <a:pPr algn="ctr">
              <a:defRPr/>
            </a:pPr>
            <a:endParaRPr lang="en-US" sz="1400" b="1">
              <a:solidFill>
                <a:srgbClr val="000000"/>
              </a:solidFill>
              <a:latin typeface="Segoe UI" panose="020B0502040204020203" pitchFamily="34" charset="0"/>
              <a:cs typeface="Segoe UI" panose="020B0502040204020203" pitchFamily="34" charset="0"/>
            </a:endParaRPr>
          </a:p>
        </p:txBody>
      </p:sp>
      <p:sp>
        <p:nvSpPr>
          <p:cNvPr id="37" name="TextBox 36">
            <a:extLst>
              <a:ext uri="{FF2B5EF4-FFF2-40B4-BE49-F238E27FC236}">
                <a16:creationId xmlns:a16="http://schemas.microsoft.com/office/drawing/2014/main" id="{3FAC135A-5F3A-34A7-B468-E36FAB7D953D}"/>
              </a:ext>
              <a:ext uri="{C183D7F6-B498-43B3-948B-1728B52AA6E4}">
                <adec:decorative xmlns:adec="http://schemas.microsoft.com/office/drawing/2017/decorative" val="1"/>
              </a:ext>
            </a:extLst>
          </p:cNvPr>
          <p:cNvSpPr txBox="1"/>
          <p:nvPr/>
        </p:nvSpPr>
        <p:spPr>
          <a:xfrm>
            <a:off x="7415192" y="1602595"/>
            <a:ext cx="1720806" cy="307777"/>
          </a:xfrm>
          <a:prstGeom prst="rect">
            <a:avLst/>
          </a:prstGeom>
          <a:noFill/>
        </p:spPr>
        <p:txBody>
          <a:bodyPr wrap="square">
            <a:spAutoFit/>
          </a:bodyPr>
          <a:lstStyle/>
          <a:p>
            <a:pPr algn="ctr" defTabSz="914367"/>
            <a:endParaRPr lang="en-US" sz="1400" b="1">
              <a:solidFill>
                <a:srgbClr val="000000"/>
              </a:solidFill>
              <a:latin typeface="Segoe UI" panose="020B0502040204020203" pitchFamily="34" charset="0"/>
              <a:cs typeface="Segoe UI" panose="020B0502040204020203" pitchFamily="34" charset="0"/>
            </a:endParaRPr>
          </a:p>
        </p:txBody>
      </p:sp>
      <p:sp>
        <p:nvSpPr>
          <p:cNvPr id="38" name="Rectangle: Rounded Corners 102">
            <a:extLst>
              <a:ext uri="{FF2B5EF4-FFF2-40B4-BE49-F238E27FC236}">
                <a16:creationId xmlns:a16="http://schemas.microsoft.com/office/drawing/2014/main" id="{2B8B80C6-57FD-4B71-04A2-BD0105802997}"/>
              </a:ext>
              <a:ext uri="{C183D7F6-B498-43B3-948B-1728B52AA6E4}">
                <adec:decorative xmlns:adec="http://schemas.microsoft.com/office/drawing/2017/decorative" val="0"/>
              </a:ext>
            </a:extLst>
          </p:cNvPr>
          <p:cNvSpPr/>
          <p:nvPr/>
        </p:nvSpPr>
        <p:spPr bwMode="auto">
          <a:xfrm>
            <a:off x="2753202" y="1389626"/>
            <a:ext cx="2130758" cy="578334"/>
          </a:xfrm>
          <a:prstGeom prst="roundRect">
            <a:avLst>
              <a:gd name="adj" fmla="val 36259"/>
            </a:avLst>
          </a:prstGeom>
          <a:solidFill>
            <a:srgbClr val="9ED49E"/>
          </a:solidFill>
          <a:ln>
            <a:noFill/>
          </a:ln>
          <a:effectLst/>
        </p:spPr>
        <p:txBody>
          <a:bodyPr wrap="square" lIns="0" tIns="0" rIns="0" bIns="27432" anchor="ctr" anchorCtr="0">
            <a:spAutoFit/>
          </a:bodyPr>
          <a:lstStyle/>
          <a:p>
            <a:pPr algn="ctr" defTabSz="914367"/>
            <a:r>
              <a:rPr lang="en-US" sz="1400" b="1">
                <a:solidFill>
                  <a:srgbClr val="000000"/>
                </a:solidFill>
                <a:latin typeface="Segoe UI" panose="020B0502040204020203" pitchFamily="34" charset="0"/>
                <a:cs typeface="Segoe UI" panose="020B0502040204020203" pitchFamily="34" charset="0"/>
              </a:rPr>
              <a:t>Data Protection</a:t>
            </a:r>
          </a:p>
          <a:p>
            <a:pPr algn="ctr" defTabSz="914367"/>
            <a:r>
              <a:rPr lang="en-US" sz="1400" b="1">
                <a:solidFill>
                  <a:srgbClr val="000000"/>
                </a:solidFill>
                <a:latin typeface="Segoe UI" panose="020B0502040204020203" pitchFamily="34" charset="0"/>
                <a:cs typeface="Segoe UI" panose="020B0502040204020203" pitchFamily="34" charset="0"/>
              </a:rPr>
              <a:t>and Privacy</a:t>
            </a:r>
          </a:p>
        </p:txBody>
      </p:sp>
      <p:sp>
        <p:nvSpPr>
          <p:cNvPr id="39" name="Rectangle: Rounded Corners 102">
            <a:extLst>
              <a:ext uri="{FF2B5EF4-FFF2-40B4-BE49-F238E27FC236}">
                <a16:creationId xmlns:a16="http://schemas.microsoft.com/office/drawing/2014/main" id="{2F9BE656-0ABB-736E-A7C4-65C8DAD0715B}"/>
              </a:ext>
              <a:ext uri="{C183D7F6-B498-43B3-948B-1728B52AA6E4}">
                <adec:decorative xmlns:adec="http://schemas.microsoft.com/office/drawing/2017/decorative" val="0"/>
              </a:ext>
            </a:extLst>
          </p:cNvPr>
          <p:cNvSpPr/>
          <p:nvPr/>
        </p:nvSpPr>
        <p:spPr bwMode="auto">
          <a:xfrm>
            <a:off x="9500366" y="1396294"/>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defTabSz="914367"/>
            <a:r>
              <a:rPr lang="en-US" sz="1400" b="1">
                <a:solidFill>
                  <a:srgbClr val="000000"/>
                </a:solidFill>
                <a:latin typeface="Segoe UI" panose="020B0502040204020203" pitchFamily="34" charset="0"/>
                <a:cs typeface="Segoe UI" panose="020B0502040204020203" pitchFamily="34" charset="0"/>
              </a:rPr>
              <a:t>Threat Protection</a:t>
            </a:r>
          </a:p>
        </p:txBody>
      </p:sp>
      <p:sp>
        <p:nvSpPr>
          <p:cNvPr id="40" name="Rectangle: Rounded Corners 102">
            <a:extLst>
              <a:ext uri="{FF2B5EF4-FFF2-40B4-BE49-F238E27FC236}">
                <a16:creationId xmlns:a16="http://schemas.microsoft.com/office/drawing/2014/main" id="{80736D44-9E30-085C-B965-60EB11BE4941}"/>
              </a:ext>
              <a:ext uri="{C183D7F6-B498-43B3-948B-1728B52AA6E4}">
                <adec:decorative xmlns:adec="http://schemas.microsoft.com/office/drawing/2017/decorative" val="0"/>
              </a:ext>
            </a:extLst>
          </p:cNvPr>
          <p:cNvSpPr/>
          <p:nvPr/>
        </p:nvSpPr>
        <p:spPr bwMode="auto">
          <a:xfrm>
            <a:off x="4997638" y="1389626"/>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a:defRPr/>
            </a:pPr>
            <a:r>
              <a:rPr lang="en-US" sz="1400" b="1">
                <a:solidFill>
                  <a:srgbClr val="000000"/>
                </a:solidFill>
                <a:latin typeface="Segoe UI" panose="020B0502040204020203" pitchFamily="34" charset="0"/>
                <a:cs typeface="Segoe UI" panose="020B0502040204020203" pitchFamily="34" charset="0"/>
              </a:rPr>
              <a:t>Identity and Access </a:t>
            </a:r>
          </a:p>
          <a:p>
            <a:pPr algn="ctr">
              <a:defRPr/>
            </a:pPr>
            <a:r>
              <a:rPr lang="en-US" sz="1400" b="1">
                <a:solidFill>
                  <a:srgbClr val="000000"/>
                </a:solidFill>
                <a:latin typeface="Segoe UI" panose="020B0502040204020203" pitchFamily="34" charset="0"/>
                <a:cs typeface="Segoe UI" panose="020B0502040204020203" pitchFamily="34" charset="0"/>
              </a:rPr>
              <a:t>Management + Network Security</a:t>
            </a:r>
          </a:p>
        </p:txBody>
      </p:sp>
      <p:sp>
        <p:nvSpPr>
          <p:cNvPr id="41" name="Rectangle: Rounded Corners 102">
            <a:extLst>
              <a:ext uri="{FF2B5EF4-FFF2-40B4-BE49-F238E27FC236}">
                <a16:creationId xmlns:a16="http://schemas.microsoft.com/office/drawing/2014/main" id="{02F66C61-AB9D-AB9C-2F83-2AD179FB4B92}"/>
              </a:ext>
              <a:ext uri="{C183D7F6-B498-43B3-948B-1728B52AA6E4}">
                <adec:decorative xmlns:adec="http://schemas.microsoft.com/office/drawing/2017/decorative" val="0"/>
              </a:ext>
            </a:extLst>
          </p:cNvPr>
          <p:cNvSpPr/>
          <p:nvPr/>
        </p:nvSpPr>
        <p:spPr bwMode="auto">
          <a:xfrm>
            <a:off x="7245626" y="1389626"/>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defTabSz="914367"/>
            <a:r>
              <a:rPr lang="en-US" sz="1400" b="1">
                <a:solidFill>
                  <a:srgbClr val="000000"/>
                </a:solidFill>
                <a:latin typeface="Segoe UI" panose="020B0502040204020203" pitchFamily="34" charset="0"/>
                <a:cs typeface="Segoe UI" panose="020B0502040204020203" pitchFamily="34" charset="0"/>
              </a:rPr>
              <a:t>Compliance</a:t>
            </a:r>
          </a:p>
        </p:txBody>
      </p:sp>
      <p:sp>
        <p:nvSpPr>
          <p:cNvPr id="42" name="Rectangle: Rounded Corners 102">
            <a:extLst>
              <a:ext uri="{FF2B5EF4-FFF2-40B4-BE49-F238E27FC236}">
                <a16:creationId xmlns:a16="http://schemas.microsoft.com/office/drawing/2014/main" id="{978DFBA6-15DF-10F3-3DCC-5DD15DFA4A16}"/>
              </a:ext>
              <a:ext uri="{C183D7F6-B498-43B3-948B-1728B52AA6E4}">
                <adec:decorative xmlns:adec="http://schemas.microsoft.com/office/drawing/2017/decorative" val="0"/>
              </a:ext>
            </a:extLst>
          </p:cNvPr>
          <p:cNvSpPr/>
          <p:nvPr/>
        </p:nvSpPr>
        <p:spPr bwMode="auto">
          <a:xfrm>
            <a:off x="484410" y="1389626"/>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a:defRPr/>
            </a:pPr>
            <a:r>
              <a:rPr lang="en-US" sz="1400" b="1" dirty="0">
                <a:solidFill>
                  <a:srgbClr val="000000"/>
                </a:solidFill>
                <a:latin typeface="Segoe UI" panose="020B0502040204020203" pitchFamily="34" charset="0"/>
                <a:cs typeface="Segoe UI" panose="020B0502040204020203" pitchFamily="34" charset="0"/>
              </a:rPr>
              <a:t>Security Posture Management </a:t>
            </a:r>
          </a:p>
        </p:txBody>
      </p:sp>
      <p:sp>
        <p:nvSpPr>
          <p:cNvPr id="43" name="Rounded Rectangle 1">
            <a:extLst>
              <a:ext uri="{FF2B5EF4-FFF2-40B4-BE49-F238E27FC236}">
                <a16:creationId xmlns:a16="http://schemas.microsoft.com/office/drawing/2014/main" id="{8599290A-5270-ACE5-DF49-421BC43FF3C8}"/>
              </a:ext>
            </a:extLst>
          </p:cNvPr>
          <p:cNvSpPr/>
          <p:nvPr/>
        </p:nvSpPr>
        <p:spPr>
          <a:xfrm>
            <a:off x="2904181" y="5263171"/>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Network </a:t>
            </a:r>
          </a:p>
          <a:p>
            <a:pPr algn="ctr">
              <a:defRPr/>
            </a:pPr>
            <a:r>
              <a:rPr lang="en-US" sz="1100" kern="0">
                <a:solidFill>
                  <a:srgbClr val="000000"/>
                </a:solidFill>
                <a:latin typeface="Segoe UI" panose="020B0502040204020203" pitchFamily="34" charset="0"/>
                <a:cs typeface="Segoe UI" panose="020B0502040204020203" pitchFamily="34" charset="0"/>
              </a:rPr>
              <a:t>Isolation (v-Net)</a:t>
            </a:r>
          </a:p>
        </p:txBody>
      </p:sp>
      <p:sp>
        <p:nvSpPr>
          <p:cNvPr id="44" name="Rounded Rectangle 2">
            <a:extLst>
              <a:ext uri="{FF2B5EF4-FFF2-40B4-BE49-F238E27FC236}">
                <a16:creationId xmlns:a16="http://schemas.microsoft.com/office/drawing/2014/main" id="{93E849A5-7760-7FAB-890C-3FD6C6592509}"/>
              </a:ext>
            </a:extLst>
          </p:cNvPr>
          <p:cNvSpPr/>
          <p:nvPr/>
        </p:nvSpPr>
        <p:spPr>
          <a:xfrm>
            <a:off x="2904181" y="3052779"/>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Customer </a:t>
            </a:r>
            <a:br>
              <a:rPr lang="en-US" sz="1100" kern="0">
                <a:solidFill>
                  <a:srgbClr val="000000"/>
                </a:solidFill>
                <a:latin typeface="Segoe UI" panose="020B0502040204020203" pitchFamily="34" charset="0"/>
                <a:cs typeface="Segoe UI" panose="020B0502040204020203" pitchFamily="34" charset="0"/>
              </a:rPr>
            </a:br>
            <a:r>
              <a:rPr lang="en-US" sz="1100" kern="0">
                <a:solidFill>
                  <a:srgbClr val="000000"/>
                </a:solidFill>
                <a:latin typeface="Segoe UI" panose="020B0502040204020203" pitchFamily="34" charset="0"/>
                <a:cs typeface="Segoe UI" panose="020B0502040204020203" pitchFamily="34" charset="0"/>
              </a:rPr>
              <a:t>managed keys</a:t>
            </a:r>
          </a:p>
        </p:txBody>
      </p:sp>
      <p:sp>
        <p:nvSpPr>
          <p:cNvPr id="45" name="Rounded Rectangle 3">
            <a:extLst>
              <a:ext uri="{FF2B5EF4-FFF2-40B4-BE49-F238E27FC236}">
                <a16:creationId xmlns:a16="http://schemas.microsoft.com/office/drawing/2014/main" id="{0F6E2E08-C3F8-C245-FC4C-32E2DD4BF021}"/>
              </a:ext>
            </a:extLst>
          </p:cNvPr>
          <p:cNvSpPr/>
          <p:nvPr/>
        </p:nvSpPr>
        <p:spPr>
          <a:xfrm>
            <a:off x="5148617" y="3040671"/>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IP Firewall</a:t>
            </a:r>
          </a:p>
        </p:txBody>
      </p:sp>
      <p:sp>
        <p:nvSpPr>
          <p:cNvPr id="46" name="Rounded Rectangle 4">
            <a:extLst>
              <a:ext uri="{FF2B5EF4-FFF2-40B4-BE49-F238E27FC236}">
                <a16:creationId xmlns:a16="http://schemas.microsoft.com/office/drawing/2014/main" id="{57B673C4-7F0C-5DBA-5D4B-C40D932547DF}"/>
              </a:ext>
            </a:extLst>
          </p:cNvPr>
          <p:cNvSpPr/>
          <p:nvPr/>
        </p:nvSpPr>
        <p:spPr>
          <a:xfrm>
            <a:off x="9651345" y="3495024"/>
            <a:ext cx="1828800" cy="365760"/>
          </a:xfrm>
          <a:prstGeom prst="roundRect">
            <a:avLst>
              <a:gd name="adj" fmla="val 17622"/>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Microsoft Sentinel integration</a:t>
            </a:r>
          </a:p>
        </p:txBody>
      </p:sp>
      <p:sp>
        <p:nvSpPr>
          <p:cNvPr id="47" name="Rounded Rectangle 7">
            <a:extLst>
              <a:ext uri="{FF2B5EF4-FFF2-40B4-BE49-F238E27FC236}">
                <a16:creationId xmlns:a16="http://schemas.microsoft.com/office/drawing/2014/main" id="{2219B966-F82E-088D-ADBD-61859D06BB8A}"/>
              </a:ext>
            </a:extLst>
          </p:cNvPr>
          <p:cNvSpPr/>
          <p:nvPr/>
        </p:nvSpPr>
        <p:spPr>
          <a:xfrm>
            <a:off x="2904181" y="3940003"/>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Microsoft Purview Data map integration </a:t>
            </a:r>
          </a:p>
        </p:txBody>
      </p:sp>
      <p:sp>
        <p:nvSpPr>
          <p:cNvPr id="48" name="Rounded Rectangle 18">
            <a:extLst>
              <a:ext uri="{FF2B5EF4-FFF2-40B4-BE49-F238E27FC236}">
                <a16:creationId xmlns:a16="http://schemas.microsoft.com/office/drawing/2014/main" id="{98613635-BF61-F2C2-87D6-C5ACAD7CAA61}"/>
              </a:ext>
            </a:extLst>
          </p:cNvPr>
          <p:cNvSpPr/>
          <p:nvPr/>
        </p:nvSpPr>
        <p:spPr>
          <a:xfrm>
            <a:off x="7396605" y="3040671"/>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Lockbox</a:t>
            </a:r>
          </a:p>
        </p:txBody>
      </p:sp>
      <p:sp>
        <p:nvSpPr>
          <p:cNvPr id="49" name="Rounded Rectangle 3">
            <a:extLst>
              <a:ext uri="{FF2B5EF4-FFF2-40B4-BE49-F238E27FC236}">
                <a16:creationId xmlns:a16="http://schemas.microsoft.com/office/drawing/2014/main" id="{E31A3514-5C9A-CACE-7A53-5CC5FFA1CE34}"/>
              </a:ext>
            </a:extLst>
          </p:cNvPr>
          <p:cNvSpPr/>
          <p:nvPr/>
        </p:nvSpPr>
        <p:spPr>
          <a:xfrm>
            <a:off x="5148617" y="3484579"/>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Resource sharing limits</a:t>
            </a:r>
          </a:p>
        </p:txBody>
      </p:sp>
      <p:sp>
        <p:nvSpPr>
          <p:cNvPr id="50" name="Rounded Rectangle 3">
            <a:extLst>
              <a:ext uri="{FF2B5EF4-FFF2-40B4-BE49-F238E27FC236}">
                <a16:creationId xmlns:a16="http://schemas.microsoft.com/office/drawing/2014/main" id="{5A1E5697-8A60-186F-268A-453F0CA3F462}"/>
              </a:ext>
            </a:extLst>
          </p:cNvPr>
          <p:cNvSpPr/>
          <p:nvPr/>
        </p:nvSpPr>
        <p:spPr>
          <a:xfrm>
            <a:off x="5148617" y="3928487"/>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IP cookie binding</a:t>
            </a:r>
          </a:p>
        </p:txBody>
      </p:sp>
      <p:sp>
        <p:nvSpPr>
          <p:cNvPr id="51" name="Rounded Rectangle 11">
            <a:extLst>
              <a:ext uri="{FF2B5EF4-FFF2-40B4-BE49-F238E27FC236}">
                <a16:creationId xmlns:a16="http://schemas.microsoft.com/office/drawing/2014/main" id="{24FC1BF9-097F-EFAB-AD14-61BC40F68EF8}"/>
              </a:ext>
            </a:extLst>
          </p:cNvPr>
          <p:cNvSpPr/>
          <p:nvPr/>
        </p:nvSpPr>
        <p:spPr>
          <a:xfrm>
            <a:off x="9651345" y="3040671"/>
            <a:ext cx="1828800" cy="365760"/>
          </a:xfrm>
          <a:prstGeom prst="roundRect">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Enforceable solution checker</a:t>
            </a:r>
          </a:p>
        </p:txBody>
      </p:sp>
      <p:sp>
        <p:nvSpPr>
          <p:cNvPr id="52" name="Rounded Rectangle 2">
            <a:extLst>
              <a:ext uri="{FF2B5EF4-FFF2-40B4-BE49-F238E27FC236}">
                <a16:creationId xmlns:a16="http://schemas.microsoft.com/office/drawing/2014/main" id="{80E7A35D-5754-E12E-CCD6-D1559B415911}"/>
              </a:ext>
            </a:extLst>
          </p:cNvPr>
          <p:cNvSpPr/>
          <p:nvPr/>
        </p:nvSpPr>
        <p:spPr>
          <a:xfrm>
            <a:off x="2904181" y="4398387"/>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Data policies (desktop flows)</a:t>
            </a:r>
          </a:p>
        </p:txBody>
      </p:sp>
      <p:sp>
        <p:nvSpPr>
          <p:cNvPr id="61" name="Rounded Rectangle 3">
            <a:extLst>
              <a:ext uri="{FF2B5EF4-FFF2-40B4-BE49-F238E27FC236}">
                <a16:creationId xmlns:a16="http://schemas.microsoft.com/office/drawing/2014/main" id="{FA45C703-9ADF-D111-1752-0516F7DCE52D}"/>
              </a:ext>
            </a:extLst>
          </p:cNvPr>
          <p:cNvSpPr/>
          <p:nvPr/>
        </p:nvSpPr>
        <p:spPr>
          <a:xfrm>
            <a:off x="5148617" y="5315838"/>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Client app access</a:t>
            </a:r>
          </a:p>
        </p:txBody>
      </p:sp>
      <p:sp>
        <p:nvSpPr>
          <p:cNvPr id="62" name="Rounded Rectangle 7">
            <a:extLst>
              <a:ext uri="{FF2B5EF4-FFF2-40B4-BE49-F238E27FC236}">
                <a16:creationId xmlns:a16="http://schemas.microsoft.com/office/drawing/2014/main" id="{100D1DC1-2C1C-57C5-44CF-A0D430E4BBEF}"/>
              </a:ext>
            </a:extLst>
          </p:cNvPr>
          <p:cNvSpPr/>
          <p:nvPr/>
        </p:nvSpPr>
        <p:spPr>
          <a:xfrm>
            <a:off x="2904181" y="3496095"/>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Data masking</a:t>
            </a:r>
          </a:p>
        </p:txBody>
      </p:sp>
      <p:sp>
        <p:nvSpPr>
          <p:cNvPr id="63" name="Rounded Rectangle 3">
            <a:extLst>
              <a:ext uri="{FF2B5EF4-FFF2-40B4-BE49-F238E27FC236}">
                <a16:creationId xmlns:a16="http://schemas.microsoft.com/office/drawing/2014/main" id="{3A020AAC-1C00-F8A8-CBBA-43C88AE1A545}"/>
              </a:ext>
            </a:extLst>
          </p:cNvPr>
          <p:cNvSpPr/>
          <p:nvPr/>
        </p:nvSpPr>
        <p:spPr>
          <a:xfrm>
            <a:off x="5148617" y="4871930"/>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Privileged Access Management</a:t>
            </a:r>
          </a:p>
        </p:txBody>
      </p:sp>
      <p:sp>
        <p:nvSpPr>
          <p:cNvPr id="64" name="Rounded Rectangle 3">
            <a:extLst>
              <a:ext uri="{FF2B5EF4-FFF2-40B4-BE49-F238E27FC236}">
                <a16:creationId xmlns:a16="http://schemas.microsoft.com/office/drawing/2014/main" id="{CB129D6E-2312-A4D6-74D4-3E48097C1637}"/>
              </a:ext>
            </a:extLst>
          </p:cNvPr>
          <p:cNvSpPr/>
          <p:nvPr/>
        </p:nvSpPr>
        <p:spPr>
          <a:xfrm>
            <a:off x="5148617" y="5759747"/>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Conditional Access</a:t>
            </a:r>
          </a:p>
        </p:txBody>
      </p:sp>
      <p:sp>
        <p:nvSpPr>
          <p:cNvPr id="65" name="Rounded Rectangle 2">
            <a:extLst>
              <a:ext uri="{FF2B5EF4-FFF2-40B4-BE49-F238E27FC236}">
                <a16:creationId xmlns:a16="http://schemas.microsoft.com/office/drawing/2014/main" id="{6D6720D7-726F-DA6F-33F3-3A52FEA3E572}"/>
              </a:ext>
            </a:extLst>
          </p:cNvPr>
          <p:cNvSpPr/>
          <p:nvPr/>
        </p:nvSpPr>
        <p:spPr>
          <a:xfrm>
            <a:off x="2916881" y="4830187"/>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Advanced connector policies</a:t>
            </a:r>
          </a:p>
        </p:txBody>
      </p:sp>
      <p:sp>
        <p:nvSpPr>
          <p:cNvPr id="66" name="Rounded Rectangle 18">
            <a:extLst>
              <a:ext uri="{FF2B5EF4-FFF2-40B4-BE49-F238E27FC236}">
                <a16:creationId xmlns:a16="http://schemas.microsoft.com/office/drawing/2014/main" id="{AE1C5569-D9DC-375B-3FD9-D3F09E9239B9}"/>
              </a:ext>
            </a:extLst>
          </p:cNvPr>
          <p:cNvSpPr/>
          <p:nvPr/>
        </p:nvSpPr>
        <p:spPr>
          <a:xfrm>
            <a:off x="7415192" y="3482287"/>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Dataverse audit</a:t>
            </a:r>
          </a:p>
        </p:txBody>
      </p:sp>
      <p:sp>
        <p:nvSpPr>
          <p:cNvPr id="67" name="Rounded Rectangle 2">
            <a:extLst>
              <a:ext uri="{FF2B5EF4-FFF2-40B4-BE49-F238E27FC236}">
                <a16:creationId xmlns:a16="http://schemas.microsoft.com/office/drawing/2014/main" id="{297D3858-74CD-0A07-263D-E3BFC56AB200}"/>
              </a:ext>
            </a:extLst>
          </p:cNvPr>
          <p:cNvSpPr/>
          <p:nvPr/>
        </p:nvSpPr>
        <p:spPr>
          <a:xfrm>
            <a:off x="633594" y="3040671"/>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Security guidance</a:t>
            </a:r>
          </a:p>
        </p:txBody>
      </p:sp>
      <p:sp>
        <p:nvSpPr>
          <p:cNvPr id="68" name="Rounded Rectangle 3">
            <a:extLst>
              <a:ext uri="{FF2B5EF4-FFF2-40B4-BE49-F238E27FC236}">
                <a16:creationId xmlns:a16="http://schemas.microsoft.com/office/drawing/2014/main" id="{DF988B6B-D1B5-7BA2-96DF-CBAE09874179}"/>
              </a:ext>
            </a:extLst>
          </p:cNvPr>
          <p:cNvSpPr/>
          <p:nvPr/>
        </p:nvSpPr>
        <p:spPr>
          <a:xfrm>
            <a:off x="5145242" y="6179851"/>
            <a:ext cx="1828800" cy="365760"/>
          </a:xfrm>
          <a:prstGeom prst="roundRect">
            <a:avLst>
              <a:gd name="adj" fmla="val 16776"/>
            </a:avLst>
          </a:prstGeom>
          <a:solidFill>
            <a:srgbClr val="FFC000"/>
          </a:solidFill>
          <a:ln w="10795" cap="flat" cmpd="sng" algn="ctr">
            <a:noFill/>
            <a:prstDash val="solid"/>
          </a:ln>
          <a:effectLst/>
        </p:spPr>
        <p:txBody>
          <a:bodyPr tIns="0" bIns="0" rtlCol="0" anchor="ctr"/>
          <a:lstStyle/>
          <a:p>
            <a:pPr algn="ctr">
              <a:defRPr/>
            </a:pPr>
            <a:r>
              <a:rPr lang="en-US" sz="1100" kern="0" noProof="0" dirty="0">
                <a:solidFill>
                  <a:srgbClr val="000000"/>
                </a:solidFill>
                <a:latin typeface="Segoe UI" panose="020B0502040204020203" pitchFamily="34" charset="0"/>
                <a:cs typeface="Segoe UI" panose="020B0502040204020203" pitchFamily="34" charset="0"/>
              </a:rPr>
              <a:t>Agent Access &amp; Authentication</a:t>
            </a:r>
          </a:p>
        </p:txBody>
      </p:sp>
      <p:sp>
        <p:nvSpPr>
          <p:cNvPr id="69" name="Rounded Rectangle 3">
            <a:extLst>
              <a:ext uri="{FF2B5EF4-FFF2-40B4-BE49-F238E27FC236}">
                <a16:creationId xmlns:a16="http://schemas.microsoft.com/office/drawing/2014/main" id="{6548ABD5-29B1-1777-A455-401F84047C23}"/>
              </a:ext>
            </a:extLst>
          </p:cNvPr>
          <p:cNvSpPr/>
          <p:nvPr/>
        </p:nvSpPr>
        <p:spPr>
          <a:xfrm>
            <a:off x="5151742" y="4397178"/>
            <a:ext cx="1828800" cy="365760"/>
          </a:xfrm>
          <a:prstGeom prst="roundRect">
            <a:avLst>
              <a:gd name="adj" fmla="val 16776"/>
            </a:avLst>
          </a:prstGeom>
          <a:solidFill>
            <a:srgbClr val="FFC000"/>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Tenant Isolation</a:t>
            </a:r>
          </a:p>
        </p:txBody>
      </p:sp>
      <p:sp>
        <p:nvSpPr>
          <p:cNvPr id="70" name="Rounded Rectangle 4">
            <a:extLst>
              <a:ext uri="{FF2B5EF4-FFF2-40B4-BE49-F238E27FC236}">
                <a16:creationId xmlns:a16="http://schemas.microsoft.com/office/drawing/2014/main" id="{4D1E5FFE-1AD9-D0A6-E2AE-ECB99F880C50}"/>
              </a:ext>
            </a:extLst>
          </p:cNvPr>
          <p:cNvSpPr/>
          <p:nvPr/>
        </p:nvSpPr>
        <p:spPr>
          <a:xfrm>
            <a:off x="9683516" y="3954084"/>
            <a:ext cx="1828800" cy="365760"/>
          </a:xfrm>
          <a:prstGeom prst="roundRect">
            <a:avLst>
              <a:gd name="adj" fmla="val 17622"/>
            </a:avLst>
          </a:prstGeom>
          <a:solidFill>
            <a:srgbClr val="FFC000"/>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Thread Detection for Copilot Agents</a:t>
            </a:r>
          </a:p>
        </p:txBody>
      </p:sp>
      <p:sp>
        <p:nvSpPr>
          <p:cNvPr id="71" name="Rounded Rectangle 4">
            <a:extLst>
              <a:ext uri="{FF2B5EF4-FFF2-40B4-BE49-F238E27FC236}">
                <a16:creationId xmlns:a16="http://schemas.microsoft.com/office/drawing/2014/main" id="{698308C1-FD98-5199-BD3F-C0A09C420CE5}"/>
              </a:ext>
            </a:extLst>
          </p:cNvPr>
          <p:cNvSpPr/>
          <p:nvPr/>
        </p:nvSpPr>
        <p:spPr>
          <a:xfrm>
            <a:off x="9683516" y="4433541"/>
            <a:ext cx="1828800" cy="365760"/>
          </a:xfrm>
          <a:prstGeom prst="roundRect">
            <a:avLst>
              <a:gd name="adj" fmla="val 17622"/>
            </a:avLst>
          </a:prstGeom>
          <a:solidFill>
            <a:srgbClr val="FFC000"/>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Microsoft Defender for Copilot Agents</a:t>
            </a:r>
          </a:p>
        </p:txBody>
      </p:sp>
    </p:spTree>
    <p:extLst>
      <p:ext uri="{BB962C8B-B14F-4D97-AF65-F5344CB8AC3E}">
        <p14:creationId xmlns:p14="http://schemas.microsoft.com/office/powerpoint/2010/main" val="3939508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Managed Security in the Power Platform</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F43C85B-9E04-6E88-090B-43CBD48033C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8E7D1639-A5A8-C4D5-95B3-300C1F80A1D4}"/>
              </a:ext>
            </a:extLst>
          </p:cNvPr>
          <p:cNvSpPr>
            <a:spLocks noGrp="1"/>
          </p:cNvSpPr>
          <p:nvPr>
            <p:ph type="sldNum" sz="quarter" idx="12"/>
          </p:nvPr>
        </p:nvSpPr>
        <p:spPr/>
        <p:txBody>
          <a:bodyPr/>
          <a:lstStyle/>
          <a:p>
            <a:fld id="{86889C5C-8171-4CA3-86B1-670B90C02708}" type="slidenum">
              <a:rPr lang="en-GB" smtClean="0"/>
              <a:t>12</a:t>
            </a:fld>
            <a:endParaRPr lang="en-GB"/>
          </a:p>
        </p:txBody>
      </p:sp>
      <p:pic>
        <p:nvPicPr>
          <p:cNvPr id="29" name="Picture 28" descr="power platform admin center screen shot">
            <a:extLst>
              <a:ext uri="{FF2B5EF4-FFF2-40B4-BE49-F238E27FC236}">
                <a16:creationId xmlns:a16="http://schemas.microsoft.com/office/drawing/2014/main" id="{4FAC3BF9-CE65-BF90-12EC-333946C615D0}"/>
              </a:ext>
            </a:extLst>
          </p:cNvPr>
          <p:cNvPicPr>
            <a:picLocks noChangeAspect="1"/>
          </p:cNvPicPr>
          <p:nvPr/>
        </p:nvPicPr>
        <p:blipFill>
          <a:blip r:embed="rId3"/>
          <a:srcRect l="321" r="321"/>
          <a:stretch/>
        </p:blipFill>
        <p:spPr>
          <a:xfrm>
            <a:off x="4965911" y="2351377"/>
            <a:ext cx="7226089" cy="4088935"/>
          </a:xfrm>
          <a:prstGeom prst="roundRect">
            <a:avLst>
              <a:gd name="adj" fmla="val 2563"/>
            </a:avLst>
          </a:prstGeom>
          <a:effectLst>
            <a:outerShdw blurRad="190500" sx="102000" sy="102000" algn="ctr" rotWithShape="0">
              <a:prstClr val="black">
                <a:alpha val="10000"/>
              </a:prstClr>
            </a:outerShdw>
          </a:effectLst>
        </p:spPr>
      </p:pic>
      <p:pic>
        <p:nvPicPr>
          <p:cNvPr id="4" name="Picture 3">
            <a:extLst>
              <a:ext uri="{FF2B5EF4-FFF2-40B4-BE49-F238E27FC236}">
                <a16:creationId xmlns:a16="http://schemas.microsoft.com/office/drawing/2014/main" id="{DEDD9549-D71B-2D6C-B846-582353CA99B6}"/>
              </a:ext>
            </a:extLst>
          </p:cNvPr>
          <p:cNvPicPr>
            <a:picLocks noChangeAspect="1"/>
          </p:cNvPicPr>
          <p:nvPr/>
        </p:nvPicPr>
        <p:blipFill>
          <a:blip r:embed="rId4"/>
          <a:stretch>
            <a:fillRect/>
          </a:stretch>
        </p:blipFill>
        <p:spPr>
          <a:xfrm>
            <a:off x="65967" y="1108600"/>
            <a:ext cx="6938219" cy="4066271"/>
          </a:xfrm>
          <a:prstGeom prst="rect">
            <a:avLst/>
          </a:prstGeom>
        </p:spPr>
      </p:pic>
    </p:spTree>
    <p:extLst>
      <p:ext uri="{BB962C8B-B14F-4D97-AF65-F5344CB8AC3E}">
        <p14:creationId xmlns:p14="http://schemas.microsoft.com/office/powerpoint/2010/main" val="3729842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Imagen 2">
            <a:extLst>
              <a:ext uri="{FF2B5EF4-FFF2-40B4-BE49-F238E27FC236}">
                <a16:creationId xmlns:a16="http://schemas.microsoft.com/office/drawing/2014/main" id="{AC08DF00-E43F-471C-B352-96AE92BB078C}"/>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2F90EBE4-6FF1-4CAA-A332-CE9032C241C1}"/>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#1: Security Posture in the Power Platform</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4735142C-AE77-4CC2-9B7D-A0A77B971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14">
            <a:extLst>
              <a:ext uri="{FF2B5EF4-FFF2-40B4-BE49-F238E27FC236}">
                <a16:creationId xmlns:a16="http://schemas.microsoft.com/office/drawing/2014/main" id="{E1EBA533-A72B-44F1-B7E1-83995172C1FE}"/>
              </a:ext>
            </a:extLst>
          </p:cNvPr>
          <p:cNvSpPr txBox="1"/>
          <p:nvPr/>
        </p:nvSpPr>
        <p:spPr>
          <a:xfrm>
            <a:off x="2482809" y="6482979"/>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Tree>
    <p:extLst>
      <p:ext uri="{BB962C8B-B14F-4D97-AF65-F5344CB8AC3E}">
        <p14:creationId xmlns:p14="http://schemas.microsoft.com/office/powerpoint/2010/main" val="663894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F43C85B-9E04-6E88-090B-43CBD48033C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B227B785-C93E-632C-FC59-69C56214CC98}"/>
              </a:ext>
            </a:extLst>
          </p:cNvPr>
          <p:cNvSpPr>
            <a:spLocks noGrp="1"/>
          </p:cNvSpPr>
          <p:nvPr>
            <p:ph type="sldNum" sz="quarter" idx="12"/>
          </p:nvPr>
        </p:nvSpPr>
        <p:spPr/>
        <p:txBody>
          <a:bodyPr/>
          <a:lstStyle/>
          <a:p>
            <a:fld id="{86889C5C-8171-4CA3-86B1-670B90C02708}" type="slidenum">
              <a:rPr lang="en-GB" smtClean="0"/>
              <a:t>14</a:t>
            </a:fld>
            <a:endParaRPr lang="en-GB"/>
          </a:p>
        </p:txBody>
      </p:sp>
      <p:sp>
        <p:nvSpPr>
          <p:cNvPr id="4" name="TextBox 3">
            <a:extLst>
              <a:ext uri="{FF2B5EF4-FFF2-40B4-BE49-F238E27FC236}">
                <a16:creationId xmlns:a16="http://schemas.microsoft.com/office/drawing/2014/main" id="{41AC74DB-A729-C01F-ED75-B3702A85842E}"/>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Ensure that personal information is securely handled, stored, and protected in a way that maintains confidentiality and integrity and prevents unauthorized access</a:t>
            </a:r>
          </a:p>
        </p:txBody>
      </p:sp>
      <p:grpSp>
        <p:nvGrpSpPr>
          <p:cNvPr id="5" name="Group 4">
            <a:extLst>
              <a:ext uri="{FF2B5EF4-FFF2-40B4-BE49-F238E27FC236}">
                <a16:creationId xmlns:a16="http://schemas.microsoft.com/office/drawing/2014/main" id="{14B4705A-FE94-7264-65E0-09512180CAFE}"/>
              </a:ext>
            </a:extLst>
          </p:cNvPr>
          <p:cNvGrpSpPr/>
          <p:nvPr/>
        </p:nvGrpSpPr>
        <p:grpSpPr>
          <a:xfrm>
            <a:off x="2303736" y="2286000"/>
            <a:ext cx="2468880" cy="2011680"/>
            <a:chOff x="6941" y="1161888"/>
            <a:chExt cx="2461366" cy="1837358"/>
          </a:xfrm>
        </p:grpSpPr>
        <p:sp>
          <p:nvSpPr>
            <p:cNvPr id="6" name="Rectangle: Top Corners Rounded 5">
              <a:extLst>
                <a:ext uri="{FF2B5EF4-FFF2-40B4-BE49-F238E27FC236}">
                  <a16:creationId xmlns:a16="http://schemas.microsoft.com/office/drawing/2014/main" id="{6D0F0A4E-A413-7A73-7DA1-B5CC86A13804}"/>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7" name="Rectangle: Top Corners Rounded 4">
              <a:extLst>
                <a:ext uri="{FF2B5EF4-FFF2-40B4-BE49-F238E27FC236}">
                  <a16:creationId xmlns:a16="http://schemas.microsoft.com/office/drawing/2014/main" id="{E42BA4E6-26CB-83E9-203A-8948A8026D5D}"/>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Self-managed encryption key</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Prevents access to corporate data by anyone outside the organization (Including Microsoft)</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Allows to rotate or swap the encryption key on demand</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400" b="0" i="0" u="none" strike="noStrike" kern="0" cap="none" spc="0" normalizeH="0" baseline="0" noProof="0" dirty="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8" name="Group 7">
            <a:extLst>
              <a:ext uri="{FF2B5EF4-FFF2-40B4-BE49-F238E27FC236}">
                <a16:creationId xmlns:a16="http://schemas.microsoft.com/office/drawing/2014/main" id="{3CD1BEC8-A445-CA9D-98E1-F386A83D65FC}"/>
              </a:ext>
            </a:extLst>
          </p:cNvPr>
          <p:cNvGrpSpPr/>
          <p:nvPr/>
        </p:nvGrpSpPr>
        <p:grpSpPr>
          <a:xfrm>
            <a:off x="2303736" y="4278976"/>
            <a:ext cx="2468880" cy="790063"/>
            <a:chOff x="6941" y="2999246"/>
            <a:chExt cx="2461366" cy="790063"/>
          </a:xfrm>
          <a:solidFill>
            <a:srgbClr val="ED7D31"/>
          </a:solidFill>
        </p:grpSpPr>
        <p:sp>
          <p:nvSpPr>
            <p:cNvPr id="9" name="Rectangle 8">
              <a:extLst>
                <a:ext uri="{FF2B5EF4-FFF2-40B4-BE49-F238E27FC236}">
                  <a16:creationId xmlns:a16="http://schemas.microsoft.com/office/drawing/2014/main" id="{C8F270E7-76E9-9B67-A37D-3320AEF12440}"/>
                </a:ext>
              </a:extLst>
            </p:cNvPr>
            <p:cNvSpPr/>
            <p:nvPr/>
          </p:nvSpPr>
          <p:spPr>
            <a:xfrm>
              <a:off x="6941" y="2999246"/>
              <a:ext cx="2461366" cy="790063"/>
            </a:xfrm>
            <a:prstGeom prst="rect">
              <a:avLst/>
            </a:prstGeom>
            <a:grp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19682641-0FC8-9BE5-E5F7-AEF439A212D4}"/>
                </a:ext>
              </a:extLst>
            </p:cNvPr>
            <p:cNvSpPr txBox="1"/>
            <p:nvPr/>
          </p:nvSpPr>
          <p:spPr>
            <a:xfrm>
              <a:off x="6941" y="2999246"/>
              <a:ext cx="1733356" cy="790063"/>
            </a:xfrm>
            <a:prstGeom prst="rect">
              <a:avLst/>
            </a:prstGeom>
            <a:grp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a:solidFill>
                    <a:prstClr val="white"/>
                  </a:solidFill>
                  <a:latin typeface="Segoe UI" panose="020B0502040204020203" pitchFamily="34" charset="0"/>
                  <a:cs typeface="Segoe UI" panose="020B0502040204020203" pitchFamily="34" charset="0"/>
                </a:rPr>
                <a:t>Customer Managed Keys</a:t>
              </a:r>
            </a:p>
          </p:txBody>
        </p:sp>
      </p:grpSp>
      <p:grpSp>
        <p:nvGrpSpPr>
          <p:cNvPr id="11" name="Group 10">
            <a:extLst>
              <a:ext uri="{FF2B5EF4-FFF2-40B4-BE49-F238E27FC236}">
                <a16:creationId xmlns:a16="http://schemas.microsoft.com/office/drawing/2014/main" id="{6B52DA56-5669-A630-5288-AD787B8B40F8}"/>
              </a:ext>
            </a:extLst>
          </p:cNvPr>
          <p:cNvGrpSpPr/>
          <p:nvPr/>
        </p:nvGrpSpPr>
        <p:grpSpPr>
          <a:xfrm>
            <a:off x="5027049" y="2275848"/>
            <a:ext cx="2468880" cy="2011680"/>
            <a:chOff x="2884829" y="1161888"/>
            <a:chExt cx="2461366" cy="1837358"/>
          </a:xfrm>
        </p:grpSpPr>
        <p:sp>
          <p:nvSpPr>
            <p:cNvPr id="12" name="Rectangle: Top Corners Rounded 11">
              <a:extLst>
                <a:ext uri="{FF2B5EF4-FFF2-40B4-BE49-F238E27FC236}">
                  <a16:creationId xmlns:a16="http://schemas.microsoft.com/office/drawing/2014/main" id="{D3E2F588-BDFA-21E3-BF34-D1127875180C}"/>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3" name="Rectangle: Top Corners Rounded 4">
              <a:extLst>
                <a:ext uri="{FF2B5EF4-FFF2-40B4-BE49-F238E27FC236}">
                  <a16:creationId xmlns:a16="http://schemas.microsoft.com/office/drawing/2014/main" id="{1B2AD8CD-7A8B-9B67-4FE8-4B2F545EF723}"/>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Protect sensitive information during customer interactions and prevents data leaks</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Masked strings ensure that the original, unmasked values remain hidden</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It uses obfuscation rules with regex to mask sensitive data</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4" name="Group 13">
            <a:extLst>
              <a:ext uri="{FF2B5EF4-FFF2-40B4-BE49-F238E27FC236}">
                <a16:creationId xmlns:a16="http://schemas.microsoft.com/office/drawing/2014/main" id="{4077631C-52FC-3ABC-3BEC-AB7E56EC75A5}"/>
              </a:ext>
            </a:extLst>
          </p:cNvPr>
          <p:cNvGrpSpPr/>
          <p:nvPr/>
        </p:nvGrpSpPr>
        <p:grpSpPr>
          <a:xfrm>
            <a:off x="5027129" y="4287528"/>
            <a:ext cx="2468880" cy="790063"/>
            <a:chOff x="2884829" y="2999246"/>
            <a:chExt cx="2461366" cy="790063"/>
          </a:xfrm>
        </p:grpSpPr>
        <p:sp>
          <p:nvSpPr>
            <p:cNvPr id="15" name="Rectangle 14">
              <a:extLst>
                <a:ext uri="{FF2B5EF4-FFF2-40B4-BE49-F238E27FC236}">
                  <a16:creationId xmlns:a16="http://schemas.microsoft.com/office/drawing/2014/main" id="{AF2426AA-0901-3A37-1D84-69EB51DD18C5}"/>
                </a:ext>
              </a:extLst>
            </p:cNvPr>
            <p:cNvSpPr/>
            <p:nvPr/>
          </p:nvSpPr>
          <p:spPr>
            <a:xfrm>
              <a:off x="2884829" y="2999246"/>
              <a:ext cx="2461366" cy="790063"/>
            </a:xfrm>
            <a:prstGeom prst="rect">
              <a:avLst/>
            </a:prstGeom>
            <a:solidFill>
              <a:srgbClr val="A5A5A5">
                <a:hueOff val="0"/>
                <a:satOff val="0"/>
                <a:lumOff val="0"/>
                <a:alphaOff val="0"/>
              </a:srgb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FC5AE9C-FE31-8FCA-C0B3-DBB780494201}"/>
                </a:ext>
              </a:extLst>
            </p:cNvPr>
            <p:cNvSpPr txBox="1"/>
            <p:nvPr/>
          </p:nvSpPr>
          <p:spPr>
            <a:xfrm>
              <a:off x="2884829"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a:solidFill>
                    <a:prstClr val="white"/>
                  </a:solidFill>
                  <a:latin typeface="Segoe UI" panose="020B0502040204020203" pitchFamily="34" charset="0"/>
                  <a:cs typeface="Segoe UI" panose="020B0502040204020203" pitchFamily="34" charset="0"/>
                </a:rPr>
                <a:t>Data Masking (Preview)</a:t>
              </a:r>
            </a:p>
          </p:txBody>
        </p:sp>
      </p:grpSp>
      <p:grpSp>
        <p:nvGrpSpPr>
          <p:cNvPr id="17" name="Group 16">
            <a:extLst>
              <a:ext uri="{FF2B5EF4-FFF2-40B4-BE49-F238E27FC236}">
                <a16:creationId xmlns:a16="http://schemas.microsoft.com/office/drawing/2014/main" id="{039B1784-4C1B-5A44-B8E5-5D5CBDD88413}"/>
              </a:ext>
            </a:extLst>
          </p:cNvPr>
          <p:cNvGrpSpPr/>
          <p:nvPr/>
        </p:nvGrpSpPr>
        <p:grpSpPr>
          <a:xfrm>
            <a:off x="7733680" y="2270701"/>
            <a:ext cx="2468880" cy="2011680"/>
            <a:chOff x="5762718" y="1161888"/>
            <a:chExt cx="2461366" cy="1837358"/>
          </a:xfrm>
        </p:grpSpPr>
        <p:sp>
          <p:nvSpPr>
            <p:cNvPr id="18" name="Rectangle: Top Corners Rounded 17">
              <a:extLst>
                <a:ext uri="{FF2B5EF4-FFF2-40B4-BE49-F238E27FC236}">
                  <a16:creationId xmlns:a16="http://schemas.microsoft.com/office/drawing/2014/main" id="{54DB5CC0-0EBB-5C1B-01A4-220FCA940063}"/>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9" name="Rectangle: Top Corners Rounded 4">
              <a:extLst>
                <a:ext uri="{FF2B5EF4-FFF2-40B4-BE49-F238E27FC236}">
                  <a16:creationId xmlns:a16="http://schemas.microsoft.com/office/drawing/2014/main" id="{E7EFD644-D03D-EBE8-95C4-1945C958FC53}"/>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Power Platform Data (Dataverse) Governance and Discovery</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Data Classification + Application of Sensitivity Labels and Compliance Policies to the data</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20" name="Group 19">
            <a:extLst>
              <a:ext uri="{FF2B5EF4-FFF2-40B4-BE49-F238E27FC236}">
                <a16:creationId xmlns:a16="http://schemas.microsoft.com/office/drawing/2014/main" id="{72A8A249-CA84-D038-82A5-5CD4E4094186}"/>
              </a:ext>
            </a:extLst>
          </p:cNvPr>
          <p:cNvGrpSpPr/>
          <p:nvPr/>
        </p:nvGrpSpPr>
        <p:grpSpPr>
          <a:xfrm>
            <a:off x="7733686" y="4271835"/>
            <a:ext cx="2468881" cy="790063"/>
            <a:chOff x="5762717" y="2999246"/>
            <a:chExt cx="2461367" cy="790063"/>
          </a:xfrm>
          <a:solidFill>
            <a:srgbClr val="FFC000"/>
          </a:solidFill>
        </p:grpSpPr>
        <p:sp>
          <p:nvSpPr>
            <p:cNvPr id="22" name="Rectangle 21">
              <a:extLst>
                <a:ext uri="{FF2B5EF4-FFF2-40B4-BE49-F238E27FC236}">
                  <a16:creationId xmlns:a16="http://schemas.microsoft.com/office/drawing/2014/main" id="{30D07AE1-5AD8-8C0A-2FB8-F1130A1D366B}"/>
                </a:ext>
              </a:extLst>
            </p:cNvPr>
            <p:cNvSpPr/>
            <p:nvPr/>
          </p:nvSpPr>
          <p:spPr>
            <a:xfrm>
              <a:off x="5762718" y="2999246"/>
              <a:ext cx="2461366" cy="790063"/>
            </a:xfrm>
            <a:prstGeom prst="rect">
              <a:avLst/>
            </a:prstGeom>
            <a:grp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3" name="TextBox 22">
              <a:extLst>
                <a:ext uri="{FF2B5EF4-FFF2-40B4-BE49-F238E27FC236}">
                  <a16:creationId xmlns:a16="http://schemas.microsoft.com/office/drawing/2014/main" id="{793EE209-9495-7AB9-F6C4-C4F3C0D8D351}"/>
                </a:ext>
              </a:extLst>
            </p:cNvPr>
            <p:cNvSpPr txBox="1"/>
            <p:nvPr/>
          </p:nvSpPr>
          <p:spPr>
            <a:xfrm>
              <a:off x="5762717" y="2999246"/>
              <a:ext cx="1906653" cy="790063"/>
            </a:xfrm>
            <a:prstGeom prst="rect">
              <a:avLst/>
            </a:prstGeom>
            <a:grp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fr-FR" sz="1600" b="1" kern="0">
                  <a:solidFill>
                    <a:prstClr val="white"/>
                  </a:solidFill>
                  <a:latin typeface="Segoe UI" panose="020B0502040204020203" pitchFamily="34" charset="0"/>
                  <a:cs typeface="Segoe UI" panose="020B0502040204020203" pitchFamily="34" charset="0"/>
                </a:rPr>
                <a:t>Microsoft </a:t>
              </a:r>
              <a:r>
                <a:rPr lang="fr-FR" sz="1600" b="1" kern="0" err="1">
                  <a:solidFill>
                    <a:prstClr val="white"/>
                  </a:solidFill>
                  <a:latin typeface="Segoe UI" panose="020B0502040204020203" pitchFamily="34" charset="0"/>
                  <a:cs typeface="Segoe UI" panose="020B0502040204020203" pitchFamily="34" charset="0"/>
                </a:rPr>
                <a:t>Purview</a:t>
              </a:r>
              <a:r>
                <a:rPr lang="fr-FR" sz="1600" b="1" kern="0">
                  <a:solidFill>
                    <a:prstClr val="white"/>
                  </a:solidFill>
                  <a:latin typeface="Segoe UI" panose="020B0502040204020203" pitchFamily="34" charset="0"/>
                  <a:cs typeface="Segoe UI" panose="020B0502040204020203" pitchFamily="34" charset="0"/>
                </a:rPr>
                <a:t> Data </a:t>
              </a:r>
              <a:r>
                <a:rPr lang="fr-FR" sz="1600" b="1" kern="0" err="1">
                  <a:solidFill>
                    <a:prstClr val="white"/>
                  </a:solidFill>
                  <a:latin typeface="Segoe UI" panose="020B0502040204020203" pitchFamily="34" charset="0"/>
                  <a:cs typeface="Segoe UI" panose="020B0502040204020203" pitchFamily="34" charset="0"/>
                </a:rPr>
                <a:t>Map</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24" name="Picture 23">
            <a:extLst>
              <a:ext uri="{FF2B5EF4-FFF2-40B4-BE49-F238E27FC236}">
                <a16:creationId xmlns:a16="http://schemas.microsoft.com/office/drawing/2014/main" id="{E885257C-FFA7-0B17-D276-A51116057A4F}"/>
              </a:ext>
            </a:extLst>
          </p:cNvPr>
          <p:cNvPicPr>
            <a:picLocks noChangeAspect="1"/>
          </p:cNvPicPr>
          <p:nvPr/>
        </p:nvPicPr>
        <p:blipFill>
          <a:blip r:embed="rId3"/>
          <a:stretch>
            <a:fillRect/>
          </a:stretch>
        </p:blipFill>
        <p:spPr>
          <a:xfrm>
            <a:off x="4067009" y="4362519"/>
            <a:ext cx="640080" cy="640080"/>
          </a:xfrm>
          <a:prstGeom prst="rect">
            <a:avLst/>
          </a:prstGeom>
        </p:spPr>
      </p:pic>
      <p:pic>
        <p:nvPicPr>
          <p:cNvPr id="25" name="Picture 24">
            <a:extLst>
              <a:ext uri="{FF2B5EF4-FFF2-40B4-BE49-F238E27FC236}">
                <a16:creationId xmlns:a16="http://schemas.microsoft.com/office/drawing/2014/main" id="{C1B77ECA-2B75-EE6B-2202-1AE9462525B2}"/>
              </a:ext>
            </a:extLst>
          </p:cNvPr>
          <p:cNvPicPr>
            <a:picLocks noChangeAspect="1"/>
          </p:cNvPicPr>
          <p:nvPr/>
        </p:nvPicPr>
        <p:blipFill>
          <a:blip r:embed="rId4"/>
          <a:stretch>
            <a:fillRect/>
          </a:stretch>
        </p:blipFill>
        <p:spPr>
          <a:xfrm>
            <a:off x="6792497" y="4362519"/>
            <a:ext cx="640080" cy="640080"/>
          </a:xfrm>
          <a:prstGeom prst="rect">
            <a:avLst/>
          </a:prstGeom>
        </p:spPr>
      </p:pic>
      <p:pic>
        <p:nvPicPr>
          <p:cNvPr id="26" name="Picture 25">
            <a:extLst>
              <a:ext uri="{FF2B5EF4-FFF2-40B4-BE49-F238E27FC236}">
                <a16:creationId xmlns:a16="http://schemas.microsoft.com/office/drawing/2014/main" id="{0B0F71F3-64C5-A056-842F-B09F58C91EA6}"/>
              </a:ext>
            </a:extLst>
          </p:cNvPr>
          <p:cNvPicPr>
            <a:picLocks noChangeAspect="1"/>
          </p:cNvPicPr>
          <p:nvPr/>
        </p:nvPicPr>
        <p:blipFill>
          <a:blip r:embed="rId5"/>
          <a:stretch>
            <a:fillRect/>
          </a:stretch>
        </p:blipFill>
        <p:spPr>
          <a:xfrm>
            <a:off x="9568224" y="4362519"/>
            <a:ext cx="640080" cy="640080"/>
          </a:xfrm>
          <a:prstGeom prst="rect">
            <a:avLst/>
          </a:prstGeom>
        </p:spPr>
      </p:pic>
    </p:spTree>
    <p:extLst>
      <p:ext uri="{BB962C8B-B14F-4D97-AF65-F5344CB8AC3E}">
        <p14:creationId xmlns:p14="http://schemas.microsoft.com/office/powerpoint/2010/main" val="378374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anim calcmode="lin" valueType="num">
                                      <p:cBhvr>
                                        <p:cTn id="38" dur="1000" fill="hold"/>
                                        <p:tgtEl>
                                          <p:spTgt spid="24"/>
                                        </p:tgtEl>
                                        <p:attrNameLst>
                                          <p:attrName>ppt_x</p:attrName>
                                        </p:attrNameLst>
                                      </p:cBhvr>
                                      <p:tavLst>
                                        <p:tav tm="0">
                                          <p:val>
                                            <p:strVal val="#ppt_x"/>
                                          </p:val>
                                        </p:tav>
                                        <p:tav tm="100000">
                                          <p:val>
                                            <p:strVal val="#ppt_x"/>
                                          </p:val>
                                        </p:tav>
                                      </p:tavLst>
                                    </p:anim>
                                    <p:anim calcmode="lin" valueType="num">
                                      <p:cBhvr>
                                        <p:cTn id="39" dur="1000" fill="hold"/>
                                        <p:tgtEl>
                                          <p:spTgt spid="24"/>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1000"/>
                                        <p:tgtEl>
                                          <p:spTgt spid="25"/>
                                        </p:tgtEl>
                                      </p:cBhvr>
                                    </p:animEffect>
                                    <p:anim calcmode="lin" valueType="num">
                                      <p:cBhvr>
                                        <p:cTn id="43" dur="1000" fill="hold"/>
                                        <p:tgtEl>
                                          <p:spTgt spid="25"/>
                                        </p:tgtEl>
                                        <p:attrNameLst>
                                          <p:attrName>ppt_x</p:attrName>
                                        </p:attrNameLst>
                                      </p:cBhvr>
                                      <p:tavLst>
                                        <p:tav tm="0">
                                          <p:val>
                                            <p:strVal val="#ppt_x"/>
                                          </p:val>
                                        </p:tav>
                                        <p:tav tm="100000">
                                          <p:val>
                                            <p:strVal val="#ppt_x"/>
                                          </p:val>
                                        </p:tav>
                                      </p:tavLst>
                                    </p:anim>
                                    <p:anim calcmode="lin" valueType="num">
                                      <p:cBhvr>
                                        <p:cTn id="44" dur="1000" fill="hold"/>
                                        <p:tgtEl>
                                          <p:spTgt spid="2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7F9DE2A-8699-D307-E5F5-E7A32B2242B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5AE785C-E2D6-518B-7DC1-0B9A2AF8A53F}"/>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DD80A601-A4B0-532C-4B8F-EE912F125E18}"/>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B8A2B30C-BC81-0176-2A36-746CB2156EFE}"/>
              </a:ext>
            </a:extLst>
          </p:cNvPr>
          <p:cNvSpPr>
            <a:spLocks noGrp="1"/>
          </p:cNvSpPr>
          <p:nvPr>
            <p:ph type="sldNum" sz="quarter" idx="12"/>
          </p:nvPr>
        </p:nvSpPr>
        <p:spPr/>
        <p:txBody>
          <a:bodyPr/>
          <a:lstStyle/>
          <a:p>
            <a:fld id="{86889C5C-8171-4CA3-86B1-670B90C02708}" type="slidenum">
              <a:rPr lang="en-GB" smtClean="0"/>
              <a:t>15</a:t>
            </a:fld>
            <a:endParaRPr lang="en-GB"/>
          </a:p>
        </p:txBody>
      </p:sp>
      <p:sp>
        <p:nvSpPr>
          <p:cNvPr id="4" name="TextBox 3">
            <a:extLst>
              <a:ext uri="{FF2B5EF4-FFF2-40B4-BE49-F238E27FC236}">
                <a16:creationId xmlns:a16="http://schemas.microsoft.com/office/drawing/2014/main" id="{4AA5C88C-D016-761A-53E3-9ECF1C0AAFAE}"/>
              </a:ext>
            </a:extLst>
          </p:cNvPr>
          <p:cNvSpPr txBox="1"/>
          <p:nvPr/>
        </p:nvSpPr>
        <p:spPr>
          <a:xfrm>
            <a:off x="1707946" y="1028226"/>
            <a:ext cx="8514849" cy="774764"/>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Manage your customer-managed encryption key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27" name="Picture 2" descr="Customer-managed encryption key in the Power Platform">
            <a:extLst>
              <a:ext uri="{FF2B5EF4-FFF2-40B4-BE49-F238E27FC236}">
                <a16:creationId xmlns:a16="http://schemas.microsoft.com/office/drawing/2014/main" id="{D30587E4-5E9B-4FFD-C16E-6CAD9F981A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426" y="1746239"/>
            <a:ext cx="8633147" cy="4834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00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600112-ED5D-4112-1E06-79BF93786FF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3DF9E30-A673-9B1B-F4C3-74105049BE46}"/>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4141863-49DF-FDFC-C3D1-D1DCD33EFB61}"/>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2A0492E9-90E9-30DC-7D94-C69A8AA18795}"/>
              </a:ext>
            </a:extLst>
          </p:cNvPr>
          <p:cNvSpPr>
            <a:spLocks noGrp="1"/>
          </p:cNvSpPr>
          <p:nvPr>
            <p:ph type="sldNum" sz="quarter" idx="12"/>
          </p:nvPr>
        </p:nvSpPr>
        <p:spPr/>
        <p:txBody>
          <a:bodyPr/>
          <a:lstStyle/>
          <a:p>
            <a:fld id="{86889C5C-8171-4CA3-86B1-670B90C02708}" type="slidenum">
              <a:rPr lang="en-GB" smtClean="0"/>
              <a:t>16</a:t>
            </a:fld>
            <a:endParaRPr lang="en-GB"/>
          </a:p>
        </p:txBody>
      </p:sp>
      <p:sp>
        <p:nvSpPr>
          <p:cNvPr id="4" name="TextBox 3">
            <a:extLst>
              <a:ext uri="{FF2B5EF4-FFF2-40B4-BE49-F238E27FC236}">
                <a16:creationId xmlns:a16="http://schemas.microsoft.com/office/drawing/2014/main" id="{500390C4-A679-1889-A7F8-FCFA93B87F47}"/>
              </a:ext>
            </a:extLst>
          </p:cNvPr>
          <p:cNvSpPr txBox="1"/>
          <p:nvPr/>
        </p:nvSpPr>
        <p:spPr>
          <a:xfrm>
            <a:off x="1707946" y="1028226"/>
            <a:ext cx="8514849" cy="414665"/>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Create and manage masking rules (preview)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5" name="Picture 2" descr="Screenshot showing the location of the Secured masking rule button in Power Apps.">
            <a:extLst>
              <a:ext uri="{FF2B5EF4-FFF2-40B4-BE49-F238E27FC236}">
                <a16:creationId xmlns:a16="http://schemas.microsoft.com/office/drawing/2014/main" id="{5AACC2C3-6712-D02B-D2F0-96D49DD179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438" y="1792969"/>
            <a:ext cx="5195625" cy="3684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Speech Bubble: Rectangle with Corners Rounded 5">
            <a:extLst>
              <a:ext uri="{FF2B5EF4-FFF2-40B4-BE49-F238E27FC236}">
                <a16:creationId xmlns:a16="http://schemas.microsoft.com/office/drawing/2014/main" id="{34CA65A1-0BC1-8115-3581-3B6CAFE049B1}"/>
              </a:ext>
            </a:extLst>
          </p:cNvPr>
          <p:cNvSpPr/>
          <p:nvPr/>
        </p:nvSpPr>
        <p:spPr>
          <a:xfrm>
            <a:off x="365077" y="5300966"/>
            <a:ext cx="3013123" cy="638512"/>
          </a:xfrm>
          <a:prstGeom prst="wedgeRoundRectCallout">
            <a:avLst>
              <a:gd name="adj1" fmla="val 19393"/>
              <a:gd name="adj2" fmla="val -84959"/>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Adding a new Secured</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masking rule within a solution</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 name="Flowchart: Connector 6">
            <a:extLst>
              <a:ext uri="{FF2B5EF4-FFF2-40B4-BE49-F238E27FC236}">
                <a16:creationId xmlns:a16="http://schemas.microsoft.com/office/drawing/2014/main" id="{80FAB817-2A23-1674-27F1-13161C618106}"/>
              </a:ext>
            </a:extLst>
          </p:cNvPr>
          <p:cNvSpPr/>
          <p:nvPr/>
        </p:nvSpPr>
        <p:spPr>
          <a:xfrm>
            <a:off x="2203633" y="461260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pic>
        <p:nvPicPr>
          <p:cNvPr id="8" name="Picture 4" descr="Screenshot that shows the New masking rule form and some example column values.">
            <a:extLst>
              <a:ext uri="{FF2B5EF4-FFF2-40B4-BE49-F238E27FC236}">
                <a16:creationId xmlns:a16="http://schemas.microsoft.com/office/drawing/2014/main" id="{8F596CDA-C1F0-5AA1-7791-3600A78900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5066" y="1999779"/>
            <a:ext cx="6306470" cy="32747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Speech Bubble: Rectangle with Corners Rounded 8">
            <a:extLst>
              <a:ext uri="{FF2B5EF4-FFF2-40B4-BE49-F238E27FC236}">
                <a16:creationId xmlns:a16="http://schemas.microsoft.com/office/drawing/2014/main" id="{9DF60CFF-F33B-AB49-E1F9-220E1F484A5E}"/>
              </a:ext>
            </a:extLst>
          </p:cNvPr>
          <p:cNvSpPr/>
          <p:nvPr/>
        </p:nvSpPr>
        <p:spPr>
          <a:xfrm>
            <a:off x="6285546" y="5623644"/>
            <a:ext cx="2441426" cy="638512"/>
          </a:xfrm>
          <a:prstGeom prst="wedgeRoundRectCallout">
            <a:avLst>
              <a:gd name="adj1" fmla="val 31387"/>
              <a:gd name="adj2" fmla="val -91589"/>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Configure Secured masking rule</a:t>
            </a:r>
          </a:p>
        </p:txBody>
      </p:sp>
      <p:sp>
        <p:nvSpPr>
          <p:cNvPr id="10" name="Flowchart: Connector 9">
            <a:extLst>
              <a:ext uri="{FF2B5EF4-FFF2-40B4-BE49-F238E27FC236}">
                <a16:creationId xmlns:a16="http://schemas.microsoft.com/office/drawing/2014/main" id="{84292136-10C7-3B9A-385E-02837CCC8E90}"/>
              </a:ext>
            </a:extLst>
          </p:cNvPr>
          <p:cNvSpPr/>
          <p:nvPr/>
        </p:nvSpPr>
        <p:spPr>
          <a:xfrm>
            <a:off x="8176260" y="483775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Tree>
    <p:extLst>
      <p:ext uri="{BB962C8B-B14F-4D97-AF65-F5344CB8AC3E}">
        <p14:creationId xmlns:p14="http://schemas.microsoft.com/office/powerpoint/2010/main" val="398047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198D81-C62D-CB60-A5F6-8C2FAE2A07F4}"/>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6E899AC-8650-44DF-EAA3-ECBE0CB0F0DB}"/>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57463AF-83C3-5985-D8F2-4E85D0821AF9}"/>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5AF5C950-C7B8-A1CB-BEE5-59622EA2489C}"/>
              </a:ext>
            </a:extLst>
          </p:cNvPr>
          <p:cNvSpPr>
            <a:spLocks noGrp="1"/>
          </p:cNvSpPr>
          <p:nvPr>
            <p:ph type="sldNum" sz="quarter" idx="12"/>
          </p:nvPr>
        </p:nvSpPr>
        <p:spPr/>
        <p:txBody>
          <a:bodyPr/>
          <a:lstStyle/>
          <a:p>
            <a:fld id="{86889C5C-8171-4CA3-86B1-670B90C02708}" type="slidenum">
              <a:rPr lang="en-GB" smtClean="0"/>
              <a:t>17</a:t>
            </a:fld>
            <a:endParaRPr lang="en-GB"/>
          </a:p>
        </p:txBody>
      </p:sp>
      <p:sp>
        <p:nvSpPr>
          <p:cNvPr id="4" name="TextBox 3">
            <a:extLst>
              <a:ext uri="{FF2B5EF4-FFF2-40B4-BE49-F238E27FC236}">
                <a16:creationId xmlns:a16="http://schemas.microsoft.com/office/drawing/2014/main" id="{A2309E71-8B73-60EF-51C7-F0009B33D0E4}"/>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Ensure that personal information is securely handled, stored, and protected in a way that maintains confidentiality and integrity and prevents unauthorized access</a:t>
            </a:r>
          </a:p>
        </p:txBody>
      </p:sp>
      <p:grpSp>
        <p:nvGrpSpPr>
          <p:cNvPr id="48" name="Group 47">
            <a:extLst>
              <a:ext uri="{FF2B5EF4-FFF2-40B4-BE49-F238E27FC236}">
                <a16:creationId xmlns:a16="http://schemas.microsoft.com/office/drawing/2014/main" id="{11A7F152-F017-7481-353F-233AFEF25FEF}"/>
              </a:ext>
            </a:extLst>
          </p:cNvPr>
          <p:cNvGrpSpPr/>
          <p:nvPr/>
        </p:nvGrpSpPr>
        <p:grpSpPr>
          <a:xfrm>
            <a:off x="5015638" y="2277847"/>
            <a:ext cx="2468880" cy="2011680"/>
            <a:chOff x="6941" y="1161888"/>
            <a:chExt cx="2461366" cy="1837358"/>
          </a:xfrm>
        </p:grpSpPr>
        <p:sp>
          <p:nvSpPr>
            <p:cNvPr id="49" name="Rectangle: Top Corners Rounded 48">
              <a:extLst>
                <a:ext uri="{FF2B5EF4-FFF2-40B4-BE49-F238E27FC236}">
                  <a16:creationId xmlns:a16="http://schemas.microsoft.com/office/drawing/2014/main" id="{04238939-9950-DF77-6E1E-05A5F5E956DE}"/>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50" name="Rectangle: Top Corners Rounded 4">
              <a:extLst>
                <a:ext uri="{FF2B5EF4-FFF2-40B4-BE49-F238E27FC236}">
                  <a16:creationId xmlns:a16="http://schemas.microsoft.com/office/drawing/2014/main" id="{6BA79F80-60A9-2FE2-0C66-648CFA94BEA7}"/>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eaLnBrk="1" fontAlgn="auto" latinLnBrk="0" hangingPunct="1">
                <a:lnSpc>
                  <a:spcPct val="90000"/>
                </a:lnSpc>
                <a:spcBef>
                  <a:spcPct val="0"/>
                </a:spcBef>
                <a:spcAft>
                  <a:spcPct val="15000"/>
                </a:spcAft>
                <a:buClrTx/>
                <a:buSzTx/>
                <a:buFontTx/>
                <a:buChar char="•"/>
                <a:tabLst/>
                <a:defRPr/>
              </a:pPr>
              <a:r>
                <a:rPr lang="en-US" sz="1300" kern="0" noProof="0" dirty="0">
                  <a:solidFill>
                    <a:prstClr val="black">
                      <a:hueOff val="0"/>
                      <a:satOff val="0"/>
                      <a:lumOff val="0"/>
                      <a:alphaOff val="0"/>
                    </a:prstClr>
                  </a:solidFill>
                  <a:latin typeface="Segoe UI" panose="020B0502040204020203" pitchFamily="34" charset="0"/>
                  <a:cs typeface="Segoe UI" panose="020B0502040204020203" pitchFamily="34" charset="0"/>
                </a:rPr>
                <a:t>(In Preview) Managed allowed/blocked connectors at scale (Environment Groups)</a:t>
              </a:r>
              <a:endParaRPr kumimoji="0" lang="en-US" sz="1300" b="0" i="0" u="none" strike="noStrike" kern="0" cap="none" spc="0" normalizeH="0" baseline="0" noProof="0" dirty="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51" name="Group 50">
            <a:extLst>
              <a:ext uri="{FF2B5EF4-FFF2-40B4-BE49-F238E27FC236}">
                <a16:creationId xmlns:a16="http://schemas.microsoft.com/office/drawing/2014/main" id="{5EDC6E03-EEC9-4D5C-ADE2-17FE379B5192}"/>
              </a:ext>
            </a:extLst>
          </p:cNvPr>
          <p:cNvGrpSpPr/>
          <p:nvPr/>
        </p:nvGrpSpPr>
        <p:grpSpPr>
          <a:xfrm>
            <a:off x="5015633" y="4258509"/>
            <a:ext cx="2468881" cy="790063"/>
            <a:chOff x="6940" y="2999246"/>
            <a:chExt cx="2461367" cy="790063"/>
          </a:xfrm>
          <a:solidFill>
            <a:srgbClr val="ED7D31"/>
          </a:solidFill>
        </p:grpSpPr>
        <p:sp>
          <p:nvSpPr>
            <p:cNvPr id="52" name="Rectangle 51">
              <a:extLst>
                <a:ext uri="{FF2B5EF4-FFF2-40B4-BE49-F238E27FC236}">
                  <a16:creationId xmlns:a16="http://schemas.microsoft.com/office/drawing/2014/main" id="{A9ED6BD8-D971-1DAE-089B-B2ABBEC28745}"/>
                </a:ext>
              </a:extLst>
            </p:cNvPr>
            <p:cNvSpPr/>
            <p:nvPr/>
          </p:nvSpPr>
          <p:spPr>
            <a:xfrm>
              <a:off x="6941" y="2999246"/>
              <a:ext cx="2461366" cy="790063"/>
            </a:xfrm>
            <a:prstGeom prst="rect">
              <a:avLst/>
            </a:prstGeom>
            <a:grp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3" name="TextBox 52">
              <a:extLst>
                <a:ext uri="{FF2B5EF4-FFF2-40B4-BE49-F238E27FC236}">
                  <a16:creationId xmlns:a16="http://schemas.microsoft.com/office/drawing/2014/main" id="{F58BCDEA-11C5-DAC9-BFBE-A86AC0BD1195}"/>
                </a:ext>
              </a:extLst>
            </p:cNvPr>
            <p:cNvSpPr txBox="1"/>
            <p:nvPr/>
          </p:nvSpPr>
          <p:spPr>
            <a:xfrm>
              <a:off x="6940" y="2999246"/>
              <a:ext cx="1762020" cy="790063"/>
            </a:xfrm>
            <a:prstGeom prst="rect">
              <a:avLst/>
            </a:prstGeom>
            <a:grpFill/>
            <a:ln>
              <a:no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Advanced Connector Policies</a:t>
              </a:r>
            </a:p>
          </p:txBody>
        </p:sp>
      </p:grpSp>
      <p:grpSp>
        <p:nvGrpSpPr>
          <p:cNvPr id="54" name="Group 53">
            <a:extLst>
              <a:ext uri="{FF2B5EF4-FFF2-40B4-BE49-F238E27FC236}">
                <a16:creationId xmlns:a16="http://schemas.microsoft.com/office/drawing/2014/main" id="{3BD3AA3C-F5E5-1823-6C0C-546BE243E40A}"/>
              </a:ext>
            </a:extLst>
          </p:cNvPr>
          <p:cNvGrpSpPr/>
          <p:nvPr/>
        </p:nvGrpSpPr>
        <p:grpSpPr>
          <a:xfrm>
            <a:off x="7739027" y="2272751"/>
            <a:ext cx="2468880" cy="2011680"/>
            <a:chOff x="2884829" y="1161888"/>
            <a:chExt cx="2461366" cy="1837358"/>
          </a:xfrm>
        </p:grpSpPr>
        <p:sp>
          <p:nvSpPr>
            <p:cNvPr id="55" name="Rectangle: Top Corners Rounded 54">
              <a:extLst>
                <a:ext uri="{FF2B5EF4-FFF2-40B4-BE49-F238E27FC236}">
                  <a16:creationId xmlns:a16="http://schemas.microsoft.com/office/drawing/2014/main" id="{6EE1112F-15EC-03B8-28B7-E23CE0DA1CE8}"/>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56" name="Rectangle: Top Corners Rounded 4">
              <a:extLst>
                <a:ext uri="{FF2B5EF4-FFF2-40B4-BE49-F238E27FC236}">
                  <a16:creationId xmlns:a16="http://schemas.microsoft.com/office/drawing/2014/main" id="{8EE874B7-63A7-20A4-D571-C374F8462BB4}"/>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Connect the Power Platform to your private and protected resources without exposing them to the internet</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Scope supported: Dataverse plugins, selected connectors</a:t>
              </a:r>
            </a:p>
            <a:p>
              <a:pPr marL="0" lvl="1" defTabSz="533400">
                <a:lnSpc>
                  <a:spcPct val="90000"/>
                </a:lnSpc>
                <a:spcBef>
                  <a:spcPct val="0"/>
                </a:spcBef>
                <a:spcAft>
                  <a:spcPct val="15000"/>
                </a:spcAft>
                <a:defRPr/>
              </a:pP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57" name="Group 56">
            <a:extLst>
              <a:ext uri="{FF2B5EF4-FFF2-40B4-BE49-F238E27FC236}">
                <a16:creationId xmlns:a16="http://schemas.microsoft.com/office/drawing/2014/main" id="{E18E339E-301A-2003-F263-26432014F645}"/>
              </a:ext>
            </a:extLst>
          </p:cNvPr>
          <p:cNvGrpSpPr/>
          <p:nvPr/>
        </p:nvGrpSpPr>
        <p:grpSpPr>
          <a:xfrm>
            <a:off x="7739027" y="4267061"/>
            <a:ext cx="2468880" cy="790063"/>
            <a:chOff x="2884829" y="2999246"/>
            <a:chExt cx="2461366" cy="790063"/>
          </a:xfrm>
          <a:solidFill>
            <a:srgbClr val="A5A5A5"/>
          </a:solidFill>
        </p:grpSpPr>
        <p:sp>
          <p:nvSpPr>
            <p:cNvPr id="58" name="Rectangle 57">
              <a:extLst>
                <a:ext uri="{FF2B5EF4-FFF2-40B4-BE49-F238E27FC236}">
                  <a16:creationId xmlns:a16="http://schemas.microsoft.com/office/drawing/2014/main" id="{2EB1DCD5-DAC1-0BB5-60D8-D8D167A62253}"/>
                </a:ext>
              </a:extLst>
            </p:cNvPr>
            <p:cNvSpPr/>
            <p:nvPr/>
          </p:nvSpPr>
          <p:spPr>
            <a:xfrm>
              <a:off x="2884829" y="2999246"/>
              <a:ext cx="2461366" cy="790063"/>
            </a:xfrm>
            <a:prstGeom prst="rect">
              <a:avLst/>
            </a:prstGeom>
            <a:grp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9" name="TextBox 58">
              <a:extLst>
                <a:ext uri="{FF2B5EF4-FFF2-40B4-BE49-F238E27FC236}">
                  <a16:creationId xmlns:a16="http://schemas.microsoft.com/office/drawing/2014/main" id="{F72F80B1-F8AF-9053-2A6B-2B74177F7B0B}"/>
                </a:ext>
              </a:extLst>
            </p:cNvPr>
            <p:cNvSpPr txBox="1"/>
            <p:nvPr/>
          </p:nvSpPr>
          <p:spPr>
            <a:xfrm>
              <a:off x="2884829" y="2999246"/>
              <a:ext cx="1733356" cy="790063"/>
            </a:xfrm>
            <a:prstGeom prst="rect">
              <a:avLst/>
            </a:prstGeom>
            <a:grp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dirty="0">
                  <a:solidFill>
                    <a:prstClr val="white"/>
                  </a:solidFill>
                  <a:latin typeface="Segoe UI" panose="020B0502040204020203" pitchFamily="34" charset="0"/>
                  <a:cs typeface="Segoe UI" panose="020B0502040204020203" pitchFamily="34" charset="0"/>
                </a:rPr>
                <a:t>Network Isolation (Azure v-Net support) </a:t>
              </a:r>
            </a:p>
          </p:txBody>
        </p:sp>
      </p:grpSp>
      <p:grpSp>
        <p:nvGrpSpPr>
          <p:cNvPr id="60" name="Group 59">
            <a:extLst>
              <a:ext uri="{FF2B5EF4-FFF2-40B4-BE49-F238E27FC236}">
                <a16:creationId xmlns:a16="http://schemas.microsoft.com/office/drawing/2014/main" id="{02834B3E-0496-03A3-422F-1E37DBFB1729}"/>
              </a:ext>
            </a:extLst>
          </p:cNvPr>
          <p:cNvGrpSpPr/>
          <p:nvPr/>
        </p:nvGrpSpPr>
        <p:grpSpPr>
          <a:xfrm>
            <a:off x="2265603" y="2265526"/>
            <a:ext cx="2468880" cy="2011680"/>
            <a:chOff x="8640607" y="1161888"/>
            <a:chExt cx="2461366" cy="1837358"/>
          </a:xfrm>
        </p:grpSpPr>
        <p:sp>
          <p:nvSpPr>
            <p:cNvPr id="61" name="Rectangle: Top Corners Rounded 60">
              <a:extLst>
                <a:ext uri="{FF2B5EF4-FFF2-40B4-BE49-F238E27FC236}">
                  <a16:creationId xmlns:a16="http://schemas.microsoft.com/office/drawing/2014/main" id="{66C8AD26-391D-AAD8-8FAF-826F78012638}"/>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62" name="Rectangle: Top Corners Rounded 4">
              <a:extLst>
                <a:ext uri="{FF2B5EF4-FFF2-40B4-BE49-F238E27FC236}">
                  <a16:creationId xmlns:a16="http://schemas.microsoft.com/office/drawing/2014/main" id="{053381C2-3DB4-4D23-2040-535AE34F3F25}"/>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Prevent makers to expose corporate Information</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At Design Time, prevent makers from building apps and flows that leverage blocked connectors </a:t>
              </a:r>
            </a:p>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2 levels of Application</a:t>
              </a:r>
              <a:r>
                <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rPr>
                <a:t>: </a:t>
              </a: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Tenant-Wide vs. Environment</a:t>
              </a:r>
            </a:p>
          </p:txBody>
        </p:sp>
      </p:grpSp>
      <p:grpSp>
        <p:nvGrpSpPr>
          <p:cNvPr id="63" name="Group 62">
            <a:extLst>
              <a:ext uri="{FF2B5EF4-FFF2-40B4-BE49-F238E27FC236}">
                <a16:creationId xmlns:a16="http://schemas.microsoft.com/office/drawing/2014/main" id="{F5584A3E-7E92-4ADA-FF0A-4342E94FEA2A}"/>
              </a:ext>
            </a:extLst>
          </p:cNvPr>
          <p:cNvGrpSpPr/>
          <p:nvPr/>
        </p:nvGrpSpPr>
        <p:grpSpPr>
          <a:xfrm>
            <a:off x="2262994" y="4262112"/>
            <a:ext cx="2468880" cy="790063"/>
            <a:chOff x="8632682" y="3002849"/>
            <a:chExt cx="2461366" cy="790063"/>
          </a:xfrm>
          <a:solidFill>
            <a:srgbClr val="5B9BD5"/>
          </a:solidFill>
        </p:grpSpPr>
        <p:sp>
          <p:nvSpPr>
            <p:cNvPr id="64" name="Rectangle 63">
              <a:extLst>
                <a:ext uri="{FF2B5EF4-FFF2-40B4-BE49-F238E27FC236}">
                  <a16:creationId xmlns:a16="http://schemas.microsoft.com/office/drawing/2014/main" id="{ADCA157B-823D-5627-48C8-D65277ED46D6}"/>
                </a:ext>
              </a:extLst>
            </p:cNvPr>
            <p:cNvSpPr/>
            <p:nvPr/>
          </p:nvSpPr>
          <p:spPr>
            <a:xfrm>
              <a:off x="8632682" y="3002849"/>
              <a:ext cx="2461366" cy="790063"/>
            </a:xfrm>
            <a:prstGeom prst="rect">
              <a:avLst/>
            </a:prstGeom>
            <a:grp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65" name="TextBox 64">
              <a:extLst>
                <a:ext uri="{FF2B5EF4-FFF2-40B4-BE49-F238E27FC236}">
                  <a16:creationId xmlns:a16="http://schemas.microsoft.com/office/drawing/2014/main" id="{77181BEB-42D7-EB66-1964-0D2F9DE0665A}"/>
                </a:ext>
              </a:extLst>
            </p:cNvPr>
            <p:cNvSpPr txBox="1"/>
            <p:nvPr/>
          </p:nvSpPr>
          <p:spPr>
            <a:xfrm>
              <a:off x="8632683" y="3002849"/>
              <a:ext cx="1863051" cy="790063"/>
            </a:xfrm>
            <a:prstGeom prst="rect">
              <a:avLst/>
            </a:prstGeom>
            <a:grp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dirty="0">
                  <a:solidFill>
                    <a:prstClr val="white"/>
                  </a:solidFill>
                  <a:latin typeface="Segoe UI" panose="020B0502040204020203" pitchFamily="34" charset="0"/>
                  <a:cs typeface="Segoe UI" panose="020B0502040204020203" pitchFamily="34" charset="0"/>
                </a:rPr>
                <a:t>Data </a:t>
              </a:r>
              <a:r>
                <a:rPr lang="en-US" sz="1600" b="1" kern="0" noProof="0" dirty="0">
                  <a:solidFill>
                    <a:prstClr val="white"/>
                  </a:solidFill>
                  <a:latin typeface="Segoe UI" panose="020B0502040204020203" pitchFamily="34" charset="0"/>
                  <a:cs typeface="Segoe UI" panose="020B0502040204020203" pitchFamily="34" charset="0"/>
                </a:rPr>
                <a:t>Policies</a:t>
              </a:r>
              <a:r>
                <a:rPr lang="es-ES" sz="1600" b="1" kern="0" dirty="0">
                  <a:solidFill>
                    <a:prstClr val="white"/>
                  </a:solidFill>
                  <a:latin typeface="Segoe UI" panose="020B0502040204020203" pitchFamily="34" charset="0"/>
                  <a:cs typeface="Segoe UI" panose="020B0502040204020203" pitchFamily="34" charset="0"/>
                </a:rPr>
                <a:t> (Run time vs. </a:t>
              </a:r>
              <a:r>
                <a:rPr lang="en-US" sz="1600" b="1" kern="0" noProof="0" dirty="0">
                  <a:solidFill>
                    <a:prstClr val="white"/>
                  </a:solidFill>
                  <a:latin typeface="Segoe UI" panose="020B0502040204020203" pitchFamily="34" charset="0"/>
                  <a:cs typeface="Segoe UI" panose="020B0502040204020203" pitchFamily="34" charset="0"/>
                </a:rPr>
                <a:t>Design Time</a:t>
              </a:r>
              <a:r>
                <a:rPr lang="fr-FR" sz="1600" b="1" kern="0" dirty="0">
                  <a:solidFill>
                    <a:prstClr val="white"/>
                  </a:solidFill>
                  <a:latin typeface="Segoe UI" panose="020B0502040204020203" pitchFamily="34" charset="0"/>
                  <a:cs typeface="Segoe UI" panose="020B0502040204020203" pitchFamily="34" charset="0"/>
                </a:rPr>
                <a:t>)</a:t>
              </a:r>
            </a:p>
          </p:txBody>
        </p:sp>
      </p:grpSp>
      <p:pic>
        <p:nvPicPr>
          <p:cNvPr id="66" name="Picture 65">
            <a:extLst>
              <a:ext uri="{FF2B5EF4-FFF2-40B4-BE49-F238E27FC236}">
                <a16:creationId xmlns:a16="http://schemas.microsoft.com/office/drawing/2014/main" id="{09C41E92-B243-8508-684F-3C75F784B78B}"/>
              </a:ext>
            </a:extLst>
          </p:cNvPr>
          <p:cNvPicPr>
            <a:picLocks noChangeAspect="1"/>
          </p:cNvPicPr>
          <p:nvPr/>
        </p:nvPicPr>
        <p:blipFill>
          <a:blip r:embed="rId3"/>
          <a:stretch>
            <a:fillRect/>
          </a:stretch>
        </p:blipFill>
        <p:spPr>
          <a:xfrm>
            <a:off x="4066202" y="4344650"/>
            <a:ext cx="640080" cy="640080"/>
          </a:xfrm>
          <a:prstGeom prst="rect">
            <a:avLst/>
          </a:prstGeom>
        </p:spPr>
      </p:pic>
      <p:pic>
        <p:nvPicPr>
          <p:cNvPr id="67" name="Picture 66">
            <a:extLst>
              <a:ext uri="{FF2B5EF4-FFF2-40B4-BE49-F238E27FC236}">
                <a16:creationId xmlns:a16="http://schemas.microsoft.com/office/drawing/2014/main" id="{73299FC2-EC76-7B39-EA3D-0616ACB784A7}"/>
              </a:ext>
            </a:extLst>
          </p:cNvPr>
          <p:cNvPicPr>
            <a:picLocks noChangeAspect="1"/>
          </p:cNvPicPr>
          <p:nvPr/>
        </p:nvPicPr>
        <p:blipFill>
          <a:blip r:embed="rId4"/>
          <a:stretch>
            <a:fillRect/>
          </a:stretch>
        </p:blipFill>
        <p:spPr>
          <a:xfrm>
            <a:off x="6783032" y="4331568"/>
            <a:ext cx="640080" cy="640080"/>
          </a:xfrm>
          <a:prstGeom prst="rect">
            <a:avLst/>
          </a:prstGeom>
        </p:spPr>
      </p:pic>
      <p:pic>
        <p:nvPicPr>
          <p:cNvPr id="68" name="Picture 67">
            <a:extLst>
              <a:ext uri="{FF2B5EF4-FFF2-40B4-BE49-F238E27FC236}">
                <a16:creationId xmlns:a16="http://schemas.microsoft.com/office/drawing/2014/main" id="{BA7CF345-E044-340E-408B-F00A5AD1A0E6}"/>
              </a:ext>
            </a:extLst>
          </p:cNvPr>
          <p:cNvPicPr>
            <a:picLocks noChangeAspect="1"/>
          </p:cNvPicPr>
          <p:nvPr/>
        </p:nvPicPr>
        <p:blipFill>
          <a:blip r:embed="rId5"/>
          <a:stretch>
            <a:fillRect/>
          </a:stretch>
        </p:blipFill>
        <p:spPr>
          <a:xfrm>
            <a:off x="9501159" y="4331568"/>
            <a:ext cx="640080" cy="640080"/>
          </a:xfrm>
          <a:prstGeom prst="rect">
            <a:avLst/>
          </a:prstGeom>
        </p:spPr>
      </p:pic>
    </p:spTree>
    <p:extLst>
      <p:ext uri="{BB962C8B-B14F-4D97-AF65-F5344CB8AC3E}">
        <p14:creationId xmlns:p14="http://schemas.microsoft.com/office/powerpoint/2010/main" val="185363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1000"/>
                                        <p:tgtEl>
                                          <p:spTgt spid="51"/>
                                        </p:tgtEl>
                                      </p:cBhvr>
                                    </p:animEffect>
                                    <p:anim calcmode="lin" valueType="num">
                                      <p:cBhvr>
                                        <p:cTn id="13" dur="1000" fill="hold"/>
                                        <p:tgtEl>
                                          <p:spTgt spid="51"/>
                                        </p:tgtEl>
                                        <p:attrNameLst>
                                          <p:attrName>ppt_x</p:attrName>
                                        </p:attrNameLst>
                                      </p:cBhvr>
                                      <p:tavLst>
                                        <p:tav tm="0">
                                          <p:val>
                                            <p:strVal val="#ppt_x"/>
                                          </p:val>
                                        </p:tav>
                                        <p:tav tm="100000">
                                          <p:val>
                                            <p:strVal val="#ppt_x"/>
                                          </p:val>
                                        </p:tav>
                                      </p:tavLst>
                                    </p:anim>
                                    <p:anim calcmode="lin" valueType="num">
                                      <p:cBhvr>
                                        <p:cTn id="14" dur="1000" fill="hold"/>
                                        <p:tgtEl>
                                          <p:spTgt spid="5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1000"/>
                                        <p:tgtEl>
                                          <p:spTgt spid="54"/>
                                        </p:tgtEl>
                                      </p:cBhvr>
                                    </p:animEffect>
                                    <p:anim calcmode="lin" valueType="num">
                                      <p:cBhvr>
                                        <p:cTn id="18" dur="1000" fill="hold"/>
                                        <p:tgtEl>
                                          <p:spTgt spid="54"/>
                                        </p:tgtEl>
                                        <p:attrNameLst>
                                          <p:attrName>ppt_x</p:attrName>
                                        </p:attrNameLst>
                                      </p:cBhvr>
                                      <p:tavLst>
                                        <p:tav tm="0">
                                          <p:val>
                                            <p:strVal val="#ppt_x"/>
                                          </p:val>
                                        </p:tav>
                                        <p:tav tm="100000">
                                          <p:val>
                                            <p:strVal val="#ppt_x"/>
                                          </p:val>
                                        </p:tav>
                                      </p:tavLst>
                                    </p:anim>
                                    <p:anim calcmode="lin" valueType="num">
                                      <p:cBhvr>
                                        <p:cTn id="19" dur="1000" fill="hold"/>
                                        <p:tgtEl>
                                          <p:spTgt spid="5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fade">
                                      <p:cBhvr>
                                        <p:cTn id="22" dur="1000"/>
                                        <p:tgtEl>
                                          <p:spTgt spid="57"/>
                                        </p:tgtEl>
                                      </p:cBhvr>
                                    </p:animEffect>
                                    <p:anim calcmode="lin" valueType="num">
                                      <p:cBhvr>
                                        <p:cTn id="23" dur="1000" fill="hold"/>
                                        <p:tgtEl>
                                          <p:spTgt spid="57"/>
                                        </p:tgtEl>
                                        <p:attrNameLst>
                                          <p:attrName>ppt_x</p:attrName>
                                        </p:attrNameLst>
                                      </p:cBhvr>
                                      <p:tavLst>
                                        <p:tav tm="0">
                                          <p:val>
                                            <p:strVal val="#ppt_x"/>
                                          </p:val>
                                        </p:tav>
                                        <p:tav tm="100000">
                                          <p:val>
                                            <p:strVal val="#ppt_x"/>
                                          </p:val>
                                        </p:tav>
                                      </p:tavLst>
                                    </p:anim>
                                    <p:anim calcmode="lin" valueType="num">
                                      <p:cBhvr>
                                        <p:cTn id="24" dur="1000" fill="hold"/>
                                        <p:tgtEl>
                                          <p:spTgt spid="5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1000"/>
                                        <p:tgtEl>
                                          <p:spTgt spid="60"/>
                                        </p:tgtEl>
                                      </p:cBhvr>
                                    </p:animEffect>
                                    <p:anim calcmode="lin" valueType="num">
                                      <p:cBhvr>
                                        <p:cTn id="28" dur="1000" fill="hold"/>
                                        <p:tgtEl>
                                          <p:spTgt spid="60"/>
                                        </p:tgtEl>
                                        <p:attrNameLst>
                                          <p:attrName>ppt_x</p:attrName>
                                        </p:attrNameLst>
                                      </p:cBhvr>
                                      <p:tavLst>
                                        <p:tav tm="0">
                                          <p:val>
                                            <p:strVal val="#ppt_x"/>
                                          </p:val>
                                        </p:tav>
                                        <p:tav tm="100000">
                                          <p:val>
                                            <p:strVal val="#ppt_x"/>
                                          </p:val>
                                        </p:tav>
                                      </p:tavLst>
                                    </p:anim>
                                    <p:anim calcmode="lin" valueType="num">
                                      <p:cBhvr>
                                        <p:cTn id="29" dur="1000" fill="hold"/>
                                        <p:tgtEl>
                                          <p:spTgt spid="6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fade">
                                      <p:cBhvr>
                                        <p:cTn id="32" dur="1000"/>
                                        <p:tgtEl>
                                          <p:spTgt spid="63"/>
                                        </p:tgtEl>
                                      </p:cBhvr>
                                    </p:animEffect>
                                    <p:anim calcmode="lin" valueType="num">
                                      <p:cBhvr>
                                        <p:cTn id="33" dur="1000" fill="hold"/>
                                        <p:tgtEl>
                                          <p:spTgt spid="63"/>
                                        </p:tgtEl>
                                        <p:attrNameLst>
                                          <p:attrName>ppt_x</p:attrName>
                                        </p:attrNameLst>
                                      </p:cBhvr>
                                      <p:tavLst>
                                        <p:tav tm="0">
                                          <p:val>
                                            <p:strVal val="#ppt_x"/>
                                          </p:val>
                                        </p:tav>
                                        <p:tav tm="100000">
                                          <p:val>
                                            <p:strVal val="#ppt_x"/>
                                          </p:val>
                                        </p:tav>
                                      </p:tavLst>
                                    </p:anim>
                                    <p:anim calcmode="lin" valueType="num">
                                      <p:cBhvr>
                                        <p:cTn id="34" dur="1000" fill="hold"/>
                                        <p:tgtEl>
                                          <p:spTgt spid="6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fade">
                                      <p:cBhvr>
                                        <p:cTn id="37" dur="1000"/>
                                        <p:tgtEl>
                                          <p:spTgt spid="66"/>
                                        </p:tgtEl>
                                      </p:cBhvr>
                                    </p:animEffect>
                                    <p:anim calcmode="lin" valueType="num">
                                      <p:cBhvr>
                                        <p:cTn id="38" dur="1000" fill="hold"/>
                                        <p:tgtEl>
                                          <p:spTgt spid="66"/>
                                        </p:tgtEl>
                                        <p:attrNameLst>
                                          <p:attrName>ppt_x</p:attrName>
                                        </p:attrNameLst>
                                      </p:cBhvr>
                                      <p:tavLst>
                                        <p:tav tm="0">
                                          <p:val>
                                            <p:strVal val="#ppt_x"/>
                                          </p:val>
                                        </p:tav>
                                        <p:tav tm="100000">
                                          <p:val>
                                            <p:strVal val="#ppt_x"/>
                                          </p:val>
                                        </p:tav>
                                      </p:tavLst>
                                    </p:anim>
                                    <p:anim calcmode="lin" valueType="num">
                                      <p:cBhvr>
                                        <p:cTn id="39" dur="1000" fill="hold"/>
                                        <p:tgtEl>
                                          <p:spTgt spid="6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fade">
                                      <p:cBhvr>
                                        <p:cTn id="42" dur="1000"/>
                                        <p:tgtEl>
                                          <p:spTgt spid="67"/>
                                        </p:tgtEl>
                                      </p:cBhvr>
                                    </p:animEffect>
                                    <p:anim calcmode="lin" valueType="num">
                                      <p:cBhvr>
                                        <p:cTn id="43" dur="1000" fill="hold"/>
                                        <p:tgtEl>
                                          <p:spTgt spid="67"/>
                                        </p:tgtEl>
                                        <p:attrNameLst>
                                          <p:attrName>ppt_x</p:attrName>
                                        </p:attrNameLst>
                                      </p:cBhvr>
                                      <p:tavLst>
                                        <p:tav tm="0">
                                          <p:val>
                                            <p:strVal val="#ppt_x"/>
                                          </p:val>
                                        </p:tav>
                                        <p:tav tm="100000">
                                          <p:val>
                                            <p:strVal val="#ppt_x"/>
                                          </p:val>
                                        </p:tav>
                                      </p:tavLst>
                                    </p:anim>
                                    <p:anim calcmode="lin" valueType="num">
                                      <p:cBhvr>
                                        <p:cTn id="44" dur="1000" fill="hold"/>
                                        <p:tgtEl>
                                          <p:spTgt spid="67"/>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animEffect transition="in" filter="fade">
                                      <p:cBhvr>
                                        <p:cTn id="47" dur="1000"/>
                                        <p:tgtEl>
                                          <p:spTgt spid="68"/>
                                        </p:tgtEl>
                                      </p:cBhvr>
                                    </p:animEffect>
                                    <p:anim calcmode="lin" valueType="num">
                                      <p:cBhvr>
                                        <p:cTn id="48" dur="1000" fill="hold"/>
                                        <p:tgtEl>
                                          <p:spTgt spid="68"/>
                                        </p:tgtEl>
                                        <p:attrNameLst>
                                          <p:attrName>ppt_x</p:attrName>
                                        </p:attrNameLst>
                                      </p:cBhvr>
                                      <p:tavLst>
                                        <p:tav tm="0">
                                          <p:val>
                                            <p:strVal val="#ppt_x"/>
                                          </p:val>
                                        </p:tav>
                                        <p:tav tm="100000">
                                          <p:val>
                                            <p:strVal val="#ppt_x"/>
                                          </p:val>
                                        </p:tav>
                                      </p:tavLst>
                                    </p:anim>
                                    <p:anim calcmode="lin" valueType="num">
                                      <p:cBhvr>
                                        <p:cTn id="49"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286B959-5E1B-6B0C-C91D-260EC33ADBF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14C6C32-DC7D-C84D-1330-ADA06D3D4341}"/>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0C48BDFF-0BBA-B386-6E7D-BE0C92FD0C8D}"/>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D655C567-B5E9-10AC-C663-24BAC343E3C6}"/>
              </a:ext>
            </a:extLst>
          </p:cNvPr>
          <p:cNvSpPr>
            <a:spLocks noGrp="1"/>
          </p:cNvSpPr>
          <p:nvPr>
            <p:ph type="sldNum" sz="quarter" idx="12"/>
          </p:nvPr>
        </p:nvSpPr>
        <p:spPr/>
        <p:txBody>
          <a:bodyPr/>
          <a:lstStyle/>
          <a:p>
            <a:fld id="{86889C5C-8171-4CA3-86B1-670B90C02708}" type="slidenum">
              <a:rPr lang="en-GB" smtClean="0"/>
              <a:t>18</a:t>
            </a:fld>
            <a:endParaRPr lang="en-GB"/>
          </a:p>
        </p:txBody>
      </p:sp>
      <p:sp>
        <p:nvSpPr>
          <p:cNvPr id="4" name="TextBox 3">
            <a:extLst>
              <a:ext uri="{FF2B5EF4-FFF2-40B4-BE49-F238E27FC236}">
                <a16:creationId xmlns:a16="http://schemas.microsoft.com/office/drawing/2014/main" id="{62A0170D-F9D0-D805-2EA7-3DB1A5CDB65D}"/>
              </a:ext>
            </a:extLst>
          </p:cNvPr>
          <p:cNvSpPr txBox="1"/>
          <p:nvPr/>
        </p:nvSpPr>
        <p:spPr>
          <a:xfrm>
            <a:off x="1707946" y="1028226"/>
            <a:ext cx="8514849" cy="774764"/>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Connector action control - Power Platform | Microsoft Learn</a:t>
            </a:r>
            <a:r>
              <a:rPr lang="en-US" dirty="0">
                <a:latin typeface="Segoe UI" panose="020B0502040204020203" pitchFamily="34" charset="0"/>
                <a:cs typeface="Segoe UI" panose="020B0502040204020203" pitchFamily="34" charset="0"/>
              </a:rPr>
              <a:t> </a:t>
            </a:r>
            <a:r>
              <a:rPr lang="en-US" dirty="0">
                <a:solidFill>
                  <a:schemeClr val="bg1"/>
                </a:solidFill>
                <a:latin typeface="Segoe UI" panose="020B0502040204020203" pitchFamily="34" charset="0"/>
                <a:cs typeface="Segoe UI" panose="020B0502040204020203" pitchFamily="34" charset="0"/>
              </a:rPr>
              <a:t>&amp; </a:t>
            </a:r>
            <a:r>
              <a:rPr lang="en-US" dirty="0">
                <a:latin typeface="Segoe UI" panose="020B0502040204020203" pitchFamily="34" charset="0"/>
                <a:cs typeface="Segoe UI" panose="020B0502040204020203" pitchFamily="34" charset="0"/>
                <a:hlinkClick r:id="rId4"/>
              </a:rPr>
              <a:t>Connector endpoint filtering (preview)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11" name="Picture 10">
            <a:extLst>
              <a:ext uri="{FF2B5EF4-FFF2-40B4-BE49-F238E27FC236}">
                <a16:creationId xmlns:a16="http://schemas.microsoft.com/office/drawing/2014/main" id="{0EBE3DE9-A44F-3D08-FB47-83D63FAC448A}"/>
              </a:ext>
            </a:extLst>
          </p:cNvPr>
          <p:cNvPicPr>
            <a:picLocks noChangeAspect="1"/>
          </p:cNvPicPr>
          <p:nvPr/>
        </p:nvPicPr>
        <p:blipFill>
          <a:blip r:embed="rId5"/>
          <a:stretch>
            <a:fillRect/>
          </a:stretch>
        </p:blipFill>
        <p:spPr>
          <a:xfrm>
            <a:off x="2038077" y="1803316"/>
            <a:ext cx="8115845" cy="4773612"/>
          </a:xfrm>
          <a:prstGeom prst="rect">
            <a:avLst/>
          </a:prstGeom>
        </p:spPr>
      </p:pic>
      <p:sp>
        <p:nvSpPr>
          <p:cNvPr id="12" name="Speech Bubble: Rectangle with Corners Rounded 11">
            <a:extLst>
              <a:ext uri="{FF2B5EF4-FFF2-40B4-BE49-F238E27FC236}">
                <a16:creationId xmlns:a16="http://schemas.microsoft.com/office/drawing/2014/main" id="{1FA5B2E9-BCDC-6C16-4C21-82462E27EEBD}"/>
              </a:ext>
            </a:extLst>
          </p:cNvPr>
          <p:cNvSpPr/>
          <p:nvPr/>
        </p:nvSpPr>
        <p:spPr>
          <a:xfrm>
            <a:off x="2046389" y="3400389"/>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Access Data and privacy settings</a:t>
            </a:r>
          </a:p>
        </p:txBody>
      </p:sp>
      <p:sp>
        <p:nvSpPr>
          <p:cNvPr id="13" name="Flowchart: Connector 12">
            <a:extLst>
              <a:ext uri="{FF2B5EF4-FFF2-40B4-BE49-F238E27FC236}">
                <a16:creationId xmlns:a16="http://schemas.microsoft.com/office/drawing/2014/main" id="{D3E4BFF3-52DD-F93D-EB0D-B58356EAEC39}"/>
              </a:ext>
            </a:extLst>
          </p:cNvPr>
          <p:cNvSpPr/>
          <p:nvPr/>
        </p:nvSpPr>
        <p:spPr>
          <a:xfrm>
            <a:off x="2681990" y="423921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14" name="Speech Bubble: Rectangle with Corners Rounded 13">
            <a:extLst>
              <a:ext uri="{FF2B5EF4-FFF2-40B4-BE49-F238E27FC236}">
                <a16:creationId xmlns:a16="http://schemas.microsoft.com/office/drawing/2014/main" id="{DD136E0B-3A89-702E-FD70-1FD5ACE62993}"/>
              </a:ext>
            </a:extLst>
          </p:cNvPr>
          <p:cNvSpPr/>
          <p:nvPr/>
        </p:nvSpPr>
        <p:spPr>
          <a:xfrm>
            <a:off x="2648539" y="5034394"/>
            <a:ext cx="2494824" cy="657180"/>
          </a:xfrm>
          <a:prstGeom prst="wedgeRoundRectCallout">
            <a:avLst>
              <a:gd name="adj1" fmla="val 58429"/>
              <a:gd name="adj2" fmla="val -45158"/>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Select a connector that can be </a:t>
            </a:r>
            <a:r>
              <a:rPr kumimoji="0" lang="en-US" sz="1600" b="0" i="0" u="none" strike="noStrike" kern="1200" cap="none" spc="0" normalizeH="0" baseline="0" noProof="0" dirty="0" err="1">
                <a:ln>
                  <a:noFill/>
                </a:ln>
                <a:solidFill>
                  <a:prstClr val="white"/>
                </a:solidFill>
                <a:effectLst/>
                <a:uLnTx/>
                <a:uFillTx/>
                <a:latin typeface="Segoe UI" panose="020B0502040204020203" pitchFamily="34" charset="0"/>
                <a:cs typeface="Segoe UI" panose="020B0502040204020203" pitchFamily="34" charset="0"/>
              </a:rPr>
              <a:t>blokecd</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 name="Flowchart: Connector 14">
            <a:extLst>
              <a:ext uri="{FF2B5EF4-FFF2-40B4-BE49-F238E27FC236}">
                <a16:creationId xmlns:a16="http://schemas.microsoft.com/office/drawing/2014/main" id="{087CE9F4-DDC0-18F7-1BCD-9B30CE6D03CE}"/>
              </a:ext>
            </a:extLst>
          </p:cNvPr>
          <p:cNvSpPr/>
          <p:nvPr/>
        </p:nvSpPr>
        <p:spPr>
          <a:xfrm>
            <a:off x="2115139" y="519410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6" name="Speech Bubble: Rectangle with Corners Rounded 15">
            <a:extLst>
              <a:ext uri="{FF2B5EF4-FFF2-40B4-BE49-F238E27FC236}">
                <a16:creationId xmlns:a16="http://schemas.microsoft.com/office/drawing/2014/main" id="{F88CA915-3488-FA9E-E38D-E859E3EA7A4F}"/>
              </a:ext>
            </a:extLst>
          </p:cNvPr>
          <p:cNvSpPr/>
          <p:nvPr/>
        </p:nvSpPr>
        <p:spPr>
          <a:xfrm>
            <a:off x="8296049" y="5370353"/>
            <a:ext cx="2494824" cy="789733"/>
          </a:xfrm>
          <a:prstGeom prst="wedgeRoundRectCallout">
            <a:avLst>
              <a:gd name="adj1" fmla="val -6445"/>
              <a:gd name="adj2" fmla="val -7851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Segoe UI" panose="020B0502040204020203" pitchFamily="34" charset="0"/>
                <a:cs typeface="Segoe UI" panose="020B0502040204020203" pitchFamily="34" charset="0"/>
              </a:rPr>
              <a:t>Granular setup of Connector Actions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7" name="Flowchart: Connector 16">
            <a:extLst>
              <a:ext uri="{FF2B5EF4-FFF2-40B4-BE49-F238E27FC236}">
                <a16:creationId xmlns:a16="http://schemas.microsoft.com/office/drawing/2014/main" id="{7793C192-B411-21E2-EEAC-E30C16904C40}"/>
              </a:ext>
            </a:extLst>
          </p:cNvPr>
          <p:cNvSpPr/>
          <p:nvPr/>
        </p:nvSpPr>
        <p:spPr>
          <a:xfrm>
            <a:off x="10911027" y="554364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
        <p:nvSpPr>
          <p:cNvPr id="18" name="Speech Bubble: Rectangle with Corners Rounded 17">
            <a:extLst>
              <a:ext uri="{FF2B5EF4-FFF2-40B4-BE49-F238E27FC236}">
                <a16:creationId xmlns:a16="http://schemas.microsoft.com/office/drawing/2014/main" id="{0AFEEE5F-BFB5-DF18-8745-0595841733F9}"/>
              </a:ext>
            </a:extLst>
          </p:cNvPr>
          <p:cNvSpPr/>
          <p:nvPr/>
        </p:nvSpPr>
        <p:spPr>
          <a:xfrm>
            <a:off x="3826214" y="5808679"/>
            <a:ext cx="2494824" cy="789733"/>
          </a:xfrm>
          <a:prstGeom prst="wedgeRoundRectCallout">
            <a:avLst>
              <a:gd name="adj1" fmla="val 59482"/>
              <a:gd name="adj2" fmla="val -2244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Calibri" panose="020F0502020204030204"/>
                <a:cs typeface="Segoe UI" panose="020B0502040204020203" pitchFamily="34" charset="0"/>
              </a:rPr>
              <a:t>Allow/Block new connector actions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9" name="Flowchart: Connector 18">
            <a:extLst>
              <a:ext uri="{FF2B5EF4-FFF2-40B4-BE49-F238E27FC236}">
                <a16:creationId xmlns:a16="http://schemas.microsoft.com/office/drawing/2014/main" id="{9B3E977A-2A97-E140-72DC-F4E7BC68B287}"/>
              </a:ext>
            </a:extLst>
          </p:cNvPr>
          <p:cNvSpPr/>
          <p:nvPr/>
        </p:nvSpPr>
        <p:spPr>
          <a:xfrm>
            <a:off x="3326281" y="599780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4</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0877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1000"/>
                                        <p:tgtEl>
                                          <p:spTgt spid="18"/>
                                        </p:tgtEl>
                                      </p:cBhvr>
                                    </p:animEffect>
                                    <p:anim calcmode="lin" valueType="num">
                                      <p:cBhvr>
                                        <p:cTn id="49" dur="1000" fill="hold"/>
                                        <p:tgtEl>
                                          <p:spTgt spid="18"/>
                                        </p:tgtEl>
                                        <p:attrNameLst>
                                          <p:attrName>ppt_x</p:attrName>
                                        </p:attrNameLst>
                                      </p:cBhvr>
                                      <p:tavLst>
                                        <p:tav tm="0">
                                          <p:val>
                                            <p:strVal val="#ppt_x"/>
                                          </p:val>
                                        </p:tav>
                                        <p:tav tm="100000">
                                          <p:val>
                                            <p:strVal val="#ppt_x"/>
                                          </p:val>
                                        </p:tav>
                                      </p:tavLst>
                                    </p:anim>
                                    <p:anim calcmode="lin" valueType="num">
                                      <p:cBhvr>
                                        <p:cTn id="5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51B0297-56C4-460C-296E-FE48494429BE}"/>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83722CFF-A634-28B6-DBF7-B1319D5318A1}"/>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19EA92E3-C30E-EE8C-01D5-C11FC0773CF8}"/>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9F010A0E-8B98-5916-C7EF-070EEE78BAD8}"/>
              </a:ext>
            </a:extLst>
          </p:cNvPr>
          <p:cNvSpPr>
            <a:spLocks noGrp="1"/>
          </p:cNvSpPr>
          <p:nvPr>
            <p:ph type="sldNum" sz="quarter" idx="12"/>
          </p:nvPr>
        </p:nvSpPr>
        <p:spPr/>
        <p:txBody>
          <a:bodyPr/>
          <a:lstStyle/>
          <a:p>
            <a:fld id="{86889C5C-8171-4CA3-86B1-670B90C02708}" type="slidenum">
              <a:rPr lang="en-GB" smtClean="0"/>
              <a:t>19</a:t>
            </a:fld>
            <a:endParaRPr lang="en-GB"/>
          </a:p>
        </p:txBody>
      </p:sp>
      <p:sp>
        <p:nvSpPr>
          <p:cNvPr id="4" name="TextBox 3">
            <a:extLst>
              <a:ext uri="{FF2B5EF4-FFF2-40B4-BE49-F238E27FC236}">
                <a16:creationId xmlns:a16="http://schemas.microsoft.com/office/drawing/2014/main" id="{7E28FAB0-77AF-528E-C301-700A70D3C3D7}"/>
              </a:ext>
            </a:extLst>
          </p:cNvPr>
          <p:cNvSpPr txBox="1"/>
          <p:nvPr/>
        </p:nvSpPr>
        <p:spPr>
          <a:xfrm>
            <a:off x="1707946" y="1028226"/>
            <a:ext cx="8514849" cy="774764"/>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Connector action control - Power Platform | Microsoft Learn</a:t>
            </a:r>
            <a:r>
              <a:rPr lang="en-US" dirty="0">
                <a:latin typeface="Segoe UI" panose="020B0502040204020203" pitchFamily="34" charset="0"/>
                <a:cs typeface="Segoe UI" panose="020B0502040204020203" pitchFamily="34" charset="0"/>
              </a:rPr>
              <a:t> </a:t>
            </a:r>
            <a:r>
              <a:rPr lang="en-US" dirty="0">
                <a:solidFill>
                  <a:schemeClr val="bg1"/>
                </a:solidFill>
                <a:latin typeface="Segoe UI" panose="020B0502040204020203" pitchFamily="34" charset="0"/>
                <a:cs typeface="Segoe UI" panose="020B0502040204020203" pitchFamily="34" charset="0"/>
              </a:rPr>
              <a:t>&amp; </a:t>
            </a:r>
            <a:r>
              <a:rPr lang="en-US" dirty="0">
                <a:latin typeface="Segoe UI" panose="020B0502040204020203" pitchFamily="34" charset="0"/>
                <a:cs typeface="Segoe UI" panose="020B0502040204020203" pitchFamily="34" charset="0"/>
                <a:hlinkClick r:id="rId4"/>
              </a:rPr>
              <a:t>Connector endpoint filtering (preview)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24" name="Picture 23">
            <a:extLst>
              <a:ext uri="{FF2B5EF4-FFF2-40B4-BE49-F238E27FC236}">
                <a16:creationId xmlns:a16="http://schemas.microsoft.com/office/drawing/2014/main" id="{B0E124FA-5B98-6026-CAC2-35D0678870C1}"/>
              </a:ext>
            </a:extLst>
          </p:cNvPr>
          <p:cNvPicPr>
            <a:picLocks noChangeAspect="1"/>
          </p:cNvPicPr>
          <p:nvPr/>
        </p:nvPicPr>
        <p:blipFill>
          <a:blip r:embed="rId5"/>
          <a:stretch>
            <a:fillRect/>
          </a:stretch>
        </p:blipFill>
        <p:spPr>
          <a:xfrm>
            <a:off x="2009800" y="1830969"/>
            <a:ext cx="8212995" cy="4816484"/>
          </a:xfrm>
          <a:prstGeom prst="rect">
            <a:avLst/>
          </a:prstGeom>
        </p:spPr>
      </p:pic>
      <p:sp>
        <p:nvSpPr>
          <p:cNvPr id="25" name="Speech Bubble: Rectangle with Corners Rounded 24">
            <a:extLst>
              <a:ext uri="{FF2B5EF4-FFF2-40B4-BE49-F238E27FC236}">
                <a16:creationId xmlns:a16="http://schemas.microsoft.com/office/drawing/2014/main" id="{AE78CBAD-391A-C18B-04E3-E38C2C4B59C3}"/>
              </a:ext>
            </a:extLst>
          </p:cNvPr>
          <p:cNvSpPr/>
          <p:nvPr/>
        </p:nvSpPr>
        <p:spPr>
          <a:xfrm>
            <a:off x="1890609" y="3215615"/>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Access to Environment groups</a:t>
            </a:r>
          </a:p>
        </p:txBody>
      </p:sp>
      <p:sp>
        <p:nvSpPr>
          <p:cNvPr id="26" name="Flowchart: Connector 25">
            <a:extLst>
              <a:ext uri="{FF2B5EF4-FFF2-40B4-BE49-F238E27FC236}">
                <a16:creationId xmlns:a16="http://schemas.microsoft.com/office/drawing/2014/main" id="{4435671D-7F73-EA8C-9F64-A2301E9C1B83}"/>
              </a:ext>
            </a:extLst>
          </p:cNvPr>
          <p:cNvSpPr/>
          <p:nvPr/>
        </p:nvSpPr>
        <p:spPr>
          <a:xfrm>
            <a:off x="2518793" y="409747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27" name="Speech Bubble: Rectangle with Corners Rounded 26">
            <a:extLst>
              <a:ext uri="{FF2B5EF4-FFF2-40B4-BE49-F238E27FC236}">
                <a16:creationId xmlns:a16="http://schemas.microsoft.com/office/drawing/2014/main" id="{AC08B7B6-4F3E-FD3A-C3E5-9EB59F8B46D9}"/>
              </a:ext>
            </a:extLst>
          </p:cNvPr>
          <p:cNvSpPr/>
          <p:nvPr/>
        </p:nvSpPr>
        <p:spPr>
          <a:xfrm>
            <a:off x="2382997" y="1832515"/>
            <a:ext cx="2494824" cy="657180"/>
          </a:xfrm>
          <a:prstGeom prst="wedgeRoundRectCallout">
            <a:avLst>
              <a:gd name="adj1" fmla="val 36096"/>
              <a:gd name="adj2" fmla="val 9327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Rules -&gt; Advanced connector policies</a:t>
            </a:r>
          </a:p>
        </p:txBody>
      </p:sp>
      <p:sp>
        <p:nvSpPr>
          <p:cNvPr id="28" name="Flowchart: Connector 27">
            <a:extLst>
              <a:ext uri="{FF2B5EF4-FFF2-40B4-BE49-F238E27FC236}">
                <a16:creationId xmlns:a16="http://schemas.microsoft.com/office/drawing/2014/main" id="{F3D4D0BC-9573-1F13-4F5A-524D24321984}"/>
              </a:ext>
            </a:extLst>
          </p:cNvPr>
          <p:cNvSpPr/>
          <p:nvPr/>
        </p:nvSpPr>
        <p:spPr>
          <a:xfrm>
            <a:off x="1890609" y="195536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29" name="Speech Bubble: Rectangle with Corners Rounded 28">
            <a:extLst>
              <a:ext uri="{FF2B5EF4-FFF2-40B4-BE49-F238E27FC236}">
                <a16:creationId xmlns:a16="http://schemas.microsoft.com/office/drawing/2014/main" id="{840998D9-E847-A57C-1C6C-A74FD00E13BC}"/>
              </a:ext>
            </a:extLst>
          </p:cNvPr>
          <p:cNvSpPr/>
          <p:nvPr/>
        </p:nvSpPr>
        <p:spPr>
          <a:xfrm>
            <a:off x="5269991" y="2890969"/>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Add/Update connectors allowed</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in an Environment group</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30" name="Flowchart: Connector 29">
            <a:extLst>
              <a:ext uri="{FF2B5EF4-FFF2-40B4-BE49-F238E27FC236}">
                <a16:creationId xmlns:a16="http://schemas.microsoft.com/office/drawing/2014/main" id="{E923F15D-BE27-2B08-259B-88873BDEF0E2}"/>
              </a:ext>
            </a:extLst>
          </p:cNvPr>
          <p:cNvSpPr/>
          <p:nvPr/>
        </p:nvSpPr>
        <p:spPr>
          <a:xfrm>
            <a:off x="7936991" y="308009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
        <p:nvSpPr>
          <p:cNvPr id="31" name="Speech Bubble: Rectangle with Corners Rounded 30">
            <a:extLst>
              <a:ext uri="{FF2B5EF4-FFF2-40B4-BE49-F238E27FC236}">
                <a16:creationId xmlns:a16="http://schemas.microsoft.com/office/drawing/2014/main" id="{7F33072D-77C3-F605-30C5-F7FE244EA5D0}"/>
              </a:ext>
            </a:extLst>
          </p:cNvPr>
          <p:cNvSpPr/>
          <p:nvPr/>
        </p:nvSpPr>
        <p:spPr>
          <a:xfrm>
            <a:off x="9257791" y="4660503"/>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Segoe UI" panose="020B0502040204020203" pitchFamily="34" charset="0"/>
                <a:cs typeface="Segoe UI" panose="020B0502040204020203" pitchFamily="34" charset="0"/>
              </a:rPr>
              <a:t>Support for certified, custom, virtual and MCP connectors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32" name="Flowchart: Connector 31">
            <a:extLst>
              <a:ext uri="{FF2B5EF4-FFF2-40B4-BE49-F238E27FC236}">
                <a16:creationId xmlns:a16="http://schemas.microsoft.com/office/drawing/2014/main" id="{CBDF5C59-D6C1-F388-6BC2-7359C381A184}"/>
              </a:ext>
            </a:extLst>
          </p:cNvPr>
          <p:cNvSpPr/>
          <p:nvPr/>
        </p:nvSpPr>
        <p:spPr>
          <a:xfrm>
            <a:off x="11843511" y="484962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4</a:t>
            </a:r>
            <a:endParaRPr lang="en-US" sz="1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266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1000"/>
                                        <p:tgtEl>
                                          <p:spTgt spid="30"/>
                                        </p:tgtEl>
                                      </p:cBhvr>
                                    </p:animEffect>
                                    <p:anim calcmode="lin" valueType="num">
                                      <p:cBhvr>
                                        <p:cTn id="32" dur="1000" fill="hold"/>
                                        <p:tgtEl>
                                          <p:spTgt spid="30"/>
                                        </p:tgtEl>
                                        <p:attrNameLst>
                                          <p:attrName>ppt_x</p:attrName>
                                        </p:attrNameLst>
                                      </p:cBhvr>
                                      <p:tavLst>
                                        <p:tav tm="0">
                                          <p:val>
                                            <p:strVal val="#ppt_x"/>
                                          </p:val>
                                        </p:tav>
                                        <p:tav tm="100000">
                                          <p:val>
                                            <p:strVal val="#ppt_x"/>
                                          </p:val>
                                        </p:tav>
                                      </p:tavLst>
                                    </p:anim>
                                    <p:anim calcmode="lin" valueType="num">
                                      <p:cBhvr>
                                        <p:cTn id="33" dur="1000" fill="hold"/>
                                        <p:tgtEl>
                                          <p:spTgt spid="3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000"/>
                                        <p:tgtEl>
                                          <p:spTgt spid="29"/>
                                        </p:tgtEl>
                                      </p:cBhvr>
                                    </p:animEffect>
                                    <p:anim calcmode="lin" valueType="num">
                                      <p:cBhvr>
                                        <p:cTn id="37" dur="1000" fill="hold"/>
                                        <p:tgtEl>
                                          <p:spTgt spid="29"/>
                                        </p:tgtEl>
                                        <p:attrNameLst>
                                          <p:attrName>ppt_x</p:attrName>
                                        </p:attrNameLst>
                                      </p:cBhvr>
                                      <p:tavLst>
                                        <p:tav tm="0">
                                          <p:val>
                                            <p:strVal val="#ppt_x"/>
                                          </p:val>
                                        </p:tav>
                                        <p:tav tm="100000">
                                          <p:val>
                                            <p:strVal val="#ppt_x"/>
                                          </p:val>
                                        </p:tav>
                                      </p:tavLst>
                                    </p:anim>
                                    <p:anim calcmode="lin" valueType="num">
                                      <p:cBhvr>
                                        <p:cTn id="3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1000"/>
                                        <p:tgtEl>
                                          <p:spTgt spid="31"/>
                                        </p:tgtEl>
                                      </p:cBhvr>
                                    </p:animEffect>
                                    <p:anim calcmode="lin" valueType="num">
                                      <p:cBhvr>
                                        <p:cTn id="44" dur="1000" fill="hold"/>
                                        <p:tgtEl>
                                          <p:spTgt spid="31"/>
                                        </p:tgtEl>
                                        <p:attrNameLst>
                                          <p:attrName>ppt_x</p:attrName>
                                        </p:attrNameLst>
                                      </p:cBhvr>
                                      <p:tavLst>
                                        <p:tav tm="0">
                                          <p:val>
                                            <p:strVal val="#ppt_x"/>
                                          </p:val>
                                        </p:tav>
                                        <p:tav tm="100000">
                                          <p:val>
                                            <p:strVal val="#ppt_x"/>
                                          </p:val>
                                        </p:tav>
                                      </p:tavLst>
                                    </p:anim>
                                    <p:anim calcmode="lin" valueType="num">
                                      <p:cBhvr>
                                        <p:cTn id="45" dur="1000" fill="hold"/>
                                        <p:tgtEl>
                                          <p:spTgt spid="3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1000"/>
                                        <p:tgtEl>
                                          <p:spTgt spid="32"/>
                                        </p:tgtEl>
                                      </p:cBhvr>
                                    </p:animEffect>
                                    <p:anim calcmode="lin" valueType="num">
                                      <p:cBhvr>
                                        <p:cTn id="49" dur="1000" fill="hold"/>
                                        <p:tgtEl>
                                          <p:spTgt spid="32"/>
                                        </p:tgtEl>
                                        <p:attrNameLst>
                                          <p:attrName>ppt_x</p:attrName>
                                        </p:attrNameLst>
                                      </p:cBhvr>
                                      <p:tavLst>
                                        <p:tav tm="0">
                                          <p:val>
                                            <p:strVal val="#ppt_x"/>
                                          </p:val>
                                        </p:tav>
                                        <p:tav tm="100000">
                                          <p:val>
                                            <p:strVal val="#ppt_x"/>
                                          </p:val>
                                        </p:tav>
                                      </p:tavLst>
                                    </p:anim>
                                    <p:anim calcmode="lin" valueType="num">
                                      <p:cBhvr>
                                        <p:cTn id="5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BE3FAD3-4251-C03E-614C-17A9F599BD40}"/>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A047466-80AE-2A92-979C-B6AE8302C1D8}"/>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Data Protection &amp; Privacy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C5913AA9-B41D-0DEB-3226-39F7E59E40C1}"/>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4D23E581-3546-ADCB-D19D-78DD817CA4E6}"/>
              </a:ext>
            </a:extLst>
          </p:cNvPr>
          <p:cNvSpPr>
            <a:spLocks noGrp="1"/>
          </p:cNvSpPr>
          <p:nvPr>
            <p:ph type="sldNum" sz="quarter" idx="12"/>
          </p:nvPr>
        </p:nvSpPr>
        <p:spPr/>
        <p:txBody>
          <a:bodyPr/>
          <a:lstStyle/>
          <a:p>
            <a:fld id="{86889C5C-8171-4CA3-86B1-670B90C02708}" type="slidenum">
              <a:rPr lang="en-GB" smtClean="0"/>
              <a:t>20</a:t>
            </a:fld>
            <a:endParaRPr lang="en-GB"/>
          </a:p>
        </p:txBody>
      </p:sp>
      <p:sp>
        <p:nvSpPr>
          <p:cNvPr id="4" name="TextBox 3">
            <a:extLst>
              <a:ext uri="{FF2B5EF4-FFF2-40B4-BE49-F238E27FC236}">
                <a16:creationId xmlns:a16="http://schemas.microsoft.com/office/drawing/2014/main" id="{C378A157-6531-D3B7-7351-1A9F8ACDB0FE}"/>
              </a:ext>
            </a:extLst>
          </p:cNvPr>
          <p:cNvSpPr txBox="1"/>
          <p:nvPr/>
        </p:nvSpPr>
        <p:spPr>
          <a:xfrm>
            <a:off x="1707946" y="1028226"/>
            <a:ext cx="8514849" cy="414665"/>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Virtual Network support overview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5" name="Picture 2" descr="Screenshot that shows how resources inside an enterprise network interact with a Virtual Network.">
            <a:extLst>
              <a:ext uri="{FF2B5EF4-FFF2-40B4-BE49-F238E27FC236}">
                <a16:creationId xmlns:a16="http://schemas.microsoft.com/office/drawing/2014/main" id="{3BB3A36C-B0CD-9112-05FC-4C11C51FDD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445" y="1836997"/>
            <a:ext cx="10909110" cy="3606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863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CB3E9A-8BB2-F4C7-FC8A-BCB70985F742}"/>
            </a:ext>
          </a:extLst>
        </p:cNvPr>
        <p:cNvGrpSpPr/>
        <p:nvPr/>
      </p:nvGrpSpPr>
      <p:grpSpPr>
        <a:xfrm>
          <a:off x="0" y="0"/>
          <a:ext cx="0" cy="0"/>
          <a:chOff x="0" y="0"/>
          <a:chExt cx="0" cy="0"/>
        </a:xfrm>
      </p:grpSpPr>
      <p:pic>
        <p:nvPicPr>
          <p:cNvPr id="10" name="Imagen 2">
            <a:extLst>
              <a:ext uri="{FF2B5EF4-FFF2-40B4-BE49-F238E27FC236}">
                <a16:creationId xmlns:a16="http://schemas.microsoft.com/office/drawing/2014/main" id="{6CA9C855-EE8D-2CAF-5FF2-F492652D8598}"/>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7CDB278A-6322-B35D-F2A9-F0A37AFD7497}"/>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#2: Data Protection &amp; Privacy</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08A168B6-8FE3-B82F-FCCE-1BDAA4F611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14">
            <a:extLst>
              <a:ext uri="{FF2B5EF4-FFF2-40B4-BE49-F238E27FC236}">
                <a16:creationId xmlns:a16="http://schemas.microsoft.com/office/drawing/2014/main" id="{99230E09-09EF-AD16-40DA-91C4D83036C8}"/>
              </a:ext>
            </a:extLst>
          </p:cNvPr>
          <p:cNvSpPr txBox="1"/>
          <p:nvPr/>
        </p:nvSpPr>
        <p:spPr>
          <a:xfrm>
            <a:off x="2482809" y="6482979"/>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Tree>
    <p:extLst>
      <p:ext uri="{BB962C8B-B14F-4D97-AF65-F5344CB8AC3E}">
        <p14:creationId xmlns:p14="http://schemas.microsoft.com/office/powerpoint/2010/main" val="2089070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D2420D-81BA-178F-F527-A3C478B194C6}"/>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D42CDA3-B08E-B406-37D9-D552ADBF9035}"/>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929985FB-677A-8E85-AAC2-8BEE3D537706}"/>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915DBC6E-7B0A-166C-085C-1F306C002508}"/>
              </a:ext>
            </a:extLst>
          </p:cNvPr>
          <p:cNvSpPr>
            <a:spLocks noGrp="1"/>
          </p:cNvSpPr>
          <p:nvPr>
            <p:ph type="sldNum" sz="quarter" idx="12"/>
          </p:nvPr>
        </p:nvSpPr>
        <p:spPr/>
        <p:txBody>
          <a:bodyPr/>
          <a:lstStyle/>
          <a:p>
            <a:fld id="{86889C5C-8171-4CA3-86B1-670B90C02708}" type="slidenum">
              <a:rPr lang="en-GB" smtClean="0"/>
              <a:t>22</a:t>
            </a:fld>
            <a:endParaRPr lang="en-GB"/>
          </a:p>
        </p:txBody>
      </p:sp>
      <p:sp>
        <p:nvSpPr>
          <p:cNvPr id="4" name="TextBox 3">
            <a:extLst>
              <a:ext uri="{FF2B5EF4-FFF2-40B4-BE49-F238E27FC236}">
                <a16:creationId xmlns:a16="http://schemas.microsoft.com/office/drawing/2014/main" id="{06D840D1-3D39-9469-E760-33C821E8DF7F}"/>
              </a:ext>
            </a:extLst>
          </p:cNvPr>
          <p:cNvSpPr txBox="1"/>
          <p:nvPr/>
        </p:nvSpPr>
        <p:spPr>
          <a:xfrm>
            <a:off x="1707946" y="1028226"/>
            <a:ext cx="8514849" cy="369332"/>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Ensure that only authorized users can access specific resources</a:t>
            </a:r>
          </a:p>
        </p:txBody>
      </p:sp>
      <p:grpSp>
        <p:nvGrpSpPr>
          <p:cNvPr id="34" name="Group 33">
            <a:extLst>
              <a:ext uri="{FF2B5EF4-FFF2-40B4-BE49-F238E27FC236}">
                <a16:creationId xmlns:a16="http://schemas.microsoft.com/office/drawing/2014/main" id="{E4F8E2EE-F9BA-009B-6BAC-C5DF35418BDD}"/>
              </a:ext>
            </a:extLst>
          </p:cNvPr>
          <p:cNvGrpSpPr/>
          <p:nvPr/>
        </p:nvGrpSpPr>
        <p:grpSpPr>
          <a:xfrm>
            <a:off x="3474720" y="2271562"/>
            <a:ext cx="2468880" cy="2011680"/>
            <a:chOff x="6941" y="1161888"/>
            <a:chExt cx="2461366" cy="1837358"/>
          </a:xfrm>
        </p:grpSpPr>
        <p:sp>
          <p:nvSpPr>
            <p:cNvPr id="35" name="Rectangle: Top Corners Rounded 34">
              <a:extLst>
                <a:ext uri="{FF2B5EF4-FFF2-40B4-BE49-F238E27FC236}">
                  <a16:creationId xmlns:a16="http://schemas.microsoft.com/office/drawing/2014/main" id="{97A920B3-C213-02A9-F4E7-A21B415778F9}"/>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00B0F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36" name="Rectangle: Top Corners Rounded 4">
              <a:extLst>
                <a:ext uri="{FF2B5EF4-FFF2-40B4-BE49-F238E27FC236}">
                  <a16:creationId xmlns:a16="http://schemas.microsoft.com/office/drawing/2014/main" id="{CA2FB38D-173C-66C3-C616-C47BFA162DED}"/>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Limit how broadly users can share canvas apps, flows, and agents</a:t>
              </a:r>
            </a:p>
            <a:p>
              <a:pPr marL="114300" lvl="1" indent="-114300" defTabSz="533400">
                <a:lnSpc>
                  <a:spcPct val="90000"/>
                </a:lnSpc>
                <a:spcBef>
                  <a:spcPct val="0"/>
                </a:spcBef>
                <a:spcAft>
                  <a:spcPct val="15000"/>
                </a:spcAft>
                <a:buFontTx/>
                <a:buChar char="•"/>
                <a:defRPr/>
              </a:pPr>
              <a:r>
                <a:rPr lang="en-US" sz="1300" kern="0" noProof="0" dirty="0">
                  <a:solidFill>
                    <a:prstClr val="black">
                      <a:hueOff val="0"/>
                      <a:satOff val="0"/>
                      <a:lumOff val="0"/>
                      <a:alphaOff val="0"/>
                    </a:prstClr>
                  </a:solidFill>
                  <a:latin typeface="Segoe UI" panose="020B0502040204020203" pitchFamily="34" charset="0"/>
                  <a:cs typeface="Segoe UI" panose="020B0502040204020203" pitchFamily="34" charset="0"/>
                </a:rPr>
                <a:t>2 levels of application: Environment vs. Environment Group</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dirty="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37" name="Group 36">
            <a:extLst>
              <a:ext uri="{FF2B5EF4-FFF2-40B4-BE49-F238E27FC236}">
                <a16:creationId xmlns:a16="http://schemas.microsoft.com/office/drawing/2014/main" id="{801FA181-1875-4062-9D89-A0CA7A414A16}"/>
              </a:ext>
            </a:extLst>
          </p:cNvPr>
          <p:cNvGrpSpPr/>
          <p:nvPr/>
        </p:nvGrpSpPr>
        <p:grpSpPr>
          <a:xfrm>
            <a:off x="3474715" y="4252224"/>
            <a:ext cx="2468881" cy="790063"/>
            <a:chOff x="6940" y="2999246"/>
            <a:chExt cx="2461367" cy="790063"/>
          </a:xfrm>
          <a:solidFill>
            <a:srgbClr val="5B9BD5"/>
          </a:solidFill>
        </p:grpSpPr>
        <p:sp>
          <p:nvSpPr>
            <p:cNvPr id="38" name="Rectangle 37">
              <a:extLst>
                <a:ext uri="{FF2B5EF4-FFF2-40B4-BE49-F238E27FC236}">
                  <a16:creationId xmlns:a16="http://schemas.microsoft.com/office/drawing/2014/main" id="{1B30C1B4-71E6-483B-1B28-22558F352728}"/>
                </a:ext>
              </a:extLst>
            </p:cNvPr>
            <p:cNvSpPr/>
            <p:nvPr/>
          </p:nvSpPr>
          <p:spPr>
            <a:xfrm>
              <a:off x="6941"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39" name="TextBox 38">
              <a:extLst>
                <a:ext uri="{FF2B5EF4-FFF2-40B4-BE49-F238E27FC236}">
                  <a16:creationId xmlns:a16="http://schemas.microsoft.com/office/drawing/2014/main" id="{BF9C31BF-50CF-9C58-B516-0302C35C1BA3}"/>
                </a:ext>
              </a:extLst>
            </p:cNvPr>
            <p:cNvSpPr txBox="1"/>
            <p:nvPr/>
          </p:nvSpPr>
          <p:spPr>
            <a:xfrm>
              <a:off x="6940" y="2999246"/>
              <a:ext cx="1870523"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Resource Sharing Limits</a:t>
              </a:r>
            </a:p>
          </p:txBody>
        </p:sp>
      </p:grpSp>
      <p:grpSp>
        <p:nvGrpSpPr>
          <p:cNvPr id="40" name="Group 39">
            <a:extLst>
              <a:ext uri="{FF2B5EF4-FFF2-40B4-BE49-F238E27FC236}">
                <a16:creationId xmlns:a16="http://schemas.microsoft.com/office/drawing/2014/main" id="{5C130CC1-9394-E141-A972-19A6267D2595}"/>
              </a:ext>
            </a:extLst>
          </p:cNvPr>
          <p:cNvGrpSpPr/>
          <p:nvPr/>
        </p:nvGrpSpPr>
        <p:grpSpPr>
          <a:xfrm>
            <a:off x="6198109" y="2266466"/>
            <a:ext cx="2468880" cy="2011680"/>
            <a:chOff x="2884829" y="1161888"/>
            <a:chExt cx="2461366" cy="1837358"/>
          </a:xfrm>
        </p:grpSpPr>
        <p:sp>
          <p:nvSpPr>
            <p:cNvPr id="41" name="Rectangle: Top Corners Rounded 40">
              <a:extLst>
                <a:ext uri="{FF2B5EF4-FFF2-40B4-BE49-F238E27FC236}">
                  <a16:creationId xmlns:a16="http://schemas.microsoft.com/office/drawing/2014/main" id="{08752C64-F611-F7F1-EF00-17B8D6187802}"/>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2" name="Rectangle: Top Corners Rounded 4">
              <a:extLst>
                <a:ext uri="{FF2B5EF4-FFF2-40B4-BE49-F238E27FC236}">
                  <a16:creationId xmlns:a16="http://schemas.microsoft.com/office/drawing/2014/main" id="{51645EAE-FC1B-8DFE-CD07-5EFDAA5392E2}"/>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Prevents attackers using cookies to impersonate an authorized user</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Current Scope: Dataverse (Managed Environments)</a:t>
              </a:r>
            </a:p>
          </p:txBody>
        </p:sp>
      </p:grpSp>
      <p:grpSp>
        <p:nvGrpSpPr>
          <p:cNvPr id="43" name="Group 42">
            <a:extLst>
              <a:ext uri="{FF2B5EF4-FFF2-40B4-BE49-F238E27FC236}">
                <a16:creationId xmlns:a16="http://schemas.microsoft.com/office/drawing/2014/main" id="{8BBAC460-50ED-188E-DD49-5CF112E1354C}"/>
              </a:ext>
            </a:extLst>
          </p:cNvPr>
          <p:cNvGrpSpPr/>
          <p:nvPr/>
        </p:nvGrpSpPr>
        <p:grpSpPr>
          <a:xfrm>
            <a:off x="6198109" y="4260776"/>
            <a:ext cx="2468880" cy="790063"/>
            <a:chOff x="2884829" y="2999246"/>
            <a:chExt cx="2461366" cy="790063"/>
          </a:xfrm>
          <a:solidFill>
            <a:srgbClr val="ED7D31"/>
          </a:solidFill>
        </p:grpSpPr>
        <p:sp>
          <p:nvSpPr>
            <p:cNvPr id="44" name="Rectangle 43">
              <a:extLst>
                <a:ext uri="{FF2B5EF4-FFF2-40B4-BE49-F238E27FC236}">
                  <a16:creationId xmlns:a16="http://schemas.microsoft.com/office/drawing/2014/main" id="{589D435C-989F-63C4-3FDF-8F68E61FCD5A}"/>
                </a:ext>
              </a:extLst>
            </p:cNvPr>
            <p:cNvSpPr/>
            <p:nvPr/>
          </p:nvSpPr>
          <p:spPr>
            <a:xfrm>
              <a:off x="2884829"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F4005D05-D9A7-D0EB-3643-13D2AA1003C7}"/>
                </a:ext>
              </a:extLst>
            </p:cNvPr>
            <p:cNvSpPr txBox="1"/>
            <p:nvPr/>
          </p:nvSpPr>
          <p:spPr>
            <a:xfrm>
              <a:off x="2884829" y="2999246"/>
              <a:ext cx="1733356"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a:solidFill>
                    <a:prstClr val="white"/>
                  </a:solidFill>
                  <a:latin typeface="Segoe UI" panose="020B0502040204020203" pitchFamily="34" charset="0"/>
                  <a:cs typeface="Segoe UI" panose="020B0502040204020203" pitchFamily="34" charset="0"/>
                </a:rPr>
                <a:t>IP Cookie Binding</a:t>
              </a:r>
            </a:p>
          </p:txBody>
        </p:sp>
      </p:grpSp>
      <p:grpSp>
        <p:nvGrpSpPr>
          <p:cNvPr id="46" name="Group 45">
            <a:extLst>
              <a:ext uri="{FF2B5EF4-FFF2-40B4-BE49-F238E27FC236}">
                <a16:creationId xmlns:a16="http://schemas.microsoft.com/office/drawing/2014/main" id="{749EAD52-4DDE-68BC-D7CD-522669C13FFB}"/>
              </a:ext>
            </a:extLst>
          </p:cNvPr>
          <p:cNvGrpSpPr/>
          <p:nvPr/>
        </p:nvGrpSpPr>
        <p:grpSpPr>
          <a:xfrm>
            <a:off x="724685" y="2259241"/>
            <a:ext cx="2468880" cy="2011680"/>
            <a:chOff x="8640607" y="1161888"/>
            <a:chExt cx="2461366" cy="1837358"/>
          </a:xfrm>
        </p:grpSpPr>
        <p:sp>
          <p:nvSpPr>
            <p:cNvPr id="47" name="Rectangle: Top Corners Rounded 46">
              <a:extLst>
                <a:ext uri="{FF2B5EF4-FFF2-40B4-BE49-F238E27FC236}">
                  <a16:creationId xmlns:a16="http://schemas.microsoft.com/office/drawing/2014/main" id="{B4E048E9-8098-15E2-D97D-D26FF7AE85F3}"/>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69" name="Rectangle: Top Corners Rounded 4">
              <a:extLst>
                <a:ext uri="{FF2B5EF4-FFF2-40B4-BE49-F238E27FC236}">
                  <a16:creationId xmlns:a16="http://schemas.microsoft.com/office/drawing/2014/main" id="{F8F41814-C767-33F5-19B1-022D2797F75B}"/>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Prevents  malicious users, outside allowed IP ranges, from accessing your data</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Mitigate insider threats like data exfiltration + Prevent token replay attacks</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Current Scope: Dataverse (Managed Environments, Environment Groups, OData </a:t>
              </a:r>
              <a:r>
                <a:rPr lang="en-US" sz="1300" kern="0" dirty="0" err="1">
                  <a:solidFill>
                    <a:prstClr val="black">
                      <a:hueOff val="0"/>
                      <a:satOff val="0"/>
                      <a:lumOff val="0"/>
                      <a:alphaOff val="0"/>
                    </a:prstClr>
                  </a:solidFill>
                  <a:latin typeface="Segoe UI" panose="020B0502040204020203" pitchFamily="34" charset="0"/>
                  <a:cs typeface="Segoe UI" panose="020B0502040204020203" pitchFamily="34" charset="0"/>
                </a:rPr>
                <a:t>EndPoints</a:t>
              </a: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a:t>
              </a:r>
            </a:p>
          </p:txBody>
        </p:sp>
      </p:grpSp>
      <p:grpSp>
        <p:nvGrpSpPr>
          <p:cNvPr id="70" name="Group 69">
            <a:extLst>
              <a:ext uri="{FF2B5EF4-FFF2-40B4-BE49-F238E27FC236}">
                <a16:creationId xmlns:a16="http://schemas.microsoft.com/office/drawing/2014/main" id="{6A4DDF63-2C40-DD84-E00D-9A55B500F23B}"/>
              </a:ext>
            </a:extLst>
          </p:cNvPr>
          <p:cNvGrpSpPr/>
          <p:nvPr/>
        </p:nvGrpSpPr>
        <p:grpSpPr>
          <a:xfrm>
            <a:off x="722076" y="4255827"/>
            <a:ext cx="2468880" cy="790063"/>
            <a:chOff x="8632682" y="3002849"/>
            <a:chExt cx="2461366" cy="790063"/>
          </a:xfrm>
          <a:solidFill>
            <a:srgbClr val="FFC000"/>
          </a:solidFill>
        </p:grpSpPr>
        <p:sp>
          <p:nvSpPr>
            <p:cNvPr id="71" name="Rectangle 70">
              <a:extLst>
                <a:ext uri="{FF2B5EF4-FFF2-40B4-BE49-F238E27FC236}">
                  <a16:creationId xmlns:a16="http://schemas.microsoft.com/office/drawing/2014/main" id="{98F8E3EB-D4B2-0EDA-9498-D8E669A75FBE}"/>
                </a:ext>
              </a:extLst>
            </p:cNvPr>
            <p:cNvSpPr/>
            <p:nvPr/>
          </p:nvSpPr>
          <p:spPr>
            <a:xfrm>
              <a:off x="8632682" y="3002849"/>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50F70ABA-F92F-C18F-3DF0-F5529BBC508D}"/>
                </a:ext>
              </a:extLst>
            </p:cNvPr>
            <p:cNvSpPr txBox="1"/>
            <p:nvPr/>
          </p:nvSpPr>
          <p:spPr>
            <a:xfrm>
              <a:off x="8632683" y="3002849"/>
              <a:ext cx="1863051"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a:solidFill>
                    <a:prstClr val="white"/>
                  </a:solidFill>
                  <a:latin typeface="Segoe UI" panose="020B0502040204020203" pitchFamily="34" charset="0"/>
                  <a:cs typeface="Segoe UI" panose="020B0502040204020203" pitchFamily="34" charset="0"/>
                </a:rPr>
                <a:t>IP Firewall</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73" name="Picture 72">
            <a:extLst>
              <a:ext uri="{FF2B5EF4-FFF2-40B4-BE49-F238E27FC236}">
                <a16:creationId xmlns:a16="http://schemas.microsoft.com/office/drawing/2014/main" id="{31D3DC52-5E2F-99E3-F783-5DBA92481894}"/>
              </a:ext>
            </a:extLst>
          </p:cNvPr>
          <p:cNvPicPr>
            <a:picLocks noChangeAspect="1"/>
          </p:cNvPicPr>
          <p:nvPr/>
        </p:nvPicPr>
        <p:blipFill>
          <a:blip r:embed="rId3"/>
          <a:stretch>
            <a:fillRect/>
          </a:stretch>
        </p:blipFill>
        <p:spPr>
          <a:xfrm>
            <a:off x="5242118" y="4327215"/>
            <a:ext cx="640080" cy="640080"/>
          </a:xfrm>
          <a:prstGeom prst="rect">
            <a:avLst/>
          </a:prstGeom>
        </p:spPr>
      </p:pic>
      <p:grpSp>
        <p:nvGrpSpPr>
          <p:cNvPr id="74" name="Group 73">
            <a:extLst>
              <a:ext uri="{FF2B5EF4-FFF2-40B4-BE49-F238E27FC236}">
                <a16:creationId xmlns:a16="http://schemas.microsoft.com/office/drawing/2014/main" id="{ECBACCAA-B460-665D-E0C1-62B386A1DD55}"/>
              </a:ext>
            </a:extLst>
          </p:cNvPr>
          <p:cNvGrpSpPr/>
          <p:nvPr/>
        </p:nvGrpSpPr>
        <p:grpSpPr>
          <a:xfrm>
            <a:off x="8921498" y="2249096"/>
            <a:ext cx="2468880" cy="2011680"/>
            <a:chOff x="2884829" y="1161888"/>
            <a:chExt cx="2461366" cy="1837358"/>
          </a:xfrm>
        </p:grpSpPr>
        <p:sp>
          <p:nvSpPr>
            <p:cNvPr id="75" name="Rectangle: Top Corners Rounded 74">
              <a:extLst>
                <a:ext uri="{FF2B5EF4-FFF2-40B4-BE49-F238E27FC236}">
                  <a16:creationId xmlns:a16="http://schemas.microsoft.com/office/drawing/2014/main" id="{8047F8D8-6B75-F8BD-13E0-35009A0AC386}"/>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76" name="Rectangle: Top Corners Rounded 4">
              <a:extLst>
                <a:ext uri="{FF2B5EF4-FFF2-40B4-BE49-F238E27FC236}">
                  <a16:creationId xmlns:a16="http://schemas.microsoft.com/office/drawing/2014/main" id="{86D2B0DD-4170-CE1D-1B47-4E5E7663F34A}"/>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Restrict to/from cross tenant connections established via Power Platform Apps and flows </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Allow exception through rules based on business needs</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77" name="Group 76">
            <a:extLst>
              <a:ext uri="{FF2B5EF4-FFF2-40B4-BE49-F238E27FC236}">
                <a16:creationId xmlns:a16="http://schemas.microsoft.com/office/drawing/2014/main" id="{0F592C30-8729-AD39-C996-7B8E60D88E1C}"/>
              </a:ext>
            </a:extLst>
          </p:cNvPr>
          <p:cNvGrpSpPr/>
          <p:nvPr/>
        </p:nvGrpSpPr>
        <p:grpSpPr>
          <a:xfrm>
            <a:off x="8921498" y="4243406"/>
            <a:ext cx="2468880" cy="790063"/>
            <a:chOff x="2884829" y="2999246"/>
            <a:chExt cx="2461366" cy="790063"/>
          </a:xfrm>
          <a:solidFill>
            <a:srgbClr val="A5A5A5"/>
          </a:solidFill>
        </p:grpSpPr>
        <p:sp>
          <p:nvSpPr>
            <p:cNvPr id="78" name="Rectangle 77">
              <a:extLst>
                <a:ext uri="{FF2B5EF4-FFF2-40B4-BE49-F238E27FC236}">
                  <a16:creationId xmlns:a16="http://schemas.microsoft.com/office/drawing/2014/main" id="{A5B2BF91-A1C0-3134-33B2-83E295BE5538}"/>
                </a:ext>
              </a:extLst>
            </p:cNvPr>
            <p:cNvSpPr/>
            <p:nvPr/>
          </p:nvSpPr>
          <p:spPr>
            <a:xfrm>
              <a:off x="2884829"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9" name="TextBox 78">
              <a:extLst>
                <a:ext uri="{FF2B5EF4-FFF2-40B4-BE49-F238E27FC236}">
                  <a16:creationId xmlns:a16="http://schemas.microsoft.com/office/drawing/2014/main" id="{D5423561-DF89-875E-3F2C-B7C24E6F49F7}"/>
                </a:ext>
              </a:extLst>
            </p:cNvPr>
            <p:cNvSpPr txBox="1"/>
            <p:nvPr/>
          </p:nvSpPr>
          <p:spPr>
            <a:xfrm>
              <a:off x="2884829" y="2999246"/>
              <a:ext cx="1733356"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dirty="0">
                  <a:solidFill>
                    <a:prstClr val="white"/>
                  </a:solidFill>
                  <a:latin typeface="Segoe UI" panose="020B0502040204020203" pitchFamily="34" charset="0"/>
                  <a:cs typeface="Segoe UI" panose="020B0502040204020203" pitchFamily="34" charset="0"/>
                </a:rPr>
                <a:t>Tenant Isolation</a:t>
              </a:r>
            </a:p>
          </p:txBody>
        </p:sp>
      </p:grpSp>
      <p:pic>
        <p:nvPicPr>
          <p:cNvPr id="80" name="Picture 79">
            <a:extLst>
              <a:ext uri="{FF2B5EF4-FFF2-40B4-BE49-F238E27FC236}">
                <a16:creationId xmlns:a16="http://schemas.microsoft.com/office/drawing/2014/main" id="{28F4A4C2-A3C4-EE50-A851-80D5070B09CD}"/>
              </a:ext>
            </a:extLst>
          </p:cNvPr>
          <p:cNvPicPr>
            <a:picLocks noChangeAspect="1"/>
          </p:cNvPicPr>
          <p:nvPr/>
        </p:nvPicPr>
        <p:blipFill>
          <a:blip r:embed="rId4"/>
          <a:stretch>
            <a:fillRect/>
          </a:stretch>
        </p:blipFill>
        <p:spPr>
          <a:xfrm>
            <a:off x="7986892" y="4352289"/>
            <a:ext cx="640080" cy="640080"/>
          </a:xfrm>
          <a:prstGeom prst="rect">
            <a:avLst/>
          </a:prstGeom>
        </p:spPr>
      </p:pic>
      <p:pic>
        <p:nvPicPr>
          <p:cNvPr id="81" name="Picture 80">
            <a:extLst>
              <a:ext uri="{FF2B5EF4-FFF2-40B4-BE49-F238E27FC236}">
                <a16:creationId xmlns:a16="http://schemas.microsoft.com/office/drawing/2014/main" id="{606657B6-BBED-26A6-C626-19A028F65704}"/>
              </a:ext>
            </a:extLst>
          </p:cNvPr>
          <p:cNvPicPr>
            <a:picLocks noChangeAspect="1"/>
          </p:cNvPicPr>
          <p:nvPr/>
        </p:nvPicPr>
        <p:blipFill>
          <a:blip r:embed="rId5"/>
          <a:stretch>
            <a:fillRect/>
          </a:stretch>
        </p:blipFill>
        <p:spPr>
          <a:xfrm>
            <a:off x="2505570" y="4338365"/>
            <a:ext cx="640080" cy="640080"/>
          </a:xfrm>
          <a:prstGeom prst="rect">
            <a:avLst/>
          </a:prstGeom>
        </p:spPr>
      </p:pic>
      <p:pic>
        <p:nvPicPr>
          <p:cNvPr id="82" name="Picture 81">
            <a:extLst>
              <a:ext uri="{FF2B5EF4-FFF2-40B4-BE49-F238E27FC236}">
                <a16:creationId xmlns:a16="http://schemas.microsoft.com/office/drawing/2014/main" id="{5F22ED5B-EF0B-C3C5-818D-D076882F0E21}"/>
              </a:ext>
            </a:extLst>
          </p:cNvPr>
          <p:cNvPicPr>
            <a:picLocks noChangeAspect="1"/>
          </p:cNvPicPr>
          <p:nvPr/>
        </p:nvPicPr>
        <p:blipFill>
          <a:blip r:embed="rId6"/>
          <a:stretch>
            <a:fillRect/>
          </a:stretch>
        </p:blipFill>
        <p:spPr>
          <a:xfrm>
            <a:off x="10728706" y="4307913"/>
            <a:ext cx="640080" cy="640080"/>
          </a:xfrm>
          <a:prstGeom prst="rect">
            <a:avLst/>
          </a:prstGeom>
        </p:spPr>
      </p:pic>
    </p:spTree>
    <p:extLst>
      <p:ext uri="{BB962C8B-B14F-4D97-AF65-F5344CB8AC3E}">
        <p14:creationId xmlns:p14="http://schemas.microsoft.com/office/powerpoint/2010/main" val="100428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1000"/>
                                        <p:tgtEl>
                                          <p:spTgt spid="37"/>
                                        </p:tgtEl>
                                      </p:cBhvr>
                                    </p:animEffect>
                                    <p:anim calcmode="lin" valueType="num">
                                      <p:cBhvr>
                                        <p:cTn id="13" dur="1000" fill="hold"/>
                                        <p:tgtEl>
                                          <p:spTgt spid="37"/>
                                        </p:tgtEl>
                                        <p:attrNameLst>
                                          <p:attrName>ppt_x</p:attrName>
                                        </p:attrNameLst>
                                      </p:cBhvr>
                                      <p:tavLst>
                                        <p:tav tm="0">
                                          <p:val>
                                            <p:strVal val="#ppt_x"/>
                                          </p:val>
                                        </p:tav>
                                        <p:tav tm="100000">
                                          <p:val>
                                            <p:strVal val="#ppt_x"/>
                                          </p:val>
                                        </p:tav>
                                      </p:tavLst>
                                    </p:anim>
                                    <p:anim calcmode="lin" valueType="num">
                                      <p:cBhvr>
                                        <p:cTn id="14" dur="1000" fill="hold"/>
                                        <p:tgtEl>
                                          <p:spTgt spid="3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1000"/>
                                        <p:tgtEl>
                                          <p:spTgt spid="40"/>
                                        </p:tgtEl>
                                      </p:cBhvr>
                                    </p:animEffect>
                                    <p:anim calcmode="lin" valueType="num">
                                      <p:cBhvr>
                                        <p:cTn id="18" dur="1000" fill="hold"/>
                                        <p:tgtEl>
                                          <p:spTgt spid="40"/>
                                        </p:tgtEl>
                                        <p:attrNameLst>
                                          <p:attrName>ppt_x</p:attrName>
                                        </p:attrNameLst>
                                      </p:cBhvr>
                                      <p:tavLst>
                                        <p:tav tm="0">
                                          <p:val>
                                            <p:strVal val="#ppt_x"/>
                                          </p:val>
                                        </p:tav>
                                        <p:tav tm="100000">
                                          <p:val>
                                            <p:strVal val="#ppt_x"/>
                                          </p:val>
                                        </p:tav>
                                      </p:tavLst>
                                    </p:anim>
                                    <p:anim calcmode="lin" valueType="num">
                                      <p:cBhvr>
                                        <p:cTn id="19" dur="1000" fill="hold"/>
                                        <p:tgtEl>
                                          <p:spTgt spid="4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anim calcmode="lin" valueType="num">
                                      <p:cBhvr>
                                        <p:cTn id="28" dur="1000" fill="hold"/>
                                        <p:tgtEl>
                                          <p:spTgt spid="46"/>
                                        </p:tgtEl>
                                        <p:attrNameLst>
                                          <p:attrName>ppt_x</p:attrName>
                                        </p:attrNameLst>
                                      </p:cBhvr>
                                      <p:tavLst>
                                        <p:tav tm="0">
                                          <p:val>
                                            <p:strVal val="#ppt_x"/>
                                          </p:val>
                                        </p:tav>
                                        <p:tav tm="100000">
                                          <p:val>
                                            <p:strVal val="#ppt_x"/>
                                          </p:val>
                                        </p:tav>
                                      </p:tavLst>
                                    </p:anim>
                                    <p:anim calcmode="lin" valueType="num">
                                      <p:cBhvr>
                                        <p:cTn id="29" dur="1000" fill="hold"/>
                                        <p:tgtEl>
                                          <p:spTgt spid="4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1000"/>
                                        <p:tgtEl>
                                          <p:spTgt spid="70"/>
                                        </p:tgtEl>
                                      </p:cBhvr>
                                    </p:animEffect>
                                    <p:anim calcmode="lin" valueType="num">
                                      <p:cBhvr>
                                        <p:cTn id="33" dur="1000" fill="hold"/>
                                        <p:tgtEl>
                                          <p:spTgt spid="70"/>
                                        </p:tgtEl>
                                        <p:attrNameLst>
                                          <p:attrName>ppt_x</p:attrName>
                                        </p:attrNameLst>
                                      </p:cBhvr>
                                      <p:tavLst>
                                        <p:tav tm="0">
                                          <p:val>
                                            <p:strVal val="#ppt_x"/>
                                          </p:val>
                                        </p:tav>
                                        <p:tav tm="100000">
                                          <p:val>
                                            <p:strVal val="#ppt_x"/>
                                          </p:val>
                                        </p:tav>
                                      </p:tavLst>
                                    </p:anim>
                                    <p:anim calcmode="lin" valueType="num">
                                      <p:cBhvr>
                                        <p:cTn id="34" dur="1000" fill="hold"/>
                                        <p:tgtEl>
                                          <p:spTgt spid="7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1000"/>
                                        <p:tgtEl>
                                          <p:spTgt spid="73"/>
                                        </p:tgtEl>
                                      </p:cBhvr>
                                    </p:animEffect>
                                    <p:anim calcmode="lin" valueType="num">
                                      <p:cBhvr>
                                        <p:cTn id="38" dur="1000" fill="hold"/>
                                        <p:tgtEl>
                                          <p:spTgt spid="73"/>
                                        </p:tgtEl>
                                        <p:attrNameLst>
                                          <p:attrName>ppt_x</p:attrName>
                                        </p:attrNameLst>
                                      </p:cBhvr>
                                      <p:tavLst>
                                        <p:tav tm="0">
                                          <p:val>
                                            <p:strVal val="#ppt_x"/>
                                          </p:val>
                                        </p:tav>
                                        <p:tav tm="100000">
                                          <p:val>
                                            <p:strVal val="#ppt_x"/>
                                          </p:val>
                                        </p:tav>
                                      </p:tavLst>
                                    </p:anim>
                                    <p:anim calcmode="lin" valueType="num">
                                      <p:cBhvr>
                                        <p:cTn id="39" dur="1000" fill="hold"/>
                                        <p:tgtEl>
                                          <p:spTgt spid="7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fade">
                                      <p:cBhvr>
                                        <p:cTn id="42" dur="1000"/>
                                        <p:tgtEl>
                                          <p:spTgt spid="74"/>
                                        </p:tgtEl>
                                      </p:cBhvr>
                                    </p:animEffect>
                                    <p:anim calcmode="lin" valueType="num">
                                      <p:cBhvr>
                                        <p:cTn id="43" dur="1000" fill="hold"/>
                                        <p:tgtEl>
                                          <p:spTgt spid="74"/>
                                        </p:tgtEl>
                                        <p:attrNameLst>
                                          <p:attrName>ppt_x</p:attrName>
                                        </p:attrNameLst>
                                      </p:cBhvr>
                                      <p:tavLst>
                                        <p:tav tm="0">
                                          <p:val>
                                            <p:strVal val="#ppt_x"/>
                                          </p:val>
                                        </p:tav>
                                        <p:tav tm="100000">
                                          <p:val>
                                            <p:strVal val="#ppt_x"/>
                                          </p:val>
                                        </p:tav>
                                      </p:tavLst>
                                    </p:anim>
                                    <p:anim calcmode="lin" valueType="num">
                                      <p:cBhvr>
                                        <p:cTn id="44" dur="1000" fill="hold"/>
                                        <p:tgtEl>
                                          <p:spTgt spid="7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77"/>
                                        </p:tgtEl>
                                        <p:attrNameLst>
                                          <p:attrName>style.visibility</p:attrName>
                                        </p:attrNameLst>
                                      </p:cBhvr>
                                      <p:to>
                                        <p:strVal val="visible"/>
                                      </p:to>
                                    </p:set>
                                    <p:animEffect transition="in" filter="fade">
                                      <p:cBhvr>
                                        <p:cTn id="47" dur="1000"/>
                                        <p:tgtEl>
                                          <p:spTgt spid="77"/>
                                        </p:tgtEl>
                                      </p:cBhvr>
                                    </p:animEffect>
                                    <p:anim calcmode="lin" valueType="num">
                                      <p:cBhvr>
                                        <p:cTn id="48" dur="1000" fill="hold"/>
                                        <p:tgtEl>
                                          <p:spTgt spid="77"/>
                                        </p:tgtEl>
                                        <p:attrNameLst>
                                          <p:attrName>ppt_x</p:attrName>
                                        </p:attrNameLst>
                                      </p:cBhvr>
                                      <p:tavLst>
                                        <p:tav tm="0">
                                          <p:val>
                                            <p:strVal val="#ppt_x"/>
                                          </p:val>
                                        </p:tav>
                                        <p:tav tm="100000">
                                          <p:val>
                                            <p:strVal val="#ppt_x"/>
                                          </p:val>
                                        </p:tav>
                                      </p:tavLst>
                                    </p:anim>
                                    <p:anim calcmode="lin" valueType="num">
                                      <p:cBhvr>
                                        <p:cTn id="49" dur="1000" fill="hold"/>
                                        <p:tgtEl>
                                          <p:spTgt spid="77"/>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80"/>
                                        </p:tgtEl>
                                        <p:attrNameLst>
                                          <p:attrName>style.visibility</p:attrName>
                                        </p:attrNameLst>
                                      </p:cBhvr>
                                      <p:to>
                                        <p:strVal val="visible"/>
                                      </p:to>
                                    </p:set>
                                    <p:animEffect transition="in" filter="fade">
                                      <p:cBhvr>
                                        <p:cTn id="52" dur="1000"/>
                                        <p:tgtEl>
                                          <p:spTgt spid="80"/>
                                        </p:tgtEl>
                                      </p:cBhvr>
                                    </p:animEffect>
                                    <p:anim calcmode="lin" valueType="num">
                                      <p:cBhvr>
                                        <p:cTn id="53" dur="1000" fill="hold"/>
                                        <p:tgtEl>
                                          <p:spTgt spid="80"/>
                                        </p:tgtEl>
                                        <p:attrNameLst>
                                          <p:attrName>ppt_x</p:attrName>
                                        </p:attrNameLst>
                                      </p:cBhvr>
                                      <p:tavLst>
                                        <p:tav tm="0">
                                          <p:val>
                                            <p:strVal val="#ppt_x"/>
                                          </p:val>
                                        </p:tav>
                                        <p:tav tm="100000">
                                          <p:val>
                                            <p:strVal val="#ppt_x"/>
                                          </p:val>
                                        </p:tav>
                                      </p:tavLst>
                                    </p:anim>
                                    <p:anim calcmode="lin" valueType="num">
                                      <p:cBhvr>
                                        <p:cTn id="54" dur="1000" fill="hold"/>
                                        <p:tgtEl>
                                          <p:spTgt spid="80"/>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fade">
                                      <p:cBhvr>
                                        <p:cTn id="57" dur="1000"/>
                                        <p:tgtEl>
                                          <p:spTgt spid="81"/>
                                        </p:tgtEl>
                                      </p:cBhvr>
                                    </p:animEffect>
                                    <p:anim calcmode="lin" valueType="num">
                                      <p:cBhvr>
                                        <p:cTn id="58" dur="1000" fill="hold"/>
                                        <p:tgtEl>
                                          <p:spTgt spid="81"/>
                                        </p:tgtEl>
                                        <p:attrNameLst>
                                          <p:attrName>ppt_x</p:attrName>
                                        </p:attrNameLst>
                                      </p:cBhvr>
                                      <p:tavLst>
                                        <p:tav tm="0">
                                          <p:val>
                                            <p:strVal val="#ppt_x"/>
                                          </p:val>
                                        </p:tav>
                                        <p:tav tm="100000">
                                          <p:val>
                                            <p:strVal val="#ppt_x"/>
                                          </p:val>
                                        </p:tav>
                                      </p:tavLst>
                                    </p:anim>
                                    <p:anim calcmode="lin" valueType="num">
                                      <p:cBhvr>
                                        <p:cTn id="59" dur="1000" fill="hold"/>
                                        <p:tgtEl>
                                          <p:spTgt spid="81"/>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82"/>
                                        </p:tgtEl>
                                        <p:attrNameLst>
                                          <p:attrName>style.visibility</p:attrName>
                                        </p:attrNameLst>
                                      </p:cBhvr>
                                      <p:to>
                                        <p:strVal val="visible"/>
                                      </p:to>
                                    </p:set>
                                    <p:animEffect transition="in" filter="fade">
                                      <p:cBhvr>
                                        <p:cTn id="62" dur="1000"/>
                                        <p:tgtEl>
                                          <p:spTgt spid="82"/>
                                        </p:tgtEl>
                                      </p:cBhvr>
                                    </p:animEffect>
                                    <p:anim calcmode="lin" valueType="num">
                                      <p:cBhvr>
                                        <p:cTn id="63" dur="1000" fill="hold"/>
                                        <p:tgtEl>
                                          <p:spTgt spid="82"/>
                                        </p:tgtEl>
                                        <p:attrNameLst>
                                          <p:attrName>ppt_x</p:attrName>
                                        </p:attrNameLst>
                                      </p:cBhvr>
                                      <p:tavLst>
                                        <p:tav tm="0">
                                          <p:val>
                                            <p:strVal val="#ppt_x"/>
                                          </p:val>
                                        </p:tav>
                                        <p:tav tm="100000">
                                          <p:val>
                                            <p:strVal val="#ppt_x"/>
                                          </p:val>
                                        </p:tav>
                                      </p:tavLst>
                                    </p:anim>
                                    <p:anim calcmode="lin" valueType="num">
                                      <p:cBhvr>
                                        <p:cTn id="64"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D3636CC-3F11-CEFE-0C49-A76327DD1B43}"/>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732884D3-0E91-D91B-C25D-BAFBC51EDE7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7144487-11C4-4484-23A7-8CF407C01559}"/>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E863A435-954A-9980-2107-FA305228927B}"/>
              </a:ext>
            </a:extLst>
          </p:cNvPr>
          <p:cNvSpPr>
            <a:spLocks noGrp="1"/>
          </p:cNvSpPr>
          <p:nvPr>
            <p:ph type="sldNum" sz="quarter" idx="12"/>
          </p:nvPr>
        </p:nvSpPr>
        <p:spPr/>
        <p:txBody>
          <a:bodyPr/>
          <a:lstStyle/>
          <a:p>
            <a:fld id="{86889C5C-8171-4CA3-86B1-670B90C02708}" type="slidenum">
              <a:rPr lang="en-GB" smtClean="0"/>
              <a:t>23</a:t>
            </a:fld>
            <a:endParaRPr lang="en-GB"/>
          </a:p>
        </p:txBody>
      </p:sp>
      <p:sp>
        <p:nvSpPr>
          <p:cNvPr id="4" name="TextBox 3">
            <a:extLst>
              <a:ext uri="{FF2B5EF4-FFF2-40B4-BE49-F238E27FC236}">
                <a16:creationId xmlns:a16="http://schemas.microsoft.com/office/drawing/2014/main" id="{5AACB428-EF79-68E6-FD8E-9E1030A2313F}"/>
              </a:ext>
            </a:extLst>
          </p:cNvPr>
          <p:cNvSpPr txBox="1"/>
          <p:nvPr/>
        </p:nvSpPr>
        <p:spPr>
          <a:xfrm>
            <a:off x="1707946" y="1028226"/>
            <a:ext cx="8514849" cy="369332"/>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IP Firewall for an environment or an environments group</a:t>
            </a:r>
          </a:p>
        </p:txBody>
      </p:sp>
      <p:pic>
        <p:nvPicPr>
          <p:cNvPr id="5" name="Picture 4">
            <a:extLst>
              <a:ext uri="{FF2B5EF4-FFF2-40B4-BE49-F238E27FC236}">
                <a16:creationId xmlns:a16="http://schemas.microsoft.com/office/drawing/2014/main" id="{B2B85AF1-3633-EB06-C219-F8B20D0DD9EB}"/>
              </a:ext>
            </a:extLst>
          </p:cNvPr>
          <p:cNvPicPr>
            <a:picLocks noChangeAspect="1"/>
          </p:cNvPicPr>
          <p:nvPr/>
        </p:nvPicPr>
        <p:blipFill>
          <a:blip r:embed="rId3"/>
          <a:stretch>
            <a:fillRect/>
          </a:stretch>
        </p:blipFill>
        <p:spPr>
          <a:xfrm>
            <a:off x="1175194" y="1823870"/>
            <a:ext cx="9841612" cy="4005904"/>
          </a:xfrm>
          <a:prstGeom prst="rect">
            <a:avLst/>
          </a:prstGeom>
        </p:spPr>
      </p:pic>
      <p:sp>
        <p:nvSpPr>
          <p:cNvPr id="6" name="Speech Bubble: Rectangle with Corners Rounded 5">
            <a:extLst>
              <a:ext uri="{FF2B5EF4-FFF2-40B4-BE49-F238E27FC236}">
                <a16:creationId xmlns:a16="http://schemas.microsoft.com/office/drawing/2014/main" id="{F824CB67-BE6B-893A-CEF8-503C150104AA}"/>
              </a:ext>
            </a:extLst>
          </p:cNvPr>
          <p:cNvSpPr/>
          <p:nvPr/>
        </p:nvSpPr>
        <p:spPr>
          <a:xfrm>
            <a:off x="1286934" y="3627518"/>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Management</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7" name="Flowchart: Connector 6">
            <a:extLst>
              <a:ext uri="{FF2B5EF4-FFF2-40B4-BE49-F238E27FC236}">
                <a16:creationId xmlns:a16="http://schemas.microsoft.com/office/drawing/2014/main" id="{AC1E8232-41CB-6768-00EB-4670DE32FB20}"/>
              </a:ext>
            </a:extLst>
          </p:cNvPr>
          <p:cNvSpPr/>
          <p:nvPr/>
        </p:nvSpPr>
        <p:spPr>
          <a:xfrm>
            <a:off x="1915118" y="450937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8" name="Speech Bubble: Rectangle with Corners Rounded 7">
            <a:extLst>
              <a:ext uri="{FF2B5EF4-FFF2-40B4-BE49-F238E27FC236}">
                <a16:creationId xmlns:a16="http://schemas.microsoft.com/office/drawing/2014/main" id="{D89E99D6-FB62-11DA-3C78-C10AC30B6E7D}"/>
              </a:ext>
            </a:extLst>
          </p:cNvPr>
          <p:cNvSpPr/>
          <p:nvPr/>
        </p:nvSpPr>
        <p:spPr>
          <a:xfrm>
            <a:off x="7213600" y="2734161"/>
            <a:ext cx="2494824" cy="789733"/>
          </a:xfrm>
          <a:prstGeom prst="wedgeRoundRectCallout">
            <a:avLst>
              <a:gd name="adj1" fmla="val -86334"/>
              <a:gd name="adj2" fmla="val -3295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IP</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Firewall enabled for the environment</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9" name="Flowchart: Connector 8">
            <a:extLst>
              <a:ext uri="{FF2B5EF4-FFF2-40B4-BE49-F238E27FC236}">
                <a16:creationId xmlns:a16="http://schemas.microsoft.com/office/drawing/2014/main" id="{A0BA3978-5DCB-CD6C-A779-9D989A4216CA}"/>
              </a:ext>
            </a:extLst>
          </p:cNvPr>
          <p:cNvSpPr/>
          <p:nvPr/>
        </p:nvSpPr>
        <p:spPr>
          <a:xfrm>
            <a:off x="9880600" y="292328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
        <p:nvSpPr>
          <p:cNvPr id="10" name="Speech Bubble: Rectangle with Corners Rounded 9">
            <a:extLst>
              <a:ext uri="{FF2B5EF4-FFF2-40B4-BE49-F238E27FC236}">
                <a16:creationId xmlns:a16="http://schemas.microsoft.com/office/drawing/2014/main" id="{DE4981CF-D205-D0D7-6CFF-6D7E81D0337C}"/>
              </a:ext>
            </a:extLst>
          </p:cNvPr>
          <p:cNvSpPr/>
          <p:nvPr/>
        </p:nvSpPr>
        <p:spPr>
          <a:xfrm>
            <a:off x="5532120" y="4281967"/>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IP address or IP addresses range</a:t>
            </a:r>
          </a:p>
        </p:txBody>
      </p:sp>
      <p:sp>
        <p:nvSpPr>
          <p:cNvPr id="11" name="Flowchart: Connector 10">
            <a:extLst>
              <a:ext uri="{FF2B5EF4-FFF2-40B4-BE49-F238E27FC236}">
                <a16:creationId xmlns:a16="http://schemas.microsoft.com/office/drawing/2014/main" id="{5DC574C5-F1FF-78A1-66A7-2AAE9324F6F9}"/>
              </a:ext>
            </a:extLst>
          </p:cNvPr>
          <p:cNvSpPr/>
          <p:nvPr/>
        </p:nvSpPr>
        <p:spPr>
          <a:xfrm>
            <a:off x="8199120" y="447109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4</a:t>
            </a:r>
            <a:endParaRPr lang="en-US" sz="1400" dirty="0">
              <a:latin typeface="Segoe UI" panose="020B0502040204020203" pitchFamily="34" charset="0"/>
              <a:cs typeface="Segoe UI" panose="020B0502040204020203" pitchFamily="34" charset="0"/>
            </a:endParaRPr>
          </a:p>
        </p:txBody>
      </p:sp>
      <p:sp>
        <p:nvSpPr>
          <p:cNvPr id="12" name="Speech Bubble: Rectangle with Corners Rounded 11">
            <a:extLst>
              <a:ext uri="{FF2B5EF4-FFF2-40B4-BE49-F238E27FC236}">
                <a16:creationId xmlns:a16="http://schemas.microsoft.com/office/drawing/2014/main" id="{260AED1E-942B-7695-4F48-B0B8E3577E7B}"/>
              </a:ext>
            </a:extLst>
          </p:cNvPr>
          <p:cNvSpPr/>
          <p:nvPr/>
        </p:nvSpPr>
        <p:spPr>
          <a:xfrm>
            <a:off x="2139356" y="1994063"/>
            <a:ext cx="1849562" cy="600605"/>
          </a:xfrm>
          <a:prstGeom prst="wedgeRoundRectCallout">
            <a:avLst>
              <a:gd name="adj1" fmla="val 29669"/>
              <a:gd name="adj2" fmla="val 122804"/>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IP Firewall</a:t>
            </a:r>
          </a:p>
        </p:txBody>
      </p:sp>
      <p:sp>
        <p:nvSpPr>
          <p:cNvPr id="13" name="Flowchart: Connector 12">
            <a:extLst>
              <a:ext uri="{FF2B5EF4-FFF2-40B4-BE49-F238E27FC236}">
                <a16:creationId xmlns:a16="http://schemas.microsoft.com/office/drawing/2014/main" id="{4CCCC631-8DD3-8E4F-B6EF-9E8463589174}"/>
              </a:ext>
            </a:extLst>
          </p:cNvPr>
          <p:cNvSpPr/>
          <p:nvPr/>
        </p:nvSpPr>
        <p:spPr>
          <a:xfrm>
            <a:off x="4080933" y="204942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471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14535D4-5BCB-F8DA-3880-C8D296931B2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D2E4396-BD6D-8B48-D17E-A76FFD6F6633}"/>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822F4023-EEB0-2BF7-6885-409475C52E9A}"/>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0D398789-D0DA-92FD-0A63-5027F1B0A5B6}"/>
              </a:ext>
            </a:extLst>
          </p:cNvPr>
          <p:cNvSpPr>
            <a:spLocks noGrp="1"/>
          </p:cNvSpPr>
          <p:nvPr>
            <p:ph type="sldNum" sz="quarter" idx="12"/>
          </p:nvPr>
        </p:nvSpPr>
        <p:spPr/>
        <p:txBody>
          <a:bodyPr/>
          <a:lstStyle/>
          <a:p>
            <a:fld id="{86889C5C-8171-4CA3-86B1-670B90C02708}" type="slidenum">
              <a:rPr lang="en-GB" smtClean="0"/>
              <a:t>24</a:t>
            </a:fld>
            <a:endParaRPr lang="en-GB"/>
          </a:p>
        </p:txBody>
      </p:sp>
      <p:sp>
        <p:nvSpPr>
          <p:cNvPr id="4" name="TextBox 3">
            <a:extLst>
              <a:ext uri="{FF2B5EF4-FFF2-40B4-BE49-F238E27FC236}">
                <a16:creationId xmlns:a16="http://schemas.microsoft.com/office/drawing/2014/main" id="{521BA729-28D7-7879-0EDF-6A2AD54AF2F3}"/>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hlinkClick r:id="rId3"/>
              </a:rPr>
              <a:t>Limit sharing - Power Platform | Microsoft Learn</a:t>
            </a:r>
            <a:r>
              <a:rPr lang="es-ES" dirty="0">
                <a:solidFill>
                  <a:schemeClr val="bg1"/>
                </a:solidFill>
                <a:latin typeface="Segoe UI" panose="020B0502040204020203" pitchFamily="34" charset="0"/>
                <a:cs typeface="Segoe UI" panose="020B0502040204020203" pitchFamily="34" charset="0"/>
              </a:rPr>
              <a:t> –</a:t>
            </a:r>
            <a:r>
              <a:rPr lang="en-US" dirty="0">
                <a:solidFill>
                  <a:schemeClr val="bg1"/>
                </a:solidFill>
                <a:latin typeface="Segoe UI" panose="020B0502040204020203" pitchFamily="34" charset="0"/>
                <a:cs typeface="Segoe UI" panose="020B0502040204020203" pitchFamily="34" charset="0"/>
              </a:rPr>
              <a:t> For an environment or an environments group</a:t>
            </a:r>
          </a:p>
        </p:txBody>
      </p:sp>
      <p:pic>
        <p:nvPicPr>
          <p:cNvPr id="14" name="Picture 13">
            <a:extLst>
              <a:ext uri="{FF2B5EF4-FFF2-40B4-BE49-F238E27FC236}">
                <a16:creationId xmlns:a16="http://schemas.microsoft.com/office/drawing/2014/main" id="{C68AAEE5-1DF6-BA1A-52C1-CBB6ADEB6423}"/>
              </a:ext>
            </a:extLst>
          </p:cNvPr>
          <p:cNvPicPr>
            <a:picLocks noChangeAspect="1"/>
          </p:cNvPicPr>
          <p:nvPr/>
        </p:nvPicPr>
        <p:blipFill>
          <a:blip r:embed="rId4"/>
          <a:stretch>
            <a:fillRect/>
          </a:stretch>
        </p:blipFill>
        <p:spPr>
          <a:xfrm>
            <a:off x="1880422" y="1674557"/>
            <a:ext cx="8187351" cy="4805001"/>
          </a:xfrm>
          <a:prstGeom prst="rect">
            <a:avLst/>
          </a:prstGeom>
        </p:spPr>
      </p:pic>
      <p:sp>
        <p:nvSpPr>
          <p:cNvPr id="15" name="Speech Bubble: Rectangle with Corners Rounded 14">
            <a:extLst>
              <a:ext uri="{FF2B5EF4-FFF2-40B4-BE49-F238E27FC236}">
                <a16:creationId xmlns:a16="http://schemas.microsoft.com/office/drawing/2014/main" id="{5B66FA4F-1137-F22D-52C8-937FFC110CC2}"/>
              </a:ext>
            </a:extLst>
          </p:cNvPr>
          <p:cNvSpPr/>
          <p:nvPr/>
        </p:nvSpPr>
        <p:spPr>
          <a:xfrm>
            <a:off x="1874520" y="3432110"/>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16" name="Flowchart: Connector 15">
            <a:extLst>
              <a:ext uri="{FF2B5EF4-FFF2-40B4-BE49-F238E27FC236}">
                <a16:creationId xmlns:a16="http://schemas.microsoft.com/office/drawing/2014/main" id="{C18A84C5-D02D-F168-8E72-0254857B29AC}"/>
              </a:ext>
            </a:extLst>
          </p:cNvPr>
          <p:cNvSpPr/>
          <p:nvPr/>
        </p:nvSpPr>
        <p:spPr>
          <a:xfrm>
            <a:off x="2502704" y="431396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17" name="Speech Bubble: Rectangle with Corners Rounded 16">
            <a:extLst>
              <a:ext uri="{FF2B5EF4-FFF2-40B4-BE49-F238E27FC236}">
                <a16:creationId xmlns:a16="http://schemas.microsoft.com/office/drawing/2014/main" id="{EF8AD711-398E-CC44-22A5-7F3FE5DBDB4A}"/>
              </a:ext>
            </a:extLst>
          </p:cNvPr>
          <p:cNvSpPr/>
          <p:nvPr/>
        </p:nvSpPr>
        <p:spPr>
          <a:xfrm>
            <a:off x="1630715" y="5153094"/>
            <a:ext cx="2494824" cy="657180"/>
          </a:xfrm>
          <a:prstGeom prst="wedgeRoundRectCallout">
            <a:avLst>
              <a:gd name="adj1" fmla="val 38605"/>
              <a:gd name="adj2" fmla="val -8628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white"/>
                </a:solidFill>
                <a:latin typeface="Segoe UI" panose="020B0502040204020203" pitchFamily="34" charset="0"/>
                <a:cs typeface="Segoe UI" panose="020B0502040204020203" pitchFamily="34" charset="0"/>
              </a:rPr>
              <a:t>Manage sharing </a:t>
            </a: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setting</a:t>
            </a:r>
          </a:p>
        </p:txBody>
      </p:sp>
      <p:sp>
        <p:nvSpPr>
          <p:cNvPr id="18" name="Flowchart: Connector 17">
            <a:extLst>
              <a:ext uri="{FF2B5EF4-FFF2-40B4-BE49-F238E27FC236}">
                <a16:creationId xmlns:a16="http://schemas.microsoft.com/office/drawing/2014/main" id="{05336B78-F636-462F-0AD0-71645B1E0266}"/>
              </a:ext>
            </a:extLst>
          </p:cNvPr>
          <p:cNvSpPr/>
          <p:nvPr/>
        </p:nvSpPr>
        <p:spPr>
          <a:xfrm>
            <a:off x="4202734" y="526336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9" name="Speech Bubble: Rectangle with Corners Rounded 18">
            <a:extLst>
              <a:ext uri="{FF2B5EF4-FFF2-40B4-BE49-F238E27FC236}">
                <a16:creationId xmlns:a16="http://schemas.microsoft.com/office/drawing/2014/main" id="{459316D2-CE01-F073-F34E-B8F423446FC0}"/>
              </a:ext>
            </a:extLst>
          </p:cNvPr>
          <p:cNvSpPr/>
          <p:nvPr/>
        </p:nvSpPr>
        <p:spPr>
          <a:xfrm>
            <a:off x="7816754" y="2375171"/>
            <a:ext cx="2494824" cy="789733"/>
          </a:xfrm>
          <a:prstGeom prst="wedgeRoundRectCallout">
            <a:avLst>
              <a:gd name="adj1" fmla="val -72373"/>
              <a:gd name="adj2" fmla="val -715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Canvas Apps Sharing settings</a:t>
            </a:r>
          </a:p>
        </p:txBody>
      </p:sp>
      <p:sp>
        <p:nvSpPr>
          <p:cNvPr id="20" name="Flowchart: Connector 19">
            <a:extLst>
              <a:ext uri="{FF2B5EF4-FFF2-40B4-BE49-F238E27FC236}">
                <a16:creationId xmlns:a16="http://schemas.microsoft.com/office/drawing/2014/main" id="{C93FFC6A-C85F-60DD-82BB-12007FBEC770}"/>
              </a:ext>
            </a:extLst>
          </p:cNvPr>
          <p:cNvSpPr/>
          <p:nvPr/>
        </p:nvSpPr>
        <p:spPr>
          <a:xfrm>
            <a:off x="10483754" y="256429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
        <p:nvSpPr>
          <p:cNvPr id="22" name="Speech Bubble: Rectangle with Corners Rounded 21">
            <a:extLst>
              <a:ext uri="{FF2B5EF4-FFF2-40B4-BE49-F238E27FC236}">
                <a16:creationId xmlns:a16="http://schemas.microsoft.com/office/drawing/2014/main" id="{874AD848-5700-C4A1-A1E9-7943BDE1D68A}"/>
              </a:ext>
            </a:extLst>
          </p:cNvPr>
          <p:cNvSpPr/>
          <p:nvPr/>
        </p:nvSpPr>
        <p:spPr>
          <a:xfrm>
            <a:off x="7816754" y="3329118"/>
            <a:ext cx="2494824" cy="789733"/>
          </a:xfrm>
          <a:prstGeom prst="wedgeRoundRectCallout">
            <a:avLst>
              <a:gd name="adj1" fmla="val -74216"/>
              <a:gd name="adj2" fmla="val -496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Power Automate Sharing settings</a:t>
            </a:r>
          </a:p>
        </p:txBody>
      </p:sp>
      <p:sp>
        <p:nvSpPr>
          <p:cNvPr id="23" name="Flowchart: Connector 22">
            <a:extLst>
              <a:ext uri="{FF2B5EF4-FFF2-40B4-BE49-F238E27FC236}">
                <a16:creationId xmlns:a16="http://schemas.microsoft.com/office/drawing/2014/main" id="{FEE78877-6C6D-9824-D1EC-48B9B61B6C42}"/>
              </a:ext>
            </a:extLst>
          </p:cNvPr>
          <p:cNvSpPr/>
          <p:nvPr/>
        </p:nvSpPr>
        <p:spPr>
          <a:xfrm>
            <a:off x="10483754" y="351824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4</a:t>
            </a:r>
            <a:endParaRPr lang="en-US" sz="1400" dirty="0">
              <a:latin typeface="Segoe UI" panose="020B0502040204020203" pitchFamily="34" charset="0"/>
              <a:cs typeface="Segoe UI" panose="020B0502040204020203" pitchFamily="34" charset="0"/>
            </a:endParaRPr>
          </a:p>
        </p:txBody>
      </p:sp>
      <p:sp>
        <p:nvSpPr>
          <p:cNvPr id="24" name="Speech Bubble: Rectangle with Corners Rounded 23">
            <a:extLst>
              <a:ext uri="{FF2B5EF4-FFF2-40B4-BE49-F238E27FC236}">
                <a16:creationId xmlns:a16="http://schemas.microsoft.com/office/drawing/2014/main" id="{9876730E-126B-FB04-C975-3BD017A4D93C}"/>
              </a:ext>
            </a:extLst>
          </p:cNvPr>
          <p:cNvSpPr/>
          <p:nvPr/>
        </p:nvSpPr>
        <p:spPr>
          <a:xfrm>
            <a:off x="7816754" y="4313966"/>
            <a:ext cx="2494824" cy="789733"/>
          </a:xfrm>
          <a:prstGeom prst="wedgeRoundRectCallout">
            <a:avLst>
              <a:gd name="adj1" fmla="val -74216"/>
              <a:gd name="adj2" fmla="val -496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Copilot Studio Sharing settings</a:t>
            </a:r>
          </a:p>
        </p:txBody>
      </p:sp>
      <p:sp>
        <p:nvSpPr>
          <p:cNvPr id="25" name="Flowchart: Connector 24">
            <a:extLst>
              <a:ext uri="{FF2B5EF4-FFF2-40B4-BE49-F238E27FC236}">
                <a16:creationId xmlns:a16="http://schemas.microsoft.com/office/drawing/2014/main" id="{C4F9700E-EC8F-A638-6A08-0590C6E2C09D}"/>
              </a:ext>
            </a:extLst>
          </p:cNvPr>
          <p:cNvSpPr/>
          <p:nvPr/>
        </p:nvSpPr>
        <p:spPr>
          <a:xfrm>
            <a:off x="10483754" y="450309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5</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0195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1000"/>
                                        <p:tgtEl>
                                          <p:spTgt spid="23"/>
                                        </p:tgtEl>
                                      </p:cBhvr>
                                    </p:animEffect>
                                    <p:anim calcmode="lin" valueType="num">
                                      <p:cBhvr>
                                        <p:cTn id="44" dur="1000" fill="hold"/>
                                        <p:tgtEl>
                                          <p:spTgt spid="23"/>
                                        </p:tgtEl>
                                        <p:attrNameLst>
                                          <p:attrName>ppt_x</p:attrName>
                                        </p:attrNameLst>
                                      </p:cBhvr>
                                      <p:tavLst>
                                        <p:tav tm="0">
                                          <p:val>
                                            <p:strVal val="#ppt_x"/>
                                          </p:val>
                                        </p:tav>
                                        <p:tav tm="100000">
                                          <p:val>
                                            <p:strVal val="#ppt_x"/>
                                          </p:val>
                                        </p:tav>
                                      </p:tavLst>
                                    </p:anim>
                                    <p:anim calcmode="lin" valueType="num">
                                      <p:cBhvr>
                                        <p:cTn id="45" dur="1000" fill="hold"/>
                                        <p:tgtEl>
                                          <p:spTgt spid="2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anim calcmode="lin" valueType="num">
                                      <p:cBhvr>
                                        <p:cTn id="49" dur="1000" fill="hold"/>
                                        <p:tgtEl>
                                          <p:spTgt spid="22"/>
                                        </p:tgtEl>
                                        <p:attrNameLst>
                                          <p:attrName>ppt_x</p:attrName>
                                        </p:attrNameLst>
                                      </p:cBhvr>
                                      <p:tavLst>
                                        <p:tav tm="0">
                                          <p:val>
                                            <p:strVal val="#ppt_x"/>
                                          </p:val>
                                        </p:tav>
                                        <p:tav tm="100000">
                                          <p:val>
                                            <p:strVal val="#ppt_x"/>
                                          </p:val>
                                        </p:tav>
                                      </p:tavLst>
                                    </p:anim>
                                    <p:anim calcmode="lin" valueType="num">
                                      <p:cBhvr>
                                        <p:cTn id="5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1000"/>
                                        <p:tgtEl>
                                          <p:spTgt spid="25"/>
                                        </p:tgtEl>
                                      </p:cBhvr>
                                    </p:animEffect>
                                    <p:anim calcmode="lin" valueType="num">
                                      <p:cBhvr>
                                        <p:cTn id="56" dur="1000" fill="hold"/>
                                        <p:tgtEl>
                                          <p:spTgt spid="25"/>
                                        </p:tgtEl>
                                        <p:attrNameLst>
                                          <p:attrName>ppt_x</p:attrName>
                                        </p:attrNameLst>
                                      </p:cBhvr>
                                      <p:tavLst>
                                        <p:tav tm="0">
                                          <p:val>
                                            <p:strVal val="#ppt_x"/>
                                          </p:val>
                                        </p:tav>
                                        <p:tav tm="100000">
                                          <p:val>
                                            <p:strVal val="#ppt_x"/>
                                          </p:val>
                                        </p:tav>
                                      </p:tavLst>
                                    </p:anim>
                                    <p:anim calcmode="lin" valueType="num">
                                      <p:cBhvr>
                                        <p:cTn id="57" dur="1000" fill="hold"/>
                                        <p:tgtEl>
                                          <p:spTgt spid="2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1000"/>
                                        <p:tgtEl>
                                          <p:spTgt spid="24"/>
                                        </p:tgtEl>
                                      </p:cBhvr>
                                    </p:animEffect>
                                    <p:anim calcmode="lin" valueType="num">
                                      <p:cBhvr>
                                        <p:cTn id="61" dur="1000" fill="hold"/>
                                        <p:tgtEl>
                                          <p:spTgt spid="24"/>
                                        </p:tgtEl>
                                        <p:attrNameLst>
                                          <p:attrName>ppt_x</p:attrName>
                                        </p:attrNameLst>
                                      </p:cBhvr>
                                      <p:tavLst>
                                        <p:tav tm="0">
                                          <p:val>
                                            <p:strVal val="#ppt_x"/>
                                          </p:val>
                                        </p:tav>
                                        <p:tav tm="100000">
                                          <p:val>
                                            <p:strVal val="#ppt_x"/>
                                          </p:val>
                                        </p:tav>
                                      </p:tavLst>
                                    </p:anim>
                                    <p:anim calcmode="lin" valueType="num">
                                      <p:cBhvr>
                                        <p:cTn id="6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00471A5-8E5D-8D2C-59AD-38045E3BAF6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77FF0DAF-F6FA-7457-54C2-0135939DF5F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DD51B92-69E8-531A-FB0A-EC75DB8A653B}"/>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67D07EEC-C743-05CB-E3E1-D20138761A4D}"/>
              </a:ext>
            </a:extLst>
          </p:cNvPr>
          <p:cNvSpPr>
            <a:spLocks noGrp="1"/>
          </p:cNvSpPr>
          <p:nvPr>
            <p:ph type="sldNum" sz="quarter" idx="12"/>
          </p:nvPr>
        </p:nvSpPr>
        <p:spPr/>
        <p:txBody>
          <a:bodyPr/>
          <a:lstStyle/>
          <a:p>
            <a:fld id="{86889C5C-8171-4CA3-86B1-670B90C02708}" type="slidenum">
              <a:rPr lang="en-GB" smtClean="0"/>
              <a:t>25</a:t>
            </a:fld>
            <a:endParaRPr lang="en-GB"/>
          </a:p>
        </p:txBody>
      </p:sp>
      <p:sp>
        <p:nvSpPr>
          <p:cNvPr id="4" name="TextBox 3">
            <a:extLst>
              <a:ext uri="{FF2B5EF4-FFF2-40B4-BE49-F238E27FC236}">
                <a16:creationId xmlns:a16="http://schemas.microsoft.com/office/drawing/2014/main" id="{A1C754D3-68F0-2381-8BF1-77C49EF4BA64}"/>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Impact of sharing settings when someone tries to share an App and Sharing has been disabled in an environment</a:t>
            </a:r>
          </a:p>
        </p:txBody>
      </p:sp>
      <p:pic>
        <p:nvPicPr>
          <p:cNvPr id="5" name="Picture 2" descr="If a user tries to share a canvas app, solution-aware cloud flow, or agent that contradicts the sharing rules, an error message is displayed.">
            <a:extLst>
              <a:ext uri="{FF2B5EF4-FFF2-40B4-BE49-F238E27FC236}">
                <a16:creationId xmlns:a16="http://schemas.microsoft.com/office/drawing/2014/main" id="{0C71312C-8AD0-5E2B-C3C5-00BF453CC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875" y="2366202"/>
            <a:ext cx="11430000" cy="173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465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688AC39-17B6-8812-5B95-07A46D093EC0}"/>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82504478-4FEA-5B02-3273-150133A0FE39}"/>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8BBE5CA9-E895-0CB7-03CB-8A313D83C120}"/>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C773B636-9EA9-DBD0-E57C-07BF31CE46C7}"/>
              </a:ext>
            </a:extLst>
          </p:cNvPr>
          <p:cNvSpPr>
            <a:spLocks noGrp="1"/>
          </p:cNvSpPr>
          <p:nvPr>
            <p:ph type="sldNum" sz="quarter" idx="12"/>
          </p:nvPr>
        </p:nvSpPr>
        <p:spPr/>
        <p:txBody>
          <a:bodyPr/>
          <a:lstStyle/>
          <a:p>
            <a:fld id="{86889C5C-8171-4CA3-86B1-670B90C02708}" type="slidenum">
              <a:rPr lang="en-GB" smtClean="0"/>
              <a:t>26</a:t>
            </a:fld>
            <a:endParaRPr lang="en-GB"/>
          </a:p>
        </p:txBody>
      </p:sp>
      <p:sp>
        <p:nvSpPr>
          <p:cNvPr id="4" name="TextBox 3">
            <a:extLst>
              <a:ext uri="{FF2B5EF4-FFF2-40B4-BE49-F238E27FC236}">
                <a16:creationId xmlns:a16="http://schemas.microsoft.com/office/drawing/2014/main" id="{B2F52E27-10FB-8642-6551-28B86A1CB2D0}"/>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rPr>
              <a:t>Limit</a:t>
            </a:r>
            <a:r>
              <a:rPr lang="en-US" dirty="0">
                <a:latin typeface="Segoe UI" panose="020B0502040204020203" pitchFamily="34" charset="0"/>
                <a:cs typeface="Segoe UI" panose="020B0502040204020203" pitchFamily="34" charset="0"/>
                <a:hlinkClick r:id="rId3"/>
              </a:rPr>
              <a:t> Safeguarding Dataverse sessions with IP cookie binding - Power Platform | Microsoft Learn</a:t>
            </a:r>
            <a:r>
              <a:rPr lang="en-US" dirty="0">
                <a:latin typeface="Segoe UI" panose="020B0502040204020203" pitchFamily="34" charset="0"/>
                <a:cs typeface="Segoe UI" panose="020B0502040204020203" pitchFamily="34" charset="0"/>
              </a:rPr>
              <a:t> </a:t>
            </a:r>
            <a:r>
              <a:rPr lang="es-ES" dirty="0">
                <a:solidFill>
                  <a:schemeClr val="bg1"/>
                </a:solidFill>
                <a:latin typeface="Segoe UI" panose="020B0502040204020203" pitchFamily="34" charset="0"/>
                <a:cs typeface="Segoe UI" panose="020B0502040204020203" pitchFamily="34" charset="0"/>
              </a:rPr>
              <a:t>–</a:t>
            </a:r>
            <a:r>
              <a:rPr lang="en-US" dirty="0">
                <a:solidFill>
                  <a:schemeClr val="bg1"/>
                </a:solidFill>
                <a:latin typeface="Segoe UI" panose="020B0502040204020203" pitchFamily="34" charset="0"/>
                <a:cs typeface="Segoe UI" panose="020B0502040204020203" pitchFamily="34" charset="0"/>
              </a:rPr>
              <a:t> For an environment or an environments group</a:t>
            </a:r>
          </a:p>
        </p:txBody>
      </p:sp>
      <p:pic>
        <p:nvPicPr>
          <p:cNvPr id="5" name="Picture 4">
            <a:extLst>
              <a:ext uri="{FF2B5EF4-FFF2-40B4-BE49-F238E27FC236}">
                <a16:creationId xmlns:a16="http://schemas.microsoft.com/office/drawing/2014/main" id="{66C82FC2-1D1F-D347-041C-BAD63AE0CAB3}"/>
              </a:ext>
            </a:extLst>
          </p:cNvPr>
          <p:cNvPicPr>
            <a:picLocks noChangeAspect="1"/>
          </p:cNvPicPr>
          <p:nvPr/>
        </p:nvPicPr>
        <p:blipFill>
          <a:blip r:embed="rId4"/>
          <a:stretch>
            <a:fillRect/>
          </a:stretch>
        </p:blipFill>
        <p:spPr>
          <a:xfrm>
            <a:off x="0" y="1842482"/>
            <a:ext cx="9888264" cy="2929059"/>
          </a:xfrm>
          <a:prstGeom prst="rect">
            <a:avLst/>
          </a:prstGeom>
        </p:spPr>
      </p:pic>
      <p:pic>
        <p:nvPicPr>
          <p:cNvPr id="6" name="Picture 5">
            <a:extLst>
              <a:ext uri="{FF2B5EF4-FFF2-40B4-BE49-F238E27FC236}">
                <a16:creationId xmlns:a16="http://schemas.microsoft.com/office/drawing/2014/main" id="{0A1A0A95-CAEC-05B3-5196-FA8592A87264}"/>
              </a:ext>
            </a:extLst>
          </p:cNvPr>
          <p:cNvPicPr>
            <a:picLocks noChangeAspect="1"/>
          </p:cNvPicPr>
          <p:nvPr/>
        </p:nvPicPr>
        <p:blipFill>
          <a:blip r:embed="rId5"/>
          <a:stretch>
            <a:fillRect/>
          </a:stretch>
        </p:blipFill>
        <p:spPr>
          <a:xfrm>
            <a:off x="3925531" y="3637129"/>
            <a:ext cx="8204200" cy="2505452"/>
          </a:xfrm>
          <a:prstGeom prst="rect">
            <a:avLst/>
          </a:prstGeom>
        </p:spPr>
      </p:pic>
      <p:sp>
        <p:nvSpPr>
          <p:cNvPr id="7" name="Speech Bubble: Rectangle with Corners Rounded 6">
            <a:extLst>
              <a:ext uri="{FF2B5EF4-FFF2-40B4-BE49-F238E27FC236}">
                <a16:creationId xmlns:a16="http://schemas.microsoft.com/office/drawing/2014/main" id="{10C953B4-3A39-0455-BB61-36B17C6CCD54}"/>
              </a:ext>
            </a:extLst>
          </p:cNvPr>
          <p:cNvSpPr/>
          <p:nvPr/>
        </p:nvSpPr>
        <p:spPr>
          <a:xfrm>
            <a:off x="123995" y="3596519"/>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8" name="Flowchart: Connector 7">
            <a:extLst>
              <a:ext uri="{FF2B5EF4-FFF2-40B4-BE49-F238E27FC236}">
                <a16:creationId xmlns:a16="http://schemas.microsoft.com/office/drawing/2014/main" id="{DF742B7A-128E-58A2-4D82-14AE79152ED7}"/>
              </a:ext>
            </a:extLst>
          </p:cNvPr>
          <p:cNvSpPr/>
          <p:nvPr/>
        </p:nvSpPr>
        <p:spPr>
          <a:xfrm>
            <a:off x="752179" y="447837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9" name="Speech Bubble: Rectangle with Corners Rounded 8">
            <a:extLst>
              <a:ext uri="{FF2B5EF4-FFF2-40B4-BE49-F238E27FC236}">
                <a16:creationId xmlns:a16="http://schemas.microsoft.com/office/drawing/2014/main" id="{8396A3AB-89A5-CAAC-BEEE-0709D4E40CA6}"/>
              </a:ext>
            </a:extLst>
          </p:cNvPr>
          <p:cNvSpPr/>
          <p:nvPr/>
        </p:nvSpPr>
        <p:spPr>
          <a:xfrm>
            <a:off x="1702132" y="4824222"/>
            <a:ext cx="2494824" cy="541810"/>
          </a:xfrm>
          <a:prstGeom prst="wedgeRoundRectCallout">
            <a:avLst>
              <a:gd name="adj1" fmla="val -16549"/>
              <a:gd name="adj2" fmla="val -8718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IP-</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Segoe UI" panose="020B0502040204020203" pitchFamily="34" charset="0"/>
              </a:rPr>
              <a:t>addres</a:t>
            </a:r>
            <a:r>
              <a:rPr lang="en-US" sz="1600" dirty="0">
                <a:solidFill>
                  <a:prstClr val="white"/>
                </a:solidFill>
                <a:latin typeface="Calibri" panose="020F0502020204030204"/>
                <a:cs typeface="Segoe UI" panose="020B0502040204020203" pitchFamily="34" charset="0"/>
              </a:rPr>
              <a:t>s cookie binding</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0" name="Flowchart: Connector 9">
            <a:extLst>
              <a:ext uri="{FF2B5EF4-FFF2-40B4-BE49-F238E27FC236}">
                <a16:creationId xmlns:a16="http://schemas.microsoft.com/office/drawing/2014/main" id="{D04BCDD1-902B-84FB-5D35-838C07E91BA0}"/>
              </a:ext>
            </a:extLst>
          </p:cNvPr>
          <p:cNvSpPr/>
          <p:nvPr/>
        </p:nvSpPr>
        <p:spPr>
          <a:xfrm>
            <a:off x="2743804" y="548434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11" name="Speech Bubble: Rectangle with Corners Rounded 10">
            <a:extLst>
              <a:ext uri="{FF2B5EF4-FFF2-40B4-BE49-F238E27FC236}">
                <a16:creationId xmlns:a16="http://schemas.microsoft.com/office/drawing/2014/main" id="{9DBE968E-2049-EB32-AFE2-78C5BDC1F69E}"/>
              </a:ext>
            </a:extLst>
          </p:cNvPr>
          <p:cNvSpPr/>
          <p:nvPr/>
        </p:nvSpPr>
        <p:spPr>
          <a:xfrm>
            <a:off x="4953272" y="2667608"/>
            <a:ext cx="2494824" cy="541810"/>
          </a:xfrm>
          <a:prstGeom prst="wedgeRoundRectCallout">
            <a:avLst>
              <a:gd name="adj1" fmla="val -62025"/>
              <a:gd name="adj2" fmla="val -4811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rPr>
              <a:t>Enable/Disable</a:t>
            </a:r>
            <a:r>
              <a:rPr kumimoji="0" lang="en-US" sz="1600" b="0" i="0" u="none" strike="noStrike" kern="1200" cap="none" spc="0" normalizeH="0" noProof="0" dirty="0">
                <a:ln>
                  <a:noFill/>
                </a:ln>
                <a:solidFill>
                  <a:prstClr val="white"/>
                </a:solidFill>
                <a:effectLst/>
                <a:uLnTx/>
                <a:uFillTx/>
                <a:latin typeface="Calibri" panose="020F0502020204030204"/>
                <a:ea typeface="+mn-ea"/>
                <a:cs typeface="Segoe UI" panose="020B0502040204020203" pitchFamily="34" charset="0"/>
              </a:rPr>
              <a:t> IP address cookie binding</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2" name="Flowchart: Connector 11">
            <a:extLst>
              <a:ext uri="{FF2B5EF4-FFF2-40B4-BE49-F238E27FC236}">
                <a16:creationId xmlns:a16="http://schemas.microsoft.com/office/drawing/2014/main" id="{B9C2BFD1-D7F1-A083-4075-20B9D511547C}"/>
              </a:ext>
            </a:extLst>
          </p:cNvPr>
          <p:cNvSpPr/>
          <p:nvPr/>
        </p:nvSpPr>
        <p:spPr>
          <a:xfrm>
            <a:off x="7585243" y="273277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45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1045DDC-ABE1-7244-8BDF-239CE760A0AA}"/>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FEB7EA40-8A18-F82F-63AC-68B16C91EC3B}"/>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479AE49C-4FC4-CAFF-23E0-07AB5DD1D94D}"/>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F24DFA69-1B6A-617C-846D-23C85855C40D}"/>
              </a:ext>
            </a:extLst>
          </p:cNvPr>
          <p:cNvSpPr>
            <a:spLocks noGrp="1"/>
          </p:cNvSpPr>
          <p:nvPr>
            <p:ph type="sldNum" sz="quarter" idx="12"/>
          </p:nvPr>
        </p:nvSpPr>
        <p:spPr/>
        <p:txBody>
          <a:bodyPr/>
          <a:lstStyle/>
          <a:p>
            <a:fld id="{86889C5C-8171-4CA3-86B1-670B90C02708}" type="slidenum">
              <a:rPr lang="en-GB" smtClean="0"/>
              <a:t>27</a:t>
            </a:fld>
            <a:endParaRPr lang="en-GB"/>
          </a:p>
        </p:txBody>
      </p:sp>
      <p:sp>
        <p:nvSpPr>
          <p:cNvPr id="4" name="TextBox 3">
            <a:extLst>
              <a:ext uri="{FF2B5EF4-FFF2-40B4-BE49-F238E27FC236}">
                <a16:creationId xmlns:a16="http://schemas.microsoft.com/office/drawing/2014/main" id="{860C7BDE-FE06-0F21-D3E9-4CE6922B4202}"/>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rPr>
              <a:t>Limit</a:t>
            </a:r>
            <a:r>
              <a:rPr lang="en-US" dirty="0">
                <a:latin typeface="Segoe UI" panose="020B0502040204020203" pitchFamily="34" charset="0"/>
                <a:cs typeface="Segoe UI" panose="020B0502040204020203" pitchFamily="34" charset="0"/>
                <a:hlinkClick r:id="rId3"/>
              </a:rPr>
              <a:t> </a:t>
            </a:r>
            <a:r>
              <a:rPr lang="en-US" dirty="0">
                <a:latin typeface="Segoe UI" panose="020B0502040204020203" pitchFamily="34" charset="0"/>
                <a:cs typeface="Segoe UI" panose="020B0502040204020203" pitchFamily="34" charset="0"/>
                <a:hlinkClick r:id="rId4"/>
              </a:rPr>
              <a:t>Restrict cross-tenant inbound and outbound access - Power Platform | Microsoft Learn</a:t>
            </a:r>
            <a:r>
              <a:rPr lang="en-US" dirty="0">
                <a:latin typeface="Segoe UI" panose="020B0502040204020203" pitchFamily="34" charset="0"/>
                <a:cs typeface="Segoe UI" panose="020B0502040204020203" pitchFamily="34" charset="0"/>
              </a:rPr>
              <a:t> </a:t>
            </a:r>
            <a:r>
              <a:rPr lang="es-ES" dirty="0">
                <a:solidFill>
                  <a:schemeClr val="bg1"/>
                </a:solidFill>
                <a:latin typeface="Segoe UI" panose="020B0502040204020203" pitchFamily="34" charset="0"/>
                <a:cs typeface="Segoe UI" panose="020B0502040204020203" pitchFamily="34" charset="0"/>
              </a:rPr>
              <a:t>–</a:t>
            </a:r>
            <a:r>
              <a:rPr lang="en-US" dirty="0">
                <a:solidFill>
                  <a:schemeClr val="bg1"/>
                </a:solidFill>
                <a:latin typeface="Segoe UI" panose="020B0502040204020203" pitchFamily="34" charset="0"/>
                <a:cs typeface="Segoe UI" panose="020B0502040204020203" pitchFamily="34" charset="0"/>
              </a:rPr>
              <a:t> Tenant isolation scenarios</a:t>
            </a:r>
          </a:p>
        </p:txBody>
      </p:sp>
      <p:pic>
        <p:nvPicPr>
          <p:cNvPr id="13" name="Picture 12" descr="Restrict outbound and inbound cross-tenant access.">
            <a:extLst>
              <a:ext uri="{FF2B5EF4-FFF2-40B4-BE49-F238E27FC236}">
                <a16:creationId xmlns:a16="http://schemas.microsoft.com/office/drawing/2014/main" id="{C8C37172-1CFC-6A1D-B07C-0DCF59A4D1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661" y="2010566"/>
            <a:ext cx="5253206" cy="20158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4" name="Picture 13" descr="Restrict inbound connection.">
            <a:extLst>
              <a:ext uri="{FF2B5EF4-FFF2-40B4-BE49-F238E27FC236}">
                <a16:creationId xmlns:a16="http://schemas.microsoft.com/office/drawing/2014/main" id="{81BCB6CF-6AD1-0D65-B46E-07A5546A14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9861" y="1994063"/>
            <a:ext cx="5341477" cy="20323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5" name="Picture 14" descr="A diagram of a diagram&#10;&#10;Description automatically generated with medium confidence">
            <a:extLst>
              <a:ext uri="{FF2B5EF4-FFF2-40B4-BE49-F238E27FC236}">
                <a16:creationId xmlns:a16="http://schemas.microsoft.com/office/drawing/2014/main" id="{87427425-9FCA-00EE-5302-B95B739A99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73082" y="4245287"/>
            <a:ext cx="5410200" cy="20673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1164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CC17A0A-852A-CEAB-EEE5-8CDF4748DCD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406D1578-CC49-A062-9A6E-91BB1A8E7322}"/>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B5763FDA-AADE-4B9F-F313-B1E4DF846D43}"/>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F837A35B-2204-CBDE-D982-E4CBA6F49AC6}"/>
              </a:ext>
            </a:extLst>
          </p:cNvPr>
          <p:cNvSpPr>
            <a:spLocks noGrp="1"/>
          </p:cNvSpPr>
          <p:nvPr>
            <p:ph type="sldNum" sz="quarter" idx="12"/>
          </p:nvPr>
        </p:nvSpPr>
        <p:spPr/>
        <p:txBody>
          <a:bodyPr/>
          <a:lstStyle/>
          <a:p>
            <a:fld id="{86889C5C-8171-4CA3-86B1-670B90C02708}" type="slidenum">
              <a:rPr lang="en-GB" smtClean="0"/>
              <a:t>28</a:t>
            </a:fld>
            <a:endParaRPr lang="en-GB"/>
          </a:p>
        </p:txBody>
      </p:sp>
      <p:sp>
        <p:nvSpPr>
          <p:cNvPr id="4" name="TextBox 3">
            <a:extLst>
              <a:ext uri="{FF2B5EF4-FFF2-40B4-BE49-F238E27FC236}">
                <a16:creationId xmlns:a16="http://schemas.microsoft.com/office/drawing/2014/main" id="{C2267DD1-BBB3-6CB6-9ADC-036B8315ACB4}"/>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rPr>
              <a:t>Limit</a:t>
            </a:r>
            <a:r>
              <a:rPr lang="en-US" dirty="0">
                <a:latin typeface="Segoe UI" panose="020B0502040204020203" pitchFamily="34" charset="0"/>
                <a:cs typeface="Segoe UI" panose="020B0502040204020203" pitchFamily="34" charset="0"/>
                <a:hlinkClick r:id="rId3"/>
              </a:rPr>
              <a:t> </a:t>
            </a:r>
            <a:r>
              <a:rPr lang="en-US" dirty="0">
                <a:latin typeface="Segoe UI" panose="020B0502040204020203" pitchFamily="34" charset="0"/>
                <a:cs typeface="Segoe UI" panose="020B0502040204020203" pitchFamily="34" charset="0"/>
                <a:hlinkClick r:id="rId4"/>
              </a:rPr>
              <a:t>Restrict cross-tenant inbound and outbound access - Power Platform | Microsoft Learn</a:t>
            </a:r>
            <a:r>
              <a:rPr lang="en-US" dirty="0">
                <a:latin typeface="Segoe UI" panose="020B0502040204020203" pitchFamily="34" charset="0"/>
                <a:cs typeface="Segoe UI" panose="020B0502040204020203" pitchFamily="34" charset="0"/>
              </a:rPr>
              <a:t> </a:t>
            </a:r>
            <a:r>
              <a:rPr lang="es-ES" dirty="0">
                <a:solidFill>
                  <a:schemeClr val="bg1"/>
                </a:solidFill>
                <a:latin typeface="Segoe UI" panose="020B0502040204020203" pitchFamily="34" charset="0"/>
                <a:cs typeface="Segoe UI" panose="020B0502040204020203" pitchFamily="34" charset="0"/>
              </a:rPr>
              <a:t>–</a:t>
            </a:r>
            <a:r>
              <a:rPr lang="en-US" dirty="0">
                <a:solidFill>
                  <a:schemeClr val="bg1"/>
                </a:solidFill>
                <a:latin typeface="Segoe UI" panose="020B0502040204020203" pitchFamily="34" charset="0"/>
                <a:cs typeface="Segoe UI" panose="020B0502040204020203" pitchFamily="34" charset="0"/>
              </a:rPr>
              <a:t> Tenant isolation scenarios</a:t>
            </a:r>
          </a:p>
        </p:txBody>
      </p:sp>
      <p:pic>
        <p:nvPicPr>
          <p:cNvPr id="5" name="Picture 4">
            <a:extLst>
              <a:ext uri="{FF2B5EF4-FFF2-40B4-BE49-F238E27FC236}">
                <a16:creationId xmlns:a16="http://schemas.microsoft.com/office/drawing/2014/main" id="{0DF027C7-93FE-8643-81D9-21A3DEEE8A8B}"/>
              </a:ext>
            </a:extLst>
          </p:cNvPr>
          <p:cNvPicPr>
            <a:picLocks noChangeAspect="1"/>
          </p:cNvPicPr>
          <p:nvPr/>
        </p:nvPicPr>
        <p:blipFill>
          <a:blip r:embed="rId5"/>
          <a:stretch>
            <a:fillRect/>
          </a:stretch>
        </p:blipFill>
        <p:spPr>
          <a:xfrm>
            <a:off x="969433" y="2080610"/>
            <a:ext cx="10253133" cy="4293667"/>
          </a:xfrm>
          <a:prstGeom prst="rect">
            <a:avLst/>
          </a:prstGeom>
        </p:spPr>
      </p:pic>
      <p:sp>
        <p:nvSpPr>
          <p:cNvPr id="6" name="Speech Bubble: Rectangle with Corners Rounded 5">
            <a:extLst>
              <a:ext uri="{FF2B5EF4-FFF2-40B4-BE49-F238E27FC236}">
                <a16:creationId xmlns:a16="http://schemas.microsoft.com/office/drawing/2014/main" id="{FF35657D-6453-6A42-EE33-CAEE68BC7329}"/>
              </a:ext>
            </a:extLst>
          </p:cNvPr>
          <p:cNvSpPr/>
          <p:nvPr/>
        </p:nvSpPr>
        <p:spPr>
          <a:xfrm>
            <a:off x="1599131" y="4279550"/>
            <a:ext cx="1849562" cy="638512"/>
          </a:xfrm>
          <a:prstGeom prst="wedgeRoundRectCallout">
            <a:avLst>
              <a:gd name="adj1" fmla="val -30342"/>
              <a:gd name="adj2" fmla="val -8098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and access settings</a:t>
            </a:r>
          </a:p>
        </p:txBody>
      </p:sp>
      <p:sp>
        <p:nvSpPr>
          <p:cNvPr id="7" name="Flowchart: Connector 6">
            <a:extLst>
              <a:ext uri="{FF2B5EF4-FFF2-40B4-BE49-F238E27FC236}">
                <a16:creationId xmlns:a16="http://schemas.microsoft.com/office/drawing/2014/main" id="{D04D25F5-0B01-DE2C-619B-7C5476253587}"/>
              </a:ext>
            </a:extLst>
          </p:cNvPr>
          <p:cNvSpPr/>
          <p:nvPr/>
        </p:nvSpPr>
        <p:spPr>
          <a:xfrm>
            <a:off x="2318172" y="499525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8" name="Speech Bubble: Rectangle with Corners Rounded 7">
            <a:extLst>
              <a:ext uri="{FF2B5EF4-FFF2-40B4-BE49-F238E27FC236}">
                <a16:creationId xmlns:a16="http://schemas.microsoft.com/office/drawing/2014/main" id="{121874BD-1DEC-E972-AAE3-D852C9671A0F}"/>
              </a:ext>
            </a:extLst>
          </p:cNvPr>
          <p:cNvSpPr/>
          <p:nvPr/>
        </p:nvSpPr>
        <p:spPr>
          <a:xfrm>
            <a:off x="7595835" y="3429000"/>
            <a:ext cx="2494824" cy="638512"/>
          </a:xfrm>
          <a:prstGeom prst="wedgeRoundRectCallout">
            <a:avLst>
              <a:gd name="adj1" fmla="val -84490"/>
              <a:gd name="adj2" fmla="val -446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Tenant Isolation enabled</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in the tenant</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9" name="Flowchart: Connector 8">
            <a:extLst>
              <a:ext uri="{FF2B5EF4-FFF2-40B4-BE49-F238E27FC236}">
                <a16:creationId xmlns:a16="http://schemas.microsoft.com/office/drawing/2014/main" id="{7BAF1550-A03F-8FFB-FAD5-113BACAD3D89}"/>
              </a:ext>
            </a:extLst>
          </p:cNvPr>
          <p:cNvSpPr/>
          <p:nvPr/>
        </p:nvSpPr>
        <p:spPr>
          <a:xfrm>
            <a:off x="10181389" y="353388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0" name="Speech Bubble: Rectangle with Corners Rounded 9">
            <a:extLst>
              <a:ext uri="{FF2B5EF4-FFF2-40B4-BE49-F238E27FC236}">
                <a16:creationId xmlns:a16="http://schemas.microsoft.com/office/drawing/2014/main" id="{611FAA49-DAB2-BBCA-41B7-677E0F62979D}"/>
              </a:ext>
            </a:extLst>
          </p:cNvPr>
          <p:cNvSpPr/>
          <p:nvPr/>
        </p:nvSpPr>
        <p:spPr>
          <a:xfrm>
            <a:off x="6348423" y="4968724"/>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Exceptions</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can be configured in 1 way or 2 ways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1" name="Flowchart: Connector 10">
            <a:extLst>
              <a:ext uri="{FF2B5EF4-FFF2-40B4-BE49-F238E27FC236}">
                <a16:creationId xmlns:a16="http://schemas.microsoft.com/office/drawing/2014/main" id="{200A92C7-099F-D4E5-7B9E-29B3945A42CF}"/>
              </a:ext>
            </a:extLst>
          </p:cNvPr>
          <p:cNvSpPr/>
          <p:nvPr/>
        </p:nvSpPr>
        <p:spPr>
          <a:xfrm>
            <a:off x="8908888" y="515785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6083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9E55E7-3285-975F-1C3C-6AA625CFF44A}"/>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91C7DC90-B531-15B0-0E8B-5404EB827D3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5C5771CC-B2C4-66F1-AEA7-CBE2BFEE7744}"/>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E8041BCD-2040-F3AC-7CB2-3E59C395F997}"/>
              </a:ext>
            </a:extLst>
          </p:cNvPr>
          <p:cNvSpPr>
            <a:spLocks noGrp="1"/>
          </p:cNvSpPr>
          <p:nvPr>
            <p:ph type="sldNum" sz="quarter" idx="12"/>
          </p:nvPr>
        </p:nvSpPr>
        <p:spPr/>
        <p:txBody>
          <a:bodyPr/>
          <a:lstStyle/>
          <a:p>
            <a:fld id="{86889C5C-8171-4CA3-86B1-670B90C02708}" type="slidenum">
              <a:rPr lang="en-GB" smtClean="0"/>
              <a:t>29</a:t>
            </a:fld>
            <a:endParaRPr lang="en-GB"/>
          </a:p>
        </p:txBody>
      </p:sp>
      <p:sp>
        <p:nvSpPr>
          <p:cNvPr id="4" name="TextBox 3">
            <a:extLst>
              <a:ext uri="{FF2B5EF4-FFF2-40B4-BE49-F238E27FC236}">
                <a16:creationId xmlns:a16="http://schemas.microsoft.com/office/drawing/2014/main" id="{AFDFDA59-B909-C659-3D43-9C1945EDF225}"/>
              </a:ext>
            </a:extLst>
          </p:cNvPr>
          <p:cNvSpPr txBox="1"/>
          <p:nvPr/>
        </p:nvSpPr>
        <p:spPr>
          <a:xfrm>
            <a:off x="1707946" y="1028226"/>
            <a:ext cx="851484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rPr>
              <a:t>Limit</a:t>
            </a:r>
            <a:r>
              <a:rPr lang="en-US" dirty="0">
                <a:latin typeface="Segoe UI" panose="020B0502040204020203" pitchFamily="34" charset="0"/>
                <a:cs typeface="Segoe UI" panose="020B0502040204020203" pitchFamily="34" charset="0"/>
                <a:hlinkClick r:id="rId3"/>
              </a:rPr>
              <a:t> </a:t>
            </a:r>
            <a:r>
              <a:rPr lang="en-US" dirty="0">
                <a:latin typeface="Segoe UI" panose="020B0502040204020203" pitchFamily="34" charset="0"/>
                <a:cs typeface="Segoe UI" panose="020B0502040204020203" pitchFamily="34" charset="0"/>
                <a:hlinkClick r:id="rId4"/>
              </a:rPr>
              <a:t>Restrict cross-tenant inbound and outbound access - Power Platform | Microsoft Learn</a:t>
            </a:r>
            <a:r>
              <a:rPr lang="en-US" dirty="0">
                <a:latin typeface="Segoe UI" panose="020B0502040204020203" pitchFamily="34" charset="0"/>
                <a:cs typeface="Segoe UI" panose="020B0502040204020203" pitchFamily="34" charset="0"/>
              </a:rPr>
              <a:t> </a:t>
            </a:r>
            <a:r>
              <a:rPr lang="es-ES" dirty="0">
                <a:solidFill>
                  <a:schemeClr val="bg1"/>
                </a:solidFill>
                <a:latin typeface="Segoe UI" panose="020B0502040204020203" pitchFamily="34" charset="0"/>
                <a:cs typeface="Segoe UI" panose="020B0502040204020203" pitchFamily="34" charset="0"/>
              </a:rPr>
              <a:t>–</a:t>
            </a:r>
            <a:r>
              <a:rPr lang="en-US" dirty="0">
                <a:solidFill>
                  <a:schemeClr val="bg1"/>
                </a:solidFill>
                <a:latin typeface="Segoe UI" panose="020B0502040204020203" pitchFamily="34" charset="0"/>
                <a:cs typeface="Segoe UI" panose="020B0502040204020203" pitchFamily="34" charset="0"/>
              </a:rPr>
              <a:t> Impact on Apps &amp; Flows</a:t>
            </a:r>
          </a:p>
        </p:txBody>
      </p:sp>
      <p:pic>
        <p:nvPicPr>
          <p:cNvPr id="12" name="Picture 2" descr="Error: The data didn't load correctly. Please try again.">
            <a:extLst>
              <a:ext uri="{FF2B5EF4-FFF2-40B4-BE49-F238E27FC236}">
                <a16:creationId xmlns:a16="http://schemas.microsoft.com/office/drawing/2014/main" id="{A1979790-E236-C4F6-9BA4-FE9AE0D7A2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457" y="2113899"/>
            <a:ext cx="5334000" cy="33246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3" name="Picture 12" descr="Error: Couldn't retrieve values. The dynamic invocation request failed with error - error text.">
            <a:extLst>
              <a:ext uri="{FF2B5EF4-FFF2-40B4-BE49-F238E27FC236}">
                <a16:creationId xmlns:a16="http://schemas.microsoft.com/office/drawing/2014/main" id="{4DC91C28-4F5F-582D-4A33-8F2C2CB66D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9123" y="2212961"/>
            <a:ext cx="5544223" cy="31773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59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BDEFC62-7DD4-7FB0-006F-38356F9FE217}"/>
            </a:ext>
          </a:extLst>
        </p:cNvPr>
        <p:cNvGrpSpPr/>
        <p:nvPr/>
      </p:nvGrpSpPr>
      <p:grpSpPr>
        <a:xfrm>
          <a:off x="0" y="0"/>
          <a:ext cx="0" cy="0"/>
          <a:chOff x="0" y="0"/>
          <a:chExt cx="0" cy="0"/>
        </a:xfrm>
      </p:grpSpPr>
      <p:pic>
        <p:nvPicPr>
          <p:cNvPr id="10" name="Imagen 2">
            <a:extLst>
              <a:ext uri="{FF2B5EF4-FFF2-40B4-BE49-F238E27FC236}">
                <a16:creationId xmlns:a16="http://schemas.microsoft.com/office/drawing/2014/main" id="{69ACAE3D-D833-C32A-1987-B245772B8883}"/>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59E59BDE-AC02-E155-B917-0616B0EDE3F1}"/>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#3: Identity &amp; Access Management – Part I</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F7A25FA2-D514-AEAA-0054-D0E566B20A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14">
            <a:extLst>
              <a:ext uri="{FF2B5EF4-FFF2-40B4-BE49-F238E27FC236}">
                <a16:creationId xmlns:a16="http://schemas.microsoft.com/office/drawing/2014/main" id="{30FB276E-A9AF-2DB6-40C2-8CE6426269B3}"/>
              </a:ext>
            </a:extLst>
          </p:cNvPr>
          <p:cNvSpPr txBox="1"/>
          <p:nvPr/>
        </p:nvSpPr>
        <p:spPr>
          <a:xfrm>
            <a:off x="2482809" y="6482979"/>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Tree>
    <p:extLst>
      <p:ext uri="{BB962C8B-B14F-4D97-AF65-F5344CB8AC3E}">
        <p14:creationId xmlns:p14="http://schemas.microsoft.com/office/powerpoint/2010/main" val="2298731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2065E31-3559-7C9C-CD7B-20285F73383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FCD964BA-9CA2-7F69-859C-5313CEF4B831}"/>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9A0276E-8D83-2D70-6535-1B3006586888}"/>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D06B070B-2352-9F40-487A-8C3FAC2A498E}"/>
              </a:ext>
            </a:extLst>
          </p:cNvPr>
          <p:cNvSpPr>
            <a:spLocks noGrp="1"/>
          </p:cNvSpPr>
          <p:nvPr>
            <p:ph type="sldNum" sz="quarter" idx="12"/>
          </p:nvPr>
        </p:nvSpPr>
        <p:spPr/>
        <p:txBody>
          <a:bodyPr/>
          <a:lstStyle/>
          <a:p>
            <a:fld id="{86889C5C-8171-4CA3-86B1-670B90C02708}" type="slidenum">
              <a:rPr lang="en-GB" smtClean="0"/>
              <a:t>31</a:t>
            </a:fld>
            <a:endParaRPr lang="en-GB"/>
          </a:p>
        </p:txBody>
      </p:sp>
      <p:sp>
        <p:nvSpPr>
          <p:cNvPr id="4" name="TextBox 3">
            <a:extLst>
              <a:ext uri="{FF2B5EF4-FFF2-40B4-BE49-F238E27FC236}">
                <a16:creationId xmlns:a16="http://schemas.microsoft.com/office/drawing/2014/main" id="{1528BAA8-397D-0D97-866E-19E3E5F93CE2}"/>
              </a:ext>
            </a:extLst>
          </p:cNvPr>
          <p:cNvSpPr txBox="1"/>
          <p:nvPr/>
        </p:nvSpPr>
        <p:spPr>
          <a:xfrm>
            <a:off x="1707946" y="1028226"/>
            <a:ext cx="8514849" cy="369332"/>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Ensure that only authorized users can access specific resources</a:t>
            </a:r>
          </a:p>
        </p:txBody>
      </p:sp>
      <p:grpSp>
        <p:nvGrpSpPr>
          <p:cNvPr id="5" name="Group 4">
            <a:extLst>
              <a:ext uri="{FF2B5EF4-FFF2-40B4-BE49-F238E27FC236}">
                <a16:creationId xmlns:a16="http://schemas.microsoft.com/office/drawing/2014/main" id="{1BE99D5B-A4DF-9CAD-452D-B7F0A2F35DB3}"/>
              </a:ext>
            </a:extLst>
          </p:cNvPr>
          <p:cNvGrpSpPr/>
          <p:nvPr/>
        </p:nvGrpSpPr>
        <p:grpSpPr>
          <a:xfrm>
            <a:off x="3457786" y="2271562"/>
            <a:ext cx="2468880" cy="2011680"/>
            <a:chOff x="6941" y="1161888"/>
            <a:chExt cx="2461366" cy="1837358"/>
          </a:xfrm>
        </p:grpSpPr>
        <p:sp>
          <p:nvSpPr>
            <p:cNvPr id="6" name="Rectangle: Top Corners Rounded 5">
              <a:extLst>
                <a:ext uri="{FF2B5EF4-FFF2-40B4-BE49-F238E27FC236}">
                  <a16:creationId xmlns:a16="http://schemas.microsoft.com/office/drawing/2014/main" id="{F1F514F4-71DE-CBB3-2810-F2C5BB3B1B2B}"/>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7" name="Rectangle: Top Corners Rounded 4">
              <a:extLst>
                <a:ext uri="{FF2B5EF4-FFF2-40B4-BE49-F238E27FC236}">
                  <a16:creationId xmlns:a16="http://schemas.microsoft.com/office/drawing/2014/main" id="{BE65B64A-9A6C-991E-2A2B-5CF1489E0F33}"/>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Prevents malicious users from using unapproved apps to export sensitive data</a:t>
              </a:r>
              <a:endParaRPr lang="fr-FR"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Allows to control which Apps can run in a Dataverse environment</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dirty="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8" name="Group 7">
            <a:extLst>
              <a:ext uri="{FF2B5EF4-FFF2-40B4-BE49-F238E27FC236}">
                <a16:creationId xmlns:a16="http://schemas.microsoft.com/office/drawing/2014/main" id="{BAAACACB-2BDF-94C6-DF2F-7A846ED46BBA}"/>
              </a:ext>
            </a:extLst>
          </p:cNvPr>
          <p:cNvGrpSpPr/>
          <p:nvPr/>
        </p:nvGrpSpPr>
        <p:grpSpPr>
          <a:xfrm>
            <a:off x="3457781" y="4252224"/>
            <a:ext cx="2468881" cy="790063"/>
            <a:chOff x="6940" y="2999246"/>
            <a:chExt cx="2461367" cy="790063"/>
          </a:xfrm>
          <a:solidFill>
            <a:srgbClr val="FFC000"/>
          </a:solidFill>
        </p:grpSpPr>
        <p:sp>
          <p:nvSpPr>
            <p:cNvPr id="9" name="Rectangle 8">
              <a:extLst>
                <a:ext uri="{FF2B5EF4-FFF2-40B4-BE49-F238E27FC236}">
                  <a16:creationId xmlns:a16="http://schemas.microsoft.com/office/drawing/2014/main" id="{2A2DA7B5-F01F-FF6C-BEF5-10048838203B}"/>
                </a:ext>
              </a:extLst>
            </p:cNvPr>
            <p:cNvSpPr/>
            <p:nvPr/>
          </p:nvSpPr>
          <p:spPr>
            <a:xfrm>
              <a:off x="6941"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23CBA509-20C4-C6A6-B036-D7C85A01BEB3}"/>
                </a:ext>
              </a:extLst>
            </p:cNvPr>
            <p:cNvSpPr txBox="1"/>
            <p:nvPr/>
          </p:nvSpPr>
          <p:spPr>
            <a:xfrm>
              <a:off x="6940" y="2999246"/>
              <a:ext cx="1778902"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lang="es-ES" sz="1600" b="1" kern="0" dirty="0">
                  <a:solidFill>
                    <a:prstClr val="white"/>
                  </a:solidFill>
                  <a:latin typeface="Segoe UI" panose="020B0502040204020203" pitchFamily="34" charset="0"/>
                  <a:cs typeface="Segoe UI" panose="020B0502040204020203" pitchFamily="34" charset="0"/>
                </a:rPr>
                <a:t>App Access Control</a:t>
              </a:r>
              <a:endParaRPr kumimoji="0" lang="es-E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11" name="Group 10">
            <a:extLst>
              <a:ext uri="{FF2B5EF4-FFF2-40B4-BE49-F238E27FC236}">
                <a16:creationId xmlns:a16="http://schemas.microsoft.com/office/drawing/2014/main" id="{3F1834A9-2BDF-817B-2520-3750AF6E7439}"/>
              </a:ext>
            </a:extLst>
          </p:cNvPr>
          <p:cNvGrpSpPr/>
          <p:nvPr/>
        </p:nvGrpSpPr>
        <p:grpSpPr>
          <a:xfrm>
            <a:off x="6181175" y="2266466"/>
            <a:ext cx="2468880" cy="2011680"/>
            <a:chOff x="2884829" y="1161888"/>
            <a:chExt cx="2461366" cy="1837358"/>
          </a:xfrm>
        </p:grpSpPr>
        <p:sp>
          <p:nvSpPr>
            <p:cNvPr id="12" name="Rectangle: Top Corners Rounded 11">
              <a:extLst>
                <a:ext uri="{FF2B5EF4-FFF2-40B4-BE49-F238E27FC236}">
                  <a16:creationId xmlns:a16="http://schemas.microsoft.com/office/drawing/2014/main" id="{E4DDFAEC-8491-C6CA-E0BC-8BDC5320BC7A}"/>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3" name="Rectangle: Top Corners Rounded 4">
              <a:extLst>
                <a:ext uri="{FF2B5EF4-FFF2-40B4-BE49-F238E27FC236}">
                  <a16:creationId xmlns:a16="http://schemas.microsoft.com/office/drawing/2014/main" id="{4C5DFA25-70B4-668B-BF72-9ABAE55A5254}"/>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Enable/Block access to the Power Platform enforcing organization policies regarding user/group membership, IP location, device, risk detection, etc.</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Enable/Block Guest access to Power Platform environments</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4" name="Group 13">
            <a:extLst>
              <a:ext uri="{FF2B5EF4-FFF2-40B4-BE49-F238E27FC236}">
                <a16:creationId xmlns:a16="http://schemas.microsoft.com/office/drawing/2014/main" id="{C0421554-2393-B7C7-FC49-D5B4B9E4699D}"/>
              </a:ext>
            </a:extLst>
          </p:cNvPr>
          <p:cNvGrpSpPr/>
          <p:nvPr/>
        </p:nvGrpSpPr>
        <p:grpSpPr>
          <a:xfrm>
            <a:off x="6181174" y="4260776"/>
            <a:ext cx="2468881" cy="790063"/>
            <a:chOff x="2884828" y="2999246"/>
            <a:chExt cx="2461367" cy="790063"/>
          </a:xfrm>
          <a:solidFill>
            <a:srgbClr val="5B9BD5"/>
          </a:solidFill>
        </p:grpSpPr>
        <p:sp>
          <p:nvSpPr>
            <p:cNvPr id="15" name="Rectangle 14">
              <a:extLst>
                <a:ext uri="{FF2B5EF4-FFF2-40B4-BE49-F238E27FC236}">
                  <a16:creationId xmlns:a16="http://schemas.microsoft.com/office/drawing/2014/main" id="{40E34654-C9C6-0DB7-C8DF-3A6C0019D92B}"/>
                </a:ext>
              </a:extLst>
            </p:cNvPr>
            <p:cNvSpPr/>
            <p:nvPr/>
          </p:nvSpPr>
          <p:spPr>
            <a:xfrm>
              <a:off x="2884829"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8C9DF4D7-1B0B-89B5-3131-0D6A74F33E7C}"/>
                </a:ext>
              </a:extLst>
            </p:cNvPr>
            <p:cNvSpPr txBox="1"/>
            <p:nvPr/>
          </p:nvSpPr>
          <p:spPr>
            <a:xfrm>
              <a:off x="2884828" y="2999246"/>
              <a:ext cx="2023724"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noProof="0" dirty="0">
                  <a:solidFill>
                    <a:prstClr val="white"/>
                  </a:solidFill>
                  <a:latin typeface="Segoe UI" panose="020B0502040204020203" pitchFamily="34" charset="0"/>
                  <a:cs typeface="Segoe UI" panose="020B0502040204020203" pitchFamily="34" charset="0"/>
                </a:rPr>
                <a:t>Conditional Access + Guest Access</a:t>
              </a:r>
            </a:p>
          </p:txBody>
        </p:sp>
      </p:grpSp>
      <p:grpSp>
        <p:nvGrpSpPr>
          <p:cNvPr id="17" name="Group 16">
            <a:extLst>
              <a:ext uri="{FF2B5EF4-FFF2-40B4-BE49-F238E27FC236}">
                <a16:creationId xmlns:a16="http://schemas.microsoft.com/office/drawing/2014/main" id="{E0AC270F-CB10-80D4-ADBA-9DACAC56D20A}"/>
              </a:ext>
            </a:extLst>
          </p:cNvPr>
          <p:cNvGrpSpPr/>
          <p:nvPr/>
        </p:nvGrpSpPr>
        <p:grpSpPr>
          <a:xfrm>
            <a:off x="707751" y="2259241"/>
            <a:ext cx="2468880" cy="2011680"/>
            <a:chOff x="8640607" y="1161888"/>
            <a:chExt cx="2461366" cy="1837358"/>
          </a:xfrm>
        </p:grpSpPr>
        <p:sp>
          <p:nvSpPr>
            <p:cNvPr id="18" name="Rectangle: Top Corners Rounded 17">
              <a:extLst>
                <a:ext uri="{FF2B5EF4-FFF2-40B4-BE49-F238E27FC236}">
                  <a16:creationId xmlns:a16="http://schemas.microsoft.com/office/drawing/2014/main" id="{5261A3C3-D4A8-84E4-C549-29C6CC246246}"/>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9" name="Rectangle: Top Corners Rounded 4">
              <a:extLst>
                <a:ext uri="{FF2B5EF4-FFF2-40B4-BE49-F238E27FC236}">
                  <a16:creationId xmlns:a16="http://schemas.microsoft.com/office/drawing/2014/main" id="{17655E12-C3DB-2219-1F2C-0061BBC1B753}"/>
                </a:ext>
              </a:extLst>
            </p:cNvPr>
            <p:cNvSpPr txBox="1"/>
            <p:nvPr/>
          </p:nvSpPr>
          <p:spPr>
            <a:xfrm>
              <a:off x="8683658"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Enforce on-demand, just-in-time administrative access when needed</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Minimize number of privileged users (admins) and duration of access</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Reduce risks of authorized user impact on sensitive data / malicious user getting access</a:t>
              </a:r>
            </a:p>
          </p:txBody>
        </p:sp>
      </p:grpSp>
      <p:grpSp>
        <p:nvGrpSpPr>
          <p:cNvPr id="20" name="Group 19">
            <a:extLst>
              <a:ext uri="{FF2B5EF4-FFF2-40B4-BE49-F238E27FC236}">
                <a16:creationId xmlns:a16="http://schemas.microsoft.com/office/drawing/2014/main" id="{AA91ADAA-08DF-203D-5276-F754A1ED20B2}"/>
              </a:ext>
            </a:extLst>
          </p:cNvPr>
          <p:cNvGrpSpPr/>
          <p:nvPr/>
        </p:nvGrpSpPr>
        <p:grpSpPr>
          <a:xfrm>
            <a:off x="705142" y="4255827"/>
            <a:ext cx="2468880" cy="790063"/>
            <a:chOff x="8632682" y="3002849"/>
            <a:chExt cx="2461366" cy="790063"/>
          </a:xfrm>
          <a:solidFill>
            <a:srgbClr val="A5A5A5"/>
          </a:solidFill>
        </p:grpSpPr>
        <p:sp>
          <p:nvSpPr>
            <p:cNvPr id="22" name="Rectangle 21">
              <a:extLst>
                <a:ext uri="{FF2B5EF4-FFF2-40B4-BE49-F238E27FC236}">
                  <a16:creationId xmlns:a16="http://schemas.microsoft.com/office/drawing/2014/main" id="{F0891240-4565-2F87-BE86-19145611D38F}"/>
                </a:ext>
              </a:extLst>
            </p:cNvPr>
            <p:cNvSpPr/>
            <p:nvPr/>
          </p:nvSpPr>
          <p:spPr>
            <a:xfrm>
              <a:off x="8632682" y="3002849"/>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3" name="TextBox 22">
              <a:extLst>
                <a:ext uri="{FF2B5EF4-FFF2-40B4-BE49-F238E27FC236}">
                  <a16:creationId xmlns:a16="http://schemas.microsoft.com/office/drawing/2014/main" id="{F21786A0-03E3-3B27-4B3C-ACB1BEEAD4AF}"/>
                </a:ext>
              </a:extLst>
            </p:cNvPr>
            <p:cNvSpPr txBox="1"/>
            <p:nvPr/>
          </p:nvSpPr>
          <p:spPr>
            <a:xfrm>
              <a:off x="8632683" y="3002849"/>
              <a:ext cx="1863051"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noProof="0" dirty="0">
                  <a:solidFill>
                    <a:prstClr val="white"/>
                  </a:solidFill>
                  <a:latin typeface="Segoe UI" panose="020B0502040204020203" pitchFamily="34" charset="0"/>
                  <a:cs typeface="Segoe UI" panose="020B0502040204020203" pitchFamily="34" charset="0"/>
                </a:rPr>
                <a:t>Privilege Identity Management</a:t>
              </a:r>
            </a:p>
          </p:txBody>
        </p:sp>
      </p:grpSp>
      <p:pic>
        <p:nvPicPr>
          <p:cNvPr id="24" name="Picture 23">
            <a:extLst>
              <a:ext uri="{FF2B5EF4-FFF2-40B4-BE49-F238E27FC236}">
                <a16:creationId xmlns:a16="http://schemas.microsoft.com/office/drawing/2014/main" id="{473E510F-6142-15FE-B1E3-5896C176C7C9}"/>
              </a:ext>
            </a:extLst>
          </p:cNvPr>
          <p:cNvPicPr>
            <a:picLocks noChangeAspect="1"/>
          </p:cNvPicPr>
          <p:nvPr/>
        </p:nvPicPr>
        <p:blipFill>
          <a:blip r:embed="rId3"/>
          <a:stretch>
            <a:fillRect/>
          </a:stretch>
        </p:blipFill>
        <p:spPr>
          <a:xfrm>
            <a:off x="8001508" y="4335767"/>
            <a:ext cx="640080" cy="640080"/>
          </a:xfrm>
          <a:prstGeom prst="rect">
            <a:avLst/>
          </a:prstGeom>
        </p:spPr>
      </p:pic>
      <p:grpSp>
        <p:nvGrpSpPr>
          <p:cNvPr id="25" name="Group 24">
            <a:extLst>
              <a:ext uri="{FF2B5EF4-FFF2-40B4-BE49-F238E27FC236}">
                <a16:creationId xmlns:a16="http://schemas.microsoft.com/office/drawing/2014/main" id="{AC0B1B02-4E19-312C-A51B-C4C6322978A6}"/>
              </a:ext>
            </a:extLst>
          </p:cNvPr>
          <p:cNvGrpSpPr/>
          <p:nvPr/>
        </p:nvGrpSpPr>
        <p:grpSpPr>
          <a:xfrm>
            <a:off x="8941308" y="2240544"/>
            <a:ext cx="2468880" cy="2011680"/>
            <a:chOff x="2884829" y="1161888"/>
            <a:chExt cx="2461366" cy="1837358"/>
          </a:xfrm>
        </p:grpSpPr>
        <p:sp>
          <p:nvSpPr>
            <p:cNvPr id="26" name="Rectangle: Top Corners Rounded 25">
              <a:extLst>
                <a:ext uri="{FF2B5EF4-FFF2-40B4-BE49-F238E27FC236}">
                  <a16:creationId xmlns:a16="http://schemas.microsoft.com/office/drawing/2014/main" id="{2BA290EA-D498-423D-6D1C-693482CD15F4}"/>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27" name="Rectangle: Top Corners Rounded 4">
              <a:extLst>
                <a:ext uri="{FF2B5EF4-FFF2-40B4-BE49-F238E27FC236}">
                  <a16:creationId xmlns:a16="http://schemas.microsoft.com/office/drawing/2014/main" id="{C13FC083-F2A8-081B-4BA8-F767DDAC73B4}"/>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noProof="0" dirty="0">
                  <a:solidFill>
                    <a:prstClr val="black">
                      <a:hueOff val="0"/>
                      <a:satOff val="0"/>
                      <a:lumOff val="0"/>
                      <a:alphaOff val="0"/>
                    </a:prstClr>
                  </a:solidFill>
                  <a:latin typeface="Segoe UI" panose="020B0502040204020203" pitchFamily="34" charset="0"/>
                  <a:cs typeface="Segoe UI" panose="020B0502040204020203" pitchFamily="34" charset="0"/>
                </a:rPr>
                <a:t>Disable anonymous access for Agents</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Control over where Agents can be published</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28" name="Group 27">
            <a:extLst>
              <a:ext uri="{FF2B5EF4-FFF2-40B4-BE49-F238E27FC236}">
                <a16:creationId xmlns:a16="http://schemas.microsoft.com/office/drawing/2014/main" id="{84D2DF5B-3792-A46C-18AF-9D8951F28050}"/>
              </a:ext>
            </a:extLst>
          </p:cNvPr>
          <p:cNvGrpSpPr/>
          <p:nvPr/>
        </p:nvGrpSpPr>
        <p:grpSpPr>
          <a:xfrm>
            <a:off x="8941308" y="4234854"/>
            <a:ext cx="2468880" cy="790063"/>
            <a:chOff x="2884829" y="2999246"/>
            <a:chExt cx="2461366" cy="790063"/>
          </a:xfrm>
          <a:solidFill>
            <a:srgbClr val="ED7D31"/>
          </a:solidFill>
        </p:grpSpPr>
        <p:sp>
          <p:nvSpPr>
            <p:cNvPr id="29" name="Rectangle 28">
              <a:extLst>
                <a:ext uri="{FF2B5EF4-FFF2-40B4-BE49-F238E27FC236}">
                  <a16:creationId xmlns:a16="http://schemas.microsoft.com/office/drawing/2014/main" id="{8397E0F1-EE84-F3A6-9FD1-275BBA049700}"/>
                </a:ext>
              </a:extLst>
            </p:cNvPr>
            <p:cNvSpPr/>
            <p:nvPr/>
          </p:nvSpPr>
          <p:spPr>
            <a:xfrm>
              <a:off x="2884829"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FC2DA850-DE89-E87C-E322-957BE1B8C699}"/>
                </a:ext>
              </a:extLst>
            </p:cNvPr>
            <p:cNvSpPr txBox="1"/>
            <p:nvPr/>
          </p:nvSpPr>
          <p:spPr>
            <a:xfrm>
              <a:off x="2884829" y="2999246"/>
              <a:ext cx="1733356"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dirty="0">
                  <a:solidFill>
                    <a:prstClr val="white"/>
                  </a:solidFill>
                  <a:latin typeface="Segoe UI" panose="020B0502040204020203" pitchFamily="34" charset="0"/>
                  <a:cs typeface="Segoe UI" panose="020B0502040204020203" pitchFamily="34" charset="0"/>
                </a:rPr>
                <a:t>Agent </a:t>
              </a:r>
              <a:r>
                <a:rPr lang="fr-FR" sz="1600" b="1" kern="0" dirty="0" err="1">
                  <a:solidFill>
                    <a:prstClr val="white"/>
                  </a:solidFill>
                  <a:latin typeface="Segoe UI" panose="020B0502040204020203" pitchFamily="34" charset="0"/>
                  <a:cs typeface="Segoe UI" panose="020B0502040204020203" pitchFamily="34" charset="0"/>
                </a:rPr>
                <a:t>Authentication</a:t>
              </a:r>
              <a:r>
                <a:rPr lang="fr-FR" sz="1600" b="1" kern="0" dirty="0">
                  <a:solidFill>
                    <a:prstClr val="white"/>
                  </a:solidFill>
                  <a:latin typeface="Segoe UI" panose="020B0502040204020203" pitchFamily="34" charset="0"/>
                  <a:cs typeface="Segoe UI" panose="020B0502040204020203" pitchFamily="34" charset="0"/>
                </a:rPr>
                <a:t> + Access</a:t>
              </a:r>
            </a:p>
          </p:txBody>
        </p:sp>
      </p:grpSp>
      <p:pic>
        <p:nvPicPr>
          <p:cNvPr id="31" name="Picture 30">
            <a:extLst>
              <a:ext uri="{FF2B5EF4-FFF2-40B4-BE49-F238E27FC236}">
                <a16:creationId xmlns:a16="http://schemas.microsoft.com/office/drawing/2014/main" id="{C9936AF3-6673-1CA0-A0AF-88749BCC8C79}"/>
              </a:ext>
            </a:extLst>
          </p:cNvPr>
          <p:cNvPicPr>
            <a:picLocks noChangeAspect="1"/>
          </p:cNvPicPr>
          <p:nvPr/>
        </p:nvPicPr>
        <p:blipFill>
          <a:blip r:embed="rId4"/>
          <a:stretch>
            <a:fillRect/>
          </a:stretch>
        </p:blipFill>
        <p:spPr>
          <a:xfrm>
            <a:off x="5242118" y="4309845"/>
            <a:ext cx="640080" cy="640080"/>
          </a:xfrm>
          <a:prstGeom prst="rect">
            <a:avLst/>
          </a:prstGeom>
        </p:spPr>
      </p:pic>
      <p:pic>
        <p:nvPicPr>
          <p:cNvPr id="32" name="Picture 31">
            <a:extLst>
              <a:ext uri="{FF2B5EF4-FFF2-40B4-BE49-F238E27FC236}">
                <a16:creationId xmlns:a16="http://schemas.microsoft.com/office/drawing/2014/main" id="{2D9C2188-D094-9E14-B942-D82DA903C9C2}"/>
              </a:ext>
            </a:extLst>
          </p:cNvPr>
          <p:cNvPicPr>
            <a:picLocks noChangeAspect="1"/>
          </p:cNvPicPr>
          <p:nvPr/>
        </p:nvPicPr>
        <p:blipFill>
          <a:blip r:embed="rId5"/>
          <a:stretch>
            <a:fillRect/>
          </a:stretch>
        </p:blipFill>
        <p:spPr>
          <a:xfrm>
            <a:off x="10726924" y="4309845"/>
            <a:ext cx="640080" cy="640080"/>
          </a:xfrm>
          <a:prstGeom prst="rect">
            <a:avLst/>
          </a:prstGeom>
        </p:spPr>
      </p:pic>
      <p:pic>
        <p:nvPicPr>
          <p:cNvPr id="33" name="Picture 32">
            <a:extLst>
              <a:ext uri="{FF2B5EF4-FFF2-40B4-BE49-F238E27FC236}">
                <a16:creationId xmlns:a16="http://schemas.microsoft.com/office/drawing/2014/main" id="{22F7B306-D954-2D52-B057-462520858797}"/>
              </a:ext>
            </a:extLst>
          </p:cNvPr>
          <p:cNvPicPr>
            <a:picLocks noChangeAspect="1"/>
          </p:cNvPicPr>
          <p:nvPr/>
        </p:nvPicPr>
        <p:blipFill>
          <a:blip r:embed="rId6"/>
          <a:stretch>
            <a:fillRect/>
          </a:stretch>
        </p:blipFill>
        <p:spPr>
          <a:xfrm>
            <a:off x="2508350" y="4309845"/>
            <a:ext cx="640080" cy="640080"/>
          </a:xfrm>
          <a:prstGeom prst="rect">
            <a:avLst/>
          </a:prstGeom>
        </p:spPr>
      </p:pic>
    </p:spTree>
    <p:extLst>
      <p:ext uri="{BB962C8B-B14F-4D97-AF65-F5344CB8AC3E}">
        <p14:creationId xmlns:p14="http://schemas.microsoft.com/office/powerpoint/2010/main" val="63295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anim calcmode="lin" valueType="num">
                                      <p:cBhvr>
                                        <p:cTn id="38" dur="1000" fill="hold"/>
                                        <p:tgtEl>
                                          <p:spTgt spid="24"/>
                                        </p:tgtEl>
                                        <p:attrNameLst>
                                          <p:attrName>ppt_x</p:attrName>
                                        </p:attrNameLst>
                                      </p:cBhvr>
                                      <p:tavLst>
                                        <p:tav tm="0">
                                          <p:val>
                                            <p:strVal val="#ppt_x"/>
                                          </p:val>
                                        </p:tav>
                                        <p:tav tm="100000">
                                          <p:val>
                                            <p:strVal val="#ppt_x"/>
                                          </p:val>
                                        </p:tav>
                                      </p:tavLst>
                                    </p:anim>
                                    <p:anim calcmode="lin" valueType="num">
                                      <p:cBhvr>
                                        <p:cTn id="39" dur="1000" fill="hold"/>
                                        <p:tgtEl>
                                          <p:spTgt spid="24"/>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1000"/>
                                        <p:tgtEl>
                                          <p:spTgt spid="25"/>
                                        </p:tgtEl>
                                      </p:cBhvr>
                                    </p:animEffect>
                                    <p:anim calcmode="lin" valueType="num">
                                      <p:cBhvr>
                                        <p:cTn id="43" dur="1000" fill="hold"/>
                                        <p:tgtEl>
                                          <p:spTgt spid="25"/>
                                        </p:tgtEl>
                                        <p:attrNameLst>
                                          <p:attrName>ppt_x</p:attrName>
                                        </p:attrNameLst>
                                      </p:cBhvr>
                                      <p:tavLst>
                                        <p:tav tm="0">
                                          <p:val>
                                            <p:strVal val="#ppt_x"/>
                                          </p:val>
                                        </p:tav>
                                        <p:tav tm="100000">
                                          <p:val>
                                            <p:strVal val="#ppt_x"/>
                                          </p:val>
                                        </p:tav>
                                      </p:tavLst>
                                    </p:anim>
                                    <p:anim calcmode="lin" valueType="num">
                                      <p:cBhvr>
                                        <p:cTn id="44" dur="1000" fill="hold"/>
                                        <p:tgtEl>
                                          <p:spTgt spid="2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1000"/>
                                        <p:tgtEl>
                                          <p:spTgt spid="31"/>
                                        </p:tgtEl>
                                      </p:cBhvr>
                                    </p:animEffect>
                                    <p:anim calcmode="lin" valueType="num">
                                      <p:cBhvr>
                                        <p:cTn id="53" dur="1000" fill="hold"/>
                                        <p:tgtEl>
                                          <p:spTgt spid="31"/>
                                        </p:tgtEl>
                                        <p:attrNameLst>
                                          <p:attrName>ppt_x</p:attrName>
                                        </p:attrNameLst>
                                      </p:cBhvr>
                                      <p:tavLst>
                                        <p:tav tm="0">
                                          <p:val>
                                            <p:strVal val="#ppt_x"/>
                                          </p:val>
                                        </p:tav>
                                        <p:tav tm="100000">
                                          <p:val>
                                            <p:strVal val="#ppt_x"/>
                                          </p:val>
                                        </p:tav>
                                      </p:tavLst>
                                    </p:anim>
                                    <p:anim calcmode="lin" valueType="num">
                                      <p:cBhvr>
                                        <p:cTn id="54" dur="1000" fill="hold"/>
                                        <p:tgtEl>
                                          <p:spTgt spid="3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1000"/>
                                        <p:tgtEl>
                                          <p:spTgt spid="32"/>
                                        </p:tgtEl>
                                      </p:cBhvr>
                                    </p:animEffect>
                                    <p:anim calcmode="lin" valueType="num">
                                      <p:cBhvr>
                                        <p:cTn id="58" dur="1000" fill="hold"/>
                                        <p:tgtEl>
                                          <p:spTgt spid="32"/>
                                        </p:tgtEl>
                                        <p:attrNameLst>
                                          <p:attrName>ppt_x</p:attrName>
                                        </p:attrNameLst>
                                      </p:cBhvr>
                                      <p:tavLst>
                                        <p:tav tm="0">
                                          <p:val>
                                            <p:strVal val="#ppt_x"/>
                                          </p:val>
                                        </p:tav>
                                        <p:tav tm="100000">
                                          <p:val>
                                            <p:strVal val="#ppt_x"/>
                                          </p:val>
                                        </p:tav>
                                      </p:tavLst>
                                    </p:anim>
                                    <p:anim calcmode="lin" valueType="num">
                                      <p:cBhvr>
                                        <p:cTn id="59" dur="1000" fill="hold"/>
                                        <p:tgtEl>
                                          <p:spTgt spid="3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1000"/>
                                        <p:tgtEl>
                                          <p:spTgt spid="33"/>
                                        </p:tgtEl>
                                      </p:cBhvr>
                                    </p:animEffect>
                                    <p:anim calcmode="lin" valueType="num">
                                      <p:cBhvr>
                                        <p:cTn id="63" dur="1000" fill="hold"/>
                                        <p:tgtEl>
                                          <p:spTgt spid="33"/>
                                        </p:tgtEl>
                                        <p:attrNameLst>
                                          <p:attrName>ppt_x</p:attrName>
                                        </p:attrNameLst>
                                      </p:cBhvr>
                                      <p:tavLst>
                                        <p:tav tm="0">
                                          <p:val>
                                            <p:strVal val="#ppt_x"/>
                                          </p:val>
                                        </p:tav>
                                        <p:tav tm="100000">
                                          <p:val>
                                            <p:strVal val="#ppt_x"/>
                                          </p:val>
                                        </p:tav>
                                      </p:tavLst>
                                    </p:anim>
                                    <p:anim calcmode="lin" valueType="num">
                                      <p:cBhvr>
                                        <p:cTn id="6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8D8178-1335-C6C0-C735-FCD1D8EB8FEF}"/>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91267C55-BFA8-120F-4CBA-D7A02DB90346}"/>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BF9CFE9-D2B2-27D7-AD8B-F27E0C4ABE1D}"/>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9D9CCEC9-2434-F2CC-79EE-84D25021FC83}"/>
              </a:ext>
            </a:extLst>
          </p:cNvPr>
          <p:cNvSpPr>
            <a:spLocks noGrp="1"/>
          </p:cNvSpPr>
          <p:nvPr>
            <p:ph type="sldNum" sz="quarter" idx="12"/>
          </p:nvPr>
        </p:nvSpPr>
        <p:spPr/>
        <p:txBody>
          <a:bodyPr/>
          <a:lstStyle/>
          <a:p>
            <a:fld id="{86889C5C-8171-4CA3-86B1-670B90C02708}" type="slidenum">
              <a:rPr lang="en-GB" smtClean="0"/>
              <a:t>32</a:t>
            </a:fld>
            <a:endParaRPr lang="en-GB"/>
          </a:p>
        </p:txBody>
      </p:sp>
      <p:sp>
        <p:nvSpPr>
          <p:cNvPr id="4" name="TextBox 3">
            <a:extLst>
              <a:ext uri="{FF2B5EF4-FFF2-40B4-BE49-F238E27FC236}">
                <a16:creationId xmlns:a16="http://schemas.microsoft.com/office/drawing/2014/main" id="{1A6037C6-D6DB-F7FF-2A03-4895DEC5893E}"/>
              </a:ext>
            </a:extLst>
          </p:cNvPr>
          <p:cNvSpPr txBox="1"/>
          <p:nvPr/>
        </p:nvSpPr>
        <p:spPr>
          <a:xfrm>
            <a:off x="1707946" y="1028226"/>
            <a:ext cx="8514849" cy="369332"/>
          </a:xfrm>
          <a:prstGeom prst="rect">
            <a:avLst/>
          </a:prstGeom>
          <a:noFill/>
        </p:spPr>
        <p:txBody>
          <a:bodyPr wrap="square" rtlCol="0">
            <a:spAutoFit/>
          </a:bodyPr>
          <a:lstStyle/>
          <a:p>
            <a:pPr algn="ctr">
              <a:defRPr/>
            </a:pPr>
            <a:r>
              <a:rPr lang="en-US" dirty="0">
                <a:solidFill>
                  <a:schemeClr val="bg1"/>
                </a:solidFill>
                <a:latin typeface="Segoe UI" panose="020B0502040204020203" pitchFamily="34" charset="0"/>
                <a:cs typeface="Segoe UI" panose="020B0502040204020203" pitchFamily="34" charset="0"/>
              </a:rPr>
              <a:t>Review privileged access to Power Platform environments </a:t>
            </a:r>
            <a:r>
              <a:rPr lang="en-US">
                <a:solidFill>
                  <a:schemeClr val="bg1"/>
                </a:solidFill>
                <a:latin typeface="Segoe UI" panose="020B0502040204020203" pitchFamily="34" charset="0"/>
                <a:cs typeface="Segoe UI" panose="020B0502040204020203" pitchFamily="34" charset="0"/>
              </a:rPr>
              <a:t>(Preview)</a:t>
            </a:r>
            <a:endParaRPr lang="en-US" dirty="0">
              <a:solidFill>
                <a:schemeClr val="bg1"/>
              </a:solidFill>
              <a:latin typeface="Segoe UI" panose="020B0502040204020203" pitchFamily="34" charset="0"/>
              <a:cs typeface="Segoe UI" panose="020B0502040204020203" pitchFamily="34" charset="0"/>
            </a:endParaRPr>
          </a:p>
        </p:txBody>
      </p:sp>
      <p:pic>
        <p:nvPicPr>
          <p:cNvPr id="34" name="Picture 33">
            <a:extLst>
              <a:ext uri="{FF2B5EF4-FFF2-40B4-BE49-F238E27FC236}">
                <a16:creationId xmlns:a16="http://schemas.microsoft.com/office/drawing/2014/main" id="{B3DB7652-3AC4-B438-F9E4-52C0B7039783}"/>
              </a:ext>
            </a:extLst>
          </p:cNvPr>
          <p:cNvPicPr>
            <a:picLocks noChangeAspect="1"/>
          </p:cNvPicPr>
          <p:nvPr/>
        </p:nvPicPr>
        <p:blipFill>
          <a:blip r:embed="rId3"/>
          <a:stretch>
            <a:fillRect/>
          </a:stretch>
        </p:blipFill>
        <p:spPr>
          <a:xfrm>
            <a:off x="2028351" y="1732547"/>
            <a:ext cx="8135298" cy="4774452"/>
          </a:xfrm>
          <a:prstGeom prst="rect">
            <a:avLst/>
          </a:prstGeom>
        </p:spPr>
      </p:pic>
      <p:sp>
        <p:nvSpPr>
          <p:cNvPr id="35" name="Speech Bubble: Rectangle with Corners Rounded 34">
            <a:extLst>
              <a:ext uri="{FF2B5EF4-FFF2-40B4-BE49-F238E27FC236}">
                <a16:creationId xmlns:a16="http://schemas.microsoft.com/office/drawing/2014/main" id="{AF5E3755-3CF9-CF14-FDEE-3B77D8B8900C}"/>
              </a:ext>
            </a:extLst>
          </p:cNvPr>
          <p:cNvSpPr/>
          <p:nvPr/>
        </p:nvSpPr>
        <p:spPr>
          <a:xfrm>
            <a:off x="2137560" y="3504853"/>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36" name="Flowchart: Connector 35">
            <a:extLst>
              <a:ext uri="{FF2B5EF4-FFF2-40B4-BE49-F238E27FC236}">
                <a16:creationId xmlns:a16="http://schemas.microsoft.com/office/drawing/2014/main" id="{DC6AE1B8-D3B6-244B-2499-9E615A649016}"/>
              </a:ext>
            </a:extLst>
          </p:cNvPr>
          <p:cNvSpPr/>
          <p:nvPr/>
        </p:nvSpPr>
        <p:spPr>
          <a:xfrm>
            <a:off x="2765744" y="438670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37" name="Speech Bubble: Rectangle with Corners Rounded 36">
            <a:extLst>
              <a:ext uri="{FF2B5EF4-FFF2-40B4-BE49-F238E27FC236}">
                <a16:creationId xmlns:a16="http://schemas.microsoft.com/office/drawing/2014/main" id="{E86BBCE7-6B8F-C276-99F3-D38161719771}"/>
              </a:ext>
            </a:extLst>
          </p:cNvPr>
          <p:cNvSpPr/>
          <p:nvPr/>
        </p:nvSpPr>
        <p:spPr>
          <a:xfrm>
            <a:off x="3454452" y="5560747"/>
            <a:ext cx="2494824" cy="657180"/>
          </a:xfrm>
          <a:prstGeom prst="wedgeRoundRectCallout">
            <a:avLst>
              <a:gd name="adj1" fmla="val -19715"/>
              <a:gd name="adj2" fmla="val -6791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Administrator privileges</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a:t>
            </a: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setting</a:t>
            </a:r>
          </a:p>
        </p:txBody>
      </p:sp>
      <p:sp>
        <p:nvSpPr>
          <p:cNvPr id="38" name="Flowchart: Connector 37">
            <a:extLst>
              <a:ext uri="{FF2B5EF4-FFF2-40B4-BE49-F238E27FC236}">
                <a16:creationId xmlns:a16="http://schemas.microsoft.com/office/drawing/2014/main" id="{1A7765A1-CCE4-0922-C98F-D20204B87E7F}"/>
              </a:ext>
            </a:extLst>
          </p:cNvPr>
          <p:cNvSpPr/>
          <p:nvPr/>
        </p:nvSpPr>
        <p:spPr>
          <a:xfrm>
            <a:off x="6043568" y="568359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39" name="Speech Bubble: Rectangle with Corners Rounded 38">
            <a:extLst>
              <a:ext uri="{FF2B5EF4-FFF2-40B4-BE49-F238E27FC236}">
                <a16:creationId xmlns:a16="http://schemas.microsoft.com/office/drawing/2014/main" id="{079B5BEF-BA62-71BF-AB0A-A77A08FABF8C}"/>
              </a:ext>
            </a:extLst>
          </p:cNvPr>
          <p:cNvSpPr/>
          <p:nvPr/>
        </p:nvSpPr>
        <p:spPr>
          <a:xfrm>
            <a:off x="7358826" y="3271171"/>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Administrator</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a:t>
            </a:r>
            <a:r>
              <a:rPr lang="en-US" sz="1600" noProof="0" dirty="0">
                <a:solidFill>
                  <a:prstClr val="white"/>
                </a:solidFill>
                <a:latin typeface="Segoe UI" panose="020B0502040204020203" pitchFamily="34" charset="0"/>
                <a:cs typeface="Segoe UI" panose="020B0502040204020203" pitchFamily="34" charset="0"/>
              </a:rPr>
              <a:t>privileges</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posture</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40" name="Flowchart: Connector 39">
            <a:extLst>
              <a:ext uri="{FF2B5EF4-FFF2-40B4-BE49-F238E27FC236}">
                <a16:creationId xmlns:a16="http://schemas.microsoft.com/office/drawing/2014/main" id="{DD060864-B59C-8A96-6B71-F85BF888BF52}"/>
              </a:ext>
            </a:extLst>
          </p:cNvPr>
          <p:cNvSpPr/>
          <p:nvPr/>
        </p:nvSpPr>
        <p:spPr>
          <a:xfrm>
            <a:off x="10025826" y="346029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Tree>
    <p:extLst>
      <p:ext uri="{BB962C8B-B14F-4D97-AF65-F5344CB8AC3E}">
        <p14:creationId xmlns:p14="http://schemas.microsoft.com/office/powerpoint/2010/main" val="347322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1000"/>
                                        <p:tgtEl>
                                          <p:spTgt spid="38"/>
                                        </p:tgtEl>
                                      </p:cBhvr>
                                    </p:animEffect>
                                    <p:anim calcmode="lin" valueType="num">
                                      <p:cBhvr>
                                        <p:cTn id="20" dur="1000" fill="hold"/>
                                        <p:tgtEl>
                                          <p:spTgt spid="38"/>
                                        </p:tgtEl>
                                        <p:attrNameLst>
                                          <p:attrName>ppt_x</p:attrName>
                                        </p:attrNameLst>
                                      </p:cBhvr>
                                      <p:tavLst>
                                        <p:tav tm="0">
                                          <p:val>
                                            <p:strVal val="#ppt_x"/>
                                          </p:val>
                                        </p:tav>
                                        <p:tav tm="100000">
                                          <p:val>
                                            <p:strVal val="#ppt_x"/>
                                          </p:val>
                                        </p:tav>
                                      </p:tavLst>
                                    </p:anim>
                                    <p:anim calcmode="lin" valueType="num">
                                      <p:cBhvr>
                                        <p:cTn id="21" dur="1000" fill="hold"/>
                                        <p:tgtEl>
                                          <p:spTgt spid="3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1000"/>
                                        <p:tgtEl>
                                          <p:spTgt spid="40"/>
                                        </p:tgtEl>
                                      </p:cBhvr>
                                    </p:animEffect>
                                    <p:anim calcmode="lin" valueType="num">
                                      <p:cBhvr>
                                        <p:cTn id="32" dur="1000" fill="hold"/>
                                        <p:tgtEl>
                                          <p:spTgt spid="40"/>
                                        </p:tgtEl>
                                        <p:attrNameLst>
                                          <p:attrName>ppt_x</p:attrName>
                                        </p:attrNameLst>
                                      </p:cBhvr>
                                      <p:tavLst>
                                        <p:tav tm="0">
                                          <p:val>
                                            <p:strVal val="#ppt_x"/>
                                          </p:val>
                                        </p:tav>
                                        <p:tav tm="100000">
                                          <p:val>
                                            <p:strVal val="#ppt_x"/>
                                          </p:val>
                                        </p:tav>
                                      </p:tavLst>
                                    </p:anim>
                                    <p:anim calcmode="lin" valueType="num">
                                      <p:cBhvr>
                                        <p:cTn id="33" dur="1000" fill="hold"/>
                                        <p:tgtEl>
                                          <p:spTgt spid="4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1000"/>
                                        <p:tgtEl>
                                          <p:spTgt spid="39"/>
                                        </p:tgtEl>
                                      </p:cBhvr>
                                    </p:animEffect>
                                    <p:anim calcmode="lin" valueType="num">
                                      <p:cBhvr>
                                        <p:cTn id="37" dur="1000" fill="hold"/>
                                        <p:tgtEl>
                                          <p:spTgt spid="39"/>
                                        </p:tgtEl>
                                        <p:attrNameLst>
                                          <p:attrName>ppt_x</p:attrName>
                                        </p:attrNameLst>
                                      </p:cBhvr>
                                      <p:tavLst>
                                        <p:tav tm="0">
                                          <p:val>
                                            <p:strVal val="#ppt_x"/>
                                          </p:val>
                                        </p:tav>
                                        <p:tav tm="100000">
                                          <p:val>
                                            <p:strVal val="#ppt_x"/>
                                          </p:val>
                                        </p:tav>
                                      </p:tavLst>
                                    </p:anim>
                                    <p:anim calcmode="lin" valueType="num">
                                      <p:cBhvr>
                                        <p:cTn id="38"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81378FB-2E9B-1234-DA3C-B519C81A785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14E9143B-F1E4-A091-3ACF-5ADB1E6B4647}"/>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5BC5720-CE9F-7660-E51B-C5F5D59D1BD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15DE04E3-1CFD-6F61-7C74-658514EA5CF9}"/>
              </a:ext>
            </a:extLst>
          </p:cNvPr>
          <p:cNvSpPr>
            <a:spLocks noGrp="1"/>
          </p:cNvSpPr>
          <p:nvPr>
            <p:ph type="sldNum" sz="quarter" idx="12"/>
          </p:nvPr>
        </p:nvSpPr>
        <p:spPr/>
        <p:txBody>
          <a:bodyPr/>
          <a:lstStyle/>
          <a:p>
            <a:fld id="{86889C5C-8171-4CA3-86B1-670B90C02708}" type="slidenum">
              <a:rPr lang="en-GB" smtClean="0"/>
              <a:t>33</a:t>
            </a:fld>
            <a:endParaRPr lang="en-GB"/>
          </a:p>
        </p:txBody>
      </p:sp>
      <p:sp>
        <p:nvSpPr>
          <p:cNvPr id="4" name="TextBox 3">
            <a:extLst>
              <a:ext uri="{FF2B5EF4-FFF2-40B4-BE49-F238E27FC236}">
                <a16:creationId xmlns:a16="http://schemas.microsoft.com/office/drawing/2014/main" id="{2A6B3AE7-7240-2671-C73D-1FA0756B7294}"/>
              </a:ext>
            </a:extLst>
          </p:cNvPr>
          <p:cNvSpPr txBox="1"/>
          <p:nvPr/>
        </p:nvSpPr>
        <p:spPr>
          <a:xfrm>
            <a:off x="413457" y="1028226"/>
            <a:ext cx="1152143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hlinkClick r:id="rId3"/>
              </a:rPr>
              <a:t>Use Entra Privileged Identity Management in Power Platform admin center to manage high-privileged admin roles - Power Platform | Microsoft Learn</a:t>
            </a:r>
            <a:r>
              <a:rPr lang="es-ES" dirty="0">
                <a:solidFill>
                  <a:schemeClr val="bg1"/>
                </a:solidFill>
                <a:latin typeface="Segoe UI" panose="020B0502040204020203" pitchFamily="34" charset="0"/>
                <a:cs typeface="Segoe UI" panose="020B0502040204020203" pitchFamily="34" charset="0"/>
              </a:rPr>
              <a:t> </a:t>
            </a:r>
            <a:r>
              <a:rPr lang="en-US" dirty="0">
                <a:solidFill>
                  <a:schemeClr val="bg1"/>
                </a:solidFill>
                <a:latin typeface="Segoe UI" panose="020B0502040204020203" pitchFamily="34" charset="0"/>
                <a:cs typeface="Segoe UI" panose="020B0502040204020203" pitchFamily="34" charset="0"/>
              </a:rPr>
              <a:t> - Be aware of current limitations when using PIM with PP Admin roles</a:t>
            </a:r>
          </a:p>
        </p:txBody>
      </p:sp>
      <p:pic>
        <p:nvPicPr>
          <p:cNvPr id="5" name="Picture 4">
            <a:extLst>
              <a:ext uri="{FF2B5EF4-FFF2-40B4-BE49-F238E27FC236}">
                <a16:creationId xmlns:a16="http://schemas.microsoft.com/office/drawing/2014/main" id="{E60FF5CB-6FF8-71DC-C7A2-8920B0A16567}"/>
              </a:ext>
            </a:extLst>
          </p:cNvPr>
          <p:cNvPicPr>
            <a:picLocks noChangeAspect="1"/>
          </p:cNvPicPr>
          <p:nvPr/>
        </p:nvPicPr>
        <p:blipFill>
          <a:blip r:embed="rId4"/>
          <a:stretch>
            <a:fillRect/>
          </a:stretch>
        </p:blipFill>
        <p:spPr>
          <a:xfrm>
            <a:off x="2032004" y="1817357"/>
            <a:ext cx="8127992" cy="4759571"/>
          </a:xfrm>
          <a:prstGeom prst="rect">
            <a:avLst/>
          </a:prstGeom>
        </p:spPr>
      </p:pic>
      <p:sp>
        <p:nvSpPr>
          <p:cNvPr id="6" name="Speech Bubble: Rectangle with Corners Rounded 5">
            <a:extLst>
              <a:ext uri="{FF2B5EF4-FFF2-40B4-BE49-F238E27FC236}">
                <a16:creationId xmlns:a16="http://schemas.microsoft.com/office/drawing/2014/main" id="{A0BD5137-D8F3-4E14-8822-C38A18F7EAE3}"/>
              </a:ext>
            </a:extLst>
          </p:cNvPr>
          <p:cNvSpPr/>
          <p:nvPr/>
        </p:nvSpPr>
        <p:spPr>
          <a:xfrm>
            <a:off x="5383776" y="4402665"/>
            <a:ext cx="2642623"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Eligible Power Platform Admin Role assignments</a:t>
            </a:r>
          </a:p>
        </p:txBody>
      </p:sp>
      <p:sp>
        <p:nvSpPr>
          <p:cNvPr id="7" name="Speech Bubble: Rectangle with Corners Rounded 6">
            <a:extLst>
              <a:ext uri="{FF2B5EF4-FFF2-40B4-BE49-F238E27FC236}">
                <a16:creationId xmlns:a16="http://schemas.microsoft.com/office/drawing/2014/main" id="{327DB221-17B3-8A88-7406-DE0B1E47A11B}"/>
              </a:ext>
            </a:extLst>
          </p:cNvPr>
          <p:cNvSpPr/>
          <p:nvPr/>
        </p:nvSpPr>
        <p:spPr>
          <a:xfrm>
            <a:off x="8942035" y="4402666"/>
            <a:ext cx="29982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System Admin Role in environments is not granted!</a:t>
            </a:r>
          </a:p>
        </p:txBody>
      </p:sp>
    </p:spTree>
    <p:extLst>
      <p:ext uri="{BB962C8B-B14F-4D97-AF65-F5344CB8AC3E}">
        <p14:creationId xmlns:p14="http://schemas.microsoft.com/office/powerpoint/2010/main" val="429489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0D80293-F1E3-3478-14A8-D38A77905C09}"/>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2AB56016-9EA8-EA70-6D0F-C4F31583A69C}"/>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9FB80EEF-728A-42EA-1C09-14EF88E0BA94}"/>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0C8C129A-FD45-B94E-4F13-A09A41058754}"/>
              </a:ext>
            </a:extLst>
          </p:cNvPr>
          <p:cNvSpPr>
            <a:spLocks noGrp="1"/>
          </p:cNvSpPr>
          <p:nvPr>
            <p:ph type="sldNum" sz="quarter" idx="12"/>
          </p:nvPr>
        </p:nvSpPr>
        <p:spPr/>
        <p:txBody>
          <a:bodyPr/>
          <a:lstStyle/>
          <a:p>
            <a:fld id="{86889C5C-8171-4CA3-86B1-670B90C02708}" type="slidenum">
              <a:rPr lang="en-GB" smtClean="0"/>
              <a:t>34</a:t>
            </a:fld>
            <a:endParaRPr lang="en-GB"/>
          </a:p>
        </p:txBody>
      </p:sp>
      <p:sp>
        <p:nvSpPr>
          <p:cNvPr id="4" name="TextBox 3">
            <a:extLst>
              <a:ext uri="{FF2B5EF4-FFF2-40B4-BE49-F238E27FC236}">
                <a16:creationId xmlns:a16="http://schemas.microsoft.com/office/drawing/2014/main" id="{32E49FA3-BFE2-2A53-2ED4-5B0E8CFEFDCE}"/>
              </a:ext>
            </a:extLst>
          </p:cNvPr>
          <p:cNvSpPr txBox="1"/>
          <p:nvPr/>
        </p:nvSpPr>
        <p:spPr>
          <a:xfrm>
            <a:off x="413457" y="1028226"/>
            <a:ext cx="11521439" cy="414665"/>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Control which apps are allowed in your environment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15" name="Picture 14">
            <a:extLst>
              <a:ext uri="{FF2B5EF4-FFF2-40B4-BE49-F238E27FC236}">
                <a16:creationId xmlns:a16="http://schemas.microsoft.com/office/drawing/2014/main" id="{784DE1DF-A333-8177-67AF-E7C6E6961D04}"/>
              </a:ext>
            </a:extLst>
          </p:cNvPr>
          <p:cNvPicPr>
            <a:picLocks noChangeAspect="1"/>
          </p:cNvPicPr>
          <p:nvPr/>
        </p:nvPicPr>
        <p:blipFill>
          <a:blip r:embed="rId4"/>
          <a:stretch>
            <a:fillRect/>
          </a:stretch>
        </p:blipFill>
        <p:spPr>
          <a:xfrm>
            <a:off x="2058093" y="1793138"/>
            <a:ext cx="8072882" cy="4755356"/>
          </a:xfrm>
          <a:prstGeom prst="rect">
            <a:avLst/>
          </a:prstGeom>
        </p:spPr>
      </p:pic>
      <p:sp>
        <p:nvSpPr>
          <p:cNvPr id="16" name="Speech Bubble: Rectangle with Corners Rounded 15">
            <a:extLst>
              <a:ext uri="{FF2B5EF4-FFF2-40B4-BE49-F238E27FC236}">
                <a16:creationId xmlns:a16="http://schemas.microsoft.com/office/drawing/2014/main" id="{75B6F96C-0AAF-FD7A-40D7-F45E7A3CE321}"/>
              </a:ext>
            </a:extLst>
          </p:cNvPr>
          <p:cNvSpPr/>
          <p:nvPr/>
        </p:nvSpPr>
        <p:spPr>
          <a:xfrm>
            <a:off x="2075027" y="3531625"/>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17" name="Flowchart: Connector 16">
            <a:extLst>
              <a:ext uri="{FF2B5EF4-FFF2-40B4-BE49-F238E27FC236}">
                <a16:creationId xmlns:a16="http://schemas.microsoft.com/office/drawing/2014/main" id="{C8AB1216-2F3F-8EB2-AF97-A3CBE47F7492}"/>
              </a:ext>
            </a:extLst>
          </p:cNvPr>
          <p:cNvSpPr/>
          <p:nvPr/>
        </p:nvSpPr>
        <p:spPr>
          <a:xfrm>
            <a:off x="2703211" y="441348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18" name="Speech Bubble: Rectangle with Corners Rounded 17">
            <a:extLst>
              <a:ext uri="{FF2B5EF4-FFF2-40B4-BE49-F238E27FC236}">
                <a16:creationId xmlns:a16="http://schemas.microsoft.com/office/drawing/2014/main" id="{5C15536C-7266-D6EC-D969-6E02D6B1DF08}"/>
              </a:ext>
            </a:extLst>
          </p:cNvPr>
          <p:cNvSpPr/>
          <p:nvPr/>
        </p:nvSpPr>
        <p:spPr>
          <a:xfrm>
            <a:off x="3636722" y="5514622"/>
            <a:ext cx="2494824" cy="657180"/>
          </a:xfrm>
          <a:prstGeom prst="wedgeRoundRectCallout">
            <a:avLst>
              <a:gd name="adj1" fmla="val -19715"/>
              <a:gd name="adj2" fmla="val -6791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App access control setting</a:t>
            </a:r>
          </a:p>
        </p:txBody>
      </p:sp>
      <p:sp>
        <p:nvSpPr>
          <p:cNvPr id="19" name="Flowchart: Connector 18">
            <a:extLst>
              <a:ext uri="{FF2B5EF4-FFF2-40B4-BE49-F238E27FC236}">
                <a16:creationId xmlns:a16="http://schemas.microsoft.com/office/drawing/2014/main" id="{829352D5-6958-B091-285E-6EE133000E76}"/>
              </a:ext>
            </a:extLst>
          </p:cNvPr>
          <p:cNvSpPr/>
          <p:nvPr/>
        </p:nvSpPr>
        <p:spPr>
          <a:xfrm>
            <a:off x="6221026" y="563747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20" name="Speech Bubble: Rectangle with Corners Rounded 19">
            <a:extLst>
              <a:ext uri="{FF2B5EF4-FFF2-40B4-BE49-F238E27FC236}">
                <a16:creationId xmlns:a16="http://schemas.microsoft.com/office/drawing/2014/main" id="{2DD9BAA2-D08B-6119-65DA-9D042A90DBA9}"/>
              </a:ext>
            </a:extLst>
          </p:cNvPr>
          <p:cNvSpPr/>
          <p:nvPr/>
        </p:nvSpPr>
        <p:spPr>
          <a:xfrm>
            <a:off x="5531575" y="2945018"/>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Allow / Block</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a:t>
            </a: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Apps</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Access to the environment</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2" name="Flowchart: Connector 21">
            <a:extLst>
              <a:ext uri="{FF2B5EF4-FFF2-40B4-BE49-F238E27FC236}">
                <a16:creationId xmlns:a16="http://schemas.microsoft.com/office/drawing/2014/main" id="{2F441BD3-2EEF-DE04-C776-9EC7345B7393}"/>
              </a:ext>
            </a:extLst>
          </p:cNvPr>
          <p:cNvSpPr/>
          <p:nvPr/>
        </p:nvSpPr>
        <p:spPr>
          <a:xfrm>
            <a:off x="8198575" y="313414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765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EBB49A-A3CB-3D7A-83DA-9571D5684CB9}"/>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27F87E8-BD61-B6A2-810A-DE840BD16492}"/>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C0A6DB09-7582-91B0-7300-57B452215A6A}"/>
              </a:ext>
            </a:extLst>
          </p:cNvPr>
          <p:cNvSpPr txBox="1"/>
          <p:nvPr/>
        </p:nvSpPr>
        <p:spPr>
          <a:xfrm>
            <a:off x="2657221" y="6501454"/>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E329174F-A156-9E8C-BFBC-D50AEDC89BB5}"/>
              </a:ext>
            </a:extLst>
          </p:cNvPr>
          <p:cNvSpPr>
            <a:spLocks noGrp="1"/>
          </p:cNvSpPr>
          <p:nvPr>
            <p:ph type="sldNum" sz="quarter" idx="12"/>
          </p:nvPr>
        </p:nvSpPr>
        <p:spPr/>
        <p:txBody>
          <a:bodyPr/>
          <a:lstStyle/>
          <a:p>
            <a:fld id="{86889C5C-8171-4CA3-86B1-670B90C02708}" type="slidenum">
              <a:rPr lang="en-GB" smtClean="0"/>
              <a:t>35</a:t>
            </a:fld>
            <a:endParaRPr lang="en-GB"/>
          </a:p>
        </p:txBody>
      </p:sp>
      <p:sp>
        <p:nvSpPr>
          <p:cNvPr id="4" name="TextBox 3">
            <a:extLst>
              <a:ext uri="{FF2B5EF4-FFF2-40B4-BE49-F238E27FC236}">
                <a16:creationId xmlns:a16="http://schemas.microsoft.com/office/drawing/2014/main" id="{C0A173EE-5306-512E-2136-C1F3C908ACD7}"/>
              </a:ext>
            </a:extLst>
          </p:cNvPr>
          <p:cNvSpPr txBox="1"/>
          <p:nvPr/>
        </p:nvSpPr>
        <p:spPr>
          <a:xfrm>
            <a:off x="413457" y="1028226"/>
            <a:ext cx="11521439" cy="414665"/>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Block access by location with Microsoft Entra Conditional Access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05C74113-EFE3-D0B5-E066-456CBEAC8BE7}"/>
              </a:ext>
            </a:extLst>
          </p:cNvPr>
          <p:cNvPicPr>
            <a:picLocks noChangeAspect="1"/>
          </p:cNvPicPr>
          <p:nvPr/>
        </p:nvPicPr>
        <p:blipFill>
          <a:blip r:embed="rId4"/>
          <a:stretch>
            <a:fillRect/>
          </a:stretch>
        </p:blipFill>
        <p:spPr>
          <a:xfrm>
            <a:off x="92222" y="1560426"/>
            <a:ext cx="7989355" cy="4678389"/>
          </a:xfrm>
          <a:prstGeom prst="rect">
            <a:avLst/>
          </a:prstGeom>
        </p:spPr>
      </p:pic>
      <p:sp>
        <p:nvSpPr>
          <p:cNvPr id="6" name="Speech Bubble: Rectangle with Corners Rounded 5">
            <a:extLst>
              <a:ext uri="{FF2B5EF4-FFF2-40B4-BE49-F238E27FC236}">
                <a16:creationId xmlns:a16="http://schemas.microsoft.com/office/drawing/2014/main" id="{64665288-8CA5-4A4C-0135-F3F07E0E5A02}"/>
              </a:ext>
            </a:extLst>
          </p:cNvPr>
          <p:cNvSpPr/>
          <p:nvPr/>
        </p:nvSpPr>
        <p:spPr>
          <a:xfrm>
            <a:off x="2342223" y="5880998"/>
            <a:ext cx="2601224" cy="789733"/>
          </a:xfrm>
          <a:prstGeom prst="wedgeRoundRectCallout">
            <a:avLst>
              <a:gd name="adj1" fmla="val -12110"/>
              <a:gd name="adj2" fmla="val -78750"/>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n-US" sz="1600" noProof="0" dirty="0">
                <a:solidFill>
                  <a:prstClr val="white"/>
                </a:solidFill>
                <a:latin typeface="Segoe UI" panose="020B0502040204020203" pitchFamily="34" charset="0"/>
                <a:cs typeface="Segoe UI" panose="020B0502040204020203" pitchFamily="34" charset="0"/>
              </a:rPr>
              <a:t>Conditional Access for the Power Platform</a:t>
            </a:r>
          </a:p>
        </p:txBody>
      </p:sp>
      <p:pic>
        <p:nvPicPr>
          <p:cNvPr id="7" name="Picture 6">
            <a:extLst>
              <a:ext uri="{FF2B5EF4-FFF2-40B4-BE49-F238E27FC236}">
                <a16:creationId xmlns:a16="http://schemas.microsoft.com/office/drawing/2014/main" id="{B89952A8-ABC0-487A-0F4F-70DA432DE2E0}"/>
              </a:ext>
            </a:extLst>
          </p:cNvPr>
          <p:cNvPicPr>
            <a:picLocks noChangeAspect="1"/>
          </p:cNvPicPr>
          <p:nvPr/>
        </p:nvPicPr>
        <p:blipFill>
          <a:blip r:embed="rId5"/>
          <a:stretch>
            <a:fillRect/>
          </a:stretch>
        </p:blipFill>
        <p:spPr>
          <a:xfrm>
            <a:off x="5066102" y="1863457"/>
            <a:ext cx="7088996" cy="4153007"/>
          </a:xfrm>
          <a:prstGeom prst="rect">
            <a:avLst/>
          </a:prstGeom>
        </p:spPr>
      </p:pic>
      <p:sp>
        <p:nvSpPr>
          <p:cNvPr id="8" name="Flowchart: Connector 7">
            <a:extLst>
              <a:ext uri="{FF2B5EF4-FFF2-40B4-BE49-F238E27FC236}">
                <a16:creationId xmlns:a16="http://schemas.microsoft.com/office/drawing/2014/main" id="{C578DB89-0AFB-0E84-2BE1-47C97440E5EA}"/>
              </a:ext>
            </a:extLst>
          </p:cNvPr>
          <p:cNvSpPr/>
          <p:nvPr/>
        </p:nvSpPr>
        <p:spPr>
          <a:xfrm>
            <a:off x="1808088" y="607012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9" name="Speech Bubble: Rectangle with Corners Rounded 8">
            <a:extLst>
              <a:ext uri="{FF2B5EF4-FFF2-40B4-BE49-F238E27FC236}">
                <a16:creationId xmlns:a16="http://schemas.microsoft.com/office/drawing/2014/main" id="{69757ED0-BA7C-CF68-D613-0A196338B0BE}"/>
              </a:ext>
            </a:extLst>
          </p:cNvPr>
          <p:cNvSpPr/>
          <p:nvPr/>
        </p:nvSpPr>
        <p:spPr>
          <a:xfrm>
            <a:off x="7566156" y="5113482"/>
            <a:ext cx="2601224" cy="789733"/>
          </a:xfrm>
          <a:prstGeom prst="wedgeRoundRectCallout">
            <a:avLst>
              <a:gd name="adj1" fmla="val -12110"/>
              <a:gd name="adj2" fmla="val -78750"/>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n-US" sz="1600" noProof="0" dirty="0">
                <a:solidFill>
                  <a:prstClr val="white"/>
                </a:solidFill>
                <a:latin typeface="Segoe UI" panose="020B0502040204020203" pitchFamily="34" charset="0"/>
                <a:cs typeface="Segoe UI" panose="020B0502040204020203" pitchFamily="34" charset="0"/>
              </a:rPr>
              <a:t>User Experience for Power Apps</a:t>
            </a:r>
          </a:p>
        </p:txBody>
      </p:sp>
      <p:sp>
        <p:nvSpPr>
          <p:cNvPr id="10" name="Flowchart: Connector 9">
            <a:extLst>
              <a:ext uri="{FF2B5EF4-FFF2-40B4-BE49-F238E27FC236}">
                <a16:creationId xmlns:a16="http://schemas.microsoft.com/office/drawing/2014/main" id="{A54EED57-7D21-B6CC-D8DA-C4A3E5819304}"/>
              </a:ext>
            </a:extLst>
          </p:cNvPr>
          <p:cNvSpPr/>
          <p:nvPr/>
        </p:nvSpPr>
        <p:spPr>
          <a:xfrm>
            <a:off x="7032021" y="530260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3760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4224F88-B4C2-9D6A-9E48-F0C9F84B158A}"/>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D98A79D8-3EA3-FB57-DBA3-6EC71DEB1FC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91914DFF-7082-86D7-ADEC-E8613C15272E}"/>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DB3A5468-CC4A-2C1F-FE2C-5A545852B2D4}"/>
              </a:ext>
            </a:extLst>
          </p:cNvPr>
          <p:cNvSpPr>
            <a:spLocks noGrp="1"/>
          </p:cNvSpPr>
          <p:nvPr>
            <p:ph type="sldNum" sz="quarter" idx="12"/>
          </p:nvPr>
        </p:nvSpPr>
        <p:spPr/>
        <p:txBody>
          <a:bodyPr/>
          <a:lstStyle/>
          <a:p>
            <a:fld id="{86889C5C-8171-4CA3-86B1-670B90C02708}" type="slidenum">
              <a:rPr lang="en-GB" smtClean="0"/>
              <a:t>36</a:t>
            </a:fld>
            <a:endParaRPr lang="en-GB"/>
          </a:p>
        </p:txBody>
      </p:sp>
      <p:sp>
        <p:nvSpPr>
          <p:cNvPr id="4" name="TextBox 3">
            <a:extLst>
              <a:ext uri="{FF2B5EF4-FFF2-40B4-BE49-F238E27FC236}">
                <a16:creationId xmlns:a16="http://schemas.microsoft.com/office/drawing/2014/main" id="{0CCEF1FE-116C-1A9B-F8F4-9DB046D2D222}"/>
              </a:ext>
            </a:extLst>
          </p:cNvPr>
          <p:cNvSpPr txBox="1"/>
          <p:nvPr/>
        </p:nvSpPr>
        <p:spPr>
          <a:xfrm>
            <a:off x="413457" y="1028226"/>
            <a:ext cx="11521439" cy="646331"/>
          </a:xfrm>
          <a:prstGeom prst="rect">
            <a:avLst/>
          </a:prstGeom>
          <a:noFill/>
        </p:spPr>
        <p:txBody>
          <a:bodyPr wrap="square" rtlCol="0">
            <a:spAutoFit/>
          </a:bodyPr>
          <a:lstStyle/>
          <a:p>
            <a:pPr algn="ctr">
              <a:defRPr/>
            </a:pPr>
            <a:r>
              <a:rPr lang="en-US" dirty="0">
                <a:latin typeface="Segoe UI" panose="020B0502040204020203" pitchFamily="34" charset="0"/>
                <a:cs typeface="Segoe UI" panose="020B0502040204020203" pitchFamily="34" charset="0"/>
                <a:hlinkClick r:id="rId3"/>
              </a:rPr>
              <a:t>Permit or deny guest access to an environment | Microsoft Learn </a:t>
            </a:r>
            <a:r>
              <a:rPr lang="en-US" dirty="0">
                <a:solidFill>
                  <a:schemeClr val="bg1"/>
                </a:solidFill>
                <a:latin typeface="Segoe UI" panose="020B0502040204020203" pitchFamily="34" charset="0"/>
                <a:cs typeface="Segoe UI" panose="020B0502040204020203" pitchFamily="34" charset="0"/>
              </a:rPr>
              <a:t>– A better alternative to the use of Conditional Access Policies!!</a:t>
            </a:r>
          </a:p>
        </p:txBody>
      </p:sp>
      <p:pic>
        <p:nvPicPr>
          <p:cNvPr id="8" name="Picture 7">
            <a:extLst>
              <a:ext uri="{FF2B5EF4-FFF2-40B4-BE49-F238E27FC236}">
                <a16:creationId xmlns:a16="http://schemas.microsoft.com/office/drawing/2014/main" id="{0DF43409-3D36-6A7D-8D2B-1495FE34F376}"/>
              </a:ext>
            </a:extLst>
          </p:cNvPr>
          <p:cNvPicPr>
            <a:picLocks noChangeAspect="1"/>
          </p:cNvPicPr>
          <p:nvPr/>
        </p:nvPicPr>
        <p:blipFill>
          <a:blip r:embed="rId4"/>
          <a:stretch>
            <a:fillRect/>
          </a:stretch>
        </p:blipFill>
        <p:spPr>
          <a:xfrm>
            <a:off x="2051735" y="1787811"/>
            <a:ext cx="8088530" cy="4736464"/>
          </a:xfrm>
          <a:prstGeom prst="rect">
            <a:avLst/>
          </a:prstGeom>
        </p:spPr>
      </p:pic>
      <p:sp>
        <p:nvSpPr>
          <p:cNvPr id="9" name="Speech Bubble: Rectangle with Corners Rounded 8">
            <a:extLst>
              <a:ext uri="{FF2B5EF4-FFF2-40B4-BE49-F238E27FC236}">
                <a16:creationId xmlns:a16="http://schemas.microsoft.com/office/drawing/2014/main" id="{FE041BA1-39C8-EEA5-A8A3-D085586F1B68}"/>
              </a:ext>
            </a:extLst>
          </p:cNvPr>
          <p:cNvSpPr/>
          <p:nvPr/>
        </p:nvSpPr>
        <p:spPr>
          <a:xfrm>
            <a:off x="2051735" y="3529670"/>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10" name="Flowchart: Connector 9">
            <a:extLst>
              <a:ext uri="{FF2B5EF4-FFF2-40B4-BE49-F238E27FC236}">
                <a16:creationId xmlns:a16="http://schemas.microsoft.com/office/drawing/2014/main" id="{D8EBBEE0-B2B2-F531-CAD2-203C0FFA4127}"/>
              </a:ext>
            </a:extLst>
          </p:cNvPr>
          <p:cNvSpPr/>
          <p:nvPr/>
        </p:nvSpPr>
        <p:spPr>
          <a:xfrm>
            <a:off x="2770776" y="438650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a:latin typeface="Segoe UI" panose="020B0502040204020203" pitchFamily="34" charset="0"/>
                <a:cs typeface="Segoe UI" panose="020B0502040204020203" pitchFamily="34" charset="0"/>
              </a:rPr>
              <a:t>1</a:t>
            </a:r>
            <a:endParaRPr lang="en-US" sz="1600">
              <a:latin typeface="Segoe UI" panose="020B0502040204020203" pitchFamily="34" charset="0"/>
              <a:cs typeface="Segoe UI" panose="020B0502040204020203" pitchFamily="34" charset="0"/>
            </a:endParaRPr>
          </a:p>
        </p:txBody>
      </p:sp>
      <p:sp>
        <p:nvSpPr>
          <p:cNvPr id="11" name="Speech Bubble: Rectangle with Corners Rounded 10">
            <a:extLst>
              <a:ext uri="{FF2B5EF4-FFF2-40B4-BE49-F238E27FC236}">
                <a16:creationId xmlns:a16="http://schemas.microsoft.com/office/drawing/2014/main" id="{9523F25E-4C2F-00AE-860C-16B8D411CB6A}"/>
              </a:ext>
            </a:extLst>
          </p:cNvPr>
          <p:cNvSpPr/>
          <p:nvPr/>
        </p:nvSpPr>
        <p:spPr>
          <a:xfrm>
            <a:off x="5011563" y="4592244"/>
            <a:ext cx="2494824" cy="657180"/>
          </a:xfrm>
          <a:prstGeom prst="wedgeRoundRectCallout">
            <a:avLst>
              <a:gd name="adj1" fmla="val -64172"/>
              <a:gd name="adj2" fmla="val 810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Guest access setting</a:t>
            </a:r>
          </a:p>
        </p:txBody>
      </p:sp>
      <p:sp>
        <p:nvSpPr>
          <p:cNvPr id="12" name="Flowchart: Connector 11">
            <a:extLst>
              <a:ext uri="{FF2B5EF4-FFF2-40B4-BE49-F238E27FC236}">
                <a16:creationId xmlns:a16="http://schemas.microsoft.com/office/drawing/2014/main" id="{73D5CEE1-041A-A98E-54EA-6BA71A047111}"/>
              </a:ext>
            </a:extLst>
          </p:cNvPr>
          <p:cNvSpPr/>
          <p:nvPr/>
        </p:nvSpPr>
        <p:spPr>
          <a:xfrm>
            <a:off x="7616378" y="469578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a:latin typeface="Segoe UI" panose="020B0502040204020203" pitchFamily="34" charset="0"/>
                <a:cs typeface="Segoe UI" panose="020B0502040204020203" pitchFamily="34" charset="0"/>
              </a:rPr>
              <a:t>2</a:t>
            </a:r>
            <a:endParaRPr lang="en-US" sz="1600">
              <a:latin typeface="Segoe UI" panose="020B0502040204020203" pitchFamily="34" charset="0"/>
              <a:cs typeface="Segoe UI" panose="020B0502040204020203" pitchFamily="34" charset="0"/>
            </a:endParaRPr>
          </a:p>
        </p:txBody>
      </p:sp>
      <p:sp>
        <p:nvSpPr>
          <p:cNvPr id="13" name="Speech Bubble: Rectangle with Corners Rounded 12">
            <a:extLst>
              <a:ext uri="{FF2B5EF4-FFF2-40B4-BE49-F238E27FC236}">
                <a16:creationId xmlns:a16="http://schemas.microsoft.com/office/drawing/2014/main" id="{9851F4A5-BCFA-C4D7-755D-63DA27C85061}"/>
              </a:ext>
            </a:extLst>
          </p:cNvPr>
          <p:cNvSpPr/>
          <p:nvPr/>
        </p:nvSpPr>
        <p:spPr>
          <a:xfrm>
            <a:off x="5271414" y="3427222"/>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Enable/Disable guest user access to the environment</a:t>
            </a:r>
          </a:p>
        </p:txBody>
      </p:sp>
      <p:sp>
        <p:nvSpPr>
          <p:cNvPr id="14" name="Flowchart: Connector 13">
            <a:extLst>
              <a:ext uri="{FF2B5EF4-FFF2-40B4-BE49-F238E27FC236}">
                <a16:creationId xmlns:a16="http://schemas.microsoft.com/office/drawing/2014/main" id="{6813FE6E-574A-6C70-88D0-3B8491761343}"/>
              </a:ext>
            </a:extLst>
          </p:cNvPr>
          <p:cNvSpPr/>
          <p:nvPr/>
        </p:nvSpPr>
        <p:spPr>
          <a:xfrm>
            <a:off x="7832043" y="360227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a:latin typeface="Segoe UI" panose="020B0502040204020203" pitchFamily="34" charset="0"/>
                <a:cs typeface="Segoe UI" panose="020B0502040204020203" pitchFamily="34" charset="0"/>
              </a:rPr>
              <a:t>3</a:t>
            </a:r>
            <a:endParaRPr lang="en-US" sz="16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9326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93B0C05-2CB9-3C66-30AC-E86E5EE2DFB5}"/>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FBCB9B3B-AF01-2DFF-F963-CCBF52CC24B8}"/>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C5DCA169-B317-F7ED-3885-BD822C333CC0}"/>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28C6E129-A67F-D77B-CAF3-5B970CBD5172}"/>
              </a:ext>
            </a:extLst>
          </p:cNvPr>
          <p:cNvSpPr>
            <a:spLocks noGrp="1"/>
          </p:cNvSpPr>
          <p:nvPr>
            <p:ph type="sldNum" sz="quarter" idx="12"/>
          </p:nvPr>
        </p:nvSpPr>
        <p:spPr/>
        <p:txBody>
          <a:bodyPr/>
          <a:lstStyle/>
          <a:p>
            <a:fld id="{86889C5C-8171-4CA3-86B1-670B90C02708}" type="slidenum">
              <a:rPr lang="en-GB" smtClean="0"/>
              <a:t>37</a:t>
            </a:fld>
            <a:endParaRPr lang="en-GB"/>
          </a:p>
        </p:txBody>
      </p:sp>
      <p:sp>
        <p:nvSpPr>
          <p:cNvPr id="4" name="TextBox 3">
            <a:extLst>
              <a:ext uri="{FF2B5EF4-FFF2-40B4-BE49-F238E27FC236}">
                <a16:creationId xmlns:a16="http://schemas.microsoft.com/office/drawing/2014/main" id="{213913F0-EC4E-02E0-FAD4-A42E58B9613B}"/>
              </a:ext>
            </a:extLst>
          </p:cNvPr>
          <p:cNvSpPr txBox="1"/>
          <p:nvPr/>
        </p:nvSpPr>
        <p:spPr>
          <a:xfrm>
            <a:off x="413457" y="1028226"/>
            <a:ext cx="11521439" cy="774764"/>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Manage agent security with enhanced admin controls | Microsoft Learn</a:t>
            </a:r>
            <a:r>
              <a:rPr lang="es-ES" dirty="0">
                <a:solidFill>
                  <a:schemeClr val="bg1"/>
                </a:solidFill>
                <a:latin typeface="Segoe UI" panose="020B0502040204020203" pitchFamily="34" charset="0"/>
                <a:cs typeface="Segoe UI" panose="020B0502040204020203" pitchFamily="34" charset="0"/>
              </a:rPr>
              <a:t> – </a:t>
            </a:r>
            <a:r>
              <a:rPr lang="en-US" noProof="0" dirty="0">
                <a:solidFill>
                  <a:schemeClr val="bg1"/>
                </a:solidFill>
                <a:latin typeface="Segoe UI" panose="020B0502040204020203" pitchFamily="34" charset="0"/>
                <a:cs typeface="Segoe UI" panose="020B0502040204020203" pitchFamily="34" charset="0"/>
              </a:rPr>
              <a:t>Agent authentication: It can be configured for an environment or a environments group</a:t>
            </a:r>
            <a:endParaRPr lang="es-ES" dirty="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912CA485-3DE8-B9C6-7DB5-5728D768E5A0}"/>
              </a:ext>
            </a:extLst>
          </p:cNvPr>
          <p:cNvPicPr>
            <a:picLocks noChangeAspect="1"/>
          </p:cNvPicPr>
          <p:nvPr/>
        </p:nvPicPr>
        <p:blipFill>
          <a:blip r:embed="rId4"/>
          <a:stretch>
            <a:fillRect/>
          </a:stretch>
        </p:blipFill>
        <p:spPr>
          <a:xfrm>
            <a:off x="2115866" y="1856837"/>
            <a:ext cx="7960268" cy="4667438"/>
          </a:xfrm>
          <a:prstGeom prst="rect">
            <a:avLst/>
          </a:prstGeom>
        </p:spPr>
      </p:pic>
      <p:sp>
        <p:nvSpPr>
          <p:cNvPr id="6" name="Speech Bubble: Rectangle with Corners Rounded 5">
            <a:extLst>
              <a:ext uri="{FF2B5EF4-FFF2-40B4-BE49-F238E27FC236}">
                <a16:creationId xmlns:a16="http://schemas.microsoft.com/office/drawing/2014/main" id="{B8B9CA1E-CFE7-D9A1-B166-866775A68ECD}"/>
              </a:ext>
            </a:extLst>
          </p:cNvPr>
          <p:cNvSpPr/>
          <p:nvPr/>
        </p:nvSpPr>
        <p:spPr>
          <a:xfrm>
            <a:off x="2126872" y="3552571"/>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7" name="Flowchart: Connector 6">
            <a:extLst>
              <a:ext uri="{FF2B5EF4-FFF2-40B4-BE49-F238E27FC236}">
                <a16:creationId xmlns:a16="http://schemas.microsoft.com/office/drawing/2014/main" id="{E2714A8E-66B3-0A3C-044B-759550944A9B}"/>
              </a:ext>
            </a:extLst>
          </p:cNvPr>
          <p:cNvSpPr/>
          <p:nvPr/>
        </p:nvSpPr>
        <p:spPr>
          <a:xfrm>
            <a:off x="2755056" y="443442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15" name="Speech Bubble: Rectangle with Corners Rounded 14">
            <a:extLst>
              <a:ext uri="{FF2B5EF4-FFF2-40B4-BE49-F238E27FC236}">
                <a16:creationId xmlns:a16="http://schemas.microsoft.com/office/drawing/2014/main" id="{18CB0983-799D-DB8F-F132-DFB9A82B0D02}"/>
              </a:ext>
            </a:extLst>
          </p:cNvPr>
          <p:cNvSpPr/>
          <p:nvPr/>
        </p:nvSpPr>
        <p:spPr>
          <a:xfrm>
            <a:off x="5299551" y="5104700"/>
            <a:ext cx="2494824" cy="657180"/>
          </a:xfrm>
          <a:prstGeom prst="wedgeRoundRectCallout">
            <a:avLst>
              <a:gd name="adj1" fmla="val -53991"/>
              <a:gd name="adj2" fmla="val 33868"/>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Authentication for agents</a:t>
            </a:r>
          </a:p>
        </p:txBody>
      </p:sp>
      <p:sp>
        <p:nvSpPr>
          <p:cNvPr id="16" name="Flowchart: Connector 15">
            <a:extLst>
              <a:ext uri="{FF2B5EF4-FFF2-40B4-BE49-F238E27FC236}">
                <a16:creationId xmlns:a16="http://schemas.microsoft.com/office/drawing/2014/main" id="{52F04AB9-A076-856E-B983-F6858AAB9E81}"/>
              </a:ext>
            </a:extLst>
          </p:cNvPr>
          <p:cNvSpPr/>
          <p:nvPr/>
        </p:nvSpPr>
        <p:spPr>
          <a:xfrm>
            <a:off x="7883135" y="511392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17" name="Speech Bubble: Rectangle with Corners Rounded 16">
            <a:extLst>
              <a:ext uri="{FF2B5EF4-FFF2-40B4-BE49-F238E27FC236}">
                <a16:creationId xmlns:a16="http://schemas.microsoft.com/office/drawing/2014/main" id="{AB9EF3BE-EDE1-AD18-295E-88EE610016BD}"/>
              </a:ext>
            </a:extLst>
          </p:cNvPr>
          <p:cNvSpPr/>
          <p:nvPr/>
        </p:nvSpPr>
        <p:spPr>
          <a:xfrm>
            <a:off x="6115776" y="3325322"/>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Segoe UI" panose="020B0502040204020203" pitchFamily="34" charset="0"/>
                <a:cs typeface="Segoe UI" panose="020B0502040204020203" pitchFamily="34" charset="0"/>
              </a:rPr>
              <a:t>Authentication agents settings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8" name="Flowchart: Connector 17">
            <a:extLst>
              <a:ext uri="{FF2B5EF4-FFF2-40B4-BE49-F238E27FC236}">
                <a16:creationId xmlns:a16="http://schemas.microsoft.com/office/drawing/2014/main" id="{FDEFFB1F-B068-C635-9653-FA8FBA10A8CC}"/>
              </a:ext>
            </a:extLst>
          </p:cNvPr>
          <p:cNvSpPr/>
          <p:nvPr/>
        </p:nvSpPr>
        <p:spPr>
          <a:xfrm>
            <a:off x="8782776" y="351444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1369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5" grpId="0" animBg="1"/>
      <p:bldP spid="16" grpId="0" animBg="1"/>
      <p:bldP spid="17" grpId="0" animBg="1"/>
      <p:bldP spid="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1F9D0F8-420E-808B-E335-5795B67B942D}"/>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E56A51B-BDEC-E6D1-A0C6-2ABA94621B2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Identity &amp; Access Management + Network Security</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2211262E-3CB5-B311-F096-60F8E78FF953}"/>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7325EB40-00BD-273C-F6DF-881E77B0D37F}"/>
              </a:ext>
            </a:extLst>
          </p:cNvPr>
          <p:cNvSpPr>
            <a:spLocks noGrp="1"/>
          </p:cNvSpPr>
          <p:nvPr>
            <p:ph type="sldNum" sz="quarter" idx="12"/>
          </p:nvPr>
        </p:nvSpPr>
        <p:spPr/>
        <p:txBody>
          <a:bodyPr/>
          <a:lstStyle/>
          <a:p>
            <a:fld id="{86889C5C-8171-4CA3-86B1-670B90C02708}" type="slidenum">
              <a:rPr lang="en-GB" smtClean="0"/>
              <a:t>38</a:t>
            </a:fld>
            <a:endParaRPr lang="en-GB"/>
          </a:p>
        </p:txBody>
      </p:sp>
      <p:sp>
        <p:nvSpPr>
          <p:cNvPr id="4" name="TextBox 3">
            <a:extLst>
              <a:ext uri="{FF2B5EF4-FFF2-40B4-BE49-F238E27FC236}">
                <a16:creationId xmlns:a16="http://schemas.microsoft.com/office/drawing/2014/main" id="{BACA1F1C-7F10-91B5-9A20-CFA816D9B627}"/>
              </a:ext>
            </a:extLst>
          </p:cNvPr>
          <p:cNvSpPr txBox="1"/>
          <p:nvPr/>
        </p:nvSpPr>
        <p:spPr>
          <a:xfrm>
            <a:off x="413457" y="1028226"/>
            <a:ext cx="11521439" cy="774764"/>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Manage agent security with enhanced admin controls | Microsoft Learn</a:t>
            </a:r>
            <a:r>
              <a:rPr lang="es-ES" dirty="0">
                <a:solidFill>
                  <a:schemeClr val="bg1"/>
                </a:solidFill>
                <a:latin typeface="Segoe UI" panose="020B0502040204020203" pitchFamily="34" charset="0"/>
                <a:cs typeface="Segoe UI" panose="020B0502040204020203" pitchFamily="34" charset="0"/>
              </a:rPr>
              <a:t> – </a:t>
            </a:r>
            <a:r>
              <a:rPr lang="en-US" noProof="0" dirty="0">
                <a:solidFill>
                  <a:schemeClr val="bg1"/>
                </a:solidFill>
                <a:latin typeface="Segoe UI" panose="020B0502040204020203" pitchFamily="34" charset="0"/>
                <a:cs typeface="Segoe UI" panose="020B0502040204020203" pitchFamily="34" charset="0"/>
              </a:rPr>
              <a:t>Agent access </a:t>
            </a:r>
            <a:r>
              <a:rPr lang="en-US" dirty="0">
                <a:solidFill>
                  <a:schemeClr val="bg1"/>
                </a:solidFill>
                <a:latin typeface="Segoe UI" panose="020B0502040204020203" pitchFamily="34" charset="0"/>
                <a:cs typeface="Segoe UI" panose="020B0502040204020203" pitchFamily="34" charset="0"/>
              </a:rPr>
              <a:t>points: : It can be configured for an environment or a environments group </a:t>
            </a:r>
            <a:endParaRPr lang="es-ES" dirty="0">
              <a:solidFill>
                <a:schemeClr val="bg1"/>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291B28F2-526F-F10E-36C1-506BC597F74B}"/>
              </a:ext>
            </a:extLst>
          </p:cNvPr>
          <p:cNvPicPr>
            <a:picLocks noChangeAspect="1"/>
          </p:cNvPicPr>
          <p:nvPr/>
        </p:nvPicPr>
        <p:blipFill>
          <a:blip r:embed="rId4"/>
          <a:stretch>
            <a:fillRect/>
          </a:stretch>
        </p:blipFill>
        <p:spPr>
          <a:xfrm>
            <a:off x="2226423" y="1864722"/>
            <a:ext cx="7840134" cy="4597821"/>
          </a:xfrm>
          <a:prstGeom prst="rect">
            <a:avLst/>
          </a:prstGeom>
        </p:spPr>
      </p:pic>
      <p:sp>
        <p:nvSpPr>
          <p:cNvPr id="9" name="Speech Bubble: Rectangle with Corners Rounded 8">
            <a:extLst>
              <a:ext uri="{FF2B5EF4-FFF2-40B4-BE49-F238E27FC236}">
                <a16:creationId xmlns:a16="http://schemas.microsoft.com/office/drawing/2014/main" id="{E1154C14-26CD-3641-8ADE-B2C5E7AA91E7}"/>
              </a:ext>
            </a:extLst>
          </p:cNvPr>
          <p:cNvSpPr/>
          <p:nvPr/>
        </p:nvSpPr>
        <p:spPr>
          <a:xfrm>
            <a:off x="2135566" y="3570680"/>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10" name="Flowchart: Connector 9">
            <a:extLst>
              <a:ext uri="{FF2B5EF4-FFF2-40B4-BE49-F238E27FC236}">
                <a16:creationId xmlns:a16="http://schemas.microsoft.com/office/drawing/2014/main" id="{9BE7DE2C-1A66-1FFA-F3A8-56E61C08351E}"/>
              </a:ext>
            </a:extLst>
          </p:cNvPr>
          <p:cNvSpPr/>
          <p:nvPr/>
        </p:nvSpPr>
        <p:spPr>
          <a:xfrm>
            <a:off x="2854607" y="442214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11" name="Speech Bubble: Rectangle with Corners Rounded 10">
            <a:extLst>
              <a:ext uri="{FF2B5EF4-FFF2-40B4-BE49-F238E27FC236}">
                <a16:creationId xmlns:a16="http://schemas.microsoft.com/office/drawing/2014/main" id="{579922CF-EB88-8E28-A2DA-00647692C518}"/>
              </a:ext>
            </a:extLst>
          </p:cNvPr>
          <p:cNvSpPr/>
          <p:nvPr/>
        </p:nvSpPr>
        <p:spPr>
          <a:xfrm>
            <a:off x="5356770" y="5335818"/>
            <a:ext cx="2494824" cy="657180"/>
          </a:xfrm>
          <a:prstGeom prst="wedgeRoundRectCallout">
            <a:avLst>
              <a:gd name="adj1" fmla="val -55688"/>
              <a:gd name="adj2" fmla="val 3902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Agent Access points</a:t>
            </a:r>
          </a:p>
        </p:txBody>
      </p:sp>
      <p:sp>
        <p:nvSpPr>
          <p:cNvPr id="12" name="Flowchart: Connector 11">
            <a:extLst>
              <a:ext uri="{FF2B5EF4-FFF2-40B4-BE49-F238E27FC236}">
                <a16:creationId xmlns:a16="http://schemas.microsoft.com/office/drawing/2014/main" id="{55F95F87-495C-9A58-FEE7-7F8E693B8EDF}"/>
              </a:ext>
            </a:extLst>
          </p:cNvPr>
          <p:cNvSpPr/>
          <p:nvPr/>
        </p:nvSpPr>
        <p:spPr>
          <a:xfrm>
            <a:off x="7948820" y="545866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3" name="Speech Bubble: Rectangle with Corners Rounded 12">
            <a:extLst>
              <a:ext uri="{FF2B5EF4-FFF2-40B4-BE49-F238E27FC236}">
                <a16:creationId xmlns:a16="http://schemas.microsoft.com/office/drawing/2014/main" id="{B0E20101-030C-3611-5497-6DBD68D3F856}"/>
              </a:ext>
            </a:extLst>
          </p:cNvPr>
          <p:cNvSpPr/>
          <p:nvPr/>
        </p:nvSpPr>
        <p:spPr>
          <a:xfrm>
            <a:off x="6363993" y="3570681"/>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Channels where</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agents are available</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 name="Flowchart: Connector 13">
            <a:extLst>
              <a:ext uri="{FF2B5EF4-FFF2-40B4-BE49-F238E27FC236}">
                <a16:creationId xmlns:a16="http://schemas.microsoft.com/office/drawing/2014/main" id="{2C0D9933-E500-419C-6D4F-CC67FBE03D73}"/>
              </a:ext>
            </a:extLst>
          </p:cNvPr>
          <p:cNvSpPr/>
          <p:nvPr/>
        </p:nvSpPr>
        <p:spPr>
          <a:xfrm>
            <a:off x="8966382" y="374130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088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3C28C1-638C-2373-9004-69394DEA01AB}"/>
            </a:ext>
          </a:extLst>
        </p:cNvPr>
        <p:cNvGrpSpPr/>
        <p:nvPr/>
      </p:nvGrpSpPr>
      <p:grpSpPr>
        <a:xfrm>
          <a:off x="0" y="0"/>
          <a:ext cx="0" cy="0"/>
          <a:chOff x="0" y="0"/>
          <a:chExt cx="0" cy="0"/>
        </a:xfrm>
      </p:grpSpPr>
      <p:pic>
        <p:nvPicPr>
          <p:cNvPr id="10" name="Imagen 2">
            <a:extLst>
              <a:ext uri="{FF2B5EF4-FFF2-40B4-BE49-F238E27FC236}">
                <a16:creationId xmlns:a16="http://schemas.microsoft.com/office/drawing/2014/main" id="{0AC0FC79-07AB-F60E-4576-A51577D27C3D}"/>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8DAABE5D-4170-B8A7-A3D5-A201917C6AF8}"/>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#4: Identity &amp; Access Management – Part II</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D029740D-E91D-3A2B-AF3F-3696E3A5B5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14">
            <a:extLst>
              <a:ext uri="{FF2B5EF4-FFF2-40B4-BE49-F238E27FC236}">
                <a16:creationId xmlns:a16="http://schemas.microsoft.com/office/drawing/2014/main" id="{7B1E3F8B-FD78-1F93-D6CB-DF3228C2181A}"/>
              </a:ext>
            </a:extLst>
          </p:cNvPr>
          <p:cNvSpPr txBox="1"/>
          <p:nvPr/>
        </p:nvSpPr>
        <p:spPr>
          <a:xfrm>
            <a:off x="2482809" y="6482979"/>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Tree>
    <p:extLst>
      <p:ext uri="{BB962C8B-B14F-4D97-AF65-F5344CB8AC3E}">
        <p14:creationId xmlns:p14="http://schemas.microsoft.com/office/powerpoint/2010/main" val="659089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5F84DFD-9D69-AE45-2615-C48FCD34AEA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53961A7-74DF-5E01-3B4C-02CA9A22AA73}"/>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Compliance &amp; Auditing</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90136456-ABDC-D97C-8BF2-83E4FAE0DE34}"/>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C2A2587A-C70F-DA6B-5F90-4A44D8874EA8}"/>
              </a:ext>
            </a:extLst>
          </p:cNvPr>
          <p:cNvSpPr>
            <a:spLocks noGrp="1"/>
          </p:cNvSpPr>
          <p:nvPr>
            <p:ph type="sldNum" sz="quarter" idx="12"/>
          </p:nvPr>
        </p:nvSpPr>
        <p:spPr/>
        <p:txBody>
          <a:bodyPr/>
          <a:lstStyle/>
          <a:p>
            <a:fld id="{86889C5C-8171-4CA3-86B1-670B90C02708}" type="slidenum">
              <a:rPr lang="en-GB" smtClean="0"/>
              <a:t>40</a:t>
            </a:fld>
            <a:endParaRPr lang="en-GB"/>
          </a:p>
        </p:txBody>
      </p:sp>
      <p:sp>
        <p:nvSpPr>
          <p:cNvPr id="4" name="TextBox 3">
            <a:extLst>
              <a:ext uri="{FF2B5EF4-FFF2-40B4-BE49-F238E27FC236}">
                <a16:creationId xmlns:a16="http://schemas.microsoft.com/office/drawing/2014/main" id="{401D2A6F-7DC6-959D-6963-6E3ADE4F50A2}"/>
              </a:ext>
            </a:extLst>
          </p:cNvPr>
          <p:cNvSpPr txBox="1"/>
          <p:nvPr/>
        </p:nvSpPr>
        <p:spPr>
          <a:xfrm>
            <a:off x="413457" y="1028226"/>
            <a:ext cx="11521439" cy="774764"/>
          </a:xfrm>
          <a:prstGeom prst="rect">
            <a:avLst/>
          </a:prstGeom>
          <a:noFill/>
        </p:spPr>
        <p:txBody>
          <a:bodyPr wrap="square" rtlCol="0">
            <a:spAutoFit/>
          </a:bodyPr>
          <a:lstStyle/>
          <a:p>
            <a:pPr algn="ctr">
              <a:lnSpc>
                <a:spcPct val="130000"/>
              </a:lnSpc>
            </a:pPr>
            <a:r>
              <a:rPr lang="en-US" dirty="0">
                <a:solidFill>
                  <a:schemeClr val="bg1"/>
                </a:solidFill>
                <a:latin typeface="Segoe UI" panose="020B0502040204020203" pitchFamily="34" charset="0"/>
                <a:cs typeface="Segoe UI" panose="020B0502040204020203" pitchFamily="34" charset="0"/>
              </a:rPr>
              <a:t>Implement robust compliance measures to safeguard organizational data and ensure adherence to industry regulations</a:t>
            </a:r>
            <a:endParaRPr lang="es-ES" dirty="0">
              <a:solidFill>
                <a:schemeClr val="bg1"/>
              </a:solidFill>
              <a:latin typeface="Segoe UI" panose="020B0502040204020203" pitchFamily="34" charset="0"/>
              <a:cs typeface="Segoe UI" panose="020B0502040204020203" pitchFamily="34" charset="0"/>
            </a:endParaRPr>
          </a:p>
        </p:txBody>
      </p:sp>
      <p:grpSp>
        <p:nvGrpSpPr>
          <p:cNvPr id="5" name="Group 4">
            <a:extLst>
              <a:ext uri="{FF2B5EF4-FFF2-40B4-BE49-F238E27FC236}">
                <a16:creationId xmlns:a16="http://schemas.microsoft.com/office/drawing/2014/main" id="{C55ED5FD-034C-890A-D119-B26BDF35D79C}"/>
              </a:ext>
            </a:extLst>
          </p:cNvPr>
          <p:cNvGrpSpPr/>
          <p:nvPr/>
        </p:nvGrpSpPr>
        <p:grpSpPr>
          <a:xfrm>
            <a:off x="3474720" y="2554522"/>
            <a:ext cx="2468880" cy="2011680"/>
            <a:chOff x="6941" y="1161888"/>
            <a:chExt cx="2461366" cy="1837358"/>
          </a:xfrm>
        </p:grpSpPr>
        <p:sp>
          <p:nvSpPr>
            <p:cNvPr id="6" name="Rectangle: Top Corners Rounded 5">
              <a:extLst>
                <a:ext uri="{FF2B5EF4-FFF2-40B4-BE49-F238E27FC236}">
                  <a16:creationId xmlns:a16="http://schemas.microsoft.com/office/drawing/2014/main" id="{951C4F8B-9072-D8AC-3567-F4D4284B550F}"/>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7" name="Rectangle: Top Corners Rounded 4">
              <a:extLst>
                <a:ext uri="{FF2B5EF4-FFF2-40B4-BE49-F238E27FC236}">
                  <a16:creationId xmlns:a16="http://schemas.microsoft.com/office/drawing/2014/main" id="{A33258C0-939E-1628-90E3-80EBBB70E8F1}"/>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Tenant home geo default</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Multi-geo support (at environment level) to enable global presence</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Data residency ensured within geo </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dirty="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15" name="Group 14">
            <a:extLst>
              <a:ext uri="{FF2B5EF4-FFF2-40B4-BE49-F238E27FC236}">
                <a16:creationId xmlns:a16="http://schemas.microsoft.com/office/drawing/2014/main" id="{EF1DFC67-5BAB-AA4A-97CC-D9EF80CEA6E6}"/>
              </a:ext>
            </a:extLst>
          </p:cNvPr>
          <p:cNvGrpSpPr/>
          <p:nvPr/>
        </p:nvGrpSpPr>
        <p:grpSpPr>
          <a:xfrm>
            <a:off x="3474715" y="4535184"/>
            <a:ext cx="2468881" cy="790063"/>
            <a:chOff x="6940" y="2999246"/>
            <a:chExt cx="2461367" cy="790063"/>
          </a:xfrm>
          <a:solidFill>
            <a:srgbClr val="A5A5A5"/>
          </a:solidFill>
        </p:grpSpPr>
        <p:sp>
          <p:nvSpPr>
            <p:cNvPr id="16" name="Rectangle 15">
              <a:extLst>
                <a:ext uri="{FF2B5EF4-FFF2-40B4-BE49-F238E27FC236}">
                  <a16:creationId xmlns:a16="http://schemas.microsoft.com/office/drawing/2014/main" id="{D5EAEDF8-EF83-790F-C3E0-EB8E81386570}"/>
                </a:ext>
              </a:extLst>
            </p:cNvPr>
            <p:cNvSpPr/>
            <p:nvPr/>
          </p:nvSpPr>
          <p:spPr>
            <a:xfrm>
              <a:off x="6941"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7" name="TextBox 16">
              <a:extLst>
                <a:ext uri="{FF2B5EF4-FFF2-40B4-BE49-F238E27FC236}">
                  <a16:creationId xmlns:a16="http://schemas.microsoft.com/office/drawing/2014/main" id="{C06AFA04-8396-9E3D-263B-77FCC27FF6C0}"/>
                </a:ext>
              </a:extLst>
            </p:cNvPr>
            <p:cNvSpPr txBox="1"/>
            <p:nvPr/>
          </p:nvSpPr>
          <p:spPr>
            <a:xfrm>
              <a:off x="6940" y="2999246"/>
              <a:ext cx="1870523"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Data Residency</a:t>
              </a:r>
            </a:p>
          </p:txBody>
        </p:sp>
      </p:grpSp>
      <p:grpSp>
        <p:nvGrpSpPr>
          <p:cNvPr id="18" name="Group 17">
            <a:extLst>
              <a:ext uri="{FF2B5EF4-FFF2-40B4-BE49-F238E27FC236}">
                <a16:creationId xmlns:a16="http://schemas.microsoft.com/office/drawing/2014/main" id="{3C9E39BD-4DAA-2584-0E2E-E20DE7D4509F}"/>
              </a:ext>
            </a:extLst>
          </p:cNvPr>
          <p:cNvGrpSpPr/>
          <p:nvPr/>
        </p:nvGrpSpPr>
        <p:grpSpPr>
          <a:xfrm>
            <a:off x="6198109" y="2549426"/>
            <a:ext cx="2468880" cy="2011680"/>
            <a:chOff x="2884829" y="1161888"/>
            <a:chExt cx="2461366" cy="1837358"/>
          </a:xfrm>
        </p:grpSpPr>
        <p:sp>
          <p:nvSpPr>
            <p:cNvPr id="19" name="Rectangle: Top Corners Rounded 18">
              <a:extLst>
                <a:ext uri="{FF2B5EF4-FFF2-40B4-BE49-F238E27FC236}">
                  <a16:creationId xmlns:a16="http://schemas.microsoft.com/office/drawing/2014/main" id="{7120DBCE-5BCC-F63B-17C2-DD6F4F0B709C}"/>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20" name="Rectangle: Top Corners Rounded 4">
              <a:extLst>
                <a:ext uri="{FF2B5EF4-FFF2-40B4-BE49-F238E27FC236}">
                  <a16:creationId xmlns:a16="http://schemas.microsoft.com/office/drawing/2014/main" id="{ECDBD657-71D7-F78D-3D24-C18C1E51FDDB}"/>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National, regional and industry-specific regulations for data collection and use</a:t>
              </a:r>
            </a:p>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E.g., </a:t>
              </a:r>
              <a:r>
                <a:rPr lang="en-US" sz="1300" kern="0" dirty="0" err="1">
                  <a:solidFill>
                    <a:prstClr val="black">
                      <a:hueOff val="0"/>
                      <a:satOff val="0"/>
                      <a:lumOff val="0"/>
                      <a:alphaOff val="0"/>
                    </a:prstClr>
                  </a:solidFill>
                  <a:latin typeface="Segoe UI" panose="020B0502040204020203" pitchFamily="34" charset="0"/>
                  <a:cs typeface="Segoe UI" panose="020B0502040204020203" pitchFamily="34" charset="0"/>
                </a:rPr>
                <a:t>FedRamp</a:t>
              </a: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 FERPA, HIPAA, SOC, IRS 1075, SEC Regulation, FISC (Japan), FACT (UK), </a:t>
              </a:r>
              <a:r>
                <a:rPr lang="en-US" sz="1300" kern="0" dirty="0" err="1">
                  <a:solidFill>
                    <a:prstClr val="black">
                      <a:hueOff val="0"/>
                      <a:satOff val="0"/>
                      <a:lumOff val="0"/>
                      <a:alphaOff val="0"/>
                    </a:prstClr>
                  </a:solidFill>
                  <a:latin typeface="Segoe UI" panose="020B0502040204020203" pitchFamily="34" charset="0"/>
                  <a:cs typeface="Segoe UI" panose="020B0502040204020203" pitchFamily="34" charset="0"/>
                </a:rPr>
                <a:t>etc</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22" name="Group 21">
            <a:extLst>
              <a:ext uri="{FF2B5EF4-FFF2-40B4-BE49-F238E27FC236}">
                <a16:creationId xmlns:a16="http://schemas.microsoft.com/office/drawing/2014/main" id="{8E3B7ED7-CE55-0EF6-C014-D3999334C1E4}"/>
              </a:ext>
            </a:extLst>
          </p:cNvPr>
          <p:cNvGrpSpPr/>
          <p:nvPr/>
        </p:nvGrpSpPr>
        <p:grpSpPr>
          <a:xfrm>
            <a:off x="6198108" y="4543736"/>
            <a:ext cx="2468881" cy="790063"/>
            <a:chOff x="2884828" y="2999246"/>
            <a:chExt cx="2461367" cy="790063"/>
          </a:xfrm>
          <a:solidFill>
            <a:srgbClr val="FFC000"/>
          </a:solidFill>
        </p:grpSpPr>
        <p:sp>
          <p:nvSpPr>
            <p:cNvPr id="23" name="Rectangle 22">
              <a:extLst>
                <a:ext uri="{FF2B5EF4-FFF2-40B4-BE49-F238E27FC236}">
                  <a16:creationId xmlns:a16="http://schemas.microsoft.com/office/drawing/2014/main" id="{84DE9E48-49F2-6C1C-2D5C-C0985A32A18F}"/>
                </a:ext>
              </a:extLst>
            </p:cNvPr>
            <p:cNvSpPr/>
            <p:nvPr/>
          </p:nvSpPr>
          <p:spPr>
            <a:xfrm>
              <a:off x="2884829"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4" name="TextBox 23">
              <a:extLst>
                <a:ext uri="{FF2B5EF4-FFF2-40B4-BE49-F238E27FC236}">
                  <a16:creationId xmlns:a16="http://schemas.microsoft.com/office/drawing/2014/main" id="{86F01809-20BA-189E-9F2D-C2C3894B7D21}"/>
                </a:ext>
              </a:extLst>
            </p:cNvPr>
            <p:cNvSpPr txBox="1"/>
            <p:nvPr/>
          </p:nvSpPr>
          <p:spPr>
            <a:xfrm>
              <a:off x="2884828" y="2999246"/>
              <a:ext cx="2023724"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dirty="0">
                  <a:solidFill>
                    <a:prstClr val="white"/>
                  </a:solidFill>
                  <a:latin typeface="Segoe UI" panose="020B0502040204020203" pitchFamily="34" charset="0"/>
                  <a:cs typeface="Segoe UI" panose="020B0502040204020203" pitchFamily="34" charset="0"/>
                </a:rPr>
                <a:t>Compliance Standards</a:t>
              </a:r>
            </a:p>
          </p:txBody>
        </p:sp>
      </p:grpSp>
      <p:grpSp>
        <p:nvGrpSpPr>
          <p:cNvPr id="25" name="Group 24">
            <a:extLst>
              <a:ext uri="{FF2B5EF4-FFF2-40B4-BE49-F238E27FC236}">
                <a16:creationId xmlns:a16="http://schemas.microsoft.com/office/drawing/2014/main" id="{67EE4EB9-1349-BA09-4B3E-D292D43C4FD1}"/>
              </a:ext>
            </a:extLst>
          </p:cNvPr>
          <p:cNvGrpSpPr/>
          <p:nvPr/>
        </p:nvGrpSpPr>
        <p:grpSpPr>
          <a:xfrm>
            <a:off x="724685" y="2542201"/>
            <a:ext cx="2468880" cy="2011680"/>
            <a:chOff x="8640607" y="1161888"/>
            <a:chExt cx="2461366" cy="1837358"/>
          </a:xfrm>
        </p:grpSpPr>
        <p:sp>
          <p:nvSpPr>
            <p:cNvPr id="26" name="Rectangle: Top Corners Rounded 25">
              <a:extLst>
                <a:ext uri="{FF2B5EF4-FFF2-40B4-BE49-F238E27FC236}">
                  <a16:creationId xmlns:a16="http://schemas.microsoft.com/office/drawing/2014/main" id="{FBBF18AA-D2CE-EFB2-98A6-5A326F906F79}"/>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27" name="Rectangle: Top Corners Rounded 4">
              <a:extLst>
                <a:ext uri="{FF2B5EF4-FFF2-40B4-BE49-F238E27FC236}">
                  <a16:creationId xmlns:a16="http://schemas.microsoft.com/office/drawing/2014/main" id="{5DBB2693-0976-35F4-9EDF-9658A6030A0E}"/>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Extends JIT access to the Power Platform with customer approval</a:t>
              </a:r>
            </a:p>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Bound to specific environment, user and duration</a:t>
              </a:r>
            </a:p>
            <a:p>
              <a:pPr marL="114300" marR="0" lvl="1" indent="-114300" defTabSz="533400" fontAlgn="auto">
                <a:lnSpc>
                  <a:spcPct val="90000"/>
                </a:lnSpc>
                <a:spcBef>
                  <a:spcPct val="0"/>
                </a:spcBef>
                <a:spcAft>
                  <a:spcPct val="15000"/>
                </a:spcAft>
                <a:buClrTx/>
                <a:buSzTx/>
                <a:buFontTx/>
                <a:buChar char="•"/>
                <a:tabLst/>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OOB audit available to end user</a:t>
              </a:r>
            </a:p>
          </p:txBody>
        </p:sp>
      </p:grpSp>
      <p:grpSp>
        <p:nvGrpSpPr>
          <p:cNvPr id="28" name="Group 27">
            <a:extLst>
              <a:ext uri="{FF2B5EF4-FFF2-40B4-BE49-F238E27FC236}">
                <a16:creationId xmlns:a16="http://schemas.microsoft.com/office/drawing/2014/main" id="{6491F36A-F4F9-46B9-6C9B-30F9C3E65D51}"/>
              </a:ext>
            </a:extLst>
          </p:cNvPr>
          <p:cNvGrpSpPr/>
          <p:nvPr/>
        </p:nvGrpSpPr>
        <p:grpSpPr>
          <a:xfrm>
            <a:off x="722076" y="4538787"/>
            <a:ext cx="2468880" cy="790063"/>
            <a:chOff x="8632682" y="3002849"/>
            <a:chExt cx="2461366" cy="790063"/>
          </a:xfrm>
          <a:solidFill>
            <a:srgbClr val="ED7D31"/>
          </a:solidFill>
        </p:grpSpPr>
        <p:sp>
          <p:nvSpPr>
            <p:cNvPr id="29" name="Rectangle 28">
              <a:extLst>
                <a:ext uri="{FF2B5EF4-FFF2-40B4-BE49-F238E27FC236}">
                  <a16:creationId xmlns:a16="http://schemas.microsoft.com/office/drawing/2014/main" id="{3ABCEE92-B2A8-2E1F-E7FD-4064A0277159}"/>
                </a:ext>
              </a:extLst>
            </p:cNvPr>
            <p:cNvSpPr/>
            <p:nvPr/>
          </p:nvSpPr>
          <p:spPr>
            <a:xfrm>
              <a:off x="8632682" y="3002849"/>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203D8645-AB49-B371-B62E-12103C33C417}"/>
                </a:ext>
              </a:extLst>
            </p:cNvPr>
            <p:cNvSpPr txBox="1"/>
            <p:nvPr/>
          </p:nvSpPr>
          <p:spPr>
            <a:xfrm>
              <a:off x="8632683" y="3002849"/>
              <a:ext cx="1797715"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err="1">
                  <a:solidFill>
                    <a:prstClr val="white"/>
                  </a:solidFill>
                  <a:latin typeface="Segoe UI" panose="020B0502040204020203" pitchFamily="34" charset="0"/>
                  <a:cs typeface="Segoe UI" panose="020B0502040204020203" pitchFamily="34" charset="0"/>
                </a:rPr>
                <a:t>Customer</a:t>
              </a:r>
              <a:r>
                <a:rPr lang="es-ES" sz="1600" b="1" kern="0">
                  <a:solidFill>
                    <a:prstClr val="white"/>
                  </a:solidFill>
                  <a:latin typeface="Segoe UI" panose="020B0502040204020203" pitchFamily="34" charset="0"/>
                  <a:cs typeface="Segoe UI" panose="020B0502040204020203" pitchFamily="34" charset="0"/>
                </a:rPr>
                <a:t> </a:t>
              </a:r>
              <a:r>
                <a:rPr lang="es-ES" sz="1600" b="1" kern="0" err="1">
                  <a:solidFill>
                    <a:prstClr val="white"/>
                  </a:solidFill>
                  <a:latin typeface="Segoe UI" panose="020B0502040204020203" pitchFamily="34" charset="0"/>
                  <a:cs typeface="Segoe UI" panose="020B0502040204020203" pitchFamily="34" charset="0"/>
                </a:rPr>
                <a:t>Lockbox</a:t>
              </a:r>
              <a:endParaRPr lang="fr-FR" sz="1600" b="1" kern="0">
                <a:solidFill>
                  <a:prstClr val="white"/>
                </a:solidFill>
                <a:latin typeface="Segoe UI" panose="020B0502040204020203" pitchFamily="34" charset="0"/>
                <a:cs typeface="Segoe UI" panose="020B0502040204020203" pitchFamily="34" charset="0"/>
              </a:endParaRPr>
            </a:p>
          </p:txBody>
        </p:sp>
      </p:grpSp>
      <p:grpSp>
        <p:nvGrpSpPr>
          <p:cNvPr id="31" name="Group 30">
            <a:extLst>
              <a:ext uri="{FF2B5EF4-FFF2-40B4-BE49-F238E27FC236}">
                <a16:creationId xmlns:a16="http://schemas.microsoft.com/office/drawing/2014/main" id="{CAFD7800-CB85-122B-70D4-6815EF1E805B}"/>
              </a:ext>
            </a:extLst>
          </p:cNvPr>
          <p:cNvGrpSpPr/>
          <p:nvPr/>
        </p:nvGrpSpPr>
        <p:grpSpPr>
          <a:xfrm>
            <a:off x="8958242" y="2523504"/>
            <a:ext cx="2468880" cy="2011680"/>
            <a:chOff x="2884829" y="1161888"/>
            <a:chExt cx="2461366" cy="1837358"/>
          </a:xfrm>
        </p:grpSpPr>
        <p:sp>
          <p:nvSpPr>
            <p:cNvPr id="32" name="Rectangle: Top Corners Rounded 31">
              <a:extLst>
                <a:ext uri="{FF2B5EF4-FFF2-40B4-BE49-F238E27FC236}">
                  <a16:creationId xmlns:a16="http://schemas.microsoft.com/office/drawing/2014/main" id="{793BEC6E-4532-73A0-CFD3-35BB0EE5CF02}"/>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33" name="Rectangle: Top Corners Rounded 4">
              <a:extLst>
                <a:ext uri="{FF2B5EF4-FFF2-40B4-BE49-F238E27FC236}">
                  <a16:creationId xmlns:a16="http://schemas.microsoft.com/office/drawing/2014/main" id="{46B53417-D853-BA09-0141-671A9273E3DE}"/>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rPr>
                <a:t>GDPR </a:t>
              </a:r>
              <a:r>
                <a:rPr lang="es-ES" sz="1300" kern="0" dirty="0" err="1">
                  <a:solidFill>
                    <a:prstClr val="black">
                      <a:hueOff val="0"/>
                      <a:satOff val="0"/>
                      <a:lumOff val="0"/>
                      <a:alphaOff val="0"/>
                    </a:prstClr>
                  </a:solidFill>
                  <a:latin typeface="Segoe UI" panose="020B0502040204020203" pitchFamily="34" charset="0"/>
                  <a:cs typeface="Segoe UI" panose="020B0502040204020203" pitchFamily="34" charset="0"/>
                </a:rPr>
                <a:t>compliant</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rPr>
                <a:t>Microsoft Trust Center</a:t>
              </a:r>
            </a:p>
            <a:p>
              <a:pPr marL="114300" lvl="1" indent="-114300" defTabSz="533400">
                <a:lnSpc>
                  <a:spcPct val="90000"/>
                </a:lnSpc>
                <a:spcBef>
                  <a:spcPct val="0"/>
                </a:spcBef>
                <a:spcAft>
                  <a:spcPct val="15000"/>
                </a:spcAft>
                <a:buFontTx/>
                <a:buChar char="•"/>
                <a:defRPr/>
              </a:pP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34" name="Group 33">
            <a:extLst>
              <a:ext uri="{FF2B5EF4-FFF2-40B4-BE49-F238E27FC236}">
                <a16:creationId xmlns:a16="http://schemas.microsoft.com/office/drawing/2014/main" id="{72D283AE-BDB2-6CA7-89B8-EF4C57639A38}"/>
              </a:ext>
            </a:extLst>
          </p:cNvPr>
          <p:cNvGrpSpPr/>
          <p:nvPr/>
        </p:nvGrpSpPr>
        <p:grpSpPr>
          <a:xfrm>
            <a:off x="8958242" y="4517814"/>
            <a:ext cx="2468880" cy="790063"/>
            <a:chOff x="2884829" y="2999246"/>
            <a:chExt cx="2461366" cy="790063"/>
          </a:xfrm>
          <a:solidFill>
            <a:srgbClr val="5B9BD5"/>
          </a:solidFill>
        </p:grpSpPr>
        <p:sp>
          <p:nvSpPr>
            <p:cNvPr id="35" name="Rectangle 34">
              <a:extLst>
                <a:ext uri="{FF2B5EF4-FFF2-40B4-BE49-F238E27FC236}">
                  <a16:creationId xmlns:a16="http://schemas.microsoft.com/office/drawing/2014/main" id="{5FDF7FA8-F49A-BE4E-7B29-5A55B0BEB480}"/>
                </a:ext>
              </a:extLst>
            </p:cNvPr>
            <p:cNvSpPr/>
            <p:nvPr/>
          </p:nvSpPr>
          <p:spPr>
            <a:xfrm>
              <a:off x="2884829"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36" name="TextBox 35">
              <a:extLst>
                <a:ext uri="{FF2B5EF4-FFF2-40B4-BE49-F238E27FC236}">
                  <a16:creationId xmlns:a16="http://schemas.microsoft.com/office/drawing/2014/main" id="{0008EC93-80BC-BB80-CE96-B9847C1971FC}"/>
                </a:ext>
              </a:extLst>
            </p:cNvPr>
            <p:cNvSpPr txBox="1"/>
            <p:nvPr/>
          </p:nvSpPr>
          <p:spPr>
            <a:xfrm>
              <a:off x="2884829" y="2999246"/>
              <a:ext cx="1733356"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dirty="0">
                  <a:solidFill>
                    <a:prstClr val="white"/>
                  </a:solidFill>
                  <a:latin typeface="Segoe UI" panose="020B0502040204020203" pitchFamily="34" charset="0"/>
                  <a:cs typeface="Segoe UI" panose="020B0502040204020203" pitchFamily="34" charset="0"/>
                </a:rPr>
                <a:t>Data </a:t>
              </a:r>
              <a:r>
                <a:rPr lang="fr-FR" sz="1600" b="1" kern="0" dirty="0" err="1">
                  <a:solidFill>
                    <a:prstClr val="white"/>
                  </a:solidFill>
                  <a:latin typeface="Segoe UI" panose="020B0502040204020203" pitchFamily="34" charset="0"/>
                  <a:cs typeface="Segoe UI" panose="020B0502040204020203" pitchFamily="34" charset="0"/>
                </a:rPr>
                <a:t>Privacy</a:t>
              </a:r>
              <a:endParaRPr lang="fr-FR" sz="1600" b="1" kern="0" dirty="0">
                <a:solidFill>
                  <a:prstClr val="white"/>
                </a:solidFill>
                <a:latin typeface="Segoe UI" panose="020B0502040204020203" pitchFamily="34" charset="0"/>
                <a:cs typeface="Segoe UI" panose="020B0502040204020203" pitchFamily="34" charset="0"/>
              </a:endParaRPr>
            </a:p>
          </p:txBody>
        </p:sp>
      </p:grpSp>
      <p:pic>
        <p:nvPicPr>
          <p:cNvPr id="37" name="Picture 36">
            <a:extLst>
              <a:ext uri="{FF2B5EF4-FFF2-40B4-BE49-F238E27FC236}">
                <a16:creationId xmlns:a16="http://schemas.microsoft.com/office/drawing/2014/main" id="{5ACD8984-3FEE-BF3F-757F-C8B572F847DE}"/>
              </a:ext>
            </a:extLst>
          </p:cNvPr>
          <p:cNvPicPr>
            <a:picLocks noChangeAspect="1"/>
          </p:cNvPicPr>
          <p:nvPr/>
        </p:nvPicPr>
        <p:blipFill>
          <a:blip r:embed="rId3"/>
          <a:stretch>
            <a:fillRect/>
          </a:stretch>
        </p:blipFill>
        <p:spPr>
          <a:xfrm>
            <a:off x="2546876" y="4618727"/>
            <a:ext cx="640080" cy="640080"/>
          </a:xfrm>
          <a:prstGeom prst="rect">
            <a:avLst/>
          </a:prstGeom>
        </p:spPr>
      </p:pic>
      <p:pic>
        <p:nvPicPr>
          <p:cNvPr id="38" name="Picture 37">
            <a:extLst>
              <a:ext uri="{FF2B5EF4-FFF2-40B4-BE49-F238E27FC236}">
                <a16:creationId xmlns:a16="http://schemas.microsoft.com/office/drawing/2014/main" id="{12A5A0B4-DEB1-11F2-15EC-1708415A6B40}"/>
              </a:ext>
            </a:extLst>
          </p:cNvPr>
          <p:cNvPicPr>
            <a:picLocks noChangeAspect="1"/>
          </p:cNvPicPr>
          <p:nvPr/>
        </p:nvPicPr>
        <p:blipFill>
          <a:blip r:embed="rId4"/>
          <a:stretch>
            <a:fillRect/>
          </a:stretch>
        </p:blipFill>
        <p:spPr>
          <a:xfrm>
            <a:off x="5228806" y="4618727"/>
            <a:ext cx="640080" cy="640080"/>
          </a:xfrm>
          <a:prstGeom prst="rect">
            <a:avLst/>
          </a:prstGeom>
        </p:spPr>
      </p:pic>
      <p:pic>
        <p:nvPicPr>
          <p:cNvPr id="39" name="Picture 38">
            <a:extLst>
              <a:ext uri="{FF2B5EF4-FFF2-40B4-BE49-F238E27FC236}">
                <a16:creationId xmlns:a16="http://schemas.microsoft.com/office/drawing/2014/main" id="{4A76B4DA-CFFD-0A75-92E3-CC3DDF415AA7}"/>
              </a:ext>
            </a:extLst>
          </p:cNvPr>
          <p:cNvPicPr>
            <a:picLocks noChangeAspect="1"/>
          </p:cNvPicPr>
          <p:nvPr/>
        </p:nvPicPr>
        <p:blipFill>
          <a:blip r:embed="rId5"/>
          <a:stretch>
            <a:fillRect/>
          </a:stretch>
        </p:blipFill>
        <p:spPr>
          <a:xfrm>
            <a:off x="10743858" y="4582321"/>
            <a:ext cx="640080" cy="640080"/>
          </a:xfrm>
          <a:prstGeom prst="rect">
            <a:avLst/>
          </a:prstGeom>
        </p:spPr>
      </p:pic>
      <p:pic>
        <p:nvPicPr>
          <p:cNvPr id="40" name="Picture 39">
            <a:extLst>
              <a:ext uri="{FF2B5EF4-FFF2-40B4-BE49-F238E27FC236}">
                <a16:creationId xmlns:a16="http://schemas.microsoft.com/office/drawing/2014/main" id="{A98E4C1B-26E9-E593-D1E1-15591D7CF8D5}"/>
              </a:ext>
            </a:extLst>
          </p:cNvPr>
          <p:cNvPicPr>
            <a:picLocks noChangeAspect="1"/>
          </p:cNvPicPr>
          <p:nvPr/>
        </p:nvPicPr>
        <p:blipFill>
          <a:blip r:embed="rId6"/>
          <a:stretch>
            <a:fillRect/>
          </a:stretch>
        </p:blipFill>
        <p:spPr>
          <a:xfrm>
            <a:off x="8053597" y="4621646"/>
            <a:ext cx="640080" cy="640080"/>
          </a:xfrm>
          <a:prstGeom prst="rect">
            <a:avLst/>
          </a:prstGeom>
        </p:spPr>
      </p:pic>
    </p:spTree>
    <p:extLst>
      <p:ext uri="{BB962C8B-B14F-4D97-AF65-F5344CB8AC3E}">
        <p14:creationId xmlns:p14="http://schemas.microsoft.com/office/powerpoint/2010/main" val="22477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1000"/>
                                        <p:tgtEl>
                                          <p:spTgt spid="31"/>
                                        </p:tgtEl>
                                      </p:cBhvr>
                                    </p:animEffec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1000"/>
                                        <p:tgtEl>
                                          <p:spTgt spid="38"/>
                                        </p:tgtEl>
                                      </p:cBhvr>
                                    </p:animEffect>
                                    <p:anim calcmode="lin" valueType="num">
                                      <p:cBhvr>
                                        <p:cTn id="53" dur="1000" fill="hold"/>
                                        <p:tgtEl>
                                          <p:spTgt spid="38"/>
                                        </p:tgtEl>
                                        <p:attrNameLst>
                                          <p:attrName>ppt_x</p:attrName>
                                        </p:attrNameLst>
                                      </p:cBhvr>
                                      <p:tavLst>
                                        <p:tav tm="0">
                                          <p:val>
                                            <p:strVal val="#ppt_x"/>
                                          </p:val>
                                        </p:tav>
                                        <p:tav tm="100000">
                                          <p:val>
                                            <p:strVal val="#ppt_x"/>
                                          </p:val>
                                        </p:tav>
                                      </p:tavLst>
                                    </p:anim>
                                    <p:anim calcmode="lin" valueType="num">
                                      <p:cBhvr>
                                        <p:cTn id="54" dur="1000" fill="hold"/>
                                        <p:tgtEl>
                                          <p:spTgt spid="38"/>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1000"/>
                                        <p:tgtEl>
                                          <p:spTgt spid="39"/>
                                        </p:tgtEl>
                                      </p:cBhvr>
                                    </p:animEffect>
                                    <p:anim calcmode="lin" valueType="num">
                                      <p:cBhvr>
                                        <p:cTn id="58" dur="1000" fill="hold"/>
                                        <p:tgtEl>
                                          <p:spTgt spid="39"/>
                                        </p:tgtEl>
                                        <p:attrNameLst>
                                          <p:attrName>ppt_x</p:attrName>
                                        </p:attrNameLst>
                                      </p:cBhvr>
                                      <p:tavLst>
                                        <p:tav tm="0">
                                          <p:val>
                                            <p:strVal val="#ppt_x"/>
                                          </p:val>
                                        </p:tav>
                                        <p:tav tm="100000">
                                          <p:val>
                                            <p:strVal val="#ppt_x"/>
                                          </p:val>
                                        </p:tav>
                                      </p:tavLst>
                                    </p:anim>
                                    <p:anim calcmode="lin" valueType="num">
                                      <p:cBhvr>
                                        <p:cTn id="59" dur="1000" fill="hold"/>
                                        <p:tgtEl>
                                          <p:spTgt spid="3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1000"/>
                                        <p:tgtEl>
                                          <p:spTgt spid="40"/>
                                        </p:tgtEl>
                                      </p:cBhvr>
                                    </p:animEffect>
                                    <p:anim calcmode="lin" valueType="num">
                                      <p:cBhvr>
                                        <p:cTn id="63" dur="1000" fill="hold"/>
                                        <p:tgtEl>
                                          <p:spTgt spid="40"/>
                                        </p:tgtEl>
                                        <p:attrNameLst>
                                          <p:attrName>ppt_x</p:attrName>
                                        </p:attrNameLst>
                                      </p:cBhvr>
                                      <p:tavLst>
                                        <p:tav tm="0">
                                          <p:val>
                                            <p:strVal val="#ppt_x"/>
                                          </p:val>
                                        </p:tav>
                                        <p:tav tm="100000">
                                          <p:val>
                                            <p:strVal val="#ppt_x"/>
                                          </p:val>
                                        </p:tav>
                                      </p:tavLst>
                                    </p:anim>
                                    <p:anim calcmode="lin" valueType="num">
                                      <p:cBhvr>
                                        <p:cTn id="6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79E60BE-5FFC-650C-E6D7-57D1962074F5}"/>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10BED8D1-C318-FA31-AD32-0574A669A1E5}"/>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Compliance &amp; Auditing</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7FBC3C61-D7F0-5878-8B1F-8C9690270B41}"/>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F41119AD-AD62-D93D-C0C7-CF763C57B795}"/>
              </a:ext>
            </a:extLst>
          </p:cNvPr>
          <p:cNvSpPr>
            <a:spLocks noGrp="1"/>
          </p:cNvSpPr>
          <p:nvPr>
            <p:ph type="sldNum" sz="quarter" idx="12"/>
          </p:nvPr>
        </p:nvSpPr>
        <p:spPr/>
        <p:txBody>
          <a:bodyPr/>
          <a:lstStyle/>
          <a:p>
            <a:fld id="{86889C5C-8171-4CA3-86B1-670B90C02708}" type="slidenum">
              <a:rPr lang="en-GB" smtClean="0"/>
              <a:t>41</a:t>
            </a:fld>
            <a:endParaRPr lang="en-GB"/>
          </a:p>
        </p:txBody>
      </p:sp>
      <p:sp>
        <p:nvSpPr>
          <p:cNvPr id="4" name="TextBox 3">
            <a:extLst>
              <a:ext uri="{FF2B5EF4-FFF2-40B4-BE49-F238E27FC236}">
                <a16:creationId xmlns:a16="http://schemas.microsoft.com/office/drawing/2014/main" id="{CBEDB8FE-EE54-F2F2-7ABF-6386F97B5D0D}"/>
              </a:ext>
            </a:extLst>
          </p:cNvPr>
          <p:cNvSpPr txBox="1"/>
          <p:nvPr/>
        </p:nvSpPr>
        <p:spPr>
          <a:xfrm>
            <a:off x="413457" y="1028226"/>
            <a:ext cx="11521439" cy="774764"/>
          </a:xfrm>
          <a:prstGeom prst="rect">
            <a:avLst/>
          </a:prstGeom>
          <a:noFill/>
        </p:spPr>
        <p:txBody>
          <a:bodyPr wrap="square" rtlCol="0">
            <a:spAutoFit/>
          </a:bodyPr>
          <a:lstStyle/>
          <a:p>
            <a:pPr algn="ctr">
              <a:lnSpc>
                <a:spcPct val="130000"/>
              </a:lnSpc>
            </a:pPr>
            <a:r>
              <a:rPr lang="en-US" dirty="0">
                <a:latin typeface="Segoe UI" panose="020B0502040204020203" pitchFamily="34" charset="0"/>
                <a:cs typeface="Segoe UI" panose="020B0502040204020203" pitchFamily="34" charset="0"/>
                <a:hlinkClick r:id="rId3"/>
              </a:rPr>
              <a:t>Securely access customer data using Customer Lockbox in Power Platform and Dynamics 365 - Power Platform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949628C1-15FD-7283-BDA3-BFC0CAFD0AE1}"/>
              </a:ext>
            </a:extLst>
          </p:cNvPr>
          <p:cNvPicPr>
            <a:picLocks noChangeAspect="1"/>
          </p:cNvPicPr>
          <p:nvPr/>
        </p:nvPicPr>
        <p:blipFill>
          <a:blip r:embed="rId4"/>
          <a:stretch>
            <a:fillRect/>
          </a:stretch>
        </p:blipFill>
        <p:spPr>
          <a:xfrm>
            <a:off x="665146" y="2098614"/>
            <a:ext cx="10617904" cy="3962111"/>
          </a:xfrm>
          <a:prstGeom prst="rect">
            <a:avLst/>
          </a:prstGeom>
        </p:spPr>
      </p:pic>
      <p:sp>
        <p:nvSpPr>
          <p:cNvPr id="9" name="Speech Bubble: Rectangle with Corners Rounded 8">
            <a:extLst>
              <a:ext uri="{FF2B5EF4-FFF2-40B4-BE49-F238E27FC236}">
                <a16:creationId xmlns:a16="http://schemas.microsoft.com/office/drawing/2014/main" id="{D3B8B01F-3DDF-7602-D9F6-7DA1B1C985D8}"/>
              </a:ext>
            </a:extLst>
          </p:cNvPr>
          <p:cNvSpPr/>
          <p:nvPr/>
        </p:nvSpPr>
        <p:spPr>
          <a:xfrm>
            <a:off x="1024466" y="4532478"/>
            <a:ext cx="2018063" cy="657181"/>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Access Compliance</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settings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 name="Flowchart: Connector 9">
            <a:extLst>
              <a:ext uri="{FF2B5EF4-FFF2-40B4-BE49-F238E27FC236}">
                <a16:creationId xmlns:a16="http://schemas.microsoft.com/office/drawing/2014/main" id="{9AAEB0EB-88A3-F479-D1DA-7729CA8F163E}"/>
              </a:ext>
            </a:extLst>
          </p:cNvPr>
          <p:cNvSpPr/>
          <p:nvPr/>
        </p:nvSpPr>
        <p:spPr>
          <a:xfrm>
            <a:off x="1827757" y="527954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1</a:t>
            </a:r>
            <a:endParaRPr lang="en-US" sz="1400" dirty="0">
              <a:latin typeface="Segoe UI" panose="020B0502040204020203" pitchFamily="34" charset="0"/>
              <a:cs typeface="Segoe UI" panose="020B0502040204020203" pitchFamily="34" charset="0"/>
            </a:endParaRPr>
          </a:p>
        </p:txBody>
      </p:sp>
      <p:sp>
        <p:nvSpPr>
          <p:cNvPr id="11" name="Speech Bubble: Rectangle with Corners Rounded 10">
            <a:extLst>
              <a:ext uri="{FF2B5EF4-FFF2-40B4-BE49-F238E27FC236}">
                <a16:creationId xmlns:a16="http://schemas.microsoft.com/office/drawing/2014/main" id="{47AC09B4-99EB-B356-FA09-5F61776FA0E9}"/>
              </a:ext>
            </a:extLst>
          </p:cNvPr>
          <p:cNvSpPr/>
          <p:nvPr/>
        </p:nvSpPr>
        <p:spPr>
          <a:xfrm>
            <a:off x="3469250" y="4359601"/>
            <a:ext cx="2494824" cy="657180"/>
          </a:xfrm>
          <a:prstGeom prst="wedgeRoundRectCallout">
            <a:avLst>
              <a:gd name="adj1" fmla="val -25709"/>
              <a:gd name="adj2" fmla="val -6878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Access to Customer Lockbox</a:t>
            </a:r>
          </a:p>
        </p:txBody>
      </p:sp>
      <p:sp>
        <p:nvSpPr>
          <p:cNvPr id="12" name="Flowchart: Connector 11">
            <a:extLst>
              <a:ext uri="{FF2B5EF4-FFF2-40B4-BE49-F238E27FC236}">
                <a16:creationId xmlns:a16="http://schemas.microsoft.com/office/drawing/2014/main" id="{8E022E64-5B70-2692-07AB-FBF170A4CDC2}"/>
              </a:ext>
            </a:extLst>
          </p:cNvPr>
          <p:cNvSpPr/>
          <p:nvPr/>
        </p:nvSpPr>
        <p:spPr>
          <a:xfrm>
            <a:off x="6065520" y="448245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2</a:t>
            </a:r>
            <a:endParaRPr lang="en-US" sz="1400" dirty="0">
              <a:latin typeface="Segoe UI" panose="020B0502040204020203" pitchFamily="34" charset="0"/>
              <a:cs typeface="Segoe UI" panose="020B0502040204020203" pitchFamily="34" charset="0"/>
            </a:endParaRPr>
          </a:p>
        </p:txBody>
      </p:sp>
      <p:sp>
        <p:nvSpPr>
          <p:cNvPr id="13" name="Speech Bubble: Rectangle with Corners Rounded 12">
            <a:extLst>
              <a:ext uri="{FF2B5EF4-FFF2-40B4-BE49-F238E27FC236}">
                <a16:creationId xmlns:a16="http://schemas.microsoft.com/office/drawing/2014/main" id="{5041F557-AC4E-61AF-90F8-35AFFC91DA62}"/>
              </a:ext>
            </a:extLst>
          </p:cNvPr>
          <p:cNvSpPr/>
          <p:nvPr/>
        </p:nvSpPr>
        <p:spPr>
          <a:xfrm>
            <a:off x="6787685" y="3429000"/>
            <a:ext cx="2494824"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Enable/Disable Customer Lockbox</a:t>
            </a:r>
          </a:p>
        </p:txBody>
      </p:sp>
      <p:sp>
        <p:nvSpPr>
          <p:cNvPr id="14" name="Flowchart: Connector 13">
            <a:extLst>
              <a:ext uri="{FF2B5EF4-FFF2-40B4-BE49-F238E27FC236}">
                <a16:creationId xmlns:a16="http://schemas.microsoft.com/office/drawing/2014/main" id="{4067558F-2BC9-62DF-DFBB-6C1456CC0890}"/>
              </a:ext>
            </a:extLst>
          </p:cNvPr>
          <p:cNvSpPr/>
          <p:nvPr/>
        </p:nvSpPr>
        <p:spPr>
          <a:xfrm>
            <a:off x="9378485" y="361812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latin typeface="Segoe UI" panose="020B0502040204020203" pitchFamily="34" charset="0"/>
                <a:cs typeface="Segoe UI" panose="020B0502040204020203" pitchFamily="34" charset="0"/>
              </a:rPr>
              <a:t>3</a:t>
            </a:r>
            <a:endParaRPr lang="en-US"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0664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FDE8E7-37E4-DE3A-48AF-5924B279D95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7AABF04B-AC6D-F71D-16F7-151650F868C4}"/>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Compliance &amp; Auditing</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A982DDC4-B6D4-A5D8-789C-0A9750FFB052}"/>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381C71DE-D22D-C832-100A-C3605929AAFE}"/>
              </a:ext>
            </a:extLst>
          </p:cNvPr>
          <p:cNvSpPr>
            <a:spLocks noGrp="1"/>
          </p:cNvSpPr>
          <p:nvPr>
            <p:ph type="sldNum" sz="quarter" idx="12"/>
          </p:nvPr>
        </p:nvSpPr>
        <p:spPr/>
        <p:txBody>
          <a:bodyPr/>
          <a:lstStyle/>
          <a:p>
            <a:fld id="{86889C5C-8171-4CA3-86B1-670B90C02708}" type="slidenum">
              <a:rPr lang="en-GB" smtClean="0"/>
              <a:t>42</a:t>
            </a:fld>
            <a:endParaRPr lang="en-GB"/>
          </a:p>
        </p:txBody>
      </p:sp>
      <p:sp>
        <p:nvSpPr>
          <p:cNvPr id="4" name="TextBox 3">
            <a:extLst>
              <a:ext uri="{FF2B5EF4-FFF2-40B4-BE49-F238E27FC236}">
                <a16:creationId xmlns:a16="http://schemas.microsoft.com/office/drawing/2014/main" id="{9843A53C-9BD7-CFB0-5241-2A6206BE862D}"/>
              </a:ext>
            </a:extLst>
          </p:cNvPr>
          <p:cNvSpPr txBox="1"/>
          <p:nvPr/>
        </p:nvSpPr>
        <p:spPr>
          <a:xfrm>
            <a:off x="413457" y="1028226"/>
            <a:ext cx="11521439" cy="774764"/>
          </a:xfrm>
          <a:prstGeom prst="rect">
            <a:avLst/>
          </a:prstGeom>
          <a:noFill/>
        </p:spPr>
        <p:txBody>
          <a:bodyPr wrap="square" rtlCol="0">
            <a:spAutoFit/>
          </a:bodyPr>
          <a:lstStyle/>
          <a:p>
            <a:pPr algn="ctr">
              <a:lnSpc>
                <a:spcPct val="130000"/>
              </a:lnSpc>
            </a:pPr>
            <a:r>
              <a:rPr lang="en-US" dirty="0">
                <a:solidFill>
                  <a:schemeClr val="bg1"/>
                </a:solidFill>
                <a:latin typeface="Segoe UI" panose="020B0502040204020203" pitchFamily="34" charset="0"/>
                <a:cs typeface="Segoe UI" panose="020B0502040204020203" pitchFamily="34" charset="0"/>
              </a:rPr>
              <a:t>Implement robust compliance measures to safeguard organizational data and ensure adherence to industry regulations</a:t>
            </a:r>
            <a:endParaRPr lang="es-ES" dirty="0">
              <a:solidFill>
                <a:schemeClr val="bg1"/>
              </a:solidFill>
              <a:latin typeface="Segoe UI" panose="020B0502040204020203" pitchFamily="34" charset="0"/>
              <a:cs typeface="Segoe UI" panose="020B0502040204020203" pitchFamily="34" charset="0"/>
            </a:endParaRPr>
          </a:p>
        </p:txBody>
      </p:sp>
      <p:grpSp>
        <p:nvGrpSpPr>
          <p:cNvPr id="8" name="Group 7">
            <a:extLst>
              <a:ext uri="{FF2B5EF4-FFF2-40B4-BE49-F238E27FC236}">
                <a16:creationId xmlns:a16="http://schemas.microsoft.com/office/drawing/2014/main" id="{55A96FD0-6F09-F648-7FC3-EB6D9EDEB37A}"/>
              </a:ext>
            </a:extLst>
          </p:cNvPr>
          <p:cNvGrpSpPr/>
          <p:nvPr/>
        </p:nvGrpSpPr>
        <p:grpSpPr>
          <a:xfrm>
            <a:off x="4770119" y="2210236"/>
            <a:ext cx="2468880" cy="2011680"/>
            <a:chOff x="6941" y="1161888"/>
            <a:chExt cx="2461366" cy="1837358"/>
          </a:xfrm>
        </p:grpSpPr>
        <p:sp>
          <p:nvSpPr>
            <p:cNvPr id="9" name="Rectangle: Top Corners Rounded 8">
              <a:extLst>
                <a:ext uri="{FF2B5EF4-FFF2-40B4-BE49-F238E27FC236}">
                  <a16:creationId xmlns:a16="http://schemas.microsoft.com/office/drawing/2014/main" id="{B248CDD0-6C20-D304-E706-999C9AABE854}"/>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0" name="Rectangle: Top Corners Rounded 4">
              <a:extLst>
                <a:ext uri="{FF2B5EF4-FFF2-40B4-BE49-F238E27FC236}">
                  <a16:creationId xmlns:a16="http://schemas.microsoft.com/office/drawing/2014/main" id="{A018D71E-5B27-33FD-745F-88C5F8FA3B78}"/>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Dataverse, Power Apps, Power Automate, Connectors, Data Activity</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Internal and external audit</a:t>
              </a:r>
            </a:p>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Audit changes to records and user access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dirty="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11" name="Group 10">
            <a:extLst>
              <a:ext uri="{FF2B5EF4-FFF2-40B4-BE49-F238E27FC236}">
                <a16:creationId xmlns:a16="http://schemas.microsoft.com/office/drawing/2014/main" id="{7185ADA2-FE00-7E14-175C-94201AC884A4}"/>
              </a:ext>
            </a:extLst>
          </p:cNvPr>
          <p:cNvGrpSpPr/>
          <p:nvPr/>
        </p:nvGrpSpPr>
        <p:grpSpPr>
          <a:xfrm>
            <a:off x="4770114" y="4190898"/>
            <a:ext cx="2468881" cy="790063"/>
            <a:chOff x="6940" y="2999246"/>
            <a:chExt cx="2461367" cy="790063"/>
          </a:xfrm>
          <a:solidFill>
            <a:srgbClr val="ED7D31"/>
          </a:solidFill>
        </p:grpSpPr>
        <p:sp>
          <p:nvSpPr>
            <p:cNvPr id="12" name="Rectangle 11">
              <a:extLst>
                <a:ext uri="{FF2B5EF4-FFF2-40B4-BE49-F238E27FC236}">
                  <a16:creationId xmlns:a16="http://schemas.microsoft.com/office/drawing/2014/main" id="{A21EC858-767B-C77F-1521-414D2AAA2687}"/>
                </a:ext>
              </a:extLst>
            </p:cNvPr>
            <p:cNvSpPr/>
            <p:nvPr/>
          </p:nvSpPr>
          <p:spPr>
            <a:xfrm>
              <a:off x="6941"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E72AD412-6205-F7B3-C5B4-8912707DCFED}"/>
                </a:ext>
              </a:extLst>
            </p:cNvPr>
            <p:cNvSpPr txBox="1"/>
            <p:nvPr/>
          </p:nvSpPr>
          <p:spPr>
            <a:xfrm>
              <a:off x="6940" y="2999246"/>
              <a:ext cx="1870523"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Activity Logging</a:t>
              </a:r>
            </a:p>
          </p:txBody>
        </p:sp>
      </p:grpSp>
      <p:grpSp>
        <p:nvGrpSpPr>
          <p:cNvPr id="14" name="Group 13">
            <a:extLst>
              <a:ext uri="{FF2B5EF4-FFF2-40B4-BE49-F238E27FC236}">
                <a16:creationId xmlns:a16="http://schemas.microsoft.com/office/drawing/2014/main" id="{1A0E85AC-9CBC-D2A7-2F82-CA40A62897CD}"/>
              </a:ext>
            </a:extLst>
          </p:cNvPr>
          <p:cNvGrpSpPr/>
          <p:nvPr/>
        </p:nvGrpSpPr>
        <p:grpSpPr>
          <a:xfrm>
            <a:off x="7493508" y="2205140"/>
            <a:ext cx="2468880" cy="2011680"/>
            <a:chOff x="2884829" y="1161888"/>
            <a:chExt cx="2461366" cy="1837358"/>
          </a:xfrm>
        </p:grpSpPr>
        <p:sp>
          <p:nvSpPr>
            <p:cNvPr id="41" name="Rectangle: Top Corners Rounded 40">
              <a:extLst>
                <a:ext uri="{FF2B5EF4-FFF2-40B4-BE49-F238E27FC236}">
                  <a16:creationId xmlns:a16="http://schemas.microsoft.com/office/drawing/2014/main" id="{90FC0C4E-0E11-B0C1-37C2-7128BBF6D1F3}"/>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2" name="Rectangle: Top Corners Rounded 4">
              <a:extLst>
                <a:ext uri="{FF2B5EF4-FFF2-40B4-BE49-F238E27FC236}">
                  <a16:creationId xmlns:a16="http://schemas.microsoft.com/office/drawing/2014/main" id="{8842B3D6-865A-9D1E-46BE-2F58930021CF}"/>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Activities performed on Environments by the Power Platform Administrator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Lifecycle operations, property and setting change activities, security and permission change activities</a:t>
              </a:r>
            </a:p>
          </p:txBody>
        </p:sp>
      </p:grpSp>
      <p:grpSp>
        <p:nvGrpSpPr>
          <p:cNvPr id="43" name="Group 42">
            <a:extLst>
              <a:ext uri="{FF2B5EF4-FFF2-40B4-BE49-F238E27FC236}">
                <a16:creationId xmlns:a16="http://schemas.microsoft.com/office/drawing/2014/main" id="{622DB2F2-1729-2436-29B7-D0CCB1C15613}"/>
              </a:ext>
            </a:extLst>
          </p:cNvPr>
          <p:cNvGrpSpPr/>
          <p:nvPr/>
        </p:nvGrpSpPr>
        <p:grpSpPr>
          <a:xfrm>
            <a:off x="7493507" y="4199450"/>
            <a:ext cx="2468881" cy="790063"/>
            <a:chOff x="2884828" y="2999246"/>
            <a:chExt cx="2461367" cy="790063"/>
          </a:xfrm>
          <a:solidFill>
            <a:srgbClr val="A5A5A5"/>
          </a:solidFill>
        </p:grpSpPr>
        <p:sp>
          <p:nvSpPr>
            <p:cNvPr id="44" name="Rectangle 43">
              <a:extLst>
                <a:ext uri="{FF2B5EF4-FFF2-40B4-BE49-F238E27FC236}">
                  <a16:creationId xmlns:a16="http://schemas.microsoft.com/office/drawing/2014/main" id="{B903F758-68F7-7609-EB04-B765B68F6BED}"/>
                </a:ext>
              </a:extLst>
            </p:cNvPr>
            <p:cNvSpPr/>
            <p:nvPr/>
          </p:nvSpPr>
          <p:spPr>
            <a:xfrm>
              <a:off x="2884829"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8EE25B69-151D-1667-CF35-D9545CAD5A9B}"/>
                </a:ext>
              </a:extLst>
            </p:cNvPr>
            <p:cNvSpPr txBox="1"/>
            <p:nvPr/>
          </p:nvSpPr>
          <p:spPr>
            <a:xfrm>
              <a:off x="2884828" y="2999246"/>
              <a:ext cx="2023724"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noProof="0" dirty="0">
                  <a:solidFill>
                    <a:prstClr val="white"/>
                  </a:solidFill>
                  <a:latin typeface="Segoe UI" panose="020B0502040204020203" pitchFamily="34" charset="0"/>
                  <a:cs typeface="Segoe UI" panose="020B0502040204020203" pitchFamily="34" charset="0"/>
                </a:rPr>
                <a:t>Admin Activity Logging</a:t>
              </a:r>
            </a:p>
          </p:txBody>
        </p:sp>
      </p:grpSp>
      <p:grpSp>
        <p:nvGrpSpPr>
          <p:cNvPr id="46" name="Group 45">
            <a:extLst>
              <a:ext uri="{FF2B5EF4-FFF2-40B4-BE49-F238E27FC236}">
                <a16:creationId xmlns:a16="http://schemas.microsoft.com/office/drawing/2014/main" id="{F8DF9048-779E-6FF9-A7C8-C78D04017B25}"/>
              </a:ext>
            </a:extLst>
          </p:cNvPr>
          <p:cNvGrpSpPr/>
          <p:nvPr/>
        </p:nvGrpSpPr>
        <p:grpSpPr>
          <a:xfrm>
            <a:off x="2020084" y="2197915"/>
            <a:ext cx="2468880" cy="2011680"/>
            <a:chOff x="8640607" y="1161888"/>
            <a:chExt cx="2461366" cy="1837358"/>
          </a:xfrm>
        </p:grpSpPr>
        <p:sp>
          <p:nvSpPr>
            <p:cNvPr id="47" name="Rectangle: Top Corners Rounded 46">
              <a:extLst>
                <a:ext uri="{FF2B5EF4-FFF2-40B4-BE49-F238E27FC236}">
                  <a16:creationId xmlns:a16="http://schemas.microsoft.com/office/drawing/2014/main" id="{768616DC-36F4-C0DE-5652-FBCB7A7CB18E}"/>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8" name="Rectangle: Top Corners Rounded 4">
              <a:extLst>
                <a:ext uri="{FF2B5EF4-FFF2-40B4-BE49-F238E27FC236}">
                  <a16:creationId xmlns:a16="http://schemas.microsoft.com/office/drawing/2014/main" id="{B0D64A5F-E50A-0019-9E9A-A10088090734}"/>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User access and activity (records changes)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Monitor system jobs </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Audit deleted jobs</a:t>
              </a:r>
            </a:p>
            <a:p>
              <a:pPr marL="114300" lvl="1" indent="-114300" defTabSz="533400">
                <a:lnSpc>
                  <a:spcPct val="90000"/>
                </a:lnSpc>
                <a:spcBef>
                  <a:spcPct val="0"/>
                </a:spcBef>
                <a:spcAft>
                  <a:spcPct val="15000"/>
                </a:spcAft>
                <a:buFontTx/>
                <a:buChar char="•"/>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Manage log records</a:t>
              </a:r>
            </a:p>
          </p:txBody>
        </p:sp>
      </p:grpSp>
      <p:grpSp>
        <p:nvGrpSpPr>
          <p:cNvPr id="49" name="Group 48">
            <a:extLst>
              <a:ext uri="{FF2B5EF4-FFF2-40B4-BE49-F238E27FC236}">
                <a16:creationId xmlns:a16="http://schemas.microsoft.com/office/drawing/2014/main" id="{4AFA73CB-670F-7E7A-3235-5ABFDB172B9A}"/>
              </a:ext>
            </a:extLst>
          </p:cNvPr>
          <p:cNvGrpSpPr/>
          <p:nvPr/>
        </p:nvGrpSpPr>
        <p:grpSpPr>
          <a:xfrm>
            <a:off x="2017475" y="4194501"/>
            <a:ext cx="2468880" cy="790063"/>
            <a:chOff x="8632682" y="3002849"/>
            <a:chExt cx="2461366" cy="790063"/>
          </a:xfrm>
          <a:solidFill>
            <a:srgbClr val="5B9BD5"/>
          </a:solidFill>
        </p:grpSpPr>
        <p:sp>
          <p:nvSpPr>
            <p:cNvPr id="50" name="Rectangle 49">
              <a:extLst>
                <a:ext uri="{FF2B5EF4-FFF2-40B4-BE49-F238E27FC236}">
                  <a16:creationId xmlns:a16="http://schemas.microsoft.com/office/drawing/2014/main" id="{F2240623-6F0D-0A15-3AE2-4B07D1B1223F}"/>
                </a:ext>
              </a:extLst>
            </p:cNvPr>
            <p:cNvSpPr/>
            <p:nvPr/>
          </p:nvSpPr>
          <p:spPr>
            <a:xfrm>
              <a:off x="8632682" y="3002849"/>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1" name="TextBox 50">
              <a:extLst>
                <a:ext uri="{FF2B5EF4-FFF2-40B4-BE49-F238E27FC236}">
                  <a16:creationId xmlns:a16="http://schemas.microsoft.com/office/drawing/2014/main" id="{3142652B-D78E-5FE9-3F8B-47C1C5E3FB86}"/>
                </a:ext>
              </a:extLst>
            </p:cNvPr>
            <p:cNvSpPr txBox="1"/>
            <p:nvPr/>
          </p:nvSpPr>
          <p:spPr>
            <a:xfrm>
              <a:off x="8632683" y="3002849"/>
              <a:ext cx="1797715"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noProof="0" dirty="0">
                  <a:solidFill>
                    <a:prstClr val="white"/>
                  </a:solidFill>
                  <a:latin typeface="Segoe UI" panose="020B0502040204020203" pitchFamily="34" charset="0"/>
                  <a:cs typeface="Segoe UI" panose="020B0502040204020203" pitchFamily="34" charset="0"/>
                </a:rPr>
                <a:t>Dataverse Audit</a:t>
              </a:r>
            </a:p>
          </p:txBody>
        </p:sp>
      </p:grpSp>
      <p:pic>
        <p:nvPicPr>
          <p:cNvPr id="52" name="Picture 51">
            <a:extLst>
              <a:ext uri="{FF2B5EF4-FFF2-40B4-BE49-F238E27FC236}">
                <a16:creationId xmlns:a16="http://schemas.microsoft.com/office/drawing/2014/main" id="{F280354B-7627-967B-D66C-C7AECE89DBC6}"/>
              </a:ext>
            </a:extLst>
          </p:cNvPr>
          <p:cNvPicPr>
            <a:picLocks noChangeAspect="1"/>
          </p:cNvPicPr>
          <p:nvPr/>
        </p:nvPicPr>
        <p:blipFill>
          <a:blip r:embed="rId3"/>
          <a:stretch>
            <a:fillRect/>
          </a:stretch>
        </p:blipFill>
        <p:spPr>
          <a:xfrm>
            <a:off x="3797687" y="4264140"/>
            <a:ext cx="640080" cy="640080"/>
          </a:xfrm>
          <a:prstGeom prst="rect">
            <a:avLst/>
          </a:prstGeom>
        </p:spPr>
      </p:pic>
      <p:pic>
        <p:nvPicPr>
          <p:cNvPr id="53" name="Picture 52">
            <a:extLst>
              <a:ext uri="{FF2B5EF4-FFF2-40B4-BE49-F238E27FC236}">
                <a16:creationId xmlns:a16="http://schemas.microsoft.com/office/drawing/2014/main" id="{00C10541-771E-3A1A-58EF-BBE551B442E2}"/>
              </a:ext>
            </a:extLst>
          </p:cNvPr>
          <p:cNvPicPr>
            <a:picLocks noChangeAspect="1"/>
          </p:cNvPicPr>
          <p:nvPr/>
        </p:nvPicPr>
        <p:blipFill>
          <a:blip r:embed="rId4"/>
          <a:stretch>
            <a:fillRect/>
          </a:stretch>
        </p:blipFill>
        <p:spPr>
          <a:xfrm>
            <a:off x="9322308" y="4283126"/>
            <a:ext cx="640080" cy="640080"/>
          </a:xfrm>
          <a:prstGeom prst="rect">
            <a:avLst/>
          </a:prstGeom>
        </p:spPr>
      </p:pic>
      <p:pic>
        <p:nvPicPr>
          <p:cNvPr id="54" name="Picture 53">
            <a:extLst>
              <a:ext uri="{FF2B5EF4-FFF2-40B4-BE49-F238E27FC236}">
                <a16:creationId xmlns:a16="http://schemas.microsoft.com/office/drawing/2014/main" id="{A80B951F-105A-92D9-7CE4-44BAC5073E59}"/>
              </a:ext>
            </a:extLst>
          </p:cNvPr>
          <p:cNvPicPr>
            <a:picLocks noChangeAspect="1"/>
          </p:cNvPicPr>
          <p:nvPr/>
        </p:nvPicPr>
        <p:blipFill>
          <a:blip r:embed="rId5"/>
          <a:stretch>
            <a:fillRect/>
          </a:stretch>
        </p:blipFill>
        <p:spPr>
          <a:xfrm>
            <a:off x="6564597" y="4274441"/>
            <a:ext cx="640080" cy="640080"/>
          </a:xfrm>
          <a:prstGeom prst="rect">
            <a:avLst/>
          </a:prstGeom>
        </p:spPr>
      </p:pic>
      <p:grpSp>
        <p:nvGrpSpPr>
          <p:cNvPr id="55" name="Group 54">
            <a:extLst>
              <a:ext uri="{FF2B5EF4-FFF2-40B4-BE49-F238E27FC236}">
                <a16:creationId xmlns:a16="http://schemas.microsoft.com/office/drawing/2014/main" id="{D79AA128-7274-C71D-34E3-DD5521742D95}"/>
              </a:ext>
            </a:extLst>
          </p:cNvPr>
          <p:cNvGrpSpPr/>
          <p:nvPr/>
        </p:nvGrpSpPr>
        <p:grpSpPr>
          <a:xfrm>
            <a:off x="2017475" y="5156487"/>
            <a:ext cx="7936988" cy="645917"/>
            <a:chOff x="5762718" y="1161888"/>
            <a:chExt cx="2461366" cy="1837358"/>
          </a:xfrm>
        </p:grpSpPr>
        <p:sp>
          <p:nvSpPr>
            <p:cNvPr id="56" name="Rectangle: Top Corners Rounded 55">
              <a:extLst>
                <a:ext uri="{FF2B5EF4-FFF2-40B4-BE49-F238E27FC236}">
                  <a16:creationId xmlns:a16="http://schemas.microsoft.com/office/drawing/2014/main" id="{5FEE279C-9CCF-B746-C5E6-074A16E2680C}"/>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hueOff val="0"/>
                    <a:satOff val="0"/>
                    <a:lumOff val="0"/>
                    <a:alphaOff val="0"/>
                  </a:prstClr>
                </a:solidFill>
                <a:effectLst/>
                <a:uLnTx/>
                <a:uFillTx/>
                <a:latin typeface="Oswald (Body)"/>
              </a:endParaRPr>
            </a:p>
          </p:txBody>
        </p:sp>
        <p:sp>
          <p:nvSpPr>
            <p:cNvPr id="57" name="Rectangle: Top Corners Rounded 4">
              <a:extLst>
                <a:ext uri="{FF2B5EF4-FFF2-40B4-BE49-F238E27FC236}">
                  <a16:creationId xmlns:a16="http://schemas.microsoft.com/office/drawing/2014/main" id="{13A8A2A9-C2B7-3F19-DEAA-D38250AB739C}"/>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n-US" sz="1400" kern="0" dirty="0">
                  <a:solidFill>
                    <a:prstClr val="black">
                      <a:hueOff val="0"/>
                      <a:satOff val="0"/>
                      <a:lumOff val="0"/>
                      <a:alphaOff val="0"/>
                    </a:prstClr>
                  </a:solidFill>
                  <a:latin typeface="Segoe UI" panose="020B0502040204020203" pitchFamily="34" charset="0"/>
                  <a:cs typeface="Segoe UI" panose="020B0502040204020203" pitchFamily="34" charset="0"/>
                </a:rPr>
                <a:t>Capture, record, discover and retain your organization's unified audit log</a:t>
              </a:r>
            </a:p>
          </p:txBody>
        </p:sp>
      </p:grpSp>
      <p:grpSp>
        <p:nvGrpSpPr>
          <p:cNvPr id="58" name="Group 57">
            <a:extLst>
              <a:ext uri="{FF2B5EF4-FFF2-40B4-BE49-F238E27FC236}">
                <a16:creationId xmlns:a16="http://schemas.microsoft.com/office/drawing/2014/main" id="{0A004BED-E27F-59F2-B2DB-ED2C6B562F5B}"/>
              </a:ext>
            </a:extLst>
          </p:cNvPr>
          <p:cNvGrpSpPr/>
          <p:nvPr/>
        </p:nvGrpSpPr>
        <p:grpSpPr>
          <a:xfrm>
            <a:off x="2025400" y="5802404"/>
            <a:ext cx="7936988" cy="497049"/>
            <a:chOff x="5762718" y="2999246"/>
            <a:chExt cx="2461366" cy="790063"/>
          </a:xfrm>
        </p:grpSpPr>
        <p:sp>
          <p:nvSpPr>
            <p:cNvPr id="59" name="Rectangle 58">
              <a:extLst>
                <a:ext uri="{FF2B5EF4-FFF2-40B4-BE49-F238E27FC236}">
                  <a16:creationId xmlns:a16="http://schemas.microsoft.com/office/drawing/2014/main" id="{4295CA3A-DB66-1B4A-954F-BE0D718515DA}"/>
                </a:ext>
              </a:extLst>
            </p:cNvPr>
            <p:cNvSpPr/>
            <p:nvPr/>
          </p:nvSpPr>
          <p:spPr>
            <a:xfrm>
              <a:off x="5762718" y="2999246"/>
              <a:ext cx="2461366" cy="790063"/>
            </a:xfrm>
            <a:prstGeom prst="rect">
              <a:avLst/>
            </a:prstGeom>
            <a:solidFill>
              <a:srgbClr val="FFC000">
                <a:hueOff val="0"/>
                <a:satOff val="0"/>
                <a:lumOff val="0"/>
                <a:alphaOff val="0"/>
              </a:srgb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swald (Body)"/>
              </a:endParaRPr>
            </a:p>
          </p:txBody>
        </p:sp>
        <p:sp>
          <p:nvSpPr>
            <p:cNvPr id="60" name="TextBox 59">
              <a:extLst>
                <a:ext uri="{FF2B5EF4-FFF2-40B4-BE49-F238E27FC236}">
                  <a16:creationId xmlns:a16="http://schemas.microsoft.com/office/drawing/2014/main" id="{96F36EB4-A3EA-9CEF-7B7E-DD101693F109}"/>
                </a:ext>
              </a:extLst>
            </p:cNvPr>
            <p:cNvSpPr txBox="1"/>
            <p:nvPr/>
          </p:nvSpPr>
          <p:spPr>
            <a:xfrm>
              <a:off x="5762718"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dirty="0">
                  <a:solidFill>
                    <a:prstClr val="white"/>
                  </a:solidFill>
                  <a:latin typeface="Segoe UI" panose="020B0502040204020203" pitchFamily="34" charset="0"/>
                  <a:cs typeface="Segoe UI" panose="020B0502040204020203" pitchFamily="34" charset="0"/>
                </a:rPr>
                <a:t>Microsoft Purview Audit</a:t>
              </a:r>
            </a:p>
          </p:txBody>
        </p:sp>
      </p:grpSp>
      <p:pic>
        <p:nvPicPr>
          <p:cNvPr id="61" name="Picture 60">
            <a:extLst>
              <a:ext uri="{FF2B5EF4-FFF2-40B4-BE49-F238E27FC236}">
                <a16:creationId xmlns:a16="http://schemas.microsoft.com/office/drawing/2014/main" id="{0517154E-323F-2DF8-8472-21D2F9E6A9BC}"/>
              </a:ext>
            </a:extLst>
          </p:cNvPr>
          <p:cNvPicPr>
            <a:picLocks noChangeAspect="1"/>
          </p:cNvPicPr>
          <p:nvPr/>
        </p:nvPicPr>
        <p:blipFill>
          <a:blip r:embed="rId6"/>
          <a:stretch>
            <a:fillRect/>
          </a:stretch>
        </p:blipFill>
        <p:spPr>
          <a:xfrm>
            <a:off x="9523409" y="5878129"/>
            <a:ext cx="365760" cy="365760"/>
          </a:xfrm>
          <a:prstGeom prst="rect">
            <a:avLst/>
          </a:prstGeom>
        </p:spPr>
      </p:pic>
      <p:sp>
        <p:nvSpPr>
          <p:cNvPr id="62" name="Explosion: 8 Points 61">
            <a:extLst>
              <a:ext uri="{FF2B5EF4-FFF2-40B4-BE49-F238E27FC236}">
                <a16:creationId xmlns:a16="http://schemas.microsoft.com/office/drawing/2014/main" id="{504DC18F-4193-4C5E-C089-44E2C974814C}"/>
              </a:ext>
            </a:extLst>
          </p:cNvPr>
          <p:cNvSpPr/>
          <p:nvPr/>
        </p:nvSpPr>
        <p:spPr>
          <a:xfrm>
            <a:off x="9523409" y="1432447"/>
            <a:ext cx="2575458" cy="1454687"/>
          </a:xfrm>
          <a:prstGeom prst="irregularSeal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Segoe UI" panose="020B0502040204020203" pitchFamily="34" charset="0"/>
                <a:cs typeface="Segoe UI" panose="020B0502040204020203" pitchFamily="34" charset="0"/>
              </a:rPr>
              <a:t>Everything is audited in the PP!</a:t>
            </a:r>
          </a:p>
        </p:txBody>
      </p:sp>
    </p:spTree>
    <p:extLst>
      <p:ext uri="{BB962C8B-B14F-4D97-AF65-F5344CB8AC3E}">
        <p14:creationId xmlns:p14="http://schemas.microsoft.com/office/powerpoint/2010/main" val="199099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anim calcmode="lin" valueType="num">
                                      <p:cBhvr>
                                        <p:cTn id="28" dur="1000" fill="hold"/>
                                        <p:tgtEl>
                                          <p:spTgt spid="46"/>
                                        </p:tgtEl>
                                        <p:attrNameLst>
                                          <p:attrName>ppt_x</p:attrName>
                                        </p:attrNameLst>
                                      </p:cBhvr>
                                      <p:tavLst>
                                        <p:tav tm="0">
                                          <p:val>
                                            <p:strVal val="#ppt_x"/>
                                          </p:val>
                                        </p:tav>
                                        <p:tav tm="100000">
                                          <p:val>
                                            <p:strVal val="#ppt_x"/>
                                          </p:val>
                                        </p:tav>
                                      </p:tavLst>
                                    </p:anim>
                                    <p:anim calcmode="lin" valueType="num">
                                      <p:cBhvr>
                                        <p:cTn id="29" dur="1000" fill="hold"/>
                                        <p:tgtEl>
                                          <p:spTgt spid="4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1000"/>
                                        <p:tgtEl>
                                          <p:spTgt spid="49"/>
                                        </p:tgtEl>
                                      </p:cBhvr>
                                    </p:animEffect>
                                    <p:anim calcmode="lin" valueType="num">
                                      <p:cBhvr>
                                        <p:cTn id="33" dur="1000" fill="hold"/>
                                        <p:tgtEl>
                                          <p:spTgt spid="49"/>
                                        </p:tgtEl>
                                        <p:attrNameLst>
                                          <p:attrName>ppt_x</p:attrName>
                                        </p:attrNameLst>
                                      </p:cBhvr>
                                      <p:tavLst>
                                        <p:tav tm="0">
                                          <p:val>
                                            <p:strVal val="#ppt_x"/>
                                          </p:val>
                                        </p:tav>
                                        <p:tav tm="100000">
                                          <p:val>
                                            <p:strVal val="#ppt_x"/>
                                          </p:val>
                                        </p:tav>
                                      </p:tavLst>
                                    </p:anim>
                                    <p:anim calcmode="lin" valueType="num">
                                      <p:cBhvr>
                                        <p:cTn id="34" dur="1000" fill="hold"/>
                                        <p:tgtEl>
                                          <p:spTgt spid="4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1000"/>
                                        <p:tgtEl>
                                          <p:spTgt spid="52"/>
                                        </p:tgtEl>
                                      </p:cBhvr>
                                    </p:animEffect>
                                    <p:anim calcmode="lin" valueType="num">
                                      <p:cBhvr>
                                        <p:cTn id="38" dur="1000" fill="hold"/>
                                        <p:tgtEl>
                                          <p:spTgt spid="52"/>
                                        </p:tgtEl>
                                        <p:attrNameLst>
                                          <p:attrName>ppt_x</p:attrName>
                                        </p:attrNameLst>
                                      </p:cBhvr>
                                      <p:tavLst>
                                        <p:tav tm="0">
                                          <p:val>
                                            <p:strVal val="#ppt_x"/>
                                          </p:val>
                                        </p:tav>
                                        <p:tav tm="100000">
                                          <p:val>
                                            <p:strVal val="#ppt_x"/>
                                          </p:val>
                                        </p:tav>
                                      </p:tavLst>
                                    </p:anim>
                                    <p:anim calcmode="lin" valueType="num">
                                      <p:cBhvr>
                                        <p:cTn id="39" dur="1000" fill="hold"/>
                                        <p:tgtEl>
                                          <p:spTgt spid="5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1000"/>
                                        <p:tgtEl>
                                          <p:spTgt spid="53"/>
                                        </p:tgtEl>
                                      </p:cBhvr>
                                    </p:animEffect>
                                    <p:anim calcmode="lin" valueType="num">
                                      <p:cBhvr>
                                        <p:cTn id="43" dur="1000" fill="hold"/>
                                        <p:tgtEl>
                                          <p:spTgt spid="53"/>
                                        </p:tgtEl>
                                        <p:attrNameLst>
                                          <p:attrName>ppt_x</p:attrName>
                                        </p:attrNameLst>
                                      </p:cBhvr>
                                      <p:tavLst>
                                        <p:tav tm="0">
                                          <p:val>
                                            <p:strVal val="#ppt_x"/>
                                          </p:val>
                                        </p:tav>
                                        <p:tav tm="100000">
                                          <p:val>
                                            <p:strVal val="#ppt_x"/>
                                          </p:val>
                                        </p:tav>
                                      </p:tavLst>
                                    </p:anim>
                                    <p:anim calcmode="lin" valueType="num">
                                      <p:cBhvr>
                                        <p:cTn id="44" dur="1000" fill="hold"/>
                                        <p:tgtEl>
                                          <p:spTgt spid="5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fade">
                                      <p:cBhvr>
                                        <p:cTn id="47" dur="1000"/>
                                        <p:tgtEl>
                                          <p:spTgt spid="54"/>
                                        </p:tgtEl>
                                      </p:cBhvr>
                                    </p:animEffect>
                                    <p:anim calcmode="lin" valueType="num">
                                      <p:cBhvr>
                                        <p:cTn id="48" dur="1000" fill="hold"/>
                                        <p:tgtEl>
                                          <p:spTgt spid="54"/>
                                        </p:tgtEl>
                                        <p:attrNameLst>
                                          <p:attrName>ppt_x</p:attrName>
                                        </p:attrNameLst>
                                      </p:cBhvr>
                                      <p:tavLst>
                                        <p:tav tm="0">
                                          <p:val>
                                            <p:strVal val="#ppt_x"/>
                                          </p:val>
                                        </p:tav>
                                        <p:tav tm="100000">
                                          <p:val>
                                            <p:strVal val="#ppt_x"/>
                                          </p:val>
                                        </p:tav>
                                      </p:tavLst>
                                    </p:anim>
                                    <p:anim calcmode="lin" valueType="num">
                                      <p:cBhvr>
                                        <p:cTn id="49" dur="1000" fill="hold"/>
                                        <p:tgtEl>
                                          <p:spTgt spid="54"/>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1000"/>
                                        <p:tgtEl>
                                          <p:spTgt spid="55"/>
                                        </p:tgtEl>
                                      </p:cBhvr>
                                    </p:animEffect>
                                    <p:anim calcmode="lin" valueType="num">
                                      <p:cBhvr>
                                        <p:cTn id="53" dur="1000" fill="hold"/>
                                        <p:tgtEl>
                                          <p:spTgt spid="55"/>
                                        </p:tgtEl>
                                        <p:attrNameLst>
                                          <p:attrName>ppt_x</p:attrName>
                                        </p:attrNameLst>
                                      </p:cBhvr>
                                      <p:tavLst>
                                        <p:tav tm="0">
                                          <p:val>
                                            <p:strVal val="#ppt_x"/>
                                          </p:val>
                                        </p:tav>
                                        <p:tav tm="100000">
                                          <p:val>
                                            <p:strVal val="#ppt_x"/>
                                          </p:val>
                                        </p:tav>
                                      </p:tavLst>
                                    </p:anim>
                                    <p:anim calcmode="lin" valueType="num">
                                      <p:cBhvr>
                                        <p:cTn id="54" dur="1000" fill="hold"/>
                                        <p:tgtEl>
                                          <p:spTgt spid="55"/>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1000"/>
                                        <p:tgtEl>
                                          <p:spTgt spid="58"/>
                                        </p:tgtEl>
                                      </p:cBhvr>
                                    </p:animEffect>
                                    <p:anim calcmode="lin" valueType="num">
                                      <p:cBhvr>
                                        <p:cTn id="58" dur="1000" fill="hold"/>
                                        <p:tgtEl>
                                          <p:spTgt spid="58"/>
                                        </p:tgtEl>
                                        <p:attrNameLst>
                                          <p:attrName>ppt_x</p:attrName>
                                        </p:attrNameLst>
                                      </p:cBhvr>
                                      <p:tavLst>
                                        <p:tav tm="0">
                                          <p:val>
                                            <p:strVal val="#ppt_x"/>
                                          </p:val>
                                        </p:tav>
                                        <p:tav tm="100000">
                                          <p:val>
                                            <p:strVal val="#ppt_x"/>
                                          </p:val>
                                        </p:tav>
                                      </p:tavLst>
                                    </p:anim>
                                    <p:anim calcmode="lin" valueType="num">
                                      <p:cBhvr>
                                        <p:cTn id="59" dur="1000" fill="hold"/>
                                        <p:tgtEl>
                                          <p:spTgt spid="58"/>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1000"/>
                                        <p:tgtEl>
                                          <p:spTgt spid="61"/>
                                        </p:tgtEl>
                                      </p:cBhvr>
                                    </p:animEffect>
                                    <p:anim calcmode="lin" valueType="num">
                                      <p:cBhvr>
                                        <p:cTn id="63" dur="1000" fill="hold"/>
                                        <p:tgtEl>
                                          <p:spTgt spid="61"/>
                                        </p:tgtEl>
                                        <p:attrNameLst>
                                          <p:attrName>ppt_x</p:attrName>
                                        </p:attrNameLst>
                                      </p:cBhvr>
                                      <p:tavLst>
                                        <p:tav tm="0">
                                          <p:val>
                                            <p:strVal val="#ppt_x"/>
                                          </p:val>
                                        </p:tav>
                                        <p:tav tm="100000">
                                          <p:val>
                                            <p:strVal val="#ppt_x"/>
                                          </p:val>
                                        </p:tav>
                                      </p:tavLst>
                                    </p:anim>
                                    <p:anim calcmode="lin" valueType="num">
                                      <p:cBhvr>
                                        <p:cTn id="64"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grpId="0" nodeType="clickEffect">
                                  <p:stCondLst>
                                    <p:cond delay="0"/>
                                  </p:stCondLst>
                                  <p:childTnLst>
                                    <p:set>
                                      <p:cBhvr>
                                        <p:cTn id="68" dur="1" fill="hold">
                                          <p:stCondLst>
                                            <p:cond delay="0"/>
                                          </p:stCondLst>
                                        </p:cTn>
                                        <p:tgtEl>
                                          <p:spTgt spid="62"/>
                                        </p:tgtEl>
                                        <p:attrNameLst>
                                          <p:attrName>style.visibility</p:attrName>
                                        </p:attrNameLst>
                                      </p:cBhvr>
                                      <p:to>
                                        <p:strVal val="visible"/>
                                      </p:to>
                                    </p:set>
                                    <p:animEffect transition="in" filter="wipe(down)">
                                      <p:cBhvr>
                                        <p:cTn id="69" dur="580">
                                          <p:stCondLst>
                                            <p:cond delay="0"/>
                                          </p:stCondLst>
                                        </p:cTn>
                                        <p:tgtEl>
                                          <p:spTgt spid="62"/>
                                        </p:tgtEl>
                                      </p:cBhvr>
                                    </p:animEffect>
                                    <p:anim calcmode="lin" valueType="num">
                                      <p:cBhvr>
                                        <p:cTn id="70"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75" dur="26">
                                          <p:stCondLst>
                                            <p:cond delay="650"/>
                                          </p:stCondLst>
                                        </p:cTn>
                                        <p:tgtEl>
                                          <p:spTgt spid="62"/>
                                        </p:tgtEl>
                                      </p:cBhvr>
                                      <p:to x="100000" y="60000"/>
                                    </p:animScale>
                                    <p:animScale>
                                      <p:cBhvr>
                                        <p:cTn id="76" dur="166" decel="50000">
                                          <p:stCondLst>
                                            <p:cond delay="676"/>
                                          </p:stCondLst>
                                        </p:cTn>
                                        <p:tgtEl>
                                          <p:spTgt spid="62"/>
                                        </p:tgtEl>
                                      </p:cBhvr>
                                      <p:to x="100000" y="100000"/>
                                    </p:animScale>
                                    <p:animScale>
                                      <p:cBhvr>
                                        <p:cTn id="77" dur="26">
                                          <p:stCondLst>
                                            <p:cond delay="1312"/>
                                          </p:stCondLst>
                                        </p:cTn>
                                        <p:tgtEl>
                                          <p:spTgt spid="62"/>
                                        </p:tgtEl>
                                      </p:cBhvr>
                                      <p:to x="100000" y="80000"/>
                                    </p:animScale>
                                    <p:animScale>
                                      <p:cBhvr>
                                        <p:cTn id="78" dur="166" decel="50000">
                                          <p:stCondLst>
                                            <p:cond delay="1338"/>
                                          </p:stCondLst>
                                        </p:cTn>
                                        <p:tgtEl>
                                          <p:spTgt spid="62"/>
                                        </p:tgtEl>
                                      </p:cBhvr>
                                      <p:to x="100000" y="100000"/>
                                    </p:animScale>
                                    <p:animScale>
                                      <p:cBhvr>
                                        <p:cTn id="79" dur="26">
                                          <p:stCondLst>
                                            <p:cond delay="1642"/>
                                          </p:stCondLst>
                                        </p:cTn>
                                        <p:tgtEl>
                                          <p:spTgt spid="62"/>
                                        </p:tgtEl>
                                      </p:cBhvr>
                                      <p:to x="100000" y="90000"/>
                                    </p:animScale>
                                    <p:animScale>
                                      <p:cBhvr>
                                        <p:cTn id="80" dur="166" decel="50000">
                                          <p:stCondLst>
                                            <p:cond delay="1668"/>
                                          </p:stCondLst>
                                        </p:cTn>
                                        <p:tgtEl>
                                          <p:spTgt spid="62"/>
                                        </p:tgtEl>
                                      </p:cBhvr>
                                      <p:to x="100000" y="100000"/>
                                    </p:animScale>
                                    <p:animScale>
                                      <p:cBhvr>
                                        <p:cTn id="81" dur="26">
                                          <p:stCondLst>
                                            <p:cond delay="1808"/>
                                          </p:stCondLst>
                                        </p:cTn>
                                        <p:tgtEl>
                                          <p:spTgt spid="62"/>
                                        </p:tgtEl>
                                      </p:cBhvr>
                                      <p:to x="100000" y="95000"/>
                                    </p:animScale>
                                    <p:animScale>
                                      <p:cBhvr>
                                        <p:cTn id="82" dur="166" decel="50000">
                                          <p:stCondLst>
                                            <p:cond delay="1834"/>
                                          </p:stCondLst>
                                        </p:cTn>
                                        <p:tgtEl>
                                          <p:spTgt spid="6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Imagen 2">
            <a:extLst>
              <a:ext uri="{FF2B5EF4-FFF2-40B4-BE49-F238E27FC236}">
                <a16:creationId xmlns:a16="http://schemas.microsoft.com/office/drawing/2014/main" id="{AC08DF00-E43F-471C-B352-96AE92BB078C}"/>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2F90EBE4-6FF1-4CAA-A332-CE9032C241C1}"/>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a:t>
            </a:r>
            <a:r>
              <a:rPr lang="en-US" sz="3600" dirty="0">
                <a:solidFill>
                  <a:srgbClr val="FFFFFF"/>
                </a:solidFill>
                <a:latin typeface="Segoe UI Semibold" panose="020B0702040204020203" pitchFamily="34" charset="0"/>
                <a:cs typeface="Segoe UI Semibold" panose="020B0702040204020203" pitchFamily="34" charset="0"/>
              </a:rPr>
              <a:t>5</a:t>
            </a: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 Compliance &amp; Auditing</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4735142C-AE77-4CC2-9B7D-A0A77B971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14">
            <a:extLst>
              <a:ext uri="{FF2B5EF4-FFF2-40B4-BE49-F238E27FC236}">
                <a16:creationId xmlns:a16="http://schemas.microsoft.com/office/drawing/2014/main" id="{E1EBA533-A72B-44F1-B7E1-83995172C1FE}"/>
              </a:ext>
            </a:extLst>
          </p:cNvPr>
          <p:cNvSpPr txBox="1"/>
          <p:nvPr/>
        </p:nvSpPr>
        <p:spPr>
          <a:xfrm>
            <a:off x="2482809" y="6482979"/>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Tree>
    <p:extLst>
      <p:ext uri="{BB962C8B-B14F-4D97-AF65-F5344CB8AC3E}">
        <p14:creationId xmlns:p14="http://schemas.microsoft.com/office/powerpoint/2010/main" val="31810373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02236CE-B191-69C7-0B15-C658383113F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1C3F671F-642D-80C3-FD56-E22B33C515F7}"/>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Threat Detection &amp; Protection</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0ABD014E-DD66-2EE7-BBD5-474C1168A946}"/>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97ABD940-87F4-47C8-00BE-D87E76A125AC}"/>
              </a:ext>
            </a:extLst>
          </p:cNvPr>
          <p:cNvSpPr>
            <a:spLocks noGrp="1"/>
          </p:cNvSpPr>
          <p:nvPr>
            <p:ph type="sldNum" sz="quarter" idx="12"/>
          </p:nvPr>
        </p:nvSpPr>
        <p:spPr/>
        <p:txBody>
          <a:bodyPr/>
          <a:lstStyle/>
          <a:p>
            <a:fld id="{86889C5C-8171-4CA3-86B1-670B90C02708}" type="slidenum">
              <a:rPr lang="en-GB" smtClean="0"/>
              <a:t>44</a:t>
            </a:fld>
            <a:endParaRPr lang="en-GB"/>
          </a:p>
        </p:txBody>
      </p:sp>
      <p:sp>
        <p:nvSpPr>
          <p:cNvPr id="4" name="TextBox 3">
            <a:extLst>
              <a:ext uri="{FF2B5EF4-FFF2-40B4-BE49-F238E27FC236}">
                <a16:creationId xmlns:a16="http://schemas.microsoft.com/office/drawing/2014/main" id="{BB6BAB1D-D9F1-0D98-E42F-67B718A87561}"/>
              </a:ext>
            </a:extLst>
          </p:cNvPr>
          <p:cNvSpPr txBox="1"/>
          <p:nvPr/>
        </p:nvSpPr>
        <p:spPr>
          <a:xfrm>
            <a:off x="413457" y="1028226"/>
            <a:ext cx="11521439" cy="414665"/>
          </a:xfrm>
          <a:prstGeom prst="rect">
            <a:avLst/>
          </a:prstGeom>
          <a:noFill/>
        </p:spPr>
        <p:txBody>
          <a:bodyPr wrap="square" rtlCol="0">
            <a:spAutoFit/>
          </a:bodyPr>
          <a:lstStyle/>
          <a:p>
            <a:pPr algn="ctr">
              <a:lnSpc>
                <a:spcPct val="130000"/>
              </a:lnSpc>
            </a:pPr>
            <a:r>
              <a:rPr lang="en-US" dirty="0">
                <a:solidFill>
                  <a:schemeClr val="bg1"/>
                </a:solidFill>
                <a:latin typeface="Segoe UI" panose="020B0502040204020203" pitchFamily="34" charset="0"/>
                <a:cs typeface="Segoe UI" panose="020B0502040204020203" pitchFamily="34" charset="0"/>
              </a:rPr>
              <a:t>Proactively protect your organizational assets in the Power Platform through threat detection and remediation</a:t>
            </a:r>
            <a:endParaRPr lang="es-ES" dirty="0">
              <a:solidFill>
                <a:schemeClr val="bg1"/>
              </a:solidFill>
              <a:latin typeface="Segoe UI" panose="020B0502040204020203" pitchFamily="34" charset="0"/>
              <a:cs typeface="Segoe UI" panose="020B0502040204020203" pitchFamily="34" charset="0"/>
            </a:endParaRPr>
          </a:p>
        </p:txBody>
      </p:sp>
      <p:grpSp>
        <p:nvGrpSpPr>
          <p:cNvPr id="8" name="Group 7">
            <a:extLst>
              <a:ext uri="{FF2B5EF4-FFF2-40B4-BE49-F238E27FC236}">
                <a16:creationId xmlns:a16="http://schemas.microsoft.com/office/drawing/2014/main" id="{BF13F1F8-89ED-F456-0142-424AB5A3A90F}"/>
              </a:ext>
            </a:extLst>
          </p:cNvPr>
          <p:cNvGrpSpPr/>
          <p:nvPr/>
        </p:nvGrpSpPr>
        <p:grpSpPr>
          <a:xfrm>
            <a:off x="3440852" y="2554522"/>
            <a:ext cx="2468880" cy="2011680"/>
            <a:chOff x="6941" y="1161888"/>
            <a:chExt cx="2461366" cy="1837358"/>
          </a:xfrm>
        </p:grpSpPr>
        <p:sp>
          <p:nvSpPr>
            <p:cNvPr id="9" name="Rectangle: Top Corners Rounded 8">
              <a:extLst>
                <a:ext uri="{FF2B5EF4-FFF2-40B4-BE49-F238E27FC236}">
                  <a16:creationId xmlns:a16="http://schemas.microsoft.com/office/drawing/2014/main" id="{4837C589-0455-3049-5118-B818A9C97516}"/>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0" name="Rectangle: Top Corners Rounded 4">
              <a:extLst>
                <a:ext uri="{FF2B5EF4-FFF2-40B4-BE49-F238E27FC236}">
                  <a16:creationId xmlns:a16="http://schemas.microsoft.com/office/drawing/2014/main" id="{1B29F1B6-FC0D-17F5-24A4-29767FD3B4E6}"/>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Monitor and detect suspicious or malicious activities in your Power Platform environment</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Intelligent detection and responses to suspicious activities, such as mass data deletion or unauthorized app execution</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1" name="Group 10">
            <a:extLst>
              <a:ext uri="{FF2B5EF4-FFF2-40B4-BE49-F238E27FC236}">
                <a16:creationId xmlns:a16="http://schemas.microsoft.com/office/drawing/2014/main" id="{58568D52-9AA3-7D1D-6CBF-0EBB414E4C44}"/>
              </a:ext>
            </a:extLst>
          </p:cNvPr>
          <p:cNvGrpSpPr/>
          <p:nvPr/>
        </p:nvGrpSpPr>
        <p:grpSpPr>
          <a:xfrm>
            <a:off x="3440847" y="4535184"/>
            <a:ext cx="2468881" cy="790063"/>
            <a:chOff x="6940" y="2999246"/>
            <a:chExt cx="2461367" cy="790063"/>
          </a:xfrm>
          <a:solidFill>
            <a:srgbClr val="5B9BD5"/>
          </a:solidFill>
        </p:grpSpPr>
        <p:sp>
          <p:nvSpPr>
            <p:cNvPr id="12" name="Rectangle 11">
              <a:extLst>
                <a:ext uri="{FF2B5EF4-FFF2-40B4-BE49-F238E27FC236}">
                  <a16:creationId xmlns:a16="http://schemas.microsoft.com/office/drawing/2014/main" id="{D8E9A602-FCC8-F60F-1070-36C84C7207C0}"/>
                </a:ext>
              </a:extLst>
            </p:cNvPr>
            <p:cNvSpPr/>
            <p:nvPr/>
          </p:nvSpPr>
          <p:spPr>
            <a:xfrm>
              <a:off x="6941"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9CB97487-0CB5-E10B-066E-14A4EDBE6DC5}"/>
                </a:ext>
              </a:extLst>
            </p:cNvPr>
            <p:cNvSpPr txBox="1"/>
            <p:nvPr/>
          </p:nvSpPr>
          <p:spPr>
            <a:xfrm>
              <a:off x="6940" y="2999246"/>
              <a:ext cx="1870523"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Microsoft </a:t>
              </a:r>
              <a:r>
                <a:rPr kumimoji="0" lang="es-ES" sz="1600" b="1" i="0" u="none" strike="noStrike" kern="0" cap="none" spc="0" normalizeH="0" baseline="0" noProof="0" dirty="0" err="1">
                  <a:ln>
                    <a:noFill/>
                  </a:ln>
                  <a:solidFill>
                    <a:prstClr val="white"/>
                  </a:solidFill>
                  <a:effectLst/>
                  <a:uLnTx/>
                  <a:uFillTx/>
                  <a:latin typeface="Segoe UI" panose="020B0502040204020203" pitchFamily="34" charset="0"/>
                  <a:cs typeface="Segoe UI" panose="020B0502040204020203" pitchFamily="34" charset="0"/>
                </a:rPr>
                <a:t>Sentinel</a:t>
              </a:r>
              <a:r>
                <a:rPr kumimoji="0" lang="es-E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 </a:t>
              </a:r>
              <a:r>
                <a:rPr kumimoji="0" lang="es-ES" sz="1600" b="1" i="0" u="none" strike="noStrike" kern="0" cap="none" spc="0" normalizeH="0" baseline="0" noProof="0" dirty="0" err="1">
                  <a:ln>
                    <a:noFill/>
                  </a:ln>
                  <a:solidFill>
                    <a:prstClr val="white"/>
                  </a:solidFill>
                  <a:effectLst/>
                  <a:uLnTx/>
                  <a:uFillTx/>
                  <a:latin typeface="Segoe UI" panose="020B0502040204020203" pitchFamily="34" charset="0"/>
                  <a:cs typeface="Segoe UI" panose="020B0502040204020203" pitchFamily="34" charset="0"/>
                </a:rPr>
                <a:t>Integration</a:t>
              </a:r>
              <a:endParaRPr kumimoji="0" lang="es-ES" sz="1600" b="1" i="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14" name="Group 13">
            <a:extLst>
              <a:ext uri="{FF2B5EF4-FFF2-40B4-BE49-F238E27FC236}">
                <a16:creationId xmlns:a16="http://schemas.microsoft.com/office/drawing/2014/main" id="{616A6A03-3573-46E3-BCAD-8C40452A1808}"/>
              </a:ext>
            </a:extLst>
          </p:cNvPr>
          <p:cNvGrpSpPr/>
          <p:nvPr/>
        </p:nvGrpSpPr>
        <p:grpSpPr>
          <a:xfrm>
            <a:off x="6164241" y="2549426"/>
            <a:ext cx="2468880" cy="2011680"/>
            <a:chOff x="2884829" y="1161888"/>
            <a:chExt cx="2461366" cy="1837358"/>
          </a:xfrm>
        </p:grpSpPr>
        <p:sp>
          <p:nvSpPr>
            <p:cNvPr id="41" name="Rectangle: Top Corners Rounded 40">
              <a:extLst>
                <a:ext uri="{FF2B5EF4-FFF2-40B4-BE49-F238E27FC236}">
                  <a16:creationId xmlns:a16="http://schemas.microsoft.com/office/drawing/2014/main" id="{6D57366A-30AD-FC78-1449-1E02DF7BB952}"/>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2" name="Rectangle: Top Corners Rounded 4">
              <a:extLst>
                <a:ext uri="{FF2B5EF4-FFF2-40B4-BE49-F238E27FC236}">
                  <a16:creationId xmlns:a16="http://schemas.microsoft.com/office/drawing/2014/main" id="{0D43D073-9F45-C28F-0393-CA345ED73AF7}"/>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noProof="0" dirty="0">
                  <a:solidFill>
                    <a:prstClr val="black">
                      <a:hueOff val="0"/>
                      <a:satOff val="0"/>
                      <a:lumOff val="0"/>
                      <a:alphaOff val="0"/>
                    </a:prstClr>
                  </a:solidFill>
                  <a:latin typeface="Segoe UI" panose="020B0502040204020203" pitchFamily="34" charset="0"/>
                  <a:cs typeface="Segoe UI" panose="020B0502040204020203" pitchFamily="34" charset="0"/>
                </a:rPr>
                <a:t>Monitor agents' capabilities and security by means of an external threads detection system</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If the system detects any suspicious tools or actions, it can intervene to block them from executing</a:t>
              </a:r>
            </a:p>
            <a:p>
              <a:pPr marL="114300" lvl="1" indent="-114300" defTabSz="533400">
                <a:lnSpc>
                  <a:spcPct val="90000"/>
                </a:lnSpc>
                <a:spcBef>
                  <a:spcPct val="0"/>
                </a:spcBef>
                <a:spcAft>
                  <a:spcPct val="15000"/>
                </a:spcAft>
                <a:buFontTx/>
                <a:buChar char="•"/>
                <a:defRPr/>
              </a:pPr>
              <a:r>
                <a:rPr lang="en-US" sz="1300" kern="0" noProof="0" dirty="0">
                  <a:solidFill>
                    <a:prstClr val="black">
                      <a:hueOff val="0"/>
                      <a:satOff val="0"/>
                      <a:lumOff val="0"/>
                      <a:alphaOff val="0"/>
                    </a:prstClr>
                  </a:solidFill>
                  <a:latin typeface="Segoe UI" panose="020B0502040204020203" pitchFamily="34" charset="0"/>
                  <a:cs typeface="Segoe UI" panose="020B0502040204020203" pitchFamily="34" charset="0"/>
                </a:rPr>
                <a:t>External Systems: Custom | Microsoft Defender | 3 Party</a:t>
              </a:r>
            </a:p>
          </p:txBody>
        </p:sp>
      </p:grpSp>
      <p:grpSp>
        <p:nvGrpSpPr>
          <p:cNvPr id="43" name="Group 42">
            <a:extLst>
              <a:ext uri="{FF2B5EF4-FFF2-40B4-BE49-F238E27FC236}">
                <a16:creationId xmlns:a16="http://schemas.microsoft.com/office/drawing/2014/main" id="{8407FC0D-18C8-380E-EE87-B6149E332E29}"/>
              </a:ext>
            </a:extLst>
          </p:cNvPr>
          <p:cNvGrpSpPr/>
          <p:nvPr/>
        </p:nvGrpSpPr>
        <p:grpSpPr>
          <a:xfrm>
            <a:off x="6164240" y="4543736"/>
            <a:ext cx="2468881" cy="790063"/>
            <a:chOff x="2884828" y="2999246"/>
            <a:chExt cx="2461367" cy="790063"/>
          </a:xfrm>
          <a:solidFill>
            <a:srgbClr val="ED7D31"/>
          </a:solidFill>
        </p:grpSpPr>
        <p:sp>
          <p:nvSpPr>
            <p:cNvPr id="44" name="Rectangle 43">
              <a:extLst>
                <a:ext uri="{FF2B5EF4-FFF2-40B4-BE49-F238E27FC236}">
                  <a16:creationId xmlns:a16="http://schemas.microsoft.com/office/drawing/2014/main" id="{4D076B53-06F9-3FA0-4BAB-47B4E32FBF47}"/>
                </a:ext>
              </a:extLst>
            </p:cNvPr>
            <p:cNvSpPr/>
            <p:nvPr/>
          </p:nvSpPr>
          <p:spPr>
            <a:xfrm>
              <a:off x="2884829"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160F3E49-2949-9AF3-3F41-28EFC03C898B}"/>
                </a:ext>
              </a:extLst>
            </p:cNvPr>
            <p:cNvSpPr txBox="1"/>
            <p:nvPr/>
          </p:nvSpPr>
          <p:spPr>
            <a:xfrm>
              <a:off x="2884828" y="2999246"/>
              <a:ext cx="2023724"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noProof="0" dirty="0">
                  <a:solidFill>
                    <a:prstClr val="white"/>
                  </a:solidFill>
                  <a:latin typeface="Segoe UI" panose="020B0502040204020203" pitchFamily="34" charset="0"/>
                  <a:cs typeface="Segoe UI" panose="020B0502040204020203" pitchFamily="34" charset="0"/>
                </a:rPr>
                <a:t>Thread Detection and Protection for Copilot Agents</a:t>
              </a:r>
            </a:p>
          </p:txBody>
        </p:sp>
      </p:grpSp>
      <p:grpSp>
        <p:nvGrpSpPr>
          <p:cNvPr id="46" name="Group 45">
            <a:extLst>
              <a:ext uri="{FF2B5EF4-FFF2-40B4-BE49-F238E27FC236}">
                <a16:creationId xmlns:a16="http://schemas.microsoft.com/office/drawing/2014/main" id="{36C44681-B698-53BD-6CB6-50EF6C57F6E5}"/>
              </a:ext>
            </a:extLst>
          </p:cNvPr>
          <p:cNvGrpSpPr/>
          <p:nvPr/>
        </p:nvGrpSpPr>
        <p:grpSpPr>
          <a:xfrm>
            <a:off x="690817" y="2542201"/>
            <a:ext cx="2468880" cy="2011680"/>
            <a:chOff x="8640607" y="1161888"/>
            <a:chExt cx="2461366" cy="1837358"/>
          </a:xfrm>
        </p:grpSpPr>
        <p:sp>
          <p:nvSpPr>
            <p:cNvPr id="47" name="Rectangle: Top Corners Rounded 46">
              <a:extLst>
                <a:ext uri="{FF2B5EF4-FFF2-40B4-BE49-F238E27FC236}">
                  <a16:creationId xmlns:a16="http://schemas.microsoft.com/office/drawing/2014/main" id="{2918C5A3-853E-CCB6-3682-8F662F99C048}"/>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8" name="Rectangle: Top Corners Rounded 4">
              <a:extLst>
                <a:ext uri="{FF2B5EF4-FFF2-40B4-BE49-F238E27FC236}">
                  <a16:creationId xmlns:a16="http://schemas.microsoft.com/office/drawing/2014/main" id="{731505C3-9C9A-CF47-66F5-7858886EE487}"/>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Comprehensive static analysis of your solution objects against a set of best practice rules</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Identify problematic patterns in solution components and receive detailed reports that highlight issues</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n-US" sz="1300" kern="0" noProof="0" dirty="0">
                  <a:solidFill>
                    <a:prstClr val="black">
                      <a:hueOff val="0"/>
                      <a:satOff val="0"/>
                      <a:lumOff val="0"/>
                      <a:alphaOff val="0"/>
                    </a:prstClr>
                  </a:solidFill>
                  <a:latin typeface="Segoe UI" panose="020B0502040204020203" pitchFamily="34" charset="0"/>
                  <a:cs typeface="Segoe UI" panose="020B0502040204020203" pitchFamily="34" charset="0"/>
                </a:rPr>
                <a:t>Available for managed environments</a:t>
              </a:r>
            </a:p>
          </p:txBody>
        </p:sp>
      </p:grpSp>
      <p:grpSp>
        <p:nvGrpSpPr>
          <p:cNvPr id="49" name="Group 48">
            <a:extLst>
              <a:ext uri="{FF2B5EF4-FFF2-40B4-BE49-F238E27FC236}">
                <a16:creationId xmlns:a16="http://schemas.microsoft.com/office/drawing/2014/main" id="{924B0367-5A2D-D93D-3BCB-5642F00D66E9}"/>
              </a:ext>
            </a:extLst>
          </p:cNvPr>
          <p:cNvGrpSpPr/>
          <p:nvPr/>
        </p:nvGrpSpPr>
        <p:grpSpPr>
          <a:xfrm>
            <a:off x="688208" y="4538787"/>
            <a:ext cx="2468880" cy="790063"/>
            <a:chOff x="8632682" y="3002849"/>
            <a:chExt cx="2461366" cy="790063"/>
          </a:xfrm>
          <a:solidFill>
            <a:srgbClr val="FFC000"/>
          </a:solidFill>
        </p:grpSpPr>
        <p:sp>
          <p:nvSpPr>
            <p:cNvPr id="50" name="Rectangle 49">
              <a:extLst>
                <a:ext uri="{FF2B5EF4-FFF2-40B4-BE49-F238E27FC236}">
                  <a16:creationId xmlns:a16="http://schemas.microsoft.com/office/drawing/2014/main" id="{1E2D2049-9A69-F987-85E5-2C3A50956D9B}"/>
                </a:ext>
              </a:extLst>
            </p:cNvPr>
            <p:cNvSpPr/>
            <p:nvPr/>
          </p:nvSpPr>
          <p:spPr>
            <a:xfrm>
              <a:off x="8632682" y="3002849"/>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1" name="TextBox 50">
              <a:extLst>
                <a:ext uri="{FF2B5EF4-FFF2-40B4-BE49-F238E27FC236}">
                  <a16:creationId xmlns:a16="http://schemas.microsoft.com/office/drawing/2014/main" id="{62D52F0C-5C2C-17A8-A5BB-11D10603FF9C}"/>
                </a:ext>
              </a:extLst>
            </p:cNvPr>
            <p:cNvSpPr txBox="1"/>
            <p:nvPr/>
          </p:nvSpPr>
          <p:spPr>
            <a:xfrm>
              <a:off x="8632683" y="3002849"/>
              <a:ext cx="1797715"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err="1">
                  <a:solidFill>
                    <a:prstClr val="white"/>
                  </a:solidFill>
                  <a:latin typeface="Segoe UI" panose="020B0502040204020203" pitchFamily="34" charset="0"/>
                  <a:cs typeface="Segoe UI" panose="020B0502040204020203" pitchFamily="34" charset="0"/>
                </a:rPr>
                <a:t>Solution</a:t>
              </a:r>
              <a:r>
                <a:rPr lang="es-ES" sz="1600" b="1" kern="0">
                  <a:solidFill>
                    <a:prstClr val="white"/>
                  </a:solidFill>
                  <a:latin typeface="Segoe UI" panose="020B0502040204020203" pitchFamily="34" charset="0"/>
                  <a:cs typeface="Segoe UI" panose="020B0502040204020203" pitchFamily="34" charset="0"/>
                </a:rPr>
                <a:t> </a:t>
              </a:r>
              <a:r>
                <a:rPr lang="es-ES" sz="1600" b="1" kern="0" err="1">
                  <a:solidFill>
                    <a:prstClr val="white"/>
                  </a:solidFill>
                  <a:latin typeface="Segoe UI" panose="020B0502040204020203" pitchFamily="34" charset="0"/>
                  <a:cs typeface="Segoe UI" panose="020B0502040204020203" pitchFamily="34" charset="0"/>
                </a:rPr>
                <a:t>Checker</a:t>
              </a:r>
              <a:endParaRPr lang="fr-FR" sz="1600" b="1" kern="0">
                <a:solidFill>
                  <a:prstClr val="white"/>
                </a:solidFill>
                <a:latin typeface="Segoe UI" panose="020B0502040204020203" pitchFamily="34" charset="0"/>
                <a:cs typeface="Segoe UI" panose="020B0502040204020203" pitchFamily="34" charset="0"/>
              </a:endParaRPr>
            </a:p>
          </p:txBody>
        </p:sp>
      </p:grpSp>
      <p:grpSp>
        <p:nvGrpSpPr>
          <p:cNvPr id="52" name="Group 51">
            <a:extLst>
              <a:ext uri="{FF2B5EF4-FFF2-40B4-BE49-F238E27FC236}">
                <a16:creationId xmlns:a16="http://schemas.microsoft.com/office/drawing/2014/main" id="{4960B684-602B-C730-E234-C755D5C8A6E8}"/>
              </a:ext>
            </a:extLst>
          </p:cNvPr>
          <p:cNvGrpSpPr/>
          <p:nvPr/>
        </p:nvGrpSpPr>
        <p:grpSpPr>
          <a:xfrm>
            <a:off x="8924374" y="2523504"/>
            <a:ext cx="2468880" cy="2011680"/>
            <a:chOff x="2884829" y="1161888"/>
            <a:chExt cx="2461366" cy="1837358"/>
          </a:xfrm>
        </p:grpSpPr>
        <p:sp>
          <p:nvSpPr>
            <p:cNvPr id="53" name="Rectangle: Top Corners Rounded 52">
              <a:extLst>
                <a:ext uri="{FF2B5EF4-FFF2-40B4-BE49-F238E27FC236}">
                  <a16:creationId xmlns:a16="http://schemas.microsoft.com/office/drawing/2014/main" id="{F2AAA72D-7181-8897-2B63-C565CF5ECD64}"/>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54" name="Rectangle: Top Corners Rounded 4">
              <a:extLst>
                <a:ext uri="{FF2B5EF4-FFF2-40B4-BE49-F238E27FC236}">
                  <a16:creationId xmlns:a16="http://schemas.microsoft.com/office/drawing/2014/main" id="{3ABD5A4E-EC85-1C1D-181E-D18E0E784FD3}"/>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Monitors agent behavior in your tenant and helps detect cross-domain prompt injection attacks (XPIA) in real time</a:t>
              </a:r>
            </a:p>
            <a:p>
              <a:pPr marL="114300" lvl="1" indent="-114300" defTabSz="533400">
                <a:lnSpc>
                  <a:spcPct val="90000"/>
                </a:lnSpc>
                <a:spcBef>
                  <a:spcPct val="0"/>
                </a:spcBef>
                <a:spcAft>
                  <a:spcPct val="15000"/>
                </a:spcAft>
                <a:buFontTx/>
                <a:buChar char="•"/>
                <a:defRPr/>
              </a:pPr>
              <a:r>
                <a:rPr lang="en-US" sz="1300" kern="0" dirty="0">
                  <a:solidFill>
                    <a:prstClr val="black">
                      <a:hueOff val="0"/>
                      <a:satOff val="0"/>
                      <a:lumOff val="0"/>
                      <a:alphaOff val="0"/>
                    </a:prstClr>
                  </a:solidFill>
                  <a:latin typeface="Segoe UI" panose="020B0502040204020203" pitchFamily="34" charset="0"/>
                  <a:cs typeface="Segoe UI" panose="020B0502040204020203" pitchFamily="34" charset="0"/>
                </a:rPr>
                <a:t>Messages inspection before the Agent takes any action, and blocking them if they are suspicious</a:t>
              </a:r>
              <a:endParaRPr lang="es-ES" sz="1300" kern="0" dirty="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55" name="Group 54">
            <a:extLst>
              <a:ext uri="{FF2B5EF4-FFF2-40B4-BE49-F238E27FC236}">
                <a16:creationId xmlns:a16="http://schemas.microsoft.com/office/drawing/2014/main" id="{B496CD95-4021-D25F-6B9C-7EC71DF0309E}"/>
              </a:ext>
            </a:extLst>
          </p:cNvPr>
          <p:cNvGrpSpPr/>
          <p:nvPr/>
        </p:nvGrpSpPr>
        <p:grpSpPr>
          <a:xfrm>
            <a:off x="8924374" y="4517814"/>
            <a:ext cx="2468880" cy="790063"/>
            <a:chOff x="2884829" y="2999246"/>
            <a:chExt cx="2461366" cy="790063"/>
          </a:xfrm>
          <a:solidFill>
            <a:srgbClr val="A5A5A5"/>
          </a:solidFill>
        </p:grpSpPr>
        <p:sp>
          <p:nvSpPr>
            <p:cNvPr id="56" name="Rectangle 55">
              <a:extLst>
                <a:ext uri="{FF2B5EF4-FFF2-40B4-BE49-F238E27FC236}">
                  <a16:creationId xmlns:a16="http://schemas.microsoft.com/office/drawing/2014/main" id="{BDF9319D-3AE9-0D52-A6A9-3FDE80C40D8F}"/>
                </a:ext>
              </a:extLst>
            </p:cNvPr>
            <p:cNvSpPr/>
            <p:nvPr/>
          </p:nvSpPr>
          <p:spPr>
            <a:xfrm>
              <a:off x="2884829"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7" name="TextBox 56">
              <a:extLst>
                <a:ext uri="{FF2B5EF4-FFF2-40B4-BE49-F238E27FC236}">
                  <a16:creationId xmlns:a16="http://schemas.microsoft.com/office/drawing/2014/main" id="{13DBA9D0-61D3-8A5E-4DD4-9BA807C161BE}"/>
                </a:ext>
              </a:extLst>
            </p:cNvPr>
            <p:cNvSpPr txBox="1"/>
            <p:nvPr/>
          </p:nvSpPr>
          <p:spPr>
            <a:xfrm>
              <a:off x="2884829" y="2999246"/>
              <a:ext cx="1733356"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dirty="0">
                  <a:solidFill>
                    <a:prstClr val="white"/>
                  </a:solidFill>
                  <a:latin typeface="Segoe UI" panose="020B0502040204020203" pitchFamily="34" charset="0"/>
                  <a:cs typeface="Segoe UI" panose="020B0502040204020203" pitchFamily="34" charset="0"/>
                </a:rPr>
                <a:t>Microsoft Defender for </a:t>
              </a:r>
              <a:r>
                <a:rPr lang="fr-FR" sz="1600" b="1" kern="0" dirty="0" err="1">
                  <a:solidFill>
                    <a:prstClr val="white"/>
                  </a:solidFill>
                  <a:latin typeface="Segoe UI" panose="020B0502040204020203" pitchFamily="34" charset="0"/>
                  <a:cs typeface="Segoe UI" panose="020B0502040204020203" pitchFamily="34" charset="0"/>
                </a:rPr>
                <a:t>Copilot</a:t>
              </a:r>
              <a:r>
                <a:rPr lang="fr-FR" sz="1600" b="1" kern="0" dirty="0">
                  <a:solidFill>
                    <a:prstClr val="white"/>
                  </a:solidFill>
                  <a:latin typeface="Segoe UI" panose="020B0502040204020203" pitchFamily="34" charset="0"/>
                  <a:cs typeface="Segoe UI" panose="020B0502040204020203" pitchFamily="34" charset="0"/>
                </a:rPr>
                <a:t> Agents</a:t>
              </a:r>
            </a:p>
          </p:txBody>
        </p:sp>
      </p:grpSp>
      <p:pic>
        <p:nvPicPr>
          <p:cNvPr id="58" name="Picture 57">
            <a:extLst>
              <a:ext uri="{FF2B5EF4-FFF2-40B4-BE49-F238E27FC236}">
                <a16:creationId xmlns:a16="http://schemas.microsoft.com/office/drawing/2014/main" id="{DD389656-5EC5-5ED1-99A0-C10D75FAB3BB}"/>
              </a:ext>
            </a:extLst>
          </p:cNvPr>
          <p:cNvPicPr>
            <a:picLocks noChangeAspect="1"/>
          </p:cNvPicPr>
          <p:nvPr/>
        </p:nvPicPr>
        <p:blipFill>
          <a:blip r:embed="rId3"/>
          <a:stretch>
            <a:fillRect/>
          </a:stretch>
        </p:blipFill>
        <p:spPr>
          <a:xfrm>
            <a:off x="2491412" y="4653749"/>
            <a:ext cx="640080" cy="640080"/>
          </a:xfrm>
          <a:prstGeom prst="rect">
            <a:avLst/>
          </a:prstGeom>
        </p:spPr>
      </p:pic>
      <p:pic>
        <p:nvPicPr>
          <p:cNvPr id="59" name="Picture 58">
            <a:extLst>
              <a:ext uri="{FF2B5EF4-FFF2-40B4-BE49-F238E27FC236}">
                <a16:creationId xmlns:a16="http://schemas.microsoft.com/office/drawing/2014/main" id="{BAC01BB6-8DF4-661E-4622-85F720D09CDD}"/>
              </a:ext>
            </a:extLst>
          </p:cNvPr>
          <p:cNvPicPr>
            <a:picLocks noChangeAspect="1"/>
          </p:cNvPicPr>
          <p:nvPr/>
        </p:nvPicPr>
        <p:blipFill>
          <a:blip r:embed="rId4"/>
          <a:stretch>
            <a:fillRect/>
          </a:stretch>
        </p:blipFill>
        <p:spPr>
          <a:xfrm>
            <a:off x="5204120" y="4613339"/>
            <a:ext cx="640080" cy="640080"/>
          </a:xfrm>
          <a:prstGeom prst="rect">
            <a:avLst/>
          </a:prstGeom>
        </p:spPr>
      </p:pic>
      <p:pic>
        <p:nvPicPr>
          <p:cNvPr id="60" name="Picture 59">
            <a:extLst>
              <a:ext uri="{FF2B5EF4-FFF2-40B4-BE49-F238E27FC236}">
                <a16:creationId xmlns:a16="http://schemas.microsoft.com/office/drawing/2014/main" id="{CD2D7292-62B9-95C5-C50B-BC8B45DC6B35}"/>
              </a:ext>
            </a:extLst>
          </p:cNvPr>
          <p:cNvPicPr>
            <a:picLocks noChangeAspect="1"/>
          </p:cNvPicPr>
          <p:nvPr/>
        </p:nvPicPr>
        <p:blipFill>
          <a:blip r:embed="rId5"/>
          <a:stretch>
            <a:fillRect/>
          </a:stretch>
        </p:blipFill>
        <p:spPr>
          <a:xfrm>
            <a:off x="7983105" y="4616710"/>
            <a:ext cx="640080" cy="640080"/>
          </a:xfrm>
          <a:prstGeom prst="rect">
            <a:avLst/>
          </a:prstGeom>
        </p:spPr>
      </p:pic>
      <p:pic>
        <p:nvPicPr>
          <p:cNvPr id="61" name="Picture 60">
            <a:extLst>
              <a:ext uri="{FF2B5EF4-FFF2-40B4-BE49-F238E27FC236}">
                <a16:creationId xmlns:a16="http://schemas.microsoft.com/office/drawing/2014/main" id="{2E2EC6C5-FAB2-F339-6A2E-9748165E3DB0}"/>
              </a:ext>
            </a:extLst>
          </p:cNvPr>
          <p:cNvPicPr>
            <a:picLocks noChangeAspect="1"/>
          </p:cNvPicPr>
          <p:nvPr/>
        </p:nvPicPr>
        <p:blipFill>
          <a:blip r:embed="rId6"/>
          <a:stretch>
            <a:fillRect/>
          </a:stretch>
        </p:blipFill>
        <p:spPr>
          <a:xfrm>
            <a:off x="10708098" y="4616710"/>
            <a:ext cx="640080" cy="640080"/>
          </a:xfrm>
          <a:prstGeom prst="rect">
            <a:avLst/>
          </a:prstGeom>
        </p:spPr>
      </p:pic>
    </p:spTree>
    <p:extLst>
      <p:ext uri="{BB962C8B-B14F-4D97-AF65-F5344CB8AC3E}">
        <p14:creationId xmlns:p14="http://schemas.microsoft.com/office/powerpoint/2010/main" val="230643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anim calcmode="lin" valueType="num">
                                      <p:cBhvr>
                                        <p:cTn id="28" dur="1000" fill="hold"/>
                                        <p:tgtEl>
                                          <p:spTgt spid="46"/>
                                        </p:tgtEl>
                                        <p:attrNameLst>
                                          <p:attrName>ppt_x</p:attrName>
                                        </p:attrNameLst>
                                      </p:cBhvr>
                                      <p:tavLst>
                                        <p:tav tm="0">
                                          <p:val>
                                            <p:strVal val="#ppt_x"/>
                                          </p:val>
                                        </p:tav>
                                        <p:tav tm="100000">
                                          <p:val>
                                            <p:strVal val="#ppt_x"/>
                                          </p:val>
                                        </p:tav>
                                      </p:tavLst>
                                    </p:anim>
                                    <p:anim calcmode="lin" valueType="num">
                                      <p:cBhvr>
                                        <p:cTn id="29" dur="1000" fill="hold"/>
                                        <p:tgtEl>
                                          <p:spTgt spid="4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1000"/>
                                        <p:tgtEl>
                                          <p:spTgt spid="49"/>
                                        </p:tgtEl>
                                      </p:cBhvr>
                                    </p:animEffect>
                                    <p:anim calcmode="lin" valueType="num">
                                      <p:cBhvr>
                                        <p:cTn id="33" dur="1000" fill="hold"/>
                                        <p:tgtEl>
                                          <p:spTgt spid="49"/>
                                        </p:tgtEl>
                                        <p:attrNameLst>
                                          <p:attrName>ppt_x</p:attrName>
                                        </p:attrNameLst>
                                      </p:cBhvr>
                                      <p:tavLst>
                                        <p:tav tm="0">
                                          <p:val>
                                            <p:strVal val="#ppt_x"/>
                                          </p:val>
                                        </p:tav>
                                        <p:tav tm="100000">
                                          <p:val>
                                            <p:strVal val="#ppt_x"/>
                                          </p:val>
                                        </p:tav>
                                      </p:tavLst>
                                    </p:anim>
                                    <p:anim calcmode="lin" valueType="num">
                                      <p:cBhvr>
                                        <p:cTn id="34" dur="1000" fill="hold"/>
                                        <p:tgtEl>
                                          <p:spTgt spid="4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1000"/>
                                        <p:tgtEl>
                                          <p:spTgt spid="52"/>
                                        </p:tgtEl>
                                      </p:cBhvr>
                                    </p:animEffect>
                                    <p:anim calcmode="lin" valueType="num">
                                      <p:cBhvr>
                                        <p:cTn id="38" dur="1000" fill="hold"/>
                                        <p:tgtEl>
                                          <p:spTgt spid="52"/>
                                        </p:tgtEl>
                                        <p:attrNameLst>
                                          <p:attrName>ppt_x</p:attrName>
                                        </p:attrNameLst>
                                      </p:cBhvr>
                                      <p:tavLst>
                                        <p:tav tm="0">
                                          <p:val>
                                            <p:strVal val="#ppt_x"/>
                                          </p:val>
                                        </p:tav>
                                        <p:tav tm="100000">
                                          <p:val>
                                            <p:strVal val="#ppt_x"/>
                                          </p:val>
                                        </p:tav>
                                      </p:tavLst>
                                    </p:anim>
                                    <p:anim calcmode="lin" valueType="num">
                                      <p:cBhvr>
                                        <p:cTn id="39" dur="1000" fill="hold"/>
                                        <p:tgtEl>
                                          <p:spTgt spid="5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1000"/>
                                        <p:tgtEl>
                                          <p:spTgt spid="55"/>
                                        </p:tgtEl>
                                      </p:cBhvr>
                                    </p:animEffect>
                                    <p:anim calcmode="lin" valueType="num">
                                      <p:cBhvr>
                                        <p:cTn id="43" dur="1000" fill="hold"/>
                                        <p:tgtEl>
                                          <p:spTgt spid="55"/>
                                        </p:tgtEl>
                                        <p:attrNameLst>
                                          <p:attrName>ppt_x</p:attrName>
                                        </p:attrNameLst>
                                      </p:cBhvr>
                                      <p:tavLst>
                                        <p:tav tm="0">
                                          <p:val>
                                            <p:strVal val="#ppt_x"/>
                                          </p:val>
                                        </p:tav>
                                        <p:tav tm="100000">
                                          <p:val>
                                            <p:strVal val="#ppt_x"/>
                                          </p:val>
                                        </p:tav>
                                      </p:tavLst>
                                    </p:anim>
                                    <p:anim calcmode="lin" valueType="num">
                                      <p:cBhvr>
                                        <p:cTn id="44" dur="1000" fill="hold"/>
                                        <p:tgtEl>
                                          <p:spTgt spid="5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1000"/>
                                        <p:tgtEl>
                                          <p:spTgt spid="58"/>
                                        </p:tgtEl>
                                      </p:cBhvr>
                                    </p:animEffect>
                                    <p:anim calcmode="lin" valueType="num">
                                      <p:cBhvr>
                                        <p:cTn id="48" dur="1000" fill="hold"/>
                                        <p:tgtEl>
                                          <p:spTgt spid="58"/>
                                        </p:tgtEl>
                                        <p:attrNameLst>
                                          <p:attrName>ppt_x</p:attrName>
                                        </p:attrNameLst>
                                      </p:cBhvr>
                                      <p:tavLst>
                                        <p:tav tm="0">
                                          <p:val>
                                            <p:strVal val="#ppt_x"/>
                                          </p:val>
                                        </p:tav>
                                        <p:tav tm="100000">
                                          <p:val>
                                            <p:strVal val="#ppt_x"/>
                                          </p:val>
                                        </p:tav>
                                      </p:tavLst>
                                    </p:anim>
                                    <p:anim calcmode="lin" valueType="num">
                                      <p:cBhvr>
                                        <p:cTn id="49" dur="1000" fill="hold"/>
                                        <p:tgtEl>
                                          <p:spTgt spid="5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fade">
                                      <p:cBhvr>
                                        <p:cTn id="52" dur="1000"/>
                                        <p:tgtEl>
                                          <p:spTgt spid="59"/>
                                        </p:tgtEl>
                                      </p:cBhvr>
                                    </p:animEffect>
                                    <p:anim calcmode="lin" valueType="num">
                                      <p:cBhvr>
                                        <p:cTn id="53" dur="1000" fill="hold"/>
                                        <p:tgtEl>
                                          <p:spTgt spid="59"/>
                                        </p:tgtEl>
                                        <p:attrNameLst>
                                          <p:attrName>ppt_x</p:attrName>
                                        </p:attrNameLst>
                                      </p:cBhvr>
                                      <p:tavLst>
                                        <p:tav tm="0">
                                          <p:val>
                                            <p:strVal val="#ppt_x"/>
                                          </p:val>
                                        </p:tav>
                                        <p:tav tm="100000">
                                          <p:val>
                                            <p:strVal val="#ppt_x"/>
                                          </p:val>
                                        </p:tav>
                                      </p:tavLst>
                                    </p:anim>
                                    <p:anim calcmode="lin" valueType="num">
                                      <p:cBhvr>
                                        <p:cTn id="54" dur="1000" fill="hold"/>
                                        <p:tgtEl>
                                          <p:spTgt spid="59"/>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1000"/>
                                        <p:tgtEl>
                                          <p:spTgt spid="60"/>
                                        </p:tgtEl>
                                      </p:cBhvr>
                                    </p:animEffect>
                                    <p:anim calcmode="lin" valueType="num">
                                      <p:cBhvr>
                                        <p:cTn id="58" dur="1000" fill="hold"/>
                                        <p:tgtEl>
                                          <p:spTgt spid="60"/>
                                        </p:tgtEl>
                                        <p:attrNameLst>
                                          <p:attrName>ppt_x</p:attrName>
                                        </p:attrNameLst>
                                      </p:cBhvr>
                                      <p:tavLst>
                                        <p:tav tm="0">
                                          <p:val>
                                            <p:strVal val="#ppt_x"/>
                                          </p:val>
                                        </p:tav>
                                        <p:tav tm="100000">
                                          <p:val>
                                            <p:strVal val="#ppt_x"/>
                                          </p:val>
                                        </p:tav>
                                      </p:tavLst>
                                    </p:anim>
                                    <p:anim calcmode="lin" valueType="num">
                                      <p:cBhvr>
                                        <p:cTn id="59" dur="1000" fill="hold"/>
                                        <p:tgtEl>
                                          <p:spTgt spid="60"/>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1000"/>
                                        <p:tgtEl>
                                          <p:spTgt spid="61"/>
                                        </p:tgtEl>
                                      </p:cBhvr>
                                    </p:animEffect>
                                    <p:anim calcmode="lin" valueType="num">
                                      <p:cBhvr>
                                        <p:cTn id="63" dur="1000" fill="hold"/>
                                        <p:tgtEl>
                                          <p:spTgt spid="61"/>
                                        </p:tgtEl>
                                        <p:attrNameLst>
                                          <p:attrName>ppt_x</p:attrName>
                                        </p:attrNameLst>
                                      </p:cBhvr>
                                      <p:tavLst>
                                        <p:tav tm="0">
                                          <p:val>
                                            <p:strVal val="#ppt_x"/>
                                          </p:val>
                                        </p:tav>
                                        <p:tav tm="100000">
                                          <p:val>
                                            <p:strVal val="#ppt_x"/>
                                          </p:val>
                                        </p:tav>
                                      </p:tavLst>
                                    </p:anim>
                                    <p:anim calcmode="lin" valueType="num">
                                      <p:cBhvr>
                                        <p:cTn id="64"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86E4590-AABB-C458-CE18-E71D5674A2E4}"/>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8CBD559-C73A-A973-86DA-96D4DF851CCF}"/>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Threat Detection &amp; Protection</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51655D1F-63BE-6FE6-ACCD-8D43AF299496}"/>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3A4D141A-122B-ED61-461B-0521B3347DAA}"/>
              </a:ext>
            </a:extLst>
          </p:cNvPr>
          <p:cNvSpPr>
            <a:spLocks noGrp="1"/>
          </p:cNvSpPr>
          <p:nvPr>
            <p:ph type="sldNum" sz="quarter" idx="12"/>
          </p:nvPr>
        </p:nvSpPr>
        <p:spPr/>
        <p:txBody>
          <a:bodyPr/>
          <a:lstStyle/>
          <a:p>
            <a:fld id="{86889C5C-8171-4CA3-86B1-670B90C02708}" type="slidenum">
              <a:rPr lang="en-GB" smtClean="0"/>
              <a:t>45</a:t>
            </a:fld>
            <a:endParaRPr lang="en-GB"/>
          </a:p>
        </p:txBody>
      </p:sp>
      <p:sp>
        <p:nvSpPr>
          <p:cNvPr id="4" name="TextBox 3">
            <a:extLst>
              <a:ext uri="{FF2B5EF4-FFF2-40B4-BE49-F238E27FC236}">
                <a16:creationId xmlns:a16="http://schemas.microsoft.com/office/drawing/2014/main" id="{AB996921-A70D-9D70-D378-3B456CA9282E}"/>
              </a:ext>
            </a:extLst>
          </p:cNvPr>
          <p:cNvSpPr txBox="1"/>
          <p:nvPr/>
        </p:nvSpPr>
        <p:spPr>
          <a:xfrm>
            <a:off x="413457" y="1028226"/>
            <a:ext cx="11521439" cy="774764"/>
          </a:xfrm>
          <a:prstGeom prst="rect">
            <a:avLst/>
          </a:prstGeom>
          <a:noFill/>
        </p:spPr>
        <p:txBody>
          <a:bodyPr wrap="square" rtlCol="0">
            <a:spAutoFit/>
          </a:bodyPr>
          <a:lstStyle/>
          <a:p>
            <a:pPr algn="ctr">
              <a:lnSpc>
                <a:spcPct val="130000"/>
              </a:lnSpc>
            </a:pPr>
            <a:r>
              <a:rPr lang="en-US" dirty="0">
                <a:hlinkClick r:id="rId3"/>
              </a:rPr>
              <a:t>Solution checker enforcement in Managed Environments - Power Platform | Microsoft Learn </a:t>
            </a:r>
            <a:r>
              <a:rPr lang="en-US" dirty="0">
                <a:solidFill>
                  <a:schemeClr val="bg1"/>
                </a:solidFill>
                <a:latin typeface="Segoe UI" panose="020B0502040204020203" pitchFamily="34" charset="0"/>
                <a:cs typeface="Segoe UI" panose="020B0502040204020203" pitchFamily="34" charset="0"/>
              </a:rPr>
              <a:t>- For an environment or an environments group</a:t>
            </a:r>
            <a:endParaRPr lang="es-ES" dirty="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A8D3648B-5811-6466-4533-B9FAA2DF4378}"/>
              </a:ext>
            </a:extLst>
          </p:cNvPr>
          <p:cNvPicPr>
            <a:picLocks noChangeAspect="1"/>
          </p:cNvPicPr>
          <p:nvPr/>
        </p:nvPicPr>
        <p:blipFill>
          <a:blip r:embed="rId4"/>
          <a:stretch>
            <a:fillRect/>
          </a:stretch>
        </p:blipFill>
        <p:spPr>
          <a:xfrm>
            <a:off x="2097973" y="1860356"/>
            <a:ext cx="7884227" cy="4606553"/>
          </a:xfrm>
          <a:prstGeom prst="rect">
            <a:avLst/>
          </a:prstGeom>
        </p:spPr>
      </p:pic>
    </p:spTree>
    <p:extLst>
      <p:ext uri="{BB962C8B-B14F-4D97-AF65-F5344CB8AC3E}">
        <p14:creationId xmlns:p14="http://schemas.microsoft.com/office/powerpoint/2010/main" val="1619050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E43CAA-C227-C32C-EF5E-DE87907C5849}"/>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E7D3FD3-8CB3-65DB-B8BD-4AD6F570E3C2}"/>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Threat Detection &amp; Protection</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F848D4A3-9BF4-E801-8BAA-C21825B469E3}"/>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3EB07294-28AE-C0CC-B75B-6E765595DB9D}"/>
              </a:ext>
            </a:extLst>
          </p:cNvPr>
          <p:cNvSpPr>
            <a:spLocks noGrp="1"/>
          </p:cNvSpPr>
          <p:nvPr>
            <p:ph type="sldNum" sz="quarter" idx="12"/>
          </p:nvPr>
        </p:nvSpPr>
        <p:spPr/>
        <p:txBody>
          <a:bodyPr/>
          <a:lstStyle/>
          <a:p>
            <a:fld id="{86889C5C-8171-4CA3-86B1-670B90C02708}" type="slidenum">
              <a:rPr lang="en-GB" smtClean="0"/>
              <a:t>46</a:t>
            </a:fld>
            <a:endParaRPr lang="en-GB"/>
          </a:p>
        </p:txBody>
      </p:sp>
      <p:sp>
        <p:nvSpPr>
          <p:cNvPr id="4" name="TextBox 3">
            <a:extLst>
              <a:ext uri="{FF2B5EF4-FFF2-40B4-BE49-F238E27FC236}">
                <a16:creationId xmlns:a16="http://schemas.microsoft.com/office/drawing/2014/main" id="{21612D08-8683-24A9-D57F-668F6981E279}"/>
              </a:ext>
            </a:extLst>
          </p:cNvPr>
          <p:cNvSpPr txBox="1"/>
          <p:nvPr/>
        </p:nvSpPr>
        <p:spPr>
          <a:xfrm>
            <a:off x="413457" y="1028226"/>
            <a:ext cx="11521439" cy="781561"/>
          </a:xfrm>
          <a:prstGeom prst="rect">
            <a:avLst/>
          </a:prstGeom>
          <a:noFill/>
        </p:spPr>
        <p:txBody>
          <a:bodyPr wrap="square" rtlCol="0">
            <a:spAutoFit/>
          </a:bodyPr>
          <a:lstStyle/>
          <a:p>
            <a:pPr algn="ctr">
              <a:lnSpc>
                <a:spcPct val="130000"/>
              </a:lnSpc>
            </a:pPr>
            <a:r>
              <a:rPr lang="en-US" dirty="0">
                <a:hlinkClick r:id="rId3"/>
              </a:rPr>
              <a:t>Enable external threat detection and protection for Copilot Studio custom agents (preview) - Microsoft Copilot Studio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A685A1D8-5068-08FE-F2F5-7034DFC48B0A}"/>
              </a:ext>
            </a:extLst>
          </p:cNvPr>
          <p:cNvPicPr>
            <a:picLocks noChangeAspect="1"/>
          </p:cNvPicPr>
          <p:nvPr/>
        </p:nvPicPr>
        <p:blipFill>
          <a:blip r:embed="rId4"/>
          <a:stretch>
            <a:fillRect/>
          </a:stretch>
        </p:blipFill>
        <p:spPr>
          <a:xfrm>
            <a:off x="2159803" y="1892932"/>
            <a:ext cx="7667622" cy="4489989"/>
          </a:xfrm>
          <a:prstGeom prst="rect">
            <a:avLst/>
          </a:prstGeom>
        </p:spPr>
      </p:pic>
      <p:sp>
        <p:nvSpPr>
          <p:cNvPr id="7" name="Speech Bubble: Rectangle with Corners Rounded 6">
            <a:extLst>
              <a:ext uri="{FF2B5EF4-FFF2-40B4-BE49-F238E27FC236}">
                <a16:creationId xmlns:a16="http://schemas.microsoft.com/office/drawing/2014/main" id="{F79F785C-B689-66CD-3270-55EE4C6034CB}"/>
              </a:ext>
            </a:extLst>
          </p:cNvPr>
          <p:cNvSpPr/>
          <p:nvPr/>
        </p:nvSpPr>
        <p:spPr>
          <a:xfrm>
            <a:off x="413457" y="3440989"/>
            <a:ext cx="1952130" cy="657181"/>
          </a:xfrm>
          <a:prstGeom prst="wedgeRoundRectCallout">
            <a:avLst>
              <a:gd name="adj1" fmla="val 69340"/>
              <a:gd name="adj2" fmla="val -6373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Access Thread Detection</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settings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8" name="Flowchart: Connector 7">
            <a:extLst>
              <a:ext uri="{FF2B5EF4-FFF2-40B4-BE49-F238E27FC236}">
                <a16:creationId xmlns:a16="http://schemas.microsoft.com/office/drawing/2014/main" id="{04D03DDA-FD44-C4E0-B9C4-F11B44203DD8}"/>
              </a:ext>
            </a:extLst>
          </p:cNvPr>
          <p:cNvSpPr/>
          <p:nvPr/>
        </p:nvSpPr>
        <p:spPr>
          <a:xfrm>
            <a:off x="1183782" y="420298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9" name="Speech Bubble: Rectangle with Corners Rounded 8">
            <a:extLst>
              <a:ext uri="{FF2B5EF4-FFF2-40B4-BE49-F238E27FC236}">
                <a16:creationId xmlns:a16="http://schemas.microsoft.com/office/drawing/2014/main" id="{B669B779-958B-9258-94EF-42ABDB59FC8A}"/>
              </a:ext>
            </a:extLst>
          </p:cNvPr>
          <p:cNvSpPr/>
          <p:nvPr/>
        </p:nvSpPr>
        <p:spPr>
          <a:xfrm>
            <a:off x="912391" y="2048425"/>
            <a:ext cx="2494824" cy="657180"/>
          </a:xfrm>
          <a:prstGeom prst="wedgeRoundRectCallout">
            <a:avLst>
              <a:gd name="adj1" fmla="val 66939"/>
              <a:gd name="adj2" fmla="val 3299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Segoe UI" panose="020B0502040204020203" pitchFamily="34" charset="0"/>
                <a:cs typeface="Segoe UI" panose="020B0502040204020203" pitchFamily="34" charset="0"/>
              </a:rPr>
              <a:t>Access to Additional Thread Detection</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 name="Flowchart: Connector 9">
            <a:extLst>
              <a:ext uri="{FF2B5EF4-FFF2-40B4-BE49-F238E27FC236}">
                <a16:creationId xmlns:a16="http://schemas.microsoft.com/office/drawing/2014/main" id="{9C54B824-BB01-AB2C-B723-AB9CD46173BE}"/>
              </a:ext>
            </a:extLst>
          </p:cNvPr>
          <p:cNvSpPr/>
          <p:nvPr/>
        </p:nvSpPr>
        <p:spPr>
          <a:xfrm>
            <a:off x="1954063" y="281785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1" name="Speech Bubble: Rectangle with Corners Rounded 10">
            <a:extLst>
              <a:ext uri="{FF2B5EF4-FFF2-40B4-BE49-F238E27FC236}">
                <a16:creationId xmlns:a16="http://schemas.microsoft.com/office/drawing/2014/main" id="{3DA0C102-C09E-EFE9-F3A7-098B4B2F7187}"/>
              </a:ext>
            </a:extLst>
          </p:cNvPr>
          <p:cNvSpPr/>
          <p:nvPr/>
        </p:nvSpPr>
        <p:spPr>
          <a:xfrm>
            <a:off x="8072557" y="4224390"/>
            <a:ext cx="2590800"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External Thread</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detection system settings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2" name="Flowchart: Connector 11">
            <a:extLst>
              <a:ext uri="{FF2B5EF4-FFF2-40B4-BE49-F238E27FC236}">
                <a16:creationId xmlns:a16="http://schemas.microsoft.com/office/drawing/2014/main" id="{8252B1DA-401F-3786-799A-80ECAF391951}"/>
              </a:ext>
            </a:extLst>
          </p:cNvPr>
          <p:cNvSpPr/>
          <p:nvPr/>
        </p:nvSpPr>
        <p:spPr>
          <a:xfrm>
            <a:off x="10751194" y="440872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Tree>
    <p:extLst>
      <p:ext uri="{BB962C8B-B14F-4D97-AF65-F5344CB8AC3E}">
        <p14:creationId xmlns:p14="http://schemas.microsoft.com/office/powerpoint/2010/main" val="314189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E903545-8332-3AC1-1F38-733EF700FFA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BC59565-5826-AD71-405D-070F323A74B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Threat Detection &amp; Protection</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60F5B8BF-236D-B163-6A98-A9A77EFBDDCA}"/>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2A1FA782-111C-2B84-3C63-24892B931FE5}"/>
              </a:ext>
            </a:extLst>
          </p:cNvPr>
          <p:cNvSpPr>
            <a:spLocks noGrp="1"/>
          </p:cNvSpPr>
          <p:nvPr>
            <p:ph type="sldNum" sz="quarter" idx="12"/>
          </p:nvPr>
        </p:nvSpPr>
        <p:spPr/>
        <p:txBody>
          <a:bodyPr/>
          <a:lstStyle/>
          <a:p>
            <a:fld id="{86889C5C-8171-4CA3-86B1-670B90C02708}" type="slidenum">
              <a:rPr lang="en-GB" smtClean="0"/>
              <a:t>47</a:t>
            </a:fld>
            <a:endParaRPr lang="en-GB"/>
          </a:p>
        </p:txBody>
      </p:sp>
      <p:sp>
        <p:nvSpPr>
          <p:cNvPr id="4" name="TextBox 3">
            <a:extLst>
              <a:ext uri="{FF2B5EF4-FFF2-40B4-BE49-F238E27FC236}">
                <a16:creationId xmlns:a16="http://schemas.microsoft.com/office/drawing/2014/main" id="{DE29CCDB-B481-17E6-D409-C9A73170F508}"/>
              </a:ext>
            </a:extLst>
          </p:cNvPr>
          <p:cNvSpPr txBox="1"/>
          <p:nvPr/>
        </p:nvSpPr>
        <p:spPr>
          <a:xfrm>
            <a:off x="413457" y="1028226"/>
            <a:ext cx="11521439" cy="781561"/>
          </a:xfrm>
          <a:prstGeom prst="rect">
            <a:avLst/>
          </a:prstGeom>
          <a:noFill/>
        </p:spPr>
        <p:txBody>
          <a:bodyPr wrap="square" rtlCol="0">
            <a:spAutoFit/>
          </a:bodyPr>
          <a:lstStyle/>
          <a:p>
            <a:pPr algn="ctr">
              <a:lnSpc>
                <a:spcPct val="130000"/>
              </a:lnSpc>
            </a:pPr>
            <a:r>
              <a:rPr lang="en-US" dirty="0">
                <a:hlinkClick r:id="rId3"/>
              </a:rPr>
              <a:t>Enable external threat detection and protection for Copilot Studio custom agents (preview) - Microsoft Copilot Studio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90741D3F-9B60-8ECF-C664-E1456720EDA1}"/>
              </a:ext>
            </a:extLst>
          </p:cNvPr>
          <p:cNvPicPr>
            <a:picLocks noChangeAspect="1"/>
          </p:cNvPicPr>
          <p:nvPr/>
        </p:nvPicPr>
        <p:blipFill>
          <a:blip r:embed="rId4"/>
          <a:stretch>
            <a:fillRect/>
          </a:stretch>
        </p:blipFill>
        <p:spPr>
          <a:xfrm>
            <a:off x="2033919" y="1809787"/>
            <a:ext cx="8124161" cy="4778503"/>
          </a:xfrm>
          <a:prstGeom prst="rect">
            <a:avLst/>
          </a:prstGeom>
        </p:spPr>
      </p:pic>
      <p:sp>
        <p:nvSpPr>
          <p:cNvPr id="15" name="Speech Bubble: Rectangle with Corners Rounded 14">
            <a:extLst>
              <a:ext uri="{FF2B5EF4-FFF2-40B4-BE49-F238E27FC236}">
                <a16:creationId xmlns:a16="http://schemas.microsoft.com/office/drawing/2014/main" id="{69E789D9-201B-C9D5-630E-9E9AA1518CA3}"/>
              </a:ext>
            </a:extLst>
          </p:cNvPr>
          <p:cNvSpPr/>
          <p:nvPr/>
        </p:nvSpPr>
        <p:spPr>
          <a:xfrm>
            <a:off x="247623" y="5547995"/>
            <a:ext cx="1952130" cy="657181"/>
          </a:xfrm>
          <a:prstGeom prst="wedgeRoundRectCallout">
            <a:avLst>
              <a:gd name="adj1" fmla="val 69340"/>
              <a:gd name="adj2" fmla="val -6373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Settings</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-&gt; Copilot Studio AI Agents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6" name="Flowchart: Connector 15">
            <a:extLst>
              <a:ext uri="{FF2B5EF4-FFF2-40B4-BE49-F238E27FC236}">
                <a16:creationId xmlns:a16="http://schemas.microsoft.com/office/drawing/2014/main" id="{2447BF01-2178-A161-6874-E1B9FA98E89E}"/>
              </a:ext>
            </a:extLst>
          </p:cNvPr>
          <p:cNvSpPr/>
          <p:nvPr/>
        </p:nvSpPr>
        <p:spPr>
          <a:xfrm>
            <a:off x="1017948" y="630999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17" name="Speech Bubble: Rectangle with Corners Rounded 16">
            <a:extLst>
              <a:ext uri="{FF2B5EF4-FFF2-40B4-BE49-F238E27FC236}">
                <a16:creationId xmlns:a16="http://schemas.microsoft.com/office/drawing/2014/main" id="{0D4D5B95-C29D-04DB-9DEC-95D5E30CBE04}"/>
              </a:ext>
            </a:extLst>
          </p:cNvPr>
          <p:cNvSpPr/>
          <p:nvPr/>
        </p:nvSpPr>
        <p:spPr>
          <a:xfrm>
            <a:off x="7175091" y="4376790"/>
            <a:ext cx="2590800"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Enable Real</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time protection for agents in runtime</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8" name="Flowchart: Connector 17">
            <a:extLst>
              <a:ext uri="{FF2B5EF4-FFF2-40B4-BE49-F238E27FC236}">
                <a16:creationId xmlns:a16="http://schemas.microsoft.com/office/drawing/2014/main" id="{B4CFEF42-A231-6BC8-622A-55B804DD7F6E}"/>
              </a:ext>
            </a:extLst>
          </p:cNvPr>
          <p:cNvSpPr/>
          <p:nvPr/>
        </p:nvSpPr>
        <p:spPr>
          <a:xfrm>
            <a:off x="9853728" y="456112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9" name="Speech Bubble: Rectangle with Corners Rounded 18">
            <a:extLst>
              <a:ext uri="{FF2B5EF4-FFF2-40B4-BE49-F238E27FC236}">
                <a16:creationId xmlns:a16="http://schemas.microsoft.com/office/drawing/2014/main" id="{65BF8994-498C-EBD6-C2E9-84F7046508E4}"/>
              </a:ext>
            </a:extLst>
          </p:cNvPr>
          <p:cNvSpPr/>
          <p:nvPr/>
        </p:nvSpPr>
        <p:spPr>
          <a:xfrm>
            <a:off x="7175091" y="5723610"/>
            <a:ext cx="2590800"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Power Apps integration</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settings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 name="Flowchart: Connector 19">
            <a:extLst>
              <a:ext uri="{FF2B5EF4-FFF2-40B4-BE49-F238E27FC236}">
                <a16:creationId xmlns:a16="http://schemas.microsoft.com/office/drawing/2014/main" id="{45799096-93B2-2AF7-E3E8-D666C95686F9}"/>
              </a:ext>
            </a:extLst>
          </p:cNvPr>
          <p:cNvSpPr/>
          <p:nvPr/>
        </p:nvSpPr>
        <p:spPr>
          <a:xfrm>
            <a:off x="9853728" y="590794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Tree>
    <p:extLst>
      <p:ext uri="{BB962C8B-B14F-4D97-AF65-F5344CB8AC3E}">
        <p14:creationId xmlns:p14="http://schemas.microsoft.com/office/powerpoint/2010/main" val="2117863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E2C54AA-B723-7D41-E49A-77C8181DAAA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20136F4A-B4B3-249A-F9B6-C8F7F5AA58A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Threat Detection &amp; Protection</a:t>
            </a:r>
            <a:endPar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7BF77BAB-1CDD-3101-7108-A49910B98D7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Slide Number Placeholder 1">
            <a:extLst>
              <a:ext uri="{FF2B5EF4-FFF2-40B4-BE49-F238E27FC236}">
                <a16:creationId xmlns:a16="http://schemas.microsoft.com/office/drawing/2014/main" id="{126AACE3-3ED1-0057-A1A0-772FAD1EE9FC}"/>
              </a:ext>
            </a:extLst>
          </p:cNvPr>
          <p:cNvSpPr>
            <a:spLocks noGrp="1"/>
          </p:cNvSpPr>
          <p:nvPr>
            <p:ph type="sldNum" sz="quarter" idx="12"/>
          </p:nvPr>
        </p:nvSpPr>
        <p:spPr/>
        <p:txBody>
          <a:bodyPr/>
          <a:lstStyle/>
          <a:p>
            <a:fld id="{86889C5C-8171-4CA3-86B1-670B90C02708}" type="slidenum">
              <a:rPr lang="en-GB" smtClean="0"/>
              <a:t>48</a:t>
            </a:fld>
            <a:endParaRPr lang="en-GB"/>
          </a:p>
        </p:txBody>
      </p:sp>
      <p:sp>
        <p:nvSpPr>
          <p:cNvPr id="4" name="TextBox 3">
            <a:extLst>
              <a:ext uri="{FF2B5EF4-FFF2-40B4-BE49-F238E27FC236}">
                <a16:creationId xmlns:a16="http://schemas.microsoft.com/office/drawing/2014/main" id="{6D3E9AB3-7C38-CC19-5E68-FEE4E8D6698E}"/>
              </a:ext>
            </a:extLst>
          </p:cNvPr>
          <p:cNvSpPr txBox="1"/>
          <p:nvPr/>
        </p:nvSpPr>
        <p:spPr>
          <a:xfrm>
            <a:off x="413457" y="1028226"/>
            <a:ext cx="11521439" cy="781561"/>
          </a:xfrm>
          <a:prstGeom prst="rect">
            <a:avLst/>
          </a:prstGeom>
          <a:noFill/>
        </p:spPr>
        <p:txBody>
          <a:bodyPr wrap="square" rtlCol="0">
            <a:spAutoFit/>
          </a:bodyPr>
          <a:lstStyle/>
          <a:p>
            <a:pPr algn="ctr">
              <a:lnSpc>
                <a:spcPct val="130000"/>
              </a:lnSpc>
            </a:pPr>
            <a:r>
              <a:rPr lang="en-US" dirty="0">
                <a:hlinkClick r:id="rId3"/>
              </a:rPr>
              <a:t>Enable external threat detection and protection for Copilot Studio custom agents (preview) - Microsoft Copilot Studio | Microsoft Learn</a:t>
            </a:r>
            <a:endParaRPr lang="es-ES" dirty="0">
              <a:solidFill>
                <a:schemeClr val="bg1"/>
              </a:solidFill>
              <a:latin typeface="Segoe UI" panose="020B0502040204020203" pitchFamily="34" charset="0"/>
              <a:cs typeface="Segoe UI" panose="020B0502040204020203" pitchFamily="34" charset="0"/>
            </a:endParaRPr>
          </a:p>
        </p:txBody>
      </p:sp>
      <p:pic>
        <p:nvPicPr>
          <p:cNvPr id="13" name="Picture 12">
            <a:extLst>
              <a:ext uri="{FF2B5EF4-FFF2-40B4-BE49-F238E27FC236}">
                <a16:creationId xmlns:a16="http://schemas.microsoft.com/office/drawing/2014/main" id="{175DD586-301D-FBAE-3642-02273B947818}"/>
              </a:ext>
            </a:extLst>
          </p:cNvPr>
          <p:cNvPicPr>
            <a:picLocks noChangeAspect="1"/>
          </p:cNvPicPr>
          <p:nvPr/>
        </p:nvPicPr>
        <p:blipFill>
          <a:blip r:embed="rId4"/>
          <a:stretch>
            <a:fillRect/>
          </a:stretch>
        </p:blipFill>
        <p:spPr>
          <a:xfrm>
            <a:off x="1683099" y="1832783"/>
            <a:ext cx="9139982" cy="4550138"/>
          </a:xfrm>
          <a:prstGeom prst="rect">
            <a:avLst/>
          </a:prstGeom>
        </p:spPr>
      </p:pic>
      <p:sp>
        <p:nvSpPr>
          <p:cNvPr id="14" name="Speech Bubble: Rectangle with Corners Rounded 13">
            <a:extLst>
              <a:ext uri="{FF2B5EF4-FFF2-40B4-BE49-F238E27FC236}">
                <a16:creationId xmlns:a16="http://schemas.microsoft.com/office/drawing/2014/main" id="{D52BEE15-FD44-28B0-296D-560C274F6E8F}"/>
              </a:ext>
            </a:extLst>
          </p:cNvPr>
          <p:cNvSpPr/>
          <p:nvPr/>
        </p:nvSpPr>
        <p:spPr>
          <a:xfrm>
            <a:off x="367441" y="3695660"/>
            <a:ext cx="1952130" cy="657181"/>
          </a:xfrm>
          <a:prstGeom prst="wedgeRoundRectCallout">
            <a:avLst>
              <a:gd name="adj1" fmla="val 69340"/>
              <a:gd name="adj2" fmla="val -6373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Access Thread Detection</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settings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 name="Flowchart: Connector 14">
            <a:extLst>
              <a:ext uri="{FF2B5EF4-FFF2-40B4-BE49-F238E27FC236}">
                <a16:creationId xmlns:a16="http://schemas.microsoft.com/office/drawing/2014/main" id="{1C286AF4-6559-258D-2B3D-EE20D078A9A8}"/>
              </a:ext>
            </a:extLst>
          </p:cNvPr>
          <p:cNvSpPr/>
          <p:nvPr/>
        </p:nvSpPr>
        <p:spPr>
          <a:xfrm>
            <a:off x="1137766" y="445766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1</a:t>
            </a:r>
            <a:endParaRPr lang="en-US" sz="1400" dirty="0"/>
          </a:p>
        </p:txBody>
      </p:sp>
      <p:sp>
        <p:nvSpPr>
          <p:cNvPr id="16" name="Speech Bubble: Rectangle with Corners Rounded 15">
            <a:extLst>
              <a:ext uri="{FF2B5EF4-FFF2-40B4-BE49-F238E27FC236}">
                <a16:creationId xmlns:a16="http://schemas.microsoft.com/office/drawing/2014/main" id="{F74A7945-C6B3-E380-D9D2-4810377C6DCD}"/>
              </a:ext>
            </a:extLst>
          </p:cNvPr>
          <p:cNvSpPr/>
          <p:nvPr/>
        </p:nvSpPr>
        <p:spPr>
          <a:xfrm>
            <a:off x="787400" y="2048425"/>
            <a:ext cx="2619815" cy="657180"/>
          </a:xfrm>
          <a:prstGeom prst="wedgeRoundRectCallout">
            <a:avLst>
              <a:gd name="adj1" fmla="val 66939"/>
              <a:gd name="adj2" fmla="val 3299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prstClr val="white"/>
                </a:solidFill>
                <a:latin typeface="Segoe UI" panose="020B0502040204020203" pitchFamily="34" charset="0"/>
                <a:cs typeface="Segoe UI" panose="020B0502040204020203" pitchFamily="34" charset="0"/>
              </a:rPr>
              <a:t>Access to Microsoft Defender – Copilot Studio</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7" name="Flowchart: Connector 16">
            <a:extLst>
              <a:ext uri="{FF2B5EF4-FFF2-40B4-BE49-F238E27FC236}">
                <a16:creationId xmlns:a16="http://schemas.microsoft.com/office/drawing/2014/main" id="{72CAD89E-4127-6130-1938-A70E18D10938}"/>
              </a:ext>
            </a:extLst>
          </p:cNvPr>
          <p:cNvSpPr/>
          <p:nvPr/>
        </p:nvSpPr>
        <p:spPr>
          <a:xfrm>
            <a:off x="1891567" y="278915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dirty="0"/>
              <a:t>2</a:t>
            </a:r>
            <a:endParaRPr lang="en-US" sz="1400" dirty="0"/>
          </a:p>
        </p:txBody>
      </p:sp>
      <p:sp>
        <p:nvSpPr>
          <p:cNvPr id="18" name="Speech Bubble: Rectangle with Corners Rounded 17">
            <a:extLst>
              <a:ext uri="{FF2B5EF4-FFF2-40B4-BE49-F238E27FC236}">
                <a16:creationId xmlns:a16="http://schemas.microsoft.com/office/drawing/2014/main" id="{E4B5B426-5199-7D97-F072-EC86E24DD062}"/>
              </a:ext>
            </a:extLst>
          </p:cNvPr>
          <p:cNvSpPr/>
          <p:nvPr/>
        </p:nvSpPr>
        <p:spPr>
          <a:xfrm>
            <a:off x="8440749" y="2730457"/>
            <a:ext cx="2590800"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Enable Microsoft Defender for Copilot Studio</a:t>
            </a:r>
            <a:r>
              <a:rPr kumimoji="0" lang="en-US" sz="1600" b="0" i="0" u="none" strike="noStrike" kern="1200" cap="none" spc="0" normalizeH="0" noProof="0" dirty="0">
                <a:ln>
                  <a:noFill/>
                </a:ln>
                <a:solidFill>
                  <a:prstClr val="white"/>
                </a:solidFill>
                <a:effectLst/>
                <a:uLnTx/>
                <a:uFillTx/>
                <a:latin typeface="Segoe UI" panose="020B0502040204020203" pitchFamily="34" charset="0"/>
                <a:cs typeface="Segoe UI" panose="020B0502040204020203" pitchFamily="34" charset="0"/>
              </a:rPr>
              <a:t> Agents</a:t>
            </a: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19" name="Flowchart: Connector 18">
            <a:extLst>
              <a:ext uri="{FF2B5EF4-FFF2-40B4-BE49-F238E27FC236}">
                <a16:creationId xmlns:a16="http://schemas.microsoft.com/office/drawing/2014/main" id="{F49F6FC5-0249-667E-92B9-15FE49594209}"/>
              </a:ext>
            </a:extLst>
          </p:cNvPr>
          <p:cNvSpPr/>
          <p:nvPr/>
        </p:nvSpPr>
        <p:spPr>
          <a:xfrm>
            <a:off x="11119386" y="291479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Tree>
    <p:extLst>
      <p:ext uri="{BB962C8B-B14F-4D97-AF65-F5344CB8AC3E}">
        <p14:creationId xmlns:p14="http://schemas.microsoft.com/office/powerpoint/2010/main" val="351976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8CD252-9B6F-3D2F-0F2F-A952DE5E241E}"/>
            </a:ext>
          </a:extLst>
        </p:cNvPr>
        <p:cNvGrpSpPr/>
        <p:nvPr/>
      </p:nvGrpSpPr>
      <p:grpSpPr>
        <a:xfrm>
          <a:off x="0" y="0"/>
          <a:ext cx="0" cy="0"/>
          <a:chOff x="0" y="0"/>
          <a:chExt cx="0" cy="0"/>
        </a:xfrm>
      </p:grpSpPr>
      <p:pic>
        <p:nvPicPr>
          <p:cNvPr id="10" name="Imagen 2">
            <a:extLst>
              <a:ext uri="{FF2B5EF4-FFF2-40B4-BE49-F238E27FC236}">
                <a16:creationId xmlns:a16="http://schemas.microsoft.com/office/drawing/2014/main" id="{B23255CF-7D08-B72A-69EA-746663E4FB81}"/>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5C223C01-BCC5-A5DF-2632-A3E13FE39936}"/>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a:t>
            </a:r>
            <a:r>
              <a:rPr lang="en-US" sz="3600" dirty="0">
                <a:solidFill>
                  <a:srgbClr val="FFFFFF"/>
                </a:solidFill>
                <a:latin typeface="Segoe UI Semibold" panose="020B0702040204020203" pitchFamily="34" charset="0"/>
                <a:cs typeface="Segoe UI Semibold" panose="020B0702040204020203" pitchFamily="34" charset="0"/>
              </a:rPr>
              <a:t>6</a:t>
            </a: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 Thread Detection &amp; Protection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09A5A9B7-41F5-A828-1206-C4DD812B15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14">
            <a:extLst>
              <a:ext uri="{FF2B5EF4-FFF2-40B4-BE49-F238E27FC236}">
                <a16:creationId xmlns:a16="http://schemas.microsoft.com/office/drawing/2014/main" id="{9473EB04-129B-F5DB-85C1-F1037C1B67AA}"/>
              </a:ext>
            </a:extLst>
          </p:cNvPr>
          <p:cNvSpPr txBox="1"/>
          <p:nvPr/>
        </p:nvSpPr>
        <p:spPr>
          <a:xfrm>
            <a:off x="2482809" y="6482979"/>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spTree>
    <p:extLst>
      <p:ext uri="{BB962C8B-B14F-4D97-AF65-F5344CB8AC3E}">
        <p14:creationId xmlns:p14="http://schemas.microsoft.com/office/powerpoint/2010/main" val="721669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lang="en-US" sz="4000" noProof="0" dirty="0">
                <a:solidFill>
                  <a:srgbClr val="E7E6E6"/>
                </a:solidFill>
                <a:latin typeface="Segoe UI Semibold" panose="020B0702040204020203" pitchFamily="34" charset="0"/>
                <a:cs typeface="Segoe UI Semibold" panose="020B0702040204020203" pitchFamily="34" charset="0"/>
              </a:rPr>
              <a:t>Key references </a:t>
            </a:r>
            <a:r>
              <a:rPr lang="es-ES" sz="4000" dirty="0">
                <a:solidFill>
                  <a:srgbClr val="E7E6E6"/>
                </a:solidFill>
                <a:latin typeface="Segoe UI Semibold" panose="020B0702040204020203" pitchFamily="34" charset="0"/>
                <a:cs typeface="Segoe UI Semibold" panose="020B0702040204020203" pitchFamily="34" charset="0"/>
              </a:rPr>
              <a:t>(1/3)</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EF43C85B-9E04-6E88-090B-43CBD48033C7}"/>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Text Placeholder 4">
            <a:extLst>
              <a:ext uri="{FF2B5EF4-FFF2-40B4-BE49-F238E27FC236}">
                <a16:creationId xmlns:a16="http://schemas.microsoft.com/office/drawing/2014/main" id="{6B307610-6044-A691-9698-A70908A89765}"/>
              </a:ext>
            </a:extLst>
          </p:cNvPr>
          <p:cNvSpPr txBox="1">
            <a:spLocks/>
          </p:cNvSpPr>
          <p:nvPr/>
        </p:nvSpPr>
        <p:spPr>
          <a:xfrm>
            <a:off x="525233" y="1783669"/>
            <a:ext cx="11199281" cy="4185761"/>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3"/>
              </a:rPr>
              <a:t>Managed security - Power Platform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4"/>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4"/>
              </a:rPr>
              <a:t>Manage your customer-managed encryption key - Power Platform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5"/>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5"/>
              </a:rPr>
              <a:t>Create and manage masking rules (preview) - Power Platform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6"/>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6"/>
              </a:rPr>
              <a:t>Connect to and manage Microsoft Dataverse in Microsoft Purview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7"/>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7"/>
              </a:rPr>
              <a:t>Data policies for Managed Environments - Power Platform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8"/>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8"/>
              </a:rPr>
              <a:t>Connector action control - Power Platform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9"/>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9"/>
              </a:rPr>
              <a:t>Connector endpoint filtering (preview) - Power Platform | Microsoft Learn</a:t>
            </a:r>
            <a:endParaRPr lang="en-US" sz="1600" dirty="0">
              <a:latin typeface="Segoe UI" panose="020B0502040204020203" pitchFamily="34" charset="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hlinkClick r:id="rId10"/>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hlinkClick r:id="rId10"/>
              </a:rPr>
              <a:t>Virtual Network support overview - Power Platform | Microsoft Learn</a:t>
            </a:r>
            <a:endParaRPr lang="en-US" sz="1600" dirty="0">
              <a:latin typeface="Segoe UI" panose="020B0502040204020203" pitchFamily="34" charset="0"/>
              <a:cs typeface="+mn-cs"/>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endParaRPr lang="en-US" sz="1600" dirty="0">
              <a:latin typeface="Segoe UI" panose="020B0502040204020203" pitchFamily="34" charset="0"/>
              <a:cs typeface="+mn-cs"/>
              <a:hlinkClick r:id="rId11"/>
            </a:endParaRPr>
          </a:p>
          <a:p>
            <a:pPr marL="285750" marR="0" lvl="0" indent="-285750" algn="l" defTabSz="932742" rtl="0" eaLnBrk="1" fontAlgn="auto" latinLnBrk="0" hangingPunct="1">
              <a:lnSpc>
                <a:spcPct val="100000"/>
              </a:lnSpc>
              <a:spcBef>
                <a:spcPts val="0"/>
              </a:spcBef>
              <a:spcAft>
                <a:spcPts val="0"/>
              </a:spcAft>
              <a:buClr>
                <a:schemeClr val="bg1"/>
              </a:buClr>
              <a:buSzPct val="90000"/>
              <a:buFont typeface="Arial" panose="020B0604020202020204" pitchFamily="34" charset="0"/>
              <a:buChar char="•"/>
              <a:tabLst/>
              <a:defRPr/>
            </a:pPr>
            <a:r>
              <a:rPr lang="en-US" sz="1600" dirty="0">
                <a:latin typeface="Segoe UI" panose="020B0502040204020203" pitchFamily="34" charset="0"/>
                <a:cs typeface="Segoe UI" panose="020B0502040204020203" pitchFamily="34" charset="0"/>
                <a:hlinkClick r:id="rId11"/>
              </a:rPr>
              <a:t>Identity and access management - Power Platform | Microsoft Learn</a:t>
            </a:r>
            <a:endParaRPr lang="en-US" sz="1600" dirty="0">
              <a:latin typeface="Segoe UI" panose="020B0502040204020203" pitchFamily="34" charset="0"/>
              <a:cs typeface="Segoe UI" panose="020B0502040204020203" pitchFamily="34" charset="0"/>
            </a:endParaRPr>
          </a:p>
        </p:txBody>
      </p:sp>
      <p:sp>
        <p:nvSpPr>
          <p:cNvPr id="5" name="Slide Number Placeholder 4">
            <a:extLst>
              <a:ext uri="{FF2B5EF4-FFF2-40B4-BE49-F238E27FC236}">
                <a16:creationId xmlns:a16="http://schemas.microsoft.com/office/drawing/2014/main" id="{3ECC321E-79D0-8901-218E-86E6ECB61D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7047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BA84C83-EE77-A8BD-EF39-A6A4361E2CE3}"/>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4DDF658-FEF9-BA8D-28EB-A1E569C2F4A8}"/>
              </a:ext>
            </a:extLst>
          </p:cNvPr>
          <p:cNvSpPr txBox="1"/>
          <p:nvPr/>
        </p:nvSpPr>
        <p:spPr>
          <a:xfrm>
            <a:off x="413457" y="281072"/>
            <a:ext cx="11521440"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lang="en-US" sz="4000" noProof="0" dirty="0">
                <a:solidFill>
                  <a:srgbClr val="E7E6E6"/>
                </a:solidFill>
                <a:latin typeface="Segoe UI Semibold" panose="020B0702040204020203" pitchFamily="34" charset="0"/>
                <a:cs typeface="Segoe UI Semibold" panose="020B0702040204020203" pitchFamily="34" charset="0"/>
              </a:rPr>
              <a:t>Key references </a:t>
            </a:r>
            <a:r>
              <a:rPr lang="es-ES" sz="4000" dirty="0">
                <a:solidFill>
                  <a:srgbClr val="E7E6E6"/>
                </a:solidFill>
                <a:latin typeface="Segoe UI Semibold" panose="020B0702040204020203" pitchFamily="34" charset="0"/>
                <a:cs typeface="Segoe UI Semibold" panose="020B0702040204020203" pitchFamily="34" charset="0"/>
              </a:rPr>
              <a:t>(2/3)</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88320E3A-570F-BE5B-FAF6-5E99EA83130B}"/>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Text Placeholder 4">
            <a:extLst>
              <a:ext uri="{FF2B5EF4-FFF2-40B4-BE49-F238E27FC236}">
                <a16:creationId xmlns:a16="http://schemas.microsoft.com/office/drawing/2014/main" id="{E187C2CD-F5C4-11D1-C940-5B26F4EBDEDA}"/>
              </a:ext>
            </a:extLst>
          </p:cNvPr>
          <p:cNvSpPr txBox="1">
            <a:spLocks/>
          </p:cNvSpPr>
          <p:nvPr/>
        </p:nvSpPr>
        <p:spPr>
          <a:xfrm>
            <a:off x="525233" y="1783669"/>
            <a:ext cx="11199281" cy="3545586"/>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chemeClr val="bg1"/>
              </a:buClr>
              <a:buFont typeface="Arial" panose="020B0604020202020204" pitchFamily="34" charset="0"/>
              <a:buChar char="•"/>
            </a:pPr>
            <a:r>
              <a:rPr lang="en-US" sz="1600" dirty="0">
                <a:latin typeface="Segoe UI" panose="020B0502040204020203" pitchFamily="34" charset="0"/>
                <a:hlinkClick r:id="rId3"/>
              </a:rPr>
              <a:t>IP firewall in Power Platform environments - Power Platform | Microsoft Learn</a:t>
            </a:r>
            <a:endParaRPr lang="en-US" sz="1600" dirty="0">
              <a:latin typeface="Segoe UI" panose="020B0502040204020203" pitchFamily="34" charset="0"/>
            </a:endParaRPr>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latin typeface="Segoe UI" panose="020B0502040204020203" pitchFamily="34" charset="0"/>
                <a:hlinkClick r:id="rId4"/>
              </a:rPr>
              <a:t>Limit sharing - Power Platform | Microsoft Learn</a:t>
            </a:r>
            <a:endParaRPr lang="en-US" sz="1600" dirty="0">
              <a:latin typeface="Segoe UI" panose="020B0502040204020203" pitchFamily="34" charset="0"/>
              <a:hlinkClick r:id="rId5"/>
            </a:endParaRPr>
          </a:p>
          <a:p>
            <a:pPr marL="285750" indent="-285750">
              <a:buClr>
                <a:schemeClr val="bg1"/>
              </a:buClr>
              <a:buFont typeface="Arial" panose="020B0604020202020204" pitchFamily="34" charset="0"/>
              <a:buChar char="•"/>
            </a:pPr>
            <a:endParaRPr lang="en-US" sz="1600" dirty="0">
              <a:latin typeface="Segoe UI" panose="020B0502040204020203" pitchFamily="34" charset="0"/>
              <a:hlinkClick r:id="rId5"/>
            </a:endParaRPr>
          </a:p>
          <a:p>
            <a:pPr marL="285750" indent="-285750">
              <a:buClr>
                <a:schemeClr val="bg1"/>
              </a:buClr>
              <a:buFont typeface="Arial" panose="020B0604020202020204" pitchFamily="34" charset="0"/>
              <a:buChar char="•"/>
            </a:pPr>
            <a:r>
              <a:rPr lang="en-US" sz="1600" dirty="0">
                <a:latin typeface="Segoe UI" panose="020B0502040204020203" pitchFamily="34" charset="0"/>
                <a:hlinkClick r:id="rId5"/>
              </a:rPr>
              <a:t>Safeguarding Dataverse sessions with IP cookie binding - Power Platform | Microsoft Learn</a:t>
            </a:r>
            <a:endParaRPr lang="en-US" sz="1600" dirty="0">
              <a:latin typeface="Segoe UI" panose="020B0502040204020203" pitchFamily="34" charset="0"/>
            </a:endParaRPr>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latin typeface="Segoe UI" panose="020B0502040204020203" pitchFamily="34" charset="0"/>
                <a:hlinkClick r:id="rId6"/>
              </a:rPr>
              <a:t>Use Entra Privileged Identity Management in Power Platform admin center to manage high-privileged admin roles - Power Platform | Microsoft Learn</a:t>
            </a:r>
            <a:endParaRPr lang="en-US" sz="1600" dirty="0">
              <a:latin typeface="Segoe UI" panose="020B0502040204020203" pitchFamily="34" charset="0"/>
            </a:endParaRPr>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latin typeface="Segoe UI" panose="020B0502040204020203" pitchFamily="34" charset="0"/>
                <a:hlinkClick r:id="rId7"/>
              </a:rPr>
              <a:t>Block access by location with Microsoft Entra Conditional Access - Power Platform | Microsoft Learn</a:t>
            </a:r>
            <a:endParaRPr lang="en-US" sz="1600" dirty="0">
              <a:latin typeface="Segoe UI" panose="020B0502040204020203" pitchFamily="34" charset="0"/>
            </a:endParaRPr>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latin typeface="Segoe UI" panose="020B0502040204020203" pitchFamily="34" charset="0"/>
                <a:hlinkClick r:id="rId8"/>
              </a:rPr>
              <a:t>Permit or deny guest access to an environment | Microsoft Learn</a:t>
            </a:r>
            <a:endParaRPr lang="es-ES" sz="1600" dirty="0">
              <a:solidFill>
                <a:schemeClr val="bg1"/>
              </a:solidFill>
              <a:latin typeface="Segoe UI" panose="020B0502040204020203" pitchFamily="34" charset="0"/>
              <a:ea typeface="Roboto" panose="02000000000000000000" pitchFamily="2" charset="0"/>
            </a:endParaRPr>
          </a:p>
          <a:p>
            <a:pPr marL="285750" lvl="8" indent="-285750">
              <a:buClr>
                <a:schemeClr val="bg1"/>
              </a:buClr>
            </a:pPr>
            <a:endParaRPr lang="es-ES" sz="1600" dirty="0">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lvl="8" indent="-285750">
              <a:buClr>
                <a:schemeClr val="bg1"/>
              </a:buClr>
            </a:pPr>
            <a:r>
              <a:rPr lang="en-US" sz="1600" dirty="0">
                <a:latin typeface="Segoe UI" panose="020B0502040204020203" pitchFamily="34" charset="0"/>
                <a:cs typeface="Segoe UI" panose="020B0502040204020203" pitchFamily="34" charset="0"/>
                <a:hlinkClick r:id="rId9"/>
              </a:rPr>
              <a:t>Identity and access management - Power Platform | Microsoft Learn</a:t>
            </a:r>
            <a:endParaRPr lang="es-ES" sz="1600" dirty="0">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
        <p:nvSpPr>
          <p:cNvPr id="5" name="Slide Number Placeholder 4">
            <a:extLst>
              <a:ext uri="{FF2B5EF4-FFF2-40B4-BE49-F238E27FC236}">
                <a16:creationId xmlns:a16="http://schemas.microsoft.com/office/drawing/2014/main" id="{F45D4065-D3AA-7A67-AA18-E1828C8478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24222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0A15A6-1870-D3CD-9A92-C5BDCE6B41A0}"/>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668C6C13-E63D-B518-C9A5-B4EB7F3F76A1}"/>
              </a:ext>
            </a:extLst>
          </p:cNvPr>
          <p:cNvSpPr txBox="1"/>
          <p:nvPr/>
        </p:nvSpPr>
        <p:spPr>
          <a:xfrm>
            <a:off x="413457" y="281072"/>
            <a:ext cx="11521440"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lang="en-US" sz="4000" noProof="0" dirty="0">
                <a:solidFill>
                  <a:srgbClr val="E7E6E6"/>
                </a:solidFill>
                <a:latin typeface="Segoe UI Semibold" panose="020B0702040204020203" pitchFamily="34" charset="0"/>
                <a:cs typeface="Segoe UI Semibold" panose="020B0702040204020203" pitchFamily="34" charset="0"/>
              </a:rPr>
              <a:t>Key references </a:t>
            </a:r>
            <a:r>
              <a:rPr lang="es-ES" sz="4000" dirty="0">
                <a:solidFill>
                  <a:srgbClr val="E7E6E6"/>
                </a:solidFill>
                <a:latin typeface="Segoe UI Semibold" panose="020B0702040204020203" pitchFamily="34" charset="0"/>
                <a:cs typeface="Segoe UI Semibold" panose="020B0702040204020203" pitchFamily="34" charset="0"/>
              </a:rPr>
              <a:t>(3/3)</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3" name="CuadroTexto 14">
            <a:extLst>
              <a:ext uri="{FF2B5EF4-FFF2-40B4-BE49-F238E27FC236}">
                <a16:creationId xmlns:a16="http://schemas.microsoft.com/office/drawing/2014/main" id="{3A66EAD7-EDF3-2636-27FA-0A0BC1F1CC23}"/>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#CollabDaysBE2025</a:t>
            </a:r>
          </a:p>
        </p:txBody>
      </p:sp>
      <p:sp>
        <p:nvSpPr>
          <p:cNvPr id="2" name="Text Placeholder 4">
            <a:extLst>
              <a:ext uri="{FF2B5EF4-FFF2-40B4-BE49-F238E27FC236}">
                <a16:creationId xmlns:a16="http://schemas.microsoft.com/office/drawing/2014/main" id="{1969890E-3709-209A-6798-2C165985E79F}"/>
              </a:ext>
            </a:extLst>
          </p:cNvPr>
          <p:cNvSpPr txBox="1">
            <a:spLocks/>
          </p:cNvSpPr>
          <p:nvPr/>
        </p:nvSpPr>
        <p:spPr>
          <a:xfrm>
            <a:off x="525233" y="1783669"/>
            <a:ext cx="11199281" cy="3200876"/>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chemeClr val="bg1"/>
              </a:buClr>
              <a:buFont typeface="Arial" panose="020B0604020202020204" pitchFamily="34" charset="0"/>
              <a:buChar char="•"/>
            </a:pPr>
            <a:r>
              <a:rPr lang="en-US" sz="1600" dirty="0">
                <a:hlinkClick r:id="rId3"/>
              </a:rPr>
              <a:t>Securely access customer data using Customer Lockbox in Power Platform and Dynamics 365 - Power Platform | Microsoft Learn</a:t>
            </a:r>
            <a:endParaRPr lang="en-US" sz="1600" dirty="0"/>
          </a:p>
          <a:p>
            <a:pPr marL="285750" indent="-285750">
              <a:buClr>
                <a:schemeClr val="bg1"/>
              </a:buClr>
              <a:buFont typeface="Arial" panose="020B0604020202020204" pitchFamily="34" charset="0"/>
              <a:buChar char="•"/>
            </a:pPr>
            <a:endParaRPr lang="en-US" sz="1600" dirty="0">
              <a:hlinkClick r:id="rId4"/>
            </a:endParaRPr>
          </a:p>
          <a:p>
            <a:pPr marL="285750" indent="-285750">
              <a:buClr>
                <a:schemeClr val="bg1"/>
              </a:buClr>
              <a:buFont typeface="Arial" panose="020B0604020202020204" pitchFamily="34" charset="0"/>
              <a:buChar char="•"/>
            </a:pPr>
            <a:r>
              <a:rPr lang="en-US" sz="1600" dirty="0">
                <a:hlinkClick r:id="rId4"/>
              </a:rPr>
              <a:t>Manage Dataverse auditing - Power Platform | Microsoft Learn</a:t>
            </a:r>
            <a:endParaRPr lang="en-US" sz="1600" dirty="0"/>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hlinkClick r:id="rId5"/>
              </a:rPr>
              <a:t>Solution checker enforcement in Managed Environments - Power Platform | Microsoft Learn</a:t>
            </a:r>
            <a:endParaRPr lang="en-US" sz="1600" dirty="0"/>
          </a:p>
          <a:p>
            <a:pPr marL="285750" indent="-285750">
              <a:buClr>
                <a:schemeClr val="bg1"/>
              </a:buClr>
              <a:buFont typeface="Arial" panose="020B0604020202020204" pitchFamily="34" charset="0"/>
              <a:buChar char="•"/>
            </a:pPr>
            <a:endParaRPr lang="en-US" sz="1600" dirty="0">
              <a:hlinkClick r:id="rId6"/>
            </a:endParaRPr>
          </a:p>
          <a:p>
            <a:pPr marL="285750" indent="-285750">
              <a:buClr>
                <a:schemeClr val="bg1"/>
              </a:buClr>
              <a:buFont typeface="Arial" panose="020B0604020202020204" pitchFamily="34" charset="0"/>
              <a:buChar char="•"/>
            </a:pPr>
            <a:r>
              <a:rPr lang="en-US" sz="1600" dirty="0">
                <a:hlinkClick r:id="rId6"/>
              </a:rPr>
              <a:t>Microsoft Sentinel Solution for MS Business Apps | Microsoft Learn</a:t>
            </a:r>
            <a:endParaRPr lang="en-US" sz="1600" dirty="0"/>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hlinkClick r:id="rId7"/>
              </a:rPr>
              <a:t>Enable external threat detection and protection for Copilot Studio custom agents (preview) - Microsoft Copilot Studio | Microsoft Learn</a:t>
            </a:r>
            <a:endParaRPr lang="en-US" sz="1600" dirty="0"/>
          </a:p>
          <a:p>
            <a:pPr marL="285750" indent="-285750">
              <a:buClr>
                <a:schemeClr val="bg1"/>
              </a:buClr>
              <a:buFont typeface="Arial" panose="020B0604020202020204" pitchFamily="34" charset="0"/>
              <a:buChar char="•"/>
            </a:pPr>
            <a:endParaRPr lang="en-US" sz="1600" dirty="0">
              <a:solidFill>
                <a:schemeClr val="bg1"/>
              </a:solidFill>
              <a:latin typeface="Segoe UI" panose="020B0502040204020203" pitchFamily="34" charset="0"/>
              <a:ea typeface="Roboto" panose="02000000000000000000" pitchFamily="2" charset="0"/>
            </a:endParaRPr>
          </a:p>
          <a:p>
            <a:pPr marL="285750" indent="-285750">
              <a:buClr>
                <a:schemeClr val="bg1"/>
              </a:buClr>
              <a:buFont typeface="Arial" panose="020B0604020202020204" pitchFamily="34" charset="0"/>
              <a:buChar char="•"/>
            </a:pPr>
            <a:r>
              <a:rPr lang="en-US" sz="1600" dirty="0">
                <a:hlinkClick r:id="rId8"/>
              </a:rPr>
              <a:t>Real-time protection during agent runtime for Microsoft Copilot Studio AI agents (Preview) - Microsoft Defender for Cloud Apps | Microsoft Learn</a:t>
            </a:r>
            <a:endParaRPr lang="es-ES" sz="1600" dirty="0">
              <a:solidFill>
                <a:schemeClr val="bg1"/>
              </a:solidFill>
              <a:latin typeface="Segoe UI" panose="020B0502040204020203" pitchFamily="34" charset="0"/>
              <a:ea typeface="Roboto" panose="02000000000000000000" pitchFamily="2" charset="0"/>
            </a:endParaRPr>
          </a:p>
        </p:txBody>
      </p:sp>
      <p:sp>
        <p:nvSpPr>
          <p:cNvPr id="5" name="Slide Number Placeholder 4">
            <a:extLst>
              <a:ext uri="{FF2B5EF4-FFF2-40B4-BE49-F238E27FC236}">
                <a16:creationId xmlns:a16="http://schemas.microsoft.com/office/drawing/2014/main" id="{2511AA9C-7F4A-E301-6C5B-593A9561E9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760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kumimoji="0" lang="es-E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Office 365 for IT Pros</a:t>
            </a:r>
            <a:endParaRPr kumimoji="0" lang="es-E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23" name="Text Placeholder 4">
            <a:extLst>
              <a:ext uri="{FF2B5EF4-FFF2-40B4-BE49-F238E27FC236}">
                <a16:creationId xmlns:a16="http://schemas.microsoft.com/office/drawing/2014/main" id="{3620BA6E-30C5-44DF-9089-25BCFEB87085}"/>
              </a:ext>
            </a:extLst>
          </p:cNvPr>
          <p:cNvSpPr txBox="1">
            <a:spLocks/>
          </p:cNvSpPr>
          <p:nvPr/>
        </p:nvSpPr>
        <p:spPr>
          <a:xfrm>
            <a:off x="525233" y="1783669"/>
            <a:ext cx="6825421" cy="984885"/>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The best way to stay up to date with Microsoft 365</a:t>
            </a:r>
            <a:r>
              <a:rPr kumimoji="0" lang="es-E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a:t>
            </a:r>
          </a:p>
          <a:p>
            <a:pPr marL="742950" lvl="1" indent="-285750">
              <a:spcBef>
                <a:spcPts val="0"/>
              </a:spcBef>
              <a:buClr>
                <a:schemeClr val="bg1"/>
              </a:buClr>
              <a:buFont typeface="Wingdings" panose="05000000000000000000" pitchFamily="2" charset="2"/>
              <a:buChar char="§"/>
              <a:defRPr/>
            </a:pPr>
            <a:r>
              <a:rPr lang="en-US" sz="1600" dirty="0">
                <a:hlinkClick r:id="rId3"/>
              </a:rPr>
              <a:t>Office 365 for IT Pros (2026 Edition). The Ultimate Guide to Managing Microsoft 365. (Includes the Automating Microsoft 365 with PowerShell eBook)</a:t>
            </a:r>
            <a:endParaRPr kumimoji="0" lang="en-US" sz="1800" b="0" i="0" u="none" strike="noStrike" kern="1200" cap="none" spc="0" normalizeH="0" baseline="0" noProof="0" dirty="0">
              <a:ln>
                <a:noFill/>
              </a:ln>
              <a:solidFill>
                <a:schemeClr val="bg2"/>
              </a:solidFill>
              <a:effectLst/>
              <a:uLnTx/>
              <a:uFillTx/>
              <a:latin typeface="Segoe UI"/>
              <a:ea typeface="+mn-ea"/>
              <a:cs typeface="Segoe UI" panose="020B0502040204020203" pitchFamily="34" charset="0"/>
            </a:endParaRPr>
          </a:p>
        </p:txBody>
      </p:sp>
      <p:sp>
        <p:nvSpPr>
          <p:cNvPr id="3" name="CuadroTexto 14">
            <a:extLst>
              <a:ext uri="{FF2B5EF4-FFF2-40B4-BE49-F238E27FC236}">
                <a16:creationId xmlns:a16="http://schemas.microsoft.com/office/drawing/2014/main" id="{D19E0697-A5FB-4D27-EBB2-07D5B7152FCC}"/>
              </a:ext>
            </a:extLst>
          </p:cNvPr>
          <p:cNvSpPr txBox="1"/>
          <p:nvPr/>
        </p:nvSpPr>
        <p:spPr>
          <a:xfrm>
            <a:off x="2665687" y="6524275"/>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#CollabDaysBE2025</a:t>
            </a:r>
          </a:p>
        </p:txBody>
      </p:sp>
      <p:pic>
        <p:nvPicPr>
          <p:cNvPr id="4" name="Picture 2" descr="Office 365 for IT Pros (2026 Edition)">
            <a:extLst>
              <a:ext uri="{FF2B5EF4-FFF2-40B4-BE49-F238E27FC236}">
                <a16:creationId xmlns:a16="http://schemas.microsoft.com/office/drawing/2014/main" id="{D244D2CD-882D-F81B-955B-639C632275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654" y="0"/>
            <a:ext cx="4900613" cy="6932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8140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Marcador de texto 4">
            <a:extLst>
              <a:ext uri="{FF2B5EF4-FFF2-40B4-BE49-F238E27FC236}">
                <a16:creationId xmlns:a16="http://schemas.microsoft.com/office/drawing/2014/main" id="{42510AE8-DA69-4EB7-A03A-5037BF638DC4}"/>
              </a:ext>
            </a:extLst>
          </p:cNvPr>
          <p:cNvSpPr txBox="1">
            <a:spLocks/>
          </p:cNvSpPr>
          <p:nvPr/>
        </p:nvSpPr>
        <p:spPr>
          <a:xfrm>
            <a:off x="5586689" y="2443347"/>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6600" b="1" i="0" u="none" strike="noStrike" kern="1200" cap="none" spc="0" normalizeH="0" baseline="0" noProof="0" dirty="0" err="1">
                <a:ln>
                  <a:noFill/>
                </a:ln>
                <a:solidFill>
                  <a:srgbClr val="FFFFFF"/>
                </a:solidFill>
                <a:effectLst/>
                <a:uLnTx/>
                <a:uFillTx/>
                <a:latin typeface="Lato" panose="020F0502020204030203" pitchFamily="34" charset="0"/>
                <a:ea typeface="+mn-ea"/>
                <a:cs typeface="+mn-cs"/>
              </a:rPr>
              <a:t>Questions</a:t>
            </a:r>
            <a:r>
              <a:rPr kumimoji="0" lang="es-ES" sz="6600" b="1" i="0" u="none" strike="noStrike" kern="1200" cap="none" spc="0" normalizeH="0" baseline="0" noProof="0" dirty="0">
                <a:ln>
                  <a:noFill/>
                </a:ln>
                <a:solidFill>
                  <a:srgbClr val="FFFFFF"/>
                </a:solidFill>
                <a:effectLst/>
                <a:uLnTx/>
                <a:uFillTx/>
                <a:latin typeface="Lato" panose="020F0502020204030203" pitchFamily="34" charset="0"/>
                <a:ea typeface="+mn-ea"/>
                <a:cs typeface="+mn-cs"/>
              </a:rPr>
              <a:t>?</a:t>
            </a:r>
            <a:endParaRPr kumimoji="0" lang="en-US" sz="6600" b="1" i="0" u="none" strike="noStrike" kern="1200" cap="none" spc="0" normalizeH="0" baseline="0" noProof="0" dirty="0">
              <a:ln>
                <a:noFill/>
              </a:ln>
              <a:solidFill>
                <a:srgbClr val="FFFFFF"/>
              </a:solidFill>
              <a:effectLst/>
              <a:uLnTx/>
              <a:uFillTx/>
              <a:latin typeface="Lato" panose="020F0502020204030203" pitchFamily="34" charset="0"/>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4000" b="1" i="0" u="none" strike="noStrike" kern="1200" cap="none" spc="0" normalizeH="0" baseline="0" noProof="0" dirty="0">
              <a:ln>
                <a:noFill/>
              </a:ln>
              <a:solidFill>
                <a:srgbClr val="FFFFFF"/>
              </a:solidFill>
              <a:effectLst/>
              <a:uLnTx/>
              <a:uFillTx/>
              <a:latin typeface="Segoe UI"/>
              <a:ea typeface="+mn-ea"/>
              <a:cs typeface="+mn-cs"/>
            </a:endParaRPr>
          </a:p>
        </p:txBody>
      </p:sp>
      <p:pic>
        <p:nvPicPr>
          <p:cNvPr id="12" name="Picture 11" descr="Minion Rush – FAQs">
            <a:extLst>
              <a:ext uri="{FF2B5EF4-FFF2-40B4-BE49-F238E27FC236}">
                <a16:creationId xmlns:a16="http://schemas.microsoft.com/office/drawing/2014/main" id="{5E4E5AC9-CB4D-4AB0-9B43-45696BC47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35" y="543532"/>
            <a:ext cx="5076825" cy="568642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14">
            <a:extLst>
              <a:ext uri="{FF2B5EF4-FFF2-40B4-BE49-F238E27FC236}">
                <a16:creationId xmlns:a16="http://schemas.microsoft.com/office/drawing/2014/main" id="{FDC89A46-66D2-412A-8D00-7D33A671EE9F}"/>
              </a:ext>
            </a:extLst>
          </p:cNvPr>
          <p:cNvSpPr txBox="1"/>
          <p:nvPr/>
        </p:nvSpPr>
        <p:spPr>
          <a:xfrm>
            <a:off x="2482809" y="6488880"/>
            <a:ext cx="6616822"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##CollabDaysBE2025</a:t>
            </a:r>
          </a:p>
        </p:txBody>
      </p:sp>
      <p:pic>
        <p:nvPicPr>
          <p:cNvPr id="2" name="Picture 1" descr="A qr code with a hand and a chat bubble&#10;&#10;AI-generated content may be incorrect.">
            <a:extLst>
              <a:ext uri="{FF2B5EF4-FFF2-40B4-BE49-F238E27FC236}">
                <a16:creationId xmlns:a16="http://schemas.microsoft.com/office/drawing/2014/main" id="{8329F9C7-28BE-A7FE-FCE8-C20F08597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8859" y="3686159"/>
            <a:ext cx="1621544" cy="1621544"/>
          </a:xfrm>
          <a:prstGeom prst="rect">
            <a:avLst/>
          </a:prstGeom>
        </p:spPr>
      </p:pic>
    </p:spTree>
    <p:extLst>
      <p:ext uri="{BB962C8B-B14F-4D97-AF65-F5344CB8AC3E}">
        <p14:creationId xmlns:p14="http://schemas.microsoft.com/office/powerpoint/2010/main" val="27716353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qr code with a hand and a chat bubble&#10;&#10;AI-generated content may be incorrect.">
            <a:extLst>
              <a:ext uri="{FF2B5EF4-FFF2-40B4-BE49-F238E27FC236}">
                <a16:creationId xmlns:a16="http://schemas.microsoft.com/office/drawing/2014/main" id="{71AF6C8E-40F6-055C-7485-460A60BF0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325" y="2618227"/>
            <a:ext cx="2241639" cy="2241639"/>
          </a:xfrm>
          <a:prstGeom prst="rect">
            <a:avLst/>
          </a:prstGeom>
        </p:spPr>
      </p:pic>
    </p:spTree>
    <p:extLst>
      <p:ext uri="{BB962C8B-B14F-4D97-AF65-F5344CB8AC3E}">
        <p14:creationId xmlns:p14="http://schemas.microsoft.com/office/powerpoint/2010/main" val="4048508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in">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1541</TotalTime>
  <Words>6270</Words>
  <Application>Microsoft Office PowerPoint</Application>
  <PresentationFormat>Widescreen</PresentationFormat>
  <Paragraphs>795</Paragraphs>
  <Slides>55</Slides>
  <Notes>48</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55</vt:i4>
      </vt:variant>
    </vt:vector>
  </HeadingPairs>
  <TitlesOfParts>
    <vt:vector size="68" baseType="lpstr">
      <vt:lpstr>Aptos</vt:lpstr>
      <vt:lpstr>Arial</vt:lpstr>
      <vt:lpstr>Avenir Next LT Pro</vt:lpstr>
      <vt:lpstr>Calibri</vt:lpstr>
      <vt:lpstr>Calibri Light</vt:lpstr>
      <vt:lpstr>Lato</vt:lpstr>
      <vt:lpstr>Oswald (Body)</vt:lpstr>
      <vt:lpstr>Posterama</vt:lpstr>
      <vt:lpstr>Segoe UI</vt:lpstr>
      <vt:lpstr>Segoe UI Semibold</vt:lpstr>
      <vt:lpstr>Wingdings</vt:lpstr>
      <vt:lpstr>1_Office Theme</vt:lpstr>
      <vt:lpstr>Main</vt:lpstr>
      <vt:lpstr>Managed Security in the Power Platform: What’s in the box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Managed Security in the Power Platform - What's in the box - JcGonzalez</dc:title>
  <dc:creator>Juan Carlos González</dc:creator>
  <cp:lastModifiedBy>Juan Carlos González</cp:lastModifiedBy>
  <cp:revision>115</cp:revision>
  <dcterms:created xsi:type="dcterms:W3CDTF">2024-11-23T23:26:31Z</dcterms:created>
  <dcterms:modified xsi:type="dcterms:W3CDTF">2025-10-18T11:53:06Z</dcterms:modified>
</cp:coreProperties>
</file>
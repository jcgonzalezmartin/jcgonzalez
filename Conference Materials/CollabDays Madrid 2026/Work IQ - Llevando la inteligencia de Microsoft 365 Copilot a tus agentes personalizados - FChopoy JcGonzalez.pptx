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82" r:id="rId4"/>
    <p:sldMasterId id="2147484168" r:id="rId5"/>
  </p:sldMasterIdLst>
  <p:notesMasterIdLst>
    <p:notesMasterId r:id="rId35"/>
  </p:notesMasterIdLst>
  <p:handoutMasterIdLst>
    <p:handoutMasterId r:id="rId36"/>
  </p:handoutMasterIdLst>
  <p:sldIdLst>
    <p:sldId id="330" r:id="rId6"/>
    <p:sldId id="373" r:id="rId7"/>
    <p:sldId id="406" r:id="rId8"/>
    <p:sldId id="407" r:id="rId9"/>
    <p:sldId id="409" r:id="rId10"/>
    <p:sldId id="408" r:id="rId11"/>
    <p:sldId id="441" r:id="rId12"/>
    <p:sldId id="444" r:id="rId13"/>
    <p:sldId id="448" r:id="rId14"/>
    <p:sldId id="449" r:id="rId15"/>
    <p:sldId id="446" r:id="rId16"/>
    <p:sldId id="436" r:id="rId17"/>
    <p:sldId id="450" r:id="rId18"/>
    <p:sldId id="447" r:id="rId19"/>
    <p:sldId id="452" r:id="rId20"/>
    <p:sldId id="432" r:id="rId21"/>
    <p:sldId id="437" r:id="rId22"/>
    <p:sldId id="483" r:id="rId23"/>
    <p:sldId id="484" r:id="rId24"/>
    <p:sldId id="453" r:id="rId25"/>
    <p:sldId id="485" r:id="rId26"/>
    <p:sldId id="433" r:id="rId27"/>
    <p:sldId id="454" r:id="rId28"/>
    <p:sldId id="435" r:id="rId29"/>
    <p:sldId id="451" r:id="rId30"/>
    <p:sldId id="438" r:id="rId31"/>
    <p:sldId id="434" r:id="rId32"/>
    <p:sldId id="440" r:id="rId33"/>
    <p:sldId id="404" r:id="rId34"/>
  </p:sldIdLst>
  <p:sldSz cx="12192000"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366" userDrawn="1">
          <p15:clr>
            <a:srgbClr val="A4A3A4"/>
          </p15:clr>
        </p15:guide>
        <p15:guide id="4" orient="horz" pos="1275" userDrawn="1">
          <p15:clr>
            <a:srgbClr val="A4A3A4"/>
          </p15:clr>
        </p15:guide>
        <p15:guide id="7" orient="horz" pos="2160" userDrawn="1">
          <p15:clr>
            <a:srgbClr val="A4A3A4"/>
          </p15:clr>
        </p15:guide>
        <p15:guide id="8" orient="horz" pos="3861" userDrawn="1">
          <p15:clr>
            <a:srgbClr val="A4A3A4"/>
          </p15:clr>
        </p15:guide>
        <p15:guide id="9" orient="horz" pos="3589" userDrawn="1">
          <p15:clr>
            <a:srgbClr val="A4A3A4"/>
          </p15:clr>
        </p15:guide>
        <p15:guide id="10" pos="165" userDrawn="1">
          <p15:clr>
            <a:srgbClr val="A4A3A4"/>
          </p15:clr>
        </p15:guide>
        <p15:guide id="12" pos="7515" userDrawn="1">
          <p15:clr>
            <a:srgbClr val="A4A3A4"/>
          </p15:clr>
        </p15:guide>
        <p15:guide id="13" pos="324" userDrawn="1">
          <p15:clr>
            <a:srgbClr val="A4A3A4"/>
          </p15:clr>
        </p15:guide>
        <p15:guide id="15" pos="596" userDrawn="1">
          <p15:clr>
            <a:srgbClr val="A4A3A4"/>
          </p15:clr>
        </p15:guide>
        <p15:guide id="16" pos="7039" userDrawn="1">
          <p15:clr>
            <a:srgbClr val="A4A3A4"/>
          </p15:clr>
        </p15:guide>
        <p15:guide id="17" pos="3840" userDrawn="1">
          <p15:clr>
            <a:srgbClr val="A4A3A4"/>
          </p15:clr>
        </p15:guide>
        <p15:guide id="18" pos="3024" userDrawn="1">
          <p15:clr>
            <a:srgbClr val="A4A3A4"/>
          </p15:clr>
        </p15:guide>
        <p15:guide id="21" orient="horz" pos="618" userDrawn="1">
          <p15:clr>
            <a:srgbClr val="A4A3A4"/>
          </p15:clr>
        </p15:guide>
        <p15:guide id="23" pos="5428" userDrawn="1">
          <p15:clr>
            <a:srgbClr val="A4A3A4"/>
          </p15:clr>
        </p15:guide>
        <p15:guide id="24" pos="737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B47"/>
    <a:srgbClr val="0DA2C2"/>
    <a:srgbClr val="0078D7"/>
    <a:srgbClr val="3E9A98"/>
    <a:srgbClr val="3A629E"/>
    <a:srgbClr val="0071BC"/>
    <a:srgbClr val="F2F2F2"/>
    <a:srgbClr val="0071BD"/>
    <a:srgbClr val="FF2700"/>
    <a:srgbClr val="005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085" autoAdjust="0"/>
  </p:normalViewPr>
  <p:slideViewPr>
    <p:cSldViewPr snapToGrid="0">
      <p:cViewPr varScale="1">
        <p:scale>
          <a:sx n="69" d="100"/>
          <a:sy n="69" d="100"/>
        </p:scale>
        <p:origin x="1144" y="44"/>
      </p:cViewPr>
      <p:guideLst>
        <p:guide orient="horz" pos="1366"/>
        <p:guide orient="horz" pos="1275"/>
        <p:guide orient="horz" pos="2160"/>
        <p:guide orient="horz" pos="3861"/>
        <p:guide orient="horz" pos="3589"/>
        <p:guide pos="165"/>
        <p:guide pos="7515"/>
        <p:guide pos="324"/>
        <p:guide pos="596"/>
        <p:guide pos="7039"/>
        <p:guide pos="3840"/>
        <p:guide pos="3024"/>
        <p:guide orient="horz" pos="618"/>
        <p:guide pos="5428"/>
        <p:guide pos="7379"/>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79" d="100"/>
          <a:sy n="79" d="100"/>
        </p:scale>
        <p:origin x="394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SharePoint Server 2013</a:t>
            </a:r>
          </a:p>
        </p:txBody>
      </p:sp>
      <p:sp>
        <p:nvSpPr>
          <p:cNvPr id="8" name="Footer Placeholder 7"/>
          <p:cNvSpPr>
            <a:spLocks noGrp="1"/>
          </p:cNvSpPr>
          <p:nvPr>
            <p:ph type="ftr" sz="quarter" idx="2"/>
          </p:nvPr>
        </p:nvSpPr>
        <p:spPr>
          <a:xfrm>
            <a:off x="0" y="8685212"/>
            <a:ext cx="5758543" cy="457201"/>
          </a:xfrm>
          <a:prstGeom prst="rect">
            <a:avLst/>
          </a:prstGeom>
        </p:spPr>
        <p:txBody>
          <a:bodyPr vert="horz" lIns="0" tIns="45720" rIns="91440" bIns="45720" rtlCol="0" anchor="t"/>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black">
          <a:xfrm>
            <a:off x="5136605" y="0"/>
            <a:ext cx="1599837" cy="548640"/>
          </a:xfrm>
          <a:prstGeom prst="rect">
            <a:avLst/>
          </a:prstGeom>
        </p:spPr>
      </p:pic>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
        <p:nvSpPr>
          <p:cNvPr id="14"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SharePoint Server 2013</a:t>
            </a:r>
          </a:p>
        </p:txBody>
      </p:sp>
      <p:sp>
        <p:nvSpPr>
          <p:cNvPr id="15" name="Footer Placeholder 7"/>
          <p:cNvSpPr>
            <a:spLocks noGrp="1"/>
          </p:cNvSpPr>
          <p:nvPr>
            <p:ph type="ftr" sz="quarter" idx="4"/>
          </p:nvPr>
        </p:nvSpPr>
        <p:spPr>
          <a:xfrm>
            <a:off x="-1" y="8685212"/>
            <a:ext cx="5909309" cy="457201"/>
          </a:xfrm>
          <a:prstGeom prst="rect">
            <a:avLst/>
          </a:prstGeom>
        </p:spPr>
        <p:txBody>
          <a:bodyPr vert="horz" lIns="0" tIns="45720" rIns="91440" bIns="45720" rtlCol="0" anchor="t"/>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24304"/>
          <a:stretch/>
        </p:blipFill>
        <p:spPr bwMode="black">
          <a:xfrm>
            <a:off x="5136605" y="0"/>
            <a:ext cx="1599837" cy="548640"/>
          </a:xfrm>
          <a:prstGeom prst="rect">
            <a:avLst/>
          </a:prstGeom>
        </p:spPr>
      </p:pic>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Template</a:t>
            </a:r>
            <a:r>
              <a:rPr lang="en-GB" baseline="0" dirty="0"/>
              <a:t> may be modified but please keep the title and the sponsor slide. </a:t>
            </a:r>
            <a:endParaRPr lang="en-GB" dirty="0"/>
          </a:p>
          <a:p>
            <a:r>
              <a:rPr lang="en-GB" dirty="0"/>
              <a:t>Twitter hashtag: </a:t>
            </a:r>
            <a:r>
              <a:rPr lang="en-US" b="0" i="0" u="none" strike="noStrike" dirty="0">
                <a:solidFill>
                  <a:srgbClr val="1D9BF0"/>
                </a:solidFill>
                <a:effectLst/>
                <a:latin typeface="TwitterChirp"/>
              </a:rPr>
              <a:t>#CollabDaysMadrid </a:t>
            </a:r>
            <a:r>
              <a:rPr lang="en-GB" dirty="0"/>
              <a:t>for all sessions</a:t>
            </a:r>
          </a:p>
        </p:txBody>
      </p:sp>
      <p:sp>
        <p:nvSpPr>
          <p:cNvPr id="4" name="Slide Number Placeholder 3"/>
          <p:cNvSpPr>
            <a:spLocks noGrp="1"/>
          </p:cNvSpPr>
          <p:nvPr>
            <p:ph type="sldNum" sz="quarter" idx="10"/>
          </p:nvPr>
        </p:nvSpPr>
        <p:spPr/>
        <p:txBody>
          <a:bodyPr/>
          <a:lstStyle/>
          <a:p>
            <a:fld id="{675416BA-65F7-274A-AD61-D0FA78F3AA6E}" type="slidenum">
              <a:rPr lang="en-US" smtClean="0"/>
              <a:pPr/>
              <a:t>1</a:t>
            </a:fld>
            <a:endParaRPr lang="en-US"/>
          </a:p>
        </p:txBody>
      </p:sp>
    </p:spTree>
    <p:extLst>
      <p:ext uri="{BB962C8B-B14F-4D97-AF65-F5344CB8AC3E}">
        <p14:creationId xmlns:p14="http://schemas.microsoft.com/office/powerpoint/2010/main" val="140599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ca-ES" dirty="0" err="1"/>
              <a:t>Use</a:t>
            </a:r>
            <a:r>
              <a:rPr lang="ca-ES" dirty="0"/>
              <a:t> </a:t>
            </a:r>
            <a:r>
              <a:rPr lang="ca-ES" dirty="0" err="1"/>
              <a:t>this</a:t>
            </a:r>
            <a:r>
              <a:rPr lang="ca-ES" dirty="0"/>
              <a:t> as </a:t>
            </a:r>
            <a:r>
              <a:rPr lang="ca-ES" dirty="0" err="1"/>
              <a:t>the</a:t>
            </a:r>
            <a:r>
              <a:rPr lang="ca-ES" dirty="0"/>
              <a:t> </a:t>
            </a:r>
            <a:r>
              <a:rPr lang="ca-ES" dirty="0" err="1"/>
              <a:t>first</a:t>
            </a:r>
            <a:r>
              <a:rPr lang="ca-ES" baseline="0" dirty="0"/>
              <a:t> </a:t>
            </a:r>
            <a:r>
              <a:rPr lang="ca-ES" baseline="0" dirty="0" err="1"/>
              <a:t>slide</a:t>
            </a:r>
            <a:r>
              <a:rPr lang="ca-ES" baseline="0" dirty="0"/>
              <a:t> in </a:t>
            </a:r>
            <a:r>
              <a:rPr lang="ca-ES" baseline="0" dirty="0" err="1"/>
              <a:t>your</a:t>
            </a:r>
            <a:r>
              <a:rPr lang="ca-ES" baseline="0" dirty="0"/>
              <a:t> </a:t>
            </a:r>
            <a:r>
              <a:rPr lang="ca-ES" baseline="0" dirty="0" err="1"/>
              <a:t>slide</a:t>
            </a:r>
            <a:r>
              <a:rPr lang="ca-ES" baseline="0" dirty="0"/>
              <a:t> </a:t>
            </a:r>
            <a:r>
              <a:rPr lang="ca-ES" baseline="0" dirty="0" err="1"/>
              <a:t>deck</a:t>
            </a:r>
            <a:endParaRPr lang="es-ES" dirty="0"/>
          </a:p>
        </p:txBody>
      </p:sp>
      <p:sp>
        <p:nvSpPr>
          <p:cNvPr id="4" name="Slide Number Placeholder 3"/>
          <p:cNvSpPr>
            <a:spLocks noGrp="1"/>
          </p:cNvSpPr>
          <p:nvPr>
            <p:ph type="sldNum" sz="quarter" idx="10"/>
          </p:nvPr>
        </p:nvSpPr>
        <p:spPr/>
        <p:txBody>
          <a:bodyPr/>
          <a:lstStyle/>
          <a:p>
            <a:fld id="{B4008EB6-D09E-4580-8CD6-DDB14511944F}" type="slidenum">
              <a:rPr lang="en-US" smtClean="0"/>
              <a:t>2</a:t>
            </a:fld>
            <a:endParaRPr lang="en-US" dirty="0"/>
          </a:p>
        </p:txBody>
      </p:sp>
      <p:sp>
        <p:nvSpPr>
          <p:cNvPr id="5" name="Header Placeholder 4"/>
          <p:cNvSpPr>
            <a:spLocks noGrp="1"/>
          </p:cNvSpPr>
          <p:nvPr>
            <p:ph type="hdr" sz="quarter" idx="11"/>
          </p:nvPr>
        </p:nvSpPr>
        <p:spPr/>
        <p:txBody>
          <a:bodyPr/>
          <a:lstStyle/>
          <a:p>
            <a:r>
              <a:rPr lang="en-US"/>
              <a:t>Microsoft SharePoint Server 2013</a:t>
            </a:r>
            <a:endParaRPr lang="en-US" dirty="0"/>
          </a:p>
        </p:txBody>
      </p:sp>
      <p:sp>
        <p:nvSpPr>
          <p:cNvPr id="6" name="Footer Placeholder 5"/>
          <p:cNvSpPr>
            <a:spLocks noGrp="1"/>
          </p:cNvSpPr>
          <p:nvPr>
            <p:ph type="ftr" sz="quarter" idx="12"/>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54630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t>3</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549478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39DF-B535-0D64-A875-2EA46AFDE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99C00-743B-31EF-0AB6-DF657D5D5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BEB4B-EDAD-AB15-A623-6DAF9AB2E5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949C10-495B-874B-DC96-72DB0DF60EB7}"/>
              </a:ext>
            </a:extLst>
          </p:cNvPr>
          <p:cNvSpPr>
            <a:spLocks noGrp="1"/>
          </p:cNvSpPr>
          <p:nvPr>
            <p:ph type="sldNum" sz="quarter" idx="5"/>
          </p:nvPr>
        </p:nvSpPr>
        <p:spPr/>
        <p:txBody>
          <a:bodyPr/>
          <a:lstStyle/>
          <a:p>
            <a:fld id="{B4008EB6-D09E-4580-8CD6-DDB14511944F}" type="slidenum">
              <a:rPr lang="en-US" smtClean="0"/>
              <a:t>4</a:t>
            </a:fld>
            <a:endParaRPr lang="en-US" dirty="0"/>
          </a:p>
        </p:txBody>
      </p:sp>
      <p:sp>
        <p:nvSpPr>
          <p:cNvPr id="5" name="Header Placeholder 4">
            <a:extLst>
              <a:ext uri="{FF2B5EF4-FFF2-40B4-BE49-F238E27FC236}">
                <a16:creationId xmlns:a16="http://schemas.microsoft.com/office/drawing/2014/main" id="{D9AC8012-78F5-CB5E-E9BC-DC81A7A76F9B}"/>
              </a:ext>
            </a:extLst>
          </p:cNvPr>
          <p:cNvSpPr>
            <a:spLocks noGrp="1"/>
          </p:cNvSpPr>
          <p:nvPr>
            <p:ph type="hdr" sz="quarter"/>
          </p:nvPr>
        </p:nvSpPr>
        <p:spPr/>
        <p:txBody>
          <a:bodyPr/>
          <a:lstStyle/>
          <a:p>
            <a:r>
              <a:rPr lang="en-US"/>
              <a:t>Microsoft SharePoint Server 2013</a:t>
            </a:r>
            <a:endParaRPr lang="en-US" dirty="0"/>
          </a:p>
        </p:txBody>
      </p:sp>
      <p:sp>
        <p:nvSpPr>
          <p:cNvPr id="6" name="Footer Placeholder 5">
            <a:extLst>
              <a:ext uri="{FF2B5EF4-FFF2-40B4-BE49-F238E27FC236}">
                <a16:creationId xmlns:a16="http://schemas.microsoft.com/office/drawing/2014/main" id="{60239CF3-D03E-AFF8-7ADF-79A455B3BC38}"/>
              </a:ext>
            </a:extLst>
          </p:cNvPr>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694672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s-ES" dirty="0"/>
              <a:t>¿Qué es Work IQ?</a:t>
            </a:r>
          </a:p>
          <a:p>
            <a:pPr marL="457200" indent="-457200">
              <a:buFont typeface="Arial" panose="020B0604020202020204" pitchFamily="34" charset="0"/>
              <a:buChar char="•"/>
            </a:pPr>
            <a:r>
              <a:rPr lang="es-ES" dirty="0"/>
              <a:t>Work IQ en Microsoft 365 </a:t>
            </a:r>
            <a:r>
              <a:rPr lang="es-ES" dirty="0" err="1"/>
              <a:t>Copilot</a:t>
            </a:r>
            <a:endParaRPr lang="es-ES" dirty="0"/>
          </a:p>
          <a:p>
            <a:pPr marL="457200" indent="-457200">
              <a:buFont typeface="Arial" panose="020B0604020202020204" pitchFamily="34" charset="0"/>
              <a:buChar char="•"/>
            </a:pPr>
            <a:r>
              <a:rPr lang="es-ES" dirty="0"/>
              <a:t>Work IQ en Agentes de </a:t>
            </a:r>
            <a:r>
              <a:rPr lang="es-ES" dirty="0" err="1"/>
              <a:t>Copilot</a:t>
            </a:r>
            <a:r>
              <a:rPr lang="es-ES" dirty="0"/>
              <a:t> Studio</a:t>
            </a:r>
          </a:p>
          <a:p>
            <a:pPr marL="457200" indent="-457200">
              <a:buFont typeface="Arial" panose="020B0604020202020204" pitchFamily="34" charset="0"/>
              <a:buChar char="•"/>
            </a:pPr>
            <a:r>
              <a:rPr lang="es-ES" dirty="0"/>
              <a:t>Conclusiones y Referencias</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63"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p:cNvSpPr>
            <a:spLocks noGrp="1"/>
          </p:cNvSpPr>
          <p:nvPr>
            <p:ph type="hdr" sz="quarter"/>
          </p:nvPr>
        </p:nvSpPr>
        <p:spPr/>
        <p: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Microsoft SharePoint Server 2013</a:t>
            </a:r>
          </a:p>
        </p:txBody>
      </p:sp>
      <p:sp>
        <p:nvSpPr>
          <p:cNvPr id="6" name="Footer Placeholder 5"/>
          <p:cNvSpPr>
            <a:spLocks noGrp="1"/>
          </p:cNvSpPr>
          <p:nvPr>
            <p:ph type="ftr" sz="quarter" idx="4"/>
          </p:nvPr>
        </p:nvSpPr>
        <p:spPr/>
        <p:txBody>
          <a:bodyPr/>
          <a:lstStyle/>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857117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Work IQ is the intelligence layer that personalizes Microsoft 365 Copilot for users and organizations. Built atop leading foundation models from providers like OpenAI and Anthropic, it understands work context, relationships, and patterns so Copilot and agents can deliver faster, more accurate, and more secure responses than connector-only approaches.</a:t>
            </a:r>
          </a:p>
          <a:p>
            <a:r>
              <a:rPr lang="en-US" sz="900" b="0" i="0" kern="1200" dirty="0">
                <a:solidFill>
                  <a:schemeClr val="tx1"/>
                </a:solidFill>
                <a:effectLst/>
                <a:latin typeface="Segoe UI Light" pitchFamily="34" charset="0"/>
                <a:ea typeface="+mn-ea"/>
                <a:cs typeface="+mn-cs"/>
              </a:rPr>
              <a:t>Work IQ combines three integrated layers: </a:t>
            </a:r>
            <a:r>
              <a:rPr lang="en-US" sz="900" b="0" i="1" kern="1200" dirty="0">
                <a:solidFill>
                  <a:schemeClr val="tx1"/>
                </a:solidFill>
                <a:effectLst/>
                <a:latin typeface="Segoe UI Light" pitchFamily="34" charset="0"/>
                <a:ea typeface="+mn-ea"/>
                <a:cs typeface="+mn-cs"/>
              </a:rPr>
              <a:t>data</a:t>
            </a:r>
            <a:r>
              <a:rPr lang="en-US" sz="900" b="0" i="0" kern="1200" dirty="0">
                <a:solidFill>
                  <a:schemeClr val="tx1"/>
                </a:solidFill>
                <a:effectLst/>
                <a:latin typeface="Segoe UI Light" pitchFamily="34" charset="0"/>
                <a:ea typeface="+mn-ea"/>
                <a:cs typeface="+mn-cs"/>
              </a:rPr>
              <a:t>, </a:t>
            </a:r>
            <a:r>
              <a:rPr lang="en-US" sz="900" b="0" i="1" kern="1200" dirty="0">
                <a:solidFill>
                  <a:schemeClr val="tx1"/>
                </a:solidFill>
                <a:effectLst/>
                <a:latin typeface="Segoe UI Light" pitchFamily="34" charset="0"/>
                <a:ea typeface="+mn-ea"/>
                <a:cs typeface="+mn-cs"/>
              </a:rPr>
              <a:t>context</a:t>
            </a:r>
            <a:r>
              <a:rPr lang="en-US" sz="900" b="0" i="0" kern="1200" dirty="0">
                <a:solidFill>
                  <a:schemeClr val="tx1"/>
                </a:solidFill>
                <a:effectLst/>
                <a:latin typeface="Segoe UI Light" pitchFamily="34" charset="0"/>
                <a:ea typeface="+mn-ea"/>
                <a:cs typeface="+mn-cs"/>
              </a:rPr>
              <a:t>, and </a:t>
            </a:r>
            <a:r>
              <a:rPr lang="en-US" sz="900" b="0" i="1" kern="1200" dirty="0">
                <a:solidFill>
                  <a:schemeClr val="tx1"/>
                </a:solidFill>
                <a:effectLst/>
                <a:latin typeface="Segoe UI Light" pitchFamily="34" charset="0"/>
                <a:ea typeface="+mn-ea"/>
                <a:cs typeface="+mn-cs"/>
              </a:rPr>
              <a:t>skills / tools</a:t>
            </a:r>
            <a:r>
              <a:rPr lang="en-US" sz="900" b="0" i="0" kern="1200" dirty="0">
                <a:solidFill>
                  <a:schemeClr val="tx1"/>
                </a:solidFill>
                <a:effectLst/>
                <a:latin typeface="Segoe UI Light" pitchFamily="34" charset="0"/>
                <a:ea typeface="+mn-ea"/>
                <a:cs typeface="+mn-cs"/>
              </a:rPr>
              <a:t>. Together, these layers ground Copilot in organizational information and business signals so responses are relevant to how work actually happens.</a:t>
            </a:r>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t>7</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212489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https://learn.microsoft.com/en-us/microsoft-365/copilot/extensibility/work-iq</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Work IQ is the intelligence layer that personalizes Microsoft 365 Copilot for users and organizations. Built atop leading foundation models from providers like OpenAI and Anthropic, it understands work context, relationships, and patterns so Copilot and agents can deliver faster, more accurate, and more secure responses than connector-only approaches.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Work IQ combines three integrated layers: </a:t>
            </a:r>
            <a:r>
              <a:rPr lang="en-US" sz="900" b="0" i="1" kern="1200" dirty="0">
                <a:solidFill>
                  <a:schemeClr val="tx1"/>
                </a:solidFill>
                <a:effectLst/>
                <a:latin typeface="Segoe UI Light" pitchFamily="34" charset="0"/>
                <a:ea typeface="+mn-ea"/>
                <a:cs typeface="+mn-cs"/>
              </a:rPr>
              <a:t>data</a:t>
            </a:r>
            <a:r>
              <a:rPr lang="en-US" sz="900" b="0" i="0" kern="1200" dirty="0">
                <a:solidFill>
                  <a:schemeClr val="tx1"/>
                </a:solidFill>
                <a:effectLst/>
                <a:latin typeface="Segoe UI Light" pitchFamily="34" charset="0"/>
                <a:ea typeface="+mn-ea"/>
                <a:cs typeface="+mn-cs"/>
              </a:rPr>
              <a:t>, </a:t>
            </a:r>
            <a:r>
              <a:rPr lang="en-US" sz="900" b="0" i="1" kern="1200" dirty="0">
                <a:solidFill>
                  <a:schemeClr val="tx1"/>
                </a:solidFill>
                <a:effectLst/>
                <a:latin typeface="Segoe UI Light" pitchFamily="34" charset="0"/>
                <a:ea typeface="+mn-ea"/>
                <a:cs typeface="+mn-cs"/>
              </a:rPr>
              <a:t>context</a:t>
            </a:r>
            <a:r>
              <a:rPr lang="en-US" sz="900" b="0" i="0" kern="1200" dirty="0">
                <a:solidFill>
                  <a:schemeClr val="tx1"/>
                </a:solidFill>
                <a:effectLst/>
                <a:latin typeface="Segoe UI Light" pitchFamily="34" charset="0"/>
                <a:ea typeface="+mn-ea"/>
                <a:cs typeface="+mn-cs"/>
              </a:rPr>
              <a:t>, and </a:t>
            </a:r>
            <a:r>
              <a:rPr lang="en-US" sz="900" b="0" i="1" kern="1200" dirty="0">
                <a:solidFill>
                  <a:schemeClr val="tx1"/>
                </a:solidFill>
                <a:effectLst/>
                <a:latin typeface="Segoe UI Light" pitchFamily="34" charset="0"/>
                <a:ea typeface="+mn-ea"/>
                <a:cs typeface="+mn-cs"/>
              </a:rPr>
              <a:t>skills / tools</a:t>
            </a:r>
            <a:r>
              <a:rPr lang="en-US" sz="900" b="0" i="0" kern="1200" dirty="0">
                <a:solidFill>
                  <a:schemeClr val="tx1"/>
                </a:solidFill>
                <a:effectLst/>
                <a:latin typeface="Segoe UI Light" pitchFamily="34" charset="0"/>
                <a:ea typeface="+mn-ea"/>
                <a:cs typeface="+mn-cs"/>
              </a:rPr>
              <a:t>. Together, these layers ground Copilot in organizational information and business signals so responses are relevant to how work actually happens.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When it comes to extensibility, you can both extend Work IQ with your business data and extend the agents you build with the intelligence of Work IQ. Furthermore, you can leverage Work IQ intelligence within your own development workflow with Work IQ CLI. This article explains the extensibility opportunities within each layer of Work IQ.</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Data: </a:t>
            </a:r>
            <a:r>
              <a:rPr lang="en-US" sz="900" b="0" i="0" kern="1200" dirty="0">
                <a:solidFill>
                  <a:schemeClr val="tx1"/>
                </a:solidFill>
                <a:effectLst/>
                <a:latin typeface="Segoe UI Light" pitchFamily="34" charset="0"/>
                <a:ea typeface="+mn-ea"/>
                <a:cs typeface="+mn-cs"/>
              </a:rPr>
              <a:t>The data layer provides secure access to structured and unstructured information from Microsoft 365, Dynamics 365, Power Apps, and connected business systems. This layer gives Copilot a foundational understanding of work across people, groups, content, and communication.</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Context: </a:t>
            </a:r>
            <a:r>
              <a:rPr lang="en-US" sz="900" b="0" i="0" kern="1200" dirty="0">
                <a:solidFill>
                  <a:schemeClr val="tx1"/>
                </a:solidFill>
                <a:effectLst/>
                <a:latin typeface="Segoe UI Light" pitchFamily="34" charset="0"/>
                <a:ea typeface="+mn-ea"/>
                <a:cs typeface="+mn-cs"/>
              </a:rPr>
              <a:t>The context layer expands beyond baseline grounding with continuously evolving insights that improve response speed and relevance. Work IQ helps Copilot understand how people and organizations work, including skill profiles, important projects, collaboration frequency, workflow criticality, and communication velocity.</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Skills &amp; Tools: </a:t>
            </a:r>
            <a:r>
              <a:rPr lang="en-US" sz="900" b="0" i="0" kern="1200" dirty="0">
                <a:solidFill>
                  <a:schemeClr val="tx1"/>
                </a:solidFill>
                <a:effectLst/>
                <a:latin typeface="Segoe UI Light" pitchFamily="34" charset="0"/>
                <a:ea typeface="+mn-ea"/>
                <a:cs typeface="+mn-cs"/>
              </a:rPr>
              <a:t>The skills and tools layer puts Work IQ intelligence into operation. Skills provide task-specific instructions that help Copilot and agents complete specialized work with higher speed and precision. If skills describe what actions to take, tools execute those actions. Tools are the concrete integrations—MCP server tools, API plugins, and others services—that an agent calls to actually perform work.</a:t>
            </a:r>
            <a:endParaRPr lang="en-US" sz="900" b="1" i="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t>8</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46638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t>11</a:t>
            </a:fld>
            <a:endParaRPr lang="en-US" dirty="0"/>
          </a:p>
        </p:txBody>
      </p:sp>
      <p:sp>
        <p:nvSpPr>
          <p:cNvPr id="5" name="Header Placeholder 4"/>
          <p:cNvSpPr>
            <a:spLocks noGrp="1"/>
          </p:cNvSpPr>
          <p:nvPr>
            <p:ph type="hdr" sz="quarter"/>
          </p:nvPr>
        </p:nvSpPr>
        <p:spPr/>
        <p:txBody>
          <a:bodyPr/>
          <a:lstStyle/>
          <a:p>
            <a:r>
              <a:rPr lang="en-US"/>
              <a:t>Microsoft SharePoint Server 2013</a:t>
            </a:r>
            <a:endParaRPr lang="en-US" dirty="0"/>
          </a:p>
        </p:txBody>
      </p:sp>
      <p:sp>
        <p:nvSpPr>
          <p:cNvPr id="6" name="Footer Placeholder 5"/>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022230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6D2D-B993-7B23-A124-E8BCBB77A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92A86-32E4-44B5-F36F-4D9526831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0200E-F563-978E-AFD4-35ECF62EE9A7}"/>
              </a:ext>
            </a:extLst>
          </p:cNvPr>
          <p:cNvSpPr>
            <a:spLocks noGrp="1"/>
          </p:cNvSpPr>
          <p:nvPr>
            <p:ph type="body" idx="1"/>
          </p:nvPr>
        </p:nvSpPr>
        <p:spPr/>
        <p:txBody>
          <a:bodyPr/>
          <a:lstStyle/>
          <a:p>
            <a:pPr marL="457200" indent="-457200">
              <a:buFont typeface="Arial" panose="020B0604020202020204" pitchFamily="34" charset="0"/>
              <a:buChar char="•"/>
            </a:pPr>
            <a:r>
              <a:rPr lang="es-ES" dirty="0"/>
              <a:t>¿Qué es Work IQ?</a:t>
            </a:r>
          </a:p>
          <a:p>
            <a:pPr marL="457200" indent="-457200">
              <a:buFont typeface="Arial" panose="020B0604020202020204" pitchFamily="34" charset="0"/>
              <a:buChar char="•"/>
            </a:pPr>
            <a:r>
              <a:rPr lang="es-ES" dirty="0"/>
              <a:t>Work IQ en Microsoft 365 </a:t>
            </a:r>
            <a:r>
              <a:rPr lang="es-ES" dirty="0" err="1"/>
              <a:t>Copilot</a:t>
            </a:r>
            <a:endParaRPr lang="es-ES" dirty="0"/>
          </a:p>
          <a:p>
            <a:pPr marL="457200" indent="-457200">
              <a:buFont typeface="Arial" panose="020B0604020202020204" pitchFamily="34" charset="0"/>
              <a:buChar char="•"/>
            </a:pPr>
            <a:r>
              <a:rPr lang="es-ES" dirty="0"/>
              <a:t>Work IQ en Agentes de </a:t>
            </a:r>
            <a:r>
              <a:rPr lang="es-ES" dirty="0" err="1"/>
              <a:t>Copilot</a:t>
            </a:r>
            <a:r>
              <a:rPr lang="es-ES" dirty="0"/>
              <a:t> Studio</a:t>
            </a:r>
          </a:p>
          <a:p>
            <a:pPr marL="457200" indent="-457200">
              <a:buFont typeface="Arial" panose="020B0604020202020204" pitchFamily="34" charset="0"/>
              <a:buChar char="•"/>
            </a:pPr>
            <a:r>
              <a:rPr lang="es-ES" dirty="0"/>
              <a:t>Conclusiones y Referencias</a:t>
            </a:r>
            <a:endParaRPr lang="en-US" dirty="0"/>
          </a:p>
          <a:p>
            <a:endParaRPr lang="en-US" dirty="0"/>
          </a:p>
        </p:txBody>
      </p:sp>
      <p:sp>
        <p:nvSpPr>
          <p:cNvPr id="4" name="Slide Number Placeholder 3">
            <a:extLst>
              <a:ext uri="{FF2B5EF4-FFF2-40B4-BE49-F238E27FC236}">
                <a16:creationId xmlns:a16="http://schemas.microsoft.com/office/drawing/2014/main" id="{C8EC7F2F-03EE-6B0D-B2CE-5006137EC0DB}"/>
              </a:ext>
            </a:extLst>
          </p:cNvPr>
          <p:cNvSpPr>
            <a:spLocks noGrp="1"/>
          </p:cNvSpPr>
          <p:nvPr>
            <p:ph type="sldNum" sz="quarter" idx="5"/>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63"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a:extLst>
              <a:ext uri="{FF2B5EF4-FFF2-40B4-BE49-F238E27FC236}">
                <a16:creationId xmlns:a16="http://schemas.microsoft.com/office/drawing/2014/main" id="{069F34B2-2B3F-B4A5-6D3F-35E23DC74F18}"/>
              </a:ext>
            </a:extLst>
          </p:cNvPr>
          <p:cNvSpPr>
            <a:spLocks noGrp="1"/>
          </p:cNvSpPr>
          <p:nvPr>
            <p:ph type="hdr" sz="quarter"/>
          </p:nvPr>
        </p:nvSpPr>
        <p:spPr/>
        <p: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Microsoft SharePoint Server 2013</a:t>
            </a:r>
          </a:p>
        </p:txBody>
      </p:sp>
      <p:sp>
        <p:nvSpPr>
          <p:cNvPr id="6" name="Footer Placeholder 5">
            <a:extLst>
              <a:ext uri="{FF2B5EF4-FFF2-40B4-BE49-F238E27FC236}">
                <a16:creationId xmlns:a16="http://schemas.microsoft.com/office/drawing/2014/main" id="{2A0BB532-8EB8-85AB-B448-982B0B0CB13A}"/>
              </a:ext>
            </a:extLst>
          </p:cNvPr>
          <p:cNvSpPr>
            <a:spLocks noGrp="1"/>
          </p:cNvSpPr>
          <p:nvPr>
            <p:ph type="ftr" sz="quarter" idx="4"/>
          </p:nvPr>
        </p:nvSpPr>
        <p:spPr/>
        <p:txBody>
          <a:bodyPr/>
          <a:lstStyle/>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888932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823C0-EEB1-4E45-CEF7-54F749D01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4B3CC-FEC9-8096-1EFD-76D0E9D22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19AF0-2784-4009-4DE2-85E79A291463}"/>
              </a:ext>
            </a:extLst>
          </p:cNvPr>
          <p:cNvSpPr>
            <a:spLocks noGrp="1"/>
          </p:cNvSpPr>
          <p:nvPr>
            <p:ph type="body" idx="1"/>
          </p:nvPr>
        </p:nvSpPr>
        <p:spPr/>
        <p:txBody>
          <a:bodyPr/>
          <a:lstStyle/>
          <a:p>
            <a:pPr marL="457200" indent="-457200">
              <a:buFont typeface="Arial" panose="020B0604020202020204" pitchFamily="34" charset="0"/>
              <a:buChar char="•"/>
            </a:pPr>
            <a:r>
              <a:rPr lang="es-ES" dirty="0"/>
              <a:t>¿Qué es Work IQ?</a:t>
            </a:r>
          </a:p>
          <a:p>
            <a:pPr marL="457200" indent="-457200">
              <a:buFont typeface="Arial" panose="020B0604020202020204" pitchFamily="34" charset="0"/>
              <a:buChar char="•"/>
            </a:pPr>
            <a:r>
              <a:rPr lang="es-ES" dirty="0"/>
              <a:t>Work IQ en Microsoft 365 </a:t>
            </a:r>
            <a:r>
              <a:rPr lang="es-ES" dirty="0" err="1"/>
              <a:t>Copilot</a:t>
            </a:r>
            <a:endParaRPr lang="es-ES" dirty="0"/>
          </a:p>
          <a:p>
            <a:pPr marL="457200" indent="-457200">
              <a:buFont typeface="Arial" panose="020B0604020202020204" pitchFamily="34" charset="0"/>
              <a:buChar char="•"/>
            </a:pPr>
            <a:r>
              <a:rPr lang="es-ES" dirty="0"/>
              <a:t>Work IQ en Agentes de </a:t>
            </a:r>
            <a:r>
              <a:rPr lang="es-ES" dirty="0" err="1"/>
              <a:t>Copilot</a:t>
            </a:r>
            <a:r>
              <a:rPr lang="es-ES" dirty="0"/>
              <a:t> Studio</a:t>
            </a:r>
          </a:p>
          <a:p>
            <a:pPr marL="457200" indent="-457200">
              <a:buFont typeface="Arial" panose="020B0604020202020204" pitchFamily="34" charset="0"/>
              <a:buChar char="•"/>
            </a:pPr>
            <a:r>
              <a:rPr lang="es-ES" dirty="0"/>
              <a:t>Conclusiones y Referencias</a:t>
            </a:r>
            <a:endParaRPr lang="en-US" dirty="0"/>
          </a:p>
          <a:p>
            <a:endParaRPr lang="en-US" dirty="0"/>
          </a:p>
        </p:txBody>
      </p:sp>
      <p:sp>
        <p:nvSpPr>
          <p:cNvPr id="4" name="Slide Number Placeholder 3">
            <a:extLst>
              <a:ext uri="{FF2B5EF4-FFF2-40B4-BE49-F238E27FC236}">
                <a16:creationId xmlns:a16="http://schemas.microsoft.com/office/drawing/2014/main" id="{13879570-827F-28DF-3267-E6DB2B3F9A32}"/>
              </a:ext>
            </a:extLst>
          </p:cNvPr>
          <p:cNvSpPr>
            <a:spLocks noGrp="1"/>
          </p:cNvSpPr>
          <p:nvPr>
            <p:ph type="sldNum" sz="quarter" idx="5"/>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63"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a:extLst>
              <a:ext uri="{FF2B5EF4-FFF2-40B4-BE49-F238E27FC236}">
                <a16:creationId xmlns:a16="http://schemas.microsoft.com/office/drawing/2014/main" id="{CAB1DBD1-A337-517F-E4B4-9C4CBAB64AE9}"/>
              </a:ext>
            </a:extLst>
          </p:cNvPr>
          <p:cNvSpPr>
            <a:spLocks noGrp="1"/>
          </p:cNvSpPr>
          <p:nvPr>
            <p:ph type="hdr" sz="quarter"/>
          </p:nvPr>
        </p:nvSpPr>
        <p:spPr/>
        <p: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Microsoft SharePoint Server 2013</a:t>
            </a:r>
          </a:p>
        </p:txBody>
      </p:sp>
      <p:sp>
        <p:nvSpPr>
          <p:cNvPr id="6" name="Footer Placeholder 5">
            <a:extLst>
              <a:ext uri="{FF2B5EF4-FFF2-40B4-BE49-F238E27FC236}">
                <a16:creationId xmlns:a16="http://schemas.microsoft.com/office/drawing/2014/main" id="{86F97B66-EBEF-B8F4-3E74-007FC4119A58}"/>
              </a:ext>
            </a:extLst>
          </p:cNvPr>
          <p:cNvSpPr>
            <a:spLocks noGrp="1"/>
          </p:cNvSpPr>
          <p:nvPr>
            <p:ph type="ftr" sz="quarter" idx="4"/>
          </p:nvPr>
        </p:nvSpPr>
        <p:spPr/>
        <p:txBody>
          <a:bodyPr/>
          <a:lstStyle/>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738730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CAE53-BCAD-FF29-492D-314EBB5AE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8B3D2-399A-B6F6-1E71-4F0FAED83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E5D69-6EF3-461B-F016-B3FDCD8DA4AE}"/>
              </a:ext>
            </a:extLst>
          </p:cNvPr>
          <p:cNvSpPr>
            <a:spLocks noGrp="1"/>
          </p:cNvSpPr>
          <p:nvPr>
            <p:ph type="body" idx="1"/>
          </p:nvPr>
        </p:nvSpPr>
        <p:spPr/>
        <p:txBody>
          <a:bodyPr/>
          <a:lstStyle/>
          <a:p>
            <a:r>
              <a:rPr lang="en-US" dirty="0"/>
              <a:t>https://learn.microsoft.com/en-us/microsoft-365/copilot/extensibility/work-iq</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Work IQ is the intelligence layer that personalizes Microsoft 365 Copilot for users and organizations. Built atop leading foundation models from providers like OpenAI and Anthropic, it understands work context, relationships, and patterns so Copilot and agents can deliver faster, more accurate, and more secure responses than connector-only approaches.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Work IQ combines three integrated layers: </a:t>
            </a:r>
            <a:r>
              <a:rPr lang="en-US" sz="900" b="0" i="1" kern="1200" dirty="0">
                <a:solidFill>
                  <a:schemeClr val="tx1"/>
                </a:solidFill>
                <a:effectLst/>
                <a:latin typeface="Segoe UI Light" pitchFamily="34" charset="0"/>
                <a:ea typeface="+mn-ea"/>
                <a:cs typeface="+mn-cs"/>
              </a:rPr>
              <a:t>data</a:t>
            </a:r>
            <a:r>
              <a:rPr lang="en-US" sz="900" b="0" i="0" kern="1200" dirty="0">
                <a:solidFill>
                  <a:schemeClr val="tx1"/>
                </a:solidFill>
                <a:effectLst/>
                <a:latin typeface="Segoe UI Light" pitchFamily="34" charset="0"/>
                <a:ea typeface="+mn-ea"/>
                <a:cs typeface="+mn-cs"/>
              </a:rPr>
              <a:t>, </a:t>
            </a:r>
            <a:r>
              <a:rPr lang="en-US" sz="900" b="0" i="1" kern="1200" dirty="0">
                <a:solidFill>
                  <a:schemeClr val="tx1"/>
                </a:solidFill>
                <a:effectLst/>
                <a:latin typeface="Segoe UI Light" pitchFamily="34" charset="0"/>
                <a:ea typeface="+mn-ea"/>
                <a:cs typeface="+mn-cs"/>
              </a:rPr>
              <a:t>context</a:t>
            </a:r>
            <a:r>
              <a:rPr lang="en-US" sz="900" b="0" i="0" kern="1200" dirty="0">
                <a:solidFill>
                  <a:schemeClr val="tx1"/>
                </a:solidFill>
                <a:effectLst/>
                <a:latin typeface="Segoe UI Light" pitchFamily="34" charset="0"/>
                <a:ea typeface="+mn-ea"/>
                <a:cs typeface="+mn-cs"/>
              </a:rPr>
              <a:t>, and </a:t>
            </a:r>
            <a:r>
              <a:rPr lang="en-US" sz="900" b="0" i="1" kern="1200" dirty="0">
                <a:solidFill>
                  <a:schemeClr val="tx1"/>
                </a:solidFill>
                <a:effectLst/>
                <a:latin typeface="Segoe UI Light" pitchFamily="34" charset="0"/>
                <a:ea typeface="+mn-ea"/>
                <a:cs typeface="+mn-cs"/>
              </a:rPr>
              <a:t>skills / tools</a:t>
            </a:r>
            <a:r>
              <a:rPr lang="en-US" sz="900" b="0" i="0" kern="1200" dirty="0">
                <a:solidFill>
                  <a:schemeClr val="tx1"/>
                </a:solidFill>
                <a:effectLst/>
                <a:latin typeface="Segoe UI Light" pitchFamily="34" charset="0"/>
                <a:ea typeface="+mn-ea"/>
                <a:cs typeface="+mn-cs"/>
              </a:rPr>
              <a:t>. Together, these layers ground Copilot in organizational information and business signals so responses are relevant to how work actually happens.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When it comes to extensibility, you can both extend Work IQ with your business data and extend the agents you build with the intelligence of Work IQ. Furthermore, you can leverage Work IQ intelligence within your own development workflow with Work IQ CLI. This article explains the extensibility opportunities within each layer of Work IQ.</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Data: </a:t>
            </a:r>
            <a:r>
              <a:rPr lang="en-US" sz="900" b="0" i="0" kern="1200" dirty="0">
                <a:solidFill>
                  <a:schemeClr val="tx1"/>
                </a:solidFill>
                <a:effectLst/>
                <a:latin typeface="Segoe UI Light" pitchFamily="34" charset="0"/>
                <a:ea typeface="+mn-ea"/>
                <a:cs typeface="+mn-cs"/>
              </a:rPr>
              <a:t>The data layer provides secure access to structured and unstructured information from Microsoft 365, Dynamics 365, Power Apps, and connected business systems. This layer gives Copilot a foundational understanding of work across people, groups, content, and communication.</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Context: </a:t>
            </a:r>
            <a:r>
              <a:rPr lang="en-US" sz="900" b="0" i="0" kern="1200" dirty="0">
                <a:solidFill>
                  <a:schemeClr val="tx1"/>
                </a:solidFill>
                <a:effectLst/>
                <a:latin typeface="Segoe UI Light" pitchFamily="34" charset="0"/>
                <a:ea typeface="+mn-ea"/>
                <a:cs typeface="+mn-cs"/>
              </a:rPr>
              <a:t>The context layer expands beyond baseline grounding with continuously evolving insights that improve response speed and relevance. Work IQ helps Copilot understand how people and organizations work, including skill profiles, important projects, collaboration frequency, workflow criticality, and communication velocity.</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Skills &amp; Tools: </a:t>
            </a:r>
            <a:r>
              <a:rPr lang="en-US" sz="900" b="0" i="0" kern="1200" dirty="0">
                <a:solidFill>
                  <a:schemeClr val="tx1"/>
                </a:solidFill>
                <a:effectLst/>
                <a:latin typeface="Segoe UI Light" pitchFamily="34" charset="0"/>
                <a:ea typeface="+mn-ea"/>
                <a:cs typeface="+mn-cs"/>
              </a:rPr>
              <a:t>The skills and tools layer puts Work IQ intelligence into operation. Skills provide task-specific instructions that help Copilot and agents complete specialized work with higher speed and precision. If skills describe what actions to take, tools execute those actions. Tools are the concrete integrations—MCP server tools, API plugins, and others services—that an agent calls to actually perform work.</a:t>
            </a:r>
            <a:endParaRPr lang="en-US" sz="900" b="1" i="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7DD67A9-5BBC-9DE5-8097-A5E3BCDE3A68}"/>
              </a:ext>
            </a:extLst>
          </p:cNvPr>
          <p:cNvSpPr>
            <a:spLocks noGrp="1"/>
          </p:cNvSpPr>
          <p:nvPr>
            <p:ph type="sldNum" sz="quarter" idx="5"/>
          </p:nvPr>
        </p:nvSpPr>
        <p:spPr/>
        <p:txBody>
          <a:bodyPr/>
          <a:lstStyle/>
          <a:p>
            <a:fld id="{B4008EB6-D09E-4580-8CD6-DDB14511944F}" type="slidenum">
              <a:rPr lang="en-US" smtClean="0"/>
              <a:t>18</a:t>
            </a:fld>
            <a:endParaRPr lang="en-US" dirty="0"/>
          </a:p>
        </p:txBody>
      </p:sp>
      <p:sp>
        <p:nvSpPr>
          <p:cNvPr id="5" name="Header Placeholder 4">
            <a:extLst>
              <a:ext uri="{FF2B5EF4-FFF2-40B4-BE49-F238E27FC236}">
                <a16:creationId xmlns:a16="http://schemas.microsoft.com/office/drawing/2014/main" id="{F818AFAB-FA8C-4537-D1B4-3C9E98F0B2FE}"/>
              </a:ext>
            </a:extLst>
          </p:cNvPr>
          <p:cNvSpPr>
            <a:spLocks noGrp="1"/>
          </p:cNvSpPr>
          <p:nvPr>
            <p:ph type="hdr" sz="quarter"/>
          </p:nvPr>
        </p:nvSpPr>
        <p:spPr/>
        <p:txBody>
          <a:bodyPr/>
          <a:lstStyle/>
          <a:p>
            <a:r>
              <a:rPr lang="en-US"/>
              <a:t>Microsoft SharePoint Server 2013</a:t>
            </a:r>
            <a:endParaRPr lang="en-US" dirty="0"/>
          </a:p>
        </p:txBody>
      </p:sp>
      <p:sp>
        <p:nvSpPr>
          <p:cNvPr id="6" name="Footer Placeholder 5">
            <a:extLst>
              <a:ext uri="{FF2B5EF4-FFF2-40B4-BE49-F238E27FC236}">
                <a16:creationId xmlns:a16="http://schemas.microsoft.com/office/drawing/2014/main" id="{592A372A-8F0C-A912-198F-CFB41EA80E75}"/>
              </a:ext>
            </a:extLst>
          </p:cNvPr>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113151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BBE68-3AD3-5321-F8C1-76EBA3519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8F9B0-00A3-E5FD-57EC-AA8CCDE42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63D30-657C-EB5D-999E-A39F61EBBDD7}"/>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6F35DD6-B71A-7CF5-F678-CC72AC5C05FD}"/>
              </a:ext>
            </a:extLst>
          </p:cNvPr>
          <p:cNvSpPr>
            <a:spLocks noGrp="1"/>
          </p:cNvSpPr>
          <p:nvPr>
            <p:ph type="sldNum" sz="quarter" idx="5"/>
          </p:nvPr>
        </p:nvSpPr>
        <p:spPr/>
        <p:txBody>
          <a:bodyPr/>
          <a:lstStyle/>
          <a:p>
            <a:fld id="{B4008EB6-D09E-4580-8CD6-DDB14511944F}" type="slidenum">
              <a:rPr lang="en-US" smtClean="0"/>
              <a:t>19</a:t>
            </a:fld>
            <a:endParaRPr lang="en-US" dirty="0"/>
          </a:p>
        </p:txBody>
      </p:sp>
      <p:sp>
        <p:nvSpPr>
          <p:cNvPr id="5" name="Header Placeholder 4">
            <a:extLst>
              <a:ext uri="{FF2B5EF4-FFF2-40B4-BE49-F238E27FC236}">
                <a16:creationId xmlns:a16="http://schemas.microsoft.com/office/drawing/2014/main" id="{DEF40C19-E1F2-AA83-8372-4A797DC54735}"/>
              </a:ext>
            </a:extLst>
          </p:cNvPr>
          <p:cNvSpPr>
            <a:spLocks noGrp="1"/>
          </p:cNvSpPr>
          <p:nvPr>
            <p:ph type="hdr" sz="quarter"/>
          </p:nvPr>
        </p:nvSpPr>
        <p:spPr/>
        <p:txBody>
          <a:bodyPr/>
          <a:lstStyle/>
          <a:p>
            <a:r>
              <a:rPr lang="en-US"/>
              <a:t>Microsoft SharePoint Server 2013</a:t>
            </a:r>
            <a:endParaRPr lang="en-US" dirty="0"/>
          </a:p>
        </p:txBody>
      </p:sp>
      <p:sp>
        <p:nvSpPr>
          <p:cNvPr id="6" name="Footer Placeholder 5">
            <a:extLst>
              <a:ext uri="{FF2B5EF4-FFF2-40B4-BE49-F238E27FC236}">
                <a16:creationId xmlns:a16="http://schemas.microsoft.com/office/drawing/2014/main" id="{B9788F9A-12CF-53F4-AEC1-01BA1A46FD72}"/>
              </a:ext>
            </a:extLst>
          </p:cNvPr>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168792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DE2E-1CB2-5A95-65B5-6E9163352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9A9E8-0793-9FA7-3C89-20646F94B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8A7A3-FC15-435A-02BA-8271FE2DBAFD}"/>
              </a:ext>
            </a:extLst>
          </p:cNvPr>
          <p:cNvSpPr>
            <a:spLocks noGrp="1"/>
          </p:cNvSpPr>
          <p:nvPr>
            <p:ph type="body" idx="1"/>
          </p:nvPr>
        </p:nvSpPr>
        <p:spPr/>
        <p:txBody>
          <a:bodyPr/>
          <a:lstStyle/>
          <a:p>
            <a:r>
              <a:rPr lang="en-US" dirty="0"/>
              <a:t>https://learn.microsoft.com/en-us/microsoft-365/copilot/extensibility/work-iq</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Work IQ is the intelligence layer that personalizes Microsoft 365 Copilot for users and organizations. Built atop leading foundation models from providers like OpenAI and Anthropic, it understands work context, relationships, and patterns so Copilot and agents can deliver faster, more accurate, and more secure responses than connector-only approaches.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Work IQ combines three integrated layers: </a:t>
            </a:r>
            <a:r>
              <a:rPr lang="en-US" sz="900" b="0" i="1" kern="1200" dirty="0">
                <a:solidFill>
                  <a:schemeClr val="tx1"/>
                </a:solidFill>
                <a:effectLst/>
                <a:latin typeface="Segoe UI Light" pitchFamily="34" charset="0"/>
                <a:ea typeface="+mn-ea"/>
                <a:cs typeface="+mn-cs"/>
              </a:rPr>
              <a:t>data</a:t>
            </a:r>
            <a:r>
              <a:rPr lang="en-US" sz="900" b="0" i="0" kern="1200" dirty="0">
                <a:solidFill>
                  <a:schemeClr val="tx1"/>
                </a:solidFill>
                <a:effectLst/>
                <a:latin typeface="Segoe UI Light" pitchFamily="34" charset="0"/>
                <a:ea typeface="+mn-ea"/>
                <a:cs typeface="+mn-cs"/>
              </a:rPr>
              <a:t>, </a:t>
            </a:r>
            <a:r>
              <a:rPr lang="en-US" sz="900" b="0" i="1" kern="1200" dirty="0">
                <a:solidFill>
                  <a:schemeClr val="tx1"/>
                </a:solidFill>
                <a:effectLst/>
                <a:latin typeface="Segoe UI Light" pitchFamily="34" charset="0"/>
                <a:ea typeface="+mn-ea"/>
                <a:cs typeface="+mn-cs"/>
              </a:rPr>
              <a:t>context</a:t>
            </a:r>
            <a:r>
              <a:rPr lang="en-US" sz="900" b="0" i="0" kern="1200" dirty="0">
                <a:solidFill>
                  <a:schemeClr val="tx1"/>
                </a:solidFill>
                <a:effectLst/>
                <a:latin typeface="Segoe UI Light" pitchFamily="34" charset="0"/>
                <a:ea typeface="+mn-ea"/>
                <a:cs typeface="+mn-cs"/>
              </a:rPr>
              <a:t>, and </a:t>
            </a:r>
            <a:r>
              <a:rPr lang="en-US" sz="900" b="0" i="1" kern="1200" dirty="0">
                <a:solidFill>
                  <a:schemeClr val="tx1"/>
                </a:solidFill>
                <a:effectLst/>
                <a:latin typeface="Segoe UI Light" pitchFamily="34" charset="0"/>
                <a:ea typeface="+mn-ea"/>
                <a:cs typeface="+mn-cs"/>
              </a:rPr>
              <a:t>skills / tools</a:t>
            </a:r>
            <a:r>
              <a:rPr lang="en-US" sz="900" b="0" i="0" kern="1200" dirty="0">
                <a:solidFill>
                  <a:schemeClr val="tx1"/>
                </a:solidFill>
                <a:effectLst/>
                <a:latin typeface="Segoe UI Light" pitchFamily="34" charset="0"/>
                <a:ea typeface="+mn-ea"/>
                <a:cs typeface="+mn-cs"/>
              </a:rPr>
              <a:t>. Together, these layers ground Copilot in organizational information and business signals so responses are relevant to how work actually happens.</a:t>
            </a:r>
          </a:p>
          <a:p>
            <a:pPr marL="171450" indent="-171450">
              <a:buFont typeface="Arial" panose="020B0604020202020204" pitchFamily="34" charset="0"/>
              <a:buChar char="•"/>
            </a:pPr>
            <a:r>
              <a:rPr lang="en-US" sz="900" b="0" i="0" kern="1200" dirty="0">
                <a:solidFill>
                  <a:schemeClr val="tx1"/>
                </a:solidFill>
                <a:effectLst/>
                <a:latin typeface="Segoe UI Light" pitchFamily="34" charset="0"/>
                <a:ea typeface="+mn-ea"/>
                <a:cs typeface="+mn-cs"/>
              </a:rPr>
              <a:t>When it comes to extensibility, you can both extend Work IQ with your business data and extend the agents you build with the intelligence of Work IQ. Furthermore, you can leverage Work IQ intelligence within your own development workflow with Work IQ CLI. This article explains the extensibility opportunities within each layer of Work IQ.</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Data: </a:t>
            </a:r>
            <a:r>
              <a:rPr lang="en-US" sz="900" b="0" i="0" kern="1200" dirty="0">
                <a:solidFill>
                  <a:schemeClr val="tx1"/>
                </a:solidFill>
                <a:effectLst/>
                <a:latin typeface="Segoe UI Light" pitchFamily="34" charset="0"/>
                <a:ea typeface="+mn-ea"/>
                <a:cs typeface="+mn-cs"/>
              </a:rPr>
              <a:t>The data layer provides secure access to structured and unstructured information from Microsoft 365, Dynamics 365, Power Apps, and connected business systems. This layer gives Copilot a foundational understanding of work across people, groups, content, and communication.</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Context: </a:t>
            </a:r>
            <a:r>
              <a:rPr lang="en-US" sz="900" b="0" i="0" kern="1200" dirty="0">
                <a:solidFill>
                  <a:schemeClr val="tx1"/>
                </a:solidFill>
                <a:effectLst/>
                <a:latin typeface="Segoe UI Light" pitchFamily="34" charset="0"/>
                <a:ea typeface="+mn-ea"/>
                <a:cs typeface="+mn-cs"/>
              </a:rPr>
              <a:t>The context layer expands beyond baseline grounding with continuously evolving insights that improve response speed and relevance. Work IQ helps Copilot understand how people and organizations work, including skill profiles, important projects, collaboration frequency, workflow criticality, and communication velocity.</a:t>
            </a:r>
          </a:p>
          <a:p>
            <a:pPr marL="171450" indent="-171450">
              <a:buFont typeface="Arial" panose="020B0604020202020204" pitchFamily="34" charset="0"/>
              <a:buChar char="•"/>
            </a:pPr>
            <a:r>
              <a:rPr lang="en-US" sz="900" b="1" i="0" kern="1200" dirty="0">
                <a:solidFill>
                  <a:schemeClr val="tx1"/>
                </a:solidFill>
                <a:effectLst/>
                <a:latin typeface="Segoe UI Light" pitchFamily="34" charset="0"/>
                <a:ea typeface="+mn-ea"/>
                <a:cs typeface="+mn-cs"/>
              </a:rPr>
              <a:t>Skills &amp; Tools: </a:t>
            </a:r>
            <a:r>
              <a:rPr lang="en-US" sz="900" b="0" i="0" kern="1200" dirty="0">
                <a:solidFill>
                  <a:schemeClr val="tx1"/>
                </a:solidFill>
                <a:effectLst/>
                <a:latin typeface="Segoe UI Light" pitchFamily="34" charset="0"/>
                <a:ea typeface="+mn-ea"/>
                <a:cs typeface="+mn-cs"/>
              </a:rPr>
              <a:t>The skills and tools layer puts Work IQ intelligence into operation. Skills provide task-specific instructions that help Copilot and agents complete specialized work with higher speed and precision. If skills describe what actions to take, tools execute those actions. Tools are the concrete integrations—MCP server tools, API plugins, and others services—that an agent calls to actually perform work.</a:t>
            </a:r>
            <a:endParaRPr lang="en-US" sz="900" b="1" i="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144BD3E-B287-2A18-34D5-26C01431FAC8}"/>
              </a:ext>
            </a:extLst>
          </p:cNvPr>
          <p:cNvSpPr>
            <a:spLocks noGrp="1"/>
          </p:cNvSpPr>
          <p:nvPr>
            <p:ph type="sldNum" sz="quarter" idx="5"/>
          </p:nvPr>
        </p:nvSpPr>
        <p:spPr/>
        <p:txBody>
          <a:bodyPr/>
          <a:lstStyle/>
          <a:p>
            <a:fld id="{B4008EB6-D09E-4580-8CD6-DDB14511944F}" type="slidenum">
              <a:rPr lang="en-US" smtClean="0"/>
              <a:t>21</a:t>
            </a:fld>
            <a:endParaRPr lang="en-US" dirty="0"/>
          </a:p>
        </p:txBody>
      </p:sp>
      <p:sp>
        <p:nvSpPr>
          <p:cNvPr id="5" name="Header Placeholder 4">
            <a:extLst>
              <a:ext uri="{FF2B5EF4-FFF2-40B4-BE49-F238E27FC236}">
                <a16:creationId xmlns:a16="http://schemas.microsoft.com/office/drawing/2014/main" id="{66607998-7314-E99C-0D1D-74D7D861C0A9}"/>
              </a:ext>
            </a:extLst>
          </p:cNvPr>
          <p:cNvSpPr>
            <a:spLocks noGrp="1"/>
          </p:cNvSpPr>
          <p:nvPr>
            <p:ph type="hdr" sz="quarter"/>
          </p:nvPr>
        </p:nvSpPr>
        <p:spPr/>
        <p:txBody>
          <a:bodyPr/>
          <a:lstStyle/>
          <a:p>
            <a:r>
              <a:rPr lang="en-US"/>
              <a:t>Microsoft SharePoint Server 2013</a:t>
            </a:r>
            <a:endParaRPr lang="en-US" dirty="0"/>
          </a:p>
        </p:txBody>
      </p:sp>
      <p:sp>
        <p:nvSpPr>
          <p:cNvPr id="6" name="Footer Placeholder 5">
            <a:extLst>
              <a:ext uri="{FF2B5EF4-FFF2-40B4-BE49-F238E27FC236}">
                <a16:creationId xmlns:a16="http://schemas.microsoft.com/office/drawing/2014/main" id="{BD076763-1C85-A23C-D895-E7819942E39B}"/>
              </a:ext>
            </a:extLst>
          </p:cNvPr>
          <p:cNvSpPr>
            <a:spLocks noGrp="1"/>
          </p:cNvSpPr>
          <p:nvPr>
            <p:ph type="ftr" sz="quarter" idx="4"/>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680766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1AB7-2565-CBFC-F6CC-C6D9177E0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0C47F-A605-BA47-B393-F4098C223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3C9C8-3F29-7D73-1E0D-7179280240AC}"/>
              </a:ext>
            </a:extLst>
          </p:cNvPr>
          <p:cNvSpPr>
            <a:spLocks noGrp="1"/>
          </p:cNvSpPr>
          <p:nvPr>
            <p:ph type="body" idx="1"/>
          </p:nvPr>
        </p:nvSpPr>
        <p:spPr/>
        <p:txBody>
          <a:bodyPr/>
          <a:lstStyle/>
          <a:p>
            <a:pPr marL="457200" indent="-457200">
              <a:buFont typeface="Arial" panose="020B0604020202020204" pitchFamily="34" charset="0"/>
              <a:buChar char="•"/>
            </a:pPr>
            <a:r>
              <a:rPr lang="es-ES" dirty="0"/>
              <a:t>¿Qué es Work IQ?</a:t>
            </a:r>
          </a:p>
          <a:p>
            <a:pPr marL="457200" indent="-457200">
              <a:buFont typeface="Arial" panose="020B0604020202020204" pitchFamily="34" charset="0"/>
              <a:buChar char="•"/>
            </a:pPr>
            <a:r>
              <a:rPr lang="es-ES" dirty="0"/>
              <a:t>Work IQ en Microsoft 365 </a:t>
            </a:r>
            <a:r>
              <a:rPr lang="es-ES" dirty="0" err="1"/>
              <a:t>Copilot</a:t>
            </a:r>
            <a:endParaRPr lang="es-ES" dirty="0"/>
          </a:p>
          <a:p>
            <a:pPr marL="457200" indent="-457200">
              <a:buFont typeface="Arial" panose="020B0604020202020204" pitchFamily="34" charset="0"/>
              <a:buChar char="•"/>
            </a:pPr>
            <a:r>
              <a:rPr lang="es-ES" dirty="0"/>
              <a:t>Work IQ en Agentes de </a:t>
            </a:r>
            <a:r>
              <a:rPr lang="es-ES" dirty="0" err="1"/>
              <a:t>Copilot</a:t>
            </a:r>
            <a:r>
              <a:rPr lang="es-ES" dirty="0"/>
              <a:t> Studio</a:t>
            </a:r>
          </a:p>
          <a:p>
            <a:pPr marL="457200" indent="-457200">
              <a:buFont typeface="Arial" panose="020B0604020202020204" pitchFamily="34" charset="0"/>
              <a:buChar char="•"/>
            </a:pPr>
            <a:r>
              <a:rPr lang="es-ES" dirty="0"/>
              <a:t>Conclusiones y Referencias</a:t>
            </a:r>
            <a:endParaRPr lang="en-US" dirty="0"/>
          </a:p>
          <a:p>
            <a:endParaRPr lang="en-US" dirty="0"/>
          </a:p>
        </p:txBody>
      </p:sp>
      <p:sp>
        <p:nvSpPr>
          <p:cNvPr id="4" name="Slide Number Placeholder 3">
            <a:extLst>
              <a:ext uri="{FF2B5EF4-FFF2-40B4-BE49-F238E27FC236}">
                <a16:creationId xmlns:a16="http://schemas.microsoft.com/office/drawing/2014/main" id="{61F2D74B-FBA0-613A-05A5-9AF29C756ED3}"/>
              </a:ext>
            </a:extLst>
          </p:cNvPr>
          <p:cNvSpPr>
            <a:spLocks noGrp="1"/>
          </p:cNvSpPr>
          <p:nvPr>
            <p:ph type="sldNum" sz="quarter" idx="5"/>
          </p:nvPr>
        </p:nvSpPr>
        <p:spPr/>
        <p:txBody>
          <a:bodyPr/>
          <a:lstStyle/>
          <a:p>
            <a:pPr marL="0" marR="0" lvl="0" indent="0" algn="r" defTabSz="914363"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63"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a:extLst>
              <a:ext uri="{FF2B5EF4-FFF2-40B4-BE49-F238E27FC236}">
                <a16:creationId xmlns:a16="http://schemas.microsoft.com/office/drawing/2014/main" id="{1BAC83AC-5A67-4150-D6E5-6C212E81D798}"/>
              </a:ext>
            </a:extLst>
          </p:cNvPr>
          <p:cNvSpPr>
            <a:spLocks noGrp="1"/>
          </p:cNvSpPr>
          <p:nvPr>
            <p:ph type="hdr" sz="quarter"/>
          </p:nvPr>
        </p:nvSpPr>
        <p:spPr/>
        <p: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Microsoft SharePoint Server 2013</a:t>
            </a:r>
          </a:p>
        </p:txBody>
      </p:sp>
      <p:sp>
        <p:nvSpPr>
          <p:cNvPr id="6" name="Footer Placeholder 5">
            <a:extLst>
              <a:ext uri="{FF2B5EF4-FFF2-40B4-BE49-F238E27FC236}">
                <a16:creationId xmlns:a16="http://schemas.microsoft.com/office/drawing/2014/main" id="{05422CE0-D9F6-CE04-EE58-3E3BF7867F18}"/>
              </a:ext>
            </a:extLst>
          </p:cNvPr>
          <p:cNvSpPr>
            <a:spLocks noGrp="1"/>
          </p:cNvSpPr>
          <p:nvPr>
            <p:ph type="ftr" sz="quarter" idx="4"/>
          </p:nvPr>
        </p:nvSpPr>
        <p:spPr/>
        <p:txBody>
          <a:bodyPr/>
          <a:lstStyle/>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marR="0" lvl="0" indent="0" algn="l" defTabSz="914099" rtl="0" eaLnBrk="0" fontAlgn="auto" latinLnBrk="0" hangingPunct="0">
              <a:lnSpc>
                <a:spcPct val="100000"/>
              </a:lnSpc>
              <a:spcBef>
                <a:spcPts val="0"/>
              </a:spcBef>
              <a:spcAft>
                <a:spcPts val="0"/>
              </a:spcAft>
              <a:buClrTx/>
              <a:buSzTx/>
              <a:buFontTx/>
              <a:buNone/>
              <a:tabLst/>
              <a:defRPr/>
            </a:pPr>
            <a:r>
              <a:rPr kumimoji="0" lang="en-US" sz="5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455577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g"/><Relationship Id="rId1" Type="http://schemas.openxmlformats.org/officeDocument/2006/relationships/slideMaster" Target="../slideMasters/slideMaster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dirty="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6" name="Gráfico 5">
            <a:extLst>
              <a:ext uri="{FF2B5EF4-FFF2-40B4-BE49-F238E27FC236}">
                <a16:creationId xmlns:a16="http://schemas.microsoft.com/office/drawing/2014/main" id="{DA11E416-9399-A2B2-0FAA-7E24E1E04289}"/>
              </a:ext>
            </a:extLst>
          </p:cNvPr>
          <p:cNvPicPr>
            <a:picLocks noChangeAspect="1"/>
          </p:cNvPicPr>
          <p:nvPr userDrawn="1"/>
        </p:nvPicPr>
        <p:blipFill>
          <a:blip>
            <a:extLst>
              <a:ext uri="{96DAC541-7B7A-43D3-8B79-37D633B846F1}">
                <asvg:svgBlip xmlns:asvg="http://schemas.microsoft.com/office/drawing/2016/SVG/main" r:embed="rId3"/>
              </a:ext>
            </a:extLst>
          </a:blip>
          <a:srcRect t="1" r="80720" b="-4262"/>
          <a:stretch/>
        </p:blipFill>
        <p:spPr>
          <a:xfrm>
            <a:off x="8663379" y="6344057"/>
            <a:ext cx="641331" cy="445681"/>
          </a:xfrm>
          <a:prstGeom prst="rect">
            <a:avLst/>
          </a:prstGeom>
        </p:spPr>
      </p:pic>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6525" y="68261"/>
            <a:ext cx="2767542" cy="666675"/>
          </a:xfrm>
          <a:prstGeom prst="rect">
            <a:avLst/>
          </a:prstGeom>
        </p:spPr>
      </p:pic>
      <p:sp>
        <p:nvSpPr>
          <p:cNvPr id="20" name="Title 16">
            <a:extLst>
              <a:ext uri="{FF2B5EF4-FFF2-40B4-BE49-F238E27FC236}">
                <a16:creationId xmlns:a16="http://schemas.microsoft.com/office/drawing/2014/main" id="{5E24BA48-C45B-8D01-C0DC-AFBC845D9563}"/>
              </a:ext>
            </a:extLst>
          </p:cNvPr>
          <p:cNvSpPr>
            <a:spLocks noGrp="1"/>
          </p:cNvSpPr>
          <p:nvPr>
            <p:ph type="title" idx="4294967295"/>
          </p:nvPr>
        </p:nvSpPr>
        <p:spPr>
          <a:xfrm>
            <a:off x="0" y="4413616"/>
            <a:ext cx="12192000" cy="1021985"/>
          </a:xfrm>
          <a:solidFill>
            <a:srgbClr val="053B47">
              <a:alpha val="65000"/>
            </a:srgbClr>
          </a:solidFill>
          <a:ln>
            <a:noFill/>
          </a:ln>
        </p:spPr>
        <p:txBody>
          <a:bodyPr vert="horz" wrap="square" lIns="137196" tIns="102897" rIns="137736" bIns="34299" rtlCol="0" anchor="ctr" anchorCtr="0">
            <a:normAutofit/>
          </a:bodyPr>
          <a:lstStyle>
            <a:lvl1pPr>
              <a:defRPr sz="3600"/>
            </a:lvl1pPr>
          </a:lstStyle>
          <a:p>
            <a:pPr defTabSz="685983"/>
            <a:endParaRPr lang="en-US" sz="2800" dirty="0">
              <a:solidFill>
                <a:schemeClr val="bg1"/>
              </a:solidFill>
              <a:latin typeface="Segoe UI Semibold" panose="020B0702040204020203" pitchFamily="34" charset="0"/>
              <a:ea typeface="+mj-ea"/>
              <a:cs typeface="Segoe UI Semibold" panose="020B0702040204020203" pitchFamily="34" charset="0"/>
            </a:endParaRPr>
          </a:p>
        </p:txBody>
      </p:sp>
      <p:sp>
        <p:nvSpPr>
          <p:cNvPr id="21" name="Text Placeholder 9">
            <a:extLst>
              <a:ext uri="{FF2B5EF4-FFF2-40B4-BE49-F238E27FC236}">
                <a16:creationId xmlns:a16="http://schemas.microsoft.com/office/drawing/2014/main" id="{DA39C1CD-7A5F-3EA1-F495-77F04256A37A}"/>
              </a:ext>
            </a:extLst>
          </p:cNvPr>
          <p:cNvSpPr>
            <a:spLocks noGrp="1"/>
          </p:cNvSpPr>
          <p:nvPr>
            <p:ph type="body" sz="quarter" idx="4294967295"/>
          </p:nvPr>
        </p:nvSpPr>
        <p:spPr>
          <a:xfrm>
            <a:off x="0" y="5435635"/>
            <a:ext cx="12192000" cy="857290"/>
          </a:xfrm>
          <a:solidFill>
            <a:srgbClr val="053B47">
              <a:alpha val="65000"/>
            </a:srgbClr>
          </a:solidFill>
          <a:ln>
            <a:noFill/>
          </a:ln>
        </p:spPr>
        <p:txBody>
          <a:bodyPr anchor="ctr">
            <a:normAutofit/>
          </a:bodyPr>
          <a:lstStyle>
            <a:lvl1pPr>
              <a:defRPr/>
            </a:lvl1pPr>
          </a:lstStyle>
          <a:p>
            <a:pPr marL="180000" indent="0">
              <a:buNone/>
            </a:pPr>
            <a:endParaRPr lang="en-US" sz="2000" b="1" dirty="0">
              <a:solidFill>
                <a:schemeClr val="bg1"/>
              </a:solidFill>
            </a:endParaRPr>
          </a:p>
        </p:txBody>
      </p:sp>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sp>
        <p:nvSpPr>
          <p:cNvPr id="24" name="Marcador de posición de imagen 23">
            <a:extLst>
              <a:ext uri="{FF2B5EF4-FFF2-40B4-BE49-F238E27FC236}">
                <a16:creationId xmlns:a16="http://schemas.microsoft.com/office/drawing/2014/main" id="{756ACD07-D9D7-09FE-A4BD-DBA7EA3DC702}"/>
              </a:ext>
            </a:extLst>
          </p:cNvPr>
          <p:cNvSpPr>
            <a:spLocks noGrp="1"/>
          </p:cNvSpPr>
          <p:nvPr>
            <p:ph type="pic" sz="quarter" idx="10" hasCustomPrompt="1"/>
          </p:nvPr>
        </p:nvSpPr>
        <p:spPr>
          <a:xfrm>
            <a:off x="9255125" y="3429000"/>
            <a:ext cx="2540000" cy="2524125"/>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dirty="0"/>
              <a:t>Speaker Picture</a:t>
            </a:r>
          </a:p>
        </p:txBody>
      </p:sp>
      <p:sp>
        <p:nvSpPr>
          <p:cNvPr id="45" name="TextBox 44">
            <a:extLst>
              <a:ext uri="{FF2B5EF4-FFF2-40B4-BE49-F238E27FC236}">
                <a16:creationId xmlns:a16="http://schemas.microsoft.com/office/drawing/2014/main" id="{97853BCA-BB0B-30C4-6B56-CBEF72BCFC2B}"/>
              </a:ext>
            </a:extLst>
          </p:cNvPr>
          <p:cNvSpPr txBox="1"/>
          <p:nvPr userDrawn="1"/>
        </p:nvSpPr>
        <p:spPr>
          <a:xfrm>
            <a:off x="9255125" y="6382231"/>
            <a:ext cx="2936875" cy="369332"/>
          </a:xfrm>
          <a:prstGeom prst="rect">
            <a:avLst/>
          </a:prstGeom>
          <a:noFill/>
        </p:spPr>
        <p:txBody>
          <a:bodyPr wrap="square">
            <a:spAutoFit/>
          </a:bodyPr>
          <a:lstStyle/>
          <a:p>
            <a:pPr algn="ctr"/>
            <a:r>
              <a:rPr lang="es-ES" sz="1800" b="0" dirty="0">
                <a:solidFill>
                  <a:srgbClr val="0DA2C2"/>
                </a:solidFill>
                <a:latin typeface="+mn-lt"/>
                <a:ea typeface="Segoe UI" pitchFamily="34" charset="0"/>
                <a:cs typeface="Segoe UI Semibold" panose="020B0702040204020203" pitchFamily="34" charset="0"/>
              </a:rPr>
              <a:t>CollabDays | Madrid 2026</a:t>
            </a:r>
            <a:endParaRPr lang="en-US" b="0" dirty="0">
              <a:latin typeface="+mn-lt"/>
            </a:endParaRPr>
          </a:p>
        </p:txBody>
      </p:sp>
    </p:spTree>
    <p:extLst>
      <p:ext uri="{BB962C8B-B14F-4D97-AF65-F5344CB8AC3E}">
        <p14:creationId xmlns:p14="http://schemas.microsoft.com/office/powerpoint/2010/main" val="2189526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lor Block Header on Left &amp; Spekaer Description Right ">
    <p:spTree>
      <p:nvGrpSpPr>
        <p:cNvPr id="1" name=""/>
        <p:cNvGrpSpPr/>
        <p:nvPr/>
      </p:nvGrpSpPr>
      <p:grpSpPr>
        <a:xfrm>
          <a:off x="0" y="0"/>
          <a:ext cx="0" cy="0"/>
          <a:chOff x="0" y="0"/>
          <a:chExt cx="0" cy="0"/>
        </a:xfrm>
      </p:grpSpPr>
      <p:pic>
        <p:nvPicPr>
          <p:cNvPr id="19" name="Imagen 18" descr="Edificio en frente de agua&#10;&#10;Descripción generada automáticamente">
            <a:extLst>
              <a:ext uri="{FF2B5EF4-FFF2-40B4-BE49-F238E27FC236}">
                <a16:creationId xmlns:a16="http://schemas.microsoft.com/office/drawing/2014/main" id="{C107E4CA-8391-9C7B-C5E5-19D5DC8C7D2E}"/>
              </a:ext>
            </a:extLst>
          </p:cNvPr>
          <p:cNvPicPr>
            <a:picLocks noChangeAspect="1"/>
          </p:cNvPicPr>
          <p:nvPr userDrawn="1"/>
        </p:nvPicPr>
        <p:blipFill rotWithShape="1">
          <a:blip r:embed="rId2"/>
          <a:srcRect t="10710" b="4915"/>
          <a:stretch/>
        </p:blipFill>
        <p:spPr>
          <a:xfrm>
            <a:off x="0" y="1"/>
            <a:ext cx="12191999" cy="6858000"/>
          </a:xfrm>
          <a:prstGeom prst="rect">
            <a:avLst/>
          </a:prstGeom>
        </p:spPr>
      </p:pic>
      <p:sp>
        <p:nvSpPr>
          <p:cNvPr id="38" name="Rectángulo 37">
            <a:extLst>
              <a:ext uri="{FF2B5EF4-FFF2-40B4-BE49-F238E27FC236}">
                <a16:creationId xmlns:a16="http://schemas.microsoft.com/office/drawing/2014/main" id="{974E3269-F834-DB8E-A48E-221DEDA4AEB3}"/>
              </a:ext>
            </a:extLst>
          </p:cNvPr>
          <p:cNvSpPr/>
          <p:nvPr userDrawn="1"/>
        </p:nvSpPr>
        <p:spPr bwMode="auto">
          <a:xfrm>
            <a:off x="0" y="1414782"/>
            <a:ext cx="12192000" cy="4115618"/>
          </a:xfrm>
          <a:prstGeom prst="rect">
            <a:avLst/>
          </a:prstGeom>
          <a:solidFill>
            <a:schemeClr val="tx1">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20" name="Rectángulo 19">
            <a:extLst>
              <a:ext uri="{FF2B5EF4-FFF2-40B4-BE49-F238E27FC236}">
                <a16:creationId xmlns:a16="http://schemas.microsoft.com/office/drawing/2014/main" id="{0D7C586D-731B-2E8C-96EA-DC342F246DA0}"/>
              </a:ext>
            </a:extLst>
          </p:cNvPr>
          <p:cNvSpPr/>
          <p:nvPr userDrawn="1"/>
        </p:nvSpPr>
        <p:spPr bwMode="auto">
          <a:xfrm>
            <a:off x="0" y="6481895"/>
            <a:ext cx="12192000" cy="38667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ángulo 2">
            <a:extLst>
              <a:ext uri="{FF2B5EF4-FFF2-40B4-BE49-F238E27FC236}">
                <a16:creationId xmlns:a16="http://schemas.microsoft.com/office/drawing/2014/main" id="{18029AAC-1C6F-178E-9B75-06175A351B22}"/>
              </a:ext>
            </a:extLst>
          </p:cNvPr>
          <p:cNvSpPr/>
          <p:nvPr userDrawn="1"/>
        </p:nvSpPr>
        <p:spPr bwMode="auto">
          <a:xfrm>
            <a:off x="0" y="0"/>
            <a:ext cx="12192000" cy="6481895"/>
          </a:xfrm>
          <a:prstGeom prst="rect">
            <a:avLst/>
          </a:prstGeom>
          <a:solidFill>
            <a:srgbClr val="053B47">
              <a:alpha val="4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Marcador de contenido 3">
            <a:extLst>
              <a:ext uri="{FF2B5EF4-FFF2-40B4-BE49-F238E27FC236}">
                <a16:creationId xmlns:a16="http://schemas.microsoft.com/office/drawing/2014/main" id="{3DFFFC80-CAC7-E6A6-1CC4-B6D02156AD45}"/>
              </a:ext>
            </a:extLst>
          </p:cNvPr>
          <p:cNvSpPr>
            <a:spLocks noGrp="1"/>
          </p:cNvSpPr>
          <p:nvPr>
            <p:ph sz="quarter" idx="4" hasCustomPrompt="1"/>
          </p:nvPr>
        </p:nvSpPr>
        <p:spPr>
          <a:xfrm>
            <a:off x="4652827" y="3319847"/>
            <a:ext cx="4643438" cy="1820164"/>
          </a:xfrm>
        </p:spPr>
        <p:txBody>
          <a:bodyPr/>
          <a:lstStyle>
            <a:lvl1pPr marL="0" indent="0">
              <a:buNone/>
              <a:defRPr sz="2400"/>
            </a:lvl1pPr>
          </a:lstStyle>
          <a:p>
            <a:r>
              <a:rPr lang="en-US" dirty="0">
                <a:solidFill>
                  <a:schemeClr val="bg1"/>
                </a:solidFill>
              </a:rPr>
              <a:t>Description</a:t>
            </a:r>
          </a:p>
        </p:txBody>
      </p:sp>
      <p:pic>
        <p:nvPicPr>
          <p:cNvPr id="6" name="Picture 2" descr="W3.CSS Images" hidden="1">
            <a:extLst>
              <a:ext uri="{FF2B5EF4-FFF2-40B4-BE49-F238E27FC236}">
                <a16:creationId xmlns:a16="http://schemas.microsoft.com/office/drawing/2014/main" id="{5543A152-B134-9405-CE8B-BBF54CFBEE5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4520" y="1681724"/>
            <a:ext cx="3576384" cy="3575828"/>
          </a:xfrm>
          <a:prstGeom prst="ellipse">
            <a:avLst/>
          </a:prstGeom>
          <a:noFill/>
          <a:ln w="101600">
            <a:solidFill>
              <a:srgbClr val="0DA2C2"/>
            </a:solidFill>
          </a:ln>
          <a:extLst>
            <a:ext uri="{909E8E84-426E-40DD-AFC4-6F175D3DCCD1}">
              <a14:hiddenFill xmlns:a14="http://schemas.microsoft.com/office/drawing/2010/main">
                <a:solidFill>
                  <a:srgbClr val="FFFFFF"/>
                </a:solidFill>
              </a14:hiddenFill>
            </a:ext>
          </a:extLst>
        </p:spPr>
      </p:pic>
      <p:sp>
        <p:nvSpPr>
          <p:cNvPr id="11" name="Marcador de texto 10">
            <a:extLst>
              <a:ext uri="{FF2B5EF4-FFF2-40B4-BE49-F238E27FC236}">
                <a16:creationId xmlns:a16="http://schemas.microsoft.com/office/drawing/2014/main" id="{56180E43-2107-FF59-8B45-F7998E2CAE1A}"/>
              </a:ext>
            </a:extLst>
          </p:cNvPr>
          <p:cNvSpPr>
            <a:spLocks noGrp="1"/>
          </p:cNvSpPr>
          <p:nvPr>
            <p:ph type="body" sz="quarter" idx="10" hasCustomPrompt="1"/>
          </p:nvPr>
        </p:nvSpPr>
        <p:spPr>
          <a:xfrm>
            <a:off x="4652826" y="1836134"/>
            <a:ext cx="4643438" cy="645152"/>
          </a:xfrm>
        </p:spPr>
        <p:txBody>
          <a:bodyPr/>
          <a:lstStyle>
            <a:lvl1pPr marL="0" indent="0">
              <a:buNone/>
              <a:defRPr sz="4800">
                <a:solidFill>
                  <a:schemeClr val="bg1"/>
                </a:solidFill>
                <a:latin typeface="Segoe UI Semibold" panose="020B0702040204020203" pitchFamily="34" charset="0"/>
                <a:cs typeface="Segoe UI Semibold" panose="020B0702040204020203" pitchFamily="34" charset="0"/>
              </a:defRPr>
            </a:lvl1pPr>
          </a:lstStyle>
          <a:p>
            <a:pPr lvl="0"/>
            <a:r>
              <a:rPr lang="es-ES" dirty="0"/>
              <a:t>Speaker </a:t>
            </a:r>
            <a:r>
              <a:rPr lang="es-ES" dirty="0" err="1"/>
              <a:t>Name</a:t>
            </a:r>
            <a:endParaRPr lang="es-ES" dirty="0"/>
          </a:p>
        </p:txBody>
      </p:sp>
      <p:sp>
        <p:nvSpPr>
          <p:cNvPr id="12" name="Marcador de texto 10">
            <a:extLst>
              <a:ext uri="{FF2B5EF4-FFF2-40B4-BE49-F238E27FC236}">
                <a16:creationId xmlns:a16="http://schemas.microsoft.com/office/drawing/2014/main" id="{4959C1A6-405A-9C40-389B-BE7A628759F6}"/>
              </a:ext>
            </a:extLst>
          </p:cNvPr>
          <p:cNvSpPr>
            <a:spLocks noGrp="1"/>
          </p:cNvSpPr>
          <p:nvPr>
            <p:ph type="body" sz="quarter" idx="11" hasCustomPrompt="1"/>
          </p:nvPr>
        </p:nvSpPr>
        <p:spPr>
          <a:xfrm>
            <a:off x="4652826" y="2594959"/>
            <a:ext cx="4643438" cy="645152"/>
          </a:xfrm>
        </p:spPr>
        <p:txBody>
          <a:bodyPr/>
          <a:lstStyle>
            <a:lvl1pPr marL="0" indent="0">
              <a:buNone/>
              <a:defRPr sz="2400">
                <a:solidFill>
                  <a:schemeClr val="bg1"/>
                </a:solidFill>
                <a:latin typeface="Segoe UI Semilight" panose="020B0402040204020203" pitchFamily="34" charset="0"/>
                <a:cs typeface="Segoe UI Semilight" panose="020B0402040204020203" pitchFamily="34" charset="0"/>
              </a:defRPr>
            </a:lvl1pPr>
          </a:lstStyle>
          <a:p>
            <a:pPr lvl="0"/>
            <a:r>
              <a:rPr lang="es-ES" dirty="0"/>
              <a:t>Speaker Position</a:t>
            </a:r>
          </a:p>
        </p:txBody>
      </p:sp>
      <p:grpSp>
        <p:nvGrpSpPr>
          <p:cNvPr id="13" name="Grupo 12">
            <a:extLst>
              <a:ext uri="{FF2B5EF4-FFF2-40B4-BE49-F238E27FC236}">
                <a16:creationId xmlns:a16="http://schemas.microsoft.com/office/drawing/2014/main" id="{02BB9031-23E2-E2F1-99C7-B7EB97DE89FB}"/>
              </a:ext>
            </a:extLst>
          </p:cNvPr>
          <p:cNvGrpSpPr/>
          <p:nvPr userDrawn="1"/>
        </p:nvGrpSpPr>
        <p:grpSpPr>
          <a:xfrm>
            <a:off x="0" y="6428512"/>
            <a:ext cx="12192000" cy="394759"/>
            <a:chOff x="0" y="6428512"/>
            <a:chExt cx="12192000" cy="394759"/>
          </a:xfrm>
        </p:grpSpPr>
        <p:sp>
          <p:nvSpPr>
            <p:cNvPr id="14" name="Rectángulo 13">
              <a:extLst>
                <a:ext uri="{FF2B5EF4-FFF2-40B4-BE49-F238E27FC236}">
                  <a16:creationId xmlns:a16="http://schemas.microsoft.com/office/drawing/2014/main" id="{58D8F6E6-DCCD-B138-BE60-6CD29391D029}"/>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5" name="Imagen 5">
              <a:extLst>
                <a:ext uri="{FF2B5EF4-FFF2-40B4-BE49-F238E27FC236}">
                  <a16:creationId xmlns:a16="http://schemas.microsoft.com/office/drawing/2014/main" id="{A13E7BDB-0423-7052-5152-8DB99AC0BB7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920285" y="6516625"/>
              <a:ext cx="2186276" cy="280957"/>
            </a:xfrm>
            <a:prstGeom prst="rect">
              <a:avLst/>
            </a:prstGeom>
          </p:spPr>
        </p:pic>
        <p:sp>
          <p:nvSpPr>
            <p:cNvPr id="16" name="CuadroTexto 15">
              <a:extLst>
                <a:ext uri="{FF2B5EF4-FFF2-40B4-BE49-F238E27FC236}">
                  <a16:creationId xmlns:a16="http://schemas.microsoft.com/office/drawing/2014/main" id="{07C663E0-A60E-9D99-A3D6-5CA148553F5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7" name="Gráfico 16">
            <a:extLst>
              <a:ext uri="{FF2B5EF4-FFF2-40B4-BE49-F238E27FC236}">
                <a16:creationId xmlns:a16="http://schemas.microsoft.com/office/drawing/2014/main" id="{57A19EFB-B46D-669A-9AB7-E06ECA795D1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37" name="Marcador de posición de imagen 23">
            <a:extLst>
              <a:ext uri="{FF2B5EF4-FFF2-40B4-BE49-F238E27FC236}">
                <a16:creationId xmlns:a16="http://schemas.microsoft.com/office/drawing/2014/main" id="{A85A7642-B240-C6E8-464E-4DDCC5BE2CFB}"/>
              </a:ext>
            </a:extLst>
          </p:cNvPr>
          <p:cNvSpPr>
            <a:spLocks noGrp="1"/>
          </p:cNvSpPr>
          <p:nvPr>
            <p:ph type="pic" sz="quarter" idx="12" hasCustomPrompt="1"/>
          </p:nvPr>
        </p:nvSpPr>
        <p:spPr>
          <a:xfrm>
            <a:off x="602247" y="1631795"/>
            <a:ext cx="3715753" cy="3692529"/>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dirty="0"/>
              <a:t>Speaker Picture</a:t>
            </a:r>
          </a:p>
        </p:txBody>
      </p:sp>
      <p:sp>
        <p:nvSpPr>
          <p:cNvPr id="2" name="TextBox 1">
            <a:extLst>
              <a:ext uri="{FF2B5EF4-FFF2-40B4-BE49-F238E27FC236}">
                <a16:creationId xmlns:a16="http://schemas.microsoft.com/office/drawing/2014/main" id="{193037B0-831A-7E2D-2209-D4251EAB5A78}"/>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5" name="Gráfico 5">
            <a:extLst>
              <a:ext uri="{FF2B5EF4-FFF2-40B4-BE49-F238E27FC236}">
                <a16:creationId xmlns:a16="http://schemas.microsoft.com/office/drawing/2014/main" id="{45A88012-FADB-664F-4A02-A6AB45EA2D1D}"/>
              </a:ext>
            </a:extLst>
          </p:cNvPr>
          <p:cNvPicPr>
            <a:picLocks noChangeAspect="1"/>
          </p:cNvPicPr>
          <p:nvPr userDrawn="1"/>
        </p:nvPicPr>
        <p:blipFill>
          <a:blip>
            <a:extLst>
              <a:ext uri="{96DAC541-7B7A-43D3-8B79-37D633B846F1}">
                <asvg:svgBlip xmlns:asvg="http://schemas.microsoft.com/office/drawing/2016/SVG/main" r:embed="rId4"/>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4525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rgbClr val="0DA2C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51" y="2109542"/>
            <a:ext cx="10240453" cy="997196"/>
          </a:xfrm>
        </p:spPr>
        <p:txBody>
          <a:bodyPr anchor="b" anchorCtr="0"/>
          <a:lstStyle>
            <a:lvl1pPr>
              <a:defRPr sz="5401" spc="-113"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78951" y="3425825"/>
            <a:ext cx="10240453" cy="498598"/>
          </a:xfrm>
        </p:spPr>
        <p:txBody>
          <a:bodyPr>
            <a:noAutofit/>
          </a:bodyPr>
          <a:lstStyle>
            <a:lvl1pPr marL="0" indent="0">
              <a:spcBef>
                <a:spcPts val="0"/>
              </a:spcBef>
              <a:buNone/>
              <a:defRPr spc="-53" baseline="0">
                <a:gradFill>
                  <a:gsLst>
                    <a:gs pos="0">
                      <a:schemeClr val="bg1"/>
                    </a:gs>
                    <a:gs pos="100000">
                      <a:schemeClr val="bg1"/>
                    </a:gs>
                  </a:gsLst>
                  <a:lin ang="5400000" scaled="0"/>
                </a:gradFill>
                <a:latin typeface="+mj-lt"/>
              </a:defRPr>
            </a:lvl1pPr>
          </a:lstStyle>
          <a:p>
            <a:pPr lvl="0"/>
            <a:r>
              <a:rPr lang="en-US" dirty="0"/>
              <a:t>Speaker Title</a:t>
            </a:r>
          </a:p>
        </p:txBody>
      </p:sp>
    </p:spTree>
    <p:extLst>
      <p:ext uri="{BB962C8B-B14F-4D97-AF65-F5344CB8AC3E}">
        <p14:creationId xmlns:p14="http://schemas.microsoft.com/office/powerpoint/2010/main" val="1634670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1800"/>
              </a:spcBef>
              <a:buNone/>
              <a:defRPr sz="3001">
                <a:solidFill>
                  <a:srgbClr val="333333"/>
                </a:solidFill>
                <a:latin typeface="+mj-lt"/>
              </a:defRPr>
            </a:lvl1pPr>
            <a:lvl2pPr marL="0" indent="0">
              <a:buNone/>
              <a:defRPr sz="1500">
                <a:solidFill>
                  <a:srgbClr val="333333"/>
                </a:solidFill>
              </a:defRPr>
            </a:lvl2pPr>
            <a:lvl3pPr marL="173878"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solidFill>
                  <a:srgbClr val="0DA2C2"/>
                </a:solidFill>
              </a:defRPr>
            </a:lvl1pPr>
          </a:lstStyle>
          <a:p>
            <a:r>
              <a:rPr lang="en-US" dirty="0"/>
              <a:t>Click to edit Master title style</a:t>
            </a:r>
          </a:p>
        </p:txBody>
      </p:sp>
      <p:grpSp>
        <p:nvGrpSpPr>
          <p:cNvPr id="2" name="Grupo 1">
            <a:extLst>
              <a:ext uri="{FF2B5EF4-FFF2-40B4-BE49-F238E27FC236}">
                <a16:creationId xmlns:a16="http://schemas.microsoft.com/office/drawing/2014/main" id="{55847769-BAB5-1586-08B1-14E296528009}"/>
              </a:ext>
            </a:extLst>
          </p:cNvPr>
          <p:cNvGrpSpPr/>
          <p:nvPr userDrawn="1"/>
        </p:nvGrpSpPr>
        <p:grpSpPr>
          <a:xfrm>
            <a:off x="0" y="6428512"/>
            <a:ext cx="12192000" cy="394759"/>
            <a:chOff x="0" y="6428512"/>
            <a:chExt cx="12192000" cy="394759"/>
          </a:xfrm>
        </p:grpSpPr>
        <p:sp>
          <p:nvSpPr>
            <p:cNvPr id="7" name="Rectángulo 6">
              <a:extLst>
                <a:ext uri="{FF2B5EF4-FFF2-40B4-BE49-F238E27FC236}">
                  <a16:creationId xmlns:a16="http://schemas.microsoft.com/office/drawing/2014/main" id="{FEB41239-FE1A-619E-A46B-E61628EA6561}"/>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59185341-96F2-8CAC-5A98-5F9D1E34AFA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1AE31EC4-00E3-14CA-3498-D05BB06BB0B2}"/>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3" name="Gráfico 12">
            <a:extLst>
              <a:ext uri="{FF2B5EF4-FFF2-40B4-BE49-F238E27FC236}">
                <a16:creationId xmlns:a16="http://schemas.microsoft.com/office/drawing/2014/main" id="{49804CC5-5187-AD2A-41AD-48E18E06F1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0039E603-F284-1688-D251-925CCF94F276}"/>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6" name="Gráfico 5">
            <a:extLst>
              <a:ext uri="{FF2B5EF4-FFF2-40B4-BE49-F238E27FC236}">
                <a16:creationId xmlns:a16="http://schemas.microsoft.com/office/drawing/2014/main" id="{07066352-4C87-9569-7F57-1F151FEEE2FF}"/>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414694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sp>
        <p:nvSpPr>
          <p:cNvPr id="6" name="Text Placeholder 5"/>
          <p:cNvSpPr>
            <a:spLocks noGrp="1"/>
          </p:cNvSpPr>
          <p:nvPr>
            <p:ph type="body" sz="quarter" idx="11"/>
          </p:nvPr>
        </p:nvSpPr>
        <p:spPr>
          <a:xfrm>
            <a:off x="520836" y="1447804"/>
            <a:ext cx="5396365" cy="2462213"/>
          </a:xfrm>
        </p:spPr>
        <p:txBody>
          <a:bodyPr/>
          <a:lstStyle>
            <a:lvl1pPr marL="0" indent="0">
              <a:spcBef>
                <a:spcPts val="900"/>
              </a:spcBef>
              <a:buNone/>
              <a:defRPr sz="3001">
                <a:solidFill>
                  <a:srgbClr val="333333"/>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9564" y="1447804"/>
            <a:ext cx="5396365" cy="2462213"/>
          </a:xfrm>
        </p:spPr>
        <p:txBody>
          <a:bodyPr/>
          <a:lstStyle>
            <a:lvl1pPr marL="0" indent="0">
              <a:spcBef>
                <a:spcPts val="900"/>
              </a:spcBef>
              <a:buNone/>
              <a:defRPr lang="en-US" sz="3001" kern="1200" spc="-53" baseline="0" dirty="0" smtClean="0">
                <a:solidFill>
                  <a:srgbClr val="333333"/>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grpSp>
        <p:nvGrpSpPr>
          <p:cNvPr id="10" name="Grupo 9">
            <a:extLst>
              <a:ext uri="{FF2B5EF4-FFF2-40B4-BE49-F238E27FC236}">
                <a16:creationId xmlns:a16="http://schemas.microsoft.com/office/drawing/2014/main" id="{B7E1E3AA-B39C-1603-B2F9-ADE3FE8E3FAA}"/>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25F87E1B-26AC-F314-8C73-1D9B690292F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34271E1D-7364-0EC1-1D60-7E498627D7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7D7D623A-C0DF-A20B-370D-B0D436EEA95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653DCE6B-F315-0031-BAD8-781AEAE203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88AB30DE-A2B6-A2C8-8AD2-F4F6F132C4BA}"/>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4" name="Gráfico 5">
            <a:extLst>
              <a:ext uri="{FF2B5EF4-FFF2-40B4-BE49-F238E27FC236}">
                <a16:creationId xmlns:a16="http://schemas.microsoft.com/office/drawing/2014/main" id="{F3B212C4-3266-EC72-F972-60C5DE7A1354}"/>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666843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Comparison,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sp>
        <p:nvSpPr>
          <p:cNvPr id="6" name="Text Placeholder 5"/>
          <p:cNvSpPr>
            <a:spLocks noGrp="1"/>
          </p:cNvSpPr>
          <p:nvPr>
            <p:ph type="body" sz="quarter" idx="11"/>
          </p:nvPr>
        </p:nvSpPr>
        <p:spPr>
          <a:xfrm>
            <a:off x="520836" y="1965604"/>
            <a:ext cx="5396365" cy="2027107"/>
          </a:xfrm>
        </p:spPr>
        <p:txBody>
          <a:bodyPr/>
          <a:lstStyle>
            <a:lvl1pPr marL="0" indent="0">
              <a:spcBef>
                <a:spcPts val="900"/>
              </a:spcBef>
              <a:buNone/>
              <a:defRPr sz="2401">
                <a:solidFill>
                  <a:srgbClr val="0DA2C2"/>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2"/>
          </p:nvPr>
        </p:nvSpPr>
        <p:spPr>
          <a:xfrm>
            <a:off x="6283636" y="1965604"/>
            <a:ext cx="5396365" cy="2027107"/>
          </a:xfrm>
        </p:spPr>
        <p:txBody>
          <a:bodyPr/>
          <a:lstStyle>
            <a:lvl1pPr marL="0" indent="0">
              <a:spcBef>
                <a:spcPts val="900"/>
              </a:spcBef>
              <a:buNone/>
              <a:defRPr lang="en-US" sz="240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Fifth level</a:t>
            </a:r>
          </a:p>
        </p:txBody>
      </p:sp>
      <p:sp>
        <p:nvSpPr>
          <p:cNvPr id="8" name="Text Placeholder 8"/>
          <p:cNvSpPr>
            <a:spLocks noGrp="1"/>
          </p:cNvSpPr>
          <p:nvPr>
            <p:ph type="body" sz="quarter" idx="13"/>
          </p:nvPr>
        </p:nvSpPr>
        <p:spPr>
          <a:xfrm>
            <a:off x="5208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p:txBody>
      </p:sp>
      <p:sp>
        <p:nvSpPr>
          <p:cNvPr id="11" name="Text Placeholder 8"/>
          <p:cNvSpPr>
            <a:spLocks noGrp="1"/>
          </p:cNvSpPr>
          <p:nvPr>
            <p:ph type="body" sz="quarter" idx="14"/>
          </p:nvPr>
        </p:nvSpPr>
        <p:spPr>
          <a:xfrm>
            <a:off x="62836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dirty="0"/>
              <a:t>Edit Master text styles</a:t>
            </a:r>
          </a:p>
        </p:txBody>
      </p:sp>
      <p:grpSp>
        <p:nvGrpSpPr>
          <p:cNvPr id="12" name="Grupo 11">
            <a:extLst>
              <a:ext uri="{FF2B5EF4-FFF2-40B4-BE49-F238E27FC236}">
                <a16:creationId xmlns:a16="http://schemas.microsoft.com/office/drawing/2014/main" id="{333C56DF-AF29-7E79-02B1-A45DA5F7F4C9}"/>
              </a:ext>
            </a:extLst>
          </p:cNvPr>
          <p:cNvGrpSpPr/>
          <p:nvPr userDrawn="1"/>
        </p:nvGrpSpPr>
        <p:grpSpPr>
          <a:xfrm>
            <a:off x="0" y="6428512"/>
            <a:ext cx="12192000" cy="394759"/>
            <a:chOff x="0" y="6428512"/>
            <a:chExt cx="12192000" cy="394759"/>
          </a:xfrm>
        </p:grpSpPr>
        <p:sp>
          <p:nvSpPr>
            <p:cNvPr id="13" name="Rectángulo 12">
              <a:extLst>
                <a:ext uri="{FF2B5EF4-FFF2-40B4-BE49-F238E27FC236}">
                  <a16:creationId xmlns:a16="http://schemas.microsoft.com/office/drawing/2014/main" id="{755974F1-6B71-015A-D066-E8E7F4FF687E}"/>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4" name="Imagen 5">
              <a:extLst>
                <a:ext uri="{FF2B5EF4-FFF2-40B4-BE49-F238E27FC236}">
                  <a16:creationId xmlns:a16="http://schemas.microsoft.com/office/drawing/2014/main" id="{9BC39416-CB7F-9F78-EF01-F470A24623E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5" name="CuadroTexto 14">
              <a:extLst>
                <a:ext uri="{FF2B5EF4-FFF2-40B4-BE49-F238E27FC236}">
                  <a16:creationId xmlns:a16="http://schemas.microsoft.com/office/drawing/2014/main" id="{466639BF-626B-CA09-3B1E-31B62CDBDC4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6" name="Gráfico 15">
            <a:extLst>
              <a:ext uri="{FF2B5EF4-FFF2-40B4-BE49-F238E27FC236}">
                <a16:creationId xmlns:a16="http://schemas.microsoft.com/office/drawing/2014/main" id="{496E0C27-C7CE-11F9-A14E-28437283D24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6653978-9EBD-1EF7-277F-AEA77573311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4" name="Gráfico 5">
            <a:extLst>
              <a:ext uri="{FF2B5EF4-FFF2-40B4-BE49-F238E27FC236}">
                <a16:creationId xmlns:a16="http://schemas.microsoft.com/office/drawing/2014/main" id="{F378BEAB-FA6F-B1D1-7F2C-25ABFC5DE151}"/>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784847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10332" y="0"/>
            <a:ext cx="5981669" cy="6858000"/>
          </a:xfrm>
        </p:spPr>
        <p:txBody>
          <a:bodyPr lIns="182880" anchor="ctr"/>
          <a:lstStyle>
            <a:lvl1pPr marL="0" indent="0" algn="l">
              <a:buNone/>
              <a:defRPr/>
            </a:lvl1pPr>
          </a:lstStyle>
          <a:p>
            <a:r>
              <a:rPr lang="en-US" dirty="0"/>
              <a:t>Click to insert photo.</a:t>
            </a: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9" name="Content Placeholder 5"/>
          <p:cNvSpPr>
            <a:spLocks noGrp="1"/>
          </p:cNvSpPr>
          <p:nvPr>
            <p:ph sz="quarter" idx="13"/>
          </p:nvPr>
        </p:nvSpPr>
        <p:spPr>
          <a:xfrm>
            <a:off x="520838"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grpSp>
        <p:nvGrpSpPr>
          <p:cNvPr id="10" name="Grupo 9">
            <a:extLst>
              <a:ext uri="{FF2B5EF4-FFF2-40B4-BE49-F238E27FC236}">
                <a16:creationId xmlns:a16="http://schemas.microsoft.com/office/drawing/2014/main" id="{5AA6B024-3954-0C65-6611-E960667D5451}"/>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0EC9744C-DEAF-B1D1-4210-A1D62200BCDB}"/>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FFB920B9-E5C6-9FC0-6566-D1264A3FE30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E9D88D1C-1038-2D6A-B97D-12627D986B1C}"/>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8433886F-F467-5B93-9F49-DD1F7DE84F0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2FE6614B-A357-8AF0-C15A-42BF8A8B1F32}"/>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5" name="Gráfico 5">
            <a:extLst>
              <a:ext uri="{FF2B5EF4-FFF2-40B4-BE49-F238E27FC236}">
                <a16:creationId xmlns:a16="http://schemas.microsoft.com/office/drawing/2014/main" id="{93A32832-6317-A394-4DC9-10A526C53BFF}"/>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3857246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1"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9" name="Content Placeholder 5"/>
          <p:cNvSpPr>
            <a:spLocks noGrp="1"/>
          </p:cNvSpPr>
          <p:nvPr>
            <p:ph sz="quarter" idx="13"/>
          </p:nvPr>
        </p:nvSpPr>
        <p:spPr>
          <a:xfrm>
            <a:off x="6219713"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
        <p:nvSpPr>
          <p:cNvPr id="4" name="Picture Placeholder 3"/>
          <p:cNvSpPr>
            <a:spLocks noGrp="1"/>
          </p:cNvSpPr>
          <p:nvPr>
            <p:ph type="pic" sz="quarter" idx="14" hasCustomPrompt="1"/>
          </p:nvPr>
        </p:nvSpPr>
        <p:spPr>
          <a:xfrm>
            <a:off x="0" y="0"/>
            <a:ext cx="5981669" cy="6858000"/>
          </a:xfrm>
        </p:spPr>
        <p:txBody>
          <a:bodyPr lIns="182880" anchor="ctr"/>
          <a:lstStyle>
            <a:lvl1pPr marL="0" indent="0" algn="l">
              <a:buNone/>
              <a:defRPr/>
            </a:lvl1pPr>
          </a:lstStyle>
          <a:p>
            <a:r>
              <a:rPr lang="en-US" dirty="0"/>
              <a:t>Click to insert photo.</a:t>
            </a:r>
          </a:p>
        </p:txBody>
      </p:sp>
      <p:grpSp>
        <p:nvGrpSpPr>
          <p:cNvPr id="10" name="Grupo 9">
            <a:extLst>
              <a:ext uri="{FF2B5EF4-FFF2-40B4-BE49-F238E27FC236}">
                <a16:creationId xmlns:a16="http://schemas.microsoft.com/office/drawing/2014/main" id="{2EE58E02-9D4A-FA17-AEE8-165314D43BFC}"/>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BB67C955-EBD9-48EB-06EA-DD16D1A163F8}"/>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C3BD6E5C-F738-4CB0-8027-4DDF9CF04D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4C89D170-DD70-021F-47AC-02C1EF4B7BDD}"/>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4" name="Gráfico 13">
            <a:extLst>
              <a:ext uri="{FF2B5EF4-FFF2-40B4-BE49-F238E27FC236}">
                <a16:creationId xmlns:a16="http://schemas.microsoft.com/office/drawing/2014/main" id="{7B7AB469-6B39-D368-AA38-B368AC1688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65CA6A43-07F6-A198-38BF-12FD84BF582F}"/>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5" name="Gráfico 5">
            <a:extLst>
              <a:ext uri="{FF2B5EF4-FFF2-40B4-BE49-F238E27FC236}">
                <a16:creationId xmlns:a16="http://schemas.microsoft.com/office/drawing/2014/main" id="{9D9BF0F3-D0E8-C2EB-F50A-14A0405D37E9}"/>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1323755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0" y="0"/>
            <a:ext cx="5943001" cy="6858000"/>
          </a:xfrm>
          <a:prstGeom prst="rect">
            <a:avLst/>
          </a:prstGeom>
          <a:solidFill>
            <a:srgbClr val="0DA2C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9" tIns="34299" rIns="34299" bIns="34299" numCol="1" spcCol="0" rtlCol="0" fromWordArt="0" anchor="ctr" anchorCtr="0" forceAA="0" compatLnSpc="1">
            <a:prstTxWarp prst="textNoShape">
              <a:avLst/>
            </a:prstTxWarp>
            <a:noAutofit/>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4"/>
            <a:ext cx="5233764" cy="1661993"/>
          </a:xfrm>
          <a:prstGeom prst="rect">
            <a:avLst/>
          </a:prstGeom>
        </p:spPr>
        <p:txBody>
          <a:bodyPr>
            <a:noAutofit/>
          </a:bodyPr>
          <a:lstStyle>
            <a:lvl1pPr marL="0" indent="0">
              <a:buNone/>
              <a:defRPr sz="3001" b="0" cap="none" baseline="0">
                <a:gradFill>
                  <a:gsLst>
                    <a:gs pos="100000">
                      <a:schemeClr val="bg1"/>
                    </a:gs>
                    <a:gs pos="0">
                      <a:schemeClr val="bg1"/>
                    </a:gs>
                  </a:gsLst>
                  <a:lin ang="5400000" scaled="0"/>
                </a:gra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6" name="Content Placeholder 5"/>
          <p:cNvSpPr>
            <a:spLocks noGrp="1"/>
          </p:cNvSpPr>
          <p:nvPr>
            <p:ph sz="quarter" idx="4"/>
          </p:nvPr>
        </p:nvSpPr>
        <p:spPr>
          <a:xfrm>
            <a:off x="6189762" y="1447804"/>
            <a:ext cx="5486169" cy="332399"/>
          </a:xfrm>
          <a:prstGeom prst="rect">
            <a:avLst/>
          </a:prstGeom>
        </p:spPr>
        <p:txBody>
          <a:bodyPr>
            <a:noAutofit/>
          </a:bodyPr>
          <a:lstStyle>
            <a:lvl1pPr marL="0" indent="0">
              <a:spcBef>
                <a:spcPts val="900"/>
              </a:spcBef>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Tree>
    <p:extLst>
      <p:ext uri="{BB962C8B-B14F-4D97-AF65-F5344CB8AC3E}">
        <p14:creationId xmlns:p14="http://schemas.microsoft.com/office/powerpoint/2010/main" val="945885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grpSp>
        <p:nvGrpSpPr>
          <p:cNvPr id="3" name="Grupo 2">
            <a:extLst>
              <a:ext uri="{FF2B5EF4-FFF2-40B4-BE49-F238E27FC236}">
                <a16:creationId xmlns:a16="http://schemas.microsoft.com/office/drawing/2014/main" id="{2A073C0F-5E68-AD64-F70B-074DE66A6774}"/>
              </a:ext>
            </a:extLst>
          </p:cNvPr>
          <p:cNvGrpSpPr/>
          <p:nvPr userDrawn="1"/>
        </p:nvGrpSpPr>
        <p:grpSpPr>
          <a:xfrm>
            <a:off x="0" y="6428512"/>
            <a:ext cx="12192000" cy="394759"/>
            <a:chOff x="0" y="6428512"/>
            <a:chExt cx="12192000" cy="394759"/>
          </a:xfrm>
        </p:grpSpPr>
        <p:sp>
          <p:nvSpPr>
            <p:cNvPr id="5" name="Rectángulo 4">
              <a:extLst>
                <a:ext uri="{FF2B5EF4-FFF2-40B4-BE49-F238E27FC236}">
                  <a16:creationId xmlns:a16="http://schemas.microsoft.com/office/drawing/2014/main" id="{F65D572D-BA18-6A18-4F8F-963A7C00933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6" name="Imagen 5">
              <a:extLst>
                <a:ext uri="{FF2B5EF4-FFF2-40B4-BE49-F238E27FC236}">
                  <a16:creationId xmlns:a16="http://schemas.microsoft.com/office/drawing/2014/main" id="{E3C03CAA-09E7-28A0-F6D5-0CF3033E1BF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7" name="CuadroTexto 6">
              <a:extLst>
                <a:ext uri="{FF2B5EF4-FFF2-40B4-BE49-F238E27FC236}">
                  <a16:creationId xmlns:a16="http://schemas.microsoft.com/office/drawing/2014/main" id="{38257835-9DE7-3689-F927-76F0DE26C157}"/>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9" name="Gráfico 8">
            <a:extLst>
              <a:ext uri="{FF2B5EF4-FFF2-40B4-BE49-F238E27FC236}">
                <a16:creationId xmlns:a16="http://schemas.microsoft.com/office/drawing/2014/main" id="{60691E28-9353-2AA9-3637-EE03A77F917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3E5A6700-D44A-3AD3-B0C0-8E11BF37AFF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8" name="Gráfico 5">
            <a:extLst>
              <a:ext uri="{FF2B5EF4-FFF2-40B4-BE49-F238E27FC236}">
                <a16:creationId xmlns:a16="http://schemas.microsoft.com/office/drawing/2014/main" id="{C2A2AA91-EC57-D1FD-C362-EDAC164A3078}"/>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331113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dirty="0"/>
              <a:t>Click to edit Master title style</a:t>
            </a:r>
          </a:p>
        </p:txBody>
      </p:sp>
      <p:graphicFrame>
        <p:nvGraphicFramePr>
          <p:cNvPr id="8" name="Table 16">
            <a:extLst>
              <a:ext uri="{FF2B5EF4-FFF2-40B4-BE49-F238E27FC236}">
                <a16:creationId xmlns:a16="http://schemas.microsoft.com/office/drawing/2014/main" id="{C167C2FC-6B78-5D74-ED2E-F7BF522B6C07}"/>
              </a:ext>
            </a:extLst>
          </p:cNvPr>
          <p:cNvGraphicFramePr>
            <a:graphicFrameLocks noGrp="1"/>
          </p:cNvGraphicFramePr>
          <p:nvPr userDrawn="1">
            <p:extLst>
              <p:ext uri="{D42A27DB-BD31-4B8C-83A1-F6EECF244321}">
                <p14:modId xmlns:p14="http://schemas.microsoft.com/office/powerpoint/2010/main" val="141043173"/>
              </p:ext>
            </p:extLst>
          </p:nvPr>
        </p:nvGraphicFramePr>
        <p:xfrm>
          <a:off x="519248" y="1337539"/>
          <a:ext cx="11151918" cy="3825585"/>
        </p:xfrm>
        <a:graphic>
          <a:graphicData uri="http://schemas.openxmlformats.org/drawingml/2006/table">
            <a:tbl>
              <a:tblPr firstRow="1" bandRow="1">
                <a:tableStyleId>{08FB837D-C827-4EFA-A057-4D05807E0F7C}</a:tableStyleId>
              </a:tblPr>
              <a:tblGrid>
                <a:gridCol w="3717306">
                  <a:extLst>
                    <a:ext uri="{9D8B030D-6E8A-4147-A177-3AD203B41FA5}">
                      <a16:colId xmlns:a16="http://schemas.microsoft.com/office/drawing/2014/main" val="1513973928"/>
                    </a:ext>
                  </a:extLst>
                </a:gridCol>
                <a:gridCol w="3717306">
                  <a:extLst>
                    <a:ext uri="{9D8B030D-6E8A-4147-A177-3AD203B41FA5}">
                      <a16:colId xmlns:a16="http://schemas.microsoft.com/office/drawing/2014/main" val="3419202442"/>
                    </a:ext>
                  </a:extLst>
                </a:gridCol>
                <a:gridCol w="3717306">
                  <a:extLst>
                    <a:ext uri="{9D8B030D-6E8A-4147-A177-3AD203B41FA5}">
                      <a16:colId xmlns:a16="http://schemas.microsoft.com/office/drawing/2014/main" val="3401758148"/>
                    </a:ext>
                  </a:extLst>
                </a:gridCol>
              </a:tblGrid>
              <a:tr h="336465">
                <a:tc>
                  <a:txBody>
                    <a:bodyPr/>
                    <a:lstStyle/>
                    <a:p>
                      <a:pPr algn="ctr"/>
                      <a:r>
                        <a:rPr lang="es-ES" sz="1400" dirty="0" err="1">
                          <a:solidFill>
                            <a:schemeClr val="bg1"/>
                          </a:solidFill>
                        </a:rPr>
                        <a:t>Header</a:t>
                      </a:r>
                      <a:r>
                        <a:rPr lang="es-ES" sz="1400" dirty="0">
                          <a:solidFill>
                            <a:schemeClr val="bg1"/>
                          </a:solidFill>
                        </a:rPr>
                        <a:t> 1</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dirty="0" err="1">
                          <a:solidFill>
                            <a:schemeClr val="bg1"/>
                          </a:solidFill>
                        </a:rPr>
                        <a:t>Header</a:t>
                      </a:r>
                      <a:r>
                        <a:rPr lang="es-ES" sz="1400" dirty="0">
                          <a:solidFill>
                            <a:schemeClr val="bg1"/>
                          </a:solidFill>
                        </a:rPr>
                        <a:t> 2</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dirty="0" err="1">
                          <a:solidFill>
                            <a:schemeClr val="bg1"/>
                          </a:solidFill>
                        </a:rPr>
                        <a:t>Header</a:t>
                      </a:r>
                      <a:r>
                        <a:rPr lang="es-ES" sz="1400" dirty="0">
                          <a:solidFill>
                            <a:schemeClr val="bg1"/>
                          </a:solidFill>
                        </a:rPr>
                        <a:t> 3</a:t>
                      </a:r>
                      <a:endParaRPr lang="es-ES" sz="1400" dirty="0">
                        <a:solidFill>
                          <a:schemeClr val="bg1"/>
                        </a:solidFill>
                        <a:latin typeface="Roboto" panose="02000000000000000000" pitchFamily="2" charset="0"/>
                        <a:ea typeface="Roboto" panose="02000000000000000000" pitchFamily="2" charset="0"/>
                      </a:endParaRPr>
                    </a:p>
                  </a:txBody>
                  <a:tcPr anchor="ctr">
                    <a:solidFill>
                      <a:srgbClr val="0DA2C2"/>
                    </a:solidFill>
                  </a:tcPr>
                </a:tc>
                <a:extLst>
                  <a:ext uri="{0D108BD9-81ED-4DB2-BD59-A6C34878D82A}">
                    <a16:rowId xmlns:a16="http://schemas.microsoft.com/office/drawing/2014/main" val="1766186878"/>
                  </a:ext>
                </a:extLst>
              </a:tr>
              <a:tr h="436140">
                <a:tc>
                  <a:txBody>
                    <a:bodyPr/>
                    <a:lstStyle/>
                    <a:p>
                      <a:r>
                        <a:rPr lang="es-ES" sz="1100" dirty="0" err="1">
                          <a:solidFill>
                            <a:schemeClr val="bg1"/>
                          </a:solidFill>
                        </a:rPr>
                        <a:t>Value</a:t>
                      </a:r>
                      <a:r>
                        <a:rPr lang="es-ES" sz="1100" dirty="0">
                          <a:solidFill>
                            <a:schemeClr val="bg1"/>
                          </a:solidFill>
                        </a:rPr>
                        <a:t> 1</a:t>
                      </a:r>
                      <a:endParaRPr lang="es-ES" sz="11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1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1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251203977"/>
                  </a:ext>
                </a:extLst>
              </a:tr>
              <a:tr h="436140">
                <a:tc>
                  <a:txBody>
                    <a:bodyPr/>
                    <a:lstStyle/>
                    <a:p>
                      <a:r>
                        <a:rPr lang="es-ES" sz="1000" dirty="0" err="1">
                          <a:solidFill>
                            <a:schemeClr val="bg1"/>
                          </a:solidFill>
                        </a:rPr>
                        <a:t>Value</a:t>
                      </a:r>
                      <a:r>
                        <a:rPr lang="es-ES" sz="1000" dirty="0">
                          <a:solidFill>
                            <a:schemeClr val="bg1"/>
                          </a:solidFill>
                        </a:rPr>
                        <a:t> 2</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990239874"/>
                  </a:ext>
                </a:extLst>
              </a:tr>
              <a:tr h="436140">
                <a:tc>
                  <a:txBody>
                    <a:bodyPr/>
                    <a:lstStyle/>
                    <a:p>
                      <a:r>
                        <a:rPr lang="es-ES" sz="1000" dirty="0" err="1">
                          <a:solidFill>
                            <a:schemeClr val="bg1"/>
                          </a:solidFill>
                        </a:rPr>
                        <a:t>Value</a:t>
                      </a:r>
                      <a:r>
                        <a:rPr lang="es-ES" sz="1000" dirty="0">
                          <a:solidFill>
                            <a:schemeClr val="bg1"/>
                          </a:solidFill>
                        </a:rPr>
                        <a:t> 3</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87863165"/>
                  </a:ext>
                </a:extLst>
              </a:tr>
              <a:tr h="436140">
                <a:tc>
                  <a:txBody>
                    <a:bodyPr/>
                    <a:lstStyle/>
                    <a:p>
                      <a:r>
                        <a:rPr lang="es-ES" sz="1000" dirty="0" err="1">
                          <a:solidFill>
                            <a:schemeClr val="bg1"/>
                          </a:solidFill>
                        </a:rPr>
                        <a:t>Value</a:t>
                      </a:r>
                      <a:r>
                        <a:rPr lang="es-ES" sz="1000" dirty="0">
                          <a:solidFill>
                            <a:schemeClr val="bg1"/>
                          </a:solidFill>
                        </a:rPr>
                        <a:t> 4</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002244133"/>
                  </a:ext>
                </a:extLst>
              </a:tr>
              <a:tr h="436140">
                <a:tc>
                  <a:txBody>
                    <a:bodyPr/>
                    <a:lstStyle/>
                    <a:p>
                      <a:r>
                        <a:rPr lang="es-ES" sz="1000" dirty="0" err="1">
                          <a:solidFill>
                            <a:schemeClr val="bg1"/>
                          </a:solidFill>
                        </a:rPr>
                        <a:t>Value</a:t>
                      </a:r>
                      <a:r>
                        <a:rPr lang="es-ES" sz="1000" dirty="0">
                          <a:solidFill>
                            <a:schemeClr val="bg1"/>
                          </a:solidFill>
                        </a:rPr>
                        <a:t> 5</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40317588"/>
                  </a:ext>
                </a:extLst>
              </a:tr>
              <a:tr h="436140">
                <a:tc>
                  <a:txBody>
                    <a:bodyPr/>
                    <a:lstStyle/>
                    <a:p>
                      <a:r>
                        <a:rPr lang="es-ES" sz="1000" dirty="0" err="1">
                          <a:solidFill>
                            <a:schemeClr val="bg1"/>
                          </a:solidFill>
                        </a:rPr>
                        <a:t>Value</a:t>
                      </a:r>
                      <a:r>
                        <a:rPr lang="es-ES" sz="1000" dirty="0">
                          <a:solidFill>
                            <a:schemeClr val="bg1"/>
                          </a:solidFill>
                        </a:rPr>
                        <a:t> 6</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505655247"/>
                  </a:ext>
                </a:extLst>
              </a:tr>
              <a:tr h="436140">
                <a:tc>
                  <a:txBody>
                    <a:bodyPr/>
                    <a:lstStyle/>
                    <a:p>
                      <a:r>
                        <a:rPr lang="es-ES" sz="1000" dirty="0" err="1">
                          <a:solidFill>
                            <a:schemeClr val="bg1"/>
                          </a:solidFill>
                        </a:rPr>
                        <a:t>Value</a:t>
                      </a:r>
                      <a:r>
                        <a:rPr lang="es-ES" sz="1000" dirty="0">
                          <a:solidFill>
                            <a:schemeClr val="bg1"/>
                          </a:solidFill>
                        </a:rPr>
                        <a:t> 7</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861785249"/>
                  </a:ext>
                </a:extLst>
              </a:tr>
              <a:tr h="436140">
                <a:tc>
                  <a:txBody>
                    <a:bodyPr/>
                    <a:lstStyle/>
                    <a:p>
                      <a:r>
                        <a:rPr lang="es-ES" sz="1000" dirty="0" err="1">
                          <a:solidFill>
                            <a:schemeClr val="bg1"/>
                          </a:solidFill>
                        </a:rPr>
                        <a:t>Value</a:t>
                      </a:r>
                      <a:r>
                        <a:rPr lang="es-ES" sz="1000" dirty="0">
                          <a:solidFill>
                            <a:schemeClr val="bg1"/>
                          </a:solidFill>
                        </a:rPr>
                        <a:t> 8</a:t>
                      </a:r>
                      <a:endParaRPr lang="es-ES" sz="1000" dirty="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dirty="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85756325"/>
                  </a:ext>
                </a:extLst>
              </a:tr>
            </a:tbl>
          </a:graphicData>
        </a:graphic>
      </p:graphicFrame>
      <p:grpSp>
        <p:nvGrpSpPr>
          <p:cNvPr id="9" name="Grupo 8">
            <a:extLst>
              <a:ext uri="{FF2B5EF4-FFF2-40B4-BE49-F238E27FC236}">
                <a16:creationId xmlns:a16="http://schemas.microsoft.com/office/drawing/2014/main" id="{EE8FCE0A-0F37-CC46-D782-CB1E42FAA9DB}"/>
              </a:ext>
            </a:extLst>
          </p:cNvPr>
          <p:cNvGrpSpPr/>
          <p:nvPr userDrawn="1"/>
        </p:nvGrpSpPr>
        <p:grpSpPr>
          <a:xfrm>
            <a:off x="0" y="6428512"/>
            <a:ext cx="12192000" cy="394759"/>
            <a:chOff x="0" y="6428512"/>
            <a:chExt cx="12192000" cy="394759"/>
          </a:xfrm>
        </p:grpSpPr>
        <p:sp>
          <p:nvSpPr>
            <p:cNvPr id="10" name="Rectángulo 9">
              <a:extLst>
                <a:ext uri="{FF2B5EF4-FFF2-40B4-BE49-F238E27FC236}">
                  <a16:creationId xmlns:a16="http://schemas.microsoft.com/office/drawing/2014/main" id="{F36344E9-8AC8-1EC9-3343-E5D6B2CB1547}"/>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B02D31EC-025E-62B7-6B87-D75CF802F9F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9BCE37DE-167B-82B7-D237-D39D2AB74DB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dirty="0">
                  <a:solidFill>
                    <a:srgbClr val="0DA2C2"/>
                  </a:solidFill>
                </a:rPr>
                <a:t>#CollabDaysMadrid</a:t>
              </a:r>
              <a:endParaRPr lang="es-ES" sz="2400" spc="-70" dirty="0">
                <a:solidFill>
                  <a:srgbClr val="0DA2C2"/>
                </a:solidFill>
              </a:endParaRPr>
            </a:p>
          </p:txBody>
        </p:sp>
      </p:grpSp>
      <p:pic>
        <p:nvPicPr>
          <p:cNvPr id="13" name="Gráfico 12">
            <a:extLst>
              <a:ext uri="{FF2B5EF4-FFF2-40B4-BE49-F238E27FC236}">
                <a16:creationId xmlns:a16="http://schemas.microsoft.com/office/drawing/2014/main" id="{DCC291FA-3A6D-8D8D-6C8F-3CF22397401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7F400E7-4174-B339-C186-D91A9F70A397}"/>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a:solidFill>
                  <a:srgbClr val="0DA2C2"/>
                </a:solidFill>
                <a:latin typeface="+mn-lt"/>
                <a:ea typeface="Segoe UI" pitchFamily="34" charset="0"/>
                <a:cs typeface="Segoe UI Semibold" panose="020B0702040204020203" pitchFamily="34" charset="0"/>
              </a:rPr>
              <a:t>CollabDays | Madrid 2026</a:t>
            </a:r>
            <a:endParaRPr lang="en-US" sz="1600" b="0" dirty="0">
              <a:latin typeface="+mn-lt"/>
            </a:endParaRPr>
          </a:p>
        </p:txBody>
      </p:sp>
      <p:pic>
        <p:nvPicPr>
          <p:cNvPr id="4" name="Gráfico 5">
            <a:extLst>
              <a:ext uri="{FF2B5EF4-FFF2-40B4-BE49-F238E27FC236}">
                <a16:creationId xmlns:a16="http://schemas.microsoft.com/office/drawing/2014/main" id="{58379202-FBB6-338A-EBCD-83A4A9F7BF40}"/>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535840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dirty="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6525" y="68261"/>
            <a:ext cx="2767542" cy="666675"/>
          </a:xfrm>
          <a:prstGeom prst="rect">
            <a:avLst/>
          </a:prstGeom>
        </p:spPr>
      </p:pic>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pic>
        <p:nvPicPr>
          <p:cNvPr id="7" name="Gráfico 5">
            <a:extLst>
              <a:ext uri="{FF2B5EF4-FFF2-40B4-BE49-F238E27FC236}">
                <a16:creationId xmlns:a16="http://schemas.microsoft.com/office/drawing/2014/main" id="{F983E117-FABD-3E64-D616-458E490252AA}"/>
              </a:ext>
            </a:extLst>
          </p:cNvPr>
          <p:cNvPicPr>
            <a:picLocks noChangeAspect="1"/>
          </p:cNvPicPr>
          <p:nvPr userDrawn="1"/>
        </p:nvPicPr>
        <p:blipFill>
          <a:blip>
            <a:extLst>
              <a:ext uri="{96DAC541-7B7A-43D3-8B79-37D633B846F1}">
                <asvg:svgBlip xmlns:asvg="http://schemas.microsoft.com/office/drawing/2016/SVG/main" r:embed="rId6"/>
              </a:ext>
            </a:extLst>
          </a:blip>
          <a:srcRect t="1" r="80720" b="-4262"/>
          <a:stretch/>
        </p:blipFill>
        <p:spPr>
          <a:xfrm>
            <a:off x="8663379" y="6344057"/>
            <a:ext cx="641331" cy="445681"/>
          </a:xfrm>
          <a:prstGeom prst="rect">
            <a:avLst/>
          </a:prstGeom>
        </p:spPr>
      </p:pic>
      <p:sp>
        <p:nvSpPr>
          <p:cNvPr id="9" name="TextBox 8">
            <a:extLst>
              <a:ext uri="{FF2B5EF4-FFF2-40B4-BE49-F238E27FC236}">
                <a16:creationId xmlns:a16="http://schemas.microsoft.com/office/drawing/2014/main" id="{A3803F46-0D05-E32B-9793-439F25E8719B}"/>
              </a:ext>
            </a:extLst>
          </p:cNvPr>
          <p:cNvSpPr txBox="1"/>
          <p:nvPr userDrawn="1"/>
        </p:nvSpPr>
        <p:spPr>
          <a:xfrm>
            <a:off x="9255125" y="6382231"/>
            <a:ext cx="2936875" cy="369332"/>
          </a:xfrm>
          <a:prstGeom prst="rect">
            <a:avLst/>
          </a:prstGeom>
          <a:noFill/>
        </p:spPr>
        <p:txBody>
          <a:bodyPr wrap="square">
            <a:spAutoFit/>
          </a:bodyPr>
          <a:lstStyle/>
          <a:p>
            <a:pPr algn="ctr"/>
            <a:r>
              <a:rPr lang="es-ES" sz="1800" b="0" dirty="0">
                <a:solidFill>
                  <a:srgbClr val="0DA2C2"/>
                </a:solidFill>
                <a:latin typeface="+mn-lt"/>
                <a:ea typeface="Segoe UI" pitchFamily="34" charset="0"/>
                <a:cs typeface="Segoe UI Semibold" panose="020B0702040204020203" pitchFamily="34" charset="0"/>
              </a:rPr>
              <a:t>CollabDays | Madrid 2026</a:t>
            </a:r>
            <a:endParaRPr lang="en-US" b="0" dirty="0">
              <a:latin typeface="+mn-lt"/>
            </a:endParaRPr>
          </a:p>
        </p:txBody>
      </p:sp>
    </p:spTree>
    <p:extLst>
      <p:ext uri="{BB962C8B-B14F-4D97-AF65-F5344CB8AC3E}">
        <p14:creationId xmlns:p14="http://schemas.microsoft.com/office/powerpoint/2010/main" val="2689822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6" name="Gráfico 5">
            <a:extLst>
              <a:ext uri="{FF2B5EF4-FFF2-40B4-BE49-F238E27FC236}">
                <a16:creationId xmlns:a16="http://schemas.microsoft.com/office/drawing/2014/main" id="{DA11E416-9399-A2B2-0FAA-7E24E1E04289}"/>
              </a:ext>
            </a:extLst>
          </p:cNvPr>
          <p:cNvPicPr>
            <a:picLocks noChangeAspect="1"/>
          </p:cNvPicPr>
          <p:nvPr userDrawn="1"/>
        </p:nvPicPr>
        <p:blipFill>
          <a:blip>
            <a:extLst>
              <a:ext uri="{96DAC541-7B7A-43D3-8B79-37D633B846F1}">
                <asvg:svgBlip xmlns:asvg="http://schemas.microsoft.com/office/drawing/2016/SVG/main" r:embed="rId3"/>
              </a:ext>
            </a:extLst>
          </a:blip>
          <a:srcRect t="1" r="80720" b="-4262"/>
          <a:stretch/>
        </p:blipFill>
        <p:spPr>
          <a:xfrm>
            <a:off x="8663379" y="6344057"/>
            <a:ext cx="641331" cy="445681"/>
          </a:xfrm>
          <a:prstGeom prst="rect">
            <a:avLst/>
          </a:prstGeom>
        </p:spPr>
      </p:pic>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6525" y="68261"/>
            <a:ext cx="2767542" cy="666675"/>
          </a:xfrm>
          <a:prstGeom prst="rect">
            <a:avLst/>
          </a:prstGeom>
        </p:spPr>
      </p:pic>
      <p:sp>
        <p:nvSpPr>
          <p:cNvPr id="20" name="Title 16">
            <a:extLst>
              <a:ext uri="{FF2B5EF4-FFF2-40B4-BE49-F238E27FC236}">
                <a16:creationId xmlns:a16="http://schemas.microsoft.com/office/drawing/2014/main" id="{5E24BA48-C45B-8D01-C0DC-AFBC845D9563}"/>
              </a:ext>
            </a:extLst>
          </p:cNvPr>
          <p:cNvSpPr>
            <a:spLocks noGrp="1"/>
          </p:cNvSpPr>
          <p:nvPr>
            <p:ph type="title" idx="4294967295"/>
          </p:nvPr>
        </p:nvSpPr>
        <p:spPr>
          <a:xfrm>
            <a:off x="0" y="4413616"/>
            <a:ext cx="12192000" cy="1021985"/>
          </a:xfrm>
          <a:solidFill>
            <a:srgbClr val="053B47">
              <a:alpha val="65000"/>
            </a:srgbClr>
          </a:solidFill>
          <a:ln>
            <a:noFill/>
          </a:ln>
        </p:spPr>
        <p:txBody>
          <a:bodyPr vert="horz" wrap="square" lIns="137196" tIns="102897" rIns="137736" bIns="34299" rtlCol="0" anchor="ctr" anchorCtr="0">
            <a:normAutofit/>
          </a:bodyPr>
          <a:lstStyle>
            <a:lvl1pPr>
              <a:defRPr sz="3600"/>
            </a:lvl1pPr>
          </a:lstStyle>
          <a:p>
            <a:pPr defTabSz="685983"/>
            <a:endParaRPr lang="en-US" sz="2800">
              <a:solidFill>
                <a:schemeClr val="bg1"/>
              </a:solidFill>
              <a:latin typeface="Segoe UI Semibold" panose="020B0702040204020203" pitchFamily="34" charset="0"/>
              <a:ea typeface="+mj-ea"/>
              <a:cs typeface="Segoe UI Semibold" panose="020B0702040204020203" pitchFamily="34" charset="0"/>
            </a:endParaRPr>
          </a:p>
        </p:txBody>
      </p:sp>
      <p:sp>
        <p:nvSpPr>
          <p:cNvPr id="21" name="Text Placeholder 9">
            <a:extLst>
              <a:ext uri="{FF2B5EF4-FFF2-40B4-BE49-F238E27FC236}">
                <a16:creationId xmlns:a16="http://schemas.microsoft.com/office/drawing/2014/main" id="{DA39C1CD-7A5F-3EA1-F495-77F04256A37A}"/>
              </a:ext>
            </a:extLst>
          </p:cNvPr>
          <p:cNvSpPr>
            <a:spLocks noGrp="1"/>
          </p:cNvSpPr>
          <p:nvPr>
            <p:ph type="body" sz="quarter" idx="4294967295"/>
          </p:nvPr>
        </p:nvSpPr>
        <p:spPr>
          <a:xfrm>
            <a:off x="0" y="5435635"/>
            <a:ext cx="12192000" cy="857290"/>
          </a:xfrm>
          <a:solidFill>
            <a:srgbClr val="053B47">
              <a:alpha val="65000"/>
            </a:srgbClr>
          </a:solidFill>
          <a:ln>
            <a:noFill/>
          </a:ln>
        </p:spPr>
        <p:txBody>
          <a:bodyPr anchor="ctr">
            <a:normAutofit/>
          </a:bodyPr>
          <a:lstStyle>
            <a:lvl1pPr>
              <a:defRPr/>
            </a:lvl1pPr>
          </a:lstStyle>
          <a:p>
            <a:pPr marL="180000" indent="0">
              <a:buNone/>
            </a:pPr>
            <a:endParaRPr lang="en-US" sz="2000" b="1">
              <a:solidFill>
                <a:schemeClr val="bg1"/>
              </a:solidFill>
            </a:endParaRPr>
          </a:p>
        </p:txBody>
      </p:sp>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sp>
        <p:nvSpPr>
          <p:cNvPr id="24" name="Marcador de posición de imagen 23">
            <a:extLst>
              <a:ext uri="{FF2B5EF4-FFF2-40B4-BE49-F238E27FC236}">
                <a16:creationId xmlns:a16="http://schemas.microsoft.com/office/drawing/2014/main" id="{756ACD07-D9D7-09FE-A4BD-DBA7EA3DC702}"/>
              </a:ext>
            </a:extLst>
          </p:cNvPr>
          <p:cNvSpPr>
            <a:spLocks noGrp="1"/>
          </p:cNvSpPr>
          <p:nvPr>
            <p:ph type="pic" sz="quarter" idx="10" hasCustomPrompt="1"/>
          </p:nvPr>
        </p:nvSpPr>
        <p:spPr>
          <a:xfrm>
            <a:off x="9255125" y="3429000"/>
            <a:ext cx="2540000" cy="2524125"/>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a:t>Speaker Picture</a:t>
            </a:r>
          </a:p>
        </p:txBody>
      </p:sp>
      <p:sp>
        <p:nvSpPr>
          <p:cNvPr id="45" name="TextBox 44">
            <a:extLst>
              <a:ext uri="{FF2B5EF4-FFF2-40B4-BE49-F238E27FC236}">
                <a16:creationId xmlns:a16="http://schemas.microsoft.com/office/drawing/2014/main" id="{97853BCA-BB0B-30C4-6B56-CBEF72BCFC2B}"/>
              </a:ext>
            </a:extLst>
          </p:cNvPr>
          <p:cNvSpPr txBox="1"/>
          <p:nvPr userDrawn="1"/>
        </p:nvSpPr>
        <p:spPr>
          <a:xfrm>
            <a:off x="9255125" y="6382231"/>
            <a:ext cx="2936875" cy="369332"/>
          </a:xfrm>
          <a:prstGeom prst="rect">
            <a:avLst/>
          </a:prstGeom>
          <a:noFill/>
        </p:spPr>
        <p:txBody>
          <a:bodyPr wrap="square">
            <a:spAutoFit/>
          </a:bodyPr>
          <a:lstStyle/>
          <a:p>
            <a:pPr algn="ctr"/>
            <a:r>
              <a:rPr lang="es-ES" sz="1800" b="0">
                <a:solidFill>
                  <a:srgbClr val="0DA2C2"/>
                </a:solidFill>
                <a:latin typeface="+mn-lt"/>
                <a:ea typeface="Segoe UI" pitchFamily="34" charset="0"/>
                <a:cs typeface="Segoe UI Semibold" panose="020B0702040204020203" pitchFamily="34" charset="0"/>
              </a:rPr>
              <a:t>CollabDays | Madrid 2025</a:t>
            </a:r>
            <a:endParaRPr lang="en-US" b="0">
              <a:latin typeface="+mn-lt"/>
            </a:endParaRPr>
          </a:p>
        </p:txBody>
      </p:sp>
    </p:spTree>
    <p:extLst>
      <p:ext uri="{BB962C8B-B14F-4D97-AF65-F5344CB8AC3E}">
        <p14:creationId xmlns:p14="http://schemas.microsoft.com/office/powerpoint/2010/main" val="1489110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lor Block Header on Left &amp; Spekaer Description Right ">
    <p:spTree>
      <p:nvGrpSpPr>
        <p:cNvPr id="1" name=""/>
        <p:cNvGrpSpPr/>
        <p:nvPr/>
      </p:nvGrpSpPr>
      <p:grpSpPr>
        <a:xfrm>
          <a:off x="0" y="0"/>
          <a:ext cx="0" cy="0"/>
          <a:chOff x="0" y="0"/>
          <a:chExt cx="0" cy="0"/>
        </a:xfrm>
      </p:grpSpPr>
      <p:pic>
        <p:nvPicPr>
          <p:cNvPr id="19" name="Imagen 18" descr="Edificio en frente de agua&#10;&#10;Descripción generada automáticamente">
            <a:extLst>
              <a:ext uri="{FF2B5EF4-FFF2-40B4-BE49-F238E27FC236}">
                <a16:creationId xmlns:a16="http://schemas.microsoft.com/office/drawing/2014/main" id="{C107E4CA-8391-9C7B-C5E5-19D5DC8C7D2E}"/>
              </a:ext>
            </a:extLst>
          </p:cNvPr>
          <p:cNvPicPr>
            <a:picLocks noChangeAspect="1"/>
          </p:cNvPicPr>
          <p:nvPr userDrawn="1"/>
        </p:nvPicPr>
        <p:blipFill rotWithShape="1">
          <a:blip r:embed="rId2"/>
          <a:srcRect t="10710" b="4915"/>
          <a:stretch/>
        </p:blipFill>
        <p:spPr>
          <a:xfrm>
            <a:off x="0" y="1"/>
            <a:ext cx="12191999" cy="6858000"/>
          </a:xfrm>
          <a:prstGeom prst="rect">
            <a:avLst/>
          </a:prstGeom>
        </p:spPr>
      </p:pic>
      <p:sp>
        <p:nvSpPr>
          <p:cNvPr id="38" name="Rectángulo 37">
            <a:extLst>
              <a:ext uri="{FF2B5EF4-FFF2-40B4-BE49-F238E27FC236}">
                <a16:creationId xmlns:a16="http://schemas.microsoft.com/office/drawing/2014/main" id="{974E3269-F834-DB8E-A48E-221DEDA4AEB3}"/>
              </a:ext>
            </a:extLst>
          </p:cNvPr>
          <p:cNvSpPr/>
          <p:nvPr userDrawn="1"/>
        </p:nvSpPr>
        <p:spPr bwMode="auto">
          <a:xfrm>
            <a:off x="0" y="1414782"/>
            <a:ext cx="12192000" cy="4115618"/>
          </a:xfrm>
          <a:prstGeom prst="rect">
            <a:avLst/>
          </a:prstGeom>
          <a:solidFill>
            <a:schemeClr val="tx1">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sp>
        <p:nvSpPr>
          <p:cNvPr id="20" name="Rectángulo 19">
            <a:extLst>
              <a:ext uri="{FF2B5EF4-FFF2-40B4-BE49-F238E27FC236}">
                <a16:creationId xmlns:a16="http://schemas.microsoft.com/office/drawing/2014/main" id="{0D7C586D-731B-2E8C-96EA-DC342F246DA0}"/>
              </a:ext>
            </a:extLst>
          </p:cNvPr>
          <p:cNvSpPr/>
          <p:nvPr userDrawn="1"/>
        </p:nvSpPr>
        <p:spPr bwMode="auto">
          <a:xfrm>
            <a:off x="0" y="6481895"/>
            <a:ext cx="12192000" cy="38667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sp>
        <p:nvSpPr>
          <p:cNvPr id="3" name="Rectángulo 2">
            <a:extLst>
              <a:ext uri="{FF2B5EF4-FFF2-40B4-BE49-F238E27FC236}">
                <a16:creationId xmlns:a16="http://schemas.microsoft.com/office/drawing/2014/main" id="{18029AAC-1C6F-178E-9B75-06175A351B22}"/>
              </a:ext>
            </a:extLst>
          </p:cNvPr>
          <p:cNvSpPr/>
          <p:nvPr userDrawn="1"/>
        </p:nvSpPr>
        <p:spPr bwMode="auto">
          <a:xfrm>
            <a:off x="0" y="0"/>
            <a:ext cx="12192000" cy="6481895"/>
          </a:xfrm>
          <a:prstGeom prst="rect">
            <a:avLst/>
          </a:prstGeom>
          <a:solidFill>
            <a:srgbClr val="053B47">
              <a:alpha val="4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sp>
        <p:nvSpPr>
          <p:cNvPr id="4" name="Marcador de contenido 3">
            <a:extLst>
              <a:ext uri="{FF2B5EF4-FFF2-40B4-BE49-F238E27FC236}">
                <a16:creationId xmlns:a16="http://schemas.microsoft.com/office/drawing/2014/main" id="{3DFFFC80-CAC7-E6A6-1CC4-B6D02156AD45}"/>
              </a:ext>
            </a:extLst>
          </p:cNvPr>
          <p:cNvSpPr>
            <a:spLocks noGrp="1"/>
          </p:cNvSpPr>
          <p:nvPr>
            <p:ph sz="quarter" idx="4" hasCustomPrompt="1"/>
          </p:nvPr>
        </p:nvSpPr>
        <p:spPr>
          <a:xfrm>
            <a:off x="4652827" y="3319847"/>
            <a:ext cx="4643438" cy="1820164"/>
          </a:xfrm>
        </p:spPr>
        <p:txBody>
          <a:bodyPr/>
          <a:lstStyle>
            <a:lvl1pPr marL="0" indent="0">
              <a:buNone/>
              <a:defRPr sz="2400"/>
            </a:lvl1pPr>
          </a:lstStyle>
          <a:p>
            <a:r>
              <a:rPr lang="en-US">
                <a:solidFill>
                  <a:schemeClr val="bg1"/>
                </a:solidFill>
              </a:rPr>
              <a:t>Description</a:t>
            </a:r>
          </a:p>
        </p:txBody>
      </p:sp>
      <p:pic>
        <p:nvPicPr>
          <p:cNvPr id="6" name="Picture 2" descr="W3.CSS Images" hidden="1">
            <a:extLst>
              <a:ext uri="{FF2B5EF4-FFF2-40B4-BE49-F238E27FC236}">
                <a16:creationId xmlns:a16="http://schemas.microsoft.com/office/drawing/2014/main" id="{5543A152-B134-9405-CE8B-BBF54CFBEE5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4520" y="1681724"/>
            <a:ext cx="3576384" cy="3575828"/>
          </a:xfrm>
          <a:prstGeom prst="ellipse">
            <a:avLst/>
          </a:prstGeom>
          <a:noFill/>
          <a:ln w="101600">
            <a:solidFill>
              <a:srgbClr val="0DA2C2"/>
            </a:solidFill>
          </a:ln>
          <a:extLst>
            <a:ext uri="{909E8E84-426E-40DD-AFC4-6F175D3DCCD1}">
              <a14:hiddenFill xmlns:a14="http://schemas.microsoft.com/office/drawing/2010/main">
                <a:solidFill>
                  <a:srgbClr val="FFFFFF"/>
                </a:solidFill>
              </a14:hiddenFill>
            </a:ext>
          </a:extLst>
        </p:spPr>
      </p:pic>
      <p:sp>
        <p:nvSpPr>
          <p:cNvPr id="11" name="Marcador de texto 10">
            <a:extLst>
              <a:ext uri="{FF2B5EF4-FFF2-40B4-BE49-F238E27FC236}">
                <a16:creationId xmlns:a16="http://schemas.microsoft.com/office/drawing/2014/main" id="{56180E43-2107-FF59-8B45-F7998E2CAE1A}"/>
              </a:ext>
            </a:extLst>
          </p:cNvPr>
          <p:cNvSpPr>
            <a:spLocks noGrp="1"/>
          </p:cNvSpPr>
          <p:nvPr>
            <p:ph type="body" sz="quarter" idx="10" hasCustomPrompt="1"/>
          </p:nvPr>
        </p:nvSpPr>
        <p:spPr>
          <a:xfrm>
            <a:off x="4652826" y="1836134"/>
            <a:ext cx="4643438" cy="645152"/>
          </a:xfrm>
        </p:spPr>
        <p:txBody>
          <a:bodyPr/>
          <a:lstStyle>
            <a:lvl1pPr marL="0" indent="0">
              <a:buNone/>
              <a:defRPr sz="4800">
                <a:solidFill>
                  <a:schemeClr val="bg1"/>
                </a:solidFill>
                <a:latin typeface="Segoe UI Semibold" panose="020B0702040204020203" pitchFamily="34" charset="0"/>
                <a:cs typeface="Segoe UI Semibold" panose="020B0702040204020203" pitchFamily="34" charset="0"/>
              </a:defRPr>
            </a:lvl1pPr>
          </a:lstStyle>
          <a:p>
            <a:pPr lvl="0"/>
            <a:r>
              <a:rPr lang="es-ES"/>
              <a:t>Speaker </a:t>
            </a:r>
            <a:r>
              <a:rPr lang="es-ES" err="1"/>
              <a:t>Name</a:t>
            </a:r>
            <a:endParaRPr lang="es-ES"/>
          </a:p>
        </p:txBody>
      </p:sp>
      <p:sp>
        <p:nvSpPr>
          <p:cNvPr id="12" name="Marcador de texto 10">
            <a:extLst>
              <a:ext uri="{FF2B5EF4-FFF2-40B4-BE49-F238E27FC236}">
                <a16:creationId xmlns:a16="http://schemas.microsoft.com/office/drawing/2014/main" id="{4959C1A6-405A-9C40-389B-BE7A628759F6}"/>
              </a:ext>
            </a:extLst>
          </p:cNvPr>
          <p:cNvSpPr>
            <a:spLocks noGrp="1"/>
          </p:cNvSpPr>
          <p:nvPr>
            <p:ph type="body" sz="quarter" idx="11" hasCustomPrompt="1"/>
          </p:nvPr>
        </p:nvSpPr>
        <p:spPr>
          <a:xfrm>
            <a:off x="4652826" y="2594959"/>
            <a:ext cx="4643438" cy="645152"/>
          </a:xfrm>
        </p:spPr>
        <p:txBody>
          <a:bodyPr/>
          <a:lstStyle>
            <a:lvl1pPr marL="0" indent="0">
              <a:buNone/>
              <a:defRPr sz="2400">
                <a:solidFill>
                  <a:schemeClr val="bg1"/>
                </a:solidFill>
                <a:latin typeface="Segoe UI Semilight" panose="020B0402040204020203" pitchFamily="34" charset="0"/>
                <a:cs typeface="Segoe UI Semilight" panose="020B0402040204020203" pitchFamily="34" charset="0"/>
              </a:defRPr>
            </a:lvl1pPr>
          </a:lstStyle>
          <a:p>
            <a:pPr lvl="0"/>
            <a:r>
              <a:rPr lang="es-ES"/>
              <a:t>Speaker Position</a:t>
            </a:r>
          </a:p>
        </p:txBody>
      </p:sp>
      <p:grpSp>
        <p:nvGrpSpPr>
          <p:cNvPr id="13" name="Grupo 12">
            <a:extLst>
              <a:ext uri="{FF2B5EF4-FFF2-40B4-BE49-F238E27FC236}">
                <a16:creationId xmlns:a16="http://schemas.microsoft.com/office/drawing/2014/main" id="{02BB9031-23E2-E2F1-99C7-B7EB97DE89FB}"/>
              </a:ext>
            </a:extLst>
          </p:cNvPr>
          <p:cNvGrpSpPr/>
          <p:nvPr userDrawn="1"/>
        </p:nvGrpSpPr>
        <p:grpSpPr>
          <a:xfrm>
            <a:off x="0" y="6428512"/>
            <a:ext cx="12192000" cy="394759"/>
            <a:chOff x="0" y="6428512"/>
            <a:chExt cx="12192000" cy="394759"/>
          </a:xfrm>
        </p:grpSpPr>
        <p:sp>
          <p:nvSpPr>
            <p:cNvPr id="14" name="Rectángulo 13">
              <a:extLst>
                <a:ext uri="{FF2B5EF4-FFF2-40B4-BE49-F238E27FC236}">
                  <a16:creationId xmlns:a16="http://schemas.microsoft.com/office/drawing/2014/main" id="{58D8F6E6-DCCD-B138-BE60-6CD29391D029}"/>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5" name="Imagen 5">
              <a:extLst>
                <a:ext uri="{FF2B5EF4-FFF2-40B4-BE49-F238E27FC236}">
                  <a16:creationId xmlns:a16="http://schemas.microsoft.com/office/drawing/2014/main" id="{A13E7BDB-0423-7052-5152-8DB99AC0BB7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920285" y="6516625"/>
              <a:ext cx="2186276" cy="280957"/>
            </a:xfrm>
            <a:prstGeom prst="rect">
              <a:avLst/>
            </a:prstGeom>
          </p:spPr>
        </p:pic>
        <p:sp>
          <p:nvSpPr>
            <p:cNvPr id="16" name="CuadroTexto 15">
              <a:extLst>
                <a:ext uri="{FF2B5EF4-FFF2-40B4-BE49-F238E27FC236}">
                  <a16:creationId xmlns:a16="http://schemas.microsoft.com/office/drawing/2014/main" id="{07C663E0-A60E-9D99-A3D6-5CA148553F5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7" name="Gráfico 16">
            <a:extLst>
              <a:ext uri="{FF2B5EF4-FFF2-40B4-BE49-F238E27FC236}">
                <a16:creationId xmlns:a16="http://schemas.microsoft.com/office/drawing/2014/main" id="{57A19EFB-B46D-669A-9AB7-E06ECA795D1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499350" y="5874559"/>
            <a:ext cx="4762500" cy="619125"/>
          </a:xfrm>
          <a:prstGeom prst="rect">
            <a:avLst/>
          </a:prstGeom>
        </p:spPr>
      </p:pic>
      <p:sp>
        <p:nvSpPr>
          <p:cNvPr id="37" name="Marcador de posición de imagen 23">
            <a:extLst>
              <a:ext uri="{FF2B5EF4-FFF2-40B4-BE49-F238E27FC236}">
                <a16:creationId xmlns:a16="http://schemas.microsoft.com/office/drawing/2014/main" id="{A85A7642-B240-C6E8-464E-4DDCC5BE2CFB}"/>
              </a:ext>
            </a:extLst>
          </p:cNvPr>
          <p:cNvSpPr>
            <a:spLocks noGrp="1"/>
          </p:cNvSpPr>
          <p:nvPr>
            <p:ph type="pic" sz="quarter" idx="12" hasCustomPrompt="1"/>
          </p:nvPr>
        </p:nvSpPr>
        <p:spPr>
          <a:xfrm>
            <a:off x="602247" y="1631795"/>
            <a:ext cx="3715753" cy="3692529"/>
          </a:xfrm>
          <a:prstGeom prst="ellipse">
            <a:avLst/>
          </a:prstGeom>
          <a:ln w="101600">
            <a:solidFill>
              <a:schemeClr val="bg1">
                <a:lumMod val="95000"/>
              </a:schemeClr>
            </a:solidFill>
          </a:ln>
        </p:spPr>
        <p:txBody>
          <a:bodyPr anchor="ctr"/>
          <a:lstStyle>
            <a:lvl1pPr marL="0" indent="0" algn="ctr">
              <a:buNone/>
              <a:defRPr b="1">
                <a:solidFill>
                  <a:schemeClr val="bg1"/>
                </a:solidFill>
              </a:defRPr>
            </a:lvl1pPr>
          </a:lstStyle>
          <a:p>
            <a:r>
              <a:rPr lang="es-ES"/>
              <a:t>Speaker Picture</a:t>
            </a:r>
          </a:p>
        </p:txBody>
      </p:sp>
      <p:sp>
        <p:nvSpPr>
          <p:cNvPr id="2" name="TextBox 1">
            <a:extLst>
              <a:ext uri="{FF2B5EF4-FFF2-40B4-BE49-F238E27FC236}">
                <a16:creationId xmlns:a16="http://schemas.microsoft.com/office/drawing/2014/main" id="{193037B0-831A-7E2D-2209-D4251EAB5A78}"/>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dirty="0" err="1">
                <a:solidFill>
                  <a:srgbClr val="0DA2C2"/>
                </a:solidFill>
                <a:latin typeface="+mn-lt"/>
                <a:ea typeface="Segoe UI" pitchFamily="34" charset="0"/>
                <a:cs typeface="Segoe UI Semibold" panose="020B0702040204020203" pitchFamily="34" charset="0"/>
              </a:rPr>
              <a:t>CollabDays</a:t>
            </a:r>
            <a:r>
              <a:rPr lang="es-ES" sz="1600" b="0" dirty="0">
                <a:solidFill>
                  <a:srgbClr val="0DA2C2"/>
                </a:solidFill>
                <a:latin typeface="+mn-lt"/>
                <a:ea typeface="Segoe UI" pitchFamily="34" charset="0"/>
                <a:cs typeface="Segoe UI Semibold" panose="020B0702040204020203" pitchFamily="34" charset="0"/>
              </a:rPr>
              <a:t> | Madrid 2026</a:t>
            </a:r>
            <a:endParaRPr lang="en-US" sz="1600" b="0" dirty="0">
              <a:latin typeface="+mn-lt"/>
            </a:endParaRPr>
          </a:p>
        </p:txBody>
      </p:sp>
      <p:pic>
        <p:nvPicPr>
          <p:cNvPr id="5" name="Gráfico 5">
            <a:extLst>
              <a:ext uri="{FF2B5EF4-FFF2-40B4-BE49-F238E27FC236}">
                <a16:creationId xmlns:a16="http://schemas.microsoft.com/office/drawing/2014/main" id="{45A88012-FADB-664F-4A02-A6AB45EA2D1D}"/>
              </a:ext>
            </a:extLst>
          </p:cNvPr>
          <p:cNvPicPr>
            <a:picLocks noChangeAspect="1"/>
          </p:cNvPicPr>
          <p:nvPr userDrawn="1"/>
        </p:nvPicPr>
        <p:blipFill>
          <a:blip>
            <a:extLst>
              <a:ext uri="{96DAC541-7B7A-43D3-8B79-37D633B846F1}">
                <asvg:svgBlip xmlns:asvg="http://schemas.microsoft.com/office/drawing/2016/SVG/main" r:embed="rId4"/>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410729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rgbClr val="0DA2C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51" y="2109542"/>
            <a:ext cx="10240453" cy="997196"/>
          </a:xfrm>
        </p:spPr>
        <p:txBody>
          <a:bodyPr anchor="b" anchorCtr="0"/>
          <a:lstStyle>
            <a:lvl1pPr>
              <a:defRPr sz="5401" spc="-113" baseline="0">
                <a:gradFill>
                  <a:gsLst>
                    <a:gs pos="1250">
                      <a:schemeClr val="bg1"/>
                    </a:gs>
                    <a:gs pos="100000">
                      <a:schemeClr val="bg1"/>
                    </a:gs>
                  </a:gsLst>
                  <a:lin ang="5400000" scaled="0"/>
                </a:gradFill>
              </a:defRPr>
            </a:lvl1pPr>
          </a:lstStyle>
          <a:p>
            <a:r>
              <a:rPr lang="en-US"/>
              <a:t>Click to edit title style</a:t>
            </a:r>
          </a:p>
        </p:txBody>
      </p:sp>
      <p:sp>
        <p:nvSpPr>
          <p:cNvPr id="5" name="Text Placeholder 4"/>
          <p:cNvSpPr>
            <a:spLocks noGrp="1"/>
          </p:cNvSpPr>
          <p:nvPr>
            <p:ph type="body" sz="quarter" idx="12" hasCustomPrompt="1"/>
          </p:nvPr>
        </p:nvSpPr>
        <p:spPr>
          <a:xfrm>
            <a:off x="978951" y="3425825"/>
            <a:ext cx="10240453" cy="498598"/>
          </a:xfrm>
        </p:spPr>
        <p:txBody>
          <a:bodyPr>
            <a:noAutofit/>
          </a:bodyPr>
          <a:lstStyle>
            <a:lvl1pPr marL="0" indent="0">
              <a:spcBef>
                <a:spcPts val="0"/>
              </a:spcBef>
              <a:buNone/>
              <a:defRPr spc="-53" baseline="0">
                <a:gradFill>
                  <a:gsLst>
                    <a:gs pos="0">
                      <a:schemeClr val="bg1"/>
                    </a:gs>
                    <a:gs pos="100000">
                      <a:schemeClr val="bg1"/>
                    </a:gs>
                  </a:gsLst>
                  <a:lin ang="5400000" scaled="0"/>
                </a:gradFill>
                <a:latin typeface="+mj-lt"/>
              </a:defRPr>
            </a:lvl1pPr>
          </a:lstStyle>
          <a:p>
            <a:pPr lvl="0"/>
            <a:r>
              <a:rPr lang="en-US"/>
              <a:t>Speaker Title</a:t>
            </a:r>
          </a:p>
        </p:txBody>
      </p:sp>
    </p:spTree>
    <p:extLst>
      <p:ext uri="{BB962C8B-B14F-4D97-AF65-F5344CB8AC3E}">
        <p14:creationId xmlns:p14="http://schemas.microsoft.com/office/powerpoint/2010/main" val="3798112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1800"/>
              </a:spcBef>
              <a:buNone/>
              <a:defRPr sz="3001">
                <a:solidFill>
                  <a:srgbClr val="333333"/>
                </a:solidFill>
                <a:latin typeface="+mj-lt"/>
              </a:defRPr>
            </a:lvl1pPr>
            <a:lvl2pPr marL="0" indent="0">
              <a:buNone/>
              <a:defRPr sz="1500">
                <a:solidFill>
                  <a:srgbClr val="333333"/>
                </a:solidFill>
              </a:defRPr>
            </a:lvl2pPr>
            <a:lvl3pPr marL="173878"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lvl1pPr>
              <a:defRPr>
                <a:solidFill>
                  <a:srgbClr val="0DA2C2"/>
                </a:solidFill>
              </a:defRPr>
            </a:lvl1pPr>
          </a:lstStyle>
          <a:p>
            <a:r>
              <a:rPr lang="en-US"/>
              <a:t>Click to edit Master title style</a:t>
            </a:r>
          </a:p>
        </p:txBody>
      </p:sp>
      <p:grpSp>
        <p:nvGrpSpPr>
          <p:cNvPr id="2" name="Grupo 1">
            <a:extLst>
              <a:ext uri="{FF2B5EF4-FFF2-40B4-BE49-F238E27FC236}">
                <a16:creationId xmlns:a16="http://schemas.microsoft.com/office/drawing/2014/main" id="{55847769-BAB5-1586-08B1-14E296528009}"/>
              </a:ext>
            </a:extLst>
          </p:cNvPr>
          <p:cNvGrpSpPr/>
          <p:nvPr userDrawn="1"/>
        </p:nvGrpSpPr>
        <p:grpSpPr>
          <a:xfrm>
            <a:off x="0" y="6428512"/>
            <a:ext cx="12192000" cy="394759"/>
            <a:chOff x="0" y="6428512"/>
            <a:chExt cx="12192000" cy="394759"/>
          </a:xfrm>
        </p:grpSpPr>
        <p:sp>
          <p:nvSpPr>
            <p:cNvPr id="7" name="Rectángulo 6">
              <a:extLst>
                <a:ext uri="{FF2B5EF4-FFF2-40B4-BE49-F238E27FC236}">
                  <a16:creationId xmlns:a16="http://schemas.microsoft.com/office/drawing/2014/main" id="{FEB41239-FE1A-619E-A46B-E61628EA6561}"/>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59185341-96F2-8CAC-5A98-5F9D1E34AFA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1AE31EC4-00E3-14CA-3498-D05BB06BB0B2}"/>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3" name="Gráfico 12">
            <a:extLst>
              <a:ext uri="{FF2B5EF4-FFF2-40B4-BE49-F238E27FC236}">
                <a16:creationId xmlns:a16="http://schemas.microsoft.com/office/drawing/2014/main" id="{49804CC5-5187-AD2A-41AD-48E18E06F1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0039E603-F284-1688-D251-925CCF94F276}"/>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6" name="Gráfico 5">
            <a:extLst>
              <a:ext uri="{FF2B5EF4-FFF2-40B4-BE49-F238E27FC236}">
                <a16:creationId xmlns:a16="http://schemas.microsoft.com/office/drawing/2014/main" id="{07066352-4C87-9569-7F57-1F151FEEE2FF}"/>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081973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a:t>Click to edit Master title style</a:t>
            </a:r>
          </a:p>
        </p:txBody>
      </p:sp>
      <p:sp>
        <p:nvSpPr>
          <p:cNvPr id="6" name="Text Placeholder 5"/>
          <p:cNvSpPr>
            <a:spLocks noGrp="1"/>
          </p:cNvSpPr>
          <p:nvPr>
            <p:ph type="body" sz="quarter" idx="11"/>
          </p:nvPr>
        </p:nvSpPr>
        <p:spPr>
          <a:xfrm>
            <a:off x="520836" y="1447804"/>
            <a:ext cx="5396365" cy="2462213"/>
          </a:xfrm>
        </p:spPr>
        <p:txBody>
          <a:bodyPr/>
          <a:lstStyle>
            <a:lvl1pPr marL="0" indent="0">
              <a:spcBef>
                <a:spcPts val="900"/>
              </a:spcBef>
              <a:buNone/>
              <a:defRPr sz="3001">
                <a:solidFill>
                  <a:srgbClr val="333333"/>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2"/>
          </p:nvPr>
        </p:nvSpPr>
        <p:spPr>
          <a:xfrm>
            <a:off x="6279564" y="1447804"/>
            <a:ext cx="5396365" cy="2462213"/>
          </a:xfrm>
        </p:spPr>
        <p:txBody>
          <a:bodyPr/>
          <a:lstStyle>
            <a:lvl1pPr marL="0" indent="0">
              <a:spcBef>
                <a:spcPts val="900"/>
              </a:spcBef>
              <a:buNone/>
              <a:defRPr lang="en-US" sz="3001" kern="1200" spc="-53" baseline="0" dirty="0" smtClean="0">
                <a:solidFill>
                  <a:srgbClr val="333333"/>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Fifth level</a:t>
            </a:r>
          </a:p>
        </p:txBody>
      </p:sp>
      <p:grpSp>
        <p:nvGrpSpPr>
          <p:cNvPr id="10" name="Grupo 9">
            <a:extLst>
              <a:ext uri="{FF2B5EF4-FFF2-40B4-BE49-F238E27FC236}">
                <a16:creationId xmlns:a16="http://schemas.microsoft.com/office/drawing/2014/main" id="{B7E1E3AA-B39C-1603-B2F9-ADE3FE8E3FAA}"/>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25F87E1B-26AC-F314-8C73-1D9B690292F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34271E1D-7364-0EC1-1D60-7E498627D7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7D7D623A-C0DF-A20B-370D-B0D436EEA95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4" name="Gráfico 13">
            <a:extLst>
              <a:ext uri="{FF2B5EF4-FFF2-40B4-BE49-F238E27FC236}">
                <a16:creationId xmlns:a16="http://schemas.microsoft.com/office/drawing/2014/main" id="{653DCE6B-F315-0031-BAD8-781AEAE203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88AB30DE-A2B6-A2C8-8AD2-F4F6F132C4BA}"/>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4" name="Gráfico 5">
            <a:extLst>
              <a:ext uri="{FF2B5EF4-FFF2-40B4-BE49-F238E27FC236}">
                <a16:creationId xmlns:a16="http://schemas.microsoft.com/office/drawing/2014/main" id="{F3B212C4-3266-EC72-F972-60C5DE7A1354}"/>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429119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Comparison,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a:t>Click to edit Master title style</a:t>
            </a:r>
          </a:p>
        </p:txBody>
      </p:sp>
      <p:sp>
        <p:nvSpPr>
          <p:cNvPr id="6" name="Text Placeholder 5"/>
          <p:cNvSpPr>
            <a:spLocks noGrp="1"/>
          </p:cNvSpPr>
          <p:nvPr>
            <p:ph type="body" sz="quarter" idx="11"/>
          </p:nvPr>
        </p:nvSpPr>
        <p:spPr>
          <a:xfrm>
            <a:off x="520836" y="1965604"/>
            <a:ext cx="5396365" cy="2027107"/>
          </a:xfrm>
        </p:spPr>
        <p:txBody>
          <a:bodyPr/>
          <a:lstStyle>
            <a:lvl1pPr marL="0" indent="0">
              <a:spcBef>
                <a:spcPts val="900"/>
              </a:spcBef>
              <a:buNone/>
              <a:defRPr sz="2401">
                <a:solidFill>
                  <a:srgbClr val="0DA2C2"/>
                </a:solidFill>
                <a:latin typeface="+mj-lt"/>
              </a:defRPr>
            </a:lvl1pPr>
            <a:lvl2pPr marL="0" indent="0">
              <a:buNone/>
              <a:defRPr sz="1500">
                <a:solidFill>
                  <a:srgbClr val="333333"/>
                </a:solidFill>
              </a:defRPr>
            </a:lvl2pPr>
            <a:lvl3pPr marL="175069" indent="0">
              <a:buNone/>
              <a:defRPr sz="1500">
                <a:solidFill>
                  <a:srgbClr val="333333"/>
                </a:solidFill>
              </a:defRPr>
            </a:lvl3pPr>
            <a:lvl4pPr marL="342991" indent="0">
              <a:buNone/>
              <a:defRPr sz="1500">
                <a:solidFill>
                  <a:srgbClr val="333333"/>
                </a:solidFill>
              </a:defRPr>
            </a:lvl4pPr>
            <a:lvl5pPr marL="520442" indent="0">
              <a:buNone/>
              <a:defRPr sz="1500">
                <a:solidFill>
                  <a:srgbClr val="333333"/>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2"/>
          </p:nvPr>
        </p:nvSpPr>
        <p:spPr>
          <a:xfrm>
            <a:off x="6283636" y="1965604"/>
            <a:ext cx="5396365" cy="2027107"/>
          </a:xfrm>
        </p:spPr>
        <p:txBody>
          <a:bodyPr/>
          <a:lstStyle>
            <a:lvl1pPr marL="0" indent="0">
              <a:spcBef>
                <a:spcPts val="900"/>
              </a:spcBef>
              <a:buNone/>
              <a:defRPr lang="en-US" sz="240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solidFill>
                  <a:srgbClr val="333333"/>
                </a:soli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solidFill>
                  <a:srgbClr val="333333"/>
                </a:soli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a:p>
            <a:pPr marL="0" marR="0" lvl="1"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Fifth level</a:t>
            </a:r>
          </a:p>
        </p:txBody>
      </p:sp>
      <p:sp>
        <p:nvSpPr>
          <p:cNvPr id="8" name="Text Placeholder 8"/>
          <p:cNvSpPr>
            <a:spLocks noGrp="1"/>
          </p:cNvSpPr>
          <p:nvPr>
            <p:ph type="body" sz="quarter" idx="13"/>
          </p:nvPr>
        </p:nvSpPr>
        <p:spPr>
          <a:xfrm>
            <a:off x="5208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p:txBody>
      </p:sp>
      <p:sp>
        <p:nvSpPr>
          <p:cNvPr id="11" name="Text Placeholder 8"/>
          <p:cNvSpPr>
            <a:spLocks noGrp="1"/>
          </p:cNvSpPr>
          <p:nvPr>
            <p:ph type="body" sz="quarter" idx="14"/>
          </p:nvPr>
        </p:nvSpPr>
        <p:spPr>
          <a:xfrm>
            <a:off x="6283636" y="1447200"/>
            <a:ext cx="5396365" cy="441688"/>
          </a:xfrm>
        </p:spPr>
        <p:txBody>
          <a:bodyPr/>
          <a:lstStyle>
            <a:lvl1pPr marL="0" indent="0">
              <a:spcBef>
                <a:spcPts val="900"/>
              </a:spcBef>
              <a:buNone/>
              <a:defRPr lang="en-US" sz="2701" b="1" kern="1200" spc="-53" baseline="0" dirty="0" smtClean="0">
                <a:solidFill>
                  <a:srgbClr val="0DA2C2"/>
                </a:solidFill>
                <a:latin typeface="+mj-lt"/>
                <a:ea typeface="+mn-ea"/>
                <a:cs typeface="+mn-cs"/>
              </a:defRPr>
            </a:lvl1pPr>
            <a:lvl2pPr marL="2382"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2pPr>
            <a:lvl3pPr marL="175069"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3pPr>
            <a:lvl4pPr marL="345373"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smtClean="0">
                <a:gradFill>
                  <a:gsLst>
                    <a:gs pos="1250">
                      <a:schemeClr val="bg2"/>
                    </a:gs>
                    <a:gs pos="100000">
                      <a:schemeClr val="bg2"/>
                    </a:gs>
                  </a:gsLst>
                  <a:lin ang="5400000" scaled="0"/>
                </a:gradFill>
                <a:latin typeface="+mn-lt"/>
                <a:ea typeface="+mn-ea"/>
                <a:cs typeface="+mn-cs"/>
              </a:defRPr>
            </a:lvl4pPr>
            <a:lvl5pPr marL="515678" marR="0" indent="0" algn="l" defTabSz="685955" rtl="0" eaLnBrk="1" fontAlgn="auto" latinLnBrk="0" hangingPunct="1">
              <a:lnSpc>
                <a:spcPct val="90000"/>
              </a:lnSpc>
              <a:spcBef>
                <a:spcPct val="20000"/>
              </a:spcBef>
              <a:spcAft>
                <a:spcPts val="0"/>
              </a:spcAft>
              <a:buClrTx/>
              <a:buSzPct val="90000"/>
              <a:buFont typeface="Arial" pitchFamily="34" charset="0"/>
              <a:buNone/>
              <a:tabLst/>
              <a:defRPr lang="en-US" sz="1500" kern="1200" spc="-53" baseline="0" dirty="0">
                <a:gradFill>
                  <a:gsLst>
                    <a:gs pos="1250">
                      <a:schemeClr val="bg2"/>
                    </a:gs>
                    <a:gs pos="100000">
                      <a:schemeClr val="bg2"/>
                    </a:gs>
                  </a:gsLst>
                  <a:lin ang="5400000" scaled="0"/>
                </a:gradFill>
                <a:latin typeface="+mn-lt"/>
                <a:ea typeface="+mn-ea"/>
                <a:cs typeface="+mn-cs"/>
              </a:defRPr>
            </a:lvl5pPr>
          </a:lstStyle>
          <a:p>
            <a:pPr marL="0" marR="0" lvl="0" indent="0" algn="l" defTabSz="685955" rtl="0" eaLnBrk="1" fontAlgn="auto" latinLnBrk="0" hangingPunct="1">
              <a:lnSpc>
                <a:spcPct val="90000"/>
              </a:lnSpc>
              <a:spcBef>
                <a:spcPct val="20000"/>
              </a:spcBef>
              <a:spcAft>
                <a:spcPts val="0"/>
              </a:spcAft>
              <a:buClrTx/>
              <a:buSzPct val="90000"/>
              <a:buFont typeface="Arial" pitchFamily="34" charset="0"/>
              <a:buNone/>
              <a:tabLst/>
            </a:pPr>
            <a:r>
              <a:rPr lang="en-US"/>
              <a:t>Edit Master text styles</a:t>
            </a:r>
          </a:p>
        </p:txBody>
      </p:sp>
      <p:grpSp>
        <p:nvGrpSpPr>
          <p:cNvPr id="12" name="Grupo 11">
            <a:extLst>
              <a:ext uri="{FF2B5EF4-FFF2-40B4-BE49-F238E27FC236}">
                <a16:creationId xmlns:a16="http://schemas.microsoft.com/office/drawing/2014/main" id="{333C56DF-AF29-7E79-02B1-A45DA5F7F4C9}"/>
              </a:ext>
            </a:extLst>
          </p:cNvPr>
          <p:cNvGrpSpPr/>
          <p:nvPr userDrawn="1"/>
        </p:nvGrpSpPr>
        <p:grpSpPr>
          <a:xfrm>
            <a:off x="0" y="6428512"/>
            <a:ext cx="12192000" cy="394759"/>
            <a:chOff x="0" y="6428512"/>
            <a:chExt cx="12192000" cy="394759"/>
          </a:xfrm>
        </p:grpSpPr>
        <p:sp>
          <p:nvSpPr>
            <p:cNvPr id="13" name="Rectángulo 12">
              <a:extLst>
                <a:ext uri="{FF2B5EF4-FFF2-40B4-BE49-F238E27FC236}">
                  <a16:creationId xmlns:a16="http://schemas.microsoft.com/office/drawing/2014/main" id="{755974F1-6B71-015A-D066-E8E7F4FF687E}"/>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4" name="Imagen 5">
              <a:extLst>
                <a:ext uri="{FF2B5EF4-FFF2-40B4-BE49-F238E27FC236}">
                  <a16:creationId xmlns:a16="http://schemas.microsoft.com/office/drawing/2014/main" id="{9BC39416-CB7F-9F78-EF01-F470A24623E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5" name="CuadroTexto 14">
              <a:extLst>
                <a:ext uri="{FF2B5EF4-FFF2-40B4-BE49-F238E27FC236}">
                  <a16:creationId xmlns:a16="http://schemas.microsoft.com/office/drawing/2014/main" id="{466639BF-626B-CA09-3B1E-31B62CDBDC48}"/>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6" name="Gráfico 15">
            <a:extLst>
              <a:ext uri="{FF2B5EF4-FFF2-40B4-BE49-F238E27FC236}">
                <a16:creationId xmlns:a16="http://schemas.microsoft.com/office/drawing/2014/main" id="{496E0C27-C7CE-11F9-A14E-28437283D24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6653978-9EBD-1EF7-277F-AEA77573311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4" name="Gráfico 5">
            <a:extLst>
              <a:ext uri="{FF2B5EF4-FFF2-40B4-BE49-F238E27FC236}">
                <a16:creationId xmlns:a16="http://schemas.microsoft.com/office/drawing/2014/main" id="{F378BEAB-FA6F-B1D1-7F2C-25ABFC5DE151}"/>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245579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10332" y="0"/>
            <a:ext cx="5981669" cy="6858000"/>
          </a:xfrm>
        </p:spPr>
        <p:txBody>
          <a:bodyPr lIns="182880" anchor="ctr"/>
          <a:lstStyle>
            <a:lvl1pPr marL="0" indent="0" algn="l">
              <a:buNone/>
              <a:defRPr/>
            </a:lvl1pPr>
          </a:lstStyle>
          <a:p>
            <a:r>
              <a:rPr lang="en-US"/>
              <a:t>Click to insert photo.</a:t>
            </a: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a:t>Click to edit Master text styles.</a:t>
            </a:r>
          </a:p>
        </p:txBody>
      </p:sp>
      <p:sp>
        <p:nvSpPr>
          <p:cNvPr id="9" name="Content Placeholder 5"/>
          <p:cNvSpPr>
            <a:spLocks noGrp="1"/>
          </p:cNvSpPr>
          <p:nvPr>
            <p:ph sz="quarter" idx="13"/>
          </p:nvPr>
        </p:nvSpPr>
        <p:spPr>
          <a:xfrm>
            <a:off x="520838"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grpSp>
        <p:nvGrpSpPr>
          <p:cNvPr id="10" name="Grupo 9">
            <a:extLst>
              <a:ext uri="{FF2B5EF4-FFF2-40B4-BE49-F238E27FC236}">
                <a16:creationId xmlns:a16="http://schemas.microsoft.com/office/drawing/2014/main" id="{5AA6B024-3954-0C65-6611-E960667D5451}"/>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0EC9744C-DEAF-B1D1-4210-A1D62200BCDB}"/>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FFB920B9-E5C6-9FC0-6566-D1264A3FE30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E9D88D1C-1038-2D6A-B97D-12627D986B1C}"/>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4" name="Gráfico 13">
            <a:extLst>
              <a:ext uri="{FF2B5EF4-FFF2-40B4-BE49-F238E27FC236}">
                <a16:creationId xmlns:a16="http://schemas.microsoft.com/office/drawing/2014/main" id="{8433886F-F467-5B93-9F49-DD1F7DE84F0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2FE6614B-A357-8AF0-C15A-42BF8A8B1F32}"/>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5" name="Gráfico 5">
            <a:extLst>
              <a:ext uri="{FF2B5EF4-FFF2-40B4-BE49-F238E27FC236}">
                <a16:creationId xmlns:a16="http://schemas.microsoft.com/office/drawing/2014/main" id="{93A32832-6317-A394-4DC9-10A526C53BFF}"/>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12167969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1" y="1447801"/>
            <a:ext cx="5434948" cy="1178442"/>
          </a:xfrm>
          <a:prstGeom prst="rect">
            <a:avLst/>
          </a:prstGeom>
        </p:spPr>
        <p:txBody>
          <a:bodyPr>
            <a:noAutofit/>
          </a:bodyPr>
          <a:lstStyle>
            <a:lvl1pPr marL="0" indent="0">
              <a:buNone/>
              <a:defRPr sz="3001" b="0" cap="none" baseline="0">
                <a:solidFill>
                  <a:srgbClr val="0DA2C2"/>
                </a:soli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a:t>Click to edit Master text styles.</a:t>
            </a:r>
          </a:p>
        </p:txBody>
      </p:sp>
      <p:sp>
        <p:nvSpPr>
          <p:cNvPr id="9" name="Content Placeholder 5"/>
          <p:cNvSpPr>
            <a:spLocks noGrp="1"/>
          </p:cNvSpPr>
          <p:nvPr>
            <p:ph sz="quarter" idx="13"/>
          </p:nvPr>
        </p:nvSpPr>
        <p:spPr>
          <a:xfrm>
            <a:off x="6219713" y="2734985"/>
            <a:ext cx="5445583" cy="609398"/>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
        <p:nvSpPr>
          <p:cNvPr id="4" name="Picture Placeholder 3"/>
          <p:cNvSpPr>
            <a:spLocks noGrp="1"/>
          </p:cNvSpPr>
          <p:nvPr>
            <p:ph type="pic" sz="quarter" idx="14" hasCustomPrompt="1"/>
          </p:nvPr>
        </p:nvSpPr>
        <p:spPr>
          <a:xfrm>
            <a:off x="0" y="0"/>
            <a:ext cx="5981669" cy="6858000"/>
          </a:xfrm>
        </p:spPr>
        <p:txBody>
          <a:bodyPr lIns="182880" anchor="ctr"/>
          <a:lstStyle>
            <a:lvl1pPr marL="0" indent="0" algn="l">
              <a:buNone/>
              <a:defRPr/>
            </a:lvl1pPr>
          </a:lstStyle>
          <a:p>
            <a:r>
              <a:rPr lang="en-US"/>
              <a:t>Click to insert photo.</a:t>
            </a:r>
          </a:p>
        </p:txBody>
      </p:sp>
      <p:grpSp>
        <p:nvGrpSpPr>
          <p:cNvPr id="10" name="Grupo 9">
            <a:extLst>
              <a:ext uri="{FF2B5EF4-FFF2-40B4-BE49-F238E27FC236}">
                <a16:creationId xmlns:a16="http://schemas.microsoft.com/office/drawing/2014/main" id="{2EE58E02-9D4A-FA17-AEE8-165314D43BFC}"/>
              </a:ext>
            </a:extLst>
          </p:cNvPr>
          <p:cNvGrpSpPr/>
          <p:nvPr userDrawn="1"/>
        </p:nvGrpSpPr>
        <p:grpSpPr>
          <a:xfrm>
            <a:off x="0" y="6428512"/>
            <a:ext cx="12192000" cy="394759"/>
            <a:chOff x="0" y="6428512"/>
            <a:chExt cx="12192000" cy="394759"/>
          </a:xfrm>
        </p:grpSpPr>
        <p:sp>
          <p:nvSpPr>
            <p:cNvPr id="11" name="Rectángulo 10">
              <a:extLst>
                <a:ext uri="{FF2B5EF4-FFF2-40B4-BE49-F238E27FC236}">
                  <a16:creationId xmlns:a16="http://schemas.microsoft.com/office/drawing/2014/main" id="{BB67C955-EBD9-48EB-06EA-DD16D1A163F8}"/>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2" name="Imagen 5">
              <a:extLst>
                <a:ext uri="{FF2B5EF4-FFF2-40B4-BE49-F238E27FC236}">
                  <a16:creationId xmlns:a16="http://schemas.microsoft.com/office/drawing/2014/main" id="{C3BD6E5C-F738-4CB0-8027-4DDF9CF04D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3" name="CuadroTexto 12">
              <a:extLst>
                <a:ext uri="{FF2B5EF4-FFF2-40B4-BE49-F238E27FC236}">
                  <a16:creationId xmlns:a16="http://schemas.microsoft.com/office/drawing/2014/main" id="{4C89D170-DD70-021F-47AC-02C1EF4B7BDD}"/>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4" name="Gráfico 13">
            <a:extLst>
              <a:ext uri="{FF2B5EF4-FFF2-40B4-BE49-F238E27FC236}">
                <a16:creationId xmlns:a16="http://schemas.microsoft.com/office/drawing/2014/main" id="{7B7AB469-6B39-D368-AA38-B368AC1688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2" name="TextBox 1">
            <a:extLst>
              <a:ext uri="{FF2B5EF4-FFF2-40B4-BE49-F238E27FC236}">
                <a16:creationId xmlns:a16="http://schemas.microsoft.com/office/drawing/2014/main" id="{65CA6A43-07F6-A198-38BF-12FD84BF582F}"/>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5" name="Gráfico 5">
            <a:extLst>
              <a:ext uri="{FF2B5EF4-FFF2-40B4-BE49-F238E27FC236}">
                <a16:creationId xmlns:a16="http://schemas.microsoft.com/office/drawing/2014/main" id="{9D9BF0F3-D0E8-C2EB-F50A-14A0405D37E9}"/>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861025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0" y="0"/>
            <a:ext cx="5943001" cy="6858000"/>
          </a:xfrm>
          <a:prstGeom prst="rect">
            <a:avLst/>
          </a:prstGeom>
          <a:solidFill>
            <a:srgbClr val="0DA2C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9" tIns="34299" rIns="34299" bIns="34299" numCol="1" spcCol="0" rtlCol="0" fromWordArt="0" anchor="ctr" anchorCtr="0" forceAA="0" compatLnSpc="1">
            <a:prstTxWarp prst="textNoShape">
              <a:avLst/>
            </a:prstTxWarp>
            <a:noAutofit/>
          </a:bodyPr>
          <a:lstStyle/>
          <a:p>
            <a:pPr algn="ctr" defTabSz="685757" fontAlgn="base">
              <a:spcBef>
                <a:spcPct val="0"/>
              </a:spcBef>
              <a:spcAft>
                <a:spcPct val="0"/>
              </a:spcAft>
            </a:pPr>
            <a:endParaRPr lang="en-US" sz="165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4"/>
            <a:ext cx="5233764" cy="1661993"/>
          </a:xfrm>
          <a:prstGeom prst="rect">
            <a:avLst/>
          </a:prstGeom>
        </p:spPr>
        <p:txBody>
          <a:bodyPr>
            <a:noAutofit/>
          </a:bodyPr>
          <a:lstStyle>
            <a:lvl1pPr marL="0" indent="0">
              <a:buNone/>
              <a:defRPr sz="3001" b="0" cap="none" baseline="0">
                <a:gradFill>
                  <a:gsLst>
                    <a:gs pos="100000">
                      <a:schemeClr val="bg1"/>
                    </a:gs>
                    <a:gs pos="0">
                      <a:schemeClr val="bg1"/>
                    </a:gs>
                  </a:gsLst>
                  <a:lin ang="5400000" scaled="0"/>
                </a:gradFill>
                <a:latin typeface="+mj-lt"/>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a:t>Click to edit Master text styles.</a:t>
            </a:r>
          </a:p>
        </p:txBody>
      </p:sp>
      <p:sp>
        <p:nvSpPr>
          <p:cNvPr id="6" name="Content Placeholder 5"/>
          <p:cNvSpPr>
            <a:spLocks noGrp="1"/>
          </p:cNvSpPr>
          <p:nvPr>
            <p:ph sz="quarter" idx="4"/>
          </p:nvPr>
        </p:nvSpPr>
        <p:spPr>
          <a:xfrm>
            <a:off x="6189762" y="1447804"/>
            <a:ext cx="5486169" cy="332399"/>
          </a:xfrm>
          <a:prstGeom prst="rect">
            <a:avLst/>
          </a:prstGeom>
        </p:spPr>
        <p:txBody>
          <a:bodyPr>
            <a:noAutofit/>
          </a:bodyPr>
          <a:lstStyle>
            <a:lvl1pPr marL="0" indent="0">
              <a:spcBef>
                <a:spcPts val="900"/>
              </a:spcBef>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5863" indent="-285776">
              <a:defRPr lang="en-US" sz="1575" kern="1200" dirty="0" smtClean="0">
                <a:solidFill>
                  <a:schemeClr val="bg2">
                    <a:lumMod val="50000"/>
                  </a:schemeClr>
                </a:solidFill>
                <a:latin typeface="+mn-lt"/>
                <a:ea typeface="+mn-ea"/>
                <a:cs typeface="Arial" pitchFamily="34" charset="0"/>
              </a:defRPr>
            </a:lvl2pPr>
            <a:lvl3pPr marL="685863" indent="-171466">
              <a:defRPr lang="en-US" sz="1425" kern="1200" dirty="0" smtClean="0">
                <a:solidFill>
                  <a:schemeClr val="bg2">
                    <a:lumMod val="50000"/>
                  </a:schemeClr>
                </a:solidFill>
                <a:latin typeface="+mn-lt"/>
                <a:ea typeface="+mn-ea"/>
                <a:cs typeface="Arial" pitchFamily="34" charset="0"/>
              </a:defRPr>
            </a:lvl3pPr>
            <a:lvl4pPr marL="914484" indent="-171466">
              <a:defRPr lang="en-US" sz="1200" kern="1200" dirty="0" smtClean="0">
                <a:solidFill>
                  <a:schemeClr val="bg2">
                    <a:lumMod val="50000"/>
                  </a:schemeClr>
                </a:solidFill>
                <a:latin typeface="+mn-lt"/>
                <a:ea typeface="+mn-ea"/>
                <a:cs typeface="Arial" pitchFamily="34" charset="0"/>
              </a:defRPr>
            </a:lvl4pPr>
            <a:lvl5pPr marL="1085950" indent="-171466">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Edit Master text styles</a:t>
            </a:r>
          </a:p>
        </p:txBody>
      </p:sp>
    </p:spTree>
    <p:extLst>
      <p:ext uri="{BB962C8B-B14F-4D97-AF65-F5344CB8AC3E}">
        <p14:creationId xmlns:p14="http://schemas.microsoft.com/office/powerpoint/2010/main" val="1571426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a:t>Click to edit Master title style</a:t>
            </a:r>
          </a:p>
        </p:txBody>
      </p:sp>
      <p:grpSp>
        <p:nvGrpSpPr>
          <p:cNvPr id="3" name="Grupo 2">
            <a:extLst>
              <a:ext uri="{FF2B5EF4-FFF2-40B4-BE49-F238E27FC236}">
                <a16:creationId xmlns:a16="http://schemas.microsoft.com/office/drawing/2014/main" id="{2A073C0F-5E68-AD64-F70B-074DE66A6774}"/>
              </a:ext>
            </a:extLst>
          </p:cNvPr>
          <p:cNvGrpSpPr/>
          <p:nvPr userDrawn="1"/>
        </p:nvGrpSpPr>
        <p:grpSpPr>
          <a:xfrm>
            <a:off x="0" y="6428512"/>
            <a:ext cx="12192000" cy="394759"/>
            <a:chOff x="0" y="6428512"/>
            <a:chExt cx="12192000" cy="394759"/>
          </a:xfrm>
        </p:grpSpPr>
        <p:sp>
          <p:nvSpPr>
            <p:cNvPr id="5" name="Rectángulo 4">
              <a:extLst>
                <a:ext uri="{FF2B5EF4-FFF2-40B4-BE49-F238E27FC236}">
                  <a16:creationId xmlns:a16="http://schemas.microsoft.com/office/drawing/2014/main" id="{F65D572D-BA18-6A18-4F8F-963A7C00933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6" name="Imagen 5">
              <a:extLst>
                <a:ext uri="{FF2B5EF4-FFF2-40B4-BE49-F238E27FC236}">
                  <a16:creationId xmlns:a16="http://schemas.microsoft.com/office/drawing/2014/main" id="{E3C03CAA-09E7-28A0-F6D5-0CF3033E1BF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7" name="CuadroTexto 6">
              <a:extLst>
                <a:ext uri="{FF2B5EF4-FFF2-40B4-BE49-F238E27FC236}">
                  <a16:creationId xmlns:a16="http://schemas.microsoft.com/office/drawing/2014/main" id="{38257835-9DE7-3689-F927-76F0DE26C157}"/>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9" name="Gráfico 8">
            <a:extLst>
              <a:ext uri="{FF2B5EF4-FFF2-40B4-BE49-F238E27FC236}">
                <a16:creationId xmlns:a16="http://schemas.microsoft.com/office/drawing/2014/main" id="{60691E28-9353-2AA9-3637-EE03A77F917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3E5A6700-D44A-3AD3-B0C0-8E11BF37AFFE}"/>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8" name="Gráfico 5">
            <a:extLst>
              <a:ext uri="{FF2B5EF4-FFF2-40B4-BE49-F238E27FC236}">
                <a16:creationId xmlns:a16="http://schemas.microsoft.com/office/drawing/2014/main" id="{C2A2AA91-EC57-D1FD-C362-EDAC164A3078}"/>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2200340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a:t>Click to edit Master title style</a:t>
            </a:r>
          </a:p>
        </p:txBody>
      </p:sp>
      <p:grpSp>
        <p:nvGrpSpPr>
          <p:cNvPr id="3" name="Grupo 2">
            <a:extLst>
              <a:ext uri="{FF2B5EF4-FFF2-40B4-BE49-F238E27FC236}">
                <a16:creationId xmlns:a16="http://schemas.microsoft.com/office/drawing/2014/main" id="{2A073C0F-5E68-AD64-F70B-074DE66A6774}"/>
              </a:ext>
            </a:extLst>
          </p:cNvPr>
          <p:cNvGrpSpPr/>
          <p:nvPr userDrawn="1"/>
        </p:nvGrpSpPr>
        <p:grpSpPr>
          <a:xfrm>
            <a:off x="0" y="6428512"/>
            <a:ext cx="12192000" cy="394759"/>
            <a:chOff x="0" y="6428512"/>
            <a:chExt cx="12192000" cy="394759"/>
          </a:xfrm>
        </p:grpSpPr>
        <p:sp>
          <p:nvSpPr>
            <p:cNvPr id="5" name="Rectángulo 4">
              <a:extLst>
                <a:ext uri="{FF2B5EF4-FFF2-40B4-BE49-F238E27FC236}">
                  <a16:creationId xmlns:a16="http://schemas.microsoft.com/office/drawing/2014/main" id="{F65D572D-BA18-6A18-4F8F-963A7C009336}"/>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6" name="Imagen 5">
              <a:extLst>
                <a:ext uri="{FF2B5EF4-FFF2-40B4-BE49-F238E27FC236}">
                  <a16:creationId xmlns:a16="http://schemas.microsoft.com/office/drawing/2014/main" id="{E3C03CAA-09E7-28A0-F6D5-0CF3033E1BF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7" name="CuadroTexto 6">
              <a:extLst>
                <a:ext uri="{FF2B5EF4-FFF2-40B4-BE49-F238E27FC236}">
                  <a16:creationId xmlns:a16="http://schemas.microsoft.com/office/drawing/2014/main" id="{38257835-9DE7-3689-F927-76F0DE26C157}"/>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9" name="Gráfico 8">
            <a:extLst>
              <a:ext uri="{FF2B5EF4-FFF2-40B4-BE49-F238E27FC236}">
                <a16:creationId xmlns:a16="http://schemas.microsoft.com/office/drawing/2014/main" id="{60691E28-9353-2AA9-3637-EE03A77F917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4" name="TextBox 3">
            <a:extLst>
              <a:ext uri="{FF2B5EF4-FFF2-40B4-BE49-F238E27FC236}">
                <a16:creationId xmlns:a16="http://schemas.microsoft.com/office/drawing/2014/main" id="{3E5A6700-D44A-3AD3-B0C0-8E11BF37AFFE}"/>
              </a:ext>
            </a:extLst>
          </p:cNvPr>
          <p:cNvSpPr txBox="1"/>
          <p:nvPr userDrawn="1"/>
        </p:nvSpPr>
        <p:spPr>
          <a:xfrm>
            <a:off x="9683406" y="6505955"/>
            <a:ext cx="2508594" cy="338554"/>
          </a:xfrm>
          <a:prstGeom prst="rect">
            <a:avLst/>
          </a:prstGeom>
          <a:solidFill>
            <a:schemeClr val="tx1">
              <a:lumMod val="50000"/>
            </a:schemeClr>
          </a:solidFill>
        </p:spPr>
        <p:txBody>
          <a:bodyPr wrap="square">
            <a:spAutoFit/>
          </a:bodyPr>
          <a:lstStyle/>
          <a:p>
            <a:r>
              <a:rPr lang="es-ES" sz="1600" b="0" dirty="0" err="1">
                <a:solidFill>
                  <a:srgbClr val="0DA2C2"/>
                </a:solidFill>
                <a:latin typeface="+mn-lt"/>
                <a:ea typeface="Segoe UI" pitchFamily="34" charset="0"/>
                <a:cs typeface="Segoe UI Semibold" panose="020B0702040204020203" pitchFamily="34" charset="0"/>
              </a:rPr>
              <a:t>CollabDays</a:t>
            </a:r>
            <a:r>
              <a:rPr lang="es-ES" sz="1600" b="0" dirty="0">
                <a:solidFill>
                  <a:srgbClr val="0DA2C2"/>
                </a:solidFill>
                <a:latin typeface="+mn-lt"/>
                <a:ea typeface="Segoe UI" pitchFamily="34" charset="0"/>
                <a:cs typeface="Segoe UI Semibold" panose="020B0702040204020203" pitchFamily="34" charset="0"/>
              </a:rPr>
              <a:t> | Madrid 2026</a:t>
            </a:r>
            <a:endParaRPr lang="en-US" sz="1600" b="0" dirty="0">
              <a:latin typeface="+mn-lt"/>
            </a:endParaRPr>
          </a:p>
        </p:txBody>
      </p:sp>
      <p:pic>
        <p:nvPicPr>
          <p:cNvPr id="8" name="Gráfico 5">
            <a:extLst>
              <a:ext uri="{FF2B5EF4-FFF2-40B4-BE49-F238E27FC236}">
                <a16:creationId xmlns:a16="http://schemas.microsoft.com/office/drawing/2014/main" id="{C2A2AA91-EC57-D1FD-C362-EDAC164A3078}"/>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9617709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DA2C2"/>
                </a:solidFill>
              </a:defRPr>
            </a:lvl1pPr>
          </a:lstStyle>
          <a:p>
            <a:r>
              <a:rPr lang="en-US"/>
              <a:t>Click to edit Master title style</a:t>
            </a:r>
          </a:p>
        </p:txBody>
      </p:sp>
      <p:graphicFrame>
        <p:nvGraphicFramePr>
          <p:cNvPr id="8" name="Table 16">
            <a:extLst>
              <a:ext uri="{FF2B5EF4-FFF2-40B4-BE49-F238E27FC236}">
                <a16:creationId xmlns:a16="http://schemas.microsoft.com/office/drawing/2014/main" id="{C167C2FC-6B78-5D74-ED2E-F7BF522B6C07}"/>
              </a:ext>
            </a:extLst>
          </p:cNvPr>
          <p:cNvGraphicFramePr>
            <a:graphicFrameLocks noGrp="1"/>
          </p:cNvGraphicFramePr>
          <p:nvPr userDrawn="1">
            <p:extLst>
              <p:ext uri="{D42A27DB-BD31-4B8C-83A1-F6EECF244321}">
                <p14:modId xmlns:p14="http://schemas.microsoft.com/office/powerpoint/2010/main" val="141043173"/>
              </p:ext>
            </p:extLst>
          </p:nvPr>
        </p:nvGraphicFramePr>
        <p:xfrm>
          <a:off x="519248" y="1337539"/>
          <a:ext cx="11151918" cy="3825585"/>
        </p:xfrm>
        <a:graphic>
          <a:graphicData uri="http://schemas.openxmlformats.org/drawingml/2006/table">
            <a:tbl>
              <a:tblPr firstRow="1" bandRow="1">
                <a:tableStyleId>{08FB837D-C827-4EFA-A057-4D05807E0F7C}</a:tableStyleId>
              </a:tblPr>
              <a:tblGrid>
                <a:gridCol w="3717306">
                  <a:extLst>
                    <a:ext uri="{9D8B030D-6E8A-4147-A177-3AD203B41FA5}">
                      <a16:colId xmlns:a16="http://schemas.microsoft.com/office/drawing/2014/main" val="1513973928"/>
                    </a:ext>
                  </a:extLst>
                </a:gridCol>
                <a:gridCol w="3717306">
                  <a:extLst>
                    <a:ext uri="{9D8B030D-6E8A-4147-A177-3AD203B41FA5}">
                      <a16:colId xmlns:a16="http://schemas.microsoft.com/office/drawing/2014/main" val="3419202442"/>
                    </a:ext>
                  </a:extLst>
                </a:gridCol>
                <a:gridCol w="3717306">
                  <a:extLst>
                    <a:ext uri="{9D8B030D-6E8A-4147-A177-3AD203B41FA5}">
                      <a16:colId xmlns:a16="http://schemas.microsoft.com/office/drawing/2014/main" val="3401758148"/>
                    </a:ext>
                  </a:extLst>
                </a:gridCol>
              </a:tblGrid>
              <a:tr h="336465">
                <a:tc>
                  <a:txBody>
                    <a:bodyPr/>
                    <a:lstStyle/>
                    <a:p>
                      <a:pPr algn="ctr"/>
                      <a:r>
                        <a:rPr lang="es-ES" sz="1400" err="1">
                          <a:solidFill>
                            <a:schemeClr val="bg1"/>
                          </a:solidFill>
                        </a:rPr>
                        <a:t>Header</a:t>
                      </a:r>
                      <a:r>
                        <a:rPr lang="es-ES" sz="1400">
                          <a:solidFill>
                            <a:schemeClr val="bg1"/>
                          </a:solidFill>
                        </a:rPr>
                        <a:t> 1</a:t>
                      </a:r>
                      <a:endParaRPr lang="es-ES" sz="140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err="1">
                          <a:solidFill>
                            <a:schemeClr val="bg1"/>
                          </a:solidFill>
                        </a:rPr>
                        <a:t>Header</a:t>
                      </a:r>
                      <a:r>
                        <a:rPr lang="es-ES" sz="1400">
                          <a:solidFill>
                            <a:schemeClr val="bg1"/>
                          </a:solidFill>
                        </a:rPr>
                        <a:t> 2</a:t>
                      </a:r>
                      <a:endParaRPr lang="es-ES" sz="1400">
                        <a:solidFill>
                          <a:schemeClr val="bg1"/>
                        </a:solidFill>
                        <a:latin typeface="Roboto" panose="02000000000000000000" pitchFamily="2" charset="0"/>
                        <a:ea typeface="Roboto" panose="02000000000000000000" pitchFamily="2" charset="0"/>
                      </a:endParaRPr>
                    </a:p>
                  </a:txBody>
                  <a:tcPr anchor="ctr">
                    <a:solidFill>
                      <a:srgbClr val="0DA2C2"/>
                    </a:solidFill>
                  </a:tcPr>
                </a:tc>
                <a:tc>
                  <a:txBody>
                    <a:bodyPr/>
                    <a:lstStyle/>
                    <a:p>
                      <a:pPr algn="ctr"/>
                      <a:r>
                        <a:rPr lang="es-ES" sz="1400" err="1">
                          <a:solidFill>
                            <a:schemeClr val="bg1"/>
                          </a:solidFill>
                        </a:rPr>
                        <a:t>Header</a:t>
                      </a:r>
                      <a:r>
                        <a:rPr lang="es-ES" sz="1400">
                          <a:solidFill>
                            <a:schemeClr val="bg1"/>
                          </a:solidFill>
                        </a:rPr>
                        <a:t> 3</a:t>
                      </a:r>
                      <a:endParaRPr lang="es-ES" sz="1400">
                        <a:solidFill>
                          <a:schemeClr val="bg1"/>
                        </a:solidFill>
                        <a:latin typeface="Roboto" panose="02000000000000000000" pitchFamily="2" charset="0"/>
                        <a:ea typeface="Roboto" panose="02000000000000000000" pitchFamily="2" charset="0"/>
                      </a:endParaRPr>
                    </a:p>
                  </a:txBody>
                  <a:tcPr anchor="ctr">
                    <a:solidFill>
                      <a:srgbClr val="0DA2C2"/>
                    </a:solidFill>
                  </a:tcPr>
                </a:tc>
                <a:extLst>
                  <a:ext uri="{0D108BD9-81ED-4DB2-BD59-A6C34878D82A}">
                    <a16:rowId xmlns:a16="http://schemas.microsoft.com/office/drawing/2014/main" val="1766186878"/>
                  </a:ext>
                </a:extLst>
              </a:tr>
              <a:tr h="436140">
                <a:tc>
                  <a:txBody>
                    <a:bodyPr/>
                    <a:lstStyle/>
                    <a:p>
                      <a:r>
                        <a:rPr lang="es-ES" sz="1100" err="1">
                          <a:solidFill>
                            <a:schemeClr val="bg1"/>
                          </a:solidFill>
                        </a:rPr>
                        <a:t>Value</a:t>
                      </a:r>
                      <a:r>
                        <a:rPr lang="es-ES" sz="1100">
                          <a:solidFill>
                            <a:schemeClr val="bg1"/>
                          </a:solidFill>
                        </a:rPr>
                        <a:t> 1</a:t>
                      </a:r>
                      <a:endParaRPr lang="es-ES" sz="11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1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1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251203977"/>
                  </a:ext>
                </a:extLst>
              </a:tr>
              <a:tr h="436140">
                <a:tc>
                  <a:txBody>
                    <a:bodyPr/>
                    <a:lstStyle/>
                    <a:p>
                      <a:r>
                        <a:rPr lang="es-ES" sz="1000" err="1">
                          <a:solidFill>
                            <a:schemeClr val="bg1"/>
                          </a:solidFill>
                        </a:rPr>
                        <a:t>Value</a:t>
                      </a:r>
                      <a:r>
                        <a:rPr lang="es-ES" sz="1000">
                          <a:solidFill>
                            <a:schemeClr val="bg1"/>
                          </a:solidFill>
                        </a:rPr>
                        <a:t> 2</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990239874"/>
                  </a:ext>
                </a:extLst>
              </a:tr>
              <a:tr h="436140">
                <a:tc>
                  <a:txBody>
                    <a:bodyPr/>
                    <a:lstStyle/>
                    <a:p>
                      <a:r>
                        <a:rPr lang="es-ES" sz="1000" err="1">
                          <a:solidFill>
                            <a:schemeClr val="bg1"/>
                          </a:solidFill>
                        </a:rPr>
                        <a:t>Value</a:t>
                      </a:r>
                      <a:r>
                        <a:rPr lang="es-ES" sz="1000">
                          <a:solidFill>
                            <a:schemeClr val="bg1"/>
                          </a:solidFill>
                        </a:rPr>
                        <a:t> 3</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87863165"/>
                  </a:ext>
                </a:extLst>
              </a:tr>
              <a:tr h="436140">
                <a:tc>
                  <a:txBody>
                    <a:bodyPr/>
                    <a:lstStyle/>
                    <a:p>
                      <a:r>
                        <a:rPr lang="es-ES" sz="1000" err="1">
                          <a:solidFill>
                            <a:schemeClr val="bg1"/>
                          </a:solidFill>
                        </a:rPr>
                        <a:t>Value</a:t>
                      </a:r>
                      <a:r>
                        <a:rPr lang="es-ES" sz="1000">
                          <a:solidFill>
                            <a:schemeClr val="bg1"/>
                          </a:solidFill>
                        </a:rPr>
                        <a:t> 4</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002244133"/>
                  </a:ext>
                </a:extLst>
              </a:tr>
              <a:tr h="436140">
                <a:tc>
                  <a:txBody>
                    <a:bodyPr/>
                    <a:lstStyle/>
                    <a:p>
                      <a:r>
                        <a:rPr lang="es-ES" sz="1000" err="1">
                          <a:solidFill>
                            <a:schemeClr val="bg1"/>
                          </a:solidFill>
                        </a:rPr>
                        <a:t>Value</a:t>
                      </a:r>
                      <a:r>
                        <a:rPr lang="es-ES" sz="1000">
                          <a:solidFill>
                            <a:schemeClr val="bg1"/>
                          </a:solidFill>
                        </a:rPr>
                        <a:t> 5</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2740317588"/>
                  </a:ext>
                </a:extLst>
              </a:tr>
              <a:tr h="436140">
                <a:tc>
                  <a:txBody>
                    <a:bodyPr/>
                    <a:lstStyle/>
                    <a:p>
                      <a:r>
                        <a:rPr lang="es-ES" sz="1000" err="1">
                          <a:solidFill>
                            <a:schemeClr val="bg1"/>
                          </a:solidFill>
                        </a:rPr>
                        <a:t>Value</a:t>
                      </a:r>
                      <a:r>
                        <a:rPr lang="es-ES" sz="1000">
                          <a:solidFill>
                            <a:schemeClr val="bg1"/>
                          </a:solidFill>
                        </a:rPr>
                        <a:t> 6</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505655247"/>
                  </a:ext>
                </a:extLst>
              </a:tr>
              <a:tr h="436140">
                <a:tc>
                  <a:txBody>
                    <a:bodyPr/>
                    <a:lstStyle/>
                    <a:p>
                      <a:r>
                        <a:rPr lang="es-ES" sz="1000" err="1">
                          <a:solidFill>
                            <a:schemeClr val="bg1"/>
                          </a:solidFill>
                        </a:rPr>
                        <a:t>Value</a:t>
                      </a:r>
                      <a:r>
                        <a:rPr lang="es-ES" sz="1000">
                          <a:solidFill>
                            <a:schemeClr val="bg1"/>
                          </a:solidFill>
                        </a:rPr>
                        <a:t> 7</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3861785249"/>
                  </a:ext>
                </a:extLst>
              </a:tr>
              <a:tr h="436140">
                <a:tc>
                  <a:txBody>
                    <a:bodyPr/>
                    <a:lstStyle/>
                    <a:p>
                      <a:r>
                        <a:rPr lang="es-ES" sz="1000" err="1">
                          <a:solidFill>
                            <a:schemeClr val="bg1"/>
                          </a:solidFill>
                        </a:rPr>
                        <a:t>Value</a:t>
                      </a:r>
                      <a:r>
                        <a:rPr lang="es-ES" sz="1000">
                          <a:solidFill>
                            <a:schemeClr val="bg1"/>
                          </a:solidFill>
                        </a:rPr>
                        <a:t> 8</a:t>
                      </a:r>
                      <a:endParaRPr lang="es-ES" sz="1000">
                        <a:solidFill>
                          <a:schemeClr val="bg1"/>
                        </a:solidFill>
                        <a:latin typeface="Roboto" panose="02000000000000000000" pitchFamily="2" charset="0"/>
                        <a:ea typeface="Roboto" panose="02000000000000000000" pitchFamily="2" charset="0"/>
                      </a:endParaRPr>
                    </a:p>
                  </a:txBody>
                  <a:tcPr anchor="ct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R w="12700" cap="flat" cmpd="sng" algn="ctr">
                      <a:solidFill>
                        <a:srgbClr val="0071BC"/>
                      </a:solidFill>
                      <a:prstDash val="solid"/>
                      <a:round/>
                      <a:headEnd type="none" w="med" len="med"/>
                      <a:tailEnd type="none" w="med" len="med"/>
                    </a:lnR>
                  </a:tcPr>
                </a:tc>
                <a:tc>
                  <a:txBody>
                    <a:bodyPr/>
                    <a:lstStyle/>
                    <a:p>
                      <a:pPr algn="ctr"/>
                      <a:endParaRPr lang="es-ES" sz="1000">
                        <a:solidFill>
                          <a:schemeClr val="bg1"/>
                        </a:solidFill>
                        <a:latin typeface="Roboto" panose="02000000000000000000" pitchFamily="2" charset="0"/>
                        <a:ea typeface="Roboto" panose="02000000000000000000" pitchFamily="2" charset="0"/>
                      </a:endParaRPr>
                    </a:p>
                  </a:txBody>
                  <a:tcPr anchor="ctr">
                    <a:lnL w="12700" cap="flat" cmpd="sng" algn="ctr">
                      <a:solidFill>
                        <a:srgbClr val="0071BC"/>
                      </a:solidFill>
                      <a:prstDash val="solid"/>
                      <a:round/>
                      <a:headEnd type="none" w="med" len="med"/>
                      <a:tailEnd type="none" w="med" len="med"/>
                    </a:lnL>
                  </a:tcPr>
                </a:tc>
                <a:extLst>
                  <a:ext uri="{0D108BD9-81ED-4DB2-BD59-A6C34878D82A}">
                    <a16:rowId xmlns:a16="http://schemas.microsoft.com/office/drawing/2014/main" val="485756325"/>
                  </a:ext>
                </a:extLst>
              </a:tr>
            </a:tbl>
          </a:graphicData>
        </a:graphic>
      </p:graphicFrame>
      <p:grpSp>
        <p:nvGrpSpPr>
          <p:cNvPr id="9" name="Grupo 8">
            <a:extLst>
              <a:ext uri="{FF2B5EF4-FFF2-40B4-BE49-F238E27FC236}">
                <a16:creationId xmlns:a16="http://schemas.microsoft.com/office/drawing/2014/main" id="{EE8FCE0A-0F37-CC46-D782-CB1E42FAA9DB}"/>
              </a:ext>
            </a:extLst>
          </p:cNvPr>
          <p:cNvGrpSpPr/>
          <p:nvPr userDrawn="1"/>
        </p:nvGrpSpPr>
        <p:grpSpPr>
          <a:xfrm>
            <a:off x="0" y="6428512"/>
            <a:ext cx="12192000" cy="394759"/>
            <a:chOff x="0" y="6428512"/>
            <a:chExt cx="12192000" cy="394759"/>
          </a:xfrm>
        </p:grpSpPr>
        <p:sp>
          <p:nvSpPr>
            <p:cNvPr id="10" name="Rectángulo 9">
              <a:extLst>
                <a:ext uri="{FF2B5EF4-FFF2-40B4-BE49-F238E27FC236}">
                  <a16:creationId xmlns:a16="http://schemas.microsoft.com/office/drawing/2014/main" id="{F36344E9-8AC8-1EC9-3343-E5D6B2CB1547}"/>
                </a:ext>
              </a:extLst>
            </p:cNvPr>
            <p:cNvSpPr/>
            <p:nvPr userDrawn="1"/>
          </p:nvSpPr>
          <p:spPr bwMode="auto">
            <a:xfrm>
              <a:off x="0" y="6428512"/>
              <a:ext cx="12192000" cy="45719"/>
            </a:xfrm>
            <a:prstGeom prst="rect">
              <a:avLst/>
            </a:prstGeom>
            <a:solidFill>
              <a:srgbClr val="0DA2C2"/>
            </a:solidFill>
            <a:ln>
              <a:solidFill>
                <a:srgbClr val="0DA2C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1" name="Imagen 5">
              <a:extLst>
                <a:ext uri="{FF2B5EF4-FFF2-40B4-BE49-F238E27FC236}">
                  <a16:creationId xmlns:a16="http://schemas.microsoft.com/office/drawing/2014/main" id="{B02D31EC-025E-62B7-6B87-D75CF802F9F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20285" y="6516625"/>
              <a:ext cx="2186276" cy="280957"/>
            </a:xfrm>
            <a:prstGeom prst="rect">
              <a:avLst/>
            </a:prstGeom>
          </p:spPr>
        </p:pic>
        <p:sp>
          <p:nvSpPr>
            <p:cNvPr id="12" name="CuadroTexto 11">
              <a:extLst>
                <a:ext uri="{FF2B5EF4-FFF2-40B4-BE49-F238E27FC236}">
                  <a16:creationId xmlns:a16="http://schemas.microsoft.com/office/drawing/2014/main" id="{9BCE37DE-167B-82B7-D237-D39D2AB74DBF}"/>
                </a:ext>
              </a:extLst>
            </p:cNvPr>
            <p:cNvSpPr txBox="1"/>
            <p:nvPr userDrawn="1"/>
          </p:nvSpPr>
          <p:spPr>
            <a:xfrm>
              <a:off x="110836" y="6546272"/>
              <a:ext cx="1847942" cy="276999"/>
            </a:xfrm>
            <a:prstGeom prst="rect">
              <a:avLst/>
            </a:prstGeom>
            <a:noFill/>
          </p:spPr>
          <p:txBody>
            <a:bodyPr wrap="none" lIns="0" tIns="0" rIns="0" bIns="0" rtlCol="0">
              <a:spAutoFit/>
            </a:bodyPr>
            <a:lstStyle/>
            <a:p>
              <a:r>
                <a:rPr lang="es-ES" sz="1800" spc="-70">
                  <a:solidFill>
                    <a:srgbClr val="0DA2C2"/>
                  </a:solidFill>
                </a:rPr>
                <a:t>#CollabDaysMadrid</a:t>
              </a:r>
              <a:endParaRPr lang="es-ES" sz="2400" spc="-70">
                <a:solidFill>
                  <a:srgbClr val="0DA2C2"/>
                </a:solidFill>
              </a:endParaRPr>
            </a:p>
          </p:txBody>
        </p:sp>
      </p:grpSp>
      <p:pic>
        <p:nvPicPr>
          <p:cNvPr id="13" name="Gráfico 12">
            <a:extLst>
              <a:ext uri="{FF2B5EF4-FFF2-40B4-BE49-F238E27FC236}">
                <a16:creationId xmlns:a16="http://schemas.microsoft.com/office/drawing/2014/main" id="{DCC291FA-3A6D-8D8D-6C8F-3CF22397401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99350" y="5874559"/>
            <a:ext cx="4762500" cy="619125"/>
          </a:xfrm>
          <a:prstGeom prst="rect">
            <a:avLst/>
          </a:prstGeom>
        </p:spPr>
      </p:pic>
      <p:sp>
        <p:nvSpPr>
          <p:cNvPr id="3" name="TextBox 2">
            <a:extLst>
              <a:ext uri="{FF2B5EF4-FFF2-40B4-BE49-F238E27FC236}">
                <a16:creationId xmlns:a16="http://schemas.microsoft.com/office/drawing/2014/main" id="{67F400E7-4174-B339-C186-D91A9F70A397}"/>
              </a:ext>
            </a:extLst>
          </p:cNvPr>
          <p:cNvSpPr txBox="1"/>
          <p:nvPr userDrawn="1"/>
        </p:nvSpPr>
        <p:spPr>
          <a:xfrm>
            <a:off x="9683406" y="6505955"/>
            <a:ext cx="2508594" cy="338554"/>
          </a:xfrm>
          <a:prstGeom prst="rect">
            <a:avLst/>
          </a:prstGeom>
          <a:solidFill>
            <a:schemeClr val="bg1"/>
          </a:solidFill>
        </p:spPr>
        <p:txBody>
          <a:bodyPr wrap="square">
            <a:spAutoFit/>
          </a:bodyPr>
          <a:lstStyle/>
          <a:p>
            <a:r>
              <a:rPr lang="es-ES" sz="1600" b="0">
                <a:solidFill>
                  <a:srgbClr val="0DA2C2"/>
                </a:solidFill>
                <a:latin typeface="+mn-lt"/>
                <a:ea typeface="Segoe UI" pitchFamily="34" charset="0"/>
                <a:cs typeface="Segoe UI Semibold" panose="020B0702040204020203" pitchFamily="34" charset="0"/>
              </a:rPr>
              <a:t>CollabDays | Madrid 2025</a:t>
            </a:r>
            <a:endParaRPr lang="en-US" sz="1600" b="0">
              <a:latin typeface="+mn-lt"/>
            </a:endParaRPr>
          </a:p>
        </p:txBody>
      </p:sp>
      <p:pic>
        <p:nvPicPr>
          <p:cNvPr id="4" name="Gráfico 5">
            <a:extLst>
              <a:ext uri="{FF2B5EF4-FFF2-40B4-BE49-F238E27FC236}">
                <a16:creationId xmlns:a16="http://schemas.microsoft.com/office/drawing/2014/main" id="{58379202-FBB6-338A-EBCD-83A4A9F7BF40}"/>
              </a:ext>
            </a:extLst>
          </p:cNvPr>
          <p:cNvPicPr>
            <a:picLocks noChangeAspect="1"/>
          </p:cNvPicPr>
          <p:nvPr userDrawn="1"/>
        </p:nvPicPr>
        <p:blipFill>
          <a:blip>
            <a:extLst>
              <a:ext uri="{96DAC541-7B7A-43D3-8B79-37D633B846F1}">
                <asvg:svgBlip xmlns:asvg="http://schemas.microsoft.com/office/drawing/2016/SVG/main" r:embed="rId2"/>
              </a:ext>
            </a:extLst>
          </a:blip>
          <a:srcRect t="1" r="80720" b="-4262"/>
          <a:stretch/>
        </p:blipFill>
        <p:spPr>
          <a:xfrm>
            <a:off x="9296264" y="6533765"/>
            <a:ext cx="433170" cy="301023"/>
          </a:xfrm>
          <a:prstGeom prst="rect">
            <a:avLst/>
          </a:prstGeom>
        </p:spPr>
      </p:pic>
    </p:spTree>
    <p:extLst>
      <p:ext uri="{BB962C8B-B14F-4D97-AF65-F5344CB8AC3E}">
        <p14:creationId xmlns:p14="http://schemas.microsoft.com/office/powerpoint/2010/main" val="1075653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8" name="Imagen 7" descr="Una calle de noche con luces&#10;&#10;Descripción generada automáticamente">
            <a:extLst>
              <a:ext uri="{FF2B5EF4-FFF2-40B4-BE49-F238E27FC236}">
                <a16:creationId xmlns:a16="http://schemas.microsoft.com/office/drawing/2014/main" id="{DC586B8C-318A-2FCB-3A2D-544BFD6B2B9B}"/>
              </a:ext>
            </a:extLst>
          </p:cNvPr>
          <p:cNvPicPr>
            <a:picLocks noChangeAspect="1"/>
          </p:cNvPicPr>
          <p:nvPr userDrawn="1"/>
        </p:nvPicPr>
        <p:blipFill rotWithShape="1">
          <a:blip r:embed="rId2"/>
          <a:srcRect t="6432" b="19367"/>
          <a:stretch/>
        </p:blipFill>
        <p:spPr>
          <a:xfrm>
            <a:off x="0" y="827543"/>
            <a:ext cx="12192000" cy="6030457"/>
          </a:xfrm>
          <a:prstGeom prst="rect">
            <a:avLst/>
          </a:prstGeom>
        </p:spPr>
      </p:pic>
      <p:sp>
        <p:nvSpPr>
          <p:cNvPr id="2" name="Rectángulo 1">
            <a:extLst>
              <a:ext uri="{FF2B5EF4-FFF2-40B4-BE49-F238E27FC236}">
                <a16:creationId xmlns:a16="http://schemas.microsoft.com/office/drawing/2014/main" id="{1B9BD0C4-322A-1023-9CC4-0F922014434D}"/>
              </a:ext>
            </a:extLst>
          </p:cNvPr>
          <p:cNvSpPr/>
          <p:nvPr userDrawn="1"/>
        </p:nvSpPr>
        <p:spPr bwMode="auto">
          <a:xfrm>
            <a:off x="0" y="0"/>
            <a:ext cx="12192000" cy="827544"/>
          </a:xfrm>
          <a:prstGeom prst="rect">
            <a:avLst/>
          </a:prstGeom>
          <a:gradFill flip="none" rotWithShape="1">
            <a:gsLst>
              <a:gs pos="0">
                <a:schemeClr val="bg1"/>
              </a:gs>
              <a:gs pos="100000">
                <a:srgbClr val="0DA2C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sp>
        <p:nvSpPr>
          <p:cNvPr id="4" name="Rectángulo 3">
            <a:extLst>
              <a:ext uri="{FF2B5EF4-FFF2-40B4-BE49-F238E27FC236}">
                <a16:creationId xmlns:a16="http://schemas.microsoft.com/office/drawing/2014/main" id="{B61BB4E5-2A79-72A1-1184-52997C9FF1A3}"/>
              </a:ext>
            </a:extLst>
          </p:cNvPr>
          <p:cNvSpPr/>
          <p:nvPr userDrawn="1"/>
        </p:nvSpPr>
        <p:spPr bwMode="auto">
          <a:xfrm>
            <a:off x="0" y="6290733"/>
            <a:ext cx="12192000" cy="5672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144000" lvl="0" algn="l" defTabSz="914099" fontAlgn="base">
              <a:spcBef>
                <a:spcPct val="0"/>
              </a:spcBef>
              <a:spcAft>
                <a:spcPct val="0"/>
              </a:spcAft>
            </a:pPr>
            <a:r>
              <a:rPr lang="es-ES" sz="2000">
                <a:solidFill>
                  <a:srgbClr val="0DA2C2"/>
                </a:solidFill>
                <a:latin typeface="Segoe UI Semibold" panose="020B0702040204020203" pitchFamily="34" charset="0"/>
                <a:ea typeface="Segoe UI" pitchFamily="34" charset="0"/>
                <a:cs typeface="Segoe UI Semibold" panose="020B0702040204020203" pitchFamily="34" charset="0"/>
              </a:rPr>
              <a:t>#CollabDaysMadrid</a:t>
            </a:r>
          </a:p>
        </p:txBody>
      </p:sp>
      <p:pic>
        <p:nvPicPr>
          <p:cNvPr id="14" name="Gráfico 13">
            <a:extLst>
              <a:ext uri="{FF2B5EF4-FFF2-40B4-BE49-F238E27FC236}">
                <a16:creationId xmlns:a16="http://schemas.microsoft.com/office/drawing/2014/main" id="{FDCB9F32-227E-F025-5734-79D2BABAE6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684225" y="68262"/>
            <a:ext cx="5586092" cy="726192"/>
          </a:xfrm>
          <a:prstGeom prst="rect">
            <a:avLst/>
          </a:prstGeom>
        </p:spPr>
      </p:pic>
      <p:sp>
        <p:nvSpPr>
          <p:cNvPr id="15" name="Rectángulo 14">
            <a:extLst>
              <a:ext uri="{FF2B5EF4-FFF2-40B4-BE49-F238E27FC236}">
                <a16:creationId xmlns:a16="http://schemas.microsoft.com/office/drawing/2014/main" id="{14EFAC06-F581-A3FD-AF43-0AD59291F00C}"/>
              </a:ext>
            </a:extLst>
          </p:cNvPr>
          <p:cNvSpPr/>
          <p:nvPr userDrawn="1"/>
        </p:nvSpPr>
        <p:spPr bwMode="auto">
          <a:xfrm>
            <a:off x="0" y="719667"/>
            <a:ext cx="12192000" cy="1078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s-ES" sz="2200">
              <a:gradFill>
                <a:gsLst>
                  <a:gs pos="0">
                    <a:srgbClr val="FFFFFF"/>
                  </a:gs>
                  <a:gs pos="100000">
                    <a:srgbClr val="FFFFFF"/>
                  </a:gs>
                </a:gsLst>
                <a:lin ang="5400000" scaled="0"/>
              </a:gradFill>
              <a:ea typeface="Segoe UI" pitchFamily="34" charset="0"/>
              <a:cs typeface="Segoe UI" pitchFamily="34" charset="0"/>
            </a:endParaRPr>
          </a:p>
        </p:txBody>
      </p:sp>
      <p:pic>
        <p:nvPicPr>
          <p:cNvPr id="19" name="Gráfico 18">
            <a:extLst>
              <a:ext uri="{FF2B5EF4-FFF2-40B4-BE49-F238E27FC236}">
                <a16:creationId xmlns:a16="http://schemas.microsoft.com/office/drawing/2014/main" id="{41B92774-FE98-C4B5-BB00-9D3B5387674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36525" y="68261"/>
            <a:ext cx="2767542" cy="666675"/>
          </a:xfrm>
          <a:prstGeom prst="rect">
            <a:avLst/>
          </a:prstGeom>
        </p:spPr>
      </p:pic>
      <p:pic>
        <p:nvPicPr>
          <p:cNvPr id="22" name="Picture 2" descr="W3.CSS Images" hidden="1">
            <a:extLst>
              <a:ext uri="{FF2B5EF4-FFF2-40B4-BE49-F238E27FC236}">
                <a16:creationId xmlns:a16="http://schemas.microsoft.com/office/drawing/2014/main" id="{A7480951-1A3E-82EA-6A5C-E012A3C3BD3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265920" y="3429000"/>
            <a:ext cx="2520000" cy="2519608"/>
          </a:xfrm>
          <a:prstGeom prst="ellipse">
            <a:avLst/>
          </a:prstGeom>
          <a:noFill/>
          <a:ln w="101600">
            <a:solidFill>
              <a:schemeClr val="bg1"/>
            </a:solidFill>
          </a:ln>
          <a:extLst>
            <a:ext uri="{909E8E84-426E-40DD-AFC4-6F175D3DCCD1}">
              <a14:hiddenFill xmlns:a14="http://schemas.microsoft.com/office/drawing/2010/main">
                <a:solidFill>
                  <a:srgbClr val="FFFFFF"/>
                </a:solidFill>
              </a14:hiddenFill>
            </a:ext>
          </a:extLst>
        </p:spPr>
      </p:pic>
      <p:pic>
        <p:nvPicPr>
          <p:cNvPr id="7" name="Gráfico 5">
            <a:extLst>
              <a:ext uri="{FF2B5EF4-FFF2-40B4-BE49-F238E27FC236}">
                <a16:creationId xmlns:a16="http://schemas.microsoft.com/office/drawing/2014/main" id="{F983E117-FABD-3E64-D616-458E490252AA}"/>
              </a:ext>
            </a:extLst>
          </p:cNvPr>
          <p:cNvPicPr>
            <a:picLocks noChangeAspect="1"/>
          </p:cNvPicPr>
          <p:nvPr userDrawn="1"/>
        </p:nvPicPr>
        <p:blipFill>
          <a:blip>
            <a:extLst>
              <a:ext uri="{96DAC541-7B7A-43D3-8B79-37D633B846F1}">
                <asvg:svgBlip xmlns:asvg="http://schemas.microsoft.com/office/drawing/2016/SVG/main" r:embed="rId6"/>
              </a:ext>
            </a:extLst>
          </a:blip>
          <a:srcRect t="1" r="80720" b="-4262"/>
          <a:stretch/>
        </p:blipFill>
        <p:spPr>
          <a:xfrm>
            <a:off x="8663379" y="6344057"/>
            <a:ext cx="641331" cy="445681"/>
          </a:xfrm>
          <a:prstGeom prst="rect">
            <a:avLst/>
          </a:prstGeom>
        </p:spPr>
      </p:pic>
      <p:sp>
        <p:nvSpPr>
          <p:cNvPr id="9" name="TextBox 8">
            <a:extLst>
              <a:ext uri="{FF2B5EF4-FFF2-40B4-BE49-F238E27FC236}">
                <a16:creationId xmlns:a16="http://schemas.microsoft.com/office/drawing/2014/main" id="{A3803F46-0D05-E32B-9793-439F25E8719B}"/>
              </a:ext>
            </a:extLst>
          </p:cNvPr>
          <p:cNvSpPr txBox="1"/>
          <p:nvPr userDrawn="1"/>
        </p:nvSpPr>
        <p:spPr>
          <a:xfrm>
            <a:off x="9255125" y="6382231"/>
            <a:ext cx="2936875" cy="369332"/>
          </a:xfrm>
          <a:prstGeom prst="rect">
            <a:avLst/>
          </a:prstGeom>
          <a:noFill/>
        </p:spPr>
        <p:txBody>
          <a:bodyPr wrap="square">
            <a:spAutoFit/>
          </a:bodyPr>
          <a:lstStyle/>
          <a:p>
            <a:pPr algn="ctr"/>
            <a:r>
              <a:rPr lang="es-ES" sz="1800" b="0">
                <a:solidFill>
                  <a:srgbClr val="0DA2C2"/>
                </a:solidFill>
                <a:latin typeface="+mn-lt"/>
                <a:ea typeface="Segoe UI" pitchFamily="34" charset="0"/>
                <a:cs typeface="Segoe UI Semibold" panose="020B0702040204020203" pitchFamily="34" charset="0"/>
              </a:rPr>
              <a:t>CollabDays | Madrid 2025</a:t>
            </a:r>
            <a:endParaRPr lang="en-US" b="0">
              <a:latin typeface="+mn-lt"/>
            </a:endParaRPr>
          </a:p>
        </p:txBody>
      </p:sp>
    </p:spTree>
    <p:extLst>
      <p:ext uri="{BB962C8B-B14F-4D97-AF65-F5344CB8AC3E}">
        <p14:creationId xmlns:p14="http://schemas.microsoft.com/office/powerpoint/2010/main" val="2024671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4"/>
            <a:ext cx="11151917" cy="747897"/>
          </a:xfrm>
          <a:prstGeom prst="rect">
            <a:avLst/>
          </a:prstGeom>
        </p:spPr>
        <p:txBody>
          <a:bodyPr vert="horz" wrap="square" lIns="0" tIns="0" rIns="0" bIns="0" rtlCol="0" anchor="t">
            <a:noAutofit/>
          </a:bodyPr>
          <a:lstStyle/>
          <a:p>
            <a:r>
              <a:rPr lang="en-US" dirty="0"/>
              <a:t>Click to edit Master title style</a:t>
            </a:r>
          </a:p>
        </p:txBody>
      </p:sp>
      <p:sp>
        <p:nvSpPr>
          <p:cNvPr id="4" name="Text Placeholder 3"/>
          <p:cNvSpPr>
            <a:spLocks noGrp="1"/>
          </p:cNvSpPr>
          <p:nvPr>
            <p:ph type="body" idx="1"/>
          </p:nvPr>
        </p:nvSpPr>
        <p:spPr>
          <a:xfrm>
            <a:off x="520836" y="2034397"/>
            <a:ext cx="11155093" cy="2055947"/>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093" r:id="rId1"/>
    <p:sldLayoutId id="2147484165" r:id="rId2"/>
    <p:sldLayoutId id="2147484157" r:id="rId3"/>
    <p:sldLayoutId id="2147484088" r:id="rId4"/>
    <p:sldLayoutId id="2147484091" r:id="rId5"/>
    <p:sldLayoutId id="2147484147" r:id="rId6"/>
    <p:sldLayoutId id="2147484116" r:id="rId7"/>
    <p:sldLayoutId id="2147484117" r:id="rId8"/>
    <p:sldLayoutId id="2147484164" r:id="rId9"/>
    <p:sldLayoutId id="2147484092" r:id="rId10"/>
    <p:sldLayoutId id="2147484166" r:id="rId11"/>
    <p:sldLayoutId id="2147484167" r:id="rId12"/>
  </p:sldLayoutIdLst>
  <p:hf hdr="0" ftr="0" dt="0"/>
  <p:txStyles>
    <p:title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p:titleStyle>
    <p:bodyStyle>
      <a:lvl1pPr marL="254862" marR="0" indent="-254862" algn="l" defTabSz="685955" rtl="0" eaLnBrk="1" fontAlgn="auto" latinLnBrk="0" hangingPunct="1">
        <a:lnSpc>
          <a:spcPct val="90000"/>
        </a:lnSpc>
        <a:spcBef>
          <a:spcPct val="20000"/>
        </a:spcBef>
        <a:spcAft>
          <a:spcPts val="0"/>
        </a:spcAft>
        <a:buClrTx/>
        <a:buSzPct val="80000"/>
        <a:buFont typeface="Arial" pitchFamily="34" charset="0"/>
        <a:buChar char="•"/>
        <a:tabLst/>
        <a:defRPr sz="2701" kern="1200" spc="-53" baseline="0">
          <a:solidFill>
            <a:srgbClr val="333333"/>
          </a:solidFill>
          <a:latin typeface="+mj-lt"/>
          <a:ea typeface="+mn-ea"/>
          <a:cs typeface="+mn-cs"/>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4"/>
            <a:ext cx="11151917" cy="747897"/>
          </a:xfrm>
          <a:prstGeom prst="rect">
            <a:avLst/>
          </a:prstGeom>
        </p:spPr>
        <p:txBody>
          <a:bodyPr vert="horz" wrap="square" lIns="0" tIns="0" rIns="0" bIns="0" rtlCol="0" anchor="t">
            <a:noAutofit/>
          </a:bodyPr>
          <a:lstStyle/>
          <a:p>
            <a:r>
              <a:rPr lang="en-US"/>
              <a:t>Click to edit Master title style</a:t>
            </a:r>
          </a:p>
        </p:txBody>
      </p:sp>
      <p:sp>
        <p:nvSpPr>
          <p:cNvPr id="4" name="Text Placeholder 3"/>
          <p:cNvSpPr>
            <a:spLocks noGrp="1"/>
          </p:cNvSpPr>
          <p:nvPr>
            <p:ph type="body" idx="1"/>
          </p:nvPr>
        </p:nvSpPr>
        <p:spPr>
          <a:xfrm>
            <a:off x="520836" y="2034397"/>
            <a:ext cx="11155093" cy="2055947"/>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9543921"/>
      </p:ext>
    </p:extLst>
  </p:cSld>
  <p:clrMap bg1="lt1" tx1="dk1" bg2="lt2" tx2="dk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 id="2147484180" r:id="rId12"/>
    <p:sldLayoutId id="2147484181" r:id="rId13"/>
  </p:sldLayoutIdLst>
  <p:hf hdr="0" ftr="0" dt="0"/>
  <p:txStyles>
    <p:title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p:titleStyle>
    <p:bodyStyle>
      <a:lvl1pPr marL="254862" marR="0" indent="-254862" algn="l" defTabSz="685955" rtl="0" eaLnBrk="1" fontAlgn="auto" latinLnBrk="0" hangingPunct="1">
        <a:lnSpc>
          <a:spcPct val="90000"/>
        </a:lnSpc>
        <a:spcBef>
          <a:spcPct val="20000"/>
        </a:spcBef>
        <a:spcAft>
          <a:spcPts val="0"/>
        </a:spcAft>
        <a:buClrTx/>
        <a:buSzPct val="80000"/>
        <a:buFont typeface="Arial" pitchFamily="34" charset="0"/>
        <a:buChar char="•"/>
        <a:tabLst/>
        <a:defRPr sz="2701" kern="1200" spc="-53" baseline="0">
          <a:solidFill>
            <a:srgbClr val="333333"/>
          </a:solidFill>
          <a:latin typeface="+mj-lt"/>
          <a:ea typeface="+mn-ea"/>
          <a:cs typeface="+mn-cs"/>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jp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9.jp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4.jpeg"/><Relationship Id="rId7" Type="http://schemas.openxmlformats.org/officeDocument/2006/relationships/hyperlink" Target="https://jcgonzalezmartin.wordpress.com/" TargetMode="External"/><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hyperlink" Target="https://www.youtube.com/@jcgonzalezmartin" TargetMode="External"/><Relationship Id="rId11" Type="http://schemas.openxmlformats.org/officeDocument/2006/relationships/image" Target="../media/image26.png"/><Relationship Id="rId5" Type="http://schemas.openxmlformats.org/officeDocument/2006/relationships/hyperlink" Target="https://nl.linkedin.com/in/juagon" TargetMode="External"/><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hyperlink" Target="mailto:jcgonzalezmartin1978@hotmail.com" TargetMode="External"/><Relationship Id="rId9" Type="http://schemas.openxmlformats.org/officeDocument/2006/relationships/image" Target="../media/image24.png"/><Relationship Id="rId14" Type="http://schemas.openxmlformats.org/officeDocument/2006/relationships/image" Target="../media/image29.gif"/></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mailto:jcgonzalezmartin1978@hotmail.com" TargetMode="External"/><Relationship Id="rId9" Type="http://schemas.openxmlformats.org/officeDocument/2006/relationships/image" Target="../media/image31.jpe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6.png"/><Relationship Id="rId26" Type="http://schemas.openxmlformats.org/officeDocument/2006/relationships/image" Target="../media/image14.jpe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1.png"/><Relationship Id="rId17" Type="http://schemas.microsoft.com/office/2007/relationships/hdphoto" Target="../media/hdphoto1.wdp"/><Relationship Id="rId25" Type="http://schemas.openxmlformats.org/officeDocument/2006/relationships/image" Target="../media/image53.svg"/><Relationship Id="rId2" Type="http://schemas.openxmlformats.org/officeDocument/2006/relationships/notesSlide" Target="../notesSlides/notesSlide6.xml"/><Relationship Id="rId16" Type="http://schemas.openxmlformats.org/officeDocument/2006/relationships/image" Target="../media/image45.png"/><Relationship Id="rId20"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2.sv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1.svg"/><Relationship Id="rId10" Type="http://schemas.openxmlformats.org/officeDocument/2006/relationships/image" Target="../media/image39.png"/><Relationship Id="rId19" Type="http://schemas.openxmlformats.org/officeDocument/2006/relationships/image" Target="../media/image47.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0.png"/><Relationship Id="rId27"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3.xml"/><Relationship Id="rId5" Type="http://schemas.openxmlformats.org/officeDocument/2006/relationships/image" Target="../media/image14.jpe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61.png"/><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4.xml"/><Relationship Id="rId4" Type="http://schemas.openxmlformats.org/officeDocument/2006/relationships/image" Target="../media/image70.jpeg"/></Relationships>
</file>

<file path=ppt/slides/_rels/slide1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2.png"/><Relationship Id="rId1" Type="http://schemas.openxmlformats.org/officeDocument/2006/relationships/slideLayout" Target="../slideLayouts/slideLayout23.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3.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3.sv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s>
</file>

<file path=ppt/slides/_rels/slide1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80.png"/><Relationship Id="rId11" Type="http://schemas.openxmlformats.org/officeDocument/2006/relationships/hyperlink" Target="https://learn.microsoft.com/en-us/microsoft-copilot-studio/use-work-iq#work-iq-mcp-key-features" TargetMode="External"/><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2.png"/><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2.png"/><Relationship Id="rId4" Type="http://schemas.openxmlformats.org/officeDocument/2006/relationships/image" Target="../media/image84.png"/></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57.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hyperlink" Target="https://techcommunity.microsoft.com/blog/microsoft365copilotblog/a-closer-look-at-work-iq/4499789" TargetMode="External"/><Relationship Id="rId2" Type="http://schemas.openxmlformats.org/officeDocument/2006/relationships/hyperlink" Target="https://learn.microsoft.com/en-us/microsoft-365/copilot/extensibility/work-iq" TargetMode="External"/><Relationship Id="rId1" Type="http://schemas.openxmlformats.org/officeDocument/2006/relationships/slideLayout" Target="../slideLayouts/slideLayout4.xml"/><Relationship Id="rId5" Type="http://schemas.openxmlformats.org/officeDocument/2006/relationships/hyperlink" Target="https://learn.microsoft.com/en-us/microsoft-copilot-studio/use-work-iq#work-iq-mcp-key-features" TargetMode="External"/><Relationship Id="rId4" Type="http://schemas.openxmlformats.org/officeDocument/2006/relationships/hyperlink" Target="https://techcommunity.microsoft.com/blog/microsoftmechanicsblog/work-iq--data-context-skills--tools-for-copilot-and-your-agents/4519554"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86.png"/><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hyperlink" Target="https://o365itpros.gumroad.com/l/O365IT"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C430B072-DBFF-4BDE-8C10-D5371346F980}"/>
              </a:ext>
            </a:extLst>
          </p:cNvPr>
          <p:cNvSpPr txBox="1"/>
          <p:nvPr/>
        </p:nvSpPr>
        <p:spPr>
          <a:xfrm>
            <a:off x="0" y="889928"/>
            <a:ext cx="4612640" cy="400110"/>
          </a:xfrm>
          <a:prstGeom prst="rect">
            <a:avLst/>
          </a:prstGeom>
          <a:noFill/>
        </p:spPr>
        <p:txBody>
          <a:bodyPr wrap="square">
            <a:spAutoFit/>
          </a:bodyPr>
          <a:lstStyle/>
          <a:p>
            <a:pPr algn="l"/>
            <a:r>
              <a:rPr lang="en-US" sz="2000" dirty="0">
                <a:solidFill>
                  <a:schemeClr val="bg1"/>
                </a:solidFill>
                <a:latin typeface="Segoe UI Semilight" panose="020B0402040204020203" pitchFamily="34" charset="0"/>
                <a:cs typeface="Segoe UI Semilight" panose="020B0402040204020203" pitchFamily="34" charset="0"/>
              </a:rPr>
              <a:t>4 de Junio 2026</a:t>
            </a:r>
            <a:r>
              <a:rPr lang="en-US" sz="2000" dirty="0">
                <a:solidFill>
                  <a:schemeClr val="bg1"/>
                </a:solidFill>
                <a:latin typeface="Segoe UI Semibold" panose="020B0702040204020203" pitchFamily="34" charset="0"/>
                <a:cs typeface="Segoe UI Semibold" panose="020B0702040204020203" pitchFamily="34" charset="0"/>
              </a:rPr>
              <a:t>| </a:t>
            </a:r>
            <a:r>
              <a:rPr lang="en-US" sz="2000" dirty="0">
                <a:solidFill>
                  <a:schemeClr val="bg1"/>
                </a:solidFill>
                <a:latin typeface="Segoe UI Semilight" panose="020B0402040204020203" pitchFamily="34" charset="0"/>
                <a:cs typeface="Segoe UI Semilight" panose="020B0402040204020203" pitchFamily="34" charset="0"/>
              </a:rPr>
              <a:t>Microsoft </a:t>
            </a:r>
            <a:r>
              <a:rPr lang="en-US" sz="2000" dirty="0" err="1">
                <a:solidFill>
                  <a:schemeClr val="bg1"/>
                </a:solidFill>
                <a:latin typeface="Segoe UI Semilight" panose="020B0402040204020203" pitchFamily="34" charset="0"/>
                <a:cs typeface="Segoe UI Semilight" panose="020B0402040204020203" pitchFamily="34" charset="0"/>
              </a:rPr>
              <a:t>Ibérica</a:t>
            </a:r>
            <a:r>
              <a:rPr lang="en-US" sz="2000" dirty="0">
                <a:solidFill>
                  <a:schemeClr val="bg1"/>
                </a:solidFill>
                <a:latin typeface="Segoe UI Semilight" panose="020B0402040204020203" pitchFamily="34" charset="0"/>
                <a:cs typeface="Segoe UI Semilight" panose="020B0402040204020203" pitchFamily="34" charset="0"/>
              </a:rPr>
              <a:t> HQ</a:t>
            </a:r>
          </a:p>
        </p:txBody>
      </p:sp>
      <p:sp>
        <p:nvSpPr>
          <p:cNvPr id="4" name="Marcador de texto 14">
            <a:extLst>
              <a:ext uri="{FF2B5EF4-FFF2-40B4-BE49-F238E27FC236}">
                <a16:creationId xmlns:a16="http://schemas.microsoft.com/office/drawing/2014/main" id="{48578FDE-7BC2-0F2A-F60D-17DF3C77970F}"/>
              </a:ext>
            </a:extLst>
          </p:cNvPr>
          <p:cNvSpPr>
            <a:spLocks noGrp="1"/>
          </p:cNvSpPr>
          <p:nvPr>
            <p:ph type="body" sz="quarter" idx="4294967295"/>
          </p:nvPr>
        </p:nvSpPr>
        <p:spPr>
          <a:xfrm>
            <a:off x="0" y="2034397"/>
            <a:ext cx="8210007" cy="2055947"/>
          </a:xfrm>
          <a:solidFill>
            <a:srgbClr val="053B47">
              <a:alpha val="65000"/>
            </a:srgbClr>
          </a:solidFill>
        </p:spPr>
        <p:txBody>
          <a:bodyPr/>
          <a:lstStyle/>
          <a:p>
            <a:pPr marL="180000" indent="0">
              <a:buNone/>
            </a:pPr>
            <a:r>
              <a:rPr lang="es-ES" b="1" dirty="0">
                <a:solidFill>
                  <a:schemeClr val="bg1"/>
                </a:solidFill>
                <a:latin typeface="+mn-lt"/>
              </a:rPr>
              <a:t>Work IQ: Llevando la inteligencia de Microsoft 365 </a:t>
            </a:r>
            <a:r>
              <a:rPr lang="es-ES" b="1" dirty="0" err="1">
                <a:solidFill>
                  <a:schemeClr val="bg1"/>
                </a:solidFill>
                <a:latin typeface="+mn-lt"/>
              </a:rPr>
              <a:t>Copilot</a:t>
            </a:r>
            <a:r>
              <a:rPr lang="es-ES" b="1" dirty="0">
                <a:solidFill>
                  <a:schemeClr val="bg1"/>
                </a:solidFill>
                <a:latin typeface="+mn-lt"/>
              </a:rPr>
              <a:t> a tus agentes personalizados</a:t>
            </a:r>
          </a:p>
          <a:p>
            <a:pPr marL="180000" indent="0">
              <a:buNone/>
            </a:pPr>
            <a:endParaRPr lang="es-ES" b="1" dirty="0">
              <a:solidFill>
                <a:schemeClr val="bg1"/>
              </a:solidFill>
              <a:latin typeface="+mn-lt"/>
            </a:endParaRPr>
          </a:p>
          <a:p>
            <a:pPr marL="180000" indent="0">
              <a:buNone/>
            </a:pPr>
            <a:r>
              <a:rPr lang="es-ES" sz="2000" b="1" dirty="0">
                <a:solidFill>
                  <a:schemeClr val="bg1"/>
                </a:solidFill>
                <a:latin typeface="+mn-lt"/>
              </a:rPr>
              <a:t>Ferrán Chopo &amp; Juan Carlos González</a:t>
            </a:r>
          </a:p>
        </p:txBody>
      </p:sp>
      <p:pic>
        <p:nvPicPr>
          <p:cNvPr id="5" name="Picture Placeholder 3" descr="A person smiling for a picture  AI-generated content may be incorrect.">
            <a:extLst>
              <a:ext uri="{FF2B5EF4-FFF2-40B4-BE49-F238E27FC236}">
                <a16:creationId xmlns:a16="http://schemas.microsoft.com/office/drawing/2014/main" id="{C7780042-0D00-379C-5B52-5D91A58F7C0E}"/>
              </a:ext>
            </a:extLst>
          </p:cNvPr>
          <p:cNvPicPr>
            <a:picLocks noChangeAspect="1"/>
          </p:cNvPicPr>
          <p:nvPr/>
        </p:nvPicPr>
        <p:blipFill>
          <a:blip r:embed="rId3"/>
          <a:srcRect l="1123" r="1123"/>
          <a:stretch>
            <a:fillRect/>
          </a:stretch>
        </p:blipFill>
        <p:spPr>
          <a:xfrm>
            <a:off x="9255125" y="3429000"/>
            <a:ext cx="2540000" cy="2524125"/>
          </a:xfrm>
          <a:prstGeom prst="ellipse">
            <a:avLst/>
          </a:prstGeom>
          <a:ln w="101600">
            <a:solidFill>
              <a:schemeClr val="bg1">
                <a:lumMod val="95000"/>
              </a:schemeClr>
            </a:solidFill>
          </a:ln>
        </p:spPr>
      </p:pic>
      <p:pic>
        <p:nvPicPr>
          <p:cNvPr id="10" name="Picture Placeholder 3">
            <a:extLst>
              <a:ext uri="{FF2B5EF4-FFF2-40B4-BE49-F238E27FC236}">
                <a16:creationId xmlns:a16="http://schemas.microsoft.com/office/drawing/2014/main" id="{9D325962-13CE-7395-1954-BFBFBD240362}"/>
              </a:ext>
            </a:extLst>
          </p:cNvPr>
          <p:cNvPicPr>
            <a:picLocks noChangeAspect="1"/>
          </p:cNvPicPr>
          <p:nvPr/>
        </p:nvPicPr>
        <p:blipFill>
          <a:blip r:embed="rId4"/>
          <a:srcRect t="312" b="312"/>
          <a:stretch/>
        </p:blipFill>
        <p:spPr>
          <a:xfrm>
            <a:off x="6292034" y="3483429"/>
            <a:ext cx="2540000" cy="2524125"/>
          </a:xfrm>
          <a:prstGeom prst="ellipse">
            <a:avLst/>
          </a:prstGeom>
          <a:ln w="101600">
            <a:solidFill>
              <a:schemeClr val="bg1">
                <a:lumMod val="95000"/>
              </a:schemeClr>
            </a:solidFill>
          </a:ln>
        </p:spPr>
      </p:pic>
    </p:spTree>
    <p:extLst>
      <p:ext uri="{BB962C8B-B14F-4D97-AF65-F5344CB8AC3E}">
        <p14:creationId xmlns:p14="http://schemas.microsoft.com/office/powerpoint/2010/main" val="5045344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4">
            <a:extLst>
              <a:ext uri="{FF2B5EF4-FFF2-40B4-BE49-F238E27FC236}">
                <a16:creationId xmlns:a16="http://schemas.microsoft.com/office/drawing/2014/main" id="{ABC00E15-35C5-2DD5-B392-18E3C18519E8}"/>
              </a:ext>
            </a:extLst>
          </p:cNvPr>
          <p:cNvSpPr txBox="1"/>
          <p:nvPr/>
        </p:nvSpPr>
        <p:spPr>
          <a:xfrm>
            <a:off x="0" y="236330"/>
            <a:ext cx="3945467" cy="677108"/>
          </a:xfrm>
          <a:prstGeom prst="rect">
            <a:avLst/>
          </a:prstGeom>
          <a:noFill/>
        </p:spPr>
        <p:txBody>
          <a:bodyPr wrap="square" lIns="0" tIns="0" rIns="0" bIns="0" rtlCol="0">
            <a:spAutoFit/>
          </a:bodyPr>
          <a:lstStyle/>
          <a:p>
            <a:pPr algn="ctr"/>
            <a:r>
              <a:rPr lang="ca-ES" sz="4400" spc="-70" dirty="0">
                <a:solidFill>
                  <a:srgbClr val="0DA2C2"/>
                </a:solidFill>
              </a:rPr>
              <a:t>Sponsors</a:t>
            </a:r>
            <a:endParaRPr lang="es-ES" sz="4400" spc="-70" dirty="0">
              <a:solidFill>
                <a:srgbClr val="0DA2C2"/>
              </a:solidFill>
            </a:endParaRPr>
          </a:p>
        </p:txBody>
      </p:sp>
      <p:pic>
        <p:nvPicPr>
          <p:cNvPr id="8" name="Gráfico 7">
            <a:extLst>
              <a:ext uri="{FF2B5EF4-FFF2-40B4-BE49-F238E27FC236}">
                <a16:creationId xmlns:a16="http://schemas.microsoft.com/office/drawing/2014/main" id="{0839FE26-8EF4-2C0F-63F9-D12B0ABA3D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31926" y="1106355"/>
            <a:ext cx="2438400" cy="1064126"/>
          </a:xfrm>
          <a:prstGeom prst="rect">
            <a:avLst/>
          </a:prstGeom>
        </p:spPr>
      </p:pic>
      <p:sp>
        <p:nvSpPr>
          <p:cNvPr id="28" name="TextBox 24">
            <a:extLst>
              <a:ext uri="{FF2B5EF4-FFF2-40B4-BE49-F238E27FC236}">
                <a16:creationId xmlns:a16="http://schemas.microsoft.com/office/drawing/2014/main" id="{E685FB8F-2E7C-BC59-4E07-686897065949}"/>
              </a:ext>
            </a:extLst>
          </p:cNvPr>
          <p:cNvSpPr txBox="1"/>
          <p:nvPr/>
        </p:nvSpPr>
        <p:spPr>
          <a:xfrm>
            <a:off x="828893" y="1317693"/>
            <a:ext cx="1352436" cy="492443"/>
          </a:xfrm>
          <a:prstGeom prst="rect">
            <a:avLst/>
          </a:prstGeom>
          <a:noFill/>
        </p:spPr>
        <p:txBody>
          <a:bodyPr wrap="square" lIns="0" tIns="0" rIns="0" bIns="0" rtlCol="0">
            <a:spAutoFit/>
          </a:bodyPr>
          <a:lstStyle/>
          <a:p>
            <a:pPr algn="ctr"/>
            <a:r>
              <a:rPr lang="ca-ES" sz="3200" b="1" spc="-70" dirty="0" err="1">
                <a:solidFill>
                  <a:schemeClr val="accent2">
                    <a:lumMod val="75000"/>
                  </a:schemeClr>
                </a:solidFill>
              </a:rPr>
              <a:t>Gold</a:t>
            </a:r>
            <a:endParaRPr lang="es-ES" sz="3200" b="1" spc="-70" dirty="0">
              <a:solidFill>
                <a:schemeClr val="accent2">
                  <a:lumMod val="75000"/>
                </a:schemeClr>
              </a:solidFill>
            </a:endParaRPr>
          </a:p>
        </p:txBody>
      </p:sp>
      <p:pic>
        <p:nvPicPr>
          <p:cNvPr id="11" name="Picture 10" descr="A logo with a red circle and black text  AI-generated content may be incorrect.">
            <a:extLst>
              <a:ext uri="{FF2B5EF4-FFF2-40B4-BE49-F238E27FC236}">
                <a16:creationId xmlns:a16="http://schemas.microsoft.com/office/drawing/2014/main" id="{78C3D2DF-7B55-FEB8-BEB6-2B71599F433B}"/>
              </a:ext>
            </a:extLst>
          </p:cNvPr>
          <p:cNvPicPr>
            <a:picLocks noChangeAspect="1"/>
          </p:cNvPicPr>
          <p:nvPr/>
        </p:nvPicPr>
        <p:blipFill>
          <a:blip r:embed="rId4"/>
          <a:srcRect t="16432" b="16634"/>
          <a:stretch/>
        </p:blipFill>
        <p:spPr>
          <a:xfrm>
            <a:off x="8422220" y="1156796"/>
            <a:ext cx="3452958" cy="963243"/>
          </a:xfrm>
          <a:prstGeom prst="rect">
            <a:avLst/>
          </a:prstGeom>
        </p:spPr>
      </p:pic>
      <p:pic>
        <p:nvPicPr>
          <p:cNvPr id="13" name="Picture 12" descr="A blue and black logo  AI-generated content may be incorrect.">
            <a:extLst>
              <a:ext uri="{FF2B5EF4-FFF2-40B4-BE49-F238E27FC236}">
                <a16:creationId xmlns:a16="http://schemas.microsoft.com/office/drawing/2014/main" id="{4F8644C4-EADE-3602-0DC3-ECB514402FCB}"/>
              </a:ext>
            </a:extLst>
          </p:cNvPr>
          <p:cNvPicPr>
            <a:picLocks noChangeAspect="1"/>
          </p:cNvPicPr>
          <p:nvPr/>
        </p:nvPicPr>
        <p:blipFill>
          <a:blip r:embed="rId5"/>
          <a:stretch>
            <a:fillRect/>
          </a:stretch>
        </p:blipFill>
        <p:spPr>
          <a:xfrm>
            <a:off x="2509684" y="1279490"/>
            <a:ext cx="2570349" cy="779396"/>
          </a:xfrm>
          <a:prstGeom prst="rect">
            <a:avLst/>
          </a:prstGeom>
        </p:spPr>
      </p:pic>
      <p:pic>
        <p:nvPicPr>
          <p:cNvPr id="16" name="Picture 15" descr="A close up of a logo  AI-generated content may be incorrect.">
            <a:extLst>
              <a:ext uri="{FF2B5EF4-FFF2-40B4-BE49-F238E27FC236}">
                <a16:creationId xmlns:a16="http://schemas.microsoft.com/office/drawing/2014/main" id="{FD3C0DA0-BD00-0537-3472-389C71451100}"/>
              </a:ext>
            </a:extLst>
          </p:cNvPr>
          <p:cNvPicPr>
            <a:picLocks noChangeAspect="1"/>
          </p:cNvPicPr>
          <p:nvPr/>
        </p:nvPicPr>
        <p:blipFill>
          <a:blip r:embed="rId6"/>
          <a:stretch>
            <a:fillRect/>
          </a:stretch>
        </p:blipFill>
        <p:spPr>
          <a:xfrm>
            <a:off x="5657922" y="2811823"/>
            <a:ext cx="3452958" cy="666454"/>
          </a:xfrm>
          <a:prstGeom prst="rect">
            <a:avLst/>
          </a:prstGeom>
        </p:spPr>
      </p:pic>
      <p:pic>
        <p:nvPicPr>
          <p:cNvPr id="18" name="Picture 17" descr="A black and blue text  AI-generated content may be incorrect.">
            <a:extLst>
              <a:ext uri="{FF2B5EF4-FFF2-40B4-BE49-F238E27FC236}">
                <a16:creationId xmlns:a16="http://schemas.microsoft.com/office/drawing/2014/main" id="{D5FCF7CF-628F-867E-733A-C9E310793277}"/>
              </a:ext>
            </a:extLst>
          </p:cNvPr>
          <p:cNvPicPr>
            <a:picLocks noChangeAspect="1"/>
          </p:cNvPicPr>
          <p:nvPr/>
        </p:nvPicPr>
        <p:blipFill>
          <a:blip r:embed="rId7"/>
          <a:stretch>
            <a:fillRect/>
          </a:stretch>
        </p:blipFill>
        <p:spPr>
          <a:xfrm>
            <a:off x="2331719" y="2838912"/>
            <a:ext cx="3024897" cy="789567"/>
          </a:xfrm>
          <a:prstGeom prst="rect">
            <a:avLst/>
          </a:prstGeom>
        </p:spPr>
      </p:pic>
      <p:sp>
        <p:nvSpPr>
          <p:cNvPr id="20" name="TextBox 24">
            <a:extLst>
              <a:ext uri="{FF2B5EF4-FFF2-40B4-BE49-F238E27FC236}">
                <a16:creationId xmlns:a16="http://schemas.microsoft.com/office/drawing/2014/main" id="{6F9596FC-E143-AF99-33CB-A76D14B15757}"/>
              </a:ext>
            </a:extLst>
          </p:cNvPr>
          <p:cNvSpPr txBox="1"/>
          <p:nvPr/>
        </p:nvSpPr>
        <p:spPr>
          <a:xfrm>
            <a:off x="1134791" y="4638515"/>
            <a:ext cx="2037807" cy="307777"/>
          </a:xfrm>
          <a:prstGeom prst="rect">
            <a:avLst/>
          </a:prstGeom>
          <a:noFill/>
        </p:spPr>
        <p:txBody>
          <a:bodyPr wrap="square" lIns="0" tIns="0" rIns="0" bIns="0" rtlCol="0">
            <a:spAutoFit/>
          </a:bodyPr>
          <a:lstStyle/>
          <a:p>
            <a:pPr algn="ctr"/>
            <a:r>
              <a:rPr lang="ca-ES" sz="2000" b="1" spc="-70" dirty="0" err="1">
                <a:solidFill>
                  <a:srgbClr val="7030A0"/>
                </a:solidFill>
              </a:rPr>
              <a:t>Collaborator</a:t>
            </a:r>
            <a:endParaRPr lang="es-ES" sz="2000" b="1" spc="-70" dirty="0">
              <a:solidFill>
                <a:srgbClr val="7030A0"/>
              </a:solidFill>
            </a:endParaRPr>
          </a:p>
        </p:txBody>
      </p:sp>
      <p:pic>
        <p:nvPicPr>
          <p:cNvPr id="1030" name="Picture 6">
            <a:extLst>
              <a:ext uri="{FF2B5EF4-FFF2-40B4-BE49-F238E27FC236}">
                <a16:creationId xmlns:a16="http://schemas.microsoft.com/office/drawing/2014/main" id="{BE9A13E7-1D2E-50F3-3A90-FC94253E7A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6373" y="4536940"/>
            <a:ext cx="2415735" cy="510925"/>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94712C63-8AB4-CB7A-C13C-A561D908AB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412186" y="2906064"/>
            <a:ext cx="2440592" cy="722415"/>
          </a:xfrm>
          <a:prstGeom prst="rect">
            <a:avLst/>
          </a:prstGeom>
        </p:spPr>
      </p:pic>
    </p:spTree>
    <p:extLst>
      <p:ext uri="{BB962C8B-B14F-4D97-AF65-F5344CB8AC3E}">
        <p14:creationId xmlns:p14="http://schemas.microsoft.com/office/powerpoint/2010/main" val="366403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3AA0F567-A46D-C83F-E342-4A5BFF1C42CE}"/>
              </a:ext>
            </a:extLst>
          </p:cNvPr>
          <p:cNvSpPr>
            <a:spLocks noGrp="1"/>
          </p:cNvSpPr>
          <p:nvPr>
            <p:ph type="body" sz="quarter" idx="10"/>
          </p:nvPr>
        </p:nvSpPr>
        <p:spPr/>
        <p:txBody>
          <a:bodyPr/>
          <a:lstStyle/>
          <a:p>
            <a:r>
              <a:rPr lang="es-ES" sz="3600"/>
              <a:t>Juan Carlos González</a:t>
            </a:r>
          </a:p>
        </p:txBody>
      </p:sp>
      <p:sp>
        <p:nvSpPr>
          <p:cNvPr id="13" name="Marcador de texto 12">
            <a:extLst>
              <a:ext uri="{FF2B5EF4-FFF2-40B4-BE49-F238E27FC236}">
                <a16:creationId xmlns:a16="http://schemas.microsoft.com/office/drawing/2014/main" id="{AB4AB87D-D4C0-AF4D-C0B0-FFD53438B262}"/>
              </a:ext>
            </a:extLst>
          </p:cNvPr>
          <p:cNvSpPr>
            <a:spLocks noGrp="1"/>
          </p:cNvSpPr>
          <p:nvPr>
            <p:ph type="body" sz="quarter" idx="11"/>
          </p:nvPr>
        </p:nvSpPr>
        <p:spPr>
          <a:xfrm>
            <a:off x="4652825" y="2594959"/>
            <a:ext cx="4843871" cy="645152"/>
          </a:xfrm>
        </p:spPr>
        <p:txBody>
          <a:bodyPr/>
          <a:lstStyle/>
          <a:p>
            <a:r>
              <a:rPr lang="es-ES" sz="2200" dirty="0"/>
              <a:t>Microsoft 365 &amp; Microsoft 365 </a:t>
            </a:r>
            <a:r>
              <a:rPr lang="es-ES" sz="2200" dirty="0" err="1"/>
              <a:t>Copilot</a:t>
            </a:r>
            <a:r>
              <a:rPr lang="es-ES" sz="2200" dirty="0"/>
              <a:t> MVP</a:t>
            </a:r>
          </a:p>
        </p:txBody>
      </p:sp>
      <p:pic>
        <p:nvPicPr>
          <p:cNvPr id="19" name="Picture Placeholder 18" descr="A person smiling for a picture  AI-generated content may be incorrect.">
            <a:extLst>
              <a:ext uri="{FF2B5EF4-FFF2-40B4-BE49-F238E27FC236}">
                <a16:creationId xmlns:a16="http://schemas.microsoft.com/office/drawing/2014/main" id="{1F2D45E5-4B32-FE13-B75B-18507E3D7D51}"/>
              </a:ext>
            </a:extLst>
          </p:cNvPr>
          <p:cNvPicPr>
            <a:picLocks noGrp="1" noChangeAspect="1"/>
          </p:cNvPicPr>
          <p:nvPr>
            <p:ph type="pic" sz="quarter" idx="12"/>
          </p:nvPr>
        </p:nvPicPr>
        <p:blipFill>
          <a:blip r:embed="rId3"/>
          <a:srcRect l="1115" r="1115"/>
          <a:stretch>
            <a:fillRect/>
          </a:stretch>
        </p:blipFill>
        <p:spPr/>
      </p:pic>
      <p:sp>
        <p:nvSpPr>
          <p:cNvPr id="2" name="TextBox 33">
            <a:extLst>
              <a:ext uri="{FF2B5EF4-FFF2-40B4-BE49-F238E27FC236}">
                <a16:creationId xmlns:a16="http://schemas.microsoft.com/office/drawing/2014/main" id="{A33E808A-88B3-308B-06E8-A945AA329F12}"/>
              </a:ext>
            </a:extLst>
          </p:cNvPr>
          <p:cNvSpPr txBox="1"/>
          <p:nvPr/>
        </p:nvSpPr>
        <p:spPr>
          <a:xfrm>
            <a:off x="5323181" y="3375021"/>
            <a:ext cx="3761192" cy="338554"/>
          </a:xfrm>
          <a:prstGeom prst="rect">
            <a:avLst/>
          </a:prstGeom>
          <a:noFill/>
        </p:spPr>
        <p:txBody>
          <a:bodyPr wrap="squar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rPr>
              <a:t>@jcgm1978</a:t>
            </a:r>
          </a:p>
        </p:txBody>
      </p:sp>
      <p:sp>
        <p:nvSpPr>
          <p:cNvPr id="3" name="TextBox 33">
            <a:extLst>
              <a:ext uri="{FF2B5EF4-FFF2-40B4-BE49-F238E27FC236}">
                <a16:creationId xmlns:a16="http://schemas.microsoft.com/office/drawing/2014/main" id="{F050835E-B563-D9F3-11A7-EF08CC052E12}"/>
              </a:ext>
            </a:extLst>
          </p:cNvPr>
          <p:cNvSpPr txBox="1"/>
          <p:nvPr/>
        </p:nvSpPr>
        <p:spPr>
          <a:xfrm>
            <a:off x="5323181" y="4058053"/>
            <a:ext cx="3465436" cy="338554"/>
          </a:xfrm>
          <a:prstGeom prst="rect">
            <a:avLst/>
          </a:prstGeom>
          <a:noFill/>
        </p:spPr>
        <p:txBody>
          <a:bodyPr wrap="non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hlinkClick r:id="rId4">
                  <a:extLst>
                    <a:ext uri="{A12FA001-AC4F-418D-AE19-62706E023703}">
                      <ahyp:hlinkClr xmlns:ahyp="http://schemas.microsoft.com/office/drawing/2018/hyperlinkcolor" val="tx"/>
                    </a:ext>
                  </a:extLst>
                </a:hlinkClick>
              </a:rPr>
              <a:t>jcgonzalezmartin1978@hotmail.com</a:t>
            </a:r>
            <a:r>
              <a:rPr kumimoji="0" lang="es-CO"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rPr>
              <a:t>   </a:t>
            </a:r>
            <a:endParaRPr kumimoji="0" lang="en-US"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endParaRPr>
          </a:p>
        </p:txBody>
      </p:sp>
      <p:sp>
        <p:nvSpPr>
          <p:cNvPr id="4" name="TextBox 33">
            <a:extLst>
              <a:ext uri="{FF2B5EF4-FFF2-40B4-BE49-F238E27FC236}">
                <a16:creationId xmlns:a16="http://schemas.microsoft.com/office/drawing/2014/main" id="{37F4C8A0-F503-064C-69D0-5D0E1A6B3FA4}"/>
              </a:ext>
            </a:extLst>
          </p:cNvPr>
          <p:cNvSpPr txBox="1"/>
          <p:nvPr/>
        </p:nvSpPr>
        <p:spPr>
          <a:xfrm>
            <a:off x="5323181" y="4753828"/>
            <a:ext cx="3041217" cy="338554"/>
          </a:xfrm>
          <a:prstGeom prst="rect">
            <a:avLst/>
          </a:prstGeom>
          <a:noFill/>
        </p:spPr>
        <p:txBody>
          <a:bodyPr wrap="non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hlinkClick r:id="rId5">
                  <a:extLst>
                    <a:ext uri="{A12FA001-AC4F-418D-AE19-62706E023703}">
                      <ahyp:hlinkClr xmlns:ahyp="http://schemas.microsoft.com/office/drawing/2018/hyperlinkcolor" val="tx"/>
                    </a:ext>
                  </a:extLst>
                </a:hlinkClick>
              </a:rPr>
              <a:t>https://nl.linkedin.com/in/juagon</a:t>
            </a:r>
            <a:r>
              <a:rPr kumimoji="0" lang="en-US" sz="1600" b="1" i="0" u="none" strike="noStrike" kern="1200" cap="none" spc="0" normalizeH="0" baseline="0" noProof="0">
                <a:ln>
                  <a:noFill/>
                </a:ln>
                <a:solidFill>
                  <a:srgbClr val="FFFFFF"/>
                </a:solidFill>
                <a:effectLst/>
                <a:uLnTx/>
                <a:uFillTx/>
                <a:latin typeface="Segoe UI Light"/>
                <a:ea typeface="+mn-ea"/>
                <a:cs typeface="Segoe UI Semibold" panose="020B0702040204020203" pitchFamily="34" charset="0"/>
              </a:rPr>
              <a:t> </a:t>
            </a:r>
          </a:p>
        </p:txBody>
      </p:sp>
      <p:sp>
        <p:nvSpPr>
          <p:cNvPr id="5" name="TextBox 33">
            <a:extLst>
              <a:ext uri="{FF2B5EF4-FFF2-40B4-BE49-F238E27FC236}">
                <a16:creationId xmlns:a16="http://schemas.microsoft.com/office/drawing/2014/main" id="{E4C074D1-4C1B-7D0D-B9AF-E19C1EFECE2E}"/>
              </a:ext>
            </a:extLst>
          </p:cNvPr>
          <p:cNvSpPr txBox="1"/>
          <p:nvPr/>
        </p:nvSpPr>
        <p:spPr>
          <a:xfrm>
            <a:off x="5323181" y="5449603"/>
            <a:ext cx="4185569" cy="338554"/>
          </a:xfrm>
          <a:prstGeom prst="rect">
            <a:avLst/>
          </a:prstGeom>
          <a:noFill/>
        </p:spPr>
        <p:txBody>
          <a:bodyPr wrap="none" rtlCol="0">
            <a:spAutoFit/>
          </a:bodyPr>
          <a:lstStyle/>
          <a:p>
            <a:r>
              <a:rPr lang="en-US" sz="1600" b="1" dirty="0">
                <a:solidFill>
                  <a:srgbClr val="FFFFFF"/>
                </a:solidFill>
                <a:latin typeface="Segoe UI Light"/>
                <a:cs typeface="Segoe UI Semibold" panose="020B0702040204020203" pitchFamily="34" charset="0"/>
                <a:hlinkClick r:id="rId6">
                  <a:extLst>
                    <a:ext uri="{A12FA001-AC4F-418D-AE19-62706E023703}">
                      <ahyp:hlinkClr xmlns:ahyp="http://schemas.microsoft.com/office/drawing/2018/hyperlinkcolor" val="tx"/>
                    </a:ext>
                  </a:extLst>
                </a:hlinkClick>
              </a:rPr>
              <a:t>https://www.youtube.com/@jcgonzalezmartin</a:t>
            </a:r>
            <a:r>
              <a:rPr lang="en-US" sz="1600" b="1" dirty="0">
                <a:solidFill>
                  <a:srgbClr val="FFFFFF"/>
                </a:solidFill>
                <a:latin typeface="Segoe UI Light"/>
                <a:cs typeface="Segoe UI Semibold" panose="020B0702040204020203" pitchFamily="34" charset="0"/>
              </a:rPr>
              <a:t> </a:t>
            </a:r>
          </a:p>
        </p:txBody>
      </p:sp>
      <p:sp>
        <p:nvSpPr>
          <p:cNvPr id="6" name="TextBox 5">
            <a:extLst>
              <a:ext uri="{FF2B5EF4-FFF2-40B4-BE49-F238E27FC236}">
                <a16:creationId xmlns:a16="http://schemas.microsoft.com/office/drawing/2014/main" id="{5A4743E8-387A-17AF-96F5-3300A6F5714C}"/>
              </a:ext>
            </a:extLst>
          </p:cNvPr>
          <p:cNvSpPr txBox="1"/>
          <p:nvPr/>
        </p:nvSpPr>
        <p:spPr>
          <a:xfrm>
            <a:off x="5323181" y="6145378"/>
            <a:ext cx="5301609" cy="338554"/>
          </a:xfrm>
          <a:prstGeom prst="rect">
            <a:avLst/>
          </a:prstGeom>
          <a:noFill/>
        </p:spPr>
        <p:txBody>
          <a:bodyPr wrap="square" rtlCol="0">
            <a:spAutoFit/>
          </a:bodyPr>
          <a:lstStyle/>
          <a:p>
            <a:pPr lvl="0">
              <a:defRPr/>
            </a:pPr>
            <a:r>
              <a:rPr lang="en-US" sz="1600" b="1" dirty="0">
                <a:solidFill>
                  <a:srgbClr val="FFFFFF"/>
                </a:solidFill>
                <a:latin typeface="Segoe UI Light"/>
                <a:cs typeface="Segoe UI Semibold" panose="020B0702040204020203" pitchFamily="34" charset="0"/>
                <a:hlinkClick r:id="rId7">
                  <a:extLst>
                    <a:ext uri="{A12FA001-AC4F-418D-AE19-62706E023703}">
                      <ahyp:hlinkClr xmlns:ahyp="http://schemas.microsoft.com/office/drawing/2018/hyperlinkcolor" val="tx"/>
                    </a:ext>
                  </a:extLst>
                </a:hlinkClick>
              </a:rPr>
              <a:t>https://jcgonzalezmartin.wordpress.com/</a:t>
            </a:r>
            <a:r>
              <a:rPr lang="en-US" sz="1600" b="1" dirty="0">
                <a:solidFill>
                  <a:srgbClr val="FFFFFF"/>
                </a:solidFill>
                <a:latin typeface="Segoe UI Light"/>
                <a:cs typeface="Segoe UI Semibold" panose="020B0702040204020203" pitchFamily="34" charset="0"/>
              </a:rPr>
              <a:t>  </a:t>
            </a:r>
          </a:p>
        </p:txBody>
      </p:sp>
      <p:pic>
        <p:nvPicPr>
          <p:cNvPr id="7" name="Picture 6">
            <a:extLst>
              <a:ext uri="{FF2B5EF4-FFF2-40B4-BE49-F238E27FC236}">
                <a16:creationId xmlns:a16="http://schemas.microsoft.com/office/drawing/2014/main" id="{F4E19078-B639-7C8B-4B66-895B18E4E5D4}"/>
              </a:ext>
            </a:extLst>
          </p:cNvPr>
          <p:cNvPicPr>
            <a:picLocks noChangeAspect="1"/>
          </p:cNvPicPr>
          <p:nvPr/>
        </p:nvPicPr>
        <p:blipFill>
          <a:blip r:embed="rId8"/>
          <a:stretch>
            <a:fillRect/>
          </a:stretch>
        </p:blipFill>
        <p:spPr>
          <a:xfrm>
            <a:off x="4642994" y="3868141"/>
            <a:ext cx="640080" cy="640080"/>
          </a:xfrm>
          <a:prstGeom prst="rect">
            <a:avLst/>
          </a:prstGeom>
        </p:spPr>
      </p:pic>
      <p:pic>
        <p:nvPicPr>
          <p:cNvPr id="8" name="Picture 7">
            <a:extLst>
              <a:ext uri="{FF2B5EF4-FFF2-40B4-BE49-F238E27FC236}">
                <a16:creationId xmlns:a16="http://schemas.microsoft.com/office/drawing/2014/main" id="{9A5D7BCF-E58E-8A73-1DD4-50335B2930D0}"/>
              </a:ext>
            </a:extLst>
          </p:cNvPr>
          <p:cNvPicPr>
            <a:picLocks noChangeAspect="1"/>
          </p:cNvPicPr>
          <p:nvPr/>
        </p:nvPicPr>
        <p:blipFill>
          <a:blip r:embed="rId9"/>
          <a:stretch>
            <a:fillRect/>
          </a:stretch>
        </p:blipFill>
        <p:spPr>
          <a:xfrm>
            <a:off x="4629051" y="3211078"/>
            <a:ext cx="640080" cy="640080"/>
          </a:xfrm>
          <a:prstGeom prst="rect">
            <a:avLst/>
          </a:prstGeom>
        </p:spPr>
      </p:pic>
      <p:pic>
        <p:nvPicPr>
          <p:cNvPr id="9" name="Picture 8">
            <a:extLst>
              <a:ext uri="{FF2B5EF4-FFF2-40B4-BE49-F238E27FC236}">
                <a16:creationId xmlns:a16="http://schemas.microsoft.com/office/drawing/2014/main" id="{42522DB1-9C66-8EA4-46D5-7F0E1F92E0B3}"/>
              </a:ext>
            </a:extLst>
          </p:cNvPr>
          <p:cNvPicPr>
            <a:picLocks noChangeAspect="1"/>
          </p:cNvPicPr>
          <p:nvPr/>
        </p:nvPicPr>
        <p:blipFill>
          <a:blip r:embed="rId10"/>
          <a:stretch>
            <a:fillRect/>
          </a:stretch>
        </p:blipFill>
        <p:spPr>
          <a:xfrm>
            <a:off x="4642994" y="4597619"/>
            <a:ext cx="640080" cy="640080"/>
          </a:xfrm>
          <a:prstGeom prst="rect">
            <a:avLst/>
          </a:prstGeom>
        </p:spPr>
      </p:pic>
      <p:pic>
        <p:nvPicPr>
          <p:cNvPr id="10" name="Picture 9">
            <a:extLst>
              <a:ext uri="{FF2B5EF4-FFF2-40B4-BE49-F238E27FC236}">
                <a16:creationId xmlns:a16="http://schemas.microsoft.com/office/drawing/2014/main" id="{8F28DD8F-479A-1232-8825-F7DA7C4D7E9D}"/>
              </a:ext>
            </a:extLst>
          </p:cNvPr>
          <p:cNvPicPr>
            <a:picLocks noChangeAspect="1"/>
          </p:cNvPicPr>
          <p:nvPr/>
        </p:nvPicPr>
        <p:blipFill>
          <a:blip r:embed="rId11"/>
          <a:stretch>
            <a:fillRect/>
          </a:stretch>
        </p:blipFill>
        <p:spPr>
          <a:xfrm>
            <a:off x="4629051" y="6016135"/>
            <a:ext cx="640080" cy="640080"/>
          </a:xfrm>
          <a:prstGeom prst="rect">
            <a:avLst/>
          </a:prstGeom>
        </p:spPr>
      </p:pic>
      <p:pic>
        <p:nvPicPr>
          <p:cNvPr id="16" name="Imagen 11">
            <a:extLst>
              <a:ext uri="{FF2B5EF4-FFF2-40B4-BE49-F238E27FC236}">
                <a16:creationId xmlns:a16="http://schemas.microsoft.com/office/drawing/2014/main" id="{D84513C4-5A11-5053-9687-4B8A7267DA26}"/>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791057" y="2083291"/>
            <a:ext cx="1023335" cy="1023335"/>
          </a:xfrm>
          <a:prstGeom prst="rect">
            <a:avLst/>
          </a:prstGeom>
        </p:spPr>
      </p:pic>
      <p:pic>
        <p:nvPicPr>
          <p:cNvPr id="17" name="Imagen 12">
            <a:extLst>
              <a:ext uri="{FF2B5EF4-FFF2-40B4-BE49-F238E27FC236}">
                <a16:creationId xmlns:a16="http://schemas.microsoft.com/office/drawing/2014/main" id="{3AB4B451-8418-063C-3BB7-6A9CD7F9F564}"/>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701634" y="1914442"/>
            <a:ext cx="813845" cy="1288589"/>
          </a:xfrm>
          <a:prstGeom prst="rect">
            <a:avLst/>
          </a:prstGeom>
        </p:spPr>
      </p:pic>
      <p:pic>
        <p:nvPicPr>
          <p:cNvPr id="22" name="Picture 21" descr="A black and white logo  AI-generated content may be incorrect.">
            <a:extLst>
              <a:ext uri="{FF2B5EF4-FFF2-40B4-BE49-F238E27FC236}">
                <a16:creationId xmlns:a16="http://schemas.microsoft.com/office/drawing/2014/main" id="{1D0208D7-1DA7-CFBB-50AB-841A181F84A8}"/>
              </a:ext>
            </a:extLst>
          </p:cNvPr>
          <p:cNvPicPr>
            <a:picLocks noChangeAspect="1"/>
          </p:cNvPicPr>
          <p:nvPr/>
        </p:nvPicPr>
        <p:blipFill>
          <a:blip r:embed="rId14"/>
          <a:stretch>
            <a:fillRect/>
          </a:stretch>
        </p:blipFill>
        <p:spPr>
          <a:xfrm>
            <a:off x="1430050" y="5583683"/>
            <a:ext cx="1950761" cy="752492"/>
          </a:xfrm>
          <a:prstGeom prst="rect">
            <a:avLst/>
          </a:prstGeom>
        </p:spPr>
      </p:pic>
      <p:pic>
        <p:nvPicPr>
          <p:cNvPr id="14" name="Picture 13">
            <a:extLst>
              <a:ext uri="{FF2B5EF4-FFF2-40B4-BE49-F238E27FC236}">
                <a16:creationId xmlns:a16="http://schemas.microsoft.com/office/drawing/2014/main" id="{4F07049C-08F8-7484-F06D-A5812CB9A87D}"/>
              </a:ext>
            </a:extLst>
          </p:cNvPr>
          <p:cNvPicPr>
            <a:picLocks noChangeAspect="1"/>
          </p:cNvPicPr>
          <p:nvPr/>
        </p:nvPicPr>
        <p:blipFill>
          <a:blip r:embed="rId15"/>
          <a:stretch>
            <a:fillRect/>
          </a:stretch>
        </p:blipFill>
        <p:spPr>
          <a:xfrm>
            <a:off x="4629051" y="5319849"/>
            <a:ext cx="640080" cy="640080"/>
          </a:xfrm>
          <a:prstGeom prst="rect">
            <a:avLst/>
          </a:prstGeom>
        </p:spPr>
      </p:pic>
    </p:spTree>
    <p:extLst>
      <p:ext uri="{BB962C8B-B14F-4D97-AF65-F5344CB8AC3E}">
        <p14:creationId xmlns:p14="http://schemas.microsoft.com/office/powerpoint/2010/main" val="1149891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4C8A-4388-15A5-17D1-65DAC6692463}"/>
            </a:ext>
          </a:extLst>
        </p:cNvPr>
        <p:cNvGrpSpPr/>
        <p:nvPr/>
      </p:nvGrpSpPr>
      <p:grpSpPr>
        <a:xfrm>
          <a:off x="0" y="0"/>
          <a:ext cx="0" cy="0"/>
          <a:chOff x="0" y="0"/>
          <a:chExt cx="0" cy="0"/>
        </a:xfrm>
      </p:grpSpPr>
      <p:sp>
        <p:nvSpPr>
          <p:cNvPr id="12" name="Marcador de texto 11">
            <a:extLst>
              <a:ext uri="{FF2B5EF4-FFF2-40B4-BE49-F238E27FC236}">
                <a16:creationId xmlns:a16="http://schemas.microsoft.com/office/drawing/2014/main" id="{06C039C0-2DD3-147A-DD88-7764B60AA5BB}"/>
              </a:ext>
            </a:extLst>
          </p:cNvPr>
          <p:cNvSpPr>
            <a:spLocks noGrp="1"/>
          </p:cNvSpPr>
          <p:nvPr>
            <p:ph type="body" sz="quarter" idx="10"/>
          </p:nvPr>
        </p:nvSpPr>
        <p:spPr/>
        <p:txBody>
          <a:bodyPr/>
          <a:lstStyle/>
          <a:p>
            <a:r>
              <a:rPr lang="es-ES" sz="3600"/>
              <a:t>Juan Carlos González</a:t>
            </a:r>
          </a:p>
        </p:txBody>
      </p:sp>
      <p:sp>
        <p:nvSpPr>
          <p:cNvPr id="13" name="Marcador de texto 12">
            <a:extLst>
              <a:ext uri="{FF2B5EF4-FFF2-40B4-BE49-F238E27FC236}">
                <a16:creationId xmlns:a16="http://schemas.microsoft.com/office/drawing/2014/main" id="{998721BC-A62B-D5B2-3AFA-565DB494A2EA}"/>
              </a:ext>
            </a:extLst>
          </p:cNvPr>
          <p:cNvSpPr>
            <a:spLocks noGrp="1"/>
          </p:cNvSpPr>
          <p:nvPr>
            <p:ph type="body" sz="quarter" idx="11"/>
          </p:nvPr>
        </p:nvSpPr>
        <p:spPr>
          <a:xfrm>
            <a:off x="4652825" y="2594959"/>
            <a:ext cx="4843871" cy="645152"/>
          </a:xfrm>
        </p:spPr>
        <p:txBody>
          <a:bodyPr/>
          <a:lstStyle/>
          <a:p>
            <a:r>
              <a:rPr lang="es-ES" sz="2200" dirty="0"/>
              <a:t>Microsoft 365 &amp; Microsoft 365 </a:t>
            </a:r>
            <a:r>
              <a:rPr lang="es-ES" sz="2200" dirty="0" err="1"/>
              <a:t>Copilot</a:t>
            </a:r>
            <a:r>
              <a:rPr lang="es-ES" sz="2200" dirty="0"/>
              <a:t> MVP</a:t>
            </a:r>
          </a:p>
        </p:txBody>
      </p:sp>
      <p:pic>
        <p:nvPicPr>
          <p:cNvPr id="19" name="Picture Placeholder 18">
            <a:extLst>
              <a:ext uri="{FF2B5EF4-FFF2-40B4-BE49-F238E27FC236}">
                <a16:creationId xmlns:a16="http://schemas.microsoft.com/office/drawing/2014/main" id="{C20540E5-D96E-E464-6DBC-38B0CDE0D69F}"/>
              </a:ext>
            </a:extLst>
          </p:cNvPr>
          <p:cNvPicPr>
            <a:picLocks noGrp="1" noChangeAspect="1"/>
          </p:cNvPicPr>
          <p:nvPr>
            <p:ph type="pic" sz="quarter" idx="12"/>
          </p:nvPr>
        </p:nvPicPr>
        <p:blipFill>
          <a:blip r:embed="rId3"/>
          <a:srcRect t="313" b="313"/>
          <a:stretch/>
        </p:blipFill>
        <p:spPr/>
      </p:pic>
      <p:sp>
        <p:nvSpPr>
          <p:cNvPr id="2" name="TextBox 33">
            <a:extLst>
              <a:ext uri="{FF2B5EF4-FFF2-40B4-BE49-F238E27FC236}">
                <a16:creationId xmlns:a16="http://schemas.microsoft.com/office/drawing/2014/main" id="{EA1BE11E-1E41-38E8-FC82-92B7EA307CF7}"/>
              </a:ext>
            </a:extLst>
          </p:cNvPr>
          <p:cNvSpPr txBox="1"/>
          <p:nvPr/>
        </p:nvSpPr>
        <p:spPr>
          <a:xfrm>
            <a:off x="5323181" y="3375021"/>
            <a:ext cx="3761192" cy="338554"/>
          </a:xfrm>
          <a:prstGeom prst="rect">
            <a:avLst/>
          </a:prstGeom>
          <a:noFill/>
        </p:spPr>
        <p:txBody>
          <a:bodyPr wrap="squar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dirty="0">
                <a:ln>
                  <a:noFill/>
                </a:ln>
                <a:solidFill>
                  <a:srgbClr val="FFFFFF"/>
                </a:solidFill>
                <a:effectLst/>
                <a:uLnTx/>
                <a:uFillTx/>
                <a:latin typeface="Segoe UI Light"/>
                <a:ea typeface="+mn-ea"/>
                <a:cs typeface="Segoe UI Semibold" panose="020B0702040204020203" pitchFamily="34" charset="0"/>
              </a:rPr>
              <a:t>@fchopo</a:t>
            </a:r>
          </a:p>
        </p:txBody>
      </p:sp>
      <p:sp>
        <p:nvSpPr>
          <p:cNvPr id="3" name="TextBox 33">
            <a:extLst>
              <a:ext uri="{FF2B5EF4-FFF2-40B4-BE49-F238E27FC236}">
                <a16:creationId xmlns:a16="http://schemas.microsoft.com/office/drawing/2014/main" id="{8F7D9BF0-BADA-22DF-999E-3C4158990094}"/>
              </a:ext>
            </a:extLst>
          </p:cNvPr>
          <p:cNvSpPr txBox="1"/>
          <p:nvPr/>
        </p:nvSpPr>
        <p:spPr>
          <a:xfrm>
            <a:off x="5323181" y="4058053"/>
            <a:ext cx="2132315" cy="338554"/>
          </a:xfrm>
          <a:prstGeom prst="rect">
            <a:avLst/>
          </a:prstGeom>
          <a:noFill/>
        </p:spPr>
        <p:txBody>
          <a:bodyPr wrap="non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dirty="0">
                <a:ln>
                  <a:noFill/>
                </a:ln>
                <a:solidFill>
                  <a:srgbClr val="FFFFFF"/>
                </a:solidFill>
                <a:effectLst/>
                <a:uLnTx/>
                <a:uFillTx/>
                <a:latin typeface="Segoe UI Light"/>
                <a:ea typeface="+mn-ea"/>
                <a:cs typeface="Segoe UI Semibold" panose="020B0702040204020203" pitchFamily="34" charset="0"/>
                <a:hlinkClick r:id="rId4">
                  <a:extLst>
                    <a:ext uri="{A12FA001-AC4F-418D-AE19-62706E023703}">
                      <ahyp:hlinkClr xmlns:ahyp="http://schemas.microsoft.com/office/drawing/2018/hyperlinkcolor" val="tx"/>
                    </a:ext>
                  </a:extLst>
                </a:hlinkClick>
              </a:rPr>
              <a:t>fchopo@sugcat.com</a:t>
            </a:r>
            <a:r>
              <a:rPr kumimoji="0" lang="es-CO" sz="1600" b="1" i="0" u="none" strike="noStrike" kern="1200" cap="none" spc="0" normalizeH="0" baseline="0" noProof="0" dirty="0">
                <a:ln>
                  <a:noFill/>
                </a:ln>
                <a:solidFill>
                  <a:srgbClr val="FFFFFF"/>
                </a:solidFill>
                <a:effectLst/>
                <a:uLnTx/>
                <a:uFillTx/>
                <a:latin typeface="Segoe UI Light"/>
                <a:ea typeface="+mn-ea"/>
                <a:cs typeface="Segoe UI Semibold" panose="020B0702040204020203" pitchFamily="34" charset="0"/>
              </a:rPr>
              <a:t>   </a:t>
            </a:r>
            <a:endParaRPr kumimoji="0" lang="en-US" sz="1600" b="1" i="0" u="none" strike="noStrike" kern="1200" cap="none" spc="0" normalizeH="0" baseline="0" noProof="0" dirty="0">
              <a:ln>
                <a:noFill/>
              </a:ln>
              <a:solidFill>
                <a:srgbClr val="FFFFFF"/>
              </a:solidFill>
              <a:effectLst/>
              <a:uLnTx/>
              <a:uFillTx/>
              <a:latin typeface="Segoe UI Light"/>
              <a:ea typeface="+mn-ea"/>
              <a:cs typeface="Segoe UI Semibold" panose="020B0702040204020203" pitchFamily="34" charset="0"/>
            </a:endParaRPr>
          </a:p>
        </p:txBody>
      </p:sp>
      <p:sp>
        <p:nvSpPr>
          <p:cNvPr id="4" name="TextBox 33">
            <a:extLst>
              <a:ext uri="{FF2B5EF4-FFF2-40B4-BE49-F238E27FC236}">
                <a16:creationId xmlns:a16="http://schemas.microsoft.com/office/drawing/2014/main" id="{B1321823-C08C-5D5E-4827-70F1DA8339A1}"/>
              </a:ext>
            </a:extLst>
          </p:cNvPr>
          <p:cNvSpPr txBox="1"/>
          <p:nvPr/>
        </p:nvSpPr>
        <p:spPr>
          <a:xfrm>
            <a:off x="5323181" y="4753828"/>
            <a:ext cx="3320524" cy="338554"/>
          </a:xfrm>
          <a:prstGeom prst="rect">
            <a:avLst/>
          </a:prstGeom>
          <a:noFill/>
        </p:spPr>
        <p:txBody>
          <a:bodyPr wrap="none" rtlCol="0">
            <a:spAutoFit/>
          </a:bodyPr>
          <a:lstStyle/>
          <a:p>
            <a:pPr lvl="0">
              <a:defRPr/>
            </a:pPr>
            <a:r>
              <a:rPr lang="en-US" sz="1600" b="1" dirty="0">
                <a:solidFill>
                  <a:srgbClr val="FFFFFF"/>
                </a:solidFill>
                <a:latin typeface="Segoe UI Light"/>
                <a:cs typeface="Segoe UI Semibold" panose="020B0702040204020203" pitchFamily="34" charset="0"/>
              </a:rPr>
              <a:t>https://www.linkedin.com/in/fchopo/</a:t>
            </a:r>
            <a:endParaRPr kumimoji="0" lang="en-US" sz="1600" b="1" i="0" u="none" strike="noStrike" kern="1200" cap="none" spc="0" normalizeH="0" baseline="0" noProof="0" dirty="0">
              <a:ln>
                <a:noFill/>
              </a:ln>
              <a:solidFill>
                <a:srgbClr val="FFFFFF"/>
              </a:solidFill>
              <a:effectLst/>
              <a:uLnTx/>
              <a:uFillTx/>
              <a:latin typeface="Segoe UI Light"/>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D59044F2-BA22-7FC4-0AF3-C41DE2DDC92E}"/>
              </a:ext>
            </a:extLst>
          </p:cNvPr>
          <p:cNvPicPr>
            <a:picLocks noChangeAspect="1"/>
          </p:cNvPicPr>
          <p:nvPr/>
        </p:nvPicPr>
        <p:blipFill>
          <a:blip r:embed="rId5"/>
          <a:stretch>
            <a:fillRect/>
          </a:stretch>
        </p:blipFill>
        <p:spPr>
          <a:xfrm>
            <a:off x="4642994" y="3868141"/>
            <a:ext cx="640080" cy="640080"/>
          </a:xfrm>
          <a:prstGeom prst="rect">
            <a:avLst/>
          </a:prstGeom>
        </p:spPr>
      </p:pic>
      <p:pic>
        <p:nvPicPr>
          <p:cNvPr id="8" name="Picture 7">
            <a:extLst>
              <a:ext uri="{FF2B5EF4-FFF2-40B4-BE49-F238E27FC236}">
                <a16:creationId xmlns:a16="http://schemas.microsoft.com/office/drawing/2014/main" id="{14CA5B2E-E38B-61CA-9AE1-5E3664ADDE1D}"/>
              </a:ext>
            </a:extLst>
          </p:cNvPr>
          <p:cNvPicPr>
            <a:picLocks noChangeAspect="1"/>
          </p:cNvPicPr>
          <p:nvPr/>
        </p:nvPicPr>
        <p:blipFill>
          <a:blip r:embed="rId6"/>
          <a:stretch>
            <a:fillRect/>
          </a:stretch>
        </p:blipFill>
        <p:spPr>
          <a:xfrm>
            <a:off x="4629051" y="3211078"/>
            <a:ext cx="640080" cy="640080"/>
          </a:xfrm>
          <a:prstGeom prst="rect">
            <a:avLst/>
          </a:prstGeom>
        </p:spPr>
      </p:pic>
      <p:pic>
        <p:nvPicPr>
          <p:cNvPr id="9" name="Picture 8">
            <a:extLst>
              <a:ext uri="{FF2B5EF4-FFF2-40B4-BE49-F238E27FC236}">
                <a16:creationId xmlns:a16="http://schemas.microsoft.com/office/drawing/2014/main" id="{A69BE40C-B112-D2E4-C6FE-3AC213B092A0}"/>
              </a:ext>
            </a:extLst>
          </p:cNvPr>
          <p:cNvPicPr>
            <a:picLocks noChangeAspect="1"/>
          </p:cNvPicPr>
          <p:nvPr/>
        </p:nvPicPr>
        <p:blipFill>
          <a:blip r:embed="rId7"/>
          <a:stretch>
            <a:fillRect/>
          </a:stretch>
        </p:blipFill>
        <p:spPr>
          <a:xfrm>
            <a:off x="4642994" y="4597619"/>
            <a:ext cx="640080" cy="640080"/>
          </a:xfrm>
          <a:prstGeom prst="rect">
            <a:avLst/>
          </a:prstGeom>
        </p:spPr>
      </p:pic>
      <p:pic>
        <p:nvPicPr>
          <p:cNvPr id="17" name="Imagen 12">
            <a:extLst>
              <a:ext uri="{FF2B5EF4-FFF2-40B4-BE49-F238E27FC236}">
                <a16:creationId xmlns:a16="http://schemas.microsoft.com/office/drawing/2014/main" id="{72FFDB9F-764D-2E7B-A336-F0C6E3F6139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701634" y="1914442"/>
            <a:ext cx="813845" cy="1288589"/>
          </a:xfrm>
          <a:prstGeom prst="rect">
            <a:avLst/>
          </a:prstGeom>
        </p:spPr>
      </p:pic>
      <p:pic>
        <p:nvPicPr>
          <p:cNvPr id="11" name="Picture 10" descr="Forward Forever logo">
            <a:extLst>
              <a:ext uri="{FF2B5EF4-FFF2-40B4-BE49-F238E27FC236}">
                <a16:creationId xmlns:a16="http://schemas.microsoft.com/office/drawing/2014/main" id="{6C9B8FD8-5CD3-6B7D-C2E1-1E471E08D41E}"/>
              </a:ext>
            </a:extLst>
          </p:cNvPr>
          <p:cNvPicPr>
            <a:picLocks noChangeAspect="1"/>
          </p:cNvPicPr>
          <p:nvPr/>
        </p:nvPicPr>
        <p:blipFill>
          <a:blip r:embed="rId9"/>
          <a:stretch>
            <a:fillRect/>
          </a:stretch>
        </p:blipFill>
        <p:spPr>
          <a:xfrm>
            <a:off x="1963537" y="5471352"/>
            <a:ext cx="993172" cy="993172"/>
          </a:xfrm>
          <a:prstGeom prst="rect">
            <a:avLst/>
          </a:prstGeom>
        </p:spPr>
      </p:pic>
    </p:spTree>
    <p:extLst>
      <p:ext uri="{BB962C8B-B14F-4D97-AF65-F5344CB8AC3E}">
        <p14:creationId xmlns:p14="http://schemas.microsoft.com/office/powerpoint/2010/main" val="261276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B2E649D-4003-F0BC-3BFA-7836F49DF511}"/>
              </a:ext>
            </a:extLst>
          </p:cNvPr>
          <p:cNvSpPr>
            <a:spLocks noGrp="1"/>
          </p:cNvSpPr>
          <p:nvPr>
            <p:ph type="body" sz="quarter" idx="10"/>
          </p:nvPr>
        </p:nvSpPr>
        <p:spPr/>
        <p:txBody>
          <a:bodyPr/>
          <a:lstStyle/>
          <a:p>
            <a:pPr marL="457200" indent="-457200">
              <a:buFont typeface="Arial" panose="020B0604020202020204" pitchFamily="34" charset="0"/>
              <a:buChar char="•"/>
            </a:pPr>
            <a:r>
              <a:rPr lang="es-ES" dirty="0"/>
              <a:t>¿Qué es Work IQ?</a:t>
            </a:r>
          </a:p>
          <a:p>
            <a:pPr marL="457200" indent="-457200">
              <a:buFont typeface="Arial" panose="020B0604020202020204" pitchFamily="34" charset="0"/>
              <a:buChar char="•"/>
            </a:pPr>
            <a:r>
              <a:rPr lang="es-ES" dirty="0"/>
              <a:t>Work IQ en Microsoft 365 </a:t>
            </a:r>
            <a:r>
              <a:rPr lang="es-ES" dirty="0" err="1"/>
              <a:t>Copilot</a:t>
            </a:r>
            <a:endParaRPr lang="es-ES" dirty="0"/>
          </a:p>
          <a:p>
            <a:pPr marL="457200" indent="-457200">
              <a:buFont typeface="Arial" panose="020B0604020202020204" pitchFamily="34" charset="0"/>
              <a:buChar char="•"/>
            </a:pPr>
            <a:r>
              <a:rPr lang="es-ES" dirty="0"/>
              <a:t>Work IQ en Agentes de </a:t>
            </a:r>
            <a:r>
              <a:rPr lang="es-ES" dirty="0" err="1"/>
              <a:t>Copilot</a:t>
            </a:r>
            <a:r>
              <a:rPr lang="es-ES" dirty="0"/>
              <a:t> Studio</a:t>
            </a:r>
          </a:p>
          <a:p>
            <a:pPr marL="457200" indent="-457200">
              <a:buFont typeface="Arial" panose="020B0604020202020204" pitchFamily="34" charset="0"/>
              <a:buChar char="•"/>
            </a:pPr>
            <a:r>
              <a:rPr lang="es-ES" dirty="0"/>
              <a:t>Conclusiones y Referencias</a:t>
            </a:r>
            <a:endParaRPr lang="en-US" dirty="0"/>
          </a:p>
        </p:txBody>
      </p:sp>
      <p:sp>
        <p:nvSpPr>
          <p:cNvPr id="6" name="Title 5">
            <a:extLst>
              <a:ext uri="{FF2B5EF4-FFF2-40B4-BE49-F238E27FC236}">
                <a16:creationId xmlns:a16="http://schemas.microsoft.com/office/drawing/2014/main" id="{5CF9FD54-9DE3-D539-C7D1-AE534C93741D}"/>
              </a:ext>
            </a:extLst>
          </p:cNvPr>
          <p:cNvSpPr>
            <a:spLocks noGrp="1"/>
          </p:cNvSpPr>
          <p:nvPr>
            <p:ph type="title"/>
          </p:nvPr>
        </p:nvSpPr>
        <p:spPr/>
        <p:txBody>
          <a:bodyPr/>
          <a:lstStyle/>
          <a:p>
            <a:r>
              <a:rPr lang="es-ES" dirty="0"/>
              <a:t>Agenda</a:t>
            </a:r>
            <a:endParaRPr lang="en-US" dirty="0"/>
          </a:p>
        </p:txBody>
      </p:sp>
      <p:pic>
        <p:nvPicPr>
          <p:cNvPr id="2" name="Picture Placeholder 3" descr="A person smiling for a picture  AI-generated content may be incorrect.">
            <a:extLst>
              <a:ext uri="{FF2B5EF4-FFF2-40B4-BE49-F238E27FC236}">
                <a16:creationId xmlns:a16="http://schemas.microsoft.com/office/drawing/2014/main" id="{ABDCB745-779E-34B1-3C8B-D5A5F7850E15}"/>
              </a:ext>
            </a:extLst>
          </p:cNvPr>
          <p:cNvPicPr>
            <a:picLocks noChangeAspect="1"/>
          </p:cNvPicPr>
          <p:nvPr/>
        </p:nvPicPr>
        <p:blipFill>
          <a:blip r:embed="rId2"/>
          <a:srcRect l="1123" r="1123"/>
          <a:stretch>
            <a:fillRect/>
          </a:stretch>
        </p:blipFill>
        <p:spPr>
          <a:xfrm>
            <a:off x="11370252" y="103914"/>
            <a:ext cx="640080" cy="636080"/>
          </a:xfrm>
          <a:prstGeom prst="ellipse">
            <a:avLst/>
          </a:prstGeom>
          <a:ln>
            <a:noFill/>
          </a:ln>
          <a:effectLst>
            <a:softEdge rad="112500"/>
          </a:effectLst>
        </p:spPr>
      </p:pic>
      <p:pic>
        <p:nvPicPr>
          <p:cNvPr id="3" name="Picture Placeholder 3">
            <a:extLst>
              <a:ext uri="{FF2B5EF4-FFF2-40B4-BE49-F238E27FC236}">
                <a16:creationId xmlns:a16="http://schemas.microsoft.com/office/drawing/2014/main" id="{C8E78F98-1E09-DC1C-D6F1-4AA8F2E9A0F0}"/>
              </a:ext>
            </a:extLst>
          </p:cNvPr>
          <p:cNvPicPr>
            <a:picLocks noChangeAspect="1"/>
          </p:cNvPicPr>
          <p:nvPr/>
        </p:nvPicPr>
        <p:blipFill>
          <a:blip r:embed="rId3"/>
          <a:srcRect t="312" b="312"/>
          <a:stretch/>
        </p:blipFill>
        <p:spPr>
          <a:xfrm>
            <a:off x="10709031" y="103914"/>
            <a:ext cx="644108" cy="640080"/>
          </a:xfrm>
          <a:prstGeom prst="ellipse">
            <a:avLst/>
          </a:prstGeom>
          <a:ln>
            <a:noFill/>
          </a:ln>
          <a:effectLst>
            <a:softEdge rad="112500"/>
          </a:effectLst>
        </p:spPr>
      </p:pic>
    </p:spTree>
    <p:extLst>
      <p:ext uri="{BB962C8B-B14F-4D97-AF65-F5344CB8AC3E}">
        <p14:creationId xmlns:p14="http://schemas.microsoft.com/office/powerpoint/2010/main" val="302544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28B10F-DF8F-47E6-8767-425EC7D3B9BE}"/>
              </a:ext>
            </a:extLst>
          </p:cNvPr>
          <p:cNvSpPr>
            <a:spLocks noGrp="1"/>
          </p:cNvSpPr>
          <p:nvPr>
            <p:ph type="title"/>
          </p:nvPr>
        </p:nvSpPr>
        <p:spPr>
          <a:xfrm>
            <a:off x="978951" y="2927227"/>
            <a:ext cx="10240453" cy="997196"/>
          </a:xfrm>
        </p:spPr>
        <p:txBody>
          <a:bodyPr/>
          <a:lstStyle/>
          <a:p>
            <a:pPr algn="ctr"/>
            <a:r>
              <a:rPr lang="en-US" sz="4800" b="1" dirty="0"/>
              <a:t>¿</a:t>
            </a:r>
            <a:r>
              <a:rPr lang="en-US" sz="4800" b="1" dirty="0" err="1"/>
              <a:t>Qué</a:t>
            </a:r>
            <a:r>
              <a:rPr lang="en-US" sz="4800" b="1" dirty="0"/>
              <a:t> es Work IQ?</a:t>
            </a:r>
          </a:p>
        </p:txBody>
      </p:sp>
      <p:sp>
        <p:nvSpPr>
          <p:cNvPr id="2" name="Text Placeholder 1">
            <a:extLst>
              <a:ext uri="{FF2B5EF4-FFF2-40B4-BE49-F238E27FC236}">
                <a16:creationId xmlns:a16="http://schemas.microsoft.com/office/drawing/2014/main" id="{8BC2BC79-3B77-4024-88FF-C50D61276D13}"/>
              </a:ext>
            </a:extLst>
          </p:cNvPr>
          <p:cNvSpPr>
            <a:spLocks noGrp="1"/>
          </p:cNvSpPr>
          <p:nvPr>
            <p:ph type="body" sz="quarter" idx="12"/>
          </p:nvPr>
        </p:nvSpPr>
        <p:spPr/>
        <p:txBody>
          <a:bodyPr/>
          <a:lstStyle/>
          <a:p>
            <a:endParaRPr lang="en-US" sz="1800" dirty="0"/>
          </a:p>
          <a:p>
            <a:endParaRPr lang="en-US" sz="1800" dirty="0"/>
          </a:p>
        </p:txBody>
      </p:sp>
    </p:spTree>
    <p:extLst>
      <p:ext uri="{BB962C8B-B14F-4D97-AF65-F5344CB8AC3E}">
        <p14:creationId xmlns:p14="http://schemas.microsoft.com/office/powerpoint/2010/main" val="2787353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ADF5D-2512-F8BC-2F9C-1CF0D809A2E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D05F0FC-7590-1392-B905-7BE8AFBE4C08}"/>
              </a:ext>
              <a:ext uri="{C183D7F6-B498-43B3-948B-1728B52AA6E4}">
                <adec:decorative xmlns:adec="http://schemas.microsoft.com/office/drawing/2017/decorative" val="1"/>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5751049" y="756117"/>
            <a:ext cx="6020109" cy="5092962"/>
          </a:xfrm>
          <a:prstGeom prst="rect">
            <a:avLst/>
          </a:prstGeom>
        </p:spPr>
      </p:pic>
      <p:pic>
        <p:nvPicPr>
          <p:cNvPr id="5" name="!!SecurityRing">
            <a:extLst>
              <a:ext uri="{FF2B5EF4-FFF2-40B4-BE49-F238E27FC236}">
                <a16:creationId xmlns:a16="http://schemas.microsoft.com/office/drawing/2014/main" id="{274E7A6B-AC81-194E-2D35-44DC49E5C3B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857976" y="384060"/>
            <a:ext cx="5806800" cy="5806800"/>
          </a:xfrm>
          <a:prstGeom prst="rect">
            <a:avLst/>
          </a:prstGeom>
        </p:spPr>
      </p:pic>
      <p:pic>
        <p:nvPicPr>
          <p:cNvPr id="8" name="!!SecurityLock">
            <a:extLst>
              <a:ext uri="{FF2B5EF4-FFF2-40B4-BE49-F238E27FC236}">
                <a16:creationId xmlns:a16="http://schemas.microsoft.com/office/drawing/2014/main" id="{928A16E8-5DDD-D473-64EA-31FC31E495A4}"/>
              </a:ext>
              <a:ext uri="{C183D7F6-B498-43B3-948B-1728B52AA6E4}">
                <adec:decorative xmlns:adec="http://schemas.microsoft.com/office/drawing/2017/decorative" val="1"/>
              </a:ext>
            </a:extLst>
          </p:cNvPr>
          <p:cNvPicPr>
            <a:picLocks noChangeAspect="1"/>
          </p:cNvPicPr>
          <p:nvPr/>
        </p:nvPicPr>
        <p:blipFill>
          <a:blip r:embed="rId5">
            <a:duotone>
              <a:prstClr val="black"/>
              <a:schemeClr val="accent4">
                <a:tint val="45000"/>
                <a:satMod val="400000"/>
              </a:schemeClr>
            </a:duotone>
          </a:blip>
          <a:stretch>
            <a:fillRect/>
          </a:stretch>
        </p:blipFill>
        <p:spPr>
          <a:xfrm>
            <a:off x="8517286" y="5819506"/>
            <a:ext cx="503910" cy="600493"/>
          </a:xfrm>
          <a:prstGeom prst="rect">
            <a:avLst/>
          </a:prstGeom>
        </p:spPr>
      </p:pic>
      <p:pic>
        <p:nvPicPr>
          <p:cNvPr id="9" name="!!Endpoints-Mid">
            <a:extLst>
              <a:ext uri="{FF2B5EF4-FFF2-40B4-BE49-F238E27FC236}">
                <a16:creationId xmlns:a16="http://schemas.microsoft.com/office/drawing/2014/main" id="{E3389C2C-5B02-819A-381B-48DF463C868A}"/>
              </a:ext>
              <a:ext uri="{C183D7F6-B498-43B3-948B-1728B52AA6E4}">
                <adec:decorative xmlns:adec="http://schemas.microsoft.com/office/drawing/2017/decorative" val="1"/>
              </a:ext>
            </a:extLst>
          </p:cNvPr>
          <p:cNvPicPr>
            <a:picLocks noChangeAspect="1"/>
          </p:cNvPicPr>
          <p:nvPr/>
        </p:nvPicPr>
        <p:blipFill>
          <a:blip r:embed="rId6">
            <a:lum bright="70000" contrast="-70000"/>
          </a:blip>
          <a:stretch>
            <a:fillRect/>
          </a:stretch>
        </p:blipFill>
        <p:spPr>
          <a:xfrm>
            <a:off x="5403956" y="269519"/>
            <a:ext cx="5812713" cy="5812712"/>
          </a:xfrm>
          <a:prstGeom prst="rect">
            <a:avLst/>
          </a:prstGeom>
        </p:spPr>
      </p:pic>
      <p:pic>
        <p:nvPicPr>
          <p:cNvPr id="10" name="!!MemoryMovingGlow">
            <a:extLst>
              <a:ext uri="{FF2B5EF4-FFF2-40B4-BE49-F238E27FC236}">
                <a16:creationId xmlns:a16="http://schemas.microsoft.com/office/drawing/2014/main" id="{D0DA083B-905A-7633-F962-CCC7622C075F}"/>
              </a:ext>
              <a:ext uri="{C183D7F6-B498-43B3-948B-1728B52AA6E4}">
                <adec:decorative xmlns:adec="http://schemas.microsoft.com/office/drawing/2017/decorative" val="1"/>
              </a:ext>
            </a:extLst>
          </p:cNvPr>
          <p:cNvPicPr>
            <a:picLocks noChangeAspect="1"/>
          </p:cNvPicPr>
          <p:nvPr/>
        </p:nvPicPr>
        <p:blipFill>
          <a:blip r:embed="rId7">
            <a:alphaModFix/>
          </a:blip>
          <a:stretch>
            <a:fillRect/>
          </a:stretch>
        </p:blipFill>
        <p:spPr>
          <a:xfrm>
            <a:off x="7804961" y="2392867"/>
            <a:ext cx="395505" cy="357399"/>
          </a:xfrm>
          <a:prstGeom prst="rect">
            <a:avLst/>
          </a:prstGeom>
        </p:spPr>
      </p:pic>
      <p:pic>
        <p:nvPicPr>
          <p:cNvPr id="11" name="!!InferenceMovingGlow">
            <a:extLst>
              <a:ext uri="{FF2B5EF4-FFF2-40B4-BE49-F238E27FC236}">
                <a16:creationId xmlns:a16="http://schemas.microsoft.com/office/drawing/2014/main" id="{4B1213B0-34AE-DC70-98BC-A594AA0EED5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038510" y="3912308"/>
            <a:ext cx="323912" cy="279859"/>
          </a:xfrm>
          <a:prstGeom prst="rect">
            <a:avLst/>
          </a:prstGeom>
        </p:spPr>
      </p:pic>
      <p:pic>
        <p:nvPicPr>
          <p:cNvPr id="12" name="!!DataMovingGlow">
            <a:extLst>
              <a:ext uri="{FF2B5EF4-FFF2-40B4-BE49-F238E27FC236}">
                <a16:creationId xmlns:a16="http://schemas.microsoft.com/office/drawing/2014/main" id="{84E120BA-6F84-3FAD-4D97-803CB14FFE07}"/>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31049" y="3203047"/>
            <a:ext cx="409040" cy="385200"/>
          </a:xfrm>
          <a:prstGeom prst="rect">
            <a:avLst/>
          </a:prstGeom>
        </p:spPr>
      </p:pic>
      <p:pic>
        <p:nvPicPr>
          <p:cNvPr id="13" name="!!Apps-Top">
            <a:extLst>
              <a:ext uri="{FF2B5EF4-FFF2-40B4-BE49-F238E27FC236}">
                <a16:creationId xmlns:a16="http://schemas.microsoft.com/office/drawing/2014/main" id="{4041A5CF-8DCB-A47E-8B97-5D4E2E26E0F8}"/>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7143801" y="2592658"/>
            <a:ext cx="3078259" cy="1728800"/>
          </a:xfrm>
          <a:prstGeom prst="rect">
            <a:avLst/>
          </a:prstGeom>
        </p:spPr>
      </p:pic>
      <p:sp>
        <p:nvSpPr>
          <p:cNvPr id="14" name="Gradient">
            <a:extLst>
              <a:ext uri="{FF2B5EF4-FFF2-40B4-BE49-F238E27FC236}">
                <a16:creationId xmlns:a16="http://schemas.microsoft.com/office/drawing/2014/main" id="{557F736B-03EF-A3D3-7C61-DB37D66C86A0}"/>
              </a:ext>
              <a:ext uri="{C183D7F6-B498-43B3-948B-1728B52AA6E4}">
                <adec:decorative xmlns:adec="http://schemas.microsoft.com/office/drawing/2017/decorative" val="1"/>
              </a:ext>
            </a:extLst>
          </p:cNvPr>
          <p:cNvSpPr/>
          <p:nvPr/>
        </p:nvSpPr>
        <p:spPr bwMode="auto">
          <a:xfrm>
            <a:off x="8631709" y="2066571"/>
            <a:ext cx="1551334" cy="1445014"/>
          </a:xfrm>
          <a:prstGeom prst="ellipse">
            <a:avLst/>
          </a:prstGeom>
          <a:gradFill flip="none" rotWithShape="1">
            <a:gsLst>
              <a:gs pos="63000">
                <a:srgbClr val="1994E8"/>
              </a:gs>
              <a:gs pos="39000">
                <a:srgbClr val="FD79CD">
                  <a:alpha val="80000"/>
                </a:srgbClr>
              </a:gs>
              <a:gs pos="13000">
                <a:srgbClr val="D7C31A"/>
              </a:gs>
              <a:gs pos="88000">
                <a:srgbClr val="68B762"/>
              </a:gs>
            </a:gsLst>
            <a:path path="circle">
              <a:fillToRect l="100000" t="100000"/>
            </a:path>
            <a:tileRect r="-100000" b="-100000"/>
          </a:gradFill>
          <a:ln>
            <a:noFill/>
            <a:headEnd type="none" w="med" len="med"/>
            <a:tailEnd type="none" w="med" len="med"/>
          </a:ln>
          <a:effectLst>
            <a:softEdge rad="4318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5" name="!!person">
            <a:extLst>
              <a:ext uri="{FF2B5EF4-FFF2-40B4-BE49-F238E27FC236}">
                <a16:creationId xmlns:a16="http://schemas.microsoft.com/office/drawing/2014/main" id="{50753147-66E1-05A1-0143-F6B22F859804}"/>
              </a:ext>
              <a:ext uri="{C183D7F6-B498-43B3-948B-1728B52AA6E4}">
                <adec:decorative xmlns:adec="http://schemas.microsoft.com/office/drawing/2017/decorative" val="1"/>
              </a:ext>
            </a:extLst>
          </p:cNvPr>
          <p:cNvPicPr>
            <a:picLocks noChangeAspect="1"/>
          </p:cNvPicPr>
          <p:nvPr/>
        </p:nvPicPr>
        <p:blipFill>
          <a:blip r:embed="rId11"/>
          <a:srcRect l="25705" t="25705" r="25705" b="25705"/>
          <a:stretch>
            <a:fillRect/>
          </a:stretch>
        </p:blipFill>
        <p:spPr>
          <a:xfrm>
            <a:off x="8117138" y="2622006"/>
            <a:ext cx="1314690" cy="1314688"/>
          </a:xfrm>
          <a:prstGeom prst="ellipse">
            <a:avLst/>
          </a:prstGeom>
          <a:noFill/>
          <a:ln w="25400" cap="flat">
            <a:noFill/>
            <a:prstDash val="solid"/>
            <a:miter/>
          </a:ln>
          <a:effectLst>
            <a:outerShdw blurRad="127000" algn="ctr" rotWithShape="0">
              <a:srgbClr val="454142">
                <a:alpha val="30000"/>
              </a:srgbClr>
            </a:outerShdw>
          </a:effectLst>
        </p:spPr>
      </p:pic>
      <p:pic>
        <p:nvPicPr>
          <p:cNvPr id="16" name="Work IQ Copilot">
            <a:extLst>
              <a:ext uri="{FF2B5EF4-FFF2-40B4-BE49-F238E27FC236}">
                <a16:creationId xmlns:a16="http://schemas.microsoft.com/office/drawing/2014/main" id="{AADAEF66-C5C4-EC33-C31B-9CAEBFD7BC97}"/>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9016233" y="2448012"/>
            <a:ext cx="822638" cy="1024691"/>
          </a:xfrm>
          <a:prstGeom prst="rect">
            <a:avLst/>
          </a:prstGeom>
        </p:spPr>
      </p:pic>
      <p:cxnSp>
        <p:nvCxnSpPr>
          <p:cNvPr id="17" name="Straight Arrow Connector 16">
            <a:extLst>
              <a:ext uri="{FF2B5EF4-FFF2-40B4-BE49-F238E27FC236}">
                <a16:creationId xmlns:a16="http://schemas.microsoft.com/office/drawing/2014/main" id="{5B7CF237-5029-8BDA-0303-735E76F105A4}"/>
              </a:ext>
              <a:ext uri="{C183D7F6-B498-43B3-948B-1728B52AA6E4}">
                <adec:decorative xmlns:adec="http://schemas.microsoft.com/office/drawing/2017/decorative" val="1"/>
              </a:ext>
            </a:extLst>
          </p:cNvPr>
          <p:cNvCxnSpPr>
            <a:cxnSpLocks/>
          </p:cNvCxnSpPr>
          <p:nvPr/>
        </p:nvCxnSpPr>
        <p:spPr>
          <a:xfrm flipH="1">
            <a:off x="7333085" y="5065957"/>
            <a:ext cx="270344" cy="421419"/>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2069693-BA74-67B5-55D3-CAAE33838BF4}"/>
              </a:ext>
              <a:ext uri="{C183D7F6-B498-43B3-948B-1728B52AA6E4}">
                <adec:decorative xmlns:adec="http://schemas.microsoft.com/office/drawing/2017/decorative" val="1"/>
              </a:ext>
            </a:extLst>
          </p:cNvPr>
          <p:cNvCxnSpPr>
            <a:cxnSpLocks/>
          </p:cNvCxnSpPr>
          <p:nvPr/>
        </p:nvCxnSpPr>
        <p:spPr>
          <a:xfrm flipH="1">
            <a:off x="6466392" y="4159509"/>
            <a:ext cx="373712" cy="190831"/>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7DA94DA-D4F6-72B7-666B-5F9AAD73A794}"/>
              </a:ext>
              <a:ext uri="{C183D7F6-B498-43B3-948B-1728B52AA6E4}">
                <adec:decorative xmlns:adec="http://schemas.microsoft.com/office/drawing/2017/decorative" val="1"/>
              </a:ext>
            </a:extLst>
          </p:cNvPr>
          <p:cNvCxnSpPr>
            <a:cxnSpLocks/>
          </p:cNvCxnSpPr>
          <p:nvPr/>
        </p:nvCxnSpPr>
        <p:spPr>
          <a:xfrm flipH="1" flipV="1">
            <a:off x="6203999" y="2911154"/>
            <a:ext cx="492981" cy="63610"/>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4E67E3A-BC52-4D06-58B4-CA8332E1D6EC}"/>
              </a:ext>
              <a:ext uri="{C183D7F6-B498-43B3-948B-1728B52AA6E4}">
                <adec:decorative xmlns:adec="http://schemas.microsoft.com/office/drawing/2017/decorative" val="1"/>
              </a:ext>
            </a:extLst>
          </p:cNvPr>
          <p:cNvCxnSpPr>
            <a:cxnSpLocks/>
          </p:cNvCxnSpPr>
          <p:nvPr/>
        </p:nvCxnSpPr>
        <p:spPr>
          <a:xfrm flipH="1" flipV="1">
            <a:off x="6800347" y="1591237"/>
            <a:ext cx="389614" cy="341906"/>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1FA9B23-1456-9A85-18C5-D7D5DDC24B77}"/>
              </a:ext>
              <a:ext uri="{C183D7F6-B498-43B3-948B-1728B52AA6E4}">
                <adec:decorative xmlns:adec="http://schemas.microsoft.com/office/drawing/2017/decorative" val="1"/>
              </a:ext>
            </a:extLst>
          </p:cNvPr>
          <p:cNvCxnSpPr>
            <a:cxnSpLocks/>
          </p:cNvCxnSpPr>
          <p:nvPr/>
        </p:nvCxnSpPr>
        <p:spPr>
          <a:xfrm flipH="1" flipV="1">
            <a:off x="8032799" y="764302"/>
            <a:ext cx="135172" cy="516834"/>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580E70D-BD98-9647-1507-A7ED6CDA89DE}"/>
              </a:ext>
              <a:ext uri="{C183D7F6-B498-43B3-948B-1728B52AA6E4}">
                <adec:decorative xmlns:adec="http://schemas.microsoft.com/office/drawing/2017/decorative" val="1"/>
              </a:ext>
            </a:extLst>
          </p:cNvPr>
          <p:cNvCxnSpPr>
            <a:cxnSpLocks/>
          </p:cNvCxnSpPr>
          <p:nvPr/>
        </p:nvCxnSpPr>
        <p:spPr>
          <a:xfrm flipV="1">
            <a:off x="9328862" y="732496"/>
            <a:ext cx="166977" cy="564543"/>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3AE7F0D-DBEC-A4F1-8766-4A90B0FD1116}"/>
              </a:ext>
              <a:ext uri="{C183D7F6-B498-43B3-948B-1728B52AA6E4}">
                <adec:decorative xmlns:adec="http://schemas.microsoft.com/office/drawing/2017/decorative" val="1"/>
              </a:ext>
            </a:extLst>
          </p:cNvPr>
          <p:cNvCxnSpPr>
            <a:cxnSpLocks/>
          </p:cNvCxnSpPr>
          <p:nvPr/>
        </p:nvCxnSpPr>
        <p:spPr>
          <a:xfrm>
            <a:off x="9909307" y="5073909"/>
            <a:ext cx="230588" cy="333954"/>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F54CE72-190E-7BE5-691C-0BC7F8833C79}"/>
              </a:ext>
              <a:ext uri="{C183D7F6-B498-43B3-948B-1728B52AA6E4}">
                <adec:decorative xmlns:adec="http://schemas.microsoft.com/office/drawing/2017/decorative" val="1"/>
              </a:ext>
            </a:extLst>
          </p:cNvPr>
          <p:cNvCxnSpPr>
            <a:cxnSpLocks/>
          </p:cNvCxnSpPr>
          <p:nvPr/>
        </p:nvCxnSpPr>
        <p:spPr>
          <a:xfrm>
            <a:off x="10664681" y="4159509"/>
            <a:ext cx="437322" cy="190831"/>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113C44D-D2FC-2EBD-E399-E40D659D7C72}"/>
              </a:ext>
              <a:ext uri="{C183D7F6-B498-43B3-948B-1728B52AA6E4}">
                <adec:decorative xmlns:adec="http://schemas.microsoft.com/office/drawing/2017/decorative" val="1"/>
              </a:ext>
            </a:extLst>
          </p:cNvPr>
          <p:cNvCxnSpPr>
            <a:cxnSpLocks/>
          </p:cNvCxnSpPr>
          <p:nvPr/>
        </p:nvCxnSpPr>
        <p:spPr>
          <a:xfrm flipV="1">
            <a:off x="10847561" y="2935008"/>
            <a:ext cx="437322" cy="63610"/>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74A3BD0-5235-3C2A-7EDD-C053075FEBA8}"/>
              </a:ext>
              <a:ext uri="{C183D7F6-B498-43B3-948B-1728B52AA6E4}">
                <adec:decorative xmlns:adec="http://schemas.microsoft.com/office/drawing/2017/decorative" val="1"/>
              </a:ext>
            </a:extLst>
          </p:cNvPr>
          <p:cNvCxnSpPr>
            <a:cxnSpLocks/>
          </p:cNvCxnSpPr>
          <p:nvPr/>
        </p:nvCxnSpPr>
        <p:spPr>
          <a:xfrm flipV="1">
            <a:off x="10362531" y="1591237"/>
            <a:ext cx="357809" cy="294199"/>
          </a:xfrm>
          <a:prstGeom prst="straightConnector1">
            <a:avLst/>
          </a:prstGeom>
          <a:ln w="12700" cap="rnd">
            <a:solidFill>
              <a:srgbClr val="AFDCFF"/>
            </a:solidFill>
            <a:prstDash val="sysDot"/>
            <a:headEnd type="arrow" w="med" len="sm"/>
            <a:tailEnd type="arrow" w="med" len="sm"/>
          </a:ln>
        </p:spPr>
        <p:style>
          <a:lnRef idx="2">
            <a:schemeClr val="accent1"/>
          </a:lnRef>
          <a:fillRef idx="0">
            <a:schemeClr val="accent1"/>
          </a:fillRef>
          <a:effectRef idx="1">
            <a:schemeClr val="accent1"/>
          </a:effectRef>
          <a:fontRef idx="minor">
            <a:schemeClr val="tx1"/>
          </a:fontRef>
        </p:style>
      </p:cxnSp>
      <p:pic>
        <p:nvPicPr>
          <p:cNvPr id="27" name="Sharepoint">
            <a:extLst>
              <a:ext uri="{FF2B5EF4-FFF2-40B4-BE49-F238E27FC236}">
                <a16:creationId xmlns:a16="http://schemas.microsoft.com/office/drawing/2014/main" id="{66E04431-EC97-E86C-F470-5A867ED48D18}"/>
              </a:ext>
              <a:ext uri="{C183D7F6-B498-43B3-948B-1728B52AA6E4}">
                <adec:decorative xmlns:adec="http://schemas.microsoft.com/office/drawing/2017/decorative" val="1"/>
              </a:ext>
            </a:extLst>
          </p:cNvPr>
          <p:cNvPicPr>
            <a:picLocks noChangeAspect="1"/>
          </p:cNvPicPr>
          <p:nvPr/>
        </p:nvPicPr>
        <p:blipFill>
          <a:blip r:embed="rId13"/>
          <a:srcRect l="5854" t="64200" r="80133" b="21068"/>
          <a:stretch>
            <a:fillRect/>
          </a:stretch>
        </p:blipFill>
        <p:spPr>
          <a:xfrm>
            <a:off x="6714364" y="5216074"/>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28" name="OneDrive">
            <a:extLst>
              <a:ext uri="{FF2B5EF4-FFF2-40B4-BE49-F238E27FC236}">
                <a16:creationId xmlns:a16="http://schemas.microsoft.com/office/drawing/2014/main" id="{12A8DC47-A818-801C-D9CB-5AF51C57D92F}"/>
              </a:ext>
              <a:ext uri="{C183D7F6-B498-43B3-948B-1728B52AA6E4}">
                <adec:decorative xmlns:adec="http://schemas.microsoft.com/office/drawing/2017/decorative" val="1"/>
              </a:ext>
            </a:extLst>
          </p:cNvPr>
          <p:cNvPicPr>
            <a:picLocks noChangeAspect="1"/>
          </p:cNvPicPr>
          <p:nvPr/>
        </p:nvPicPr>
        <p:blipFill>
          <a:blip r:embed="rId13"/>
          <a:srcRect t="44197" r="86079" b="41071"/>
          <a:stretch>
            <a:fillRect/>
          </a:stretch>
        </p:blipFill>
        <p:spPr>
          <a:xfrm>
            <a:off x="5654039" y="3975437"/>
            <a:ext cx="951634" cy="954044"/>
          </a:xfrm>
          <a:custGeom>
            <a:avLst/>
            <a:gdLst>
              <a:gd name="csX0" fmla="*/ 0 w 951634"/>
              <a:gd name="csY0" fmla="*/ 0 h 954044"/>
              <a:gd name="csX1" fmla="*/ 951634 w 951634"/>
              <a:gd name="csY1" fmla="*/ 0 h 954044"/>
              <a:gd name="csX2" fmla="*/ 951634 w 951634"/>
              <a:gd name="csY2" fmla="*/ 954044 h 954044"/>
              <a:gd name="csX3" fmla="*/ 0 w 951634"/>
              <a:gd name="csY3" fmla="*/ 954044 h 954044"/>
              <a:gd name="csX4" fmla="*/ 0 w 951634"/>
              <a:gd name="csY4" fmla="*/ 0 h 954044"/>
            </a:gdLst>
            <a:ahLst/>
            <a:cxnLst>
              <a:cxn ang="0">
                <a:pos x="csX0" y="csY0"/>
              </a:cxn>
              <a:cxn ang="0">
                <a:pos x="csX1" y="csY1"/>
              </a:cxn>
              <a:cxn ang="0">
                <a:pos x="csX2" y="csY2"/>
              </a:cxn>
              <a:cxn ang="0">
                <a:pos x="csX3" y="csY3"/>
              </a:cxn>
              <a:cxn ang="0">
                <a:pos x="csX4" y="csY4"/>
              </a:cxn>
            </a:cxnLst>
            <a:rect l="l" t="t" r="r" b="b"/>
            <a:pathLst>
              <a:path w="951634" h="954044">
                <a:moveTo>
                  <a:pt x="0" y="0"/>
                </a:moveTo>
                <a:lnTo>
                  <a:pt x="951634" y="0"/>
                </a:lnTo>
                <a:lnTo>
                  <a:pt x="951634" y="954044"/>
                </a:lnTo>
                <a:lnTo>
                  <a:pt x="0" y="954044"/>
                </a:lnTo>
                <a:lnTo>
                  <a:pt x="0" y="0"/>
                </a:lnTo>
                <a:close/>
              </a:path>
            </a:pathLst>
          </a:custGeom>
        </p:spPr>
      </p:pic>
      <p:pic>
        <p:nvPicPr>
          <p:cNvPr id="29" name="Teams">
            <a:extLst>
              <a:ext uri="{FF2B5EF4-FFF2-40B4-BE49-F238E27FC236}">
                <a16:creationId xmlns:a16="http://schemas.microsoft.com/office/drawing/2014/main" id="{40B14088-534A-E526-6C8F-4D89AD078E47}"/>
              </a:ext>
              <a:ext uri="{C183D7F6-B498-43B3-948B-1728B52AA6E4}">
                <adec:decorative xmlns:adec="http://schemas.microsoft.com/office/drawing/2017/decorative" val="1"/>
              </a:ext>
            </a:extLst>
          </p:cNvPr>
          <p:cNvPicPr>
            <a:picLocks noChangeAspect="1"/>
          </p:cNvPicPr>
          <p:nvPr/>
        </p:nvPicPr>
        <p:blipFill>
          <a:blip r:embed="rId13"/>
          <a:srcRect l="5668" t="22232" r="80319" b="63035"/>
          <a:stretch>
            <a:fillRect/>
          </a:stretch>
        </p:blipFill>
        <p:spPr>
          <a:xfrm>
            <a:off x="5364965" y="2333034"/>
            <a:ext cx="957864" cy="954044"/>
          </a:xfrm>
          <a:custGeom>
            <a:avLst/>
            <a:gdLst>
              <a:gd name="csX0" fmla="*/ 0 w 957864"/>
              <a:gd name="csY0" fmla="*/ 0 h 954044"/>
              <a:gd name="csX1" fmla="*/ 957864 w 957864"/>
              <a:gd name="csY1" fmla="*/ 0 h 954044"/>
              <a:gd name="csX2" fmla="*/ 957864 w 957864"/>
              <a:gd name="csY2" fmla="*/ 954044 h 954044"/>
              <a:gd name="csX3" fmla="*/ 0 w 957864"/>
              <a:gd name="csY3" fmla="*/ 954044 h 954044"/>
              <a:gd name="csX4" fmla="*/ 0 w 957864"/>
              <a:gd name="csY4" fmla="*/ 0 h 954044"/>
            </a:gdLst>
            <a:ahLst/>
            <a:cxnLst>
              <a:cxn ang="0">
                <a:pos x="csX0" y="csY0"/>
              </a:cxn>
              <a:cxn ang="0">
                <a:pos x="csX1" y="csY1"/>
              </a:cxn>
              <a:cxn ang="0">
                <a:pos x="csX2" y="csY2"/>
              </a:cxn>
              <a:cxn ang="0">
                <a:pos x="csX3" y="csY3"/>
              </a:cxn>
              <a:cxn ang="0">
                <a:pos x="csX4" y="csY4"/>
              </a:cxn>
            </a:cxnLst>
            <a:rect l="l" t="t" r="r" b="b"/>
            <a:pathLst>
              <a:path w="957864" h="954044">
                <a:moveTo>
                  <a:pt x="0" y="0"/>
                </a:moveTo>
                <a:lnTo>
                  <a:pt x="957864" y="0"/>
                </a:lnTo>
                <a:lnTo>
                  <a:pt x="957864" y="954044"/>
                </a:lnTo>
                <a:lnTo>
                  <a:pt x="0" y="954044"/>
                </a:lnTo>
                <a:lnTo>
                  <a:pt x="0" y="0"/>
                </a:lnTo>
                <a:close/>
              </a:path>
            </a:pathLst>
          </a:custGeom>
        </p:spPr>
      </p:pic>
      <p:pic>
        <p:nvPicPr>
          <p:cNvPr id="30" name="Outlook">
            <a:extLst>
              <a:ext uri="{FF2B5EF4-FFF2-40B4-BE49-F238E27FC236}">
                <a16:creationId xmlns:a16="http://schemas.microsoft.com/office/drawing/2014/main" id="{4DA9296D-544E-603D-B37B-B5E541743F52}"/>
              </a:ext>
              <a:ext uri="{C183D7F6-B498-43B3-948B-1728B52AA6E4}">
                <adec:decorative xmlns:adec="http://schemas.microsoft.com/office/drawing/2017/decorative" val="1"/>
              </a:ext>
            </a:extLst>
          </p:cNvPr>
          <p:cNvPicPr>
            <a:picLocks noChangeAspect="1"/>
          </p:cNvPicPr>
          <p:nvPr/>
        </p:nvPicPr>
        <p:blipFill>
          <a:blip r:embed="rId13"/>
          <a:srcRect l="20903" t="6544" r="65084" b="78724"/>
          <a:stretch>
            <a:fillRect/>
          </a:stretch>
        </p:blipFill>
        <p:spPr>
          <a:xfrm>
            <a:off x="6092948" y="899584"/>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1" name="Forms">
            <a:extLst>
              <a:ext uri="{FF2B5EF4-FFF2-40B4-BE49-F238E27FC236}">
                <a16:creationId xmlns:a16="http://schemas.microsoft.com/office/drawing/2014/main" id="{7984C9BB-5F77-EC7D-0B5C-A9EAAB7D88DD}"/>
              </a:ext>
              <a:ext uri="{C183D7F6-B498-43B3-948B-1728B52AA6E4}">
                <adec:decorative xmlns:adec="http://schemas.microsoft.com/office/drawing/2017/decorative" val="1"/>
              </a:ext>
            </a:extLst>
          </p:cNvPr>
          <p:cNvPicPr>
            <a:picLocks noChangeAspect="1"/>
          </p:cNvPicPr>
          <p:nvPr/>
        </p:nvPicPr>
        <p:blipFill>
          <a:blip r:embed="rId14"/>
          <a:srcRect t="462" b="462"/>
          <a:stretch/>
        </p:blipFill>
        <p:spPr>
          <a:xfrm>
            <a:off x="7588249" y="171660"/>
            <a:ext cx="604156" cy="601748"/>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2" name="Clipchamp">
            <a:extLst>
              <a:ext uri="{FF2B5EF4-FFF2-40B4-BE49-F238E27FC236}">
                <a16:creationId xmlns:a16="http://schemas.microsoft.com/office/drawing/2014/main" id="{DA1B4D22-4B14-4B42-720B-2F1E59C313E9}"/>
              </a:ext>
              <a:ext uri="{C183D7F6-B498-43B3-948B-1728B52AA6E4}">
                <adec:decorative xmlns:adec="http://schemas.microsoft.com/office/drawing/2017/decorative" val="1"/>
              </a:ext>
            </a:extLst>
          </p:cNvPr>
          <p:cNvPicPr>
            <a:picLocks noChangeAspect="1"/>
          </p:cNvPicPr>
          <p:nvPr/>
        </p:nvPicPr>
        <p:blipFill>
          <a:blip r:embed="rId13"/>
          <a:srcRect l="65121" t="6936" r="20867" b="78332"/>
          <a:stretch>
            <a:fillRect/>
          </a:stretch>
        </p:blipFill>
        <p:spPr>
          <a:xfrm>
            <a:off x="9109660" y="0"/>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3" name="Word">
            <a:extLst>
              <a:ext uri="{FF2B5EF4-FFF2-40B4-BE49-F238E27FC236}">
                <a16:creationId xmlns:a16="http://schemas.microsoft.com/office/drawing/2014/main" id="{05080E39-DC2B-5E96-F0FE-1B316378A145}"/>
              </a:ext>
              <a:ext uri="{C183D7F6-B498-43B3-948B-1728B52AA6E4}">
                <adec:decorative xmlns:adec="http://schemas.microsoft.com/office/drawing/2017/decorative" val="1"/>
              </a:ext>
            </a:extLst>
          </p:cNvPr>
          <p:cNvPicPr>
            <a:picLocks noChangeAspect="1"/>
          </p:cNvPicPr>
          <p:nvPr/>
        </p:nvPicPr>
        <p:blipFill>
          <a:blip r:embed="rId13"/>
          <a:srcRect l="79055" t="24390" r="6933" b="60878"/>
          <a:stretch>
            <a:fillRect/>
          </a:stretch>
        </p:blipFill>
        <p:spPr>
          <a:xfrm>
            <a:off x="10385206" y="835279"/>
            <a:ext cx="957864" cy="954044"/>
          </a:xfrm>
          <a:custGeom>
            <a:avLst/>
            <a:gdLst>
              <a:gd name="csX0" fmla="*/ 0 w 957864"/>
              <a:gd name="csY0" fmla="*/ 0 h 954044"/>
              <a:gd name="csX1" fmla="*/ 957864 w 957864"/>
              <a:gd name="csY1" fmla="*/ 0 h 954044"/>
              <a:gd name="csX2" fmla="*/ 957864 w 957864"/>
              <a:gd name="csY2" fmla="*/ 954044 h 954044"/>
              <a:gd name="csX3" fmla="*/ 0 w 957864"/>
              <a:gd name="csY3" fmla="*/ 954044 h 954044"/>
              <a:gd name="csX4" fmla="*/ 0 w 957864"/>
              <a:gd name="csY4" fmla="*/ 0 h 954044"/>
            </a:gdLst>
            <a:ahLst/>
            <a:cxnLst>
              <a:cxn ang="0">
                <a:pos x="csX0" y="csY0"/>
              </a:cxn>
              <a:cxn ang="0">
                <a:pos x="csX1" y="csY1"/>
              </a:cxn>
              <a:cxn ang="0">
                <a:pos x="csX2" y="csY2"/>
              </a:cxn>
              <a:cxn ang="0">
                <a:pos x="csX3" y="csY3"/>
              </a:cxn>
              <a:cxn ang="0">
                <a:pos x="csX4" y="csY4"/>
              </a:cxn>
            </a:cxnLst>
            <a:rect l="l" t="t" r="r" b="b"/>
            <a:pathLst>
              <a:path w="957864" h="954044">
                <a:moveTo>
                  <a:pt x="0" y="0"/>
                </a:moveTo>
                <a:lnTo>
                  <a:pt x="957864" y="0"/>
                </a:lnTo>
                <a:lnTo>
                  <a:pt x="957864" y="954044"/>
                </a:lnTo>
                <a:lnTo>
                  <a:pt x="0" y="954044"/>
                </a:lnTo>
                <a:lnTo>
                  <a:pt x="0" y="0"/>
                </a:lnTo>
                <a:close/>
              </a:path>
            </a:pathLst>
          </a:custGeom>
        </p:spPr>
      </p:pic>
      <p:pic>
        <p:nvPicPr>
          <p:cNvPr id="34" name="Excel">
            <a:extLst>
              <a:ext uri="{FF2B5EF4-FFF2-40B4-BE49-F238E27FC236}">
                <a16:creationId xmlns:a16="http://schemas.microsoft.com/office/drawing/2014/main" id="{F322F26C-4ED3-CA8B-70F5-91B05484DE10}"/>
              </a:ext>
              <a:ext uri="{C183D7F6-B498-43B3-948B-1728B52AA6E4}">
                <adec:decorative xmlns:adec="http://schemas.microsoft.com/office/drawing/2017/decorative" val="1"/>
              </a:ext>
            </a:extLst>
          </p:cNvPr>
          <p:cNvPicPr>
            <a:picLocks noChangeAspect="1"/>
          </p:cNvPicPr>
          <p:nvPr/>
        </p:nvPicPr>
        <p:blipFill>
          <a:blip r:embed="rId13"/>
          <a:srcRect l="85000" t="46942" r="987" b="38326"/>
          <a:stretch>
            <a:fillRect/>
          </a:stretch>
        </p:blipFill>
        <p:spPr>
          <a:xfrm>
            <a:off x="11149282" y="2358609"/>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5" name="PowerPoint">
            <a:extLst>
              <a:ext uri="{FF2B5EF4-FFF2-40B4-BE49-F238E27FC236}">
                <a16:creationId xmlns:a16="http://schemas.microsoft.com/office/drawing/2014/main" id="{CFC05FFF-409D-D840-A69B-143F9118C2F7}"/>
              </a:ext>
              <a:ext uri="{C183D7F6-B498-43B3-948B-1728B52AA6E4}">
                <adec:decorative xmlns:adec="http://schemas.microsoft.com/office/drawing/2017/decorative" val="1"/>
              </a:ext>
            </a:extLst>
          </p:cNvPr>
          <p:cNvPicPr>
            <a:picLocks noChangeAspect="1"/>
          </p:cNvPicPr>
          <p:nvPr/>
        </p:nvPicPr>
        <p:blipFill>
          <a:blip r:embed="rId13"/>
          <a:srcRect l="79241" t="66946" r="6747" b="18322"/>
          <a:stretch>
            <a:fillRect/>
          </a:stretch>
        </p:blipFill>
        <p:spPr>
          <a:xfrm>
            <a:off x="10897624" y="4017918"/>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6" name="OneNote">
            <a:extLst>
              <a:ext uri="{FF2B5EF4-FFF2-40B4-BE49-F238E27FC236}">
                <a16:creationId xmlns:a16="http://schemas.microsoft.com/office/drawing/2014/main" id="{EDC74721-4CAC-DDDF-893B-1012B5670282}"/>
              </a:ext>
              <a:ext uri="{C183D7F6-B498-43B3-948B-1728B52AA6E4}">
                <adec:decorative xmlns:adec="http://schemas.microsoft.com/office/drawing/2017/decorative" val="1"/>
              </a:ext>
            </a:extLst>
          </p:cNvPr>
          <p:cNvPicPr>
            <a:picLocks noChangeAspect="1"/>
          </p:cNvPicPr>
          <p:nvPr/>
        </p:nvPicPr>
        <p:blipFill>
          <a:blip r:embed="rId13"/>
          <a:srcRect l="61962" t="83615" r="24025" b="1653"/>
          <a:stretch>
            <a:fillRect/>
          </a:stretch>
        </p:blipFill>
        <p:spPr>
          <a:xfrm>
            <a:off x="9838871" y="5252856"/>
            <a:ext cx="957864" cy="954045"/>
          </a:xfrm>
          <a:custGeom>
            <a:avLst/>
            <a:gdLst>
              <a:gd name="csX0" fmla="*/ 0 w 957864"/>
              <a:gd name="csY0" fmla="*/ 0 h 954045"/>
              <a:gd name="csX1" fmla="*/ 957864 w 957864"/>
              <a:gd name="csY1" fmla="*/ 0 h 954045"/>
              <a:gd name="csX2" fmla="*/ 957864 w 957864"/>
              <a:gd name="csY2" fmla="*/ 954045 h 954045"/>
              <a:gd name="csX3" fmla="*/ 0 w 957864"/>
              <a:gd name="csY3" fmla="*/ 954045 h 954045"/>
              <a:gd name="csX4" fmla="*/ 0 w 957864"/>
              <a:gd name="csY4" fmla="*/ 0 h 954045"/>
            </a:gdLst>
            <a:ahLst/>
            <a:cxnLst>
              <a:cxn ang="0">
                <a:pos x="csX0" y="csY0"/>
              </a:cxn>
              <a:cxn ang="0">
                <a:pos x="csX1" y="csY1"/>
              </a:cxn>
              <a:cxn ang="0">
                <a:pos x="csX2" y="csY2"/>
              </a:cxn>
              <a:cxn ang="0">
                <a:pos x="csX3" y="csY3"/>
              </a:cxn>
              <a:cxn ang="0">
                <a:pos x="csX4" y="csY4"/>
              </a:cxn>
            </a:cxnLst>
            <a:rect l="l" t="t" r="r" b="b"/>
            <a:pathLst>
              <a:path w="957864" h="954045">
                <a:moveTo>
                  <a:pt x="0" y="0"/>
                </a:moveTo>
                <a:lnTo>
                  <a:pt x="957864" y="0"/>
                </a:lnTo>
                <a:lnTo>
                  <a:pt x="957864" y="954045"/>
                </a:lnTo>
                <a:lnTo>
                  <a:pt x="0" y="954045"/>
                </a:lnTo>
                <a:lnTo>
                  <a:pt x="0" y="0"/>
                </a:lnTo>
                <a:close/>
              </a:path>
            </a:pathLst>
          </a:custGeom>
        </p:spPr>
      </p:pic>
      <p:pic>
        <p:nvPicPr>
          <p:cNvPr id="37" name="Graphic 112">
            <a:extLst>
              <a:ext uri="{FF2B5EF4-FFF2-40B4-BE49-F238E27FC236}">
                <a16:creationId xmlns:a16="http://schemas.microsoft.com/office/drawing/2014/main" id="{92373A73-9558-68B8-4903-3AB92B5E7345}"/>
              </a:ext>
              <a:ext uri="{C183D7F6-B498-43B3-948B-1728B52AA6E4}">
                <adec:decorative xmlns:adec="http://schemas.microsoft.com/office/drawing/2017/decorative" val="1"/>
              </a:ext>
            </a:extLst>
          </p:cNvPr>
          <p:cNvPicPr>
            <a:picLocks noChangeAspect="1"/>
          </p:cNvPicPr>
          <p:nvPr/>
        </p:nvPicPr>
        <p:blipFill>
          <a:blip r:embed="rId15">
            <a:alphaModFix amt="18000"/>
          </a:blip>
          <a:srcRect/>
          <a:stretch/>
        </p:blipFill>
        <p:spPr>
          <a:xfrm>
            <a:off x="9264178" y="4011822"/>
            <a:ext cx="395188" cy="395188"/>
          </a:xfrm>
          <a:prstGeom prst="rect">
            <a:avLst/>
          </a:prstGeom>
        </p:spPr>
      </p:pic>
      <p:pic>
        <p:nvPicPr>
          <p:cNvPr id="38" name="Graphic 109">
            <a:extLst>
              <a:ext uri="{FF2B5EF4-FFF2-40B4-BE49-F238E27FC236}">
                <a16:creationId xmlns:a16="http://schemas.microsoft.com/office/drawing/2014/main" id="{ED71515F-FA71-A248-48A4-3386331CD111}"/>
              </a:ext>
              <a:ext uri="{C183D7F6-B498-43B3-948B-1728B52AA6E4}">
                <adec:decorative xmlns:adec="http://schemas.microsoft.com/office/drawing/2017/decorative" val="1"/>
              </a:ext>
            </a:extLst>
          </p:cNvPr>
          <p:cNvPicPr>
            <a:picLocks noChangeAspect="1"/>
          </p:cNvPicPr>
          <p:nvPr/>
        </p:nvPicPr>
        <p:blipFill>
          <a:blip r:embed="rId16">
            <a:alphaModFix amt="52000"/>
            <a:extLst>
              <a:ext uri="{BEBA8EAE-BF5A-486C-A8C5-ECC9F3942E4B}">
                <a14:imgProps xmlns:a14="http://schemas.microsoft.com/office/drawing/2010/main">
                  <a14:imgLayer r:embed="rId17">
                    <a14:imgEffect>
                      <a14:artisticBlur radius="81"/>
                    </a14:imgEffect>
                  </a14:imgLayer>
                </a14:imgProps>
              </a:ext>
            </a:extLst>
          </a:blip>
          <a:srcRect/>
          <a:stretch/>
        </p:blipFill>
        <p:spPr>
          <a:xfrm>
            <a:off x="7541239" y="1242659"/>
            <a:ext cx="657276" cy="657274"/>
          </a:xfrm>
          <a:prstGeom prst="rect">
            <a:avLst/>
          </a:prstGeom>
        </p:spPr>
      </p:pic>
      <p:pic>
        <p:nvPicPr>
          <p:cNvPr id="39" name="Graphic 124">
            <a:extLst>
              <a:ext uri="{FF2B5EF4-FFF2-40B4-BE49-F238E27FC236}">
                <a16:creationId xmlns:a16="http://schemas.microsoft.com/office/drawing/2014/main" id="{64F69DB6-AA72-3683-F68B-62632FF4AF8F}"/>
              </a:ext>
              <a:ext uri="{C183D7F6-B498-43B3-948B-1728B52AA6E4}">
                <adec:decorative xmlns:adec="http://schemas.microsoft.com/office/drawing/2017/decorative" val="1"/>
              </a:ext>
            </a:extLst>
          </p:cNvPr>
          <p:cNvPicPr>
            <a:picLocks noChangeAspect="1"/>
          </p:cNvPicPr>
          <p:nvPr/>
        </p:nvPicPr>
        <p:blipFill>
          <a:blip r:embed="rId18">
            <a:alphaModFix amt="68000"/>
            <a:extLst>
              <a:ext uri="{BEBA8EAE-BF5A-486C-A8C5-ECC9F3942E4B}">
                <a14:imgProps xmlns:a14="http://schemas.microsoft.com/office/drawing/2010/main">
                  <a14:imgLayer r:embed="rId17">
                    <a14:imgEffect>
                      <a14:artisticBlur radius="53"/>
                    </a14:imgEffect>
                  </a14:imgLayer>
                </a14:imgProps>
              </a:ext>
            </a:extLst>
          </a:blip>
          <a:srcRect/>
          <a:stretch/>
        </p:blipFill>
        <p:spPr>
          <a:xfrm>
            <a:off x="8768847" y="5132085"/>
            <a:ext cx="429854" cy="429854"/>
          </a:xfrm>
          <a:prstGeom prst="rect">
            <a:avLst/>
          </a:prstGeom>
        </p:spPr>
      </p:pic>
      <p:pic>
        <p:nvPicPr>
          <p:cNvPr id="40" name="Graphic 127">
            <a:extLst>
              <a:ext uri="{FF2B5EF4-FFF2-40B4-BE49-F238E27FC236}">
                <a16:creationId xmlns:a16="http://schemas.microsoft.com/office/drawing/2014/main" id="{D242F44D-741A-247F-9C0A-B5DE1D5DCE6A}"/>
              </a:ext>
              <a:ext uri="{C183D7F6-B498-43B3-948B-1728B52AA6E4}">
                <adec:decorative xmlns:adec="http://schemas.microsoft.com/office/drawing/2017/decorative" val="1"/>
              </a:ext>
            </a:extLst>
          </p:cNvPr>
          <p:cNvPicPr>
            <a:picLocks noChangeAspect="1"/>
          </p:cNvPicPr>
          <p:nvPr/>
        </p:nvPicPr>
        <p:blipFill>
          <a:blip r:embed="rId19">
            <a:alphaModFix amt="72000"/>
            <a:extLst>
              <a:ext uri="{BEBA8EAE-BF5A-486C-A8C5-ECC9F3942E4B}">
                <a14:imgProps xmlns:a14="http://schemas.microsoft.com/office/drawing/2010/main">
                  <a14:imgLayer r:embed="rId17">
                    <a14:imgEffect>
                      <a14:artisticBlur radius="74"/>
                    </a14:imgEffect>
                  </a14:imgLayer>
                </a14:imgProps>
              </a:ext>
            </a:extLst>
          </a:blip>
          <a:srcRect/>
          <a:stretch/>
        </p:blipFill>
        <p:spPr>
          <a:xfrm>
            <a:off x="7512365" y="4254975"/>
            <a:ext cx="304072" cy="304070"/>
          </a:xfrm>
          <a:prstGeom prst="rect">
            <a:avLst/>
          </a:prstGeom>
        </p:spPr>
      </p:pic>
      <p:pic>
        <p:nvPicPr>
          <p:cNvPr id="41" name="Graphic 112">
            <a:extLst>
              <a:ext uri="{FF2B5EF4-FFF2-40B4-BE49-F238E27FC236}">
                <a16:creationId xmlns:a16="http://schemas.microsoft.com/office/drawing/2014/main" id="{BC170FAD-8F5F-A17C-7481-1AA189BC12B2}"/>
              </a:ext>
              <a:ext uri="{C183D7F6-B498-43B3-948B-1728B52AA6E4}">
                <adec:decorative xmlns:adec="http://schemas.microsoft.com/office/drawing/2017/decorative" val="1"/>
              </a:ext>
            </a:extLst>
          </p:cNvPr>
          <p:cNvPicPr>
            <a:picLocks noChangeAspect="1"/>
          </p:cNvPicPr>
          <p:nvPr/>
        </p:nvPicPr>
        <p:blipFill>
          <a:blip r:embed="rId20">
            <a:extLst>
              <a:ext uri="{BEBA8EAE-BF5A-486C-A8C5-ECC9F3942E4B}">
                <a14:imgProps xmlns:a14="http://schemas.microsoft.com/office/drawing/2010/main">
                  <a14:imgLayer r:embed="rId17">
                    <a14:imgEffect>
                      <a14:artisticBlur radius="50"/>
                    </a14:imgEffect>
                  </a14:imgLayer>
                </a14:imgProps>
              </a:ext>
            </a:extLst>
          </a:blip>
          <a:srcRect/>
          <a:stretch/>
        </p:blipFill>
        <p:spPr>
          <a:xfrm>
            <a:off x="6846545" y="2223845"/>
            <a:ext cx="380348" cy="380348"/>
          </a:xfrm>
          <a:prstGeom prst="rect">
            <a:avLst/>
          </a:prstGeom>
        </p:spPr>
      </p:pic>
      <p:pic>
        <p:nvPicPr>
          <p:cNvPr id="42" name="Graphic 112">
            <a:extLst>
              <a:ext uri="{FF2B5EF4-FFF2-40B4-BE49-F238E27FC236}">
                <a16:creationId xmlns:a16="http://schemas.microsoft.com/office/drawing/2014/main" id="{3DB86ADE-F64D-7457-3066-24F0AD376578}"/>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8901738" y="2025659"/>
            <a:ext cx="219138" cy="219138"/>
          </a:xfrm>
          <a:prstGeom prst="rect">
            <a:avLst/>
          </a:prstGeom>
        </p:spPr>
      </p:pic>
      <p:pic>
        <p:nvPicPr>
          <p:cNvPr id="43" name="Graphic 127">
            <a:extLst>
              <a:ext uri="{FF2B5EF4-FFF2-40B4-BE49-F238E27FC236}">
                <a16:creationId xmlns:a16="http://schemas.microsoft.com/office/drawing/2014/main" id="{0681A5CD-36BA-17A5-868D-57EA55BED396}"/>
              </a:ext>
              <a:ext uri="{C183D7F6-B498-43B3-948B-1728B52AA6E4}">
                <adec:decorative xmlns:adec="http://schemas.microsoft.com/office/drawing/2017/decorative" val="1"/>
              </a:ext>
            </a:extLst>
          </p:cNvPr>
          <p:cNvPicPr>
            <a:picLocks noChangeAspect="1"/>
          </p:cNvPicPr>
          <p:nvPr/>
        </p:nvPicPr>
        <p:blipFill>
          <a:blip r:embed="rId19">
            <a:alphaModFix amt="52000"/>
            <a:extLst>
              <a:ext uri="{BEBA8EAE-BF5A-486C-A8C5-ECC9F3942E4B}">
                <a14:imgProps xmlns:a14="http://schemas.microsoft.com/office/drawing/2010/main">
                  <a14:imgLayer r:embed="rId17">
                    <a14:imgEffect>
                      <a14:artisticBlur radius="74"/>
                    </a14:imgEffect>
                  </a14:imgLayer>
                </a14:imgProps>
              </a:ext>
            </a:extLst>
          </a:blip>
          <a:srcRect/>
          <a:stretch/>
        </p:blipFill>
        <p:spPr>
          <a:xfrm>
            <a:off x="6598340" y="5120173"/>
            <a:ext cx="304072" cy="304070"/>
          </a:xfrm>
          <a:prstGeom prst="rect">
            <a:avLst/>
          </a:prstGeom>
        </p:spPr>
      </p:pic>
      <p:pic>
        <p:nvPicPr>
          <p:cNvPr id="44" name="Graphic 115">
            <a:extLst>
              <a:ext uri="{FF2B5EF4-FFF2-40B4-BE49-F238E27FC236}">
                <a16:creationId xmlns:a16="http://schemas.microsoft.com/office/drawing/2014/main" id="{2FFF4BA1-AF40-426A-37FD-1B338007C655}"/>
              </a:ext>
              <a:ext uri="{C183D7F6-B498-43B3-948B-1728B52AA6E4}">
                <adec:decorative xmlns:adec="http://schemas.microsoft.com/office/drawing/2017/decorative" val="1"/>
              </a:ext>
            </a:extLst>
          </p:cNvPr>
          <p:cNvPicPr>
            <a:picLocks noChangeAspect="1"/>
          </p:cNvPicPr>
          <p:nvPr/>
        </p:nvPicPr>
        <p:blipFill>
          <a:blip r:embed="rId21">
            <a:alphaModFix amt="92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5916950" y="1029895"/>
            <a:ext cx="216088" cy="216086"/>
          </a:xfrm>
          <a:prstGeom prst="rect">
            <a:avLst/>
          </a:prstGeom>
        </p:spPr>
      </p:pic>
      <p:pic>
        <p:nvPicPr>
          <p:cNvPr id="45" name="Graphic 109">
            <a:extLst>
              <a:ext uri="{FF2B5EF4-FFF2-40B4-BE49-F238E27FC236}">
                <a16:creationId xmlns:a16="http://schemas.microsoft.com/office/drawing/2014/main" id="{68272328-437D-C879-598A-01FCC65F6B1D}"/>
              </a:ext>
              <a:ext uri="{C183D7F6-B498-43B3-948B-1728B52AA6E4}">
                <adec:decorative xmlns:adec="http://schemas.microsoft.com/office/drawing/2017/decorative" val="1"/>
              </a:ext>
            </a:extLst>
          </p:cNvPr>
          <p:cNvPicPr>
            <a:picLocks noChangeAspect="1"/>
          </p:cNvPicPr>
          <p:nvPr/>
        </p:nvPicPr>
        <p:blipFill>
          <a:blip r:embed="rId16">
            <a:alphaModFix amt="52000"/>
            <a:extLst>
              <a:ext uri="{BEBA8EAE-BF5A-486C-A8C5-ECC9F3942E4B}">
                <a14:imgProps xmlns:a14="http://schemas.microsoft.com/office/drawing/2010/main">
                  <a14:imgLayer r:embed="rId17">
                    <a14:imgEffect>
                      <a14:artisticBlur radius="81"/>
                    </a14:imgEffect>
                  </a14:imgLayer>
                </a14:imgProps>
              </a:ext>
            </a:extLst>
          </a:blip>
          <a:srcRect/>
          <a:stretch/>
        </p:blipFill>
        <p:spPr>
          <a:xfrm>
            <a:off x="8866083" y="781695"/>
            <a:ext cx="295412" cy="295410"/>
          </a:xfrm>
          <a:prstGeom prst="rect">
            <a:avLst/>
          </a:prstGeom>
        </p:spPr>
      </p:pic>
      <p:pic>
        <p:nvPicPr>
          <p:cNvPr id="46" name="Graphic 109">
            <a:extLst>
              <a:ext uri="{FF2B5EF4-FFF2-40B4-BE49-F238E27FC236}">
                <a16:creationId xmlns:a16="http://schemas.microsoft.com/office/drawing/2014/main" id="{4213AE25-80A4-AF42-8877-E8516CF9BD3E}"/>
              </a:ext>
              <a:ext uri="{C183D7F6-B498-43B3-948B-1728B52AA6E4}">
                <adec:decorative xmlns:adec="http://schemas.microsoft.com/office/drawing/2017/decorative" val="1"/>
              </a:ext>
            </a:extLst>
          </p:cNvPr>
          <p:cNvPicPr>
            <a:picLocks noChangeAspect="1"/>
          </p:cNvPicPr>
          <p:nvPr/>
        </p:nvPicPr>
        <p:blipFill>
          <a:blip r:embed="rId16">
            <a:alphaModFix amt="52000"/>
            <a:extLst>
              <a:ext uri="{BEBA8EAE-BF5A-486C-A8C5-ECC9F3942E4B}">
                <a14:imgProps xmlns:a14="http://schemas.microsoft.com/office/drawing/2010/main">
                  <a14:imgLayer r:embed="rId17">
                    <a14:imgEffect>
                      <a14:artisticBlur radius="81"/>
                    </a14:imgEffect>
                  </a14:imgLayer>
                </a14:imgProps>
              </a:ext>
            </a:extLst>
          </a:blip>
          <a:srcRect/>
          <a:stretch/>
        </p:blipFill>
        <p:spPr>
          <a:xfrm>
            <a:off x="10021375" y="4163292"/>
            <a:ext cx="295412" cy="295410"/>
          </a:xfrm>
          <a:prstGeom prst="rect">
            <a:avLst/>
          </a:prstGeom>
        </p:spPr>
      </p:pic>
      <p:pic>
        <p:nvPicPr>
          <p:cNvPr id="47" name="Graphic 115">
            <a:extLst>
              <a:ext uri="{FF2B5EF4-FFF2-40B4-BE49-F238E27FC236}">
                <a16:creationId xmlns:a16="http://schemas.microsoft.com/office/drawing/2014/main" id="{BAE1F29A-D57A-A762-6DE6-2F4A951D8B69}"/>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7097814" y="1188124"/>
            <a:ext cx="168350" cy="168348"/>
          </a:xfrm>
          <a:prstGeom prst="rect">
            <a:avLst/>
          </a:prstGeom>
        </p:spPr>
      </p:pic>
      <p:pic>
        <p:nvPicPr>
          <p:cNvPr id="48" name="Graphic 233">
            <a:extLst>
              <a:ext uri="{FF2B5EF4-FFF2-40B4-BE49-F238E27FC236}">
                <a16:creationId xmlns:a16="http://schemas.microsoft.com/office/drawing/2014/main" id="{503ADEE6-C55C-6B8A-B4E2-3E9297730DD4}"/>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11011464" y="3870233"/>
            <a:ext cx="168350" cy="168348"/>
          </a:xfrm>
          <a:prstGeom prst="rect">
            <a:avLst/>
          </a:prstGeom>
        </p:spPr>
      </p:pic>
      <p:pic>
        <p:nvPicPr>
          <p:cNvPr id="49" name="Graphic 244">
            <a:extLst>
              <a:ext uri="{FF2B5EF4-FFF2-40B4-BE49-F238E27FC236}">
                <a16:creationId xmlns:a16="http://schemas.microsoft.com/office/drawing/2014/main" id="{A57066AF-F1F9-6FD7-0F9D-F77A682CB08D}"/>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11174720" y="4917979"/>
            <a:ext cx="168350" cy="168348"/>
          </a:xfrm>
          <a:prstGeom prst="rect">
            <a:avLst/>
          </a:prstGeom>
        </p:spPr>
      </p:pic>
      <p:pic>
        <p:nvPicPr>
          <p:cNvPr id="50" name="Graphic 255">
            <a:extLst>
              <a:ext uri="{FF2B5EF4-FFF2-40B4-BE49-F238E27FC236}">
                <a16:creationId xmlns:a16="http://schemas.microsoft.com/office/drawing/2014/main" id="{9958489A-1A70-D7F6-9AC6-3E633E124869}"/>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5949214" y="2236405"/>
            <a:ext cx="168350" cy="168348"/>
          </a:xfrm>
          <a:prstGeom prst="rect">
            <a:avLst/>
          </a:prstGeom>
        </p:spPr>
      </p:pic>
      <p:pic>
        <p:nvPicPr>
          <p:cNvPr id="51" name="Graphic 266">
            <a:extLst>
              <a:ext uri="{FF2B5EF4-FFF2-40B4-BE49-F238E27FC236}">
                <a16:creationId xmlns:a16="http://schemas.microsoft.com/office/drawing/2014/main" id="{1420DD8E-2BF7-355E-02CB-D8EF048591DC}"/>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9401578" y="5788974"/>
            <a:ext cx="168350" cy="168348"/>
          </a:xfrm>
          <a:prstGeom prst="rect">
            <a:avLst/>
          </a:prstGeom>
        </p:spPr>
      </p:pic>
      <p:pic>
        <p:nvPicPr>
          <p:cNvPr id="52" name="Graphic 103">
            <a:extLst>
              <a:ext uri="{FF2B5EF4-FFF2-40B4-BE49-F238E27FC236}">
                <a16:creationId xmlns:a16="http://schemas.microsoft.com/office/drawing/2014/main" id="{EE7D94B3-20FF-99B0-7D3A-23C956D7510A}"/>
              </a:ext>
              <a:ext uri="{C183D7F6-B498-43B3-948B-1728B52AA6E4}">
                <adec:decorative xmlns:adec="http://schemas.microsoft.com/office/drawing/2017/decorative" val="1"/>
              </a:ext>
            </a:extLst>
          </p:cNvPr>
          <p:cNvPicPr>
            <a:picLocks noChangeAspect="1"/>
          </p:cNvPicPr>
          <p:nvPr/>
        </p:nvPicPr>
        <p:blipFill>
          <a:blip r:embed="rId22">
            <a:extLst>
              <a:ext uri="{BEBA8EAE-BF5A-486C-A8C5-ECC9F3942E4B}">
                <a14:imgProps xmlns:a14="http://schemas.microsoft.com/office/drawing/2010/main">
                  <a14:imgLayer r:embed="rId17">
                    <a14:imgEffect>
                      <a14:artisticBlur radius="57"/>
                    </a14:imgEffect>
                  </a14:imgLayer>
                </a14:imgProps>
              </a:ext>
            </a:extLst>
          </a:blip>
          <a:srcRect/>
          <a:stretch/>
        </p:blipFill>
        <p:spPr>
          <a:xfrm>
            <a:off x="9666489" y="1750168"/>
            <a:ext cx="344764" cy="344764"/>
          </a:xfrm>
          <a:prstGeom prst="rect">
            <a:avLst/>
          </a:prstGeom>
        </p:spPr>
      </p:pic>
      <p:pic>
        <p:nvPicPr>
          <p:cNvPr id="53" name="Graphic 222">
            <a:extLst>
              <a:ext uri="{FF2B5EF4-FFF2-40B4-BE49-F238E27FC236}">
                <a16:creationId xmlns:a16="http://schemas.microsoft.com/office/drawing/2014/main" id="{6710C1EE-5120-D774-EE33-29B755B56148}"/>
              </a:ext>
              <a:ext uri="{C183D7F6-B498-43B3-948B-1728B52AA6E4}">
                <adec:decorative xmlns:adec="http://schemas.microsoft.com/office/drawing/2017/decorative" val="1"/>
              </a:ext>
            </a:extLst>
          </p:cNvPr>
          <p:cNvPicPr>
            <a:picLocks noChangeAspect="1"/>
          </p:cNvPicPr>
          <p:nvPr/>
        </p:nvPicPr>
        <p:blipFill>
          <a:blip r:embed="rId21">
            <a:alphaModFix amt="34000"/>
            <a:extLst>
              <a:ext uri="{BEBA8EAE-BF5A-486C-A8C5-ECC9F3942E4B}">
                <a14:imgProps xmlns:a14="http://schemas.microsoft.com/office/drawing/2010/main">
                  <a14:imgLayer r:embed="rId17">
                    <a14:imgEffect>
                      <a14:artisticBlur radius="77"/>
                    </a14:imgEffect>
                  </a14:imgLayer>
                </a14:imgProps>
              </a:ext>
            </a:extLst>
          </a:blip>
          <a:srcRect/>
          <a:stretch/>
        </p:blipFill>
        <p:spPr>
          <a:xfrm>
            <a:off x="11429401" y="2943614"/>
            <a:ext cx="109960" cy="109958"/>
          </a:xfrm>
          <a:prstGeom prst="rect">
            <a:avLst/>
          </a:prstGeom>
        </p:spPr>
      </p:pic>
      <p:pic>
        <p:nvPicPr>
          <p:cNvPr id="54" name="Graphic 106">
            <a:extLst>
              <a:ext uri="{FF2B5EF4-FFF2-40B4-BE49-F238E27FC236}">
                <a16:creationId xmlns:a16="http://schemas.microsoft.com/office/drawing/2014/main" id="{F6AF1399-CF3C-0D10-D6FE-83BFA5011891}"/>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10556866" y="2418889"/>
            <a:ext cx="394138" cy="394136"/>
          </a:xfrm>
          <a:prstGeom prst="rect">
            <a:avLst/>
          </a:prstGeom>
        </p:spPr>
      </p:pic>
      <p:pic>
        <p:nvPicPr>
          <p:cNvPr id="55" name="Graphic 106">
            <a:extLst>
              <a:ext uri="{FF2B5EF4-FFF2-40B4-BE49-F238E27FC236}">
                <a16:creationId xmlns:a16="http://schemas.microsoft.com/office/drawing/2014/main" id="{68C2DA8B-E23E-569E-C799-1D590CB1D6B1}"/>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11250277" y="1600670"/>
            <a:ext cx="227282" cy="227280"/>
          </a:xfrm>
          <a:prstGeom prst="rect">
            <a:avLst/>
          </a:prstGeom>
        </p:spPr>
      </p:pic>
      <p:pic>
        <p:nvPicPr>
          <p:cNvPr id="56" name="Graphic 112">
            <a:extLst>
              <a:ext uri="{FF2B5EF4-FFF2-40B4-BE49-F238E27FC236}">
                <a16:creationId xmlns:a16="http://schemas.microsoft.com/office/drawing/2014/main" id="{4E5A0B89-0517-3398-9175-3D6EE48B5F23}"/>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6760013" y="2952455"/>
            <a:ext cx="764084" cy="764084"/>
          </a:xfrm>
          <a:prstGeom prst="rect">
            <a:avLst/>
          </a:prstGeom>
        </p:spPr>
      </p:pic>
      <p:pic>
        <p:nvPicPr>
          <p:cNvPr id="57" name="Graphic 106">
            <a:extLst>
              <a:ext uri="{FF2B5EF4-FFF2-40B4-BE49-F238E27FC236}">
                <a16:creationId xmlns:a16="http://schemas.microsoft.com/office/drawing/2014/main" id="{C09DBE6C-0E57-B37C-82D6-F4C4024EF92D}"/>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8493330" y="4201810"/>
            <a:ext cx="394138" cy="394136"/>
          </a:xfrm>
          <a:prstGeom prst="rect">
            <a:avLst/>
          </a:prstGeom>
        </p:spPr>
      </p:pic>
      <p:sp>
        <p:nvSpPr>
          <p:cNvPr id="58" name="Freeform 58">
            <a:extLst>
              <a:ext uri="{FF2B5EF4-FFF2-40B4-BE49-F238E27FC236}">
                <a16:creationId xmlns:a16="http://schemas.microsoft.com/office/drawing/2014/main" id="{D8AFADAE-A13F-ACE3-961B-E9D2C5EAAB53}"/>
              </a:ext>
              <a:ext uri="{C183D7F6-B498-43B3-948B-1728B52AA6E4}">
                <adec:decorative xmlns:adec="http://schemas.microsoft.com/office/drawing/2017/decorative" val="1"/>
              </a:ext>
            </a:extLst>
          </p:cNvPr>
          <p:cNvSpPr/>
          <p:nvPr/>
        </p:nvSpPr>
        <p:spPr bwMode="auto">
          <a:xfrm flipV="1">
            <a:off x="5487245" y="3321788"/>
            <a:ext cx="1374585" cy="316997"/>
          </a:xfrm>
          <a:custGeom>
            <a:avLst/>
            <a:gdLst>
              <a:gd name="csX0" fmla="*/ 3200400 w 3200400"/>
              <a:gd name="csY0" fmla="*/ 1249680 h 1249680"/>
              <a:gd name="csX1" fmla="*/ 944880 w 3200400"/>
              <a:gd name="csY1" fmla="*/ 0 h 1249680"/>
              <a:gd name="csX2" fmla="*/ 0 w 3200400"/>
              <a:gd name="csY2" fmla="*/ 0 h 1249680"/>
              <a:gd name="csX3" fmla="*/ 0 w 3200400"/>
              <a:gd name="csY3" fmla="*/ 30480 h 1249680"/>
              <a:gd name="csX0" fmla="*/ 3200400 w 3200400"/>
              <a:gd name="csY0" fmla="*/ 1249680 h 1249680"/>
              <a:gd name="csX1" fmla="*/ 944880 w 3200400"/>
              <a:gd name="csY1" fmla="*/ 0 h 1249680"/>
              <a:gd name="csX2" fmla="*/ 0 w 3200400"/>
              <a:gd name="csY2" fmla="*/ 0 h 1249680"/>
            </a:gdLst>
            <a:ahLst/>
            <a:cxnLst>
              <a:cxn ang="0">
                <a:pos x="csX0" y="csY0"/>
              </a:cxn>
              <a:cxn ang="0">
                <a:pos x="csX1" y="csY1"/>
              </a:cxn>
              <a:cxn ang="0">
                <a:pos x="csX2" y="csY2"/>
              </a:cxn>
            </a:cxnLst>
            <a:rect l="l" t="t" r="r" b="b"/>
            <a:pathLst>
              <a:path w="3200400" h="1249680">
                <a:moveTo>
                  <a:pt x="3200400" y="1249680"/>
                </a:moveTo>
                <a:lnTo>
                  <a:pt x="944880" y="0"/>
                </a:lnTo>
                <a:lnTo>
                  <a:pt x="0" y="0"/>
                </a:lnTo>
              </a:path>
            </a:pathLst>
          </a:custGeom>
          <a:noFill/>
          <a:ln>
            <a:gradFill>
              <a:gsLst>
                <a:gs pos="0">
                  <a:srgbClr val="E646AE"/>
                </a:gs>
                <a:gs pos="100000">
                  <a:schemeClr val="accent5">
                    <a:lumMod val="75000"/>
                    <a:alpha val="26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72377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59" name="Group 58">
            <a:extLst>
              <a:ext uri="{FF2B5EF4-FFF2-40B4-BE49-F238E27FC236}">
                <a16:creationId xmlns:a16="http://schemas.microsoft.com/office/drawing/2014/main" id="{AF657CEA-EE22-54CA-B22C-8B1A1AF04701}"/>
              </a:ext>
              <a:ext uri="{C183D7F6-B498-43B3-948B-1728B52AA6E4}">
                <adec:decorative xmlns:adec="http://schemas.microsoft.com/office/drawing/2017/decorative" val="1"/>
              </a:ext>
            </a:extLst>
          </p:cNvPr>
          <p:cNvGrpSpPr/>
          <p:nvPr/>
        </p:nvGrpSpPr>
        <p:grpSpPr>
          <a:xfrm flipH="1">
            <a:off x="4313868" y="3444255"/>
            <a:ext cx="1228270" cy="388440"/>
            <a:chOff x="5972748" y="4779044"/>
            <a:chExt cx="1228270" cy="388440"/>
          </a:xfrm>
        </p:grpSpPr>
        <p:sp>
          <p:nvSpPr>
            <p:cNvPr id="60" name="TextBox 59">
              <a:extLst>
                <a:ext uri="{FF2B5EF4-FFF2-40B4-BE49-F238E27FC236}">
                  <a16:creationId xmlns:a16="http://schemas.microsoft.com/office/drawing/2014/main" id="{6E189833-4D38-6D52-5A9A-63DA33C7F04F}"/>
                </a:ext>
              </a:extLst>
            </p:cNvPr>
            <p:cNvSpPr txBox="1"/>
            <p:nvPr/>
          </p:nvSpPr>
          <p:spPr>
            <a:xfrm>
              <a:off x="5972748" y="4794353"/>
              <a:ext cx="1228270" cy="307777"/>
            </a:xfrm>
            <a:prstGeom prst="rect">
              <a:avLst/>
            </a:prstGeom>
            <a:noFill/>
          </p:spPr>
          <p:txBody>
            <a:bodyPr wrap="square" lIns="0" tIns="0" rIns="0" bIns="0" rtlCol="0">
              <a:spAutoFit/>
            </a:bodyPr>
            <a:lstStyle/>
            <a:p>
              <a:pPr algn="ctr" defTabSz="1643992" fontAlgn="base">
                <a:spcBef>
                  <a:spcPct val="0"/>
                </a:spcBef>
                <a:spcAft>
                  <a:spcPct val="0"/>
                </a:spcAft>
                <a:tabLst>
                  <a:tab pos="1840152" algn="l"/>
                </a:tabLst>
                <a:defRPr/>
              </a:pPr>
              <a:r>
                <a:rPr lang="en-CA" sz="2000" b="1" kern="0">
                  <a:gradFill>
                    <a:gsLst>
                      <a:gs pos="0">
                        <a:schemeClr val="accent5">
                          <a:lumMod val="75000"/>
                        </a:schemeClr>
                      </a:gs>
                      <a:gs pos="100000">
                        <a:srgbClr val="E646AE"/>
                      </a:gs>
                    </a:gsLst>
                    <a:lin ang="18900000" scaled="1"/>
                  </a:gradFill>
                  <a:latin typeface="Segoe UI Semibold" panose="020B0702040204020203" pitchFamily="34" charset="0"/>
                  <a:cs typeface="Segoe UI Semibold" panose="020B0702040204020203" pitchFamily="34" charset="0"/>
                </a:rPr>
                <a:t>Agents</a:t>
              </a:r>
            </a:p>
          </p:txBody>
        </p:sp>
        <p:sp>
          <p:nvSpPr>
            <p:cNvPr id="61" name="Rounded Rectangle 16">
              <a:extLst>
                <a:ext uri="{FF2B5EF4-FFF2-40B4-BE49-F238E27FC236}">
                  <a16:creationId xmlns:a16="http://schemas.microsoft.com/office/drawing/2014/main" id="{B236C47F-2EB6-5676-E65B-41AEA63F81C8}"/>
                </a:ext>
              </a:extLst>
            </p:cNvPr>
            <p:cNvSpPr/>
            <p:nvPr/>
          </p:nvSpPr>
          <p:spPr bwMode="auto">
            <a:xfrm>
              <a:off x="6035498" y="4779044"/>
              <a:ext cx="1102770" cy="388440"/>
            </a:xfrm>
            <a:prstGeom prst="roundRect">
              <a:avLst/>
            </a:prstGeom>
            <a:noFill/>
            <a:ln>
              <a:gradFill flip="none" rotWithShape="1">
                <a:gsLst>
                  <a:gs pos="0">
                    <a:schemeClr val="accent5">
                      <a:lumMod val="75000"/>
                    </a:schemeClr>
                  </a:gs>
                  <a:gs pos="100000">
                    <a:srgbClr val="E646AE"/>
                  </a:gs>
                </a:gsLst>
                <a:lin ang="189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solidFill>
                  <a:schemeClr val="bg1"/>
                </a:solidFill>
                <a:ea typeface="Segoe UI" pitchFamily="34" charset="0"/>
                <a:cs typeface="Segoe UI" pitchFamily="34" charset="0"/>
              </a:endParaRPr>
            </a:p>
          </p:txBody>
        </p:sp>
      </p:grpSp>
      <p:sp>
        <p:nvSpPr>
          <p:cNvPr id="62" name="Freeform 58">
            <a:extLst>
              <a:ext uri="{FF2B5EF4-FFF2-40B4-BE49-F238E27FC236}">
                <a16:creationId xmlns:a16="http://schemas.microsoft.com/office/drawing/2014/main" id="{3878C2EF-D7D1-49C9-C1A0-31D905469E28}"/>
              </a:ext>
              <a:ext uri="{C183D7F6-B498-43B3-948B-1728B52AA6E4}">
                <adec:decorative xmlns:adec="http://schemas.microsoft.com/office/drawing/2017/decorative" val="1"/>
              </a:ext>
            </a:extLst>
          </p:cNvPr>
          <p:cNvSpPr/>
          <p:nvPr/>
        </p:nvSpPr>
        <p:spPr bwMode="auto">
          <a:xfrm flipV="1">
            <a:off x="6380064" y="4513785"/>
            <a:ext cx="1150343" cy="482156"/>
          </a:xfrm>
          <a:custGeom>
            <a:avLst/>
            <a:gdLst>
              <a:gd name="csX0" fmla="*/ 3200400 w 3200400"/>
              <a:gd name="csY0" fmla="*/ 1249680 h 1249680"/>
              <a:gd name="csX1" fmla="*/ 944880 w 3200400"/>
              <a:gd name="csY1" fmla="*/ 0 h 1249680"/>
              <a:gd name="csX2" fmla="*/ 0 w 3200400"/>
              <a:gd name="csY2" fmla="*/ 0 h 1249680"/>
              <a:gd name="csX3" fmla="*/ 0 w 3200400"/>
              <a:gd name="csY3" fmla="*/ 30480 h 1249680"/>
              <a:gd name="csX0" fmla="*/ 3200400 w 3200400"/>
              <a:gd name="csY0" fmla="*/ 1249680 h 1249680"/>
              <a:gd name="csX1" fmla="*/ 944880 w 3200400"/>
              <a:gd name="csY1" fmla="*/ 0 h 1249680"/>
              <a:gd name="csX2" fmla="*/ 0 w 3200400"/>
              <a:gd name="csY2" fmla="*/ 0 h 1249680"/>
            </a:gdLst>
            <a:ahLst/>
            <a:cxnLst>
              <a:cxn ang="0">
                <a:pos x="csX0" y="csY0"/>
              </a:cxn>
              <a:cxn ang="0">
                <a:pos x="csX1" y="csY1"/>
              </a:cxn>
              <a:cxn ang="0">
                <a:pos x="csX2" y="csY2"/>
              </a:cxn>
            </a:cxnLst>
            <a:rect l="l" t="t" r="r" b="b"/>
            <a:pathLst>
              <a:path w="3200400" h="1249680">
                <a:moveTo>
                  <a:pt x="3200400" y="1249680"/>
                </a:moveTo>
                <a:lnTo>
                  <a:pt x="944880" y="0"/>
                </a:lnTo>
                <a:lnTo>
                  <a:pt x="0" y="0"/>
                </a:lnTo>
              </a:path>
            </a:pathLst>
          </a:custGeom>
          <a:noFill/>
          <a:ln>
            <a:gradFill>
              <a:gsLst>
                <a:gs pos="0">
                  <a:srgbClr val="E646AE"/>
                </a:gs>
                <a:gs pos="100000">
                  <a:schemeClr val="accent5">
                    <a:lumMod val="75000"/>
                    <a:alpha val="26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72377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63" name="Group 62">
            <a:extLst>
              <a:ext uri="{FF2B5EF4-FFF2-40B4-BE49-F238E27FC236}">
                <a16:creationId xmlns:a16="http://schemas.microsoft.com/office/drawing/2014/main" id="{F0B49510-CF27-3D87-22A7-8046033AE8CB}"/>
              </a:ext>
              <a:ext uri="{C183D7F6-B498-43B3-948B-1728B52AA6E4}">
                <adec:decorative xmlns:adec="http://schemas.microsoft.com/office/drawing/2017/decorative" val="1"/>
              </a:ext>
            </a:extLst>
          </p:cNvPr>
          <p:cNvGrpSpPr/>
          <p:nvPr/>
        </p:nvGrpSpPr>
        <p:grpSpPr>
          <a:xfrm flipH="1">
            <a:off x="5511568" y="4854923"/>
            <a:ext cx="868496" cy="282035"/>
            <a:chOff x="6163995" y="4791614"/>
            <a:chExt cx="868496" cy="282035"/>
          </a:xfrm>
        </p:grpSpPr>
        <p:sp>
          <p:nvSpPr>
            <p:cNvPr id="64" name="TextBox 63">
              <a:extLst>
                <a:ext uri="{FF2B5EF4-FFF2-40B4-BE49-F238E27FC236}">
                  <a16:creationId xmlns:a16="http://schemas.microsoft.com/office/drawing/2014/main" id="{51680378-A277-71E7-BB8A-BCBF70B5AB87}"/>
                </a:ext>
              </a:extLst>
            </p:cNvPr>
            <p:cNvSpPr txBox="1"/>
            <p:nvPr/>
          </p:nvSpPr>
          <p:spPr>
            <a:xfrm>
              <a:off x="6209282" y="4794353"/>
              <a:ext cx="755202" cy="246221"/>
            </a:xfrm>
            <a:prstGeom prst="rect">
              <a:avLst/>
            </a:prstGeom>
            <a:noFill/>
          </p:spPr>
          <p:txBody>
            <a:bodyPr wrap="square" lIns="0" tIns="0" rIns="0" bIns="0" rtlCol="0">
              <a:spAutoFit/>
            </a:bodyPr>
            <a:lstStyle/>
            <a:p>
              <a:pPr algn="ctr" defTabSz="1643992" fontAlgn="base">
                <a:spcBef>
                  <a:spcPct val="0"/>
                </a:spcBef>
                <a:spcAft>
                  <a:spcPct val="0"/>
                </a:spcAft>
                <a:tabLst>
                  <a:tab pos="1840152" algn="l"/>
                </a:tabLst>
                <a:defRPr/>
              </a:pPr>
              <a:r>
                <a:rPr lang="en-CA" sz="1600" b="1" kern="0">
                  <a:gradFill>
                    <a:gsLst>
                      <a:gs pos="0">
                        <a:schemeClr val="accent5">
                          <a:lumMod val="75000"/>
                        </a:schemeClr>
                      </a:gs>
                      <a:gs pos="100000">
                        <a:srgbClr val="E646AE"/>
                      </a:gs>
                    </a:gsLst>
                    <a:lin ang="18900000" scaled="1"/>
                  </a:gradFill>
                  <a:latin typeface="Segoe UI Semibold" panose="020B0702040204020203" pitchFamily="34" charset="0"/>
                  <a:cs typeface="Segoe UI Semibold" panose="020B0702040204020203" pitchFamily="34" charset="0"/>
                </a:rPr>
                <a:t>Agents</a:t>
              </a:r>
            </a:p>
          </p:txBody>
        </p:sp>
        <p:sp>
          <p:nvSpPr>
            <p:cNvPr id="65" name="Rounded Rectangle 16">
              <a:extLst>
                <a:ext uri="{FF2B5EF4-FFF2-40B4-BE49-F238E27FC236}">
                  <a16:creationId xmlns:a16="http://schemas.microsoft.com/office/drawing/2014/main" id="{AE05559C-3DDC-A183-CFCF-AD764BD534C1}"/>
                </a:ext>
              </a:extLst>
            </p:cNvPr>
            <p:cNvSpPr/>
            <p:nvPr/>
          </p:nvSpPr>
          <p:spPr bwMode="auto">
            <a:xfrm>
              <a:off x="6163995" y="4791614"/>
              <a:ext cx="868496" cy="282035"/>
            </a:xfrm>
            <a:prstGeom prst="roundRect">
              <a:avLst/>
            </a:prstGeom>
            <a:noFill/>
            <a:ln>
              <a:gradFill flip="none" rotWithShape="1">
                <a:gsLst>
                  <a:gs pos="0">
                    <a:schemeClr val="accent5">
                      <a:lumMod val="75000"/>
                    </a:schemeClr>
                  </a:gs>
                  <a:gs pos="100000">
                    <a:srgbClr val="E646AE"/>
                  </a:gs>
                </a:gsLst>
                <a:lin ang="189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400" err="1">
                <a:solidFill>
                  <a:schemeClr val="bg1"/>
                </a:solidFill>
                <a:ea typeface="Segoe UI" pitchFamily="34" charset="0"/>
                <a:cs typeface="Segoe UI" pitchFamily="34" charset="0"/>
              </a:endParaRPr>
            </a:p>
          </p:txBody>
        </p:sp>
      </p:grpSp>
      <p:sp>
        <p:nvSpPr>
          <p:cNvPr id="66" name="Oval 65">
            <a:extLst>
              <a:ext uri="{FF2B5EF4-FFF2-40B4-BE49-F238E27FC236}">
                <a16:creationId xmlns:a16="http://schemas.microsoft.com/office/drawing/2014/main" id="{2D1EEBAE-DFA7-D152-D9E3-72994D410DC9}"/>
              </a:ext>
              <a:ext uri="{C183D7F6-B498-43B3-948B-1728B52AA6E4}">
                <adec:decorative xmlns:adec="http://schemas.microsoft.com/office/drawing/2017/decorative" val="1"/>
              </a:ext>
            </a:extLst>
          </p:cNvPr>
          <p:cNvSpPr>
            <a:spLocks/>
          </p:cNvSpPr>
          <p:nvPr/>
        </p:nvSpPr>
        <p:spPr bwMode="auto">
          <a:xfrm>
            <a:off x="1144215" y="2637770"/>
            <a:ext cx="731520" cy="731520"/>
          </a:xfrm>
          <a:prstGeom prst="ellipse">
            <a:avLst/>
          </a:prstGeom>
          <a:solidFill>
            <a:schemeClr val="bg1"/>
          </a:solidFill>
          <a:ln w="38100">
            <a:gradFill flip="none" rotWithShape="1">
              <a:gsLst>
                <a:gs pos="20000">
                  <a:srgbClr val="D5EDF7"/>
                </a:gs>
                <a:gs pos="100000">
                  <a:srgbClr val="E2D0F7"/>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endParaRPr>
          </a:p>
        </p:txBody>
      </p:sp>
      <p:sp>
        <p:nvSpPr>
          <p:cNvPr id="67" name="Oval 66">
            <a:extLst>
              <a:ext uri="{FF2B5EF4-FFF2-40B4-BE49-F238E27FC236}">
                <a16:creationId xmlns:a16="http://schemas.microsoft.com/office/drawing/2014/main" id="{89E7EE2C-62BD-111A-1136-D84AE874348D}"/>
              </a:ext>
              <a:ext uri="{C183D7F6-B498-43B3-948B-1728B52AA6E4}">
                <adec:decorative xmlns:adec="http://schemas.microsoft.com/office/drawing/2017/decorative" val="1"/>
              </a:ext>
            </a:extLst>
          </p:cNvPr>
          <p:cNvSpPr>
            <a:spLocks/>
          </p:cNvSpPr>
          <p:nvPr/>
        </p:nvSpPr>
        <p:spPr bwMode="auto">
          <a:xfrm>
            <a:off x="1141868" y="3755341"/>
            <a:ext cx="731520" cy="731520"/>
          </a:xfrm>
          <a:prstGeom prst="ellipse">
            <a:avLst/>
          </a:prstGeom>
          <a:solidFill>
            <a:schemeClr val="bg1"/>
          </a:solidFill>
          <a:ln w="38100">
            <a:gradFill flip="none" rotWithShape="1">
              <a:gsLst>
                <a:gs pos="20000">
                  <a:srgbClr val="D5EDF7"/>
                </a:gs>
                <a:gs pos="100000">
                  <a:srgbClr val="E2D0F7"/>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endParaRPr>
          </a:p>
        </p:txBody>
      </p:sp>
      <p:sp>
        <p:nvSpPr>
          <p:cNvPr id="68" name="Oval 67">
            <a:extLst>
              <a:ext uri="{FF2B5EF4-FFF2-40B4-BE49-F238E27FC236}">
                <a16:creationId xmlns:a16="http://schemas.microsoft.com/office/drawing/2014/main" id="{66A2739A-DF99-A615-24A0-8AFF534C138F}"/>
              </a:ext>
              <a:ext uri="{C183D7F6-B498-43B3-948B-1728B52AA6E4}">
                <adec:decorative xmlns:adec="http://schemas.microsoft.com/office/drawing/2017/decorative" val="1"/>
              </a:ext>
            </a:extLst>
          </p:cNvPr>
          <p:cNvSpPr>
            <a:spLocks/>
          </p:cNvSpPr>
          <p:nvPr/>
        </p:nvSpPr>
        <p:spPr bwMode="auto">
          <a:xfrm>
            <a:off x="1151948" y="4840225"/>
            <a:ext cx="731520" cy="731520"/>
          </a:xfrm>
          <a:prstGeom prst="ellipse">
            <a:avLst/>
          </a:prstGeom>
          <a:solidFill>
            <a:schemeClr val="bg1"/>
          </a:solidFill>
          <a:ln w="38100">
            <a:gradFill flip="none" rotWithShape="1">
              <a:gsLst>
                <a:gs pos="20000">
                  <a:srgbClr val="D5EDF7"/>
                </a:gs>
                <a:gs pos="100000">
                  <a:srgbClr val="E2D0F7"/>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Semibold"/>
              <a:ea typeface="+mn-ea"/>
              <a:cs typeface="Segoe UI" pitchFamily="34" charset="0"/>
            </a:endParaRPr>
          </a:p>
        </p:txBody>
      </p:sp>
      <p:pic>
        <p:nvPicPr>
          <p:cNvPr id="69" name="Graphic 68">
            <a:extLst>
              <a:ext uri="{FF2B5EF4-FFF2-40B4-BE49-F238E27FC236}">
                <a16:creationId xmlns:a16="http://schemas.microsoft.com/office/drawing/2014/main" id="{0BDAC14B-EC15-ED8B-BA9D-51FF4D43998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311410" y="4971963"/>
            <a:ext cx="468045" cy="468045"/>
          </a:xfrm>
          <a:prstGeom prst="rect">
            <a:avLst/>
          </a:prstGeom>
        </p:spPr>
      </p:pic>
      <p:pic>
        <p:nvPicPr>
          <p:cNvPr id="70" name="Graphic 69">
            <a:extLst>
              <a:ext uri="{FF2B5EF4-FFF2-40B4-BE49-F238E27FC236}">
                <a16:creationId xmlns:a16="http://schemas.microsoft.com/office/drawing/2014/main" id="{644F799C-8E91-8C5F-FA53-7C431F24F04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4"/>
              </a:ext>
            </a:extLst>
          </a:blip>
          <a:srcRect/>
          <a:stretch/>
        </p:blipFill>
        <p:spPr>
          <a:xfrm>
            <a:off x="1319540" y="3923139"/>
            <a:ext cx="468045" cy="468045"/>
          </a:xfrm>
          <a:prstGeom prst="rect">
            <a:avLst/>
          </a:prstGeom>
        </p:spPr>
      </p:pic>
      <p:pic>
        <p:nvPicPr>
          <p:cNvPr id="71" name="Graphic 70">
            <a:extLst>
              <a:ext uri="{FF2B5EF4-FFF2-40B4-BE49-F238E27FC236}">
                <a16:creationId xmlns:a16="http://schemas.microsoft.com/office/drawing/2014/main" id="{FF029168-5026-E25D-ABA9-0A4BF7AA648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rcRect/>
          <a:stretch/>
        </p:blipFill>
        <p:spPr>
          <a:xfrm>
            <a:off x="1275518" y="2763635"/>
            <a:ext cx="468045" cy="468045"/>
          </a:xfrm>
          <a:prstGeom prst="rect">
            <a:avLst/>
          </a:prstGeom>
        </p:spPr>
      </p:pic>
      <p:sp>
        <p:nvSpPr>
          <p:cNvPr id="72" name="Title 11">
            <a:extLst>
              <a:ext uri="{FF2B5EF4-FFF2-40B4-BE49-F238E27FC236}">
                <a16:creationId xmlns:a16="http://schemas.microsoft.com/office/drawing/2014/main" id="{98F66DAD-4887-43C4-A3D6-B4AB99792031}"/>
              </a:ext>
            </a:extLst>
          </p:cNvPr>
          <p:cNvSpPr txBox="1">
            <a:spLocks/>
          </p:cNvSpPr>
          <p:nvPr/>
        </p:nvSpPr>
        <p:spPr>
          <a:xfrm>
            <a:off x="755082" y="827459"/>
            <a:ext cx="4140172" cy="1354217"/>
          </a:xfrm>
          <a:prstGeom prst="rect">
            <a:avLst/>
          </a:prstGeom>
          <a:no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algn="ctr" defTabSz="1332863">
              <a:lnSpc>
                <a:spcPct val="100000"/>
              </a:lnSpc>
              <a:spcBef>
                <a:spcPts val="0"/>
              </a:spcBef>
              <a:defRPr/>
            </a:pPr>
            <a:r>
              <a:rPr lang="en-US" sz="8800" b="1" spc="-50" dirty="0">
                <a:ln>
                  <a:noFill/>
                </a:ln>
                <a:gradFill flip="none" rotWithShape="1">
                  <a:gsLst>
                    <a:gs pos="0">
                      <a:srgbClr val="0078D3"/>
                    </a:gs>
                    <a:gs pos="100000">
                      <a:srgbClr val="C03BC4"/>
                    </a:gs>
                  </a:gsLst>
                  <a:lin ang="0" scaled="1"/>
                  <a:tileRect/>
                </a:gradFill>
                <a:latin typeface="Segoe Sans Display Semibold" pitchFamily="2" charset="0"/>
                <a:cs typeface="Segoe Sans Display Semibold" pitchFamily="2" charset="0"/>
              </a:rPr>
              <a:t>Work IQ</a:t>
            </a:r>
          </a:p>
        </p:txBody>
      </p:sp>
      <p:sp>
        <p:nvSpPr>
          <p:cNvPr id="73" name="Title 6">
            <a:extLst>
              <a:ext uri="{FF2B5EF4-FFF2-40B4-BE49-F238E27FC236}">
                <a16:creationId xmlns:a16="http://schemas.microsoft.com/office/drawing/2014/main" id="{47774E45-CE79-CDF9-3E95-D111A87E7C64}"/>
              </a:ext>
            </a:extLst>
          </p:cNvPr>
          <p:cNvSpPr txBox="1">
            <a:spLocks/>
          </p:cNvSpPr>
          <p:nvPr/>
        </p:nvSpPr>
        <p:spPr>
          <a:xfrm>
            <a:off x="2048582" y="2871027"/>
            <a:ext cx="2437010" cy="30777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fontAlgn="base">
              <a:lnSpc>
                <a:spcPct val="100000"/>
              </a:lnSpc>
              <a:spcBef>
                <a:spcPct val="0"/>
              </a:spcBef>
              <a:spcAft>
                <a:spcPct val="0"/>
              </a:spcAft>
              <a:buNone/>
              <a:defRPr sz="8000" b="0" cap="none" spc="0" baseline="0">
                <a:ln>
                  <a:noFill/>
                </a:ln>
                <a:gradFill>
                  <a:gsLst>
                    <a:gs pos="89510">
                      <a:schemeClr val="tx1"/>
                    </a:gs>
                    <a:gs pos="68966">
                      <a:schemeClr val="tx1"/>
                    </a:gs>
                  </a:gsLst>
                  <a:path path="circle">
                    <a:fillToRect l="100000" t="100000"/>
                  </a:path>
                </a:gradFill>
                <a:effectLst/>
                <a:latin typeface="Segoe UI Variable Display Semibold" pitchFamily="2" charset="0"/>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2901014"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chemeClr val="tx1"/>
                </a:solidFill>
                <a:effectLst/>
                <a:uLnTx/>
                <a:uFillTx/>
                <a:latin typeface="Segoe UI Variable Display" pitchFamily="2" charset="0"/>
                <a:ea typeface="+mn-ea"/>
                <a:cs typeface="Segoe UI" pitchFamily="34" charset="0"/>
              </a:rPr>
              <a:t>Data</a:t>
            </a:r>
          </a:p>
        </p:txBody>
      </p:sp>
      <p:sp>
        <p:nvSpPr>
          <p:cNvPr id="74" name="Title 6">
            <a:extLst>
              <a:ext uri="{FF2B5EF4-FFF2-40B4-BE49-F238E27FC236}">
                <a16:creationId xmlns:a16="http://schemas.microsoft.com/office/drawing/2014/main" id="{C6C2D854-C02D-227B-9B2B-05ED8C54F501}"/>
              </a:ext>
            </a:extLst>
          </p:cNvPr>
          <p:cNvSpPr txBox="1">
            <a:spLocks/>
          </p:cNvSpPr>
          <p:nvPr/>
        </p:nvSpPr>
        <p:spPr>
          <a:xfrm>
            <a:off x="2022016" y="3975268"/>
            <a:ext cx="2437010" cy="30777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fontAlgn="base">
              <a:lnSpc>
                <a:spcPct val="100000"/>
              </a:lnSpc>
              <a:spcBef>
                <a:spcPct val="0"/>
              </a:spcBef>
              <a:spcAft>
                <a:spcPct val="0"/>
              </a:spcAft>
              <a:buNone/>
              <a:defRPr sz="8000" b="0" cap="none" spc="0" baseline="0">
                <a:ln>
                  <a:noFill/>
                </a:ln>
                <a:gradFill>
                  <a:gsLst>
                    <a:gs pos="89510">
                      <a:schemeClr val="tx1"/>
                    </a:gs>
                    <a:gs pos="68966">
                      <a:schemeClr val="tx1"/>
                    </a:gs>
                  </a:gsLst>
                  <a:path path="circle">
                    <a:fillToRect l="100000" t="100000"/>
                  </a:path>
                </a:gradFill>
                <a:effectLst/>
                <a:latin typeface="Segoe UI Variable Display Semibold" pitchFamily="2" charset="0"/>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2901014"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chemeClr val="tx1"/>
                </a:solidFill>
                <a:effectLst/>
                <a:uLnTx/>
                <a:uFillTx/>
                <a:latin typeface="Segoe UI Variable Display" pitchFamily="2" charset="0"/>
                <a:ea typeface="+mn-ea"/>
                <a:cs typeface="Segoe UI" pitchFamily="34" charset="0"/>
              </a:rPr>
              <a:t>Memory</a:t>
            </a:r>
          </a:p>
        </p:txBody>
      </p:sp>
      <p:sp>
        <p:nvSpPr>
          <p:cNvPr id="75" name="Title 6">
            <a:extLst>
              <a:ext uri="{FF2B5EF4-FFF2-40B4-BE49-F238E27FC236}">
                <a16:creationId xmlns:a16="http://schemas.microsoft.com/office/drawing/2014/main" id="{640DEC6B-D1DF-7067-F06E-CFEABEBB1B84}"/>
              </a:ext>
            </a:extLst>
          </p:cNvPr>
          <p:cNvSpPr txBox="1">
            <a:spLocks/>
          </p:cNvSpPr>
          <p:nvPr/>
        </p:nvSpPr>
        <p:spPr>
          <a:xfrm>
            <a:off x="2008592" y="5095274"/>
            <a:ext cx="2437010" cy="30777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fontAlgn="base">
              <a:lnSpc>
                <a:spcPct val="100000"/>
              </a:lnSpc>
              <a:spcBef>
                <a:spcPct val="0"/>
              </a:spcBef>
              <a:spcAft>
                <a:spcPct val="0"/>
              </a:spcAft>
              <a:buNone/>
              <a:defRPr sz="8000" b="0" cap="none" spc="0" baseline="0">
                <a:ln>
                  <a:noFill/>
                </a:ln>
                <a:gradFill>
                  <a:gsLst>
                    <a:gs pos="89510">
                      <a:schemeClr val="tx1"/>
                    </a:gs>
                    <a:gs pos="68966">
                      <a:schemeClr val="tx1"/>
                    </a:gs>
                  </a:gsLst>
                  <a:path path="circle">
                    <a:fillToRect l="100000" t="100000"/>
                  </a:path>
                </a:gradFill>
                <a:effectLst/>
                <a:latin typeface="Segoe UI Variable Display Semibold" pitchFamily="2" charset="0"/>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2901014"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chemeClr val="tx1"/>
                </a:solidFill>
                <a:effectLst/>
                <a:uLnTx/>
                <a:uFillTx/>
                <a:latin typeface="Segoe UI Variable Display" pitchFamily="2" charset="0"/>
                <a:ea typeface="+mn-ea"/>
                <a:cs typeface="Segoe UI" pitchFamily="34" charset="0"/>
              </a:rPr>
              <a:t>Inference</a:t>
            </a:r>
          </a:p>
        </p:txBody>
      </p:sp>
      <p:pic>
        <p:nvPicPr>
          <p:cNvPr id="6" name="Picture Placeholder 3" descr="A person smiling for a picture  AI-generated content may be incorrect.">
            <a:extLst>
              <a:ext uri="{FF2B5EF4-FFF2-40B4-BE49-F238E27FC236}">
                <a16:creationId xmlns:a16="http://schemas.microsoft.com/office/drawing/2014/main" id="{8698AA59-7796-EFE9-617F-160FF8592BE0}"/>
              </a:ext>
            </a:extLst>
          </p:cNvPr>
          <p:cNvPicPr>
            <a:picLocks noChangeAspect="1"/>
          </p:cNvPicPr>
          <p:nvPr/>
        </p:nvPicPr>
        <p:blipFill>
          <a:blip r:embed="rId26"/>
          <a:srcRect l="1123" r="1123"/>
          <a:stretch>
            <a:fillRect/>
          </a:stretch>
        </p:blipFill>
        <p:spPr>
          <a:xfrm>
            <a:off x="11370252" y="103914"/>
            <a:ext cx="640080" cy="636080"/>
          </a:xfrm>
          <a:prstGeom prst="ellipse">
            <a:avLst/>
          </a:prstGeom>
          <a:ln>
            <a:noFill/>
          </a:ln>
          <a:effectLst>
            <a:softEdge rad="112500"/>
          </a:effectLst>
        </p:spPr>
      </p:pic>
      <p:pic>
        <p:nvPicPr>
          <p:cNvPr id="7" name="Picture Placeholder 3">
            <a:extLst>
              <a:ext uri="{FF2B5EF4-FFF2-40B4-BE49-F238E27FC236}">
                <a16:creationId xmlns:a16="http://schemas.microsoft.com/office/drawing/2014/main" id="{DCBEB341-B007-174A-2258-037C4E7532EC}"/>
              </a:ext>
            </a:extLst>
          </p:cNvPr>
          <p:cNvPicPr>
            <a:picLocks noChangeAspect="1"/>
          </p:cNvPicPr>
          <p:nvPr/>
        </p:nvPicPr>
        <p:blipFill>
          <a:blip r:embed="rId27"/>
          <a:srcRect t="312" b="312"/>
          <a:stretch/>
        </p:blipFill>
        <p:spPr>
          <a:xfrm>
            <a:off x="10709031" y="103914"/>
            <a:ext cx="644108" cy="640080"/>
          </a:xfrm>
          <a:prstGeom prst="ellipse">
            <a:avLst/>
          </a:prstGeom>
          <a:ln>
            <a:noFill/>
          </a:ln>
          <a:effectLst>
            <a:softEdge rad="112500"/>
          </a:effectLst>
        </p:spPr>
      </p:pic>
    </p:spTree>
    <p:extLst>
      <p:ext uri="{BB962C8B-B14F-4D97-AF65-F5344CB8AC3E}">
        <p14:creationId xmlns:p14="http://schemas.microsoft.com/office/powerpoint/2010/main" val="388301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endCondLst>
                                    <p:cond evt="onNext" delay="0">
                                      <p:tgtEl>
                                        <p:sldTgt/>
                                      </p:tgtEl>
                                    </p:cond>
                                  </p:endCondLst>
                                  <p:childTnLst>
                                    <p:animRot by="21600000">
                                      <p:cBhvr>
                                        <p:cTn id="6" dur="5000" fill="hold"/>
                                        <p:tgtEl>
                                          <p:spTgt spid="14"/>
                                        </p:tgtEl>
                                        <p:attrNameLst>
                                          <p:attrName>r</p:attrName>
                                        </p:attrNameLst>
                                      </p:cBhvr>
                                    </p:animRot>
                                  </p:childTnLst>
                                </p:cTn>
                              </p:par>
                              <p:par>
                                <p:cTn id="7" presetID="10" presetClass="entr" presetSubtype="0" fill="hold" nodeType="withEffect">
                                  <p:stCondLst>
                                    <p:cond delay="300"/>
                                  </p:stCondLst>
                                  <p:childTnLst>
                                    <p:set>
                                      <p:cBhvr>
                                        <p:cTn id="8" dur="1" fill="hold">
                                          <p:stCondLst>
                                            <p:cond delay="0"/>
                                          </p:stCondLst>
                                        </p:cTn>
                                        <p:tgtEl>
                                          <p:spTgt spid="56"/>
                                        </p:tgtEl>
                                        <p:attrNameLst>
                                          <p:attrName>style.visibility</p:attrName>
                                        </p:attrNameLst>
                                      </p:cBhvr>
                                      <p:to>
                                        <p:strVal val="visible"/>
                                      </p:to>
                                    </p:set>
                                    <p:animEffect transition="in" filter="fade">
                                      <p:cBhvr>
                                        <p:cTn id="9" dur="500"/>
                                        <p:tgtEl>
                                          <p:spTgt spid="56"/>
                                        </p:tgtEl>
                                      </p:cBhvr>
                                    </p:animEffect>
                                  </p:childTnLst>
                                </p:cTn>
                              </p:par>
                              <p:par>
                                <p:cTn id="10" presetID="10" presetClass="entr" presetSubtype="0" fill="hold" nodeType="withEffect">
                                  <p:stCondLst>
                                    <p:cond delay="60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7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par>
                                <p:cTn id="16" presetID="10" presetClass="entr" presetSubtype="0" fill="hold" nodeType="withEffect">
                                  <p:stCondLst>
                                    <p:cond delay="50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par>
                                <p:cTn id="19" presetID="10" presetClass="entr" presetSubtype="0" fill="hold" nodeType="withEffect">
                                  <p:stCondLst>
                                    <p:cond delay="40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nodeType="withEffect">
                                  <p:stCondLst>
                                    <p:cond delay="30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10" presetClass="entr" presetSubtype="0" fill="hold" nodeType="withEffect">
                                  <p:stCondLst>
                                    <p:cond delay="20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10" presetClass="entr" presetSubtype="0" fill="hold" nodeType="withEffect">
                                  <p:stCondLst>
                                    <p:cond delay="300"/>
                                  </p:stCondLst>
                                  <p:childTnLst>
                                    <p:set>
                                      <p:cBhvr>
                                        <p:cTn id="29" dur="1" fill="hold">
                                          <p:stCondLst>
                                            <p:cond delay="0"/>
                                          </p:stCondLst>
                                        </p:cTn>
                                        <p:tgtEl>
                                          <p:spTgt spid="55"/>
                                        </p:tgtEl>
                                        <p:attrNameLst>
                                          <p:attrName>style.visibility</p:attrName>
                                        </p:attrNameLst>
                                      </p:cBhvr>
                                      <p:to>
                                        <p:strVal val="visible"/>
                                      </p:to>
                                    </p:set>
                                    <p:animEffect transition="in" filter="fade">
                                      <p:cBhvr>
                                        <p:cTn id="30" dur="500"/>
                                        <p:tgtEl>
                                          <p:spTgt spid="55"/>
                                        </p:tgtEl>
                                      </p:cBhvr>
                                    </p:animEffect>
                                  </p:childTnLst>
                                </p:cTn>
                              </p:par>
                              <p:par>
                                <p:cTn id="31" presetID="10" presetClass="entr" presetSubtype="0" fill="hold" nodeType="withEffect">
                                  <p:stCondLst>
                                    <p:cond delay="100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par>
                                <p:cTn id="34" presetID="10" presetClass="entr" presetSubtype="0" fill="hold" nodeType="withEffect">
                                  <p:stCondLst>
                                    <p:cond delay="120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500"/>
                                        <p:tgtEl>
                                          <p:spTgt spid="44"/>
                                        </p:tgtEl>
                                      </p:cBhvr>
                                    </p:animEffect>
                                  </p:childTnLst>
                                </p:cTn>
                              </p:par>
                              <p:par>
                                <p:cTn id="37" presetID="10" presetClass="entr" presetSubtype="0" fill="hold" nodeType="withEffect">
                                  <p:stCondLst>
                                    <p:cond delay="130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childTnLst>
                                </p:cTn>
                              </p:par>
                              <p:par>
                                <p:cTn id="40" presetID="10" presetClass="entr" presetSubtype="0" fill="hold" nodeType="withEffect">
                                  <p:stCondLst>
                                    <p:cond delay="140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500"/>
                                        <p:tgtEl>
                                          <p:spTgt spid="46"/>
                                        </p:tgtEl>
                                      </p:cBhvr>
                                    </p:animEffect>
                                  </p:childTnLst>
                                </p:cTn>
                              </p:par>
                              <p:par>
                                <p:cTn id="43" presetID="10" presetClass="entr" presetSubtype="0" fill="hold" nodeType="withEffect">
                                  <p:stCondLst>
                                    <p:cond delay="80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500"/>
                                        <p:tgtEl>
                                          <p:spTgt spid="47"/>
                                        </p:tgtEl>
                                      </p:cBhvr>
                                    </p:animEffect>
                                  </p:childTnLst>
                                </p:cTn>
                              </p:par>
                              <p:par>
                                <p:cTn id="46" presetID="10" presetClass="entr" presetSubtype="0" fill="hold" nodeType="withEffect">
                                  <p:stCondLst>
                                    <p:cond delay="90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500"/>
                                        <p:tgtEl>
                                          <p:spTgt spid="50"/>
                                        </p:tgtEl>
                                      </p:cBhvr>
                                    </p:animEffect>
                                  </p:childTnLst>
                                </p:cTn>
                              </p:par>
                              <p:par>
                                <p:cTn id="49" presetID="10" presetClass="entr" presetSubtype="0" fill="hold" nodeType="withEffect">
                                  <p:stCondLst>
                                    <p:cond delay="100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childTnLst>
                                </p:cTn>
                              </p:par>
                              <p:par>
                                <p:cTn id="52" presetID="10" presetClass="entr" presetSubtype="0" fill="hold" nodeType="withEffect">
                                  <p:stCondLst>
                                    <p:cond delay="120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500"/>
                                        <p:tgtEl>
                                          <p:spTgt spid="48"/>
                                        </p:tgtEl>
                                      </p:cBhvr>
                                    </p:animEffect>
                                  </p:childTnLst>
                                </p:cTn>
                              </p:par>
                              <p:par>
                                <p:cTn id="55" presetID="10" presetClass="entr" presetSubtype="0" fill="hold" nodeType="withEffect">
                                  <p:stCondLst>
                                    <p:cond delay="130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nodeType="withEffect">
                                  <p:stCondLst>
                                    <p:cond delay="800"/>
                                  </p:stCondLst>
                                  <p:childTnLst>
                                    <p:set>
                                      <p:cBhvr>
                                        <p:cTn id="59" dur="1" fill="hold">
                                          <p:stCondLst>
                                            <p:cond delay="0"/>
                                          </p:stCondLst>
                                        </p:cTn>
                                        <p:tgtEl>
                                          <p:spTgt spid="52"/>
                                        </p:tgtEl>
                                        <p:attrNameLst>
                                          <p:attrName>style.visibility</p:attrName>
                                        </p:attrNameLst>
                                      </p:cBhvr>
                                      <p:to>
                                        <p:strVal val="visible"/>
                                      </p:to>
                                    </p:set>
                                    <p:animEffect transition="in" filter="fade">
                                      <p:cBhvr>
                                        <p:cTn id="60" dur="500"/>
                                        <p:tgtEl>
                                          <p:spTgt spid="52"/>
                                        </p:tgtEl>
                                      </p:cBhvr>
                                    </p:animEffect>
                                  </p:childTnLst>
                                </p:cTn>
                              </p:par>
                              <p:par>
                                <p:cTn id="61" presetID="10" presetClass="entr" presetSubtype="0" fill="hold" nodeType="withEffect">
                                  <p:stCondLst>
                                    <p:cond delay="90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500"/>
                                        <p:tgtEl>
                                          <p:spTgt spid="54"/>
                                        </p:tgtEl>
                                      </p:cBhvr>
                                    </p:animEffect>
                                  </p:childTnLst>
                                </p:cTn>
                              </p:par>
                              <p:par>
                                <p:cTn id="64" presetID="10" presetClass="entr" presetSubtype="0" fill="hold" nodeType="withEffect">
                                  <p:stCondLst>
                                    <p:cond delay="150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500"/>
                                        <p:tgtEl>
                                          <p:spTgt spid="53"/>
                                        </p:tgtEl>
                                      </p:cBhvr>
                                    </p:animEffect>
                                  </p:childTnLst>
                                </p:cTn>
                              </p:par>
                              <p:par>
                                <p:cTn id="67" presetID="10" presetClass="entr" presetSubtype="0" fill="hold" nodeType="withEffect">
                                  <p:stCondLst>
                                    <p:cond delay="900"/>
                                  </p:stCondLst>
                                  <p:childTnLst>
                                    <p:set>
                                      <p:cBhvr>
                                        <p:cTn id="68" dur="1" fill="hold">
                                          <p:stCondLst>
                                            <p:cond delay="0"/>
                                          </p:stCondLst>
                                        </p:cTn>
                                        <p:tgtEl>
                                          <p:spTgt spid="57"/>
                                        </p:tgtEl>
                                        <p:attrNameLst>
                                          <p:attrName>style.visibility</p:attrName>
                                        </p:attrNameLst>
                                      </p:cBhvr>
                                      <p:to>
                                        <p:strVal val="visible"/>
                                      </p:to>
                                    </p:set>
                                    <p:animEffect transition="in" filter="fade">
                                      <p:cBhvr>
                                        <p:cTn id="69" dur="500"/>
                                        <p:tgtEl>
                                          <p:spTgt spid="57"/>
                                        </p:tgtEl>
                                      </p:cBhvr>
                                    </p:animEffect>
                                  </p:childTnLst>
                                </p:cTn>
                              </p:par>
                              <p:par>
                                <p:cTn id="70" presetID="22" presetClass="entr" presetSubtype="8" fill="hold" grpId="0" nodeType="withEffect">
                                  <p:stCondLst>
                                    <p:cond delay="500"/>
                                  </p:stCondLst>
                                  <p:childTnLst>
                                    <p:set>
                                      <p:cBhvr>
                                        <p:cTn id="71" dur="1" fill="hold">
                                          <p:stCondLst>
                                            <p:cond delay="0"/>
                                          </p:stCondLst>
                                        </p:cTn>
                                        <p:tgtEl>
                                          <p:spTgt spid="58"/>
                                        </p:tgtEl>
                                        <p:attrNameLst>
                                          <p:attrName>style.visibility</p:attrName>
                                        </p:attrNameLst>
                                      </p:cBhvr>
                                      <p:to>
                                        <p:strVal val="visible"/>
                                      </p:to>
                                    </p:set>
                                    <p:animEffect transition="in" filter="wipe(left)">
                                      <p:cBhvr>
                                        <p:cTn id="72" dur="500"/>
                                        <p:tgtEl>
                                          <p:spTgt spid="58"/>
                                        </p:tgtEl>
                                      </p:cBhvr>
                                    </p:animEffect>
                                  </p:childTnLst>
                                </p:cTn>
                              </p:par>
                              <p:par>
                                <p:cTn id="73" presetID="10" presetClass="entr" presetSubtype="0" fill="hold" nodeType="withEffect">
                                  <p:stCondLst>
                                    <p:cond delay="50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250"/>
                                        <p:tgtEl>
                                          <p:spTgt spid="59"/>
                                        </p:tgtEl>
                                      </p:cBhvr>
                                    </p:animEffect>
                                  </p:childTnLst>
                                </p:cTn>
                              </p:par>
                              <p:par>
                                <p:cTn id="76" presetID="42" presetClass="path" presetSubtype="0" decel="100000" fill="hold" nodeType="withEffect">
                                  <p:stCondLst>
                                    <p:cond delay="500"/>
                                  </p:stCondLst>
                                  <p:childTnLst>
                                    <p:animMotion origin="layout" path="M -0.01719 -0.00024 L -6.25E-7 4.07407E-6 " pathEditMode="relative" rAng="0" ptsTypes="AA">
                                      <p:cBhvr>
                                        <p:cTn id="77" dur="500" fill="hold"/>
                                        <p:tgtEl>
                                          <p:spTgt spid="59"/>
                                        </p:tgtEl>
                                        <p:attrNameLst>
                                          <p:attrName>ppt_x</p:attrName>
                                          <p:attrName>ppt_y</p:attrName>
                                        </p:attrNameLst>
                                      </p:cBhvr>
                                      <p:rCtr x="859" y="0"/>
                                    </p:animMotion>
                                  </p:childTnLst>
                                </p:cTn>
                              </p:par>
                              <p:par>
                                <p:cTn id="78" presetID="22" presetClass="entr" presetSubtype="8" fill="hold" grpId="0" nodeType="withEffect">
                                  <p:stCondLst>
                                    <p:cond delay="500"/>
                                  </p:stCondLst>
                                  <p:childTnLst>
                                    <p:set>
                                      <p:cBhvr>
                                        <p:cTn id="79" dur="1" fill="hold">
                                          <p:stCondLst>
                                            <p:cond delay="0"/>
                                          </p:stCondLst>
                                        </p:cTn>
                                        <p:tgtEl>
                                          <p:spTgt spid="62"/>
                                        </p:tgtEl>
                                        <p:attrNameLst>
                                          <p:attrName>style.visibility</p:attrName>
                                        </p:attrNameLst>
                                      </p:cBhvr>
                                      <p:to>
                                        <p:strVal val="visible"/>
                                      </p:to>
                                    </p:set>
                                    <p:animEffect transition="in" filter="wipe(left)">
                                      <p:cBhvr>
                                        <p:cTn id="80" dur="500"/>
                                        <p:tgtEl>
                                          <p:spTgt spid="62"/>
                                        </p:tgtEl>
                                      </p:cBhvr>
                                    </p:animEffect>
                                  </p:childTnLst>
                                </p:cTn>
                              </p:par>
                              <p:par>
                                <p:cTn id="81" presetID="10" presetClass="entr" presetSubtype="0" fill="hold" nodeType="withEffect">
                                  <p:stCondLst>
                                    <p:cond delay="500"/>
                                  </p:stCondLst>
                                  <p:childTnLst>
                                    <p:set>
                                      <p:cBhvr>
                                        <p:cTn id="82" dur="1" fill="hold">
                                          <p:stCondLst>
                                            <p:cond delay="0"/>
                                          </p:stCondLst>
                                        </p:cTn>
                                        <p:tgtEl>
                                          <p:spTgt spid="63"/>
                                        </p:tgtEl>
                                        <p:attrNameLst>
                                          <p:attrName>style.visibility</p:attrName>
                                        </p:attrNameLst>
                                      </p:cBhvr>
                                      <p:to>
                                        <p:strVal val="visible"/>
                                      </p:to>
                                    </p:set>
                                    <p:animEffect transition="in" filter="fade">
                                      <p:cBhvr>
                                        <p:cTn id="83" dur="250"/>
                                        <p:tgtEl>
                                          <p:spTgt spid="63"/>
                                        </p:tgtEl>
                                      </p:cBhvr>
                                    </p:animEffect>
                                  </p:childTnLst>
                                </p:cTn>
                              </p:par>
                              <p:par>
                                <p:cTn id="84" presetID="42" presetClass="path" presetSubtype="0" decel="100000" fill="hold" nodeType="withEffect">
                                  <p:stCondLst>
                                    <p:cond delay="500"/>
                                  </p:stCondLst>
                                  <p:childTnLst>
                                    <p:animMotion origin="layout" path="M -0.01718 -0.00023 L -4.16667E-6 -2.59259E-6 " pathEditMode="relative" rAng="0" ptsTypes="AA">
                                      <p:cBhvr>
                                        <p:cTn id="85" dur="500" fill="hold"/>
                                        <p:tgtEl>
                                          <p:spTgt spid="63"/>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8" grpId="0" animBg="1"/>
      <p:bldP spid="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35796-511F-C42C-2335-E9457CE720D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9E296A-0586-BE4E-B1F7-8BC9DA36979C}"/>
              </a:ext>
            </a:extLst>
          </p:cNvPr>
          <p:cNvSpPr>
            <a:spLocks noGrp="1"/>
          </p:cNvSpPr>
          <p:nvPr>
            <p:ph type="title"/>
          </p:nvPr>
        </p:nvSpPr>
        <p:spPr/>
        <p:txBody>
          <a:bodyPr/>
          <a:lstStyle/>
          <a:p>
            <a:r>
              <a:rPr lang="es-ES" dirty="0"/>
              <a:t>Que es Work IQ</a:t>
            </a:r>
            <a:endParaRPr lang="en-US" dirty="0"/>
          </a:p>
        </p:txBody>
      </p:sp>
      <p:pic>
        <p:nvPicPr>
          <p:cNvPr id="4" name="Picture 3" descr="Diagram showing Work IQ with integrated data, context, and skills + tools layers.">
            <a:extLst>
              <a:ext uri="{FF2B5EF4-FFF2-40B4-BE49-F238E27FC236}">
                <a16:creationId xmlns:a16="http://schemas.microsoft.com/office/drawing/2014/main" id="{50419629-B40A-1A3E-59E9-FEB8131CCEB8}"/>
              </a:ext>
            </a:extLst>
          </p:cNvPr>
          <p:cNvPicPr>
            <a:picLocks noChangeAspect="1"/>
          </p:cNvPicPr>
          <p:nvPr/>
        </p:nvPicPr>
        <p:blipFill>
          <a:blip r:embed="rId3"/>
          <a:srcRect t="3464" b="2789"/>
          <a:stretch>
            <a:fillRect/>
          </a:stretch>
        </p:blipFill>
        <p:spPr>
          <a:xfrm>
            <a:off x="1191491" y="761332"/>
            <a:ext cx="9967061" cy="5168413"/>
          </a:xfrm>
          <a:prstGeom prst="rect">
            <a:avLst/>
          </a:prstGeom>
        </p:spPr>
      </p:pic>
      <p:pic>
        <p:nvPicPr>
          <p:cNvPr id="2" name="Picture Placeholder 3" descr="A person smiling for a picture  AI-generated content may be incorrect.">
            <a:extLst>
              <a:ext uri="{FF2B5EF4-FFF2-40B4-BE49-F238E27FC236}">
                <a16:creationId xmlns:a16="http://schemas.microsoft.com/office/drawing/2014/main" id="{A6FAC74B-9D58-D136-2E85-A40927D9E028}"/>
              </a:ext>
            </a:extLst>
          </p:cNvPr>
          <p:cNvPicPr>
            <a:picLocks noChangeAspect="1"/>
          </p:cNvPicPr>
          <p:nvPr/>
        </p:nvPicPr>
        <p:blipFill>
          <a:blip r:embed="rId4"/>
          <a:srcRect l="1123" r="1123"/>
          <a:stretch>
            <a:fillRect/>
          </a:stretch>
        </p:blipFill>
        <p:spPr>
          <a:xfrm>
            <a:off x="11370252" y="103914"/>
            <a:ext cx="640080" cy="636080"/>
          </a:xfrm>
          <a:prstGeom prst="ellipse">
            <a:avLst/>
          </a:prstGeom>
          <a:ln>
            <a:noFill/>
          </a:ln>
          <a:effectLst>
            <a:softEdge rad="112500"/>
          </a:effectLst>
        </p:spPr>
      </p:pic>
    </p:spTree>
    <p:extLst>
      <p:ext uri="{BB962C8B-B14F-4D97-AF65-F5344CB8AC3E}">
        <p14:creationId xmlns:p14="http://schemas.microsoft.com/office/powerpoint/2010/main" val="21099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0714-58FC-6C29-E778-776BA6531FD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A87C47-6CDA-178B-FCA8-D3EBD180FDE9}"/>
              </a:ext>
            </a:extLst>
          </p:cNvPr>
          <p:cNvSpPr>
            <a:spLocks noGrp="1"/>
          </p:cNvSpPr>
          <p:nvPr>
            <p:ph type="body" sz="quarter" idx="4294967295"/>
          </p:nvPr>
        </p:nvSpPr>
        <p:spPr>
          <a:xfrm>
            <a:off x="3827463" y="1389063"/>
            <a:ext cx="8364537" cy="4017962"/>
          </a:xfrm>
        </p:spPr>
        <p:txBody>
          <a:bodyPr/>
          <a:lstStyle/>
          <a:p>
            <a:endParaRPr lang="en-US" sz="1800" dirty="0"/>
          </a:p>
          <a:p>
            <a:endParaRPr lang="en-US" sz="1800" dirty="0"/>
          </a:p>
        </p:txBody>
      </p:sp>
      <p:sp>
        <p:nvSpPr>
          <p:cNvPr id="3" name="Intro">
            <a:extLst>
              <a:ext uri="{FF2B5EF4-FFF2-40B4-BE49-F238E27FC236}">
                <a16:creationId xmlns:a16="http://schemas.microsoft.com/office/drawing/2014/main" id="{86F1BC91-8196-7FA3-8BBD-7A1689D7B1CB}"/>
              </a:ext>
            </a:extLst>
          </p:cNvPr>
          <p:cNvSpPr txBox="1"/>
          <p:nvPr/>
        </p:nvSpPr>
        <p:spPr>
          <a:xfrm>
            <a:off x="519248" y="1101097"/>
            <a:ext cx="11172000" cy="500000"/>
          </a:xfrm>
          <a:prstGeom prst="rect">
            <a:avLst/>
          </a:prstGeom>
          <a:noFill/>
        </p:spPr>
        <p:txBody>
          <a:bodyPr wrap="square" lIns="0" tIns="0" rIns="0" bIns="0" anchor="t"/>
          <a:lstStyle/>
          <a:p>
            <a:pPr algn="l"/>
            <a:r>
              <a:rPr lang="es-ES" sz="1600" dirty="0">
                <a:solidFill>
                  <a:schemeClr val="bg1"/>
                </a:solidFill>
              </a:rPr>
              <a:t>Capa de inteligencia que personaliza Microsoft 365 </a:t>
            </a:r>
            <a:r>
              <a:rPr lang="es-ES" sz="1600" dirty="0" err="1">
                <a:solidFill>
                  <a:schemeClr val="bg1"/>
                </a:solidFill>
              </a:rPr>
              <a:t>Copilot</a:t>
            </a:r>
            <a:r>
              <a:rPr lang="es-ES" sz="1600" dirty="0">
                <a:solidFill>
                  <a:schemeClr val="bg1"/>
                </a:solidFill>
              </a:rPr>
              <a:t> conectando </a:t>
            </a:r>
            <a:r>
              <a:rPr lang="es-ES" sz="1600" b="1" dirty="0">
                <a:solidFill>
                  <a:srgbClr val="01ADE4"/>
                </a:solidFill>
              </a:rPr>
              <a:t>datos, contexto y acciones</a:t>
            </a:r>
            <a:r>
              <a:rPr lang="es-ES" sz="1600" dirty="0">
                <a:solidFill>
                  <a:srgbClr val="404040"/>
                </a:solidFill>
              </a:rPr>
              <a:t> </a:t>
            </a:r>
            <a:r>
              <a:rPr lang="es-ES" sz="1600" dirty="0">
                <a:solidFill>
                  <a:schemeClr val="bg1"/>
                </a:solidFill>
              </a:rPr>
              <a:t>para que entienda tu trabajo, tu rol y tu organización.</a:t>
            </a:r>
          </a:p>
        </p:txBody>
      </p:sp>
      <p:sp>
        <p:nvSpPr>
          <p:cNvPr id="4" name="Title 5">
            <a:extLst>
              <a:ext uri="{FF2B5EF4-FFF2-40B4-BE49-F238E27FC236}">
                <a16:creationId xmlns:a16="http://schemas.microsoft.com/office/drawing/2014/main" id="{55F4B30D-E0CF-B74D-B742-D5E4DD98B4A7}"/>
              </a:ext>
            </a:extLst>
          </p:cNvPr>
          <p:cNvSpPr>
            <a:spLocks noGrp="1"/>
          </p:cNvSpPr>
          <p:nvPr>
            <p:ph type="title"/>
          </p:nvPr>
        </p:nvSpPr>
        <p:spPr>
          <a:xfrm>
            <a:off x="519248" y="228604"/>
            <a:ext cx="11151917" cy="747897"/>
          </a:xfrm>
        </p:spPr>
        <p:txBody>
          <a:bodyPr/>
          <a:lstStyle/>
          <a:p>
            <a:r>
              <a:rPr lang="es-ES" dirty="0"/>
              <a:t>¿Qué es Work IQ?</a:t>
            </a:r>
            <a:endParaRPr lang="en-US" dirty="0"/>
          </a:p>
        </p:txBody>
      </p:sp>
      <p:sp>
        <p:nvSpPr>
          <p:cNvPr id="29" name="Shape 3">
            <a:extLst>
              <a:ext uri="{FF2B5EF4-FFF2-40B4-BE49-F238E27FC236}">
                <a16:creationId xmlns:a16="http://schemas.microsoft.com/office/drawing/2014/main" id="{BA645DDB-755A-ED8C-DAF3-324A815EB7E9}"/>
              </a:ext>
            </a:extLst>
          </p:cNvPr>
          <p:cNvSpPr/>
          <p:nvPr/>
        </p:nvSpPr>
        <p:spPr>
          <a:xfrm>
            <a:off x="722284" y="1791527"/>
            <a:ext cx="3291840" cy="4145280"/>
          </a:xfrm>
          <a:prstGeom prst="rect">
            <a:avLst/>
          </a:prstGeom>
          <a:solidFill>
            <a:srgbClr val="161B2E"/>
          </a:solidFill>
          <a:ln w="12700">
            <a:solidFill>
              <a:srgbClr val="22D3EE"/>
            </a:solidFill>
            <a:prstDash val="solid"/>
          </a:ln>
        </p:spPr>
        <p:txBody>
          <a:bodyPr/>
          <a:lstStyle/>
          <a:p>
            <a:endParaRPr lang="en-US" sz="2400">
              <a:latin typeface="Segoe UI (Body)"/>
            </a:endParaRPr>
          </a:p>
        </p:txBody>
      </p:sp>
      <p:sp>
        <p:nvSpPr>
          <p:cNvPr id="30" name="Shape 4">
            <a:extLst>
              <a:ext uri="{FF2B5EF4-FFF2-40B4-BE49-F238E27FC236}">
                <a16:creationId xmlns:a16="http://schemas.microsoft.com/office/drawing/2014/main" id="{FADE6331-1280-3E4C-8C0F-07350E07ADFD}"/>
              </a:ext>
            </a:extLst>
          </p:cNvPr>
          <p:cNvSpPr/>
          <p:nvPr/>
        </p:nvSpPr>
        <p:spPr>
          <a:xfrm>
            <a:off x="722284" y="1791527"/>
            <a:ext cx="3291840" cy="97536"/>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31" name="Image 0" descr="preencoded.png">
            <a:extLst>
              <a:ext uri="{FF2B5EF4-FFF2-40B4-BE49-F238E27FC236}">
                <a16:creationId xmlns:a16="http://schemas.microsoft.com/office/drawing/2014/main" id="{9E69B61E-6B17-D0F9-AE2E-9A2DE607FB9C}"/>
              </a:ext>
            </a:extLst>
          </p:cNvPr>
          <p:cNvPicPr>
            <a:picLocks noChangeAspect="1"/>
          </p:cNvPicPr>
          <p:nvPr/>
        </p:nvPicPr>
        <p:blipFill>
          <a:blip r:embed="rId2"/>
          <a:stretch>
            <a:fillRect/>
          </a:stretch>
        </p:blipFill>
        <p:spPr>
          <a:xfrm>
            <a:off x="966124" y="2071943"/>
            <a:ext cx="609600" cy="609600"/>
          </a:xfrm>
          <a:prstGeom prst="rect">
            <a:avLst/>
          </a:prstGeom>
        </p:spPr>
      </p:pic>
      <p:sp>
        <p:nvSpPr>
          <p:cNvPr id="32" name="Text 5">
            <a:extLst>
              <a:ext uri="{FF2B5EF4-FFF2-40B4-BE49-F238E27FC236}">
                <a16:creationId xmlns:a16="http://schemas.microsoft.com/office/drawing/2014/main" id="{19C74E80-EC8C-1D1D-4CA5-1998AF4AD3B0}"/>
              </a:ext>
            </a:extLst>
          </p:cNvPr>
          <p:cNvSpPr/>
          <p:nvPr/>
        </p:nvSpPr>
        <p:spPr>
          <a:xfrm>
            <a:off x="1697644" y="2071943"/>
            <a:ext cx="2255520" cy="365760"/>
          </a:xfrm>
          <a:prstGeom prst="rect">
            <a:avLst/>
          </a:prstGeom>
          <a:noFill/>
          <a:ln/>
        </p:spPr>
        <p:txBody>
          <a:bodyPr wrap="square" lIns="0" tIns="0" rIns="0" bIns="0" rtlCol="0" anchor="ctr"/>
          <a:lstStyle/>
          <a:p>
            <a:r>
              <a:rPr lang="en-US" sz="1867" b="1" kern="0" spc="400" dirty="0">
                <a:solidFill>
                  <a:srgbClr val="22D3EE"/>
                </a:solidFill>
                <a:latin typeface="Segoe UI (Body)"/>
                <a:ea typeface="Consolas" pitchFamily="34" charset="-122"/>
                <a:cs typeface="Consolas" pitchFamily="34" charset="-120"/>
              </a:rPr>
              <a:t>DATOS</a:t>
            </a:r>
            <a:endParaRPr lang="en-US" sz="1867" dirty="0">
              <a:latin typeface="Segoe UI (Body)"/>
            </a:endParaRPr>
          </a:p>
        </p:txBody>
      </p:sp>
      <p:sp>
        <p:nvSpPr>
          <p:cNvPr id="33" name="Text 6">
            <a:extLst>
              <a:ext uri="{FF2B5EF4-FFF2-40B4-BE49-F238E27FC236}">
                <a16:creationId xmlns:a16="http://schemas.microsoft.com/office/drawing/2014/main" id="{CD8E4FCA-F62D-A9C4-CC46-DE4B61AC20E5}"/>
              </a:ext>
            </a:extLst>
          </p:cNvPr>
          <p:cNvSpPr/>
          <p:nvPr/>
        </p:nvSpPr>
        <p:spPr>
          <a:xfrm>
            <a:off x="1697644" y="2401127"/>
            <a:ext cx="2255520" cy="304800"/>
          </a:xfrm>
          <a:prstGeom prst="rect">
            <a:avLst/>
          </a:prstGeom>
          <a:noFill/>
          <a:ln/>
        </p:spPr>
        <p:txBody>
          <a:bodyPr wrap="square" lIns="0" tIns="0" rIns="0" bIns="0" rtlCol="0" anchor="ctr"/>
          <a:lstStyle/>
          <a:p>
            <a:r>
              <a:rPr lang="en-US" sz="1333" i="1" dirty="0">
                <a:solidFill>
                  <a:srgbClr val="94A3B8"/>
                </a:solidFill>
                <a:latin typeface="Segoe UI (Body)"/>
                <a:ea typeface="Calibri" pitchFamily="34" charset="-122"/>
                <a:cs typeface="Calibri" pitchFamily="34" charset="-120"/>
              </a:rPr>
              <a:t>Data Layer</a:t>
            </a:r>
            <a:endParaRPr lang="en-US" sz="1333" dirty="0">
              <a:latin typeface="Segoe UI (Body)"/>
            </a:endParaRPr>
          </a:p>
        </p:txBody>
      </p:sp>
      <p:sp>
        <p:nvSpPr>
          <p:cNvPr id="34" name="Text 7">
            <a:extLst>
              <a:ext uri="{FF2B5EF4-FFF2-40B4-BE49-F238E27FC236}">
                <a16:creationId xmlns:a16="http://schemas.microsoft.com/office/drawing/2014/main" id="{36E0E064-CA34-66A9-D732-EA38A01931CB}"/>
              </a:ext>
            </a:extLst>
          </p:cNvPr>
          <p:cNvSpPr/>
          <p:nvPr/>
        </p:nvSpPr>
        <p:spPr>
          <a:xfrm>
            <a:off x="966124" y="2888807"/>
            <a:ext cx="2804160" cy="1584960"/>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Acceso seguro a información estructurada y no estructurada desde Microsoft Graph, Dataverse y conectores de Copilot.</a:t>
            </a:r>
            <a:endParaRPr lang="en-US" sz="1467" dirty="0">
              <a:latin typeface="Segoe UI (Body)"/>
            </a:endParaRPr>
          </a:p>
        </p:txBody>
      </p:sp>
      <p:sp>
        <p:nvSpPr>
          <p:cNvPr id="35" name="Text 8">
            <a:extLst>
              <a:ext uri="{FF2B5EF4-FFF2-40B4-BE49-F238E27FC236}">
                <a16:creationId xmlns:a16="http://schemas.microsoft.com/office/drawing/2014/main" id="{D1E644CA-013F-56A9-E0EA-1F7C5F606D3F}"/>
              </a:ext>
            </a:extLst>
          </p:cNvPr>
          <p:cNvSpPr/>
          <p:nvPr/>
        </p:nvSpPr>
        <p:spPr>
          <a:xfrm>
            <a:off x="966124" y="4473767"/>
            <a:ext cx="2804160" cy="1463040"/>
          </a:xfrm>
          <a:prstGeom prst="rect">
            <a:avLst/>
          </a:prstGeom>
          <a:noFill/>
          <a:ln/>
        </p:spPr>
        <p:txBody>
          <a:bodyPr wrap="square" rtlCol="0" anchor="ctr"/>
          <a:lstStyle/>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SharePoint · OneDrive</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Outlook · Teams</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Dynamics 365 · Power Apps</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Conectores de Copilot</a:t>
            </a:r>
            <a:endParaRPr lang="en-US" sz="1333" dirty="0">
              <a:latin typeface="Segoe UI (Body)"/>
            </a:endParaRPr>
          </a:p>
        </p:txBody>
      </p:sp>
      <p:sp>
        <p:nvSpPr>
          <p:cNvPr id="36" name="Shape 9">
            <a:extLst>
              <a:ext uri="{FF2B5EF4-FFF2-40B4-BE49-F238E27FC236}">
                <a16:creationId xmlns:a16="http://schemas.microsoft.com/office/drawing/2014/main" id="{6F9E3664-DC05-F63C-6A06-4EC878F9CE42}"/>
              </a:ext>
            </a:extLst>
          </p:cNvPr>
          <p:cNvSpPr/>
          <p:nvPr/>
        </p:nvSpPr>
        <p:spPr>
          <a:xfrm>
            <a:off x="4440844" y="1791527"/>
            <a:ext cx="3291840" cy="4145280"/>
          </a:xfrm>
          <a:prstGeom prst="rect">
            <a:avLst/>
          </a:prstGeom>
          <a:solidFill>
            <a:srgbClr val="161B2E"/>
          </a:solidFill>
          <a:ln w="12700">
            <a:solidFill>
              <a:srgbClr val="A78BFA"/>
            </a:solidFill>
            <a:prstDash val="solid"/>
          </a:ln>
        </p:spPr>
        <p:txBody>
          <a:bodyPr/>
          <a:lstStyle/>
          <a:p>
            <a:endParaRPr lang="en-US" sz="2400">
              <a:latin typeface="Segoe UI (Body)"/>
            </a:endParaRPr>
          </a:p>
        </p:txBody>
      </p:sp>
      <p:sp>
        <p:nvSpPr>
          <p:cNvPr id="37" name="Shape 10">
            <a:extLst>
              <a:ext uri="{FF2B5EF4-FFF2-40B4-BE49-F238E27FC236}">
                <a16:creationId xmlns:a16="http://schemas.microsoft.com/office/drawing/2014/main" id="{C087CF6F-E133-7FD1-2A2D-7A61A372105D}"/>
              </a:ext>
            </a:extLst>
          </p:cNvPr>
          <p:cNvSpPr/>
          <p:nvPr/>
        </p:nvSpPr>
        <p:spPr>
          <a:xfrm>
            <a:off x="4440844" y="1791527"/>
            <a:ext cx="3291840" cy="97536"/>
          </a:xfrm>
          <a:prstGeom prst="rect">
            <a:avLst/>
          </a:prstGeom>
          <a:solidFill>
            <a:srgbClr val="A78BFA"/>
          </a:solidFill>
          <a:ln w="12700">
            <a:solidFill>
              <a:srgbClr val="A78BFA"/>
            </a:solidFill>
            <a:prstDash val="solid"/>
          </a:ln>
        </p:spPr>
        <p:txBody>
          <a:bodyPr/>
          <a:lstStyle/>
          <a:p>
            <a:endParaRPr lang="en-US" sz="2400">
              <a:latin typeface="Segoe UI (Body)"/>
            </a:endParaRPr>
          </a:p>
        </p:txBody>
      </p:sp>
      <p:pic>
        <p:nvPicPr>
          <p:cNvPr id="38" name="Image 1" descr="preencoded.png">
            <a:extLst>
              <a:ext uri="{FF2B5EF4-FFF2-40B4-BE49-F238E27FC236}">
                <a16:creationId xmlns:a16="http://schemas.microsoft.com/office/drawing/2014/main" id="{B93414F1-92A2-334C-5942-DEAEE3034575}"/>
              </a:ext>
            </a:extLst>
          </p:cNvPr>
          <p:cNvPicPr>
            <a:picLocks noChangeAspect="1"/>
          </p:cNvPicPr>
          <p:nvPr/>
        </p:nvPicPr>
        <p:blipFill>
          <a:blip r:embed="rId3"/>
          <a:stretch>
            <a:fillRect/>
          </a:stretch>
        </p:blipFill>
        <p:spPr>
          <a:xfrm>
            <a:off x="4684684" y="2071943"/>
            <a:ext cx="609600" cy="609600"/>
          </a:xfrm>
          <a:prstGeom prst="rect">
            <a:avLst/>
          </a:prstGeom>
        </p:spPr>
      </p:pic>
      <p:sp>
        <p:nvSpPr>
          <p:cNvPr id="39" name="Text 11">
            <a:extLst>
              <a:ext uri="{FF2B5EF4-FFF2-40B4-BE49-F238E27FC236}">
                <a16:creationId xmlns:a16="http://schemas.microsoft.com/office/drawing/2014/main" id="{C9A01427-8832-4ED4-15CF-6B98C07DBEDD}"/>
              </a:ext>
            </a:extLst>
          </p:cNvPr>
          <p:cNvSpPr/>
          <p:nvPr/>
        </p:nvSpPr>
        <p:spPr>
          <a:xfrm>
            <a:off x="5416204" y="2071943"/>
            <a:ext cx="2255520" cy="365760"/>
          </a:xfrm>
          <a:prstGeom prst="rect">
            <a:avLst/>
          </a:prstGeom>
          <a:noFill/>
          <a:ln/>
        </p:spPr>
        <p:txBody>
          <a:bodyPr wrap="square" lIns="0" tIns="0" rIns="0" bIns="0" rtlCol="0" anchor="ctr"/>
          <a:lstStyle/>
          <a:p>
            <a:r>
              <a:rPr lang="en-US" sz="1867" b="1" kern="0" spc="400" dirty="0">
                <a:solidFill>
                  <a:srgbClr val="A78BFA"/>
                </a:solidFill>
                <a:latin typeface="Segoe UI (Body)"/>
                <a:ea typeface="Consolas" pitchFamily="34" charset="-122"/>
                <a:cs typeface="Consolas" pitchFamily="34" charset="-120"/>
              </a:rPr>
              <a:t>CONTEXTO</a:t>
            </a:r>
            <a:endParaRPr lang="en-US" sz="1867" dirty="0">
              <a:latin typeface="Segoe UI (Body)"/>
            </a:endParaRPr>
          </a:p>
        </p:txBody>
      </p:sp>
      <p:sp>
        <p:nvSpPr>
          <p:cNvPr id="40" name="Text 12">
            <a:extLst>
              <a:ext uri="{FF2B5EF4-FFF2-40B4-BE49-F238E27FC236}">
                <a16:creationId xmlns:a16="http://schemas.microsoft.com/office/drawing/2014/main" id="{7B451DE1-788F-64B3-4BAC-9B0242B9CC41}"/>
              </a:ext>
            </a:extLst>
          </p:cNvPr>
          <p:cNvSpPr/>
          <p:nvPr/>
        </p:nvSpPr>
        <p:spPr>
          <a:xfrm>
            <a:off x="5416204" y="2401127"/>
            <a:ext cx="2255520" cy="304800"/>
          </a:xfrm>
          <a:prstGeom prst="rect">
            <a:avLst/>
          </a:prstGeom>
          <a:noFill/>
          <a:ln/>
        </p:spPr>
        <p:txBody>
          <a:bodyPr wrap="square" lIns="0" tIns="0" rIns="0" bIns="0" rtlCol="0" anchor="ctr"/>
          <a:lstStyle/>
          <a:p>
            <a:r>
              <a:rPr lang="en-US" sz="1333" i="1" dirty="0">
                <a:solidFill>
                  <a:srgbClr val="94A3B8"/>
                </a:solidFill>
                <a:latin typeface="Segoe UI (Body)"/>
                <a:ea typeface="Calibri" pitchFamily="34" charset="-122"/>
                <a:cs typeface="Calibri" pitchFamily="34" charset="-120"/>
              </a:rPr>
              <a:t>Context / Memory</a:t>
            </a:r>
            <a:endParaRPr lang="en-US" sz="1333" dirty="0">
              <a:latin typeface="Segoe UI (Body)"/>
            </a:endParaRPr>
          </a:p>
        </p:txBody>
      </p:sp>
      <p:sp>
        <p:nvSpPr>
          <p:cNvPr id="41" name="Text 13">
            <a:extLst>
              <a:ext uri="{FF2B5EF4-FFF2-40B4-BE49-F238E27FC236}">
                <a16:creationId xmlns:a16="http://schemas.microsoft.com/office/drawing/2014/main" id="{7EA68CF5-0EEB-CE9D-07A7-AD862249C042}"/>
              </a:ext>
            </a:extLst>
          </p:cNvPr>
          <p:cNvSpPr/>
          <p:nvPr/>
        </p:nvSpPr>
        <p:spPr>
          <a:xfrm>
            <a:off x="4684684" y="2888807"/>
            <a:ext cx="2804160" cy="1584960"/>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Entendimiento persistente de cómo trabajan personas y equipos: habilidades, proyectos, prioridades y memoria de Copilot.</a:t>
            </a:r>
            <a:endParaRPr lang="en-US" sz="1467" dirty="0">
              <a:latin typeface="Segoe UI (Body)"/>
            </a:endParaRPr>
          </a:p>
        </p:txBody>
      </p:sp>
      <p:sp>
        <p:nvSpPr>
          <p:cNvPr id="42" name="Text 14">
            <a:extLst>
              <a:ext uri="{FF2B5EF4-FFF2-40B4-BE49-F238E27FC236}">
                <a16:creationId xmlns:a16="http://schemas.microsoft.com/office/drawing/2014/main" id="{4EAAF130-0650-F037-FD5A-3FC1798C749E}"/>
              </a:ext>
            </a:extLst>
          </p:cNvPr>
          <p:cNvSpPr/>
          <p:nvPr/>
        </p:nvSpPr>
        <p:spPr>
          <a:xfrm>
            <a:off x="4684684" y="4473767"/>
            <a:ext cx="2804160" cy="1463040"/>
          </a:xfrm>
          <a:prstGeom prst="rect">
            <a:avLst/>
          </a:prstGeom>
          <a:noFill/>
          <a:ln/>
        </p:spPr>
        <p:txBody>
          <a:bodyPr wrap="square" rtlCol="0" anchor="ctr"/>
          <a:lstStyle/>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Índice semántico</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Memoria de Copilot</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Ontologías y glosarios</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Patrones de colaboración</a:t>
            </a:r>
            <a:endParaRPr lang="en-US" sz="1333" dirty="0">
              <a:latin typeface="Segoe UI (Body)"/>
            </a:endParaRPr>
          </a:p>
        </p:txBody>
      </p:sp>
      <p:sp>
        <p:nvSpPr>
          <p:cNvPr id="43" name="Shape 15">
            <a:extLst>
              <a:ext uri="{FF2B5EF4-FFF2-40B4-BE49-F238E27FC236}">
                <a16:creationId xmlns:a16="http://schemas.microsoft.com/office/drawing/2014/main" id="{5062EDDC-F819-4C10-84BA-82C4183B4660}"/>
              </a:ext>
            </a:extLst>
          </p:cNvPr>
          <p:cNvSpPr/>
          <p:nvPr/>
        </p:nvSpPr>
        <p:spPr>
          <a:xfrm>
            <a:off x="8159404" y="1791527"/>
            <a:ext cx="3291840" cy="4145280"/>
          </a:xfrm>
          <a:prstGeom prst="rect">
            <a:avLst/>
          </a:prstGeom>
          <a:solidFill>
            <a:srgbClr val="161B2E"/>
          </a:solidFill>
          <a:ln w="12700">
            <a:solidFill>
              <a:srgbClr val="F472B6"/>
            </a:solidFill>
            <a:prstDash val="solid"/>
          </a:ln>
        </p:spPr>
        <p:txBody>
          <a:bodyPr/>
          <a:lstStyle/>
          <a:p>
            <a:endParaRPr lang="en-US" sz="2400">
              <a:latin typeface="Segoe UI (Body)"/>
            </a:endParaRPr>
          </a:p>
        </p:txBody>
      </p:sp>
      <p:sp>
        <p:nvSpPr>
          <p:cNvPr id="44" name="Shape 16">
            <a:extLst>
              <a:ext uri="{FF2B5EF4-FFF2-40B4-BE49-F238E27FC236}">
                <a16:creationId xmlns:a16="http://schemas.microsoft.com/office/drawing/2014/main" id="{E9B745B1-BDD0-F94B-CB94-5E8205B93079}"/>
              </a:ext>
            </a:extLst>
          </p:cNvPr>
          <p:cNvSpPr/>
          <p:nvPr/>
        </p:nvSpPr>
        <p:spPr>
          <a:xfrm>
            <a:off x="8159404" y="1791527"/>
            <a:ext cx="3291840" cy="97536"/>
          </a:xfrm>
          <a:prstGeom prst="rect">
            <a:avLst/>
          </a:prstGeom>
          <a:solidFill>
            <a:srgbClr val="F472B6"/>
          </a:solidFill>
          <a:ln w="12700">
            <a:solidFill>
              <a:srgbClr val="F472B6"/>
            </a:solidFill>
            <a:prstDash val="solid"/>
          </a:ln>
        </p:spPr>
        <p:txBody>
          <a:bodyPr/>
          <a:lstStyle/>
          <a:p>
            <a:endParaRPr lang="en-US" sz="2400">
              <a:latin typeface="Segoe UI (Body)"/>
            </a:endParaRPr>
          </a:p>
        </p:txBody>
      </p:sp>
      <p:pic>
        <p:nvPicPr>
          <p:cNvPr id="45" name="Image 2" descr="preencoded.png">
            <a:extLst>
              <a:ext uri="{FF2B5EF4-FFF2-40B4-BE49-F238E27FC236}">
                <a16:creationId xmlns:a16="http://schemas.microsoft.com/office/drawing/2014/main" id="{7663F9B1-4C3E-5A72-A46D-B92D6691D643}"/>
              </a:ext>
            </a:extLst>
          </p:cNvPr>
          <p:cNvPicPr>
            <a:picLocks noChangeAspect="1"/>
          </p:cNvPicPr>
          <p:nvPr/>
        </p:nvPicPr>
        <p:blipFill>
          <a:blip r:embed="rId4"/>
          <a:stretch>
            <a:fillRect/>
          </a:stretch>
        </p:blipFill>
        <p:spPr>
          <a:xfrm>
            <a:off x="8403244" y="2071943"/>
            <a:ext cx="609600" cy="609600"/>
          </a:xfrm>
          <a:prstGeom prst="rect">
            <a:avLst/>
          </a:prstGeom>
        </p:spPr>
      </p:pic>
      <p:sp>
        <p:nvSpPr>
          <p:cNvPr id="46" name="Text 17">
            <a:extLst>
              <a:ext uri="{FF2B5EF4-FFF2-40B4-BE49-F238E27FC236}">
                <a16:creationId xmlns:a16="http://schemas.microsoft.com/office/drawing/2014/main" id="{3628B395-B8DE-70FC-F75F-A1CCAE4C6891}"/>
              </a:ext>
            </a:extLst>
          </p:cNvPr>
          <p:cNvSpPr/>
          <p:nvPr/>
        </p:nvSpPr>
        <p:spPr>
          <a:xfrm>
            <a:off x="9134764" y="2071943"/>
            <a:ext cx="2255520" cy="365760"/>
          </a:xfrm>
          <a:prstGeom prst="rect">
            <a:avLst/>
          </a:prstGeom>
          <a:noFill/>
          <a:ln/>
        </p:spPr>
        <p:txBody>
          <a:bodyPr wrap="square" lIns="0" tIns="0" rIns="0" bIns="0" rtlCol="0" anchor="ctr"/>
          <a:lstStyle/>
          <a:p>
            <a:r>
              <a:rPr lang="en-US" sz="1867" b="1" kern="0" spc="400" dirty="0">
                <a:solidFill>
                  <a:srgbClr val="F472B6"/>
                </a:solidFill>
                <a:latin typeface="Segoe UI (Body)"/>
                <a:ea typeface="Consolas" pitchFamily="34" charset="-122"/>
                <a:cs typeface="Consolas" pitchFamily="34" charset="-120"/>
              </a:rPr>
              <a:t>SKILLS</a:t>
            </a:r>
            <a:endParaRPr lang="en-US" sz="1867" dirty="0">
              <a:latin typeface="Segoe UI (Body)"/>
            </a:endParaRPr>
          </a:p>
        </p:txBody>
      </p:sp>
      <p:sp>
        <p:nvSpPr>
          <p:cNvPr id="47" name="Text 18">
            <a:extLst>
              <a:ext uri="{FF2B5EF4-FFF2-40B4-BE49-F238E27FC236}">
                <a16:creationId xmlns:a16="http://schemas.microsoft.com/office/drawing/2014/main" id="{46776BDD-858D-4B52-E23A-DC1C8E55AB22}"/>
              </a:ext>
            </a:extLst>
          </p:cNvPr>
          <p:cNvSpPr/>
          <p:nvPr/>
        </p:nvSpPr>
        <p:spPr>
          <a:xfrm>
            <a:off x="9134764" y="2401127"/>
            <a:ext cx="2255520" cy="304800"/>
          </a:xfrm>
          <a:prstGeom prst="rect">
            <a:avLst/>
          </a:prstGeom>
          <a:noFill/>
          <a:ln/>
        </p:spPr>
        <p:txBody>
          <a:bodyPr wrap="square" lIns="0" tIns="0" rIns="0" bIns="0" rtlCol="0" anchor="ctr"/>
          <a:lstStyle/>
          <a:p>
            <a:r>
              <a:rPr lang="en-US" sz="1333" i="1" dirty="0">
                <a:solidFill>
                  <a:srgbClr val="94A3B8"/>
                </a:solidFill>
                <a:latin typeface="Segoe UI (Body)"/>
                <a:ea typeface="Calibri" pitchFamily="34" charset="-122"/>
                <a:cs typeface="Calibri" pitchFamily="34" charset="-120"/>
              </a:rPr>
              <a:t>Skills &amp; Tools · Inference</a:t>
            </a:r>
            <a:endParaRPr lang="en-US" sz="1333" dirty="0">
              <a:latin typeface="Segoe UI (Body)"/>
            </a:endParaRPr>
          </a:p>
        </p:txBody>
      </p:sp>
      <p:sp>
        <p:nvSpPr>
          <p:cNvPr id="48" name="Text 19">
            <a:extLst>
              <a:ext uri="{FF2B5EF4-FFF2-40B4-BE49-F238E27FC236}">
                <a16:creationId xmlns:a16="http://schemas.microsoft.com/office/drawing/2014/main" id="{BE59D85C-93C7-7C73-1889-F86934C57AE8}"/>
              </a:ext>
            </a:extLst>
          </p:cNvPr>
          <p:cNvSpPr/>
          <p:nvPr/>
        </p:nvSpPr>
        <p:spPr>
          <a:xfrm>
            <a:off x="8403244" y="2888807"/>
            <a:ext cx="2804160" cy="1584960"/>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Skills agénticas y herramientas (MCP, plugins, APIs) que ejecutan acciones bajo el control plane de Agent 365.</a:t>
            </a:r>
            <a:endParaRPr lang="en-US" sz="1467" dirty="0">
              <a:latin typeface="Segoe UI (Body)"/>
            </a:endParaRPr>
          </a:p>
        </p:txBody>
      </p:sp>
      <p:sp>
        <p:nvSpPr>
          <p:cNvPr id="49" name="Text 20">
            <a:extLst>
              <a:ext uri="{FF2B5EF4-FFF2-40B4-BE49-F238E27FC236}">
                <a16:creationId xmlns:a16="http://schemas.microsoft.com/office/drawing/2014/main" id="{DD069FF4-5CAD-0361-D6D1-F62ABA47C48F}"/>
              </a:ext>
            </a:extLst>
          </p:cNvPr>
          <p:cNvSpPr/>
          <p:nvPr/>
        </p:nvSpPr>
        <p:spPr>
          <a:xfrm>
            <a:off x="8403244" y="4473767"/>
            <a:ext cx="2804160" cy="1463040"/>
          </a:xfrm>
          <a:prstGeom prst="rect">
            <a:avLst/>
          </a:prstGeom>
          <a:noFill/>
          <a:ln/>
        </p:spPr>
        <p:txBody>
          <a:bodyPr wrap="square" rtlCol="0" anchor="ctr"/>
          <a:lstStyle/>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Work IQ MCP</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Agentes y plugins</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Microsoft Agent 365</a:t>
            </a:r>
            <a:endParaRPr lang="en-US" sz="1333" dirty="0">
              <a:latin typeface="Segoe UI (Body)"/>
            </a:endParaRPr>
          </a:p>
          <a:p>
            <a:pPr marL="457189" indent="-457189">
              <a:spcAft>
                <a:spcPts val="400"/>
              </a:spcAft>
              <a:buSzPct val="100000"/>
              <a:buChar char="•"/>
            </a:pPr>
            <a:r>
              <a:rPr lang="en-US" sz="1333" dirty="0">
                <a:solidFill>
                  <a:srgbClr val="E5E7EB"/>
                </a:solidFill>
                <a:latin typeface="Segoe UI (Body)"/>
                <a:ea typeface="Calibri" pitchFamily="34" charset="-122"/>
                <a:cs typeface="Calibri" pitchFamily="34" charset="-120"/>
              </a:rPr>
              <a:t>Copilot Studio</a:t>
            </a:r>
            <a:endParaRPr lang="en-US" sz="1333" dirty="0">
              <a:latin typeface="Segoe UI (Body)"/>
            </a:endParaRPr>
          </a:p>
        </p:txBody>
      </p:sp>
      <p:pic>
        <p:nvPicPr>
          <p:cNvPr id="7" name="Picture Placeholder 3" descr="A person smiling for a picture  AI-generated content may be incorrect.">
            <a:extLst>
              <a:ext uri="{FF2B5EF4-FFF2-40B4-BE49-F238E27FC236}">
                <a16:creationId xmlns:a16="http://schemas.microsoft.com/office/drawing/2014/main" id="{F71D6881-FE16-8FDE-C65A-D23D2F3C0C22}"/>
              </a:ext>
            </a:extLst>
          </p:cNvPr>
          <p:cNvPicPr>
            <a:picLocks noChangeAspect="1"/>
          </p:cNvPicPr>
          <p:nvPr/>
        </p:nvPicPr>
        <p:blipFill>
          <a:blip r:embed="rId5"/>
          <a:srcRect l="1123" r="1123"/>
          <a:stretch>
            <a:fillRect/>
          </a:stretch>
        </p:blipFill>
        <p:spPr>
          <a:xfrm>
            <a:off x="11370252" y="103914"/>
            <a:ext cx="640080" cy="636080"/>
          </a:xfrm>
          <a:prstGeom prst="ellipse">
            <a:avLst/>
          </a:prstGeom>
          <a:ln>
            <a:noFill/>
          </a:ln>
          <a:effectLst>
            <a:softEdge rad="112500"/>
          </a:effectLst>
        </p:spPr>
      </p:pic>
    </p:spTree>
    <p:extLst>
      <p:ext uri="{BB962C8B-B14F-4D97-AF65-F5344CB8AC3E}">
        <p14:creationId xmlns:p14="http://schemas.microsoft.com/office/powerpoint/2010/main" val="2917894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A2587-0C5D-425C-0AAF-A370865FA2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FD0ACB-B4B0-0EB1-8CD7-BA2CA1B8A738}"/>
              </a:ext>
            </a:extLst>
          </p:cNvPr>
          <p:cNvSpPr>
            <a:spLocks noGrp="1"/>
          </p:cNvSpPr>
          <p:nvPr>
            <p:ph type="body" sz="quarter" idx="4294967295"/>
          </p:nvPr>
        </p:nvSpPr>
        <p:spPr>
          <a:xfrm>
            <a:off x="3827463" y="1389063"/>
            <a:ext cx="8364537" cy="4017962"/>
          </a:xfrm>
        </p:spPr>
        <p:txBody>
          <a:bodyPr/>
          <a:lstStyle/>
          <a:p>
            <a:endParaRPr lang="en-US" sz="1800" dirty="0"/>
          </a:p>
          <a:p>
            <a:endParaRPr lang="en-US" sz="1800" dirty="0"/>
          </a:p>
        </p:txBody>
      </p:sp>
      <p:sp>
        <p:nvSpPr>
          <p:cNvPr id="3" name="Intro">
            <a:extLst>
              <a:ext uri="{FF2B5EF4-FFF2-40B4-BE49-F238E27FC236}">
                <a16:creationId xmlns:a16="http://schemas.microsoft.com/office/drawing/2014/main" id="{0997F589-DB0C-4B21-40FF-E73D24836C86}"/>
              </a:ext>
            </a:extLst>
          </p:cNvPr>
          <p:cNvSpPr txBox="1"/>
          <p:nvPr/>
        </p:nvSpPr>
        <p:spPr>
          <a:xfrm>
            <a:off x="519248" y="1101097"/>
            <a:ext cx="11172000" cy="500000"/>
          </a:xfrm>
          <a:prstGeom prst="rect">
            <a:avLst/>
          </a:prstGeom>
          <a:noFill/>
        </p:spPr>
        <p:txBody>
          <a:bodyPr wrap="square" lIns="0" tIns="0" rIns="0" bIns="0" anchor="t"/>
          <a:lstStyle/>
          <a:p>
            <a:pPr algn="l"/>
            <a:r>
              <a:rPr lang="es-ES" sz="1600" dirty="0">
                <a:solidFill>
                  <a:schemeClr val="bg1"/>
                </a:solidFill>
              </a:rPr>
              <a:t>Seguridad, Gobierno y Extensibilidad  de serie sobre la base de Microsoft 365 y sus posibilidades </a:t>
            </a:r>
          </a:p>
        </p:txBody>
      </p:sp>
      <p:sp>
        <p:nvSpPr>
          <p:cNvPr id="4" name="Title 5">
            <a:extLst>
              <a:ext uri="{FF2B5EF4-FFF2-40B4-BE49-F238E27FC236}">
                <a16:creationId xmlns:a16="http://schemas.microsoft.com/office/drawing/2014/main" id="{363BFA18-F48A-99EB-6C95-71778643FF31}"/>
              </a:ext>
            </a:extLst>
          </p:cNvPr>
          <p:cNvSpPr>
            <a:spLocks noGrp="1"/>
          </p:cNvSpPr>
          <p:nvPr>
            <p:ph type="title"/>
          </p:nvPr>
        </p:nvSpPr>
        <p:spPr>
          <a:xfrm>
            <a:off x="519248" y="228604"/>
            <a:ext cx="11151917" cy="747897"/>
          </a:xfrm>
        </p:spPr>
        <p:txBody>
          <a:bodyPr/>
          <a:lstStyle/>
          <a:p>
            <a:r>
              <a:rPr lang="es-ES" dirty="0"/>
              <a:t>¿Qué es Work IQ?</a:t>
            </a:r>
            <a:endParaRPr lang="en-US" dirty="0"/>
          </a:p>
        </p:txBody>
      </p:sp>
      <p:sp>
        <p:nvSpPr>
          <p:cNvPr id="7" name="Shape 3">
            <a:extLst>
              <a:ext uri="{FF2B5EF4-FFF2-40B4-BE49-F238E27FC236}">
                <a16:creationId xmlns:a16="http://schemas.microsoft.com/office/drawing/2014/main" id="{ADC7791C-5F9F-5796-EC00-DCEF2EC35454}"/>
              </a:ext>
            </a:extLst>
          </p:cNvPr>
          <p:cNvSpPr/>
          <p:nvPr/>
        </p:nvSpPr>
        <p:spPr>
          <a:xfrm>
            <a:off x="548640" y="1733543"/>
            <a:ext cx="5303520" cy="1889760"/>
          </a:xfrm>
          <a:prstGeom prst="rect">
            <a:avLst/>
          </a:prstGeom>
          <a:solidFill>
            <a:srgbClr val="161B2E"/>
          </a:solidFill>
          <a:ln w="9525">
            <a:solidFill>
              <a:srgbClr val="22D3EE"/>
            </a:solidFill>
            <a:prstDash val="solid"/>
          </a:ln>
        </p:spPr>
        <p:txBody>
          <a:bodyPr/>
          <a:lstStyle/>
          <a:p>
            <a:endParaRPr lang="en-US" sz="2400">
              <a:latin typeface="Segoe UI (Body)"/>
            </a:endParaRPr>
          </a:p>
        </p:txBody>
      </p:sp>
      <p:sp>
        <p:nvSpPr>
          <p:cNvPr id="8" name="Shape 4">
            <a:extLst>
              <a:ext uri="{FF2B5EF4-FFF2-40B4-BE49-F238E27FC236}">
                <a16:creationId xmlns:a16="http://schemas.microsoft.com/office/drawing/2014/main" id="{0F9F6AEC-D72F-71C2-03C8-F458420D3716}"/>
              </a:ext>
            </a:extLst>
          </p:cNvPr>
          <p:cNvSpPr/>
          <p:nvPr/>
        </p:nvSpPr>
        <p:spPr>
          <a:xfrm>
            <a:off x="548640" y="1733543"/>
            <a:ext cx="97536" cy="1889760"/>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9" name="Image 0" descr="preencoded.png">
            <a:extLst>
              <a:ext uri="{FF2B5EF4-FFF2-40B4-BE49-F238E27FC236}">
                <a16:creationId xmlns:a16="http://schemas.microsoft.com/office/drawing/2014/main" id="{77F95504-79E0-AF43-DD5A-CA3FD8CDF27F}"/>
              </a:ext>
            </a:extLst>
          </p:cNvPr>
          <p:cNvPicPr>
            <a:picLocks noChangeAspect="1"/>
          </p:cNvPicPr>
          <p:nvPr/>
        </p:nvPicPr>
        <p:blipFill>
          <a:blip r:embed="rId2"/>
          <a:stretch>
            <a:fillRect/>
          </a:stretch>
        </p:blipFill>
        <p:spPr>
          <a:xfrm>
            <a:off x="853440" y="1977383"/>
            <a:ext cx="487680" cy="487680"/>
          </a:xfrm>
          <a:prstGeom prst="rect">
            <a:avLst/>
          </a:prstGeom>
        </p:spPr>
      </p:pic>
      <p:sp>
        <p:nvSpPr>
          <p:cNvPr id="10" name="Text 5">
            <a:extLst>
              <a:ext uri="{FF2B5EF4-FFF2-40B4-BE49-F238E27FC236}">
                <a16:creationId xmlns:a16="http://schemas.microsoft.com/office/drawing/2014/main" id="{37F6059D-1113-1422-84A2-E79D9824C342}"/>
              </a:ext>
            </a:extLst>
          </p:cNvPr>
          <p:cNvSpPr/>
          <p:nvPr/>
        </p:nvSpPr>
        <p:spPr>
          <a:xfrm>
            <a:off x="1463040" y="1952999"/>
            <a:ext cx="4206240" cy="548640"/>
          </a:xfrm>
          <a:prstGeom prst="rect">
            <a:avLst/>
          </a:prstGeom>
          <a:noFill/>
          <a:ln/>
        </p:spPr>
        <p:txBody>
          <a:bodyPr wrap="square" lIns="0" tIns="0" rIns="0" bIns="0" rtlCol="0" anchor="ctr"/>
          <a:lstStyle/>
          <a:p>
            <a:r>
              <a:rPr lang="en-US" sz="2000" b="1" dirty="0">
                <a:solidFill>
                  <a:srgbClr val="22D3EE"/>
                </a:solidFill>
                <a:latin typeface="Segoe UI (Body)"/>
                <a:ea typeface="Calibri" pitchFamily="34" charset="-122"/>
                <a:cs typeface="Calibri" pitchFamily="34" charset="-120"/>
              </a:rPr>
              <a:t>Herencia de permisos</a:t>
            </a:r>
            <a:endParaRPr lang="en-US" sz="2000" dirty="0">
              <a:latin typeface="Segoe UI (Body)"/>
            </a:endParaRPr>
          </a:p>
        </p:txBody>
      </p:sp>
      <p:sp>
        <p:nvSpPr>
          <p:cNvPr id="11" name="Text 6">
            <a:extLst>
              <a:ext uri="{FF2B5EF4-FFF2-40B4-BE49-F238E27FC236}">
                <a16:creationId xmlns:a16="http://schemas.microsoft.com/office/drawing/2014/main" id="{7EC47471-CC3E-C1E8-4BA2-B898AB006A5C}"/>
              </a:ext>
            </a:extLst>
          </p:cNvPr>
          <p:cNvSpPr/>
          <p:nvPr/>
        </p:nvSpPr>
        <p:spPr>
          <a:xfrm>
            <a:off x="853440" y="2611367"/>
            <a:ext cx="4815840" cy="950976"/>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Respeta permisos del usuario, grupos de seguridad y sensitivity labels.</a:t>
            </a:r>
            <a:endParaRPr lang="en-US" sz="1467" dirty="0">
              <a:latin typeface="Segoe UI (Body)"/>
            </a:endParaRPr>
          </a:p>
        </p:txBody>
      </p:sp>
      <p:sp>
        <p:nvSpPr>
          <p:cNvPr id="12" name="Shape 7">
            <a:extLst>
              <a:ext uri="{FF2B5EF4-FFF2-40B4-BE49-F238E27FC236}">
                <a16:creationId xmlns:a16="http://schemas.microsoft.com/office/drawing/2014/main" id="{C9897D5B-695A-03C9-F6E5-E10EBAD6352C}"/>
              </a:ext>
            </a:extLst>
          </p:cNvPr>
          <p:cNvSpPr/>
          <p:nvPr/>
        </p:nvSpPr>
        <p:spPr>
          <a:xfrm>
            <a:off x="6096000" y="1733543"/>
            <a:ext cx="5303520" cy="1889760"/>
          </a:xfrm>
          <a:prstGeom prst="rect">
            <a:avLst/>
          </a:prstGeom>
          <a:solidFill>
            <a:srgbClr val="161B2E"/>
          </a:solidFill>
          <a:ln w="9525">
            <a:solidFill>
              <a:srgbClr val="A78BFA"/>
            </a:solidFill>
            <a:prstDash val="solid"/>
          </a:ln>
        </p:spPr>
        <p:txBody>
          <a:bodyPr/>
          <a:lstStyle/>
          <a:p>
            <a:endParaRPr lang="en-US" sz="2400">
              <a:latin typeface="Segoe UI (Body)"/>
            </a:endParaRPr>
          </a:p>
        </p:txBody>
      </p:sp>
      <p:sp>
        <p:nvSpPr>
          <p:cNvPr id="13" name="Shape 8">
            <a:extLst>
              <a:ext uri="{FF2B5EF4-FFF2-40B4-BE49-F238E27FC236}">
                <a16:creationId xmlns:a16="http://schemas.microsoft.com/office/drawing/2014/main" id="{C19D8B40-0935-0B28-5440-E65D4CFD0801}"/>
              </a:ext>
            </a:extLst>
          </p:cNvPr>
          <p:cNvSpPr/>
          <p:nvPr/>
        </p:nvSpPr>
        <p:spPr>
          <a:xfrm>
            <a:off x="6096000" y="1733543"/>
            <a:ext cx="97536" cy="1889760"/>
          </a:xfrm>
          <a:prstGeom prst="rect">
            <a:avLst/>
          </a:prstGeom>
          <a:solidFill>
            <a:srgbClr val="A78BFA"/>
          </a:solidFill>
          <a:ln w="12700">
            <a:solidFill>
              <a:srgbClr val="A78BFA"/>
            </a:solidFill>
            <a:prstDash val="solid"/>
          </a:ln>
        </p:spPr>
        <p:txBody>
          <a:bodyPr/>
          <a:lstStyle/>
          <a:p>
            <a:endParaRPr lang="en-US" sz="2400">
              <a:latin typeface="Segoe UI (Body)"/>
            </a:endParaRPr>
          </a:p>
        </p:txBody>
      </p:sp>
      <p:pic>
        <p:nvPicPr>
          <p:cNvPr id="14" name="Image 1" descr="preencoded.png">
            <a:extLst>
              <a:ext uri="{FF2B5EF4-FFF2-40B4-BE49-F238E27FC236}">
                <a16:creationId xmlns:a16="http://schemas.microsoft.com/office/drawing/2014/main" id="{A9A3F029-BC9B-DF08-B62D-373E494AB850}"/>
              </a:ext>
            </a:extLst>
          </p:cNvPr>
          <p:cNvPicPr>
            <a:picLocks noChangeAspect="1"/>
          </p:cNvPicPr>
          <p:nvPr/>
        </p:nvPicPr>
        <p:blipFill>
          <a:blip r:embed="rId3"/>
          <a:stretch>
            <a:fillRect/>
          </a:stretch>
        </p:blipFill>
        <p:spPr>
          <a:xfrm>
            <a:off x="6400800" y="1977383"/>
            <a:ext cx="487680" cy="487680"/>
          </a:xfrm>
          <a:prstGeom prst="rect">
            <a:avLst/>
          </a:prstGeom>
        </p:spPr>
      </p:pic>
      <p:sp>
        <p:nvSpPr>
          <p:cNvPr id="15" name="Text 9">
            <a:extLst>
              <a:ext uri="{FF2B5EF4-FFF2-40B4-BE49-F238E27FC236}">
                <a16:creationId xmlns:a16="http://schemas.microsoft.com/office/drawing/2014/main" id="{32E6E2FF-B683-C13A-209F-836832F5DC8A}"/>
              </a:ext>
            </a:extLst>
          </p:cNvPr>
          <p:cNvSpPr/>
          <p:nvPr/>
        </p:nvSpPr>
        <p:spPr>
          <a:xfrm>
            <a:off x="7010400" y="1952999"/>
            <a:ext cx="4206240" cy="548640"/>
          </a:xfrm>
          <a:prstGeom prst="rect">
            <a:avLst/>
          </a:prstGeom>
          <a:noFill/>
          <a:ln/>
        </p:spPr>
        <p:txBody>
          <a:bodyPr wrap="square" lIns="0" tIns="0" rIns="0" bIns="0" rtlCol="0" anchor="ctr"/>
          <a:lstStyle/>
          <a:p>
            <a:r>
              <a:rPr lang="en-US" sz="2000" b="1" dirty="0">
                <a:solidFill>
                  <a:srgbClr val="A78BFA"/>
                </a:solidFill>
                <a:latin typeface="Segoe UI (Body)"/>
                <a:ea typeface="Calibri" pitchFamily="34" charset="-122"/>
                <a:cs typeface="Calibri" pitchFamily="34" charset="-120"/>
              </a:rPr>
              <a:t>DLP y cumplimiento</a:t>
            </a:r>
            <a:endParaRPr lang="en-US" sz="2000" dirty="0">
              <a:latin typeface="Segoe UI (Body)"/>
            </a:endParaRPr>
          </a:p>
        </p:txBody>
      </p:sp>
      <p:sp>
        <p:nvSpPr>
          <p:cNvPr id="16" name="Text 10">
            <a:extLst>
              <a:ext uri="{FF2B5EF4-FFF2-40B4-BE49-F238E27FC236}">
                <a16:creationId xmlns:a16="http://schemas.microsoft.com/office/drawing/2014/main" id="{DB9C50F1-83E1-26AD-E64C-DB535E7F8AEB}"/>
              </a:ext>
            </a:extLst>
          </p:cNvPr>
          <p:cNvSpPr/>
          <p:nvPr/>
        </p:nvSpPr>
        <p:spPr>
          <a:xfrm>
            <a:off x="6400800" y="2611367"/>
            <a:ext cx="4815840" cy="950976"/>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Honra políticas DLP, GDPR y EU Data Boundary en todas las operaciones.</a:t>
            </a:r>
            <a:endParaRPr lang="en-US" sz="1467" dirty="0">
              <a:latin typeface="Segoe UI (Body)"/>
            </a:endParaRPr>
          </a:p>
        </p:txBody>
      </p:sp>
      <p:sp>
        <p:nvSpPr>
          <p:cNvPr id="17" name="Shape 11">
            <a:extLst>
              <a:ext uri="{FF2B5EF4-FFF2-40B4-BE49-F238E27FC236}">
                <a16:creationId xmlns:a16="http://schemas.microsoft.com/office/drawing/2014/main" id="{BE94AA05-2564-C8C5-12C6-7AEBB6CDD7B1}"/>
              </a:ext>
            </a:extLst>
          </p:cNvPr>
          <p:cNvSpPr/>
          <p:nvPr/>
        </p:nvSpPr>
        <p:spPr>
          <a:xfrm>
            <a:off x="548640" y="3867143"/>
            <a:ext cx="5303520" cy="1889760"/>
          </a:xfrm>
          <a:prstGeom prst="rect">
            <a:avLst/>
          </a:prstGeom>
          <a:solidFill>
            <a:srgbClr val="161B2E"/>
          </a:solidFill>
          <a:ln w="9525">
            <a:solidFill>
              <a:srgbClr val="F472B6"/>
            </a:solidFill>
            <a:prstDash val="solid"/>
          </a:ln>
        </p:spPr>
        <p:txBody>
          <a:bodyPr/>
          <a:lstStyle/>
          <a:p>
            <a:endParaRPr lang="en-US" sz="2400">
              <a:latin typeface="Segoe UI (Body)"/>
            </a:endParaRPr>
          </a:p>
        </p:txBody>
      </p:sp>
      <p:sp>
        <p:nvSpPr>
          <p:cNvPr id="18" name="Shape 12">
            <a:extLst>
              <a:ext uri="{FF2B5EF4-FFF2-40B4-BE49-F238E27FC236}">
                <a16:creationId xmlns:a16="http://schemas.microsoft.com/office/drawing/2014/main" id="{C723A07D-047F-0B7A-3B66-FE96A3D73DCB}"/>
              </a:ext>
            </a:extLst>
          </p:cNvPr>
          <p:cNvSpPr/>
          <p:nvPr/>
        </p:nvSpPr>
        <p:spPr>
          <a:xfrm>
            <a:off x="548640" y="3867143"/>
            <a:ext cx="97536" cy="1889760"/>
          </a:xfrm>
          <a:prstGeom prst="rect">
            <a:avLst/>
          </a:prstGeom>
          <a:solidFill>
            <a:srgbClr val="F472B6"/>
          </a:solidFill>
          <a:ln w="12700">
            <a:solidFill>
              <a:srgbClr val="F472B6"/>
            </a:solidFill>
            <a:prstDash val="solid"/>
          </a:ln>
        </p:spPr>
        <p:txBody>
          <a:bodyPr/>
          <a:lstStyle/>
          <a:p>
            <a:endParaRPr lang="en-US" sz="2400">
              <a:latin typeface="Segoe UI (Body)"/>
            </a:endParaRPr>
          </a:p>
        </p:txBody>
      </p:sp>
      <p:pic>
        <p:nvPicPr>
          <p:cNvPr id="19" name="Image 2" descr="preencoded.png">
            <a:extLst>
              <a:ext uri="{FF2B5EF4-FFF2-40B4-BE49-F238E27FC236}">
                <a16:creationId xmlns:a16="http://schemas.microsoft.com/office/drawing/2014/main" id="{3BA74F82-720D-2C21-4A45-BBC3C01E15D9}"/>
              </a:ext>
            </a:extLst>
          </p:cNvPr>
          <p:cNvPicPr>
            <a:picLocks noChangeAspect="1"/>
          </p:cNvPicPr>
          <p:nvPr/>
        </p:nvPicPr>
        <p:blipFill>
          <a:blip r:embed="rId4"/>
          <a:stretch>
            <a:fillRect/>
          </a:stretch>
        </p:blipFill>
        <p:spPr>
          <a:xfrm>
            <a:off x="853440" y="4110983"/>
            <a:ext cx="487680" cy="487680"/>
          </a:xfrm>
          <a:prstGeom prst="rect">
            <a:avLst/>
          </a:prstGeom>
        </p:spPr>
      </p:pic>
      <p:sp>
        <p:nvSpPr>
          <p:cNvPr id="20" name="Text 13">
            <a:extLst>
              <a:ext uri="{FF2B5EF4-FFF2-40B4-BE49-F238E27FC236}">
                <a16:creationId xmlns:a16="http://schemas.microsoft.com/office/drawing/2014/main" id="{98471BC7-CBDD-8525-3337-3CEFB9DED8AA}"/>
              </a:ext>
            </a:extLst>
          </p:cNvPr>
          <p:cNvSpPr/>
          <p:nvPr/>
        </p:nvSpPr>
        <p:spPr>
          <a:xfrm>
            <a:off x="1463040" y="4086599"/>
            <a:ext cx="4206240" cy="548640"/>
          </a:xfrm>
          <a:prstGeom prst="rect">
            <a:avLst/>
          </a:prstGeom>
          <a:noFill/>
          <a:ln/>
        </p:spPr>
        <p:txBody>
          <a:bodyPr wrap="square" lIns="0" tIns="0" rIns="0" bIns="0" rtlCol="0" anchor="ctr"/>
          <a:lstStyle/>
          <a:p>
            <a:r>
              <a:rPr lang="en-US" sz="2000" b="1" dirty="0">
                <a:solidFill>
                  <a:srgbClr val="F472B6"/>
                </a:solidFill>
                <a:latin typeface="Segoe UI (Body)"/>
                <a:ea typeface="Calibri" pitchFamily="34" charset="-122"/>
                <a:cs typeface="Calibri" pitchFamily="34" charset="-120"/>
              </a:rPr>
              <a:t>Governance centralizada</a:t>
            </a:r>
            <a:endParaRPr lang="en-US" sz="2000" dirty="0">
              <a:latin typeface="Segoe UI (Body)"/>
            </a:endParaRPr>
          </a:p>
        </p:txBody>
      </p:sp>
      <p:sp>
        <p:nvSpPr>
          <p:cNvPr id="21" name="Text 14">
            <a:extLst>
              <a:ext uri="{FF2B5EF4-FFF2-40B4-BE49-F238E27FC236}">
                <a16:creationId xmlns:a16="http://schemas.microsoft.com/office/drawing/2014/main" id="{2775D5BD-50FC-1AA7-42D3-AA654CB7324A}"/>
              </a:ext>
            </a:extLst>
          </p:cNvPr>
          <p:cNvSpPr/>
          <p:nvPr/>
        </p:nvSpPr>
        <p:spPr>
          <a:xfrm>
            <a:off x="853440" y="4744967"/>
            <a:ext cx="4815840" cy="950976"/>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Admins permiten o bloquean servidores MCP desde el admin center.</a:t>
            </a:r>
            <a:endParaRPr lang="en-US" sz="1467" dirty="0">
              <a:latin typeface="Segoe UI (Body)"/>
            </a:endParaRPr>
          </a:p>
        </p:txBody>
      </p:sp>
      <p:sp>
        <p:nvSpPr>
          <p:cNvPr id="22" name="Shape 15">
            <a:extLst>
              <a:ext uri="{FF2B5EF4-FFF2-40B4-BE49-F238E27FC236}">
                <a16:creationId xmlns:a16="http://schemas.microsoft.com/office/drawing/2014/main" id="{14C467A4-BDCD-4A7A-1BF0-5C11A74E3110}"/>
              </a:ext>
            </a:extLst>
          </p:cNvPr>
          <p:cNvSpPr/>
          <p:nvPr/>
        </p:nvSpPr>
        <p:spPr>
          <a:xfrm>
            <a:off x="6096000" y="3867143"/>
            <a:ext cx="5303520" cy="1889760"/>
          </a:xfrm>
          <a:prstGeom prst="rect">
            <a:avLst/>
          </a:prstGeom>
          <a:solidFill>
            <a:srgbClr val="161B2E"/>
          </a:solidFill>
          <a:ln w="9525">
            <a:solidFill>
              <a:srgbClr val="22D3EE"/>
            </a:solidFill>
            <a:prstDash val="solid"/>
          </a:ln>
        </p:spPr>
        <p:txBody>
          <a:bodyPr/>
          <a:lstStyle/>
          <a:p>
            <a:endParaRPr lang="en-US" sz="2400">
              <a:latin typeface="Segoe UI (Body)"/>
            </a:endParaRPr>
          </a:p>
        </p:txBody>
      </p:sp>
      <p:sp>
        <p:nvSpPr>
          <p:cNvPr id="23" name="Shape 16">
            <a:extLst>
              <a:ext uri="{FF2B5EF4-FFF2-40B4-BE49-F238E27FC236}">
                <a16:creationId xmlns:a16="http://schemas.microsoft.com/office/drawing/2014/main" id="{08EB2AA1-39B6-9C84-AD55-F027184107D3}"/>
              </a:ext>
            </a:extLst>
          </p:cNvPr>
          <p:cNvSpPr/>
          <p:nvPr/>
        </p:nvSpPr>
        <p:spPr>
          <a:xfrm>
            <a:off x="6096000" y="3867143"/>
            <a:ext cx="97536" cy="1889760"/>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24" name="Image 3" descr="preencoded.png">
            <a:extLst>
              <a:ext uri="{FF2B5EF4-FFF2-40B4-BE49-F238E27FC236}">
                <a16:creationId xmlns:a16="http://schemas.microsoft.com/office/drawing/2014/main" id="{39205A90-2E5E-000B-D93C-C50D1D7DF05A}"/>
              </a:ext>
            </a:extLst>
          </p:cNvPr>
          <p:cNvPicPr>
            <a:picLocks noChangeAspect="1"/>
          </p:cNvPicPr>
          <p:nvPr/>
        </p:nvPicPr>
        <p:blipFill>
          <a:blip r:embed="rId5"/>
          <a:stretch>
            <a:fillRect/>
          </a:stretch>
        </p:blipFill>
        <p:spPr>
          <a:xfrm>
            <a:off x="6400800" y="4110983"/>
            <a:ext cx="487680" cy="487680"/>
          </a:xfrm>
          <a:prstGeom prst="rect">
            <a:avLst/>
          </a:prstGeom>
        </p:spPr>
      </p:pic>
      <p:sp>
        <p:nvSpPr>
          <p:cNvPr id="25" name="Text 17">
            <a:extLst>
              <a:ext uri="{FF2B5EF4-FFF2-40B4-BE49-F238E27FC236}">
                <a16:creationId xmlns:a16="http://schemas.microsoft.com/office/drawing/2014/main" id="{15DED44E-152F-F682-FF1A-8024D82B302A}"/>
              </a:ext>
            </a:extLst>
          </p:cNvPr>
          <p:cNvSpPr/>
          <p:nvPr/>
        </p:nvSpPr>
        <p:spPr>
          <a:xfrm>
            <a:off x="7010400" y="4086599"/>
            <a:ext cx="4206240" cy="548640"/>
          </a:xfrm>
          <a:prstGeom prst="rect">
            <a:avLst/>
          </a:prstGeom>
          <a:noFill/>
          <a:ln/>
        </p:spPr>
        <p:txBody>
          <a:bodyPr wrap="square" lIns="0" tIns="0" rIns="0" bIns="0" rtlCol="0" anchor="ctr"/>
          <a:lstStyle/>
          <a:p>
            <a:r>
              <a:rPr lang="en-US" sz="2000" b="1" dirty="0">
                <a:solidFill>
                  <a:srgbClr val="22D3EE"/>
                </a:solidFill>
                <a:latin typeface="Segoe UI (Body)"/>
                <a:ea typeface="Calibri" pitchFamily="34" charset="-122"/>
                <a:cs typeface="Calibri" pitchFamily="34" charset="-120"/>
              </a:rPr>
              <a:t>Extensibilidad</a:t>
            </a:r>
            <a:endParaRPr lang="en-US" sz="2000" dirty="0">
              <a:latin typeface="Segoe UI (Body)"/>
            </a:endParaRPr>
          </a:p>
        </p:txBody>
      </p:sp>
      <p:sp>
        <p:nvSpPr>
          <p:cNvPr id="26" name="Text 18">
            <a:extLst>
              <a:ext uri="{FF2B5EF4-FFF2-40B4-BE49-F238E27FC236}">
                <a16:creationId xmlns:a16="http://schemas.microsoft.com/office/drawing/2014/main" id="{29D5BCB5-33B5-A7D9-2B4D-42D112D8BB40}"/>
              </a:ext>
            </a:extLst>
          </p:cNvPr>
          <p:cNvSpPr/>
          <p:nvPr/>
        </p:nvSpPr>
        <p:spPr>
          <a:xfrm>
            <a:off x="6400800" y="4744967"/>
            <a:ext cx="4815840" cy="950976"/>
          </a:xfrm>
          <a:prstGeom prst="rect">
            <a:avLst/>
          </a:prstGeom>
          <a:noFill/>
          <a:ln/>
        </p:spPr>
        <p:txBody>
          <a:bodyPr wrap="square" rtlCol="0" anchor="ctr"/>
          <a:lstStyle/>
          <a:p>
            <a:r>
              <a:rPr lang="en-US" sz="1467" dirty="0">
                <a:solidFill>
                  <a:srgbClr val="E5E7EB"/>
                </a:solidFill>
                <a:latin typeface="Segoe UI (Body)"/>
                <a:ea typeface="Calibri" pitchFamily="34" charset="-122"/>
                <a:cs typeface="Calibri" pitchFamily="34" charset="-120"/>
              </a:rPr>
              <a:t>Work IQ CLI, MCP servers y APIs para Copilot Studio y Microsoft Foundry.</a:t>
            </a:r>
            <a:endParaRPr lang="en-US" sz="1467" dirty="0">
              <a:latin typeface="Segoe UI (Body)"/>
            </a:endParaRPr>
          </a:p>
        </p:txBody>
      </p:sp>
      <p:pic>
        <p:nvPicPr>
          <p:cNvPr id="27" name="Picture Placeholder 3">
            <a:extLst>
              <a:ext uri="{FF2B5EF4-FFF2-40B4-BE49-F238E27FC236}">
                <a16:creationId xmlns:a16="http://schemas.microsoft.com/office/drawing/2014/main" id="{3A9C34FB-A7D9-2078-D986-2B7FD7E428C1}"/>
              </a:ext>
            </a:extLst>
          </p:cNvPr>
          <p:cNvPicPr>
            <a:picLocks noChangeAspect="1"/>
          </p:cNvPicPr>
          <p:nvPr/>
        </p:nvPicPr>
        <p:blipFill>
          <a:blip r:embed="rId6"/>
          <a:srcRect t="312" b="312"/>
          <a:stretch/>
        </p:blipFill>
        <p:spPr>
          <a:xfrm>
            <a:off x="11349111" y="111139"/>
            <a:ext cx="644108" cy="640080"/>
          </a:xfrm>
          <a:prstGeom prst="ellipse">
            <a:avLst/>
          </a:prstGeom>
          <a:ln>
            <a:noFill/>
          </a:ln>
          <a:effectLst>
            <a:softEdge rad="112500"/>
          </a:effectLst>
        </p:spPr>
      </p:pic>
    </p:spTree>
    <p:extLst>
      <p:ext uri="{BB962C8B-B14F-4D97-AF65-F5344CB8AC3E}">
        <p14:creationId xmlns:p14="http://schemas.microsoft.com/office/powerpoint/2010/main" val="519387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E7DF5D-F79C-41B7-D9AE-E66157324684}"/>
            </a:ext>
          </a:extLst>
        </p:cNvPr>
        <p:cNvGrpSpPr/>
        <p:nvPr/>
      </p:nvGrpSpPr>
      <p:grpSpPr>
        <a:xfrm>
          <a:off x="0" y="0"/>
          <a:ext cx="0" cy="0"/>
          <a:chOff x="0" y="0"/>
          <a:chExt cx="0" cy="0"/>
        </a:xfrm>
      </p:grpSpPr>
      <p:sp>
        <p:nvSpPr>
          <p:cNvPr id="100" name="Intro"/>
          <p:cNvSpPr txBox="1"/>
          <p:nvPr/>
        </p:nvSpPr>
        <p:spPr>
          <a:xfrm>
            <a:off x="510000" y="1450000"/>
            <a:ext cx="11172000" cy="500000"/>
          </a:xfrm>
          <a:prstGeom prst="rect">
            <a:avLst/>
          </a:prstGeom>
          <a:noFill/>
        </p:spPr>
        <p:txBody>
          <a:bodyPr wrap="square" lIns="0" tIns="0" rIns="0" bIns="0" anchor="t"/>
          <a:lstStyle/>
          <a:p>
            <a:pPr algn="l"/>
            <a:r>
              <a:rPr lang="es-ES" sz="1600" dirty="0">
                <a:solidFill>
                  <a:srgbClr val="404040"/>
                </a:solidFill>
              </a:rPr>
              <a:t>Capa de inteligencia que personaliza Microsoft 365 </a:t>
            </a:r>
            <a:r>
              <a:rPr lang="es-ES" sz="1600" dirty="0" err="1">
                <a:solidFill>
                  <a:srgbClr val="404040"/>
                </a:solidFill>
              </a:rPr>
              <a:t>Copilot</a:t>
            </a:r>
            <a:r>
              <a:rPr lang="es-ES" sz="1600" dirty="0">
                <a:solidFill>
                  <a:srgbClr val="404040"/>
                </a:solidFill>
              </a:rPr>
              <a:t> conectando </a:t>
            </a:r>
            <a:r>
              <a:rPr lang="es-ES" sz="1600" b="1" dirty="0">
                <a:solidFill>
                  <a:srgbClr val="01ADE4"/>
                </a:solidFill>
              </a:rPr>
              <a:t>datos, contexto y acciones</a:t>
            </a:r>
            <a:r>
              <a:rPr lang="es-ES" sz="1600" dirty="0">
                <a:solidFill>
                  <a:srgbClr val="404040"/>
                </a:solidFill>
              </a:rPr>
              <a:t> para que entienda tu trabajo, tu rol y tu organización.</a:t>
            </a:r>
          </a:p>
        </p:txBody>
      </p:sp>
      <p:sp>
        <p:nvSpPr>
          <p:cNvPr id="101" name="Card Datos"/>
          <p:cNvSpPr/>
          <p:nvPr/>
        </p:nvSpPr>
        <p:spPr>
          <a:xfrm>
            <a:off x="510000" y="2100000"/>
            <a:ext cx="2700000" cy="3700000"/>
          </a:xfrm>
          <a:prstGeom prst="roundRect">
            <a:avLst>
              <a:gd name="adj" fmla="val 8000"/>
            </a:avLst>
          </a:prstGeom>
          <a:solidFill>
            <a:srgbClr val="01ADE4"/>
          </a:solidFill>
          <a:ln>
            <a:noFill/>
          </a:ln>
        </p:spPr>
        <p:txBody>
          <a:bodyPr wrap="square" lIns="180000" tIns="180000" rIns="180000" bIns="180000" anchor="t"/>
          <a:lstStyle/>
          <a:p>
            <a:pPr algn="l"/>
            <a:r>
              <a:rPr lang="es-ES" sz="3600" b="1" dirty="0">
                <a:solidFill>
                  <a:srgbClr val="FFFFFF"/>
                </a:solidFill>
              </a:rPr>
              <a:t>01</a:t>
            </a:r>
          </a:p>
          <a:p>
            <a:pPr algn="l"/>
            <a:r>
              <a:rPr lang="es-ES" sz="2000" b="1" dirty="0">
                <a:solidFill>
                  <a:srgbClr val="FFFFFF"/>
                </a:solidFill>
              </a:rPr>
              <a:t>Datos</a:t>
            </a:r>
          </a:p>
          <a:p>
            <a:pPr algn="l"/>
            <a:endParaRPr lang="es-ES" sz="1200" dirty="0"/>
          </a:p>
          <a:p>
            <a:pPr algn="l"/>
            <a:endParaRPr lang="es-ES" sz="1400" dirty="0">
              <a:solidFill>
                <a:srgbClr val="FFFFFF"/>
              </a:solidFill>
            </a:endParaRPr>
          </a:p>
          <a:p>
            <a:pPr algn="l"/>
            <a:r>
              <a:rPr lang="es-ES" sz="1400" dirty="0">
                <a:solidFill>
                  <a:srgbClr val="FFFFFF"/>
                </a:solidFill>
              </a:rPr>
              <a:t>Correos, archivos, reuniones y chats de Microsoft 365, junto con Dynamics 365, Power Apps y conectores externos.</a:t>
            </a:r>
          </a:p>
        </p:txBody>
      </p:sp>
      <p:sp>
        <p:nvSpPr>
          <p:cNvPr id="102" name="Card Memoria"/>
          <p:cNvSpPr/>
          <p:nvPr/>
        </p:nvSpPr>
        <p:spPr>
          <a:xfrm>
            <a:off x="3354000" y="2100000"/>
            <a:ext cx="2700000" cy="3700000"/>
          </a:xfrm>
          <a:prstGeom prst="roundRect">
            <a:avLst>
              <a:gd name="adj" fmla="val 8000"/>
            </a:avLst>
          </a:prstGeom>
          <a:solidFill>
            <a:srgbClr val="0E7C9E"/>
          </a:solidFill>
          <a:ln>
            <a:noFill/>
          </a:ln>
        </p:spPr>
        <p:txBody>
          <a:bodyPr wrap="square" lIns="180000" tIns="180000" rIns="180000" bIns="180000" anchor="t"/>
          <a:lstStyle/>
          <a:p>
            <a:pPr algn="l"/>
            <a:r>
              <a:rPr lang="es-ES" sz="3600" b="1" dirty="0">
                <a:solidFill>
                  <a:srgbClr val="FFFFFF"/>
                </a:solidFill>
              </a:rPr>
              <a:t>02</a:t>
            </a:r>
          </a:p>
          <a:p>
            <a:pPr algn="l"/>
            <a:r>
              <a:rPr lang="es-ES" sz="2000" b="1" dirty="0">
                <a:solidFill>
                  <a:srgbClr val="FFFFFF"/>
                </a:solidFill>
              </a:rPr>
              <a:t>Memoria y contexto</a:t>
            </a:r>
          </a:p>
          <a:p>
            <a:pPr algn="l"/>
            <a:endParaRPr lang="es-ES" sz="1200" dirty="0"/>
          </a:p>
          <a:p>
            <a:pPr algn="l"/>
            <a:r>
              <a:rPr lang="es-ES" sz="1400" dirty="0">
                <a:solidFill>
                  <a:srgbClr val="FFFFFF"/>
                </a:solidFill>
              </a:rPr>
              <a:t>Preferencias, hábitos, estilo y patrones de colaboración que se adaptan a cómo trabajas realmente.</a:t>
            </a:r>
          </a:p>
        </p:txBody>
      </p:sp>
      <p:sp>
        <p:nvSpPr>
          <p:cNvPr id="103" name="Card Habilidades"/>
          <p:cNvSpPr/>
          <p:nvPr/>
        </p:nvSpPr>
        <p:spPr>
          <a:xfrm>
            <a:off x="6198000" y="2100000"/>
            <a:ext cx="2700000" cy="3700000"/>
          </a:xfrm>
          <a:prstGeom prst="roundRect">
            <a:avLst>
              <a:gd name="adj" fmla="val 8000"/>
            </a:avLst>
          </a:prstGeom>
          <a:solidFill>
            <a:srgbClr val="124E66"/>
          </a:solidFill>
          <a:ln>
            <a:noFill/>
          </a:ln>
        </p:spPr>
        <p:txBody>
          <a:bodyPr wrap="square" lIns="180000" tIns="180000" rIns="180000" bIns="180000" anchor="t"/>
          <a:lstStyle/>
          <a:p>
            <a:pPr algn="l"/>
            <a:r>
              <a:rPr lang="es-ES" sz="3600" b="1" dirty="0">
                <a:solidFill>
                  <a:srgbClr val="FFFFFF"/>
                </a:solidFill>
              </a:rPr>
              <a:t>03</a:t>
            </a:r>
          </a:p>
          <a:p>
            <a:pPr algn="l"/>
            <a:r>
              <a:rPr lang="es-ES" sz="2000" b="1" dirty="0">
                <a:solidFill>
                  <a:srgbClr val="FFFFFF"/>
                </a:solidFill>
              </a:rPr>
              <a:t>Habilidades e inferencia</a:t>
            </a:r>
          </a:p>
          <a:p>
            <a:pPr algn="l"/>
            <a:endParaRPr lang="es-ES" sz="1200" dirty="0"/>
          </a:p>
          <a:p>
            <a:pPr algn="l"/>
            <a:r>
              <a:rPr lang="es-ES" sz="1400" dirty="0">
                <a:solidFill>
                  <a:srgbClr val="FFFFFF"/>
                </a:solidFill>
              </a:rPr>
              <a:t>Conecta puntos, anticipa la siguiente acción y selecciona el agente o herramienta adecuada para ejecutarla.</a:t>
            </a:r>
          </a:p>
        </p:txBody>
      </p:sp>
      <p:sp>
        <p:nvSpPr>
          <p:cNvPr id="104" name="Card Gobernanza"/>
          <p:cNvSpPr/>
          <p:nvPr/>
        </p:nvSpPr>
        <p:spPr>
          <a:xfrm>
            <a:off x="9042000" y="2100000"/>
            <a:ext cx="2700000" cy="3700000"/>
          </a:xfrm>
          <a:prstGeom prst="roundRect">
            <a:avLst>
              <a:gd name="adj" fmla="val 8000"/>
            </a:avLst>
          </a:prstGeom>
          <a:solidFill>
            <a:srgbClr val="2E3440"/>
          </a:solidFill>
          <a:ln>
            <a:noFill/>
          </a:ln>
        </p:spPr>
        <p:txBody>
          <a:bodyPr wrap="square" lIns="180000" tIns="180000" rIns="180000" bIns="180000" anchor="t"/>
          <a:lstStyle/>
          <a:p>
            <a:pPr algn="l"/>
            <a:r>
              <a:rPr lang="es-ES" sz="3600" b="1" dirty="0">
                <a:solidFill>
                  <a:srgbClr val="FFFFFF"/>
                </a:solidFill>
              </a:rPr>
              <a:t>04</a:t>
            </a:r>
          </a:p>
          <a:p>
            <a:pPr algn="l"/>
            <a:r>
              <a:rPr lang="es-ES" sz="2000" b="1" dirty="0">
                <a:solidFill>
                  <a:srgbClr val="FFFFFF"/>
                </a:solidFill>
              </a:rPr>
              <a:t>Gobernanza</a:t>
            </a:r>
          </a:p>
          <a:p>
            <a:pPr algn="l"/>
            <a:endParaRPr lang="es-ES" sz="1200" dirty="0"/>
          </a:p>
          <a:p>
            <a:pPr algn="l"/>
            <a:endParaRPr lang="es-ES" sz="1400" dirty="0">
              <a:solidFill>
                <a:srgbClr val="FFFFFF"/>
              </a:solidFill>
            </a:endParaRPr>
          </a:p>
          <a:p>
            <a:pPr algn="l"/>
            <a:r>
              <a:rPr lang="es-ES" sz="1400" dirty="0">
                <a:solidFill>
                  <a:srgbClr val="FFFFFF"/>
                </a:solidFill>
              </a:rPr>
              <a:t>Respeta permisos, etiquetas de confidencialidad y cumplimiento; razona solo sobre lo que ya puedes ver.</a:t>
            </a:r>
          </a:p>
        </p:txBody>
      </p:sp>
      <p:sp>
        <p:nvSpPr>
          <p:cNvPr id="6" name="Title 5">
            <a:extLst>
              <a:ext uri="{FF2B5EF4-FFF2-40B4-BE49-F238E27FC236}">
                <a16:creationId xmlns:a16="http://schemas.microsoft.com/office/drawing/2014/main" id="{3FBD0977-D717-103F-ECBD-1D9D06698A7F}"/>
              </a:ext>
            </a:extLst>
          </p:cNvPr>
          <p:cNvSpPr>
            <a:spLocks noGrp="1"/>
          </p:cNvSpPr>
          <p:nvPr>
            <p:ph type="title"/>
          </p:nvPr>
        </p:nvSpPr>
        <p:spPr/>
        <p:txBody>
          <a:bodyPr/>
          <a:lstStyle/>
          <a:p>
            <a:r>
              <a:rPr lang="es-ES" dirty="0"/>
              <a:t>¿Qué es Work IQ?</a:t>
            </a:r>
            <a:endParaRPr lang="en-US" dirty="0"/>
          </a:p>
        </p:txBody>
      </p:sp>
    </p:spTree>
    <p:extLst>
      <p:ext uri="{BB962C8B-B14F-4D97-AF65-F5344CB8AC3E}">
        <p14:creationId xmlns:p14="http://schemas.microsoft.com/office/powerpoint/2010/main" val="3406748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B2A53-A409-9D23-77B2-87105D931A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7DABC5C-A904-E7D7-3BD4-FF3DD91E7B2C}"/>
              </a:ext>
            </a:extLst>
          </p:cNvPr>
          <p:cNvSpPr>
            <a:spLocks noGrp="1"/>
          </p:cNvSpPr>
          <p:nvPr>
            <p:ph type="title"/>
          </p:nvPr>
        </p:nvSpPr>
        <p:spPr>
          <a:xfrm>
            <a:off x="978951" y="2927227"/>
            <a:ext cx="10240453" cy="997196"/>
          </a:xfrm>
        </p:spPr>
        <p:txBody>
          <a:bodyPr/>
          <a:lstStyle/>
          <a:p>
            <a:pPr algn="ctr"/>
            <a:r>
              <a:rPr lang="es-ES" sz="4800" b="1" dirty="0"/>
              <a:t>Work IQ en Microsoft 365 </a:t>
            </a:r>
            <a:r>
              <a:rPr lang="es-ES" sz="4800" b="1" dirty="0" err="1"/>
              <a:t>Copilot</a:t>
            </a:r>
            <a:endParaRPr lang="en-US" sz="4800" b="1" dirty="0"/>
          </a:p>
        </p:txBody>
      </p:sp>
      <p:sp>
        <p:nvSpPr>
          <p:cNvPr id="2" name="Text Placeholder 1">
            <a:extLst>
              <a:ext uri="{FF2B5EF4-FFF2-40B4-BE49-F238E27FC236}">
                <a16:creationId xmlns:a16="http://schemas.microsoft.com/office/drawing/2014/main" id="{75A72660-BCC9-5174-A327-84DC5F7E4CCE}"/>
              </a:ext>
            </a:extLst>
          </p:cNvPr>
          <p:cNvSpPr>
            <a:spLocks noGrp="1"/>
          </p:cNvSpPr>
          <p:nvPr>
            <p:ph type="body" sz="quarter" idx="12"/>
          </p:nvPr>
        </p:nvSpPr>
        <p:spPr/>
        <p:txBody>
          <a:bodyPr/>
          <a:lstStyle/>
          <a:p>
            <a:endParaRPr lang="en-US" sz="1800" dirty="0"/>
          </a:p>
          <a:p>
            <a:endParaRPr lang="en-US" sz="1800" dirty="0"/>
          </a:p>
        </p:txBody>
      </p:sp>
    </p:spTree>
    <p:extLst>
      <p:ext uri="{BB962C8B-B14F-4D97-AF65-F5344CB8AC3E}">
        <p14:creationId xmlns:p14="http://schemas.microsoft.com/office/powerpoint/2010/main" val="1358844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74B1-7785-7783-9A72-823FB9E808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ED3604-9F34-D787-E46F-94FDF259B6A8}"/>
              </a:ext>
            </a:extLst>
          </p:cNvPr>
          <p:cNvSpPr>
            <a:spLocks noGrp="1"/>
          </p:cNvSpPr>
          <p:nvPr>
            <p:ph type="body" sz="quarter" idx="4294967295"/>
          </p:nvPr>
        </p:nvSpPr>
        <p:spPr>
          <a:xfrm>
            <a:off x="3827463" y="1389063"/>
            <a:ext cx="8364537" cy="4017962"/>
          </a:xfrm>
        </p:spPr>
        <p:txBody>
          <a:bodyPr/>
          <a:lstStyle/>
          <a:p>
            <a:endParaRPr lang="en-US" sz="1800" dirty="0"/>
          </a:p>
          <a:p>
            <a:endParaRPr lang="en-US" sz="1800" dirty="0"/>
          </a:p>
        </p:txBody>
      </p:sp>
      <p:sp>
        <p:nvSpPr>
          <p:cNvPr id="3" name="Intro">
            <a:extLst>
              <a:ext uri="{FF2B5EF4-FFF2-40B4-BE49-F238E27FC236}">
                <a16:creationId xmlns:a16="http://schemas.microsoft.com/office/drawing/2014/main" id="{10C2C427-7A7D-DA53-0195-69285D888250}"/>
              </a:ext>
            </a:extLst>
          </p:cNvPr>
          <p:cNvSpPr txBox="1"/>
          <p:nvPr/>
        </p:nvSpPr>
        <p:spPr>
          <a:xfrm>
            <a:off x="519248" y="1101097"/>
            <a:ext cx="11172000" cy="500000"/>
          </a:xfrm>
          <a:prstGeom prst="rect">
            <a:avLst/>
          </a:prstGeom>
          <a:noFill/>
        </p:spPr>
        <p:txBody>
          <a:bodyPr wrap="square" lIns="0" tIns="0" rIns="0" bIns="0" anchor="t"/>
          <a:lstStyle/>
          <a:p>
            <a:pPr algn="l"/>
            <a:r>
              <a:rPr lang="es-ES" sz="1600" dirty="0">
                <a:solidFill>
                  <a:schemeClr val="bg1"/>
                </a:solidFill>
              </a:rPr>
              <a:t>Work IQ aporta valor inmediato tanto a IT como a negocio</a:t>
            </a:r>
          </a:p>
        </p:txBody>
      </p:sp>
      <p:sp>
        <p:nvSpPr>
          <p:cNvPr id="4" name="Title 5">
            <a:extLst>
              <a:ext uri="{FF2B5EF4-FFF2-40B4-BE49-F238E27FC236}">
                <a16:creationId xmlns:a16="http://schemas.microsoft.com/office/drawing/2014/main" id="{451C8ECB-4B3D-D1B7-DD80-93BF3A606ADB}"/>
              </a:ext>
            </a:extLst>
          </p:cNvPr>
          <p:cNvSpPr>
            <a:spLocks noGrp="1"/>
          </p:cNvSpPr>
          <p:nvPr>
            <p:ph type="title"/>
          </p:nvPr>
        </p:nvSpPr>
        <p:spPr>
          <a:xfrm>
            <a:off x="519248" y="228604"/>
            <a:ext cx="11151917" cy="747897"/>
          </a:xfrm>
        </p:spPr>
        <p:txBody>
          <a:bodyPr/>
          <a:lstStyle/>
          <a:p>
            <a:r>
              <a:rPr lang="es-ES" dirty="0"/>
              <a:t>Work IQ en la práctica: Escenarios y Casos de Uso</a:t>
            </a:r>
            <a:endParaRPr lang="en-US" dirty="0"/>
          </a:p>
        </p:txBody>
      </p:sp>
      <p:sp>
        <p:nvSpPr>
          <p:cNvPr id="5" name="Shape 3">
            <a:extLst>
              <a:ext uri="{FF2B5EF4-FFF2-40B4-BE49-F238E27FC236}">
                <a16:creationId xmlns:a16="http://schemas.microsoft.com/office/drawing/2014/main" id="{6E90062A-2D42-35F0-2076-584A9F3F5BFD}"/>
              </a:ext>
            </a:extLst>
          </p:cNvPr>
          <p:cNvSpPr/>
          <p:nvPr/>
        </p:nvSpPr>
        <p:spPr>
          <a:xfrm>
            <a:off x="722283" y="1815869"/>
            <a:ext cx="3474720" cy="1950720"/>
          </a:xfrm>
          <a:prstGeom prst="rect">
            <a:avLst/>
          </a:prstGeom>
          <a:solidFill>
            <a:srgbClr val="1F2540"/>
          </a:solidFill>
          <a:ln w="9525">
            <a:solidFill>
              <a:srgbClr val="22D3EE"/>
            </a:solidFill>
            <a:prstDash val="solid"/>
          </a:ln>
        </p:spPr>
        <p:txBody>
          <a:bodyPr/>
          <a:lstStyle/>
          <a:p>
            <a:endParaRPr lang="en-US" sz="2400">
              <a:latin typeface="Segoe UI (Body)"/>
            </a:endParaRPr>
          </a:p>
        </p:txBody>
      </p:sp>
      <p:pic>
        <p:nvPicPr>
          <p:cNvPr id="6" name="Image 0" descr="preencoded.png">
            <a:extLst>
              <a:ext uri="{FF2B5EF4-FFF2-40B4-BE49-F238E27FC236}">
                <a16:creationId xmlns:a16="http://schemas.microsoft.com/office/drawing/2014/main" id="{E707B4A6-C374-460C-46D2-E642068287F9}"/>
              </a:ext>
            </a:extLst>
          </p:cNvPr>
          <p:cNvPicPr>
            <a:picLocks noChangeAspect="1"/>
          </p:cNvPicPr>
          <p:nvPr/>
        </p:nvPicPr>
        <p:blipFill>
          <a:blip r:embed="rId2"/>
          <a:stretch>
            <a:fillRect/>
          </a:stretch>
        </p:blipFill>
        <p:spPr>
          <a:xfrm>
            <a:off x="966123" y="2059709"/>
            <a:ext cx="487680" cy="487680"/>
          </a:xfrm>
          <a:prstGeom prst="rect">
            <a:avLst/>
          </a:prstGeom>
        </p:spPr>
      </p:pic>
      <p:sp>
        <p:nvSpPr>
          <p:cNvPr id="27" name="Text 4">
            <a:extLst>
              <a:ext uri="{FF2B5EF4-FFF2-40B4-BE49-F238E27FC236}">
                <a16:creationId xmlns:a16="http://schemas.microsoft.com/office/drawing/2014/main" id="{CD7A1C34-9F92-BE4A-4614-298E2C10F4B2}"/>
              </a:ext>
            </a:extLst>
          </p:cNvPr>
          <p:cNvSpPr/>
          <p:nvPr/>
        </p:nvSpPr>
        <p:spPr>
          <a:xfrm>
            <a:off x="1575723" y="1998749"/>
            <a:ext cx="2499360" cy="670560"/>
          </a:xfrm>
          <a:prstGeom prst="rect">
            <a:avLst/>
          </a:prstGeom>
          <a:noFill/>
          <a:ln/>
        </p:spPr>
        <p:txBody>
          <a:bodyPr wrap="square" lIns="0" tIns="0" rIns="0" bIns="0" rtlCol="0" anchor="ctr"/>
          <a:lstStyle/>
          <a:p>
            <a:r>
              <a:rPr lang="en-US" sz="1600" b="1" dirty="0">
                <a:solidFill>
                  <a:srgbClr val="22D3EE"/>
                </a:solidFill>
                <a:latin typeface="Segoe UI (Body)"/>
                <a:ea typeface="Calibri" pitchFamily="34" charset="-122"/>
                <a:cs typeface="Calibri" pitchFamily="34" charset="-120"/>
              </a:rPr>
              <a:t>Copilot Chat con contexto de trabajo</a:t>
            </a:r>
            <a:endParaRPr lang="en-US" sz="1600" dirty="0">
              <a:latin typeface="Segoe UI (Body)"/>
            </a:endParaRPr>
          </a:p>
        </p:txBody>
      </p:sp>
      <p:sp>
        <p:nvSpPr>
          <p:cNvPr id="28" name="Text 5">
            <a:extLst>
              <a:ext uri="{FF2B5EF4-FFF2-40B4-BE49-F238E27FC236}">
                <a16:creationId xmlns:a16="http://schemas.microsoft.com/office/drawing/2014/main" id="{74C076FA-AFAD-AD38-2FF7-F534BE7248C8}"/>
              </a:ext>
            </a:extLst>
          </p:cNvPr>
          <p:cNvSpPr/>
          <p:nvPr/>
        </p:nvSpPr>
        <p:spPr>
          <a:xfrm>
            <a:off x="966123" y="27668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El toggle “Work” razona sobre correos, archivos y reuniones del tenant respetando permisos.</a:t>
            </a:r>
            <a:endParaRPr lang="en-US" sz="1333" dirty="0">
              <a:latin typeface="Segoe UI (Body)"/>
            </a:endParaRPr>
          </a:p>
        </p:txBody>
      </p:sp>
      <p:sp>
        <p:nvSpPr>
          <p:cNvPr id="29" name="Shape 6">
            <a:extLst>
              <a:ext uri="{FF2B5EF4-FFF2-40B4-BE49-F238E27FC236}">
                <a16:creationId xmlns:a16="http://schemas.microsoft.com/office/drawing/2014/main" id="{007B12EC-FE6B-009E-BF72-FC971D14081E}"/>
              </a:ext>
            </a:extLst>
          </p:cNvPr>
          <p:cNvSpPr/>
          <p:nvPr/>
        </p:nvSpPr>
        <p:spPr>
          <a:xfrm>
            <a:off x="4379883" y="1815869"/>
            <a:ext cx="3474720" cy="1950720"/>
          </a:xfrm>
          <a:prstGeom prst="rect">
            <a:avLst/>
          </a:prstGeom>
          <a:solidFill>
            <a:srgbClr val="1F2540"/>
          </a:solidFill>
          <a:ln w="9525">
            <a:solidFill>
              <a:srgbClr val="A78BFA"/>
            </a:solidFill>
            <a:prstDash val="solid"/>
          </a:ln>
        </p:spPr>
        <p:txBody>
          <a:bodyPr/>
          <a:lstStyle/>
          <a:p>
            <a:endParaRPr lang="en-US" sz="2400">
              <a:latin typeface="Segoe UI (Body)"/>
            </a:endParaRPr>
          </a:p>
        </p:txBody>
      </p:sp>
      <p:pic>
        <p:nvPicPr>
          <p:cNvPr id="30" name="Image 1" descr="preencoded.png">
            <a:extLst>
              <a:ext uri="{FF2B5EF4-FFF2-40B4-BE49-F238E27FC236}">
                <a16:creationId xmlns:a16="http://schemas.microsoft.com/office/drawing/2014/main" id="{3E5FE94D-84C1-AF8B-FC89-E08783F39B2A}"/>
              </a:ext>
            </a:extLst>
          </p:cNvPr>
          <p:cNvPicPr>
            <a:picLocks noChangeAspect="1"/>
          </p:cNvPicPr>
          <p:nvPr/>
        </p:nvPicPr>
        <p:blipFill>
          <a:blip r:embed="rId3"/>
          <a:stretch>
            <a:fillRect/>
          </a:stretch>
        </p:blipFill>
        <p:spPr>
          <a:xfrm>
            <a:off x="4623723" y="2059709"/>
            <a:ext cx="487680" cy="487680"/>
          </a:xfrm>
          <a:prstGeom prst="rect">
            <a:avLst/>
          </a:prstGeom>
        </p:spPr>
      </p:pic>
      <p:sp>
        <p:nvSpPr>
          <p:cNvPr id="31" name="Text 7">
            <a:extLst>
              <a:ext uri="{FF2B5EF4-FFF2-40B4-BE49-F238E27FC236}">
                <a16:creationId xmlns:a16="http://schemas.microsoft.com/office/drawing/2014/main" id="{48396C42-0068-A1CB-F1DE-C8FCACFCF269}"/>
              </a:ext>
            </a:extLst>
          </p:cNvPr>
          <p:cNvSpPr/>
          <p:nvPr/>
        </p:nvSpPr>
        <p:spPr>
          <a:xfrm>
            <a:off x="5233323" y="1998749"/>
            <a:ext cx="2499360" cy="670560"/>
          </a:xfrm>
          <a:prstGeom prst="rect">
            <a:avLst/>
          </a:prstGeom>
          <a:noFill/>
          <a:ln/>
        </p:spPr>
        <p:txBody>
          <a:bodyPr wrap="square" lIns="0" tIns="0" rIns="0" bIns="0" rtlCol="0" anchor="ctr"/>
          <a:lstStyle/>
          <a:p>
            <a:r>
              <a:rPr lang="en-US" sz="1600" b="1" dirty="0">
                <a:solidFill>
                  <a:srgbClr val="A78BFA"/>
                </a:solidFill>
                <a:latin typeface="Segoe UI (Body)"/>
                <a:ea typeface="Calibri" pitchFamily="34" charset="-122"/>
                <a:cs typeface="Calibri" pitchFamily="34" charset="-120"/>
              </a:rPr>
              <a:t>Agent Mode &amp; Skills en Word, Excel y PowerPoint</a:t>
            </a:r>
            <a:endParaRPr lang="en-US" sz="1600" dirty="0">
              <a:latin typeface="Segoe UI (Body)"/>
            </a:endParaRPr>
          </a:p>
        </p:txBody>
      </p:sp>
      <p:sp>
        <p:nvSpPr>
          <p:cNvPr id="32" name="Text 8">
            <a:extLst>
              <a:ext uri="{FF2B5EF4-FFF2-40B4-BE49-F238E27FC236}">
                <a16:creationId xmlns:a16="http://schemas.microsoft.com/office/drawing/2014/main" id="{34D8F8B3-C1E0-AE82-CA28-EAA33B2EED67}"/>
              </a:ext>
            </a:extLst>
          </p:cNvPr>
          <p:cNvSpPr/>
          <p:nvPr/>
        </p:nvSpPr>
        <p:spPr>
          <a:xfrm>
            <a:off x="4623723" y="27668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Generación y edición autónoma de documentos, modelos y presentaciones a partir de prompts.</a:t>
            </a:r>
            <a:endParaRPr lang="en-US" sz="1333" dirty="0">
              <a:latin typeface="Segoe UI (Body)"/>
            </a:endParaRPr>
          </a:p>
        </p:txBody>
      </p:sp>
      <p:sp>
        <p:nvSpPr>
          <p:cNvPr id="33" name="Shape 9">
            <a:extLst>
              <a:ext uri="{FF2B5EF4-FFF2-40B4-BE49-F238E27FC236}">
                <a16:creationId xmlns:a16="http://schemas.microsoft.com/office/drawing/2014/main" id="{2C0768B4-3A90-C74A-A570-0435C47F4DC1}"/>
              </a:ext>
            </a:extLst>
          </p:cNvPr>
          <p:cNvSpPr/>
          <p:nvPr/>
        </p:nvSpPr>
        <p:spPr>
          <a:xfrm>
            <a:off x="8037483" y="1815869"/>
            <a:ext cx="3474720" cy="1950720"/>
          </a:xfrm>
          <a:prstGeom prst="rect">
            <a:avLst/>
          </a:prstGeom>
          <a:solidFill>
            <a:srgbClr val="1F2540"/>
          </a:solidFill>
          <a:ln w="9525">
            <a:solidFill>
              <a:srgbClr val="F472B6"/>
            </a:solidFill>
            <a:prstDash val="solid"/>
          </a:ln>
        </p:spPr>
        <p:txBody>
          <a:bodyPr/>
          <a:lstStyle/>
          <a:p>
            <a:endParaRPr lang="en-US" sz="2400">
              <a:latin typeface="Segoe UI (Body)"/>
            </a:endParaRPr>
          </a:p>
        </p:txBody>
      </p:sp>
      <p:pic>
        <p:nvPicPr>
          <p:cNvPr id="34" name="Image 2" descr="preencoded.png">
            <a:extLst>
              <a:ext uri="{FF2B5EF4-FFF2-40B4-BE49-F238E27FC236}">
                <a16:creationId xmlns:a16="http://schemas.microsoft.com/office/drawing/2014/main" id="{6062BC27-C8D4-99A5-D9E9-663D96CA6F51}"/>
              </a:ext>
            </a:extLst>
          </p:cNvPr>
          <p:cNvPicPr>
            <a:picLocks noChangeAspect="1"/>
          </p:cNvPicPr>
          <p:nvPr/>
        </p:nvPicPr>
        <p:blipFill>
          <a:blip r:embed="rId4"/>
          <a:stretch>
            <a:fillRect/>
          </a:stretch>
        </p:blipFill>
        <p:spPr>
          <a:xfrm>
            <a:off x="8281323" y="2059709"/>
            <a:ext cx="487680" cy="487680"/>
          </a:xfrm>
          <a:prstGeom prst="rect">
            <a:avLst/>
          </a:prstGeom>
        </p:spPr>
      </p:pic>
      <p:sp>
        <p:nvSpPr>
          <p:cNvPr id="35" name="Text 10">
            <a:extLst>
              <a:ext uri="{FF2B5EF4-FFF2-40B4-BE49-F238E27FC236}">
                <a16:creationId xmlns:a16="http://schemas.microsoft.com/office/drawing/2014/main" id="{625294EE-0A6B-1991-3D50-FC34D74A603A}"/>
              </a:ext>
            </a:extLst>
          </p:cNvPr>
          <p:cNvSpPr/>
          <p:nvPr/>
        </p:nvSpPr>
        <p:spPr>
          <a:xfrm>
            <a:off x="8890923" y="1998749"/>
            <a:ext cx="2499360" cy="670560"/>
          </a:xfrm>
          <a:prstGeom prst="rect">
            <a:avLst/>
          </a:prstGeom>
          <a:noFill/>
          <a:ln/>
        </p:spPr>
        <p:txBody>
          <a:bodyPr wrap="square" lIns="0" tIns="0" rIns="0" bIns="0" rtlCol="0" anchor="ctr"/>
          <a:lstStyle/>
          <a:p>
            <a:r>
              <a:rPr lang="en-US" sz="1600" b="1" dirty="0">
                <a:solidFill>
                  <a:srgbClr val="F472B6"/>
                </a:solidFill>
                <a:latin typeface="Segoe UI (Body)"/>
                <a:ea typeface="Calibri" pitchFamily="34" charset="-122"/>
                <a:cs typeface="Calibri" pitchFamily="34" charset="-120"/>
              </a:rPr>
              <a:t>Preparación de reuniones</a:t>
            </a:r>
            <a:endParaRPr lang="en-US" sz="1600" dirty="0">
              <a:latin typeface="Segoe UI (Body)"/>
            </a:endParaRPr>
          </a:p>
        </p:txBody>
      </p:sp>
      <p:sp>
        <p:nvSpPr>
          <p:cNvPr id="36" name="Text 11">
            <a:extLst>
              <a:ext uri="{FF2B5EF4-FFF2-40B4-BE49-F238E27FC236}">
                <a16:creationId xmlns:a16="http://schemas.microsoft.com/office/drawing/2014/main" id="{29388EF8-25B5-C3A3-9AF7-614927E872E0}"/>
              </a:ext>
            </a:extLst>
          </p:cNvPr>
          <p:cNvSpPr/>
          <p:nvPr/>
        </p:nvSpPr>
        <p:spPr>
          <a:xfrm>
            <a:off x="8281323" y="27668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Briefings personalizados consolidando calendario, hilos de Teams y documentos relevantes.</a:t>
            </a:r>
            <a:endParaRPr lang="en-US" sz="1333" dirty="0">
              <a:latin typeface="Segoe UI (Body)"/>
            </a:endParaRPr>
          </a:p>
        </p:txBody>
      </p:sp>
      <p:sp>
        <p:nvSpPr>
          <p:cNvPr id="37" name="Shape 12">
            <a:extLst>
              <a:ext uri="{FF2B5EF4-FFF2-40B4-BE49-F238E27FC236}">
                <a16:creationId xmlns:a16="http://schemas.microsoft.com/office/drawing/2014/main" id="{18B92A84-378B-3DCC-E6A6-0A5DEB3F1551}"/>
              </a:ext>
            </a:extLst>
          </p:cNvPr>
          <p:cNvSpPr/>
          <p:nvPr/>
        </p:nvSpPr>
        <p:spPr>
          <a:xfrm>
            <a:off x="722283" y="3949469"/>
            <a:ext cx="3474720" cy="1950720"/>
          </a:xfrm>
          <a:prstGeom prst="rect">
            <a:avLst/>
          </a:prstGeom>
          <a:solidFill>
            <a:srgbClr val="1F2540"/>
          </a:solidFill>
          <a:ln w="9525">
            <a:solidFill>
              <a:srgbClr val="22D3EE"/>
            </a:solidFill>
            <a:prstDash val="solid"/>
          </a:ln>
        </p:spPr>
        <p:txBody>
          <a:bodyPr/>
          <a:lstStyle/>
          <a:p>
            <a:endParaRPr lang="en-US" sz="2400">
              <a:latin typeface="Segoe UI (Body)"/>
            </a:endParaRPr>
          </a:p>
        </p:txBody>
      </p:sp>
      <p:pic>
        <p:nvPicPr>
          <p:cNvPr id="38" name="Image 3" descr="preencoded.png">
            <a:extLst>
              <a:ext uri="{FF2B5EF4-FFF2-40B4-BE49-F238E27FC236}">
                <a16:creationId xmlns:a16="http://schemas.microsoft.com/office/drawing/2014/main" id="{B5C0669A-99B9-9309-DF9E-26AEE3063B0A}"/>
              </a:ext>
            </a:extLst>
          </p:cNvPr>
          <p:cNvPicPr>
            <a:picLocks noChangeAspect="1"/>
          </p:cNvPicPr>
          <p:nvPr/>
        </p:nvPicPr>
        <p:blipFill>
          <a:blip r:embed="rId5"/>
          <a:stretch>
            <a:fillRect/>
          </a:stretch>
        </p:blipFill>
        <p:spPr>
          <a:xfrm>
            <a:off x="966123" y="4193309"/>
            <a:ext cx="487680" cy="487680"/>
          </a:xfrm>
          <a:prstGeom prst="rect">
            <a:avLst/>
          </a:prstGeom>
        </p:spPr>
      </p:pic>
      <p:sp>
        <p:nvSpPr>
          <p:cNvPr id="39" name="Text 13">
            <a:extLst>
              <a:ext uri="{FF2B5EF4-FFF2-40B4-BE49-F238E27FC236}">
                <a16:creationId xmlns:a16="http://schemas.microsoft.com/office/drawing/2014/main" id="{CBCEC02B-E7E7-3BFF-8CA3-751FF9A2AC0C}"/>
              </a:ext>
            </a:extLst>
          </p:cNvPr>
          <p:cNvSpPr/>
          <p:nvPr/>
        </p:nvSpPr>
        <p:spPr>
          <a:xfrm>
            <a:off x="1575723" y="4132349"/>
            <a:ext cx="2499360" cy="670560"/>
          </a:xfrm>
          <a:prstGeom prst="rect">
            <a:avLst/>
          </a:prstGeom>
          <a:noFill/>
          <a:ln/>
        </p:spPr>
        <p:txBody>
          <a:bodyPr wrap="square" lIns="0" tIns="0" rIns="0" bIns="0" rtlCol="0" anchor="ctr"/>
          <a:lstStyle/>
          <a:p>
            <a:r>
              <a:rPr lang="en-US" sz="1600" b="1" dirty="0">
                <a:solidFill>
                  <a:srgbClr val="22D3EE"/>
                </a:solidFill>
                <a:latin typeface="Segoe UI (Body)"/>
                <a:ea typeface="Calibri" pitchFamily="34" charset="-122"/>
                <a:cs typeface="Calibri" pitchFamily="34" charset="-120"/>
              </a:rPr>
              <a:t>Búsqueda semántica empresarial</a:t>
            </a:r>
            <a:endParaRPr lang="en-US" sz="1600" dirty="0">
              <a:latin typeface="Segoe UI (Body)"/>
            </a:endParaRPr>
          </a:p>
        </p:txBody>
      </p:sp>
      <p:sp>
        <p:nvSpPr>
          <p:cNvPr id="40" name="Text 14">
            <a:extLst>
              <a:ext uri="{FF2B5EF4-FFF2-40B4-BE49-F238E27FC236}">
                <a16:creationId xmlns:a16="http://schemas.microsoft.com/office/drawing/2014/main" id="{CF57609A-2307-EC11-3F82-3EC8E3EB041C}"/>
              </a:ext>
            </a:extLst>
          </p:cNvPr>
          <p:cNvSpPr/>
          <p:nvPr/>
        </p:nvSpPr>
        <p:spPr>
          <a:xfrm>
            <a:off x="966123" y="49004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Recuperación basada en significado sobre Microsoft Graph y conectores de Copilot.</a:t>
            </a:r>
            <a:endParaRPr lang="en-US" sz="1333" dirty="0">
              <a:latin typeface="Segoe UI (Body)"/>
            </a:endParaRPr>
          </a:p>
        </p:txBody>
      </p:sp>
      <p:sp>
        <p:nvSpPr>
          <p:cNvPr id="41" name="Shape 15">
            <a:extLst>
              <a:ext uri="{FF2B5EF4-FFF2-40B4-BE49-F238E27FC236}">
                <a16:creationId xmlns:a16="http://schemas.microsoft.com/office/drawing/2014/main" id="{A761272B-AFDA-D758-230B-5F8DA9742BED}"/>
              </a:ext>
            </a:extLst>
          </p:cNvPr>
          <p:cNvSpPr/>
          <p:nvPr/>
        </p:nvSpPr>
        <p:spPr>
          <a:xfrm>
            <a:off x="4379883" y="3949469"/>
            <a:ext cx="3474720" cy="1950720"/>
          </a:xfrm>
          <a:prstGeom prst="rect">
            <a:avLst/>
          </a:prstGeom>
          <a:solidFill>
            <a:srgbClr val="1F2540"/>
          </a:solidFill>
          <a:ln w="9525">
            <a:solidFill>
              <a:srgbClr val="A78BFA"/>
            </a:solidFill>
            <a:prstDash val="solid"/>
          </a:ln>
        </p:spPr>
        <p:txBody>
          <a:bodyPr/>
          <a:lstStyle/>
          <a:p>
            <a:endParaRPr lang="en-US" sz="2400">
              <a:latin typeface="Segoe UI (Body)"/>
            </a:endParaRPr>
          </a:p>
        </p:txBody>
      </p:sp>
      <p:pic>
        <p:nvPicPr>
          <p:cNvPr id="42" name="Image 4" descr="preencoded.png">
            <a:extLst>
              <a:ext uri="{FF2B5EF4-FFF2-40B4-BE49-F238E27FC236}">
                <a16:creationId xmlns:a16="http://schemas.microsoft.com/office/drawing/2014/main" id="{15F7FB9B-AA94-F355-EBC7-C632795EB02C}"/>
              </a:ext>
            </a:extLst>
          </p:cNvPr>
          <p:cNvPicPr>
            <a:picLocks noChangeAspect="1"/>
          </p:cNvPicPr>
          <p:nvPr/>
        </p:nvPicPr>
        <p:blipFill>
          <a:blip r:embed="rId6"/>
          <a:stretch>
            <a:fillRect/>
          </a:stretch>
        </p:blipFill>
        <p:spPr>
          <a:xfrm>
            <a:off x="4623723" y="4193309"/>
            <a:ext cx="487680" cy="487680"/>
          </a:xfrm>
          <a:prstGeom prst="rect">
            <a:avLst/>
          </a:prstGeom>
        </p:spPr>
      </p:pic>
      <p:sp>
        <p:nvSpPr>
          <p:cNvPr id="43" name="Text 16">
            <a:extLst>
              <a:ext uri="{FF2B5EF4-FFF2-40B4-BE49-F238E27FC236}">
                <a16:creationId xmlns:a16="http://schemas.microsoft.com/office/drawing/2014/main" id="{8B0E3597-A49A-90EB-CE40-E1DD5F8E0405}"/>
              </a:ext>
            </a:extLst>
          </p:cNvPr>
          <p:cNvSpPr/>
          <p:nvPr/>
        </p:nvSpPr>
        <p:spPr>
          <a:xfrm>
            <a:off x="5233323" y="4132349"/>
            <a:ext cx="2499360" cy="670560"/>
          </a:xfrm>
          <a:prstGeom prst="rect">
            <a:avLst/>
          </a:prstGeom>
          <a:noFill/>
          <a:ln/>
        </p:spPr>
        <p:txBody>
          <a:bodyPr wrap="square" lIns="0" tIns="0" rIns="0" bIns="0" rtlCol="0" anchor="ctr"/>
          <a:lstStyle/>
          <a:p>
            <a:r>
              <a:rPr lang="en-US" sz="1600" b="1" dirty="0">
                <a:solidFill>
                  <a:srgbClr val="A78BFA"/>
                </a:solidFill>
                <a:latin typeface="Segoe UI (Body)"/>
                <a:ea typeface="Calibri" pitchFamily="34" charset="-122"/>
                <a:cs typeface="Calibri" pitchFamily="34" charset="-120"/>
              </a:rPr>
              <a:t>Agentes en Copilot Studio</a:t>
            </a:r>
            <a:endParaRPr lang="en-US" sz="1600" dirty="0">
              <a:latin typeface="Segoe UI (Body)"/>
            </a:endParaRPr>
          </a:p>
        </p:txBody>
      </p:sp>
      <p:sp>
        <p:nvSpPr>
          <p:cNvPr id="44" name="Text 17">
            <a:extLst>
              <a:ext uri="{FF2B5EF4-FFF2-40B4-BE49-F238E27FC236}">
                <a16:creationId xmlns:a16="http://schemas.microsoft.com/office/drawing/2014/main" id="{709B8129-6E04-8D2B-FDFC-D6DD476C3C12}"/>
              </a:ext>
            </a:extLst>
          </p:cNvPr>
          <p:cNvSpPr/>
          <p:nvPr/>
        </p:nvSpPr>
        <p:spPr>
          <a:xfrm>
            <a:off x="4623723" y="49004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Construcción de agentes con Work IQ MCP y datos de Dataverse bajo Agent 365.</a:t>
            </a:r>
            <a:endParaRPr lang="en-US" sz="1333" dirty="0">
              <a:latin typeface="Segoe UI (Body)"/>
            </a:endParaRPr>
          </a:p>
        </p:txBody>
      </p:sp>
      <p:sp>
        <p:nvSpPr>
          <p:cNvPr id="45" name="Shape 18">
            <a:extLst>
              <a:ext uri="{FF2B5EF4-FFF2-40B4-BE49-F238E27FC236}">
                <a16:creationId xmlns:a16="http://schemas.microsoft.com/office/drawing/2014/main" id="{E335CAC2-D978-F5D0-C5B8-BCE100E24579}"/>
              </a:ext>
            </a:extLst>
          </p:cNvPr>
          <p:cNvSpPr/>
          <p:nvPr/>
        </p:nvSpPr>
        <p:spPr>
          <a:xfrm>
            <a:off x="8037483" y="3949469"/>
            <a:ext cx="3474720" cy="1950720"/>
          </a:xfrm>
          <a:prstGeom prst="rect">
            <a:avLst/>
          </a:prstGeom>
          <a:solidFill>
            <a:srgbClr val="1F2540"/>
          </a:solidFill>
          <a:ln w="9525">
            <a:solidFill>
              <a:srgbClr val="F472B6"/>
            </a:solidFill>
            <a:prstDash val="solid"/>
          </a:ln>
        </p:spPr>
        <p:txBody>
          <a:bodyPr/>
          <a:lstStyle/>
          <a:p>
            <a:endParaRPr lang="en-US" sz="2400">
              <a:latin typeface="Segoe UI (Body)"/>
            </a:endParaRPr>
          </a:p>
        </p:txBody>
      </p:sp>
      <p:pic>
        <p:nvPicPr>
          <p:cNvPr id="46" name="Image 5" descr="preencoded.png">
            <a:extLst>
              <a:ext uri="{FF2B5EF4-FFF2-40B4-BE49-F238E27FC236}">
                <a16:creationId xmlns:a16="http://schemas.microsoft.com/office/drawing/2014/main" id="{74E0AFDE-F940-2F4E-39A0-1D9429557D5B}"/>
              </a:ext>
            </a:extLst>
          </p:cNvPr>
          <p:cNvPicPr>
            <a:picLocks noChangeAspect="1"/>
          </p:cNvPicPr>
          <p:nvPr/>
        </p:nvPicPr>
        <p:blipFill>
          <a:blip r:embed="rId7"/>
          <a:stretch>
            <a:fillRect/>
          </a:stretch>
        </p:blipFill>
        <p:spPr>
          <a:xfrm>
            <a:off x="8281323" y="4193309"/>
            <a:ext cx="487680" cy="487680"/>
          </a:xfrm>
          <a:prstGeom prst="rect">
            <a:avLst/>
          </a:prstGeom>
        </p:spPr>
      </p:pic>
      <p:sp>
        <p:nvSpPr>
          <p:cNvPr id="47" name="Text 19">
            <a:extLst>
              <a:ext uri="{FF2B5EF4-FFF2-40B4-BE49-F238E27FC236}">
                <a16:creationId xmlns:a16="http://schemas.microsoft.com/office/drawing/2014/main" id="{88A65321-1122-E511-9E95-D2F26BBB70C8}"/>
              </a:ext>
            </a:extLst>
          </p:cNvPr>
          <p:cNvSpPr/>
          <p:nvPr/>
        </p:nvSpPr>
        <p:spPr>
          <a:xfrm>
            <a:off x="8890923" y="4132349"/>
            <a:ext cx="2499360" cy="670560"/>
          </a:xfrm>
          <a:prstGeom prst="rect">
            <a:avLst/>
          </a:prstGeom>
          <a:noFill/>
          <a:ln/>
        </p:spPr>
        <p:txBody>
          <a:bodyPr wrap="square" lIns="0" tIns="0" rIns="0" bIns="0" rtlCol="0" anchor="ctr"/>
          <a:lstStyle/>
          <a:p>
            <a:r>
              <a:rPr lang="en-US" sz="1600" b="1" dirty="0">
                <a:solidFill>
                  <a:srgbClr val="F472B6"/>
                </a:solidFill>
                <a:latin typeface="Segoe UI (Body)"/>
                <a:ea typeface="Calibri" pitchFamily="34" charset="-122"/>
                <a:cs typeface="Calibri" pitchFamily="34" charset="-120"/>
              </a:rPr>
              <a:t>Insights cross-señal</a:t>
            </a:r>
            <a:endParaRPr lang="en-US" sz="1600" dirty="0">
              <a:latin typeface="Segoe UI (Body)"/>
            </a:endParaRPr>
          </a:p>
        </p:txBody>
      </p:sp>
      <p:sp>
        <p:nvSpPr>
          <p:cNvPr id="48" name="Text 20">
            <a:extLst>
              <a:ext uri="{FF2B5EF4-FFF2-40B4-BE49-F238E27FC236}">
                <a16:creationId xmlns:a16="http://schemas.microsoft.com/office/drawing/2014/main" id="{CE05C605-4DAB-1EF2-1A73-7AF0A2F7B3E6}"/>
              </a:ext>
            </a:extLst>
          </p:cNvPr>
          <p:cNvSpPr/>
          <p:nvPr/>
        </p:nvSpPr>
        <p:spPr>
          <a:xfrm>
            <a:off x="8281323" y="4900445"/>
            <a:ext cx="3108960" cy="975360"/>
          </a:xfrm>
          <a:prstGeom prst="rect">
            <a:avLst/>
          </a:prstGeom>
          <a:noFill/>
          <a:ln/>
        </p:spPr>
        <p:txBody>
          <a:bodyPr wrap="square" rtlCol="0" anchor="ctr"/>
          <a:lstStyle/>
          <a:p>
            <a:r>
              <a:rPr lang="en-US" sz="1333" dirty="0">
                <a:solidFill>
                  <a:srgbClr val="E5E7EB"/>
                </a:solidFill>
                <a:latin typeface="Segoe UI (Body)"/>
                <a:ea typeface="Calibri" pitchFamily="34" charset="-122"/>
                <a:cs typeface="Calibri" pitchFamily="34" charset="-120"/>
              </a:rPr>
              <a:t>Vincula incidencias en Teams con efectos en inventario o ventas vía Dynamics 365.</a:t>
            </a:r>
            <a:endParaRPr lang="en-US" sz="1333" dirty="0">
              <a:latin typeface="Segoe UI (Body)"/>
            </a:endParaRPr>
          </a:p>
        </p:txBody>
      </p:sp>
      <p:sp>
        <p:nvSpPr>
          <p:cNvPr id="49" name="Shape 21">
            <a:extLst>
              <a:ext uri="{FF2B5EF4-FFF2-40B4-BE49-F238E27FC236}">
                <a16:creationId xmlns:a16="http://schemas.microsoft.com/office/drawing/2014/main" id="{F4EB87F0-5A2A-0FD0-1B50-45913F562D73}"/>
              </a:ext>
            </a:extLst>
          </p:cNvPr>
          <p:cNvSpPr/>
          <p:nvPr/>
        </p:nvSpPr>
        <p:spPr>
          <a:xfrm>
            <a:off x="600363" y="6326909"/>
            <a:ext cx="10972800" cy="0"/>
          </a:xfrm>
          <a:prstGeom prst="line">
            <a:avLst/>
          </a:prstGeom>
          <a:noFill/>
          <a:ln w="9525">
            <a:solidFill>
              <a:srgbClr val="475569"/>
            </a:solidFill>
            <a:prstDash val="solid"/>
          </a:ln>
        </p:spPr>
        <p:txBody>
          <a:bodyPr/>
          <a:lstStyle/>
          <a:p>
            <a:endParaRPr lang="en-US" sz="2400"/>
          </a:p>
        </p:txBody>
      </p:sp>
      <p:pic>
        <p:nvPicPr>
          <p:cNvPr id="8" name="Picture Placeholder 3" descr="A person smiling for a picture  AI-generated content may be incorrect.">
            <a:extLst>
              <a:ext uri="{FF2B5EF4-FFF2-40B4-BE49-F238E27FC236}">
                <a16:creationId xmlns:a16="http://schemas.microsoft.com/office/drawing/2014/main" id="{75B7741C-0FFC-EC30-C84B-4F37760E423D}"/>
              </a:ext>
            </a:extLst>
          </p:cNvPr>
          <p:cNvPicPr>
            <a:picLocks noChangeAspect="1"/>
          </p:cNvPicPr>
          <p:nvPr/>
        </p:nvPicPr>
        <p:blipFill>
          <a:blip r:embed="rId8"/>
          <a:srcRect l="1123" r="1123"/>
          <a:stretch>
            <a:fillRect/>
          </a:stretch>
        </p:blipFill>
        <p:spPr>
          <a:xfrm>
            <a:off x="11370252" y="103914"/>
            <a:ext cx="640080" cy="636080"/>
          </a:xfrm>
          <a:prstGeom prst="ellipse">
            <a:avLst/>
          </a:prstGeom>
          <a:ln>
            <a:noFill/>
          </a:ln>
          <a:effectLst>
            <a:softEdge rad="112500"/>
          </a:effectLst>
        </p:spPr>
      </p:pic>
    </p:spTree>
    <p:extLst>
      <p:ext uri="{BB962C8B-B14F-4D97-AF65-F5344CB8AC3E}">
        <p14:creationId xmlns:p14="http://schemas.microsoft.com/office/powerpoint/2010/main" val="3763392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p:cNvSpPr>
            <a:spLocks noGrp="1"/>
          </p:cNvSpPr>
          <p:nvPr>
            <p:ph type="title"/>
          </p:nvPr>
        </p:nvSpPr>
        <p:spPr/>
        <p:txBody>
          <a:bodyPr/>
          <a:lstStyle/>
          <a:p>
            <a:r>
              <a:rPr lang="es-ES" dirty="0"/>
              <a:t>Work IQ en la práctica: Word, Excel y </a:t>
            </a:r>
            <a:r>
              <a:rPr lang="es-ES" dirty="0" err="1"/>
              <a:t>Teams</a:t>
            </a:r>
            <a:endParaRPr lang="es-ES" dirty="0"/>
          </a:p>
        </p:txBody>
      </p:sp>
      <p:sp>
        <p:nvSpPr>
          <p:cNvPr id="200" name="Intro"/>
          <p:cNvSpPr txBox="1"/>
          <p:nvPr/>
        </p:nvSpPr>
        <p:spPr>
          <a:xfrm>
            <a:off x="510000" y="1450000"/>
            <a:ext cx="11172000" cy="500000"/>
          </a:xfrm>
          <a:prstGeom prst="rect">
            <a:avLst/>
          </a:prstGeom>
          <a:noFill/>
        </p:spPr>
        <p:txBody>
          <a:bodyPr wrap="square" lIns="0" tIns="0" rIns="0" bIns="0" anchor="t"/>
          <a:lstStyle/>
          <a:p>
            <a:pPr algn="l"/>
            <a:r>
              <a:rPr lang="es-ES" sz="1600" dirty="0">
                <a:solidFill>
                  <a:srgbClr val="404040"/>
                </a:solidFill>
              </a:rPr>
              <a:t>Ejemplos cotidianos donde Work IQ aporta contexto a </a:t>
            </a:r>
            <a:r>
              <a:rPr lang="es-ES" sz="1600" dirty="0" err="1">
                <a:solidFill>
                  <a:srgbClr val="404040"/>
                </a:solidFill>
              </a:rPr>
              <a:t>Copilot</a:t>
            </a:r>
            <a:r>
              <a:rPr lang="es-ES" sz="1600" dirty="0">
                <a:solidFill>
                  <a:srgbClr val="404040"/>
                </a:solidFill>
              </a:rPr>
              <a:t> para que las respuestas y acciones reflejen </a:t>
            </a:r>
            <a:r>
              <a:rPr lang="es-ES" sz="1600" b="1" dirty="0">
                <a:solidFill>
                  <a:srgbClr val="01ADE4"/>
                </a:solidFill>
              </a:rPr>
              <a:t>cómo trabajáis realmente</a:t>
            </a:r>
            <a:r>
              <a:rPr lang="es-ES" sz="1600" dirty="0">
                <a:solidFill>
                  <a:srgbClr val="404040"/>
                </a:solidFill>
              </a:rPr>
              <a:t>.</a:t>
            </a:r>
          </a:p>
        </p:txBody>
      </p:sp>
      <p:sp>
        <p:nvSpPr>
          <p:cNvPr id="201" name="Card Word"/>
          <p:cNvSpPr/>
          <p:nvPr/>
        </p:nvSpPr>
        <p:spPr>
          <a:xfrm>
            <a:off x="510000" y="2100000"/>
            <a:ext cx="3624000" cy="3850000"/>
          </a:xfrm>
          <a:prstGeom prst="roundRect">
            <a:avLst>
              <a:gd name="adj" fmla="val 6000"/>
            </a:avLst>
          </a:prstGeom>
          <a:solidFill>
            <a:srgbClr val="FFFFFF"/>
          </a:solidFill>
          <a:ln w="9525">
            <a:solidFill>
              <a:srgbClr val="E5E5E5"/>
            </a:solidFill>
          </a:ln>
        </p:spPr>
        <p:txBody>
          <a:bodyPr wrap="square" lIns="220000" tIns="220000" rIns="220000" bIns="220000" anchor="t"/>
          <a:lstStyle/>
          <a:p>
            <a:pPr algn="l"/>
            <a:r>
              <a:rPr lang="es-ES" sz="2400" b="1" dirty="0">
                <a:solidFill>
                  <a:srgbClr val="333333"/>
                </a:solidFill>
              </a:rPr>
              <a:t>Word</a:t>
            </a:r>
          </a:p>
          <a:p>
            <a:pPr algn="l"/>
            <a:r>
              <a:rPr lang="es-ES" sz="1200" b="1" dirty="0">
                <a:solidFill>
                  <a:srgbClr val="333333"/>
                </a:solidFill>
              </a:rPr>
              <a:t>Redacción contextual</a:t>
            </a:r>
          </a:p>
          <a:p>
            <a:pPr algn="l"/>
            <a:endParaRPr lang="es-ES" sz="800" dirty="0"/>
          </a:p>
          <a:p>
            <a:pPr marL="228600" indent="-228600" algn="l">
              <a:buFont typeface="Arial"/>
              <a:buChar char="•"/>
            </a:pPr>
            <a:r>
              <a:rPr lang="es-ES" sz="1200" dirty="0">
                <a:solidFill>
                  <a:srgbClr val="404040"/>
                </a:solidFill>
              </a:rPr>
              <a:t>Genera una propuesta tomando datos de correos previos y archivos del cliente en SharePoint.</a:t>
            </a:r>
          </a:p>
          <a:p>
            <a:pPr marL="228600" indent="-228600" algn="l">
              <a:buFont typeface="Arial"/>
              <a:buChar char="•"/>
            </a:pPr>
            <a:r>
              <a:rPr lang="es-ES" sz="1200" dirty="0">
                <a:solidFill>
                  <a:srgbClr val="404040"/>
                </a:solidFill>
              </a:rPr>
              <a:t>Reescribe en el tono y estilo que usas habitualmente con ese equipo.</a:t>
            </a:r>
          </a:p>
          <a:p>
            <a:pPr marL="228600" indent="-228600" algn="l">
              <a:buFont typeface="Arial"/>
              <a:buChar char="•"/>
            </a:pPr>
            <a:r>
              <a:rPr lang="es-ES" sz="1200" dirty="0">
                <a:solidFill>
                  <a:srgbClr val="404040"/>
                </a:solidFill>
              </a:rPr>
              <a:t>Resume contratos largos y extrae cláusulas clave manteniendo permisos.</a:t>
            </a:r>
          </a:p>
        </p:txBody>
      </p:sp>
      <p:sp>
        <p:nvSpPr>
          <p:cNvPr id="202" name="Card Excel"/>
          <p:cNvSpPr/>
          <p:nvPr/>
        </p:nvSpPr>
        <p:spPr>
          <a:xfrm>
            <a:off x="4284000" y="2100000"/>
            <a:ext cx="3624000" cy="3850000"/>
          </a:xfrm>
          <a:prstGeom prst="roundRect">
            <a:avLst>
              <a:gd name="adj" fmla="val 6000"/>
            </a:avLst>
          </a:prstGeom>
          <a:solidFill>
            <a:srgbClr val="FFFFFF"/>
          </a:solidFill>
          <a:ln w="9525">
            <a:solidFill>
              <a:srgbClr val="E5E5E5"/>
            </a:solidFill>
          </a:ln>
        </p:spPr>
        <p:txBody>
          <a:bodyPr wrap="square" lIns="220000" tIns="220000" rIns="220000" bIns="220000" anchor="t"/>
          <a:lstStyle/>
          <a:p>
            <a:pPr algn="l"/>
            <a:r>
              <a:rPr lang="es-ES" sz="2400" b="1">
                <a:solidFill>
                  <a:srgbClr val="333333"/>
                </a:solidFill>
              </a:rPr>
              <a:t>Excel</a:t>
            </a:r>
          </a:p>
          <a:p>
            <a:pPr algn="l"/>
            <a:r>
              <a:rPr lang="es-ES" sz="1200" b="1">
                <a:solidFill>
                  <a:srgbClr val="333333"/>
                </a:solidFill>
              </a:rPr>
              <a:t>Análisis con datos</a:t>
            </a:r>
          </a:p>
          <a:p>
            <a:pPr algn="l"/>
            <a:endParaRPr lang="es-ES" sz="800" dirty="0"/>
          </a:p>
          <a:p>
            <a:pPr marL="228600" indent="-228600" algn="l">
              <a:buFont typeface="Arial"/>
              <a:buChar char="•"/>
            </a:pPr>
            <a:r>
              <a:rPr lang="es-ES" sz="1200" dirty="0">
                <a:solidFill>
                  <a:srgbClr val="404040"/>
                </a:solidFill>
              </a:rPr>
              <a:t>Cruza ventas de Dynamics 365 con incidencias para identificar clientes en riesgo.</a:t>
            </a:r>
          </a:p>
          <a:p>
            <a:pPr marL="228600" indent="-228600" algn="l">
              <a:buFont typeface="Arial"/>
              <a:buChar char="•"/>
            </a:pPr>
            <a:r>
              <a:rPr lang="es-ES" sz="1200" dirty="0">
                <a:solidFill>
                  <a:srgbClr val="404040"/>
                </a:solidFill>
              </a:rPr>
              <a:t>Sugiere fórmulas y tablas dinámicas según los </a:t>
            </a:r>
            <a:r>
              <a:rPr lang="es-ES" sz="1200" dirty="0" err="1">
                <a:solidFill>
                  <a:srgbClr val="404040"/>
                </a:solidFill>
              </a:rPr>
              <a:t>KPIs</a:t>
            </a:r>
            <a:r>
              <a:rPr lang="es-ES" sz="1200" dirty="0">
                <a:solidFill>
                  <a:srgbClr val="404040"/>
                </a:solidFill>
              </a:rPr>
              <a:t> que usas cada mes.</a:t>
            </a:r>
          </a:p>
          <a:p>
            <a:pPr marL="228600" indent="-228600" algn="l">
              <a:buFont typeface="Arial"/>
              <a:buChar char="•"/>
            </a:pPr>
            <a:r>
              <a:rPr lang="es-ES" sz="1200" dirty="0">
                <a:solidFill>
                  <a:srgbClr val="404040"/>
                </a:solidFill>
              </a:rPr>
              <a:t>Modo Agente: ejecuta análisis multietapa con modelos de </a:t>
            </a:r>
            <a:r>
              <a:rPr lang="es-ES" sz="1200" dirty="0" err="1">
                <a:solidFill>
                  <a:srgbClr val="404040"/>
                </a:solidFill>
              </a:rPr>
              <a:t>OpenAI</a:t>
            </a:r>
            <a:r>
              <a:rPr lang="es-ES" sz="1200" dirty="0">
                <a:solidFill>
                  <a:srgbClr val="404040"/>
                </a:solidFill>
              </a:rPr>
              <a:t> o </a:t>
            </a:r>
            <a:r>
              <a:rPr lang="es-ES" sz="1200" dirty="0" err="1">
                <a:solidFill>
                  <a:srgbClr val="404040"/>
                </a:solidFill>
              </a:rPr>
              <a:t>Anthropic</a:t>
            </a:r>
            <a:r>
              <a:rPr lang="es-ES" sz="1200" dirty="0">
                <a:solidFill>
                  <a:srgbClr val="404040"/>
                </a:solidFill>
              </a:rPr>
              <a:t>.</a:t>
            </a:r>
          </a:p>
        </p:txBody>
      </p:sp>
      <p:sp>
        <p:nvSpPr>
          <p:cNvPr id="203" name="Card Teams"/>
          <p:cNvSpPr/>
          <p:nvPr/>
        </p:nvSpPr>
        <p:spPr>
          <a:xfrm>
            <a:off x="8058000" y="2100000"/>
            <a:ext cx="3624000" cy="3850000"/>
          </a:xfrm>
          <a:prstGeom prst="roundRect">
            <a:avLst>
              <a:gd name="adj" fmla="val 6000"/>
            </a:avLst>
          </a:prstGeom>
          <a:solidFill>
            <a:srgbClr val="FFFFFF"/>
          </a:solidFill>
          <a:ln w="9525">
            <a:solidFill>
              <a:srgbClr val="E5E5E5"/>
            </a:solidFill>
          </a:ln>
        </p:spPr>
        <p:txBody>
          <a:bodyPr wrap="square" lIns="220000" tIns="220000" rIns="220000" bIns="220000" anchor="t"/>
          <a:lstStyle/>
          <a:p>
            <a:pPr algn="l"/>
            <a:r>
              <a:rPr lang="es-ES" sz="2400" b="1">
                <a:solidFill>
                  <a:srgbClr val="333333"/>
                </a:solidFill>
              </a:rPr>
              <a:t>Teams</a:t>
            </a:r>
          </a:p>
          <a:p>
            <a:pPr algn="l"/>
            <a:r>
              <a:rPr lang="es-ES" sz="1200" b="1">
                <a:solidFill>
                  <a:srgbClr val="333333"/>
                </a:solidFill>
              </a:rPr>
              <a:t>Colaboración</a:t>
            </a:r>
          </a:p>
          <a:p>
            <a:pPr algn="l"/>
            <a:endParaRPr lang="es-ES" sz="800"/>
          </a:p>
          <a:p>
            <a:pPr marL="228600" indent="-228600" algn="l">
              <a:buFont typeface="Arial"/>
              <a:buChar char="•"/>
            </a:pPr>
            <a:r>
              <a:rPr lang="es-ES" sz="1200">
                <a:solidFill>
                  <a:srgbClr val="404040"/>
                </a:solidFill>
              </a:rPr>
              <a:t>Resume la reunión y propone tareas con los responsables habituales del proyecto.</a:t>
            </a:r>
          </a:p>
          <a:p>
            <a:pPr marL="228600" indent="-228600" algn="l">
              <a:buFont typeface="Arial"/>
              <a:buChar char="•"/>
            </a:pPr>
            <a:r>
              <a:rPr lang="es-ES" sz="1200">
                <a:solidFill>
                  <a:srgbClr val="404040"/>
                </a:solidFill>
              </a:rPr>
              <a:t>Recupera decisiones tomadas semanas antes en chats y reuniones relacionadas.</a:t>
            </a:r>
          </a:p>
          <a:p>
            <a:pPr marL="228600" indent="-228600" algn="l">
              <a:buFont typeface="Arial"/>
              <a:buChar char="•"/>
            </a:pPr>
            <a:r>
              <a:rPr lang="es-ES" sz="1200">
                <a:solidFill>
                  <a:srgbClr val="404040"/>
                </a:solidFill>
              </a:rPr>
              <a:t>Recomienda el agente adecuado (ventas, soporte, RR. HH.) según tu pregunta.</a:t>
            </a:r>
          </a:p>
        </p:txBody>
      </p:sp>
      <p:pic>
        <p:nvPicPr>
          <p:cNvPr id="301" name="Word icon"/>
          <p:cNvPicPr>
            <a:picLocks noChangeAspect="1"/>
          </p:cNvPicPr>
          <p:nvPr/>
        </p:nvPicPr>
        <p:blipFill>
          <a:blip r:embed="rId2"/>
          <a:srcRect l="4500" r="4500"/>
          <a:stretch>
            <a:fillRect/>
          </a:stretch>
        </p:blipFill>
        <p:spPr>
          <a:xfrm>
            <a:off x="3434000" y="2280000"/>
            <a:ext cx="600000" cy="600000"/>
          </a:xfrm>
          <a:prstGeom prst="rect">
            <a:avLst/>
          </a:prstGeom>
        </p:spPr>
      </p:pic>
      <p:pic>
        <p:nvPicPr>
          <p:cNvPr id="302" name="Excel icon"/>
          <p:cNvPicPr>
            <a:picLocks noChangeAspect="1"/>
          </p:cNvPicPr>
          <p:nvPr/>
        </p:nvPicPr>
        <p:blipFill>
          <a:blip r:embed="rId3"/>
          <a:srcRect l="3000" r="3000"/>
          <a:stretch>
            <a:fillRect/>
          </a:stretch>
        </p:blipFill>
        <p:spPr>
          <a:xfrm>
            <a:off x="7208000" y="2280000"/>
            <a:ext cx="600000" cy="600000"/>
          </a:xfrm>
          <a:prstGeom prst="rect">
            <a:avLst/>
          </a:prstGeom>
        </p:spPr>
      </p:pic>
      <p:pic>
        <p:nvPicPr>
          <p:cNvPr id="303" name="Teams icon"/>
          <p:cNvPicPr>
            <a:picLocks noChangeAspect="1"/>
          </p:cNvPicPr>
          <p:nvPr/>
        </p:nvPicPr>
        <p:blipFill>
          <a:blip r:embed="rId4"/>
          <a:srcRect l="3700" r="3700"/>
          <a:stretch>
            <a:fillRect/>
          </a:stretch>
        </p:blipFill>
        <p:spPr>
          <a:xfrm>
            <a:off x="10982000" y="2280000"/>
            <a:ext cx="600000" cy="600000"/>
          </a:xfrm>
          <a:prstGeom prst="rect">
            <a:avLst/>
          </a:prstGeom>
        </p:spPr>
      </p:pic>
    </p:spTree>
    <p:extLst>
      <p:ext uri="{BB962C8B-B14F-4D97-AF65-F5344CB8AC3E}">
        <p14:creationId xmlns:p14="http://schemas.microsoft.com/office/powerpoint/2010/main" val="3406748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6CB39-A77B-DA21-9B81-A6577DE51DD4}"/>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F50881C1-3AB5-8E3A-0DB8-158ADAD63E5C}"/>
              </a:ext>
            </a:extLst>
          </p:cNvPr>
          <p:cNvSpPr>
            <a:spLocks noGrp="1"/>
          </p:cNvSpPr>
          <p:nvPr>
            <p:ph type="title"/>
          </p:nvPr>
        </p:nvSpPr>
        <p:spPr>
          <a:xfrm>
            <a:off x="519248" y="228604"/>
            <a:ext cx="11151917" cy="747897"/>
          </a:xfrm>
        </p:spPr>
        <p:txBody>
          <a:bodyPr/>
          <a:lstStyle/>
          <a:p>
            <a:r>
              <a:rPr lang="es-ES" dirty="0"/>
              <a:t>Work IQ en la práctica: Escenario de Demo (</a:t>
            </a:r>
            <a:r>
              <a:rPr lang="es-ES" dirty="0" err="1"/>
              <a:t>Outage</a:t>
            </a:r>
            <a:r>
              <a:rPr lang="es-ES" dirty="0"/>
              <a:t> en Contoso)</a:t>
            </a:r>
            <a:endParaRPr lang="en-US" dirty="0"/>
          </a:p>
        </p:txBody>
      </p:sp>
      <p:sp>
        <p:nvSpPr>
          <p:cNvPr id="7" name="Shape 3">
            <a:extLst>
              <a:ext uri="{FF2B5EF4-FFF2-40B4-BE49-F238E27FC236}">
                <a16:creationId xmlns:a16="http://schemas.microsoft.com/office/drawing/2014/main" id="{CB3CE479-DE79-3BFE-F6D1-00A5F2F7D6EB}"/>
              </a:ext>
            </a:extLst>
          </p:cNvPr>
          <p:cNvSpPr/>
          <p:nvPr/>
        </p:nvSpPr>
        <p:spPr>
          <a:xfrm>
            <a:off x="731520" y="1341120"/>
            <a:ext cx="10607040" cy="390144"/>
          </a:xfrm>
          <a:prstGeom prst="rect">
            <a:avLst/>
          </a:prstGeom>
          <a:solidFill>
            <a:srgbClr val="1F2540"/>
          </a:solidFill>
          <a:ln w="6350">
            <a:solidFill>
              <a:srgbClr val="F472B6"/>
            </a:solidFill>
            <a:prstDash val="solid"/>
          </a:ln>
        </p:spPr>
        <p:txBody>
          <a:bodyPr/>
          <a:lstStyle/>
          <a:p>
            <a:endParaRPr lang="en-US" sz="2400">
              <a:latin typeface="Segoe UI (Body)"/>
            </a:endParaRPr>
          </a:p>
        </p:txBody>
      </p:sp>
      <p:sp>
        <p:nvSpPr>
          <p:cNvPr id="8" name="Text 4">
            <a:extLst>
              <a:ext uri="{FF2B5EF4-FFF2-40B4-BE49-F238E27FC236}">
                <a16:creationId xmlns:a16="http://schemas.microsoft.com/office/drawing/2014/main" id="{04457686-CD16-CF46-B513-8A0614626A77}"/>
              </a:ext>
            </a:extLst>
          </p:cNvPr>
          <p:cNvSpPr/>
          <p:nvPr/>
        </p:nvSpPr>
        <p:spPr>
          <a:xfrm>
            <a:off x="914400" y="1341120"/>
            <a:ext cx="10363200" cy="390144"/>
          </a:xfrm>
          <a:prstGeom prst="rect">
            <a:avLst/>
          </a:prstGeom>
          <a:noFill/>
          <a:ln/>
        </p:spPr>
        <p:txBody>
          <a:bodyPr wrap="square" lIns="0" tIns="0" rIns="0" bIns="0" rtlCol="0" anchor="ctr"/>
          <a:lstStyle/>
          <a:p>
            <a:r>
              <a:rPr lang="en-US" sz="1333" b="1" kern="0" spc="267" dirty="0">
                <a:solidFill>
                  <a:srgbClr val="F472B6"/>
                </a:solidFill>
                <a:latin typeface="Segoe UI (Body)"/>
                <a:ea typeface="Consolas" pitchFamily="34" charset="-122"/>
                <a:cs typeface="Consolas" pitchFamily="34" charset="-120"/>
              </a:rPr>
              <a:t>ESCENARIO  </a:t>
            </a:r>
            <a:r>
              <a:rPr lang="en-US" sz="1333" dirty="0">
                <a:solidFill>
                  <a:srgbClr val="E5E7EB"/>
                </a:solidFill>
                <a:latin typeface="Segoe UI (Body)"/>
                <a:ea typeface="Calibri" pitchFamily="34" charset="-122"/>
                <a:cs typeface="Calibri" pitchFamily="34" charset="-120"/>
              </a:rPr>
              <a:t>Incidente de login en Contoso · INC0012345 · SLA crítico</a:t>
            </a:r>
            <a:endParaRPr lang="en-US" sz="1333" dirty="0">
              <a:latin typeface="Segoe UI (Body)"/>
            </a:endParaRPr>
          </a:p>
        </p:txBody>
      </p:sp>
      <p:sp>
        <p:nvSpPr>
          <p:cNvPr id="9" name="Shape 5">
            <a:extLst>
              <a:ext uri="{FF2B5EF4-FFF2-40B4-BE49-F238E27FC236}">
                <a16:creationId xmlns:a16="http://schemas.microsoft.com/office/drawing/2014/main" id="{EE271626-0B9C-FAF5-5A61-DDA2F9AA03A1}"/>
              </a:ext>
            </a:extLst>
          </p:cNvPr>
          <p:cNvSpPr/>
          <p:nvPr/>
        </p:nvSpPr>
        <p:spPr>
          <a:xfrm>
            <a:off x="731520" y="1889760"/>
            <a:ext cx="5242560" cy="548640"/>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10" name="Image 0" descr="preencoded.png">
            <a:extLst>
              <a:ext uri="{FF2B5EF4-FFF2-40B4-BE49-F238E27FC236}">
                <a16:creationId xmlns:a16="http://schemas.microsoft.com/office/drawing/2014/main" id="{B5EBF473-977B-E34B-DD80-8A7298E5E64A}"/>
              </a:ext>
            </a:extLst>
          </p:cNvPr>
          <p:cNvPicPr>
            <a:picLocks noChangeAspect="1"/>
          </p:cNvPicPr>
          <p:nvPr/>
        </p:nvPicPr>
        <p:blipFill>
          <a:blip r:embed="rId2"/>
          <a:stretch>
            <a:fillRect/>
          </a:stretch>
        </p:blipFill>
        <p:spPr>
          <a:xfrm>
            <a:off x="877824" y="1987296"/>
            <a:ext cx="341376" cy="341376"/>
          </a:xfrm>
          <a:prstGeom prst="rect">
            <a:avLst/>
          </a:prstGeom>
        </p:spPr>
      </p:pic>
      <p:sp>
        <p:nvSpPr>
          <p:cNvPr id="11" name="Text 6">
            <a:extLst>
              <a:ext uri="{FF2B5EF4-FFF2-40B4-BE49-F238E27FC236}">
                <a16:creationId xmlns:a16="http://schemas.microsoft.com/office/drawing/2014/main" id="{F6A07EC2-35C1-00F2-9DEB-CCECDAFD2360}"/>
              </a:ext>
            </a:extLst>
          </p:cNvPr>
          <p:cNvSpPr/>
          <p:nvPr/>
        </p:nvSpPr>
        <p:spPr>
          <a:xfrm>
            <a:off x="1341120" y="1889760"/>
            <a:ext cx="4389120" cy="548640"/>
          </a:xfrm>
          <a:prstGeom prst="rect">
            <a:avLst/>
          </a:prstGeom>
          <a:noFill/>
          <a:ln/>
        </p:spPr>
        <p:txBody>
          <a:bodyPr wrap="square" lIns="0" tIns="0" rIns="0" bIns="0" rtlCol="0" anchor="ctr"/>
          <a:lstStyle/>
          <a:p>
            <a:r>
              <a:rPr lang="en-US" sz="1600" b="1" kern="0" spc="267" dirty="0">
                <a:solidFill>
                  <a:srgbClr val="0B1020"/>
                </a:solidFill>
                <a:latin typeface="Segoe UI (Body)"/>
                <a:ea typeface="Consolas" pitchFamily="34" charset="-122"/>
                <a:cs typeface="Consolas" pitchFamily="34" charset="-120"/>
              </a:rPr>
              <a:t>MICROSOFT 365 COPILOT</a:t>
            </a:r>
            <a:endParaRPr lang="en-US" sz="1600" dirty="0">
              <a:latin typeface="Segoe UI (Body)"/>
            </a:endParaRPr>
          </a:p>
        </p:txBody>
      </p:sp>
      <p:sp>
        <p:nvSpPr>
          <p:cNvPr id="12" name="Shape 7">
            <a:extLst>
              <a:ext uri="{FF2B5EF4-FFF2-40B4-BE49-F238E27FC236}">
                <a16:creationId xmlns:a16="http://schemas.microsoft.com/office/drawing/2014/main" id="{960C6387-66A7-5145-2AF7-3AB5D95DF19A}"/>
              </a:ext>
            </a:extLst>
          </p:cNvPr>
          <p:cNvSpPr/>
          <p:nvPr/>
        </p:nvSpPr>
        <p:spPr>
          <a:xfrm>
            <a:off x="6096000" y="1889760"/>
            <a:ext cx="5242560" cy="548640"/>
          </a:xfrm>
          <a:prstGeom prst="rect">
            <a:avLst/>
          </a:prstGeom>
          <a:solidFill>
            <a:srgbClr val="A78BFA"/>
          </a:solidFill>
          <a:ln w="12700">
            <a:solidFill>
              <a:srgbClr val="A78BFA"/>
            </a:solidFill>
            <a:prstDash val="solid"/>
          </a:ln>
        </p:spPr>
        <p:txBody>
          <a:bodyPr/>
          <a:lstStyle/>
          <a:p>
            <a:endParaRPr lang="en-US" sz="2400">
              <a:latin typeface="Segoe UI (Body)"/>
            </a:endParaRPr>
          </a:p>
        </p:txBody>
      </p:sp>
      <p:pic>
        <p:nvPicPr>
          <p:cNvPr id="13" name="Image 1" descr="preencoded.png">
            <a:extLst>
              <a:ext uri="{FF2B5EF4-FFF2-40B4-BE49-F238E27FC236}">
                <a16:creationId xmlns:a16="http://schemas.microsoft.com/office/drawing/2014/main" id="{15BD9854-601D-97D6-1E46-DE93E9C0E142}"/>
              </a:ext>
            </a:extLst>
          </p:cNvPr>
          <p:cNvPicPr>
            <a:picLocks noChangeAspect="1"/>
          </p:cNvPicPr>
          <p:nvPr/>
        </p:nvPicPr>
        <p:blipFill>
          <a:blip r:embed="rId3"/>
          <a:stretch>
            <a:fillRect/>
          </a:stretch>
        </p:blipFill>
        <p:spPr>
          <a:xfrm>
            <a:off x="6242304" y="1987296"/>
            <a:ext cx="341376" cy="341376"/>
          </a:xfrm>
          <a:prstGeom prst="rect">
            <a:avLst/>
          </a:prstGeom>
        </p:spPr>
      </p:pic>
      <p:sp>
        <p:nvSpPr>
          <p:cNvPr id="14" name="Text 8">
            <a:extLst>
              <a:ext uri="{FF2B5EF4-FFF2-40B4-BE49-F238E27FC236}">
                <a16:creationId xmlns:a16="http://schemas.microsoft.com/office/drawing/2014/main" id="{51BAD1A1-1F69-B054-BABE-05A855B6C66E}"/>
              </a:ext>
            </a:extLst>
          </p:cNvPr>
          <p:cNvSpPr/>
          <p:nvPr/>
        </p:nvSpPr>
        <p:spPr>
          <a:xfrm>
            <a:off x="6705600" y="1889760"/>
            <a:ext cx="4511040" cy="548640"/>
          </a:xfrm>
          <a:prstGeom prst="rect">
            <a:avLst/>
          </a:prstGeom>
          <a:noFill/>
          <a:ln/>
        </p:spPr>
        <p:txBody>
          <a:bodyPr wrap="square" lIns="0" tIns="0" rIns="0" bIns="0" rtlCol="0" anchor="ctr"/>
          <a:lstStyle/>
          <a:p>
            <a:r>
              <a:rPr lang="en-US" sz="1600" b="1" kern="0" spc="267" dirty="0">
                <a:solidFill>
                  <a:srgbClr val="0B1020"/>
                </a:solidFill>
                <a:latin typeface="Segoe UI (Body)"/>
                <a:ea typeface="Consolas" pitchFamily="34" charset="-122"/>
                <a:cs typeface="Consolas" pitchFamily="34" charset="-120"/>
              </a:rPr>
              <a:t>AGENTE EN COPILOT STUDIO</a:t>
            </a:r>
            <a:endParaRPr lang="en-US" sz="1600" dirty="0">
              <a:latin typeface="Segoe UI (Body)"/>
            </a:endParaRPr>
          </a:p>
        </p:txBody>
      </p:sp>
      <p:sp>
        <p:nvSpPr>
          <p:cNvPr id="15" name="Shape 9">
            <a:extLst>
              <a:ext uri="{FF2B5EF4-FFF2-40B4-BE49-F238E27FC236}">
                <a16:creationId xmlns:a16="http://schemas.microsoft.com/office/drawing/2014/main" id="{6A281340-FA6C-B87F-CE0F-C7D2B1DE128A}"/>
              </a:ext>
            </a:extLst>
          </p:cNvPr>
          <p:cNvSpPr/>
          <p:nvPr/>
        </p:nvSpPr>
        <p:spPr>
          <a:xfrm>
            <a:off x="731520" y="2657856"/>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16" name="Text 10">
            <a:extLst>
              <a:ext uri="{FF2B5EF4-FFF2-40B4-BE49-F238E27FC236}">
                <a16:creationId xmlns:a16="http://schemas.microsoft.com/office/drawing/2014/main" id="{A48890C7-AA42-4478-757E-1D2656838449}"/>
              </a:ext>
            </a:extLst>
          </p:cNvPr>
          <p:cNvSpPr/>
          <p:nvPr/>
        </p:nvSpPr>
        <p:spPr>
          <a:xfrm>
            <a:off x="731520" y="2657856"/>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1</a:t>
            </a:r>
            <a:endParaRPr lang="en-US" sz="1867" dirty="0">
              <a:latin typeface="Segoe UI (Body)"/>
            </a:endParaRPr>
          </a:p>
        </p:txBody>
      </p:sp>
      <p:sp>
        <p:nvSpPr>
          <p:cNvPr id="17" name="Text 11">
            <a:extLst>
              <a:ext uri="{FF2B5EF4-FFF2-40B4-BE49-F238E27FC236}">
                <a16:creationId xmlns:a16="http://schemas.microsoft.com/office/drawing/2014/main" id="{31757D72-8326-96B5-0CF1-C9C743B4627F}"/>
              </a:ext>
            </a:extLst>
          </p:cNvPr>
          <p:cNvSpPr/>
          <p:nvPr/>
        </p:nvSpPr>
        <p:spPr>
          <a:xfrm>
            <a:off x="1341120" y="2621280"/>
            <a:ext cx="0" cy="0"/>
          </a:xfrm>
          <a:prstGeom prst="rect">
            <a:avLst/>
          </a:prstGeom>
          <a:noFill/>
          <a:ln/>
        </p:spPr>
        <p:txBody>
          <a:bodyPr wrap="square" rtlCol="0" anchor="ctr"/>
          <a:lstStyle/>
          <a:p>
            <a:r>
              <a:rPr lang="en-US" sz="133" dirty="0">
                <a:solidFill>
                  <a:srgbClr val="0B1020"/>
                </a:solidFill>
                <a:latin typeface="Segoe UI (Body)"/>
              </a:rPr>
              <a:t>Triaje del correo</a:t>
            </a:r>
            <a:endParaRPr lang="en-US" sz="133" dirty="0">
              <a:latin typeface="Segoe UI (Body)"/>
            </a:endParaRPr>
          </a:p>
        </p:txBody>
      </p:sp>
      <p:sp>
        <p:nvSpPr>
          <p:cNvPr id="18" name="Shape 12">
            <a:extLst>
              <a:ext uri="{FF2B5EF4-FFF2-40B4-BE49-F238E27FC236}">
                <a16:creationId xmlns:a16="http://schemas.microsoft.com/office/drawing/2014/main" id="{E38294A2-716F-8A63-DFDA-4F73F223EA0B}"/>
              </a:ext>
            </a:extLst>
          </p:cNvPr>
          <p:cNvSpPr/>
          <p:nvPr/>
        </p:nvSpPr>
        <p:spPr>
          <a:xfrm>
            <a:off x="1341120" y="2560320"/>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19" name="Shape 13">
            <a:extLst>
              <a:ext uri="{FF2B5EF4-FFF2-40B4-BE49-F238E27FC236}">
                <a16:creationId xmlns:a16="http://schemas.microsoft.com/office/drawing/2014/main" id="{E03A68C1-0C80-8505-8327-2DF1ADBBBAD0}"/>
              </a:ext>
            </a:extLst>
          </p:cNvPr>
          <p:cNvSpPr/>
          <p:nvPr/>
        </p:nvSpPr>
        <p:spPr>
          <a:xfrm>
            <a:off x="1341120" y="2560320"/>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20" name="Text 14">
            <a:extLst>
              <a:ext uri="{FF2B5EF4-FFF2-40B4-BE49-F238E27FC236}">
                <a16:creationId xmlns:a16="http://schemas.microsoft.com/office/drawing/2014/main" id="{B1AF0271-A232-029F-43CC-B83158E3E530}"/>
              </a:ext>
            </a:extLst>
          </p:cNvPr>
          <p:cNvSpPr/>
          <p:nvPr/>
        </p:nvSpPr>
        <p:spPr>
          <a:xfrm>
            <a:off x="1524000" y="2609088"/>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Triaje del correo</a:t>
            </a:r>
            <a:endParaRPr lang="en-US" sz="1333" dirty="0">
              <a:latin typeface="Segoe UI (Body)"/>
            </a:endParaRPr>
          </a:p>
        </p:txBody>
      </p:sp>
      <p:sp>
        <p:nvSpPr>
          <p:cNvPr id="21" name="Text 15">
            <a:extLst>
              <a:ext uri="{FF2B5EF4-FFF2-40B4-BE49-F238E27FC236}">
                <a16:creationId xmlns:a16="http://schemas.microsoft.com/office/drawing/2014/main" id="{4262D20A-3DFB-C0C8-8E94-0240C8406D13}"/>
              </a:ext>
            </a:extLst>
          </p:cNvPr>
          <p:cNvSpPr/>
          <p:nvPr/>
        </p:nvSpPr>
        <p:spPr>
          <a:xfrm>
            <a:off x="1524000" y="2852928"/>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Pregunta en Copilot Chat → resume el hilo de Contoso desde Outlook.</a:t>
            </a:r>
            <a:endParaRPr lang="en-US" sz="1200" dirty="0">
              <a:latin typeface="Segoe UI (Body)"/>
            </a:endParaRPr>
          </a:p>
        </p:txBody>
      </p:sp>
      <p:sp>
        <p:nvSpPr>
          <p:cNvPr id="22" name="Shape 16">
            <a:extLst>
              <a:ext uri="{FF2B5EF4-FFF2-40B4-BE49-F238E27FC236}">
                <a16:creationId xmlns:a16="http://schemas.microsoft.com/office/drawing/2014/main" id="{3273BD02-F829-C9CD-E880-71F381138089}"/>
              </a:ext>
            </a:extLst>
          </p:cNvPr>
          <p:cNvSpPr/>
          <p:nvPr/>
        </p:nvSpPr>
        <p:spPr>
          <a:xfrm>
            <a:off x="6096000" y="2560320"/>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23" name="Shape 17">
            <a:extLst>
              <a:ext uri="{FF2B5EF4-FFF2-40B4-BE49-F238E27FC236}">
                <a16:creationId xmlns:a16="http://schemas.microsoft.com/office/drawing/2014/main" id="{40EF7FD3-65AB-697D-5E8D-BACE20FD8993}"/>
              </a:ext>
            </a:extLst>
          </p:cNvPr>
          <p:cNvSpPr/>
          <p:nvPr/>
        </p:nvSpPr>
        <p:spPr>
          <a:xfrm>
            <a:off x="6096000" y="2560320"/>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24" name="Text 18">
            <a:extLst>
              <a:ext uri="{FF2B5EF4-FFF2-40B4-BE49-F238E27FC236}">
                <a16:creationId xmlns:a16="http://schemas.microsoft.com/office/drawing/2014/main" id="{83B9C6D6-06EB-2FE4-5C5E-7E18CA0A3791}"/>
              </a:ext>
            </a:extLst>
          </p:cNvPr>
          <p:cNvSpPr/>
          <p:nvPr/>
        </p:nvSpPr>
        <p:spPr>
          <a:xfrm>
            <a:off x="6278880" y="2609088"/>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Triaje del correo</a:t>
            </a:r>
            <a:endParaRPr lang="en-US" sz="1333" dirty="0">
              <a:latin typeface="Segoe UI (Body)"/>
            </a:endParaRPr>
          </a:p>
        </p:txBody>
      </p:sp>
      <p:sp>
        <p:nvSpPr>
          <p:cNvPr id="25" name="Text 19">
            <a:extLst>
              <a:ext uri="{FF2B5EF4-FFF2-40B4-BE49-F238E27FC236}">
                <a16:creationId xmlns:a16="http://schemas.microsoft.com/office/drawing/2014/main" id="{B09BBA39-2547-B021-7D4A-C3757E1B5E16}"/>
              </a:ext>
            </a:extLst>
          </p:cNvPr>
          <p:cNvSpPr/>
          <p:nvPr/>
        </p:nvSpPr>
        <p:spPr>
          <a:xfrm>
            <a:off x="6278880" y="2852928"/>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Mail (searchMessages / getMessage) → resumen + borrador de respuesta.</a:t>
            </a:r>
            <a:endParaRPr lang="en-US" sz="1200" dirty="0">
              <a:latin typeface="Segoe UI (Body)"/>
            </a:endParaRPr>
          </a:p>
        </p:txBody>
      </p:sp>
      <p:sp>
        <p:nvSpPr>
          <p:cNvPr id="26" name="Shape 20">
            <a:extLst>
              <a:ext uri="{FF2B5EF4-FFF2-40B4-BE49-F238E27FC236}">
                <a16:creationId xmlns:a16="http://schemas.microsoft.com/office/drawing/2014/main" id="{23D6202B-8992-5E9E-9AD2-70B71A4873A8}"/>
              </a:ext>
            </a:extLst>
          </p:cNvPr>
          <p:cNvSpPr/>
          <p:nvPr/>
        </p:nvSpPr>
        <p:spPr>
          <a:xfrm>
            <a:off x="731520" y="3364992"/>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50" name="Text 21">
            <a:extLst>
              <a:ext uri="{FF2B5EF4-FFF2-40B4-BE49-F238E27FC236}">
                <a16:creationId xmlns:a16="http://schemas.microsoft.com/office/drawing/2014/main" id="{F50668ED-1965-8BA0-4594-3B4406F6284C}"/>
              </a:ext>
            </a:extLst>
          </p:cNvPr>
          <p:cNvSpPr/>
          <p:nvPr/>
        </p:nvSpPr>
        <p:spPr>
          <a:xfrm>
            <a:off x="731520" y="3364992"/>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2</a:t>
            </a:r>
            <a:endParaRPr lang="en-US" sz="1867" dirty="0">
              <a:latin typeface="Segoe UI (Body)"/>
            </a:endParaRPr>
          </a:p>
        </p:txBody>
      </p:sp>
      <p:sp>
        <p:nvSpPr>
          <p:cNvPr id="51" name="Text 22">
            <a:extLst>
              <a:ext uri="{FF2B5EF4-FFF2-40B4-BE49-F238E27FC236}">
                <a16:creationId xmlns:a16="http://schemas.microsoft.com/office/drawing/2014/main" id="{CA00AE70-BD06-5BB3-6493-34B2F0350AAE}"/>
              </a:ext>
            </a:extLst>
          </p:cNvPr>
          <p:cNvSpPr/>
          <p:nvPr/>
        </p:nvSpPr>
        <p:spPr>
          <a:xfrm>
            <a:off x="1341120" y="3328416"/>
            <a:ext cx="0" cy="0"/>
          </a:xfrm>
          <a:prstGeom prst="rect">
            <a:avLst/>
          </a:prstGeom>
          <a:noFill/>
          <a:ln/>
        </p:spPr>
        <p:txBody>
          <a:bodyPr wrap="square" rtlCol="0" anchor="ctr"/>
          <a:lstStyle/>
          <a:p>
            <a:r>
              <a:rPr lang="en-US" sz="133" dirty="0">
                <a:solidFill>
                  <a:srgbClr val="0B1020"/>
                </a:solidFill>
                <a:latin typeface="Segoe UI (Body)"/>
              </a:rPr>
              <a:t>Actualizar ServiceNow</a:t>
            </a:r>
            <a:endParaRPr lang="en-US" sz="133" dirty="0">
              <a:latin typeface="Segoe UI (Body)"/>
            </a:endParaRPr>
          </a:p>
        </p:txBody>
      </p:sp>
      <p:sp>
        <p:nvSpPr>
          <p:cNvPr id="52" name="Shape 23">
            <a:extLst>
              <a:ext uri="{FF2B5EF4-FFF2-40B4-BE49-F238E27FC236}">
                <a16:creationId xmlns:a16="http://schemas.microsoft.com/office/drawing/2014/main" id="{3E4621E9-F3F2-6267-C0A9-A2D96F671947}"/>
              </a:ext>
            </a:extLst>
          </p:cNvPr>
          <p:cNvSpPr/>
          <p:nvPr/>
        </p:nvSpPr>
        <p:spPr>
          <a:xfrm>
            <a:off x="1341120" y="3267456"/>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53" name="Shape 24">
            <a:extLst>
              <a:ext uri="{FF2B5EF4-FFF2-40B4-BE49-F238E27FC236}">
                <a16:creationId xmlns:a16="http://schemas.microsoft.com/office/drawing/2014/main" id="{737C7CC8-4DB7-8ECE-7259-D345006CFFA9}"/>
              </a:ext>
            </a:extLst>
          </p:cNvPr>
          <p:cNvSpPr/>
          <p:nvPr/>
        </p:nvSpPr>
        <p:spPr>
          <a:xfrm>
            <a:off x="1341120" y="3267456"/>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54" name="Text 25">
            <a:extLst>
              <a:ext uri="{FF2B5EF4-FFF2-40B4-BE49-F238E27FC236}">
                <a16:creationId xmlns:a16="http://schemas.microsoft.com/office/drawing/2014/main" id="{A4775CA0-DB94-2F2F-CF7A-4A7BBB4D1E20}"/>
              </a:ext>
            </a:extLst>
          </p:cNvPr>
          <p:cNvSpPr/>
          <p:nvPr/>
        </p:nvSpPr>
        <p:spPr>
          <a:xfrm>
            <a:off x="1524000" y="3316224"/>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Actualizar ServiceNow</a:t>
            </a:r>
            <a:endParaRPr lang="en-US" sz="1333" dirty="0">
              <a:latin typeface="Segoe UI (Body)"/>
            </a:endParaRPr>
          </a:p>
        </p:txBody>
      </p:sp>
      <p:sp>
        <p:nvSpPr>
          <p:cNvPr id="55" name="Text 26">
            <a:extLst>
              <a:ext uri="{FF2B5EF4-FFF2-40B4-BE49-F238E27FC236}">
                <a16:creationId xmlns:a16="http://schemas.microsoft.com/office/drawing/2014/main" id="{F4A9EEE4-CD9D-1672-75AB-FD8608DD7112}"/>
              </a:ext>
            </a:extLst>
          </p:cNvPr>
          <p:cNvSpPr/>
          <p:nvPr/>
        </p:nvSpPr>
        <p:spPr>
          <a:xfrm>
            <a:off x="1524000" y="3560064"/>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Copia/pega al ticket — no hay acción nativa sobre ServiceNow.</a:t>
            </a:r>
            <a:endParaRPr lang="en-US" sz="1200" dirty="0">
              <a:latin typeface="Segoe UI (Body)"/>
            </a:endParaRPr>
          </a:p>
        </p:txBody>
      </p:sp>
      <p:sp>
        <p:nvSpPr>
          <p:cNvPr id="56" name="Shape 27">
            <a:extLst>
              <a:ext uri="{FF2B5EF4-FFF2-40B4-BE49-F238E27FC236}">
                <a16:creationId xmlns:a16="http://schemas.microsoft.com/office/drawing/2014/main" id="{4BCDB9FF-4EFB-1EBC-DEA8-C57803B248E7}"/>
              </a:ext>
            </a:extLst>
          </p:cNvPr>
          <p:cNvSpPr/>
          <p:nvPr/>
        </p:nvSpPr>
        <p:spPr>
          <a:xfrm>
            <a:off x="6096000" y="3267456"/>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57" name="Shape 28">
            <a:extLst>
              <a:ext uri="{FF2B5EF4-FFF2-40B4-BE49-F238E27FC236}">
                <a16:creationId xmlns:a16="http://schemas.microsoft.com/office/drawing/2014/main" id="{46C27E68-887E-78D3-D9D7-A8F125A6C23C}"/>
              </a:ext>
            </a:extLst>
          </p:cNvPr>
          <p:cNvSpPr/>
          <p:nvPr/>
        </p:nvSpPr>
        <p:spPr>
          <a:xfrm>
            <a:off x="6096000" y="3267456"/>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58" name="Text 29">
            <a:extLst>
              <a:ext uri="{FF2B5EF4-FFF2-40B4-BE49-F238E27FC236}">
                <a16:creationId xmlns:a16="http://schemas.microsoft.com/office/drawing/2014/main" id="{D700AF95-92FF-6328-7C38-59503C07B52F}"/>
              </a:ext>
            </a:extLst>
          </p:cNvPr>
          <p:cNvSpPr/>
          <p:nvPr/>
        </p:nvSpPr>
        <p:spPr>
          <a:xfrm>
            <a:off x="6278880" y="3316224"/>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Actualizar ServiceNow</a:t>
            </a:r>
            <a:endParaRPr lang="en-US" sz="1333" dirty="0">
              <a:latin typeface="Segoe UI (Body)"/>
            </a:endParaRPr>
          </a:p>
        </p:txBody>
      </p:sp>
      <p:sp>
        <p:nvSpPr>
          <p:cNvPr id="59" name="Text 30">
            <a:extLst>
              <a:ext uri="{FF2B5EF4-FFF2-40B4-BE49-F238E27FC236}">
                <a16:creationId xmlns:a16="http://schemas.microsoft.com/office/drawing/2014/main" id="{23ED15F2-4185-0ADF-273D-44123918FBB5}"/>
              </a:ext>
            </a:extLst>
          </p:cNvPr>
          <p:cNvSpPr/>
          <p:nvPr/>
        </p:nvSpPr>
        <p:spPr>
          <a:xfrm>
            <a:off x="6278880" y="3560064"/>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ServiceNow MCP → getIncident, addWorkNote, updateIncidentState.</a:t>
            </a:r>
            <a:endParaRPr lang="en-US" sz="1200" dirty="0">
              <a:latin typeface="Segoe UI (Body)"/>
            </a:endParaRPr>
          </a:p>
        </p:txBody>
      </p:sp>
      <p:sp>
        <p:nvSpPr>
          <p:cNvPr id="60" name="Shape 31">
            <a:extLst>
              <a:ext uri="{FF2B5EF4-FFF2-40B4-BE49-F238E27FC236}">
                <a16:creationId xmlns:a16="http://schemas.microsoft.com/office/drawing/2014/main" id="{EAEA3347-C2A6-A101-CBA8-4C48AF2812C1}"/>
              </a:ext>
            </a:extLst>
          </p:cNvPr>
          <p:cNvSpPr/>
          <p:nvPr/>
        </p:nvSpPr>
        <p:spPr>
          <a:xfrm>
            <a:off x="731520" y="4072128"/>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61" name="Text 32">
            <a:extLst>
              <a:ext uri="{FF2B5EF4-FFF2-40B4-BE49-F238E27FC236}">
                <a16:creationId xmlns:a16="http://schemas.microsoft.com/office/drawing/2014/main" id="{0EA0270E-50D4-E585-B568-0E63055DE1EC}"/>
              </a:ext>
            </a:extLst>
          </p:cNvPr>
          <p:cNvSpPr/>
          <p:nvPr/>
        </p:nvSpPr>
        <p:spPr>
          <a:xfrm>
            <a:off x="731520" y="4072128"/>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3</a:t>
            </a:r>
            <a:endParaRPr lang="en-US" sz="1867" dirty="0">
              <a:latin typeface="Segoe UI (Body)"/>
            </a:endParaRPr>
          </a:p>
        </p:txBody>
      </p:sp>
      <p:sp>
        <p:nvSpPr>
          <p:cNvPr id="62" name="Text 33">
            <a:extLst>
              <a:ext uri="{FF2B5EF4-FFF2-40B4-BE49-F238E27FC236}">
                <a16:creationId xmlns:a16="http://schemas.microsoft.com/office/drawing/2014/main" id="{A79EBEB3-F3F6-FACE-B141-4C5BB3D19BBB}"/>
              </a:ext>
            </a:extLst>
          </p:cNvPr>
          <p:cNvSpPr/>
          <p:nvPr/>
        </p:nvSpPr>
        <p:spPr>
          <a:xfrm>
            <a:off x="1341120" y="4035552"/>
            <a:ext cx="0" cy="0"/>
          </a:xfrm>
          <a:prstGeom prst="rect">
            <a:avLst/>
          </a:prstGeom>
          <a:noFill/>
          <a:ln/>
        </p:spPr>
        <p:txBody>
          <a:bodyPr wrap="square" rtlCol="0" anchor="ctr"/>
          <a:lstStyle/>
          <a:p>
            <a:r>
              <a:rPr lang="en-US" sz="133" dirty="0">
                <a:solidFill>
                  <a:srgbClr val="0B1020"/>
                </a:solidFill>
                <a:latin typeface="Segoe UI (Body)"/>
              </a:rPr>
              <a:t>Programar War Room</a:t>
            </a:r>
            <a:endParaRPr lang="en-US" sz="133" dirty="0">
              <a:latin typeface="Segoe UI (Body)"/>
            </a:endParaRPr>
          </a:p>
        </p:txBody>
      </p:sp>
      <p:sp>
        <p:nvSpPr>
          <p:cNvPr id="63" name="Shape 34">
            <a:extLst>
              <a:ext uri="{FF2B5EF4-FFF2-40B4-BE49-F238E27FC236}">
                <a16:creationId xmlns:a16="http://schemas.microsoft.com/office/drawing/2014/main" id="{659E7515-8ADA-27FA-3056-751814F72740}"/>
              </a:ext>
            </a:extLst>
          </p:cNvPr>
          <p:cNvSpPr/>
          <p:nvPr/>
        </p:nvSpPr>
        <p:spPr>
          <a:xfrm>
            <a:off x="1341120" y="3974592"/>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64" name="Shape 35">
            <a:extLst>
              <a:ext uri="{FF2B5EF4-FFF2-40B4-BE49-F238E27FC236}">
                <a16:creationId xmlns:a16="http://schemas.microsoft.com/office/drawing/2014/main" id="{B1EE1EE6-62A6-B80E-4554-E2F91AC7B741}"/>
              </a:ext>
            </a:extLst>
          </p:cNvPr>
          <p:cNvSpPr/>
          <p:nvPr/>
        </p:nvSpPr>
        <p:spPr>
          <a:xfrm>
            <a:off x="1341120" y="3974592"/>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65" name="Text 36">
            <a:extLst>
              <a:ext uri="{FF2B5EF4-FFF2-40B4-BE49-F238E27FC236}">
                <a16:creationId xmlns:a16="http://schemas.microsoft.com/office/drawing/2014/main" id="{65B19D8A-6BB1-6E00-2FDD-49AD818E3C5B}"/>
              </a:ext>
            </a:extLst>
          </p:cNvPr>
          <p:cNvSpPr/>
          <p:nvPr/>
        </p:nvSpPr>
        <p:spPr>
          <a:xfrm>
            <a:off x="1524000" y="4023360"/>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Programar War Room</a:t>
            </a:r>
            <a:endParaRPr lang="en-US" sz="1333" dirty="0">
              <a:latin typeface="Segoe UI (Body)"/>
            </a:endParaRPr>
          </a:p>
        </p:txBody>
      </p:sp>
      <p:sp>
        <p:nvSpPr>
          <p:cNvPr id="66" name="Text 37">
            <a:extLst>
              <a:ext uri="{FF2B5EF4-FFF2-40B4-BE49-F238E27FC236}">
                <a16:creationId xmlns:a16="http://schemas.microsoft.com/office/drawing/2014/main" id="{4B4FB2F3-6FAB-A0B7-520F-C4A214CEE403}"/>
              </a:ext>
            </a:extLst>
          </p:cNvPr>
          <p:cNvSpPr/>
          <p:nvPr/>
        </p:nvSpPr>
        <p:spPr>
          <a:xfrm>
            <a:off x="1524000" y="4267200"/>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Sugiere horario; el usuario crea la reunión en Outlook/Teams.</a:t>
            </a:r>
            <a:endParaRPr lang="en-US" sz="1200" dirty="0">
              <a:latin typeface="Segoe UI (Body)"/>
            </a:endParaRPr>
          </a:p>
        </p:txBody>
      </p:sp>
      <p:sp>
        <p:nvSpPr>
          <p:cNvPr id="67" name="Shape 38">
            <a:extLst>
              <a:ext uri="{FF2B5EF4-FFF2-40B4-BE49-F238E27FC236}">
                <a16:creationId xmlns:a16="http://schemas.microsoft.com/office/drawing/2014/main" id="{FCCF1102-D960-A165-F03D-825BF67894FF}"/>
              </a:ext>
            </a:extLst>
          </p:cNvPr>
          <p:cNvSpPr/>
          <p:nvPr/>
        </p:nvSpPr>
        <p:spPr>
          <a:xfrm>
            <a:off x="6096000" y="3974592"/>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68" name="Shape 39">
            <a:extLst>
              <a:ext uri="{FF2B5EF4-FFF2-40B4-BE49-F238E27FC236}">
                <a16:creationId xmlns:a16="http://schemas.microsoft.com/office/drawing/2014/main" id="{9974DD57-D86B-9D24-D8DC-BEBA0EC501DC}"/>
              </a:ext>
            </a:extLst>
          </p:cNvPr>
          <p:cNvSpPr/>
          <p:nvPr/>
        </p:nvSpPr>
        <p:spPr>
          <a:xfrm>
            <a:off x="6096000" y="3974592"/>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69" name="Text 40">
            <a:extLst>
              <a:ext uri="{FF2B5EF4-FFF2-40B4-BE49-F238E27FC236}">
                <a16:creationId xmlns:a16="http://schemas.microsoft.com/office/drawing/2014/main" id="{E7B19740-1B28-D87D-457E-AD560574CABE}"/>
              </a:ext>
            </a:extLst>
          </p:cNvPr>
          <p:cNvSpPr/>
          <p:nvPr/>
        </p:nvSpPr>
        <p:spPr>
          <a:xfrm>
            <a:off x="6278880" y="4023360"/>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Programar War Room</a:t>
            </a:r>
            <a:endParaRPr lang="en-US" sz="1333" dirty="0">
              <a:latin typeface="Segoe UI (Body)"/>
            </a:endParaRPr>
          </a:p>
        </p:txBody>
      </p:sp>
      <p:sp>
        <p:nvSpPr>
          <p:cNvPr id="70" name="Text 41">
            <a:extLst>
              <a:ext uri="{FF2B5EF4-FFF2-40B4-BE49-F238E27FC236}">
                <a16:creationId xmlns:a16="http://schemas.microsoft.com/office/drawing/2014/main" id="{38AA6F6D-CC32-2D36-E75E-5C2451989F34}"/>
              </a:ext>
            </a:extLst>
          </p:cNvPr>
          <p:cNvSpPr/>
          <p:nvPr/>
        </p:nvSpPr>
        <p:spPr>
          <a:xfrm>
            <a:off x="6278880" y="4267200"/>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Calendar → findMeetingTimes + createEvent con Teams link.</a:t>
            </a:r>
            <a:endParaRPr lang="en-US" sz="1200" dirty="0">
              <a:latin typeface="Segoe UI (Body)"/>
            </a:endParaRPr>
          </a:p>
        </p:txBody>
      </p:sp>
      <p:sp>
        <p:nvSpPr>
          <p:cNvPr id="71" name="Shape 42">
            <a:extLst>
              <a:ext uri="{FF2B5EF4-FFF2-40B4-BE49-F238E27FC236}">
                <a16:creationId xmlns:a16="http://schemas.microsoft.com/office/drawing/2014/main" id="{445F6C05-3624-0BC8-C0D5-5A67A5DF1253}"/>
              </a:ext>
            </a:extLst>
          </p:cNvPr>
          <p:cNvSpPr/>
          <p:nvPr/>
        </p:nvSpPr>
        <p:spPr>
          <a:xfrm>
            <a:off x="731520" y="4779264"/>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72" name="Text 43">
            <a:extLst>
              <a:ext uri="{FF2B5EF4-FFF2-40B4-BE49-F238E27FC236}">
                <a16:creationId xmlns:a16="http://schemas.microsoft.com/office/drawing/2014/main" id="{3E123C63-154D-8C9E-345A-2685770BF1A8}"/>
              </a:ext>
            </a:extLst>
          </p:cNvPr>
          <p:cNvSpPr/>
          <p:nvPr/>
        </p:nvSpPr>
        <p:spPr>
          <a:xfrm>
            <a:off x="731520" y="4779264"/>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4</a:t>
            </a:r>
            <a:endParaRPr lang="en-US" sz="1867" dirty="0">
              <a:latin typeface="Segoe UI (Body)"/>
            </a:endParaRPr>
          </a:p>
        </p:txBody>
      </p:sp>
      <p:sp>
        <p:nvSpPr>
          <p:cNvPr id="73" name="Text 44">
            <a:extLst>
              <a:ext uri="{FF2B5EF4-FFF2-40B4-BE49-F238E27FC236}">
                <a16:creationId xmlns:a16="http://schemas.microsoft.com/office/drawing/2014/main" id="{0B154BA5-3B52-D8F0-3C59-F9A684BE40D7}"/>
              </a:ext>
            </a:extLst>
          </p:cNvPr>
          <p:cNvSpPr/>
          <p:nvPr/>
        </p:nvSpPr>
        <p:spPr>
          <a:xfrm>
            <a:off x="1341120" y="4742688"/>
            <a:ext cx="0" cy="0"/>
          </a:xfrm>
          <a:prstGeom prst="rect">
            <a:avLst/>
          </a:prstGeom>
          <a:noFill/>
          <a:ln/>
        </p:spPr>
        <p:txBody>
          <a:bodyPr wrap="square" rtlCol="0" anchor="ctr"/>
          <a:lstStyle/>
          <a:p>
            <a:r>
              <a:rPr lang="en-US" sz="133" dirty="0">
                <a:solidFill>
                  <a:srgbClr val="0B1020"/>
                </a:solidFill>
                <a:latin typeface="Segoe UI (Body)"/>
              </a:rPr>
              <a:t>Buscar KB y enriquecer</a:t>
            </a:r>
            <a:endParaRPr lang="en-US" sz="133" dirty="0">
              <a:latin typeface="Segoe UI (Body)"/>
            </a:endParaRPr>
          </a:p>
        </p:txBody>
      </p:sp>
      <p:sp>
        <p:nvSpPr>
          <p:cNvPr id="74" name="Shape 45">
            <a:extLst>
              <a:ext uri="{FF2B5EF4-FFF2-40B4-BE49-F238E27FC236}">
                <a16:creationId xmlns:a16="http://schemas.microsoft.com/office/drawing/2014/main" id="{FC6947BC-4C62-F9A1-398A-A7AE20EEA73A}"/>
              </a:ext>
            </a:extLst>
          </p:cNvPr>
          <p:cNvSpPr/>
          <p:nvPr/>
        </p:nvSpPr>
        <p:spPr>
          <a:xfrm>
            <a:off x="1341120" y="4681728"/>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75" name="Shape 46">
            <a:extLst>
              <a:ext uri="{FF2B5EF4-FFF2-40B4-BE49-F238E27FC236}">
                <a16:creationId xmlns:a16="http://schemas.microsoft.com/office/drawing/2014/main" id="{54FA6359-ADEF-E5F2-C6CD-447CB920FF0D}"/>
              </a:ext>
            </a:extLst>
          </p:cNvPr>
          <p:cNvSpPr/>
          <p:nvPr/>
        </p:nvSpPr>
        <p:spPr>
          <a:xfrm>
            <a:off x="1341120" y="4681728"/>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76" name="Text 47">
            <a:extLst>
              <a:ext uri="{FF2B5EF4-FFF2-40B4-BE49-F238E27FC236}">
                <a16:creationId xmlns:a16="http://schemas.microsoft.com/office/drawing/2014/main" id="{10F53E27-C312-F275-68C5-3FB5454A9755}"/>
              </a:ext>
            </a:extLst>
          </p:cNvPr>
          <p:cNvSpPr/>
          <p:nvPr/>
        </p:nvSpPr>
        <p:spPr>
          <a:xfrm>
            <a:off x="1524000" y="4730496"/>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Buscar KB y enriquecer</a:t>
            </a:r>
            <a:endParaRPr lang="en-US" sz="1333" dirty="0">
              <a:latin typeface="Segoe UI (Body)"/>
            </a:endParaRPr>
          </a:p>
        </p:txBody>
      </p:sp>
      <p:sp>
        <p:nvSpPr>
          <p:cNvPr id="77" name="Text 48">
            <a:extLst>
              <a:ext uri="{FF2B5EF4-FFF2-40B4-BE49-F238E27FC236}">
                <a16:creationId xmlns:a16="http://schemas.microsoft.com/office/drawing/2014/main" id="{64385E2B-47F3-2AD6-33F6-62306FC43811}"/>
              </a:ext>
            </a:extLst>
          </p:cNvPr>
          <p:cNvSpPr/>
          <p:nvPr/>
        </p:nvSpPr>
        <p:spPr>
          <a:xfrm>
            <a:off x="1524000" y="4974336"/>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Búsqueda semántica en SharePoint/OneDrive desde Copilot Chat.</a:t>
            </a:r>
            <a:endParaRPr lang="en-US" sz="1200" dirty="0">
              <a:latin typeface="Segoe UI (Body)"/>
            </a:endParaRPr>
          </a:p>
        </p:txBody>
      </p:sp>
      <p:sp>
        <p:nvSpPr>
          <p:cNvPr id="78" name="Shape 49">
            <a:extLst>
              <a:ext uri="{FF2B5EF4-FFF2-40B4-BE49-F238E27FC236}">
                <a16:creationId xmlns:a16="http://schemas.microsoft.com/office/drawing/2014/main" id="{BCD9A0B1-362F-F46B-2B90-EED89399FD86}"/>
              </a:ext>
            </a:extLst>
          </p:cNvPr>
          <p:cNvSpPr/>
          <p:nvPr/>
        </p:nvSpPr>
        <p:spPr>
          <a:xfrm>
            <a:off x="6096000" y="4681728"/>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79" name="Shape 50">
            <a:extLst>
              <a:ext uri="{FF2B5EF4-FFF2-40B4-BE49-F238E27FC236}">
                <a16:creationId xmlns:a16="http://schemas.microsoft.com/office/drawing/2014/main" id="{65E58BD3-8AD1-A3D1-5DEB-F0D3FB575D67}"/>
              </a:ext>
            </a:extLst>
          </p:cNvPr>
          <p:cNvSpPr/>
          <p:nvPr/>
        </p:nvSpPr>
        <p:spPr>
          <a:xfrm>
            <a:off x="6096000" y="4681728"/>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80" name="Text 51">
            <a:extLst>
              <a:ext uri="{FF2B5EF4-FFF2-40B4-BE49-F238E27FC236}">
                <a16:creationId xmlns:a16="http://schemas.microsoft.com/office/drawing/2014/main" id="{42D92D96-CEC1-EDFB-5BFD-7DCBF4BB8699}"/>
              </a:ext>
            </a:extLst>
          </p:cNvPr>
          <p:cNvSpPr/>
          <p:nvPr/>
        </p:nvSpPr>
        <p:spPr>
          <a:xfrm>
            <a:off x="6278880" y="4730496"/>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Buscar KB y enriquecer</a:t>
            </a:r>
            <a:endParaRPr lang="en-US" sz="1333" dirty="0">
              <a:latin typeface="Segoe UI (Body)"/>
            </a:endParaRPr>
          </a:p>
        </p:txBody>
      </p:sp>
      <p:sp>
        <p:nvSpPr>
          <p:cNvPr id="81" name="Text 52">
            <a:extLst>
              <a:ext uri="{FF2B5EF4-FFF2-40B4-BE49-F238E27FC236}">
                <a16:creationId xmlns:a16="http://schemas.microsoft.com/office/drawing/2014/main" id="{0877E34B-ECBB-926C-8FBF-E0854C4DAEB8}"/>
              </a:ext>
            </a:extLst>
          </p:cNvPr>
          <p:cNvSpPr/>
          <p:nvPr/>
        </p:nvSpPr>
        <p:spPr>
          <a:xfrm>
            <a:off x="6278880" y="4974336"/>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Copilot (mcp_M365Copilot) → mitigaciones + links al borrador.</a:t>
            </a:r>
            <a:endParaRPr lang="en-US" sz="1200" dirty="0">
              <a:latin typeface="Segoe UI (Body)"/>
            </a:endParaRPr>
          </a:p>
        </p:txBody>
      </p:sp>
      <p:sp>
        <p:nvSpPr>
          <p:cNvPr id="82" name="Shape 53">
            <a:extLst>
              <a:ext uri="{FF2B5EF4-FFF2-40B4-BE49-F238E27FC236}">
                <a16:creationId xmlns:a16="http://schemas.microsoft.com/office/drawing/2014/main" id="{69CA4DB4-14F1-F9EE-7122-EB8C835026F0}"/>
              </a:ext>
            </a:extLst>
          </p:cNvPr>
          <p:cNvSpPr/>
          <p:nvPr/>
        </p:nvSpPr>
        <p:spPr>
          <a:xfrm>
            <a:off x="731520" y="5486400"/>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83" name="Text 54">
            <a:extLst>
              <a:ext uri="{FF2B5EF4-FFF2-40B4-BE49-F238E27FC236}">
                <a16:creationId xmlns:a16="http://schemas.microsoft.com/office/drawing/2014/main" id="{C74C4F18-7594-DA63-8FB1-A5D3FE50D1D0}"/>
              </a:ext>
            </a:extLst>
          </p:cNvPr>
          <p:cNvSpPr/>
          <p:nvPr/>
        </p:nvSpPr>
        <p:spPr>
          <a:xfrm>
            <a:off x="731520" y="5486400"/>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5</a:t>
            </a:r>
            <a:endParaRPr lang="en-US" sz="1867" dirty="0">
              <a:latin typeface="Segoe UI (Body)"/>
            </a:endParaRPr>
          </a:p>
        </p:txBody>
      </p:sp>
      <p:sp>
        <p:nvSpPr>
          <p:cNvPr id="84" name="Text 55">
            <a:extLst>
              <a:ext uri="{FF2B5EF4-FFF2-40B4-BE49-F238E27FC236}">
                <a16:creationId xmlns:a16="http://schemas.microsoft.com/office/drawing/2014/main" id="{F714002E-D949-6F36-08B7-5D0E4490B6DE}"/>
              </a:ext>
            </a:extLst>
          </p:cNvPr>
          <p:cNvSpPr/>
          <p:nvPr/>
        </p:nvSpPr>
        <p:spPr>
          <a:xfrm>
            <a:off x="1341120" y="5449824"/>
            <a:ext cx="0" cy="0"/>
          </a:xfrm>
          <a:prstGeom prst="rect">
            <a:avLst/>
          </a:prstGeom>
          <a:noFill/>
          <a:ln/>
        </p:spPr>
        <p:txBody>
          <a:bodyPr wrap="square" rtlCol="0" anchor="ctr"/>
          <a:lstStyle/>
          <a:p>
            <a:r>
              <a:rPr lang="en-US" sz="133" dirty="0">
                <a:solidFill>
                  <a:srgbClr val="0B1020"/>
                </a:solidFill>
                <a:latin typeface="Segoe UI (Body)"/>
              </a:rPr>
              <a:t>Resumen final</a:t>
            </a:r>
            <a:endParaRPr lang="en-US" sz="133" dirty="0">
              <a:latin typeface="Segoe UI (Body)"/>
            </a:endParaRPr>
          </a:p>
        </p:txBody>
      </p:sp>
      <p:sp>
        <p:nvSpPr>
          <p:cNvPr id="85" name="Shape 56">
            <a:extLst>
              <a:ext uri="{FF2B5EF4-FFF2-40B4-BE49-F238E27FC236}">
                <a16:creationId xmlns:a16="http://schemas.microsoft.com/office/drawing/2014/main" id="{336BD10A-DC55-5EBA-637A-034CD10E5656}"/>
              </a:ext>
            </a:extLst>
          </p:cNvPr>
          <p:cNvSpPr/>
          <p:nvPr/>
        </p:nvSpPr>
        <p:spPr>
          <a:xfrm>
            <a:off x="1341120" y="5388864"/>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86" name="Shape 57">
            <a:extLst>
              <a:ext uri="{FF2B5EF4-FFF2-40B4-BE49-F238E27FC236}">
                <a16:creationId xmlns:a16="http://schemas.microsoft.com/office/drawing/2014/main" id="{4D3F8D82-2391-E797-3E57-EE6718AB59B0}"/>
              </a:ext>
            </a:extLst>
          </p:cNvPr>
          <p:cNvSpPr/>
          <p:nvPr/>
        </p:nvSpPr>
        <p:spPr>
          <a:xfrm>
            <a:off x="1341120" y="5388864"/>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87" name="Text 58">
            <a:extLst>
              <a:ext uri="{FF2B5EF4-FFF2-40B4-BE49-F238E27FC236}">
                <a16:creationId xmlns:a16="http://schemas.microsoft.com/office/drawing/2014/main" id="{0706D802-1319-7CDD-A398-57E4DA166541}"/>
              </a:ext>
            </a:extLst>
          </p:cNvPr>
          <p:cNvSpPr/>
          <p:nvPr/>
        </p:nvSpPr>
        <p:spPr>
          <a:xfrm>
            <a:off x="1524000" y="5437632"/>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Resumen final</a:t>
            </a:r>
            <a:endParaRPr lang="en-US" sz="1333" dirty="0">
              <a:latin typeface="Segoe UI (Body)"/>
            </a:endParaRPr>
          </a:p>
        </p:txBody>
      </p:sp>
      <p:sp>
        <p:nvSpPr>
          <p:cNvPr id="88" name="Text 59">
            <a:extLst>
              <a:ext uri="{FF2B5EF4-FFF2-40B4-BE49-F238E27FC236}">
                <a16:creationId xmlns:a16="http://schemas.microsoft.com/office/drawing/2014/main" id="{B26C195C-4249-CA01-43F0-CDFC9BBFA30D}"/>
              </a:ext>
            </a:extLst>
          </p:cNvPr>
          <p:cNvSpPr/>
          <p:nvPr/>
        </p:nvSpPr>
        <p:spPr>
          <a:xfrm>
            <a:off x="1524000" y="5681472"/>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Pide a Copilot un resumen de las acciones realizadas.</a:t>
            </a:r>
            <a:endParaRPr lang="en-US" sz="1200" dirty="0">
              <a:latin typeface="Segoe UI (Body)"/>
            </a:endParaRPr>
          </a:p>
        </p:txBody>
      </p:sp>
      <p:sp>
        <p:nvSpPr>
          <p:cNvPr id="89" name="Shape 60">
            <a:extLst>
              <a:ext uri="{FF2B5EF4-FFF2-40B4-BE49-F238E27FC236}">
                <a16:creationId xmlns:a16="http://schemas.microsoft.com/office/drawing/2014/main" id="{23E318C2-7EE7-4A4D-AF18-531F3D811C99}"/>
              </a:ext>
            </a:extLst>
          </p:cNvPr>
          <p:cNvSpPr/>
          <p:nvPr/>
        </p:nvSpPr>
        <p:spPr>
          <a:xfrm>
            <a:off x="6096000" y="5388864"/>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90" name="Shape 61">
            <a:extLst>
              <a:ext uri="{FF2B5EF4-FFF2-40B4-BE49-F238E27FC236}">
                <a16:creationId xmlns:a16="http://schemas.microsoft.com/office/drawing/2014/main" id="{64435119-08F5-7BC7-B2F6-DFAD32E81F65}"/>
              </a:ext>
            </a:extLst>
          </p:cNvPr>
          <p:cNvSpPr/>
          <p:nvPr/>
        </p:nvSpPr>
        <p:spPr>
          <a:xfrm>
            <a:off x="6096000" y="5388864"/>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91" name="Text 62">
            <a:extLst>
              <a:ext uri="{FF2B5EF4-FFF2-40B4-BE49-F238E27FC236}">
                <a16:creationId xmlns:a16="http://schemas.microsoft.com/office/drawing/2014/main" id="{4BB337A9-3AC3-4CA8-5AD4-2EAEE88C3E3F}"/>
              </a:ext>
            </a:extLst>
          </p:cNvPr>
          <p:cNvSpPr/>
          <p:nvPr/>
        </p:nvSpPr>
        <p:spPr>
          <a:xfrm>
            <a:off x="6278880" y="5437632"/>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Resumen final</a:t>
            </a:r>
            <a:endParaRPr lang="en-US" sz="1333" dirty="0">
              <a:latin typeface="Segoe UI (Body)"/>
            </a:endParaRPr>
          </a:p>
        </p:txBody>
      </p:sp>
      <p:sp>
        <p:nvSpPr>
          <p:cNvPr id="92" name="Text 63">
            <a:extLst>
              <a:ext uri="{FF2B5EF4-FFF2-40B4-BE49-F238E27FC236}">
                <a16:creationId xmlns:a16="http://schemas.microsoft.com/office/drawing/2014/main" id="{7BD8A805-D9EC-16BA-3598-A7A9C0DD6C5C}"/>
              </a:ext>
            </a:extLst>
          </p:cNvPr>
          <p:cNvSpPr/>
          <p:nvPr/>
        </p:nvSpPr>
        <p:spPr>
          <a:xfrm>
            <a:off x="6278880" y="5681472"/>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Genera bullets para ServiceNow y confirma estado del borrador.</a:t>
            </a:r>
            <a:endParaRPr lang="en-US" sz="1200" dirty="0">
              <a:latin typeface="Segoe UI (Body)"/>
            </a:endParaRPr>
          </a:p>
        </p:txBody>
      </p:sp>
      <p:sp>
        <p:nvSpPr>
          <p:cNvPr id="93" name="Text 64">
            <a:extLst>
              <a:ext uri="{FF2B5EF4-FFF2-40B4-BE49-F238E27FC236}">
                <a16:creationId xmlns:a16="http://schemas.microsoft.com/office/drawing/2014/main" id="{A85147F9-A9FC-ECB6-4D92-5FA4BA797E9D}"/>
              </a:ext>
            </a:extLst>
          </p:cNvPr>
          <p:cNvSpPr/>
          <p:nvPr/>
        </p:nvSpPr>
        <p:spPr>
          <a:xfrm>
            <a:off x="731520" y="6156960"/>
            <a:ext cx="10607040" cy="243840"/>
          </a:xfrm>
          <a:prstGeom prst="rect">
            <a:avLst/>
          </a:prstGeom>
          <a:noFill/>
          <a:ln/>
        </p:spPr>
        <p:txBody>
          <a:bodyPr wrap="square" lIns="0" tIns="0" rIns="0" bIns="0" rtlCol="0" anchor="ctr"/>
          <a:lstStyle/>
          <a:p>
            <a:r>
              <a:rPr lang="en-US" sz="1333" b="1" dirty="0">
                <a:solidFill>
                  <a:srgbClr val="F472B6"/>
                </a:solidFill>
                <a:latin typeface="Segoe UI (Body)"/>
                <a:ea typeface="Calibri" pitchFamily="34" charset="-122"/>
                <a:cs typeface="Calibri" pitchFamily="34" charset="-120"/>
              </a:rPr>
              <a:t>▼  </a:t>
            </a:r>
            <a:r>
              <a:rPr lang="en-US" sz="1333" i="1" dirty="0">
                <a:solidFill>
                  <a:srgbClr val="94A3B8"/>
                </a:solidFill>
                <a:latin typeface="Segoe UI (Body)"/>
                <a:ea typeface="Calibri" pitchFamily="34" charset="-122"/>
                <a:cs typeface="Calibri" pitchFamily="34" charset="-120"/>
              </a:rPr>
              <a:t>Ambas superficies se apoyan en la misma capa de inteligencia: </a:t>
            </a:r>
            <a:r>
              <a:rPr lang="en-US" sz="1333" b="1" dirty="0">
                <a:solidFill>
                  <a:schemeClr val="bg1"/>
                </a:solidFill>
                <a:latin typeface="Segoe UI (Body)"/>
                <a:ea typeface="Calibri" pitchFamily="34" charset="-122"/>
                <a:cs typeface="Calibri" pitchFamily="34" charset="-120"/>
              </a:rPr>
              <a:t>Work IQ (Datos · Contexto · Skills &amp; Tools)</a:t>
            </a:r>
            <a:endParaRPr lang="en-US" sz="1333" dirty="0">
              <a:solidFill>
                <a:schemeClr val="bg1"/>
              </a:solidFill>
              <a:latin typeface="Segoe UI (Body)"/>
            </a:endParaRPr>
          </a:p>
        </p:txBody>
      </p:sp>
      <p:pic>
        <p:nvPicPr>
          <p:cNvPr id="2" name="Picture Placeholder 3" descr="A person smiling for a picture  AI-generated content may be incorrect.">
            <a:extLst>
              <a:ext uri="{FF2B5EF4-FFF2-40B4-BE49-F238E27FC236}">
                <a16:creationId xmlns:a16="http://schemas.microsoft.com/office/drawing/2014/main" id="{57C000C5-F0D1-19EE-6EC8-C8CC41A17060}"/>
              </a:ext>
            </a:extLst>
          </p:cNvPr>
          <p:cNvPicPr>
            <a:picLocks noChangeAspect="1"/>
          </p:cNvPicPr>
          <p:nvPr/>
        </p:nvPicPr>
        <p:blipFill>
          <a:blip r:embed="rId4"/>
          <a:srcRect l="1123" r="1123"/>
          <a:stretch>
            <a:fillRect/>
          </a:stretch>
        </p:blipFill>
        <p:spPr>
          <a:xfrm>
            <a:off x="11370252" y="103914"/>
            <a:ext cx="640080" cy="636080"/>
          </a:xfrm>
          <a:prstGeom prst="ellipse">
            <a:avLst/>
          </a:prstGeom>
          <a:ln>
            <a:noFill/>
          </a:ln>
          <a:effectLst>
            <a:softEdge rad="112500"/>
          </a:effectLst>
        </p:spPr>
      </p:pic>
    </p:spTree>
    <p:extLst>
      <p:ext uri="{BB962C8B-B14F-4D97-AF65-F5344CB8AC3E}">
        <p14:creationId xmlns:p14="http://schemas.microsoft.com/office/powerpoint/2010/main" val="1328751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DE04-87B0-8962-9E2F-9FABECCBAE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415BC04-0F82-443A-6B66-8DE30A77E5A9}"/>
              </a:ext>
            </a:extLst>
          </p:cNvPr>
          <p:cNvSpPr>
            <a:spLocks noGrp="1"/>
          </p:cNvSpPr>
          <p:nvPr>
            <p:ph type="body" sz="quarter" idx="4294967295"/>
          </p:nvPr>
        </p:nvSpPr>
        <p:spPr>
          <a:xfrm>
            <a:off x="3827463" y="1389063"/>
            <a:ext cx="8364537" cy="4017962"/>
          </a:xfrm>
        </p:spPr>
        <p:txBody>
          <a:bodyPr/>
          <a:lstStyle/>
          <a:p>
            <a:endParaRPr lang="en-US" sz="1800"/>
          </a:p>
          <a:p>
            <a:endParaRPr lang="en-US" sz="1800"/>
          </a:p>
        </p:txBody>
      </p:sp>
      <p:pic>
        <p:nvPicPr>
          <p:cNvPr id="8" name="Imagen 2">
            <a:extLst>
              <a:ext uri="{FF2B5EF4-FFF2-40B4-BE49-F238E27FC236}">
                <a16:creationId xmlns:a16="http://schemas.microsoft.com/office/drawing/2014/main" id="{8171B7F4-4D50-3556-5899-09AE68BC1529}"/>
              </a:ext>
            </a:extLst>
          </p:cNvPr>
          <p:cNvPicPr>
            <a:picLocks noChangeAspect="1"/>
          </p:cNvPicPr>
          <p:nvPr/>
        </p:nvPicPr>
        <p:blipFill rotWithShape="1">
          <a:blip r:embed="rId2">
            <a:extLst>
              <a:ext uri="{28A0092B-C50C-407E-A947-70E740481C1C}">
                <a14:useLocalDpi xmlns:a14="http://schemas.microsoft.com/office/drawing/2010/main" val="0"/>
              </a:ext>
            </a:extLst>
          </a:blip>
          <a:srcRect l="9271" b="6950"/>
          <a:stretch/>
        </p:blipFill>
        <p:spPr>
          <a:xfrm>
            <a:off x="8484899" y="371356"/>
            <a:ext cx="2901552" cy="2904591"/>
          </a:xfrm>
          <a:prstGeom prst="rect">
            <a:avLst/>
          </a:prstGeom>
        </p:spPr>
      </p:pic>
      <p:sp>
        <p:nvSpPr>
          <p:cNvPr id="9" name="Marcador de texto 4">
            <a:extLst>
              <a:ext uri="{FF2B5EF4-FFF2-40B4-BE49-F238E27FC236}">
                <a16:creationId xmlns:a16="http://schemas.microsoft.com/office/drawing/2014/main" id="{B09BC487-8565-6BFC-1A07-2E1695A23AA6}"/>
              </a:ext>
            </a:extLst>
          </p:cNvPr>
          <p:cNvSpPr txBox="1">
            <a:spLocks/>
          </p:cNvSpPr>
          <p:nvPr/>
        </p:nvSpPr>
        <p:spPr>
          <a:xfrm>
            <a:off x="5403809" y="3984892"/>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Demo #1: Work IQ </a:t>
            </a:r>
            <a:r>
              <a:rPr kumimoji="0" lang="en-US" sz="3600" b="1" i="0" u="none" strike="noStrike" kern="1200" cap="none" spc="0" normalizeH="0" baseline="0" noProof="0" dirty="0" err="1">
                <a:ln>
                  <a:noFill/>
                </a:ln>
                <a:solidFill>
                  <a:srgbClr val="FFFFFF"/>
                </a:solidFill>
                <a:effectLst/>
                <a:uLnTx/>
                <a:uFillTx/>
                <a:latin typeface="Segoe UI Light (Headings)y)"/>
                <a:ea typeface="+mn-ea"/>
                <a:cs typeface="Segoe UI Semibold" panose="020B0702040204020203" pitchFamily="34" charset="0"/>
              </a:rPr>
              <a:t>en</a:t>
            </a: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 Microsoft 365 Copilot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solidFill>
                <a:srgbClr val="FFFFFF"/>
              </a:solidFill>
              <a:effectLst/>
              <a:uLnTx/>
              <a:uFillTx/>
              <a:latin typeface="Segoe UI Light (Headings)y)"/>
              <a:ea typeface="+mn-ea"/>
              <a:cs typeface="+mn-cs"/>
            </a:endParaRPr>
          </a:p>
        </p:txBody>
      </p:sp>
      <p:pic>
        <p:nvPicPr>
          <p:cNvPr id="10" name="Picture 18" descr="Minion clipart transparent background, Minion transparent background  Transparent FREE for download on WebStockReview 2021">
            <a:extLst>
              <a:ext uri="{FF2B5EF4-FFF2-40B4-BE49-F238E27FC236}">
                <a16:creationId xmlns:a16="http://schemas.microsoft.com/office/drawing/2014/main" id="{2F032E63-2041-E406-9767-DBBDE87B1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1356"/>
            <a:ext cx="5057590" cy="59194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Placeholder 3" descr="A person smiling for a picture  AI-generated content may be incorrect.">
            <a:extLst>
              <a:ext uri="{FF2B5EF4-FFF2-40B4-BE49-F238E27FC236}">
                <a16:creationId xmlns:a16="http://schemas.microsoft.com/office/drawing/2014/main" id="{8701B298-3DD3-5FA2-98CA-10644604739E}"/>
              </a:ext>
            </a:extLst>
          </p:cNvPr>
          <p:cNvPicPr>
            <a:picLocks noChangeAspect="1"/>
          </p:cNvPicPr>
          <p:nvPr/>
        </p:nvPicPr>
        <p:blipFill>
          <a:blip r:embed="rId4"/>
          <a:srcRect l="1123" r="1123"/>
          <a:stretch>
            <a:fillRect/>
          </a:stretch>
        </p:blipFill>
        <p:spPr>
          <a:xfrm>
            <a:off x="11370252" y="103914"/>
            <a:ext cx="640080" cy="636080"/>
          </a:xfrm>
          <a:prstGeom prst="ellipse">
            <a:avLst/>
          </a:prstGeom>
          <a:ln>
            <a:noFill/>
          </a:ln>
          <a:effectLst>
            <a:softEdge rad="112500"/>
          </a:effectLst>
        </p:spPr>
      </p:pic>
    </p:spTree>
    <p:extLst>
      <p:ext uri="{BB962C8B-B14F-4D97-AF65-F5344CB8AC3E}">
        <p14:creationId xmlns:p14="http://schemas.microsoft.com/office/powerpoint/2010/main" val="2939444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377B1-3EE1-C5D8-BB08-5B1FAAA5025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D853EA-5B37-0524-CDBB-5DB93C8730F3}"/>
              </a:ext>
            </a:extLst>
          </p:cNvPr>
          <p:cNvSpPr>
            <a:spLocks noGrp="1"/>
          </p:cNvSpPr>
          <p:nvPr>
            <p:ph type="title"/>
          </p:nvPr>
        </p:nvSpPr>
        <p:spPr>
          <a:xfrm>
            <a:off x="978951" y="2927227"/>
            <a:ext cx="10240453" cy="997196"/>
          </a:xfrm>
        </p:spPr>
        <p:txBody>
          <a:bodyPr/>
          <a:lstStyle/>
          <a:p>
            <a:pPr algn="ctr"/>
            <a:r>
              <a:rPr lang="es-ES" sz="4800" b="1" dirty="0"/>
              <a:t>Work IQ en Agentes de </a:t>
            </a:r>
            <a:r>
              <a:rPr lang="es-ES" sz="4800" b="1" dirty="0" err="1"/>
              <a:t>Copilot</a:t>
            </a:r>
            <a:r>
              <a:rPr lang="es-ES" sz="4800" b="1" dirty="0"/>
              <a:t> Studio</a:t>
            </a:r>
            <a:endParaRPr lang="en-US" sz="4800" b="1" dirty="0"/>
          </a:p>
        </p:txBody>
      </p:sp>
      <p:sp>
        <p:nvSpPr>
          <p:cNvPr id="2" name="Text Placeholder 1">
            <a:extLst>
              <a:ext uri="{FF2B5EF4-FFF2-40B4-BE49-F238E27FC236}">
                <a16:creationId xmlns:a16="http://schemas.microsoft.com/office/drawing/2014/main" id="{D4C4E98A-EDCD-FF8B-593E-878996FD9E2D}"/>
              </a:ext>
            </a:extLst>
          </p:cNvPr>
          <p:cNvSpPr>
            <a:spLocks noGrp="1"/>
          </p:cNvSpPr>
          <p:nvPr>
            <p:ph type="body" sz="quarter" idx="12"/>
          </p:nvPr>
        </p:nvSpPr>
        <p:spPr/>
        <p:txBody>
          <a:bodyPr/>
          <a:lstStyle/>
          <a:p>
            <a:endParaRPr lang="en-US" sz="1800" dirty="0"/>
          </a:p>
          <a:p>
            <a:endParaRPr lang="en-US" sz="1800" dirty="0"/>
          </a:p>
        </p:txBody>
      </p:sp>
    </p:spTree>
    <p:extLst>
      <p:ext uri="{BB962C8B-B14F-4D97-AF65-F5344CB8AC3E}">
        <p14:creationId xmlns:p14="http://schemas.microsoft.com/office/powerpoint/2010/main" val="4095292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24E287-CD21-A0A5-4A2A-0F6789EFA9C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04566F-3CC9-C4EC-9C7A-B2E941EC3B9A}"/>
              </a:ext>
            </a:extLst>
          </p:cNvPr>
          <p:cNvSpPr>
            <a:spLocks noGrp="1"/>
          </p:cNvSpPr>
          <p:nvPr>
            <p:ph type="title"/>
          </p:nvPr>
        </p:nvSpPr>
        <p:spPr/>
        <p:txBody>
          <a:bodyPr/>
          <a:lstStyle/>
          <a:p>
            <a:r>
              <a:rPr lang="es-ES" dirty="0"/>
              <a:t>Work IQ + </a:t>
            </a:r>
            <a:r>
              <a:rPr lang="es-ES" dirty="0" err="1"/>
              <a:t>Copilot</a:t>
            </a:r>
            <a:r>
              <a:rPr lang="es-ES" dirty="0"/>
              <a:t> Studio</a:t>
            </a:r>
            <a:endParaRPr lang="en-US" dirty="0"/>
          </a:p>
        </p:txBody>
      </p:sp>
      <p:sp>
        <p:nvSpPr>
          <p:cNvPr id="2" name="Forme libre 3">
            <a:extLst>
              <a:ext uri="{FF2B5EF4-FFF2-40B4-BE49-F238E27FC236}">
                <a16:creationId xmlns:a16="http://schemas.microsoft.com/office/drawing/2014/main" id="{D32A399B-C449-A86A-B1AC-35E7A58D7A20}"/>
              </a:ext>
            </a:extLst>
          </p:cNvPr>
          <p:cNvSpPr/>
          <p:nvPr/>
        </p:nvSpPr>
        <p:spPr>
          <a:xfrm>
            <a:off x="4616553" y="1108321"/>
            <a:ext cx="3065343" cy="2043961"/>
          </a:xfrm>
          <a:custGeom>
            <a:avLst/>
            <a:gdLst>
              <a:gd name="csX0" fmla="*/ 756121 w 1071902"/>
              <a:gd name="csY0" fmla="*/ 707905 h 714741"/>
              <a:gd name="csX1" fmla="*/ 1071903 w 1071902"/>
              <a:gd name="csY1" fmla="*/ 525618 h 714741"/>
              <a:gd name="csX2" fmla="*/ 535952 w 1071902"/>
              <a:gd name="csY2" fmla="*/ 0 h 714741"/>
              <a:gd name="csX3" fmla="*/ 0 w 1071902"/>
              <a:gd name="csY3" fmla="*/ 525618 h 714741"/>
              <a:gd name="csX4" fmla="*/ 315782 w 1071902"/>
              <a:gd name="csY4" fmla="*/ 707905 h 714741"/>
              <a:gd name="csX5" fmla="*/ 376896 w 1071902"/>
              <a:gd name="csY5" fmla="*/ 700196 h 714741"/>
              <a:gd name="csX6" fmla="*/ 535952 w 1071902"/>
              <a:gd name="csY6" fmla="*/ 635761 h 714741"/>
              <a:gd name="csX7" fmla="*/ 695008 w 1071902"/>
              <a:gd name="csY7" fmla="*/ 700196 h 714741"/>
              <a:gd name="csX8" fmla="*/ 756121 w 1071902"/>
              <a:gd name="csY8" fmla="*/ 707905 h 7147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1902" h="714741">
                <a:moveTo>
                  <a:pt x="756121" y="707905"/>
                </a:moveTo>
                <a:lnTo>
                  <a:pt x="1071903" y="525618"/>
                </a:lnTo>
                <a:cubicBezTo>
                  <a:pt x="942508" y="311607"/>
                  <a:pt x="759974" y="129410"/>
                  <a:pt x="535952" y="0"/>
                </a:cubicBezTo>
                <a:cubicBezTo>
                  <a:pt x="311929" y="129410"/>
                  <a:pt x="129396" y="311518"/>
                  <a:pt x="0" y="525618"/>
                </a:cubicBezTo>
                <a:lnTo>
                  <a:pt x="315782" y="707905"/>
                </a:lnTo>
                <a:cubicBezTo>
                  <a:pt x="335585" y="719376"/>
                  <a:pt x="360497" y="716149"/>
                  <a:pt x="376896" y="700196"/>
                </a:cubicBezTo>
                <a:cubicBezTo>
                  <a:pt x="418116" y="660316"/>
                  <a:pt x="474122" y="635761"/>
                  <a:pt x="535952" y="635761"/>
                </a:cubicBezTo>
                <a:cubicBezTo>
                  <a:pt x="597781" y="635761"/>
                  <a:pt x="653787" y="660316"/>
                  <a:pt x="695008" y="700196"/>
                </a:cubicBezTo>
                <a:cubicBezTo>
                  <a:pt x="711406" y="716059"/>
                  <a:pt x="736318" y="719287"/>
                  <a:pt x="756121" y="707905"/>
                </a:cubicBezTo>
                <a:close/>
              </a:path>
            </a:pathLst>
          </a:custGeom>
          <a:solidFill>
            <a:srgbClr val="FBA91E"/>
          </a:solidFill>
          <a:ln w="8960"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3" name="Forme libre 4">
            <a:extLst>
              <a:ext uri="{FF2B5EF4-FFF2-40B4-BE49-F238E27FC236}">
                <a16:creationId xmlns:a16="http://schemas.microsoft.com/office/drawing/2014/main" id="{6308343F-B1F3-AB75-E532-C83BCA964B01}"/>
              </a:ext>
            </a:extLst>
          </p:cNvPr>
          <p:cNvSpPr/>
          <p:nvPr/>
        </p:nvSpPr>
        <p:spPr>
          <a:xfrm>
            <a:off x="3994875" y="2740611"/>
            <a:ext cx="2079780" cy="2676146"/>
          </a:xfrm>
          <a:custGeom>
            <a:avLst/>
            <a:gdLst>
              <a:gd name="csX0" fmla="*/ 689631 w 727266"/>
              <a:gd name="csY0" fmla="*/ 514684 h 935806"/>
              <a:gd name="csX1" fmla="*/ 524033 w 727266"/>
              <a:gd name="csY1" fmla="*/ 294401 h 935806"/>
              <a:gd name="csX2" fmla="*/ 530844 w 727266"/>
              <a:gd name="csY2" fmla="*/ 238835 h 935806"/>
              <a:gd name="csX3" fmla="*/ 506919 w 727266"/>
              <a:gd name="csY3" fmla="*/ 182287 h 935806"/>
              <a:gd name="csX4" fmla="*/ 191225 w 727266"/>
              <a:gd name="csY4" fmla="*/ 0 h 935806"/>
              <a:gd name="csX5" fmla="*/ 0 w 727266"/>
              <a:gd name="csY5" fmla="*/ 734342 h 935806"/>
              <a:gd name="csX6" fmla="*/ 0 w 727266"/>
              <a:gd name="csY6" fmla="*/ 734342 h 935806"/>
              <a:gd name="csX7" fmla="*/ 727267 w 727266"/>
              <a:gd name="csY7" fmla="*/ 935807 h 935806"/>
              <a:gd name="csX8" fmla="*/ 727267 w 727266"/>
              <a:gd name="csY8" fmla="*/ 563885 h 935806"/>
              <a:gd name="csX9" fmla="*/ 689631 w 727266"/>
              <a:gd name="csY9" fmla="*/ 514684 h 9358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27266" h="935806">
                <a:moveTo>
                  <a:pt x="689631" y="514684"/>
                </a:moveTo>
                <a:cubicBezTo>
                  <a:pt x="594018" y="487083"/>
                  <a:pt x="524033" y="398986"/>
                  <a:pt x="524033" y="294401"/>
                </a:cubicBezTo>
                <a:cubicBezTo>
                  <a:pt x="524033" y="275221"/>
                  <a:pt x="526453" y="256580"/>
                  <a:pt x="530844" y="238835"/>
                </a:cubicBezTo>
                <a:cubicBezTo>
                  <a:pt x="536399" y="216699"/>
                  <a:pt x="526632" y="193669"/>
                  <a:pt x="506919" y="182287"/>
                </a:cubicBezTo>
                <a:lnTo>
                  <a:pt x="191225" y="0"/>
                </a:lnTo>
                <a:cubicBezTo>
                  <a:pt x="68013" y="220822"/>
                  <a:pt x="0" y="472743"/>
                  <a:pt x="0" y="734342"/>
                </a:cubicBezTo>
                <a:lnTo>
                  <a:pt x="0" y="734342"/>
                </a:lnTo>
                <a:cubicBezTo>
                  <a:pt x="225277" y="864470"/>
                  <a:pt x="475913" y="931505"/>
                  <a:pt x="727267" y="935807"/>
                </a:cubicBezTo>
                <a:lnTo>
                  <a:pt x="727267" y="563885"/>
                </a:lnTo>
                <a:cubicBezTo>
                  <a:pt x="727267" y="540855"/>
                  <a:pt x="711765" y="521047"/>
                  <a:pt x="689631" y="514684"/>
                </a:cubicBezTo>
                <a:close/>
              </a:path>
            </a:pathLst>
          </a:custGeom>
          <a:solidFill>
            <a:srgbClr val="3AC6E1"/>
          </a:solidFill>
          <a:ln w="8960"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sp>
        <p:nvSpPr>
          <p:cNvPr id="5" name="Forme libre 5">
            <a:extLst>
              <a:ext uri="{FF2B5EF4-FFF2-40B4-BE49-F238E27FC236}">
                <a16:creationId xmlns:a16="http://schemas.microsoft.com/office/drawing/2014/main" id="{2116F460-1983-8E1D-4AA8-00609C78529C}"/>
              </a:ext>
            </a:extLst>
          </p:cNvPr>
          <p:cNvSpPr/>
          <p:nvPr/>
        </p:nvSpPr>
        <p:spPr>
          <a:xfrm>
            <a:off x="6224052" y="2740611"/>
            <a:ext cx="2079780" cy="2676146"/>
          </a:xfrm>
          <a:custGeom>
            <a:avLst/>
            <a:gdLst>
              <a:gd name="csX0" fmla="*/ 536042 w 727266"/>
              <a:gd name="csY0" fmla="*/ 0 h 935806"/>
              <a:gd name="csX1" fmla="*/ 220349 w 727266"/>
              <a:gd name="csY1" fmla="*/ 182287 h 935806"/>
              <a:gd name="csX2" fmla="*/ 196423 w 727266"/>
              <a:gd name="csY2" fmla="*/ 238835 h 935806"/>
              <a:gd name="csX3" fmla="*/ 203234 w 727266"/>
              <a:gd name="csY3" fmla="*/ 294401 h 935806"/>
              <a:gd name="csX4" fmla="*/ 37636 w 727266"/>
              <a:gd name="csY4" fmla="*/ 514684 h 935806"/>
              <a:gd name="csX5" fmla="*/ 0 w 727266"/>
              <a:gd name="csY5" fmla="*/ 563885 h 935806"/>
              <a:gd name="csX6" fmla="*/ 0 w 727266"/>
              <a:gd name="csY6" fmla="*/ 935807 h 935806"/>
              <a:gd name="csX7" fmla="*/ 727267 w 727266"/>
              <a:gd name="csY7" fmla="*/ 734342 h 935806"/>
              <a:gd name="csX8" fmla="*/ 727267 w 727266"/>
              <a:gd name="csY8" fmla="*/ 734342 h 935806"/>
              <a:gd name="csX9" fmla="*/ 536042 w 727266"/>
              <a:gd name="csY9" fmla="*/ 0 h 9358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27266" h="935806">
                <a:moveTo>
                  <a:pt x="536042" y="0"/>
                </a:moveTo>
                <a:lnTo>
                  <a:pt x="220349" y="182287"/>
                </a:lnTo>
                <a:cubicBezTo>
                  <a:pt x="200635" y="193669"/>
                  <a:pt x="190868" y="216699"/>
                  <a:pt x="196423" y="238835"/>
                </a:cubicBezTo>
                <a:cubicBezTo>
                  <a:pt x="200904" y="256580"/>
                  <a:pt x="203234" y="275221"/>
                  <a:pt x="203234" y="294401"/>
                </a:cubicBezTo>
                <a:cubicBezTo>
                  <a:pt x="203234" y="398897"/>
                  <a:pt x="133249" y="487083"/>
                  <a:pt x="37636" y="514684"/>
                </a:cubicBezTo>
                <a:cubicBezTo>
                  <a:pt x="15502" y="521047"/>
                  <a:pt x="0" y="540855"/>
                  <a:pt x="0" y="563885"/>
                </a:cubicBezTo>
                <a:lnTo>
                  <a:pt x="0" y="935807"/>
                </a:lnTo>
                <a:cubicBezTo>
                  <a:pt x="251354" y="931415"/>
                  <a:pt x="501990" y="864470"/>
                  <a:pt x="727267" y="734342"/>
                </a:cubicBezTo>
                <a:lnTo>
                  <a:pt x="727267" y="734342"/>
                </a:lnTo>
                <a:cubicBezTo>
                  <a:pt x="727267" y="472653"/>
                  <a:pt x="659254" y="220822"/>
                  <a:pt x="536042" y="0"/>
                </a:cubicBezTo>
                <a:close/>
              </a:path>
            </a:pathLst>
          </a:custGeom>
          <a:solidFill>
            <a:srgbClr val="6EA56C"/>
          </a:solidFill>
          <a:ln w="8960"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000"/>
              </a:solidFill>
              <a:effectLst/>
              <a:uLnTx/>
              <a:uFillTx/>
              <a:latin typeface="Calibri" panose="020F0502020204030204"/>
            </a:endParaRPr>
          </a:p>
        </p:txBody>
      </p:sp>
      <p:grpSp>
        <p:nvGrpSpPr>
          <p:cNvPr id="7" name="Group 6">
            <a:extLst>
              <a:ext uri="{FF2B5EF4-FFF2-40B4-BE49-F238E27FC236}">
                <a16:creationId xmlns:a16="http://schemas.microsoft.com/office/drawing/2014/main" id="{C9A3CF26-80EF-5F0C-CDCD-11C60598A852}"/>
              </a:ext>
            </a:extLst>
          </p:cNvPr>
          <p:cNvGrpSpPr/>
          <p:nvPr/>
        </p:nvGrpSpPr>
        <p:grpSpPr>
          <a:xfrm>
            <a:off x="8745085" y="3262539"/>
            <a:ext cx="2926080" cy="1290153"/>
            <a:chOff x="8921977" y="2947244"/>
            <a:chExt cx="2926080" cy="1290153"/>
          </a:xfrm>
        </p:grpSpPr>
        <p:sp>
          <p:nvSpPr>
            <p:cNvPr id="8" name="TextBox 7">
              <a:extLst>
                <a:ext uri="{FF2B5EF4-FFF2-40B4-BE49-F238E27FC236}">
                  <a16:creationId xmlns:a16="http://schemas.microsoft.com/office/drawing/2014/main" id="{4757DF50-AAD1-1CB8-D72A-1B946B6EB028}"/>
                </a:ext>
              </a:extLst>
            </p:cNvPr>
            <p:cNvSpPr txBox="1"/>
            <p:nvPr/>
          </p:nvSpPr>
          <p:spPr>
            <a:xfrm>
              <a:off x="8921977" y="2947244"/>
              <a:ext cx="2926080" cy="461665"/>
            </a:xfrm>
            <a:prstGeom prst="rect">
              <a:avLst/>
            </a:prstGeom>
            <a:noFill/>
          </p:spPr>
          <p:txBody>
            <a:bodyPr wrap="square" lIns="0" rIns="0" rtlCol="0" anchor="b">
              <a:spAutoFit/>
            </a:bodyPr>
            <a:lstStyle/>
            <a:p>
              <a:pPr algn="ctr"/>
              <a:r>
                <a:rPr lang="en-US" sz="2400" b="1" noProof="1">
                  <a:solidFill>
                    <a:srgbClr val="6EA56C">
                      <a:lumMod val="75000"/>
                    </a:srgbClr>
                  </a:solidFill>
                  <a:latin typeface="Calibri" panose="020F0502020204030204"/>
                </a:rPr>
                <a:t>INFERENCE</a:t>
              </a:r>
            </a:p>
          </p:txBody>
        </p:sp>
        <p:sp>
          <p:nvSpPr>
            <p:cNvPr id="9" name="TextBox 8">
              <a:extLst>
                <a:ext uri="{FF2B5EF4-FFF2-40B4-BE49-F238E27FC236}">
                  <a16:creationId xmlns:a16="http://schemas.microsoft.com/office/drawing/2014/main" id="{84E33BAA-FE94-63CC-C703-03839B822AF6}"/>
                </a:ext>
              </a:extLst>
            </p:cNvPr>
            <p:cNvSpPr txBox="1"/>
            <p:nvPr/>
          </p:nvSpPr>
          <p:spPr>
            <a:xfrm>
              <a:off x="8921977" y="3406400"/>
              <a:ext cx="2926080" cy="830997"/>
            </a:xfrm>
            <a:prstGeom prst="rect">
              <a:avLst/>
            </a:prstGeom>
            <a:noFill/>
          </p:spPr>
          <p:txBody>
            <a:bodyPr wrap="square" lIns="0" rIns="0" rtlCol="0" anchor="t">
              <a:spAutoFit/>
            </a:bodyPr>
            <a:lstStyle/>
            <a:p>
              <a:pPr algn="just"/>
              <a:r>
                <a:rPr lang="en-US" sz="1600" b="1" noProof="1">
                  <a:solidFill>
                    <a:srgbClr val="000000">
                      <a:lumMod val="65000"/>
                      <a:lumOff val="35000"/>
                    </a:srgbClr>
                  </a:solidFill>
                  <a:latin typeface="Calibri" panose="020F0502020204030204"/>
                </a:rPr>
                <a:t>Understand relations</a:t>
              </a:r>
              <a:r>
                <a:rPr lang="en-US" sz="1600" noProof="1">
                  <a:solidFill>
                    <a:srgbClr val="000000">
                      <a:lumMod val="65000"/>
                      <a:lumOff val="35000"/>
                    </a:srgbClr>
                  </a:solidFill>
                  <a:latin typeface="Calibri" panose="020F0502020204030204"/>
                </a:rPr>
                <a:t>: Identify patterns or missing information, make predictions, take decisions. </a:t>
              </a:r>
            </a:p>
          </p:txBody>
        </p:sp>
      </p:grpSp>
      <p:grpSp>
        <p:nvGrpSpPr>
          <p:cNvPr id="10" name="Group 9">
            <a:extLst>
              <a:ext uri="{FF2B5EF4-FFF2-40B4-BE49-F238E27FC236}">
                <a16:creationId xmlns:a16="http://schemas.microsoft.com/office/drawing/2014/main" id="{2294AB92-F8D9-76B2-2591-802DFED3C9AB}"/>
              </a:ext>
            </a:extLst>
          </p:cNvPr>
          <p:cNvGrpSpPr/>
          <p:nvPr/>
        </p:nvGrpSpPr>
        <p:grpSpPr>
          <a:xfrm>
            <a:off x="627543" y="3262539"/>
            <a:ext cx="2926080" cy="1290153"/>
            <a:chOff x="332936" y="2947244"/>
            <a:chExt cx="2926080" cy="1290153"/>
          </a:xfrm>
        </p:grpSpPr>
        <p:sp>
          <p:nvSpPr>
            <p:cNvPr id="11" name="TextBox 10">
              <a:extLst>
                <a:ext uri="{FF2B5EF4-FFF2-40B4-BE49-F238E27FC236}">
                  <a16:creationId xmlns:a16="http://schemas.microsoft.com/office/drawing/2014/main" id="{1E5AFB15-0769-50D9-FDE8-0750388572DF}"/>
                </a:ext>
              </a:extLst>
            </p:cNvPr>
            <p:cNvSpPr txBox="1"/>
            <p:nvPr/>
          </p:nvSpPr>
          <p:spPr>
            <a:xfrm>
              <a:off x="332936" y="2947244"/>
              <a:ext cx="2926080" cy="461665"/>
            </a:xfrm>
            <a:prstGeom prst="rect">
              <a:avLst/>
            </a:prstGeom>
            <a:noFill/>
          </p:spPr>
          <p:txBody>
            <a:bodyPr wrap="square" lIns="0" rIns="0" rtlCol="0" anchor="b">
              <a:spAutoFit/>
            </a:bodyPr>
            <a:lstStyle/>
            <a:p>
              <a:pPr algn="ctr"/>
              <a:r>
                <a:rPr lang="en-US" sz="2400" b="1">
                  <a:solidFill>
                    <a:srgbClr val="3AC6E1">
                      <a:lumMod val="75000"/>
                    </a:srgbClr>
                  </a:solidFill>
                  <a:latin typeface="Calibri" panose="020F0502020204030204"/>
                </a:rPr>
                <a:t>DATA</a:t>
              </a:r>
            </a:p>
          </p:txBody>
        </p:sp>
        <p:sp>
          <p:nvSpPr>
            <p:cNvPr id="12" name="TextBox 11">
              <a:extLst>
                <a:ext uri="{FF2B5EF4-FFF2-40B4-BE49-F238E27FC236}">
                  <a16:creationId xmlns:a16="http://schemas.microsoft.com/office/drawing/2014/main" id="{3AFE93B1-E4FA-B2EB-AE69-7054C0F729D1}"/>
                </a:ext>
              </a:extLst>
            </p:cNvPr>
            <p:cNvSpPr txBox="1"/>
            <p:nvPr/>
          </p:nvSpPr>
          <p:spPr>
            <a:xfrm>
              <a:off x="332936" y="3406400"/>
              <a:ext cx="2926080" cy="830997"/>
            </a:xfrm>
            <a:prstGeom prst="rect">
              <a:avLst/>
            </a:prstGeom>
            <a:noFill/>
          </p:spPr>
          <p:txBody>
            <a:bodyPr wrap="square" lIns="0" rIns="0" rtlCol="0" anchor="t">
              <a:spAutoFit/>
            </a:bodyPr>
            <a:lstStyle/>
            <a:p>
              <a:pPr algn="just"/>
              <a:r>
                <a:rPr lang="en-US" sz="1600" b="1" noProof="1">
                  <a:solidFill>
                    <a:srgbClr val="000000">
                      <a:lumMod val="65000"/>
                      <a:lumOff val="35000"/>
                    </a:srgbClr>
                  </a:solidFill>
                  <a:latin typeface="Calibri" panose="020F0502020204030204"/>
                </a:rPr>
                <a:t>How your organization works</a:t>
              </a:r>
              <a:r>
                <a:rPr lang="en-US" sz="1600" noProof="1">
                  <a:solidFill>
                    <a:srgbClr val="000000">
                      <a:lumMod val="65000"/>
                      <a:lumOff val="35000"/>
                    </a:srgbClr>
                  </a:solidFill>
                  <a:latin typeface="Calibri" panose="020F0502020204030204"/>
                </a:rPr>
                <a:t>: Knowledge in emails, meetings, chats and files </a:t>
              </a:r>
            </a:p>
          </p:txBody>
        </p:sp>
      </p:grpSp>
      <p:grpSp>
        <p:nvGrpSpPr>
          <p:cNvPr id="13" name="Group 12">
            <a:extLst>
              <a:ext uri="{FF2B5EF4-FFF2-40B4-BE49-F238E27FC236}">
                <a16:creationId xmlns:a16="http://schemas.microsoft.com/office/drawing/2014/main" id="{4B0EF1E0-FA34-B5FE-C836-2475DA200956}"/>
              </a:ext>
            </a:extLst>
          </p:cNvPr>
          <p:cNvGrpSpPr/>
          <p:nvPr/>
        </p:nvGrpSpPr>
        <p:grpSpPr>
          <a:xfrm>
            <a:off x="8303574" y="1195232"/>
            <a:ext cx="2926080" cy="1043931"/>
            <a:chOff x="8921977" y="1242150"/>
            <a:chExt cx="2926080" cy="1043931"/>
          </a:xfrm>
        </p:grpSpPr>
        <p:sp>
          <p:nvSpPr>
            <p:cNvPr id="14" name="TextBox 13">
              <a:extLst>
                <a:ext uri="{FF2B5EF4-FFF2-40B4-BE49-F238E27FC236}">
                  <a16:creationId xmlns:a16="http://schemas.microsoft.com/office/drawing/2014/main" id="{14154144-D709-7830-2AA9-C7C8B534D2FA}"/>
                </a:ext>
              </a:extLst>
            </p:cNvPr>
            <p:cNvSpPr txBox="1"/>
            <p:nvPr/>
          </p:nvSpPr>
          <p:spPr>
            <a:xfrm>
              <a:off x="8921977" y="1242150"/>
              <a:ext cx="2926080" cy="461665"/>
            </a:xfrm>
            <a:prstGeom prst="rect">
              <a:avLst/>
            </a:prstGeom>
            <a:noFill/>
          </p:spPr>
          <p:txBody>
            <a:bodyPr wrap="square" lIns="0" rIns="0" rtlCol="0" anchor="b">
              <a:spAutoFit/>
            </a:bodyPr>
            <a:lstStyle/>
            <a:p>
              <a:pPr algn="ctr"/>
              <a:r>
                <a:rPr lang="en-US" sz="2400" b="1" noProof="1">
                  <a:solidFill>
                    <a:srgbClr val="FBA91E">
                      <a:lumMod val="75000"/>
                    </a:srgbClr>
                  </a:solidFill>
                  <a:latin typeface="Calibri" panose="020F0502020204030204"/>
                </a:rPr>
                <a:t>MEMORY</a:t>
              </a:r>
            </a:p>
          </p:txBody>
        </p:sp>
        <p:sp>
          <p:nvSpPr>
            <p:cNvPr id="15" name="TextBox 14">
              <a:extLst>
                <a:ext uri="{FF2B5EF4-FFF2-40B4-BE49-F238E27FC236}">
                  <a16:creationId xmlns:a16="http://schemas.microsoft.com/office/drawing/2014/main" id="{0898E911-FEB9-4C31-A3C5-9E68B5C33113}"/>
                </a:ext>
              </a:extLst>
            </p:cNvPr>
            <p:cNvSpPr txBox="1"/>
            <p:nvPr/>
          </p:nvSpPr>
          <p:spPr>
            <a:xfrm>
              <a:off x="8921977" y="1701306"/>
              <a:ext cx="2926080" cy="584775"/>
            </a:xfrm>
            <a:prstGeom prst="rect">
              <a:avLst/>
            </a:prstGeom>
            <a:noFill/>
          </p:spPr>
          <p:txBody>
            <a:bodyPr wrap="square" lIns="0" rIns="0" rtlCol="0" anchor="t">
              <a:spAutoFit/>
            </a:bodyPr>
            <a:lstStyle/>
            <a:p>
              <a:pPr algn="just"/>
              <a:r>
                <a:rPr lang="en-US" sz="1600" b="1" noProof="1">
                  <a:solidFill>
                    <a:srgbClr val="000000">
                      <a:lumMod val="65000"/>
                      <a:lumOff val="35000"/>
                    </a:srgbClr>
                  </a:solidFill>
                  <a:latin typeface="Calibri" panose="020F0502020204030204"/>
                </a:rPr>
                <a:t>How you work</a:t>
              </a:r>
              <a:r>
                <a:rPr lang="en-US" sz="1600" noProof="1">
                  <a:solidFill>
                    <a:srgbClr val="000000">
                      <a:lumMod val="65000"/>
                      <a:lumOff val="35000"/>
                    </a:srgbClr>
                  </a:solidFill>
                  <a:latin typeface="Calibri" panose="020F0502020204030204"/>
                </a:rPr>
                <a:t>: Preferences, habits, workflows</a:t>
              </a:r>
            </a:p>
          </p:txBody>
        </p:sp>
      </p:grpSp>
      <p:pic>
        <p:nvPicPr>
          <p:cNvPr id="16" name="Graphic 15" descr="Left Brain with solid fill">
            <a:extLst>
              <a:ext uri="{FF2B5EF4-FFF2-40B4-BE49-F238E27FC236}">
                <a16:creationId xmlns:a16="http://schemas.microsoft.com/office/drawing/2014/main" id="{146250B9-A9FB-BE44-AFE3-418530E79EB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09274" y="1448884"/>
            <a:ext cx="1280160" cy="1280160"/>
          </a:xfrm>
          <a:prstGeom prst="rect">
            <a:avLst/>
          </a:prstGeom>
        </p:spPr>
      </p:pic>
      <p:pic>
        <p:nvPicPr>
          <p:cNvPr id="17" name="Graphic 16" descr="Books with solid fill">
            <a:extLst>
              <a:ext uri="{FF2B5EF4-FFF2-40B4-BE49-F238E27FC236}">
                <a16:creationId xmlns:a16="http://schemas.microsoft.com/office/drawing/2014/main" id="{6F452156-2AF7-EC3F-800F-E2FFE774096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245029" y="3644439"/>
            <a:ext cx="1280160" cy="1280160"/>
          </a:xfrm>
          <a:prstGeom prst="rect">
            <a:avLst/>
          </a:prstGeom>
        </p:spPr>
      </p:pic>
      <p:pic>
        <p:nvPicPr>
          <p:cNvPr id="18" name="Graphic 17" descr="Lightbulb and gear with solid fill">
            <a:extLst>
              <a:ext uri="{FF2B5EF4-FFF2-40B4-BE49-F238E27FC236}">
                <a16:creationId xmlns:a16="http://schemas.microsoft.com/office/drawing/2014/main" id="{FA6FD448-A359-A2A7-019F-92D32DA8D1F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773520" y="3644439"/>
            <a:ext cx="1280160" cy="1280160"/>
          </a:xfrm>
          <a:prstGeom prst="rect">
            <a:avLst/>
          </a:prstGeom>
        </p:spPr>
      </p:pic>
      <p:pic>
        <p:nvPicPr>
          <p:cNvPr id="19" name="Graphic 18" descr="Recycle with solid fill">
            <a:extLst>
              <a:ext uri="{FF2B5EF4-FFF2-40B4-BE49-F238E27FC236}">
                <a16:creationId xmlns:a16="http://schemas.microsoft.com/office/drawing/2014/main" id="{366AA47E-405B-4891-8C5B-36DF9E6BFC6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692154" y="3103295"/>
            <a:ext cx="914400" cy="914400"/>
          </a:xfrm>
          <a:prstGeom prst="rect">
            <a:avLst/>
          </a:prstGeom>
        </p:spPr>
      </p:pic>
      <p:pic>
        <p:nvPicPr>
          <p:cNvPr id="22" name="Picture Placeholder 3">
            <a:extLst>
              <a:ext uri="{FF2B5EF4-FFF2-40B4-BE49-F238E27FC236}">
                <a16:creationId xmlns:a16="http://schemas.microsoft.com/office/drawing/2014/main" id="{687F7500-CA84-B967-C754-4609C7713171}"/>
              </a:ext>
            </a:extLst>
          </p:cNvPr>
          <p:cNvPicPr>
            <a:picLocks noChangeAspect="1"/>
          </p:cNvPicPr>
          <p:nvPr/>
        </p:nvPicPr>
        <p:blipFill>
          <a:blip r:embed="rId7"/>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366093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D1A4-D574-A3F2-8017-1969042EF2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B12D4C-A250-1045-9F2C-EB163CF7158A}"/>
              </a:ext>
            </a:extLst>
          </p:cNvPr>
          <p:cNvSpPr>
            <a:spLocks noGrp="1"/>
          </p:cNvSpPr>
          <p:nvPr>
            <p:ph type="title"/>
          </p:nvPr>
        </p:nvSpPr>
        <p:spPr/>
        <p:txBody>
          <a:bodyPr/>
          <a:lstStyle/>
          <a:p>
            <a:r>
              <a:rPr lang="es-ES" dirty="0"/>
              <a:t>Work IQ + </a:t>
            </a:r>
            <a:r>
              <a:rPr lang="es-ES" dirty="0" err="1"/>
              <a:t>Copilot</a:t>
            </a:r>
            <a:r>
              <a:rPr lang="es-ES" dirty="0"/>
              <a:t> Studio: Work IQ Tools</a:t>
            </a:r>
            <a:endParaRPr lang="en-US" dirty="0"/>
          </a:p>
        </p:txBody>
      </p:sp>
      <p:pic>
        <p:nvPicPr>
          <p:cNvPr id="4" name="Picture 3">
            <a:extLst>
              <a:ext uri="{FF2B5EF4-FFF2-40B4-BE49-F238E27FC236}">
                <a16:creationId xmlns:a16="http://schemas.microsoft.com/office/drawing/2014/main" id="{6A2C2BC2-4D0B-876B-9D25-A96515F78F3E}"/>
              </a:ext>
            </a:extLst>
          </p:cNvPr>
          <p:cNvPicPr>
            <a:picLocks noChangeAspect="1"/>
          </p:cNvPicPr>
          <p:nvPr/>
        </p:nvPicPr>
        <p:blipFill>
          <a:blip r:embed="rId3"/>
          <a:stretch>
            <a:fillRect/>
          </a:stretch>
        </p:blipFill>
        <p:spPr>
          <a:xfrm>
            <a:off x="698089" y="2417287"/>
            <a:ext cx="2633265" cy="738979"/>
          </a:xfrm>
          <a:prstGeom prst="rect">
            <a:avLst/>
          </a:prstGeom>
        </p:spPr>
      </p:pic>
      <p:pic>
        <p:nvPicPr>
          <p:cNvPr id="20" name="Picture 19">
            <a:extLst>
              <a:ext uri="{FF2B5EF4-FFF2-40B4-BE49-F238E27FC236}">
                <a16:creationId xmlns:a16="http://schemas.microsoft.com/office/drawing/2014/main" id="{76494595-F687-69A2-9188-09FF0D691D0B}"/>
              </a:ext>
            </a:extLst>
          </p:cNvPr>
          <p:cNvPicPr>
            <a:picLocks noChangeAspect="1"/>
          </p:cNvPicPr>
          <p:nvPr/>
        </p:nvPicPr>
        <p:blipFill>
          <a:blip r:embed="rId4"/>
          <a:stretch>
            <a:fillRect/>
          </a:stretch>
        </p:blipFill>
        <p:spPr>
          <a:xfrm>
            <a:off x="6079673" y="3268265"/>
            <a:ext cx="2591182" cy="723853"/>
          </a:xfrm>
          <a:prstGeom prst="rect">
            <a:avLst/>
          </a:prstGeom>
        </p:spPr>
      </p:pic>
      <p:pic>
        <p:nvPicPr>
          <p:cNvPr id="21" name="Picture 20">
            <a:extLst>
              <a:ext uri="{FF2B5EF4-FFF2-40B4-BE49-F238E27FC236}">
                <a16:creationId xmlns:a16="http://schemas.microsoft.com/office/drawing/2014/main" id="{1FA4B7FE-0BF3-E90D-44E3-F092FE8D1C1C}"/>
              </a:ext>
            </a:extLst>
          </p:cNvPr>
          <p:cNvPicPr>
            <a:picLocks noChangeAspect="1"/>
          </p:cNvPicPr>
          <p:nvPr/>
        </p:nvPicPr>
        <p:blipFill>
          <a:blip r:embed="rId5"/>
          <a:stretch>
            <a:fillRect/>
          </a:stretch>
        </p:blipFill>
        <p:spPr>
          <a:xfrm>
            <a:off x="698089" y="4044532"/>
            <a:ext cx="2479324" cy="800100"/>
          </a:xfrm>
          <a:prstGeom prst="rect">
            <a:avLst/>
          </a:prstGeom>
        </p:spPr>
      </p:pic>
      <p:pic>
        <p:nvPicPr>
          <p:cNvPr id="22" name="Picture 21">
            <a:extLst>
              <a:ext uri="{FF2B5EF4-FFF2-40B4-BE49-F238E27FC236}">
                <a16:creationId xmlns:a16="http://schemas.microsoft.com/office/drawing/2014/main" id="{76DA5CF8-517A-C521-1E26-74C4AD7F4C65}"/>
              </a:ext>
            </a:extLst>
          </p:cNvPr>
          <p:cNvPicPr>
            <a:picLocks noChangeAspect="1"/>
          </p:cNvPicPr>
          <p:nvPr/>
        </p:nvPicPr>
        <p:blipFill>
          <a:blip r:embed="rId6"/>
          <a:stretch>
            <a:fillRect/>
          </a:stretch>
        </p:blipFill>
        <p:spPr>
          <a:xfrm>
            <a:off x="698089" y="3244432"/>
            <a:ext cx="2554167" cy="800100"/>
          </a:xfrm>
          <a:prstGeom prst="rect">
            <a:avLst/>
          </a:prstGeom>
        </p:spPr>
      </p:pic>
      <p:pic>
        <p:nvPicPr>
          <p:cNvPr id="23" name="Picture 22">
            <a:extLst>
              <a:ext uri="{FF2B5EF4-FFF2-40B4-BE49-F238E27FC236}">
                <a16:creationId xmlns:a16="http://schemas.microsoft.com/office/drawing/2014/main" id="{83D7CDAD-D43F-0CD8-957B-F058EB122593}"/>
              </a:ext>
            </a:extLst>
          </p:cNvPr>
          <p:cNvPicPr>
            <a:picLocks noChangeAspect="1"/>
          </p:cNvPicPr>
          <p:nvPr/>
        </p:nvPicPr>
        <p:blipFill>
          <a:blip r:embed="rId7"/>
          <a:stretch>
            <a:fillRect/>
          </a:stretch>
        </p:blipFill>
        <p:spPr>
          <a:xfrm>
            <a:off x="3331354" y="3268266"/>
            <a:ext cx="2554167" cy="723853"/>
          </a:xfrm>
          <a:prstGeom prst="rect">
            <a:avLst/>
          </a:prstGeom>
        </p:spPr>
      </p:pic>
      <p:sp>
        <p:nvSpPr>
          <p:cNvPr id="24" name="TextBox 23">
            <a:extLst>
              <a:ext uri="{FF2B5EF4-FFF2-40B4-BE49-F238E27FC236}">
                <a16:creationId xmlns:a16="http://schemas.microsoft.com/office/drawing/2014/main" id="{6A75590A-F216-1509-BFFE-FA341AFB6C03}"/>
              </a:ext>
            </a:extLst>
          </p:cNvPr>
          <p:cNvSpPr txBox="1"/>
          <p:nvPr/>
        </p:nvSpPr>
        <p:spPr>
          <a:xfrm>
            <a:off x="685800" y="1649489"/>
            <a:ext cx="10820399" cy="646331"/>
          </a:xfrm>
          <a:prstGeom prst="rect">
            <a:avLst/>
          </a:prstGeom>
          <a:noFill/>
        </p:spPr>
        <p:txBody>
          <a:bodyPr wrap="square" lIns="91440" tIns="45720" rIns="91440" bIns="45720" anchor="t">
            <a:spAutoFit/>
          </a:bodyPr>
          <a:lstStyle/>
          <a:p>
            <a:r>
              <a:rPr lang="en-GB" b="1" err="1"/>
              <a:t>Extiende</a:t>
            </a:r>
            <a:r>
              <a:rPr lang="en-GB" b="1"/>
              <a:t> </a:t>
            </a:r>
            <a:r>
              <a:rPr lang="en-GB" b="1" err="1"/>
              <a:t>tus</a:t>
            </a:r>
            <a:r>
              <a:rPr lang="en-GB" b="1"/>
              <a:t> </a:t>
            </a:r>
            <a:r>
              <a:rPr lang="en-GB" b="1" err="1"/>
              <a:t>agentes</a:t>
            </a:r>
            <a:r>
              <a:rPr lang="en-GB"/>
              <a:t> con </a:t>
            </a:r>
            <a:r>
              <a:rPr lang="en-GB" err="1"/>
              <a:t>los</a:t>
            </a:r>
            <a:r>
              <a:rPr lang="en-GB"/>
              <a:t> </a:t>
            </a:r>
            <a:r>
              <a:rPr lang="en-GB" dirty="0"/>
              <a:t>Work IQ MCP server. </a:t>
            </a:r>
            <a:r>
              <a:rPr lang="en-GB" err="1"/>
              <a:t>Estas</a:t>
            </a:r>
            <a:r>
              <a:rPr lang="en-GB"/>
              <a:t> tools </a:t>
            </a:r>
            <a:r>
              <a:rPr lang="en-GB" err="1"/>
              <a:t>conectan</a:t>
            </a:r>
            <a:r>
              <a:rPr lang="en-GB"/>
              <a:t> </a:t>
            </a:r>
            <a:r>
              <a:rPr lang="en-GB" err="1"/>
              <a:t>tu</a:t>
            </a:r>
            <a:r>
              <a:rPr lang="en-GB"/>
              <a:t> </a:t>
            </a:r>
            <a:r>
              <a:rPr lang="en-GB" err="1"/>
              <a:t>agente</a:t>
            </a:r>
            <a:r>
              <a:rPr lang="en-GB"/>
              <a:t> con el </a:t>
            </a:r>
            <a:r>
              <a:rPr lang="en-GB" err="1"/>
              <a:t>servicio</a:t>
            </a:r>
            <a:r>
              <a:rPr lang="en-GB"/>
              <a:t> Work </a:t>
            </a:r>
            <a:r>
              <a:rPr lang="en-GB" dirty="0"/>
              <a:t>IQ, </a:t>
            </a:r>
            <a:r>
              <a:rPr lang="en-GB"/>
              <a:t>de forma </a:t>
            </a:r>
            <a:r>
              <a:rPr lang="en-GB" err="1"/>
              <a:t>que</a:t>
            </a:r>
            <a:r>
              <a:rPr lang="en-GB"/>
              <a:t> </a:t>
            </a:r>
            <a:r>
              <a:rPr lang="en-GB" err="1"/>
              <a:t>pueden</a:t>
            </a:r>
            <a:r>
              <a:rPr lang="en-GB"/>
              <a:t> acceder </a:t>
            </a:r>
            <a:r>
              <a:rPr lang="en-GB" err="1"/>
              <a:t>en</a:t>
            </a:r>
            <a:r>
              <a:rPr lang="en-GB"/>
              <a:t> </a:t>
            </a:r>
            <a:r>
              <a:rPr lang="en-GB" err="1"/>
              <a:t>tiempo</a:t>
            </a:r>
            <a:r>
              <a:rPr lang="en-GB"/>
              <a:t> real al </a:t>
            </a:r>
            <a:r>
              <a:rPr lang="en-GB" err="1"/>
              <a:t>contexto</a:t>
            </a:r>
            <a:r>
              <a:rPr lang="en-GB"/>
              <a:t> e </a:t>
            </a:r>
            <a:r>
              <a:rPr lang="en-GB" dirty="0"/>
              <a:t>insights </a:t>
            </a:r>
            <a:r>
              <a:rPr lang="en-GB"/>
              <a:t>de </a:t>
            </a:r>
            <a:r>
              <a:rPr lang="en-GB" err="1"/>
              <a:t>trabajo</a:t>
            </a:r>
            <a:r>
              <a:rPr lang="en-GB" dirty="0"/>
              <a:t>.</a:t>
            </a:r>
          </a:p>
        </p:txBody>
      </p:sp>
      <p:pic>
        <p:nvPicPr>
          <p:cNvPr id="25" name="Picture 24">
            <a:extLst>
              <a:ext uri="{FF2B5EF4-FFF2-40B4-BE49-F238E27FC236}">
                <a16:creationId xmlns:a16="http://schemas.microsoft.com/office/drawing/2014/main" id="{99D258CD-6E62-AC34-A0A6-FF15010858D3}"/>
              </a:ext>
            </a:extLst>
          </p:cNvPr>
          <p:cNvPicPr>
            <a:picLocks noChangeAspect="1"/>
          </p:cNvPicPr>
          <p:nvPr/>
        </p:nvPicPr>
        <p:blipFill>
          <a:blip r:embed="rId8"/>
          <a:stretch>
            <a:fillRect/>
          </a:stretch>
        </p:blipFill>
        <p:spPr>
          <a:xfrm>
            <a:off x="3331354" y="2344939"/>
            <a:ext cx="2631908" cy="800100"/>
          </a:xfrm>
          <a:prstGeom prst="rect">
            <a:avLst/>
          </a:prstGeom>
        </p:spPr>
      </p:pic>
      <p:pic>
        <p:nvPicPr>
          <p:cNvPr id="26" name="Picture 25">
            <a:extLst>
              <a:ext uri="{FF2B5EF4-FFF2-40B4-BE49-F238E27FC236}">
                <a16:creationId xmlns:a16="http://schemas.microsoft.com/office/drawing/2014/main" id="{540F5E95-E03E-C05C-18AC-4D9BC049D9B2}"/>
              </a:ext>
            </a:extLst>
          </p:cNvPr>
          <p:cNvPicPr>
            <a:picLocks noChangeAspect="1"/>
          </p:cNvPicPr>
          <p:nvPr/>
        </p:nvPicPr>
        <p:blipFill>
          <a:blip r:embed="rId9"/>
          <a:stretch>
            <a:fillRect/>
          </a:stretch>
        </p:blipFill>
        <p:spPr>
          <a:xfrm>
            <a:off x="6000583" y="2345761"/>
            <a:ext cx="2646960" cy="799278"/>
          </a:xfrm>
          <a:prstGeom prst="rect">
            <a:avLst/>
          </a:prstGeom>
        </p:spPr>
      </p:pic>
      <p:pic>
        <p:nvPicPr>
          <p:cNvPr id="27" name="Picture 26">
            <a:extLst>
              <a:ext uri="{FF2B5EF4-FFF2-40B4-BE49-F238E27FC236}">
                <a16:creationId xmlns:a16="http://schemas.microsoft.com/office/drawing/2014/main" id="{ABC65D4F-837D-484F-E9FE-9F4F8663BD04}"/>
              </a:ext>
            </a:extLst>
          </p:cNvPr>
          <p:cNvPicPr>
            <a:picLocks noChangeAspect="1"/>
          </p:cNvPicPr>
          <p:nvPr/>
        </p:nvPicPr>
        <p:blipFill>
          <a:blip r:embed="rId10"/>
          <a:stretch>
            <a:fillRect/>
          </a:stretch>
        </p:blipFill>
        <p:spPr>
          <a:xfrm>
            <a:off x="3331354" y="4116122"/>
            <a:ext cx="2351984" cy="667848"/>
          </a:xfrm>
          <a:prstGeom prst="rect">
            <a:avLst/>
          </a:prstGeom>
        </p:spPr>
      </p:pic>
      <p:sp>
        <p:nvSpPr>
          <p:cNvPr id="28" name="TextBox 27">
            <a:extLst>
              <a:ext uri="{FF2B5EF4-FFF2-40B4-BE49-F238E27FC236}">
                <a16:creationId xmlns:a16="http://schemas.microsoft.com/office/drawing/2014/main" id="{32994CF6-6241-0E78-73EC-E1AB2F93A8E8}"/>
              </a:ext>
            </a:extLst>
          </p:cNvPr>
          <p:cNvSpPr txBox="1"/>
          <p:nvPr/>
        </p:nvSpPr>
        <p:spPr>
          <a:xfrm>
            <a:off x="657996" y="5448382"/>
            <a:ext cx="11058985" cy="307777"/>
          </a:xfrm>
          <a:prstGeom prst="rect">
            <a:avLst/>
          </a:prstGeom>
          <a:noFill/>
        </p:spPr>
        <p:txBody>
          <a:bodyPr wrap="square">
            <a:spAutoFit/>
          </a:bodyPr>
          <a:lstStyle/>
          <a:p>
            <a:r>
              <a:rPr lang="en-GB" sz="1400">
                <a:hlinkClick r:id="rId11"/>
              </a:rPr>
              <a:t>https://learn.microsoft.com/en-us/microsoft-copilot-studio/use-work-iq#work-iq-mcp-key-features</a:t>
            </a:r>
            <a:r>
              <a:rPr lang="en-GB" sz="1400"/>
              <a:t> </a:t>
            </a:r>
          </a:p>
        </p:txBody>
      </p:sp>
      <p:sp>
        <p:nvSpPr>
          <p:cNvPr id="29" name="TextBox 28">
            <a:extLst>
              <a:ext uri="{FF2B5EF4-FFF2-40B4-BE49-F238E27FC236}">
                <a16:creationId xmlns:a16="http://schemas.microsoft.com/office/drawing/2014/main" id="{4E2EF28D-A5E3-06B7-DE4A-B9EAAA9A2942}"/>
              </a:ext>
            </a:extLst>
          </p:cNvPr>
          <p:cNvSpPr txBox="1"/>
          <p:nvPr/>
        </p:nvSpPr>
        <p:spPr>
          <a:xfrm>
            <a:off x="657996" y="5067823"/>
            <a:ext cx="8405058" cy="369332"/>
          </a:xfrm>
          <a:prstGeom prst="rect">
            <a:avLst/>
          </a:prstGeom>
          <a:noFill/>
        </p:spPr>
        <p:txBody>
          <a:bodyPr wrap="none" rtlCol="0">
            <a:spAutoFit/>
          </a:bodyPr>
          <a:lstStyle/>
          <a:p>
            <a:r>
              <a:rPr lang="en-GB" b="1" dirty="0"/>
              <a:t>You must have a Microsoft 365 Copilot license to use Work IQ MCP servers</a:t>
            </a:r>
          </a:p>
        </p:txBody>
      </p:sp>
      <p:pic>
        <p:nvPicPr>
          <p:cNvPr id="30" name="Picture Placeholder 3">
            <a:extLst>
              <a:ext uri="{FF2B5EF4-FFF2-40B4-BE49-F238E27FC236}">
                <a16:creationId xmlns:a16="http://schemas.microsoft.com/office/drawing/2014/main" id="{C28F2794-6C84-D126-841C-EA7CD6B59A54}"/>
              </a:ext>
            </a:extLst>
          </p:cNvPr>
          <p:cNvPicPr>
            <a:picLocks noChangeAspect="1"/>
          </p:cNvPicPr>
          <p:nvPr/>
        </p:nvPicPr>
        <p:blipFill>
          <a:blip r:embed="rId12"/>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1089248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25FF0-5146-EA32-23BF-9D239658A2BC}"/>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7375CF28-8DE8-4B28-0E3D-D9F55F5A37DD}"/>
              </a:ext>
            </a:extLst>
          </p:cNvPr>
          <p:cNvSpPr>
            <a:spLocks noGrp="1"/>
          </p:cNvSpPr>
          <p:nvPr>
            <p:ph type="title"/>
          </p:nvPr>
        </p:nvSpPr>
        <p:spPr>
          <a:xfrm>
            <a:off x="519248" y="228604"/>
            <a:ext cx="11151917" cy="747897"/>
          </a:xfrm>
        </p:spPr>
        <p:txBody>
          <a:bodyPr/>
          <a:lstStyle/>
          <a:p>
            <a:r>
              <a:rPr lang="es-ES" dirty="0"/>
              <a:t>Work IQ en la práctica: Escenario de Demo (</a:t>
            </a:r>
            <a:r>
              <a:rPr lang="es-ES" dirty="0" err="1"/>
              <a:t>Outage</a:t>
            </a:r>
            <a:r>
              <a:rPr lang="es-ES" dirty="0"/>
              <a:t> en Contoso)</a:t>
            </a:r>
            <a:endParaRPr lang="en-US" dirty="0"/>
          </a:p>
        </p:txBody>
      </p:sp>
      <p:sp>
        <p:nvSpPr>
          <p:cNvPr id="7" name="Shape 3">
            <a:extLst>
              <a:ext uri="{FF2B5EF4-FFF2-40B4-BE49-F238E27FC236}">
                <a16:creationId xmlns:a16="http://schemas.microsoft.com/office/drawing/2014/main" id="{5BEF605F-B52E-74FA-11C6-A57D54FE2464}"/>
              </a:ext>
            </a:extLst>
          </p:cNvPr>
          <p:cNvSpPr/>
          <p:nvPr/>
        </p:nvSpPr>
        <p:spPr>
          <a:xfrm>
            <a:off x="731520" y="1341120"/>
            <a:ext cx="10607040" cy="390144"/>
          </a:xfrm>
          <a:prstGeom prst="rect">
            <a:avLst/>
          </a:prstGeom>
          <a:solidFill>
            <a:srgbClr val="1F2540"/>
          </a:solidFill>
          <a:ln w="6350">
            <a:solidFill>
              <a:srgbClr val="F472B6"/>
            </a:solidFill>
            <a:prstDash val="solid"/>
          </a:ln>
        </p:spPr>
        <p:txBody>
          <a:bodyPr/>
          <a:lstStyle/>
          <a:p>
            <a:endParaRPr lang="en-US" sz="2400">
              <a:latin typeface="Segoe UI (Body)"/>
            </a:endParaRPr>
          </a:p>
        </p:txBody>
      </p:sp>
      <p:sp>
        <p:nvSpPr>
          <p:cNvPr id="8" name="Text 4">
            <a:extLst>
              <a:ext uri="{FF2B5EF4-FFF2-40B4-BE49-F238E27FC236}">
                <a16:creationId xmlns:a16="http://schemas.microsoft.com/office/drawing/2014/main" id="{5A27D129-5137-FFFA-B9FA-B45CBF8607A3}"/>
              </a:ext>
            </a:extLst>
          </p:cNvPr>
          <p:cNvSpPr/>
          <p:nvPr/>
        </p:nvSpPr>
        <p:spPr>
          <a:xfrm>
            <a:off x="914400" y="1341120"/>
            <a:ext cx="10363200" cy="390144"/>
          </a:xfrm>
          <a:prstGeom prst="rect">
            <a:avLst/>
          </a:prstGeom>
          <a:noFill/>
          <a:ln/>
        </p:spPr>
        <p:txBody>
          <a:bodyPr wrap="square" lIns="0" tIns="0" rIns="0" bIns="0" rtlCol="0" anchor="ctr"/>
          <a:lstStyle/>
          <a:p>
            <a:r>
              <a:rPr lang="en-US" sz="1333" b="1" kern="0" spc="267" dirty="0">
                <a:solidFill>
                  <a:srgbClr val="F472B6"/>
                </a:solidFill>
                <a:latin typeface="Segoe UI (Body)"/>
                <a:ea typeface="Consolas" pitchFamily="34" charset="-122"/>
                <a:cs typeface="Consolas" pitchFamily="34" charset="-120"/>
              </a:rPr>
              <a:t>ESCENARIO  </a:t>
            </a:r>
            <a:r>
              <a:rPr lang="en-US" sz="1333" dirty="0">
                <a:solidFill>
                  <a:srgbClr val="E5E7EB"/>
                </a:solidFill>
                <a:latin typeface="Segoe UI (Body)"/>
                <a:ea typeface="Calibri" pitchFamily="34" charset="-122"/>
                <a:cs typeface="Calibri" pitchFamily="34" charset="-120"/>
              </a:rPr>
              <a:t>Incidente de login en Contoso · INC0012345 · SLA crítico</a:t>
            </a:r>
            <a:endParaRPr lang="en-US" sz="1333" dirty="0">
              <a:latin typeface="Segoe UI (Body)"/>
            </a:endParaRPr>
          </a:p>
        </p:txBody>
      </p:sp>
      <p:sp>
        <p:nvSpPr>
          <p:cNvPr id="9" name="Shape 5">
            <a:extLst>
              <a:ext uri="{FF2B5EF4-FFF2-40B4-BE49-F238E27FC236}">
                <a16:creationId xmlns:a16="http://schemas.microsoft.com/office/drawing/2014/main" id="{2926FD26-3857-ADD6-0F82-251F40B6AD7F}"/>
              </a:ext>
            </a:extLst>
          </p:cNvPr>
          <p:cNvSpPr/>
          <p:nvPr/>
        </p:nvSpPr>
        <p:spPr>
          <a:xfrm>
            <a:off x="731520" y="1889760"/>
            <a:ext cx="5242560" cy="548640"/>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10" name="Image 0" descr="preencoded.png">
            <a:extLst>
              <a:ext uri="{FF2B5EF4-FFF2-40B4-BE49-F238E27FC236}">
                <a16:creationId xmlns:a16="http://schemas.microsoft.com/office/drawing/2014/main" id="{022FF503-5411-6113-F6B3-80101D43EFB6}"/>
              </a:ext>
            </a:extLst>
          </p:cNvPr>
          <p:cNvPicPr>
            <a:picLocks noChangeAspect="1"/>
          </p:cNvPicPr>
          <p:nvPr/>
        </p:nvPicPr>
        <p:blipFill>
          <a:blip r:embed="rId2"/>
          <a:stretch>
            <a:fillRect/>
          </a:stretch>
        </p:blipFill>
        <p:spPr>
          <a:xfrm>
            <a:off x="877824" y="1987296"/>
            <a:ext cx="341376" cy="341376"/>
          </a:xfrm>
          <a:prstGeom prst="rect">
            <a:avLst/>
          </a:prstGeom>
        </p:spPr>
      </p:pic>
      <p:sp>
        <p:nvSpPr>
          <p:cNvPr id="11" name="Text 6">
            <a:extLst>
              <a:ext uri="{FF2B5EF4-FFF2-40B4-BE49-F238E27FC236}">
                <a16:creationId xmlns:a16="http://schemas.microsoft.com/office/drawing/2014/main" id="{42F6E525-4E89-EC59-792E-F32FC903255C}"/>
              </a:ext>
            </a:extLst>
          </p:cNvPr>
          <p:cNvSpPr/>
          <p:nvPr/>
        </p:nvSpPr>
        <p:spPr>
          <a:xfrm>
            <a:off x="1341120" y="1889760"/>
            <a:ext cx="4389120" cy="548640"/>
          </a:xfrm>
          <a:prstGeom prst="rect">
            <a:avLst/>
          </a:prstGeom>
          <a:noFill/>
          <a:ln/>
        </p:spPr>
        <p:txBody>
          <a:bodyPr wrap="square" lIns="0" tIns="0" rIns="0" bIns="0" rtlCol="0" anchor="ctr"/>
          <a:lstStyle/>
          <a:p>
            <a:r>
              <a:rPr lang="en-US" sz="1600" b="1" kern="0" spc="267" dirty="0">
                <a:solidFill>
                  <a:srgbClr val="0B1020"/>
                </a:solidFill>
                <a:latin typeface="Segoe UI (Body)"/>
                <a:ea typeface="Consolas" pitchFamily="34" charset="-122"/>
                <a:cs typeface="Consolas" pitchFamily="34" charset="-120"/>
              </a:rPr>
              <a:t>MICROSOFT 365 COPILOT</a:t>
            </a:r>
            <a:endParaRPr lang="en-US" sz="1600" dirty="0">
              <a:latin typeface="Segoe UI (Body)"/>
            </a:endParaRPr>
          </a:p>
        </p:txBody>
      </p:sp>
      <p:sp>
        <p:nvSpPr>
          <p:cNvPr id="12" name="Shape 7">
            <a:extLst>
              <a:ext uri="{FF2B5EF4-FFF2-40B4-BE49-F238E27FC236}">
                <a16:creationId xmlns:a16="http://schemas.microsoft.com/office/drawing/2014/main" id="{C0BE66FD-3EEF-6EEF-57C3-EE2A9EFBC5AD}"/>
              </a:ext>
            </a:extLst>
          </p:cNvPr>
          <p:cNvSpPr/>
          <p:nvPr/>
        </p:nvSpPr>
        <p:spPr>
          <a:xfrm>
            <a:off x="6096000" y="1889760"/>
            <a:ext cx="5242560" cy="548640"/>
          </a:xfrm>
          <a:prstGeom prst="rect">
            <a:avLst/>
          </a:prstGeom>
          <a:solidFill>
            <a:srgbClr val="A78BFA"/>
          </a:solidFill>
          <a:ln w="12700">
            <a:solidFill>
              <a:srgbClr val="A78BFA"/>
            </a:solidFill>
            <a:prstDash val="solid"/>
          </a:ln>
        </p:spPr>
        <p:txBody>
          <a:bodyPr/>
          <a:lstStyle/>
          <a:p>
            <a:endParaRPr lang="en-US" sz="2400">
              <a:latin typeface="Segoe UI (Body)"/>
            </a:endParaRPr>
          </a:p>
        </p:txBody>
      </p:sp>
      <p:pic>
        <p:nvPicPr>
          <p:cNvPr id="13" name="Image 1" descr="preencoded.png">
            <a:extLst>
              <a:ext uri="{FF2B5EF4-FFF2-40B4-BE49-F238E27FC236}">
                <a16:creationId xmlns:a16="http://schemas.microsoft.com/office/drawing/2014/main" id="{9FF50391-B67D-1C1E-F484-14FAC9650470}"/>
              </a:ext>
            </a:extLst>
          </p:cNvPr>
          <p:cNvPicPr>
            <a:picLocks noChangeAspect="1"/>
          </p:cNvPicPr>
          <p:nvPr/>
        </p:nvPicPr>
        <p:blipFill>
          <a:blip r:embed="rId3"/>
          <a:stretch>
            <a:fillRect/>
          </a:stretch>
        </p:blipFill>
        <p:spPr>
          <a:xfrm>
            <a:off x="6242304" y="1987296"/>
            <a:ext cx="341376" cy="341376"/>
          </a:xfrm>
          <a:prstGeom prst="rect">
            <a:avLst/>
          </a:prstGeom>
        </p:spPr>
      </p:pic>
      <p:sp>
        <p:nvSpPr>
          <p:cNvPr id="14" name="Text 8">
            <a:extLst>
              <a:ext uri="{FF2B5EF4-FFF2-40B4-BE49-F238E27FC236}">
                <a16:creationId xmlns:a16="http://schemas.microsoft.com/office/drawing/2014/main" id="{A2CE4DBE-FE06-74BB-4E36-9ADA6BEB01D0}"/>
              </a:ext>
            </a:extLst>
          </p:cNvPr>
          <p:cNvSpPr/>
          <p:nvPr/>
        </p:nvSpPr>
        <p:spPr>
          <a:xfrm>
            <a:off x="6705600" y="1889760"/>
            <a:ext cx="4511040" cy="548640"/>
          </a:xfrm>
          <a:prstGeom prst="rect">
            <a:avLst/>
          </a:prstGeom>
          <a:noFill/>
          <a:ln/>
        </p:spPr>
        <p:txBody>
          <a:bodyPr wrap="square" lIns="0" tIns="0" rIns="0" bIns="0" rtlCol="0" anchor="ctr"/>
          <a:lstStyle/>
          <a:p>
            <a:r>
              <a:rPr lang="en-US" sz="1600" b="1" kern="0" spc="267" dirty="0">
                <a:solidFill>
                  <a:srgbClr val="0B1020"/>
                </a:solidFill>
                <a:latin typeface="Segoe UI (Body)"/>
                <a:ea typeface="Consolas" pitchFamily="34" charset="-122"/>
                <a:cs typeface="Consolas" pitchFamily="34" charset="-120"/>
              </a:rPr>
              <a:t>AGENTE EN COPILOT STUDIO</a:t>
            </a:r>
            <a:endParaRPr lang="en-US" sz="1600" dirty="0">
              <a:latin typeface="Segoe UI (Body)"/>
            </a:endParaRPr>
          </a:p>
        </p:txBody>
      </p:sp>
      <p:sp>
        <p:nvSpPr>
          <p:cNvPr id="15" name="Shape 9">
            <a:extLst>
              <a:ext uri="{FF2B5EF4-FFF2-40B4-BE49-F238E27FC236}">
                <a16:creationId xmlns:a16="http://schemas.microsoft.com/office/drawing/2014/main" id="{44758967-A3D3-59D2-4F9A-9FB0D373ECD5}"/>
              </a:ext>
            </a:extLst>
          </p:cNvPr>
          <p:cNvSpPr/>
          <p:nvPr/>
        </p:nvSpPr>
        <p:spPr>
          <a:xfrm>
            <a:off x="731520" y="2657856"/>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16" name="Text 10">
            <a:extLst>
              <a:ext uri="{FF2B5EF4-FFF2-40B4-BE49-F238E27FC236}">
                <a16:creationId xmlns:a16="http://schemas.microsoft.com/office/drawing/2014/main" id="{46400B3C-DB91-A14F-1D94-67CDD49201B2}"/>
              </a:ext>
            </a:extLst>
          </p:cNvPr>
          <p:cNvSpPr/>
          <p:nvPr/>
        </p:nvSpPr>
        <p:spPr>
          <a:xfrm>
            <a:off x="731520" y="2657856"/>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1</a:t>
            </a:r>
            <a:endParaRPr lang="en-US" sz="1867" dirty="0">
              <a:latin typeface="Segoe UI (Body)"/>
            </a:endParaRPr>
          </a:p>
        </p:txBody>
      </p:sp>
      <p:sp>
        <p:nvSpPr>
          <p:cNvPr id="17" name="Text 11">
            <a:extLst>
              <a:ext uri="{FF2B5EF4-FFF2-40B4-BE49-F238E27FC236}">
                <a16:creationId xmlns:a16="http://schemas.microsoft.com/office/drawing/2014/main" id="{555CA75D-9388-50A9-E429-B617B77A0B48}"/>
              </a:ext>
            </a:extLst>
          </p:cNvPr>
          <p:cNvSpPr/>
          <p:nvPr/>
        </p:nvSpPr>
        <p:spPr>
          <a:xfrm>
            <a:off x="1341120" y="2621280"/>
            <a:ext cx="0" cy="0"/>
          </a:xfrm>
          <a:prstGeom prst="rect">
            <a:avLst/>
          </a:prstGeom>
          <a:noFill/>
          <a:ln/>
        </p:spPr>
        <p:txBody>
          <a:bodyPr wrap="square" rtlCol="0" anchor="ctr"/>
          <a:lstStyle/>
          <a:p>
            <a:r>
              <a:rPr lang="en-US" sz="133" dirty="0">
                <a:solidFill>
                  <a:srgbClr val="0B1020"/>
                </a:solidFill>
                <a:latin typeface="Segoe UI (Body)"/>
              </a:rPr>
              <a:t>Triaje del correo</a:t>
            </a:r>
            <a:endParaRPr lang="en-US" sz="133" dirty="0">
              <a:latin typeface="Segoe UI (Body)"/>
            </a:endParaRPr>
          </a:p>
        </p:txBody>
      </p:sp>
      <p:sp>
        <p:nvSpPr>
          <p:cNvPr id="18" name="Shape 12">
            <a:extLst>
              <a:ext uri="{FF2B5EF4-FFF2-40B4-BE49-F238E27FC236}">
                <a16:creationId xmlns:a16="http://schemas.microsoft.com/office/drawing/2014/main" id="{2BC82E66-230D-5844-7FD2-4FD8296200F1}"/>
              </a:ext>
            </a:extLst>
          </p:cNvPr>
          <p:cNvSpPr/>
          <p:nvPr/>
        </p:nvSpPr>
        <p:spPr>
          <a:xfrm>
            <a:off x="1341120" y="2560320"/>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19" name="Shape 13">
            <a:extLst>
              <a:ext uri="{FF2B5EF4-FFF2-40B4-BE49-F238E27FC236}">
                <a16:creationId xmlns:a16="http://schemas.microsoft.com/office/drawing/2014/main" id="{ABD4EAC0-6916-D94B-DC9F-316E68EBE6DA}"/>
              </a:ext>
            </a:extLst>
          </p:cNvPr>
          <p:cNvSpPr/>
          <p:nvPr/>
        </p:nvSpPr>
        <p:spPr>
          <a:xfrm>
            <a:off x="1341120" y="2560320"/>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20" name="Text 14">
            <a:extLst>
              <a:ext uri="{FF2B5EF4-FFF2-40B4-BE49-F238E27FC236}">
                <a16:creationId xmlns:a16="http://schemas.microsoft.com/office/drawing/2014/main" id="{F64D0FE8-9376-AD06-35FE-7E4661D79E72}"/>
              </a:ext>
            </a:extLst>
          </p:cNvPr>
          <p:cNvSpPr/>
          <p:nvPr/>
        </p:nvSpPr>
        <p:spPr>
          <a:xfrm>
            <a:off x="1524000" y="2609088"/>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Triaje del correo</a:t>
            </a:r>
            <a:endParaRPr lang="en-US" sz="1333" dirty="0">
              <a:latin typeface="Segoe UI (Body)"/>
            </a:endParaRPr>
          </a:p>
        </p:txBody>
      </p:sp>
      <p:sp>
        <p:nvSpPr>
          <p:cNvPr id="21" name="Text 15">
            <a:extLst>
              <a:ext uri="{FF2B5EF4-FFF2-40B4-BE49-F238E27FC236}">
                <a16:creationId xmlns:a16="http://schemas.microsoft.com/office/drawing/2014/main" id="{D538ADFE-5D13-AAE8-E4A3-36EC9EDF48E2}"/>
              </a:ext>
            </a:extLst>
          </p:cNvPr>
          <p:cNvSpPr/>
          <p:nvPr/>
        </p:nvSpPr>
        <p:spPr>
          <a:xfrm>
            <a:off x="1524000" y="2852928"/>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Pregunta en Copilot Chat → resume el hilo de Contoso desde Outlook.</a:t>
            </a:r>
            <a:endParaRPr lang="en-US" sz="1200" dirty="0">
              <a:latin typeface="Segoe UI (Body)"/>
            </a:endParaRPr>
          </a:p>
        </p:txBody>
      </p:sp>
      <p:sp>
        <p:nvSpPr>
          <p:cNvPr id="22" name="Shape 16">
            <a:extLst>
              <a:ext uri="{FF2B5EF4-FFF2-40B4-BE49-F238E27FC236}">
                <a16:creationId xmlns:a16="http://schemas.microsoft.com/office/drawing/2014/main" id="{96B26639-FEED-34A6-600A-7C7F27FF63D4}"/>
              </a:ext>
            </a:extLst>
          </p:cNvPr>
          <p:cNvSpPr/>
          <p:nvPr/>
        </p:nvSpPr>
        <p:spPr>
          <a:xfrm>
            <a:off x="6096000" y="2560320"/>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23" name="Shape 17">
            <a:extLst>
              <a:ext uri="{FF2B5EF4-FFF2-40B4-BE49-F238E27FC236}">
                <a16:creationId xmlns:a16="http://schemas.microsoft.com/office/drawing/2014/main" id="{70F8E50A-E16C-3A76-CE6F-A83A0CAD1133}"/>
              </a:ext>
            </a:extLst>
          </p:cNvPr>
          <p:cNvSpPr/>
          <p:nvPr/>
        </p:nvSpPr>
        <p:spPr>
          <a:xfrm>
            <a:off x="6096000" y="2560320"/>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24" name="Text 18">
            <a:extLst>
              <a:ext uri="{FF2B5EF4-FFF2-40B4-BE49-F238E27FC236}">
                <a16:creationId xmlns:a16="http://schemas.microsoft.com/office/drawing/2014/main" id="{D0360E76-C1C1-B3DA-3FFB-72D596ED6DDE}"/>
              </a:ext>
            </a:extLst>
          </p:cNvPr>
          <p:cNvSpPr/>
          <p:nvPr/>
        </p:nvSpPr>
        <p:spPr>
          <a:xfrm>
            <a:off x="6278880" y="2609088"/>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Triaje del correo</a:t>
            </a:r>
            <a:endParaRPr lang="en-US" sz="1333" dirty="0">
              <a:latin typeface="Segoe UI (Body)"/>
            </a:endParaRPr>
          </a:p>
        </p:txBody>
      </p:sp>
      <p:sp>
        <p:nvSpPr>
          <p:cNvPr id="25" name="Text 19">
            <a:extLst>
              <a:ext uri="{FF2B5EF4-FFF2-40B4-BE49-F238E27FC236}">
                <a16:creationId xmlns:a16="http://schemas.microsoft.com/office/drawing/2014/main" id="{4C939EFB-B3FD-B317-700E-52A66D14847A}"/>
              </a:ext>
            </a:extLst>
          </p:cNvPr>
          <p:cNvSpPr/>
          <p:nvPr/>
        </p:nvSpPr>
        <p:spPr>
          <a:xfrm>
            <a:off x="6278880" y="2852928"/>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Mail (searchMessages / getMessage) → resumen + borrador de respuesta.</a:t>
            </a:r>
            <a:endParaRPr lang="en-US" sz="1200" dirty="0">
              <a:latin typeface="Segoe UI (Body)"/>
            </a:endParaRPr>
          </a:p>
        </p:txBody>
      </p:sp>
      <p:sp>
        <p:nvSpPr>
          <p:cNvPr id="26" name="Shape 20">
            <a:extLst>
              <a:ext uri="{FF2B5EF4-FFF2-40B4-BE49-F238E27FC236}">
                <a16:creationId xmlns:a16="http://schemas.microsoft.com/office/drawing/2014/main" id="{B10EFCDF-E1E8-9D3B-A04D-43DFA6F70C1D}"/>
              </a:ext>
            </a:extLst>
          </p:cNvPr>
          <p:cNvSpPr/>
          <p:nvPr/>
        </p:nvSpPr>
        <p:spPr>
          <a:xfrm>
            <a:off x="731520" y="3364992"/>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50" name="Text 21">
            <a:extLst>
              <a:ext uri="{FF2B5EF4-FFF2-40B4-BE49-F238E27FC236}">
                <a16:creationId xmlns:a16="http://schemas.microsoft.com/office/drawing/2014/main" id="{C5FFC59C-10F3-5AF6-B105-9C8C9590BC87}"/>
              </a:ext>
            </a:extLst>
          </p:cNvPr>
          <p:cNvSpPr/>
          <p:nvPr/>
        </p:nvSpPr>
        <p:spPr>
          <a:xfrm>
            <a:off x="731520" y="3364992"/>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2</a:t>
            </a:r>
            <a:endParaRPr lang="en-US" sz="1867" dirty="0">
              <a:latin typeface="Segoe UI (Body)"/>
            </a:endParaRPr>
          </a:p>
        </p:txBody>
      </p:sp>
      <p:sp>
        <p:nvSpPr>
          <p:cNvPr id="51" name="Text 22">
            <a:extLst>
              <a:ext uri="{FF2B5EF4-FFF2-40B4-BE49-F238E27FC236}">
                <a16:creationId xmlns:a16="http://schemas.microsoft.com/office/drawing/2014/main" id="{3444FDD4-775C-0F30-904B-5B01F629D412}"/>
              </a:ext>
            </a:extLst>
          </p:cNvPr>
          <p:cNvSpPr/>
          <p:nvPr/>
        </p:nvSpPr>
        <p:spPr>
          <a:xfrm>
            <a:off x="1341120" y="3328416"/>
            <a:ext cx="0" cy="0"/>
          </a:xfrm>
          <a:prstGeom prst="rect">
            <a:avLst/>
          </a:prstGeom>
          <a:noFill/>
          <a:ln/>
        </p:spPr>
        <p:txBody>
          <a:bodyPr wrap="square" rtlCol="0" anchor="ctr"/>
          <a:lstStyle/>
          <a:p>
            <a:r>
              <a:rPr lang="en-US" sz="133" dirty="0">
                <a:solidFill>
                  <a:srgbClr val="0B1020"/>
                </a:solidFill>
                <a:latin typeface="Segoe UI (Body)"/>
              </a:rPr>
              <a:t>Actualizar ServiceNow</a:t>
            </a:r>
            <a:endParaRPr lang="en-US" sz="133" dirty="0">
              <a:latin typeface="Segoe UI (Body)"/>
            </a:endParaRPr>
          </a:p>
        </p:txBody>
      </p:sp>
      <p:sp>
        <p:nvSpPr>
          <p:cNvPr id="52" name="Shape 23">
            <a:extLst>
              <a:ext uri="{FF2B5EF4-FFF2-40B4-BE49-F238E27FC236}">
                <a16:creationId xmlns:a16="http://schemas.microsoft.com/office/drawing/2014/main" id="{85B0C35D-30C8-D863-3A22-67AA55D04B97}"/>
              </a:ext>
            </a:extLst>
          </p:cNvPr>
          <p:cNvSpPr/>
          <p:nvPr/>
        </p:nvSpPr>
        <p:spPr>
          <a:xfrm>
            <a:off x="1341120" y="3267456"/>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53" name="Shape 24">
            <a:extLst>
              <a:ext uri="{FF2B5EF4-FFF2-40B4-BE49-F238E27FC236}">
                <a16:creationId xmlns:a16="http://schemas.microsoft.com/office/drawing/2014/main" id="{22AA1FD3-02D0-AA5F-B80B-1500BF2D3B81}"/>
              </a:ext>
            </a:extLst>
          </p:cNvPr>
          <p:cNvSpPr/>
          <p:nvPr/>
        </p:nvSpPr>
        <p:spPr>
          <a:xfrm>
            <a:off x="1341120" y="3267456"/>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54" name="Text 25">
            <a:extLst>
              <a:ext uri="{FF2B5EF4-FFF2-40B4-BE49-F238E27FC236}">
                <a16:creationId xmlns:a16="http://schemas.microsoft.com/office/drawing/2014/main" id="{5A05467C-9EFD-48C6-57B4-C47B3BD8447A}"/>
              </a:ext>
            </a:extLst>
          </p:cNvPr>
          <p:cNvSpPr/>
          <p:nvPr/>
        </p:nvSpPr>
        <p:spPr>
          <a:xfrm>
            <a:off x="1524000" y="3316224"/>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Actualizar ServiceNow</a:t>
            </a:r>
            <a:endParaRPr lang="en-US" sz="1333" dirty="0">
              <a:latin typeface="Segoe UI (Body)"/>
            </a:endParaRPr>
          </a:p>
        </p:txBody>
      </p:sp>
      <p:sp>
        <p:nvSpPr>
          <p:cNvPr id="55" name="Text 26">
            <a:extLst>
              <a:ext uri="{FF2B5EF4-FFF2-40B4-BE49-F238E27FC236}">
                <a16:creationId xmlns:a16="http://schemas.microsoft.com/office/drawing/2014/main" id="{FCFD1A67-7513-6565-5203-1C6E6DB4AE65}"/>
              </a:ext>
            </a:extLst>
          </p:cNvPr>
          <p:cNvSpPr/>
          <p:nvPr/>
        </p:nvSpPr>
        <p:spPr>
          <a:xfrm>
            <a:off x="1524000" y="3560064"/>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Copia/pega al ticket — no hay acción nativa sobre ServiceNow.</a:t>
            </a:r>
            <a:endParaRPr lang="en-US" sz="1200" dirty="0">
              <a:latin typeface="Segoe UI (Body)"/>
            </a:endParaRPr>
          </a:p>
        </p:txBody>
      </p:sp>
      <p:sp>
        <p:nvSpPr>
          <p:cNvPr id="56" name="Shape 27">
            <a:extLst>
              <a:ext uri="{FF2B5EF4-FFF2-40B4-BE49-F238E27FC236}">
                <a16:creationId xmlns:a16="http://schemas.microsoft.com/office/drawing/2014/main" id="{ABCBECF6-EFB1-3924-A00B-D46BB43DD5F0}"/>
              </a:ext>
            </a:extLst>
          </p:cNvPr>
          <p:cNvSpPr/>
          <p:nvPr/>
        </p:nvSpPr>
        <p:spPr>
          <a:xfrm>
            <a:off x="6096000" y="3267456"/>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57" name="Shape 28">
            <a:extLst>
              <a:ext uri="{FF2B5EF4-FFF2-40B4-BE49-F238E27FC236}">
                <a16:creationId xmlns:a16="http://schemas.microsoft.com/office/drawing/2014/main" id="{8D34EB10-CC89-202F-C847-D66ADEA3E79D}"/>
              </a:ext>
            </a:extLst>
          </p:cNvPr>
          <p:cNvSpPr/>
          <p:nvPr/>
        </p:nvSpPr>
        <p:spPr>
          <a:xfrm>
            <a:off x="6096000" y="3267456"/>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58" name="Text 29">
            <a:extLst>
              <a:ext uri="{FF2B5EF4-FFF2-40B4-BE49-F238E27FC236}">
                <a16:creationId xmlns:a16="http://schemas.microsoft.com/office/drawing/2014/main" id="{B040B123-E317-063F-A9B3-8DC194E51A98}"/>
              </a:ext>
            </a:extLst>
          </p:cNvPr>
          <p:cNvSpPr/>
          <p:nvPr/>
        </p:nvSpPr>
        <p:spPr>
          <a:xfrm>
            <a:off x="6278880" y="3316224"/>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Actualizar ServiceNow</a:t>
            </a:r>
            <a:endParaRPr lang="en-US" sz="1333" dirty="0">
              <a:latin typeface="Segoe UI (Body)"/>
            </a:endParaRPr>
          </a:p>
        </p:txBody>
      </p:sp>
      <p:sp>
        <p:nvSpPr>
          <p:cNvPr id="59" name="Text 30">
            <a:extLst>
              <a:ext uri="{FF2B5EF4-FFF2-40B4-BE49-F238E27FC236}">
                <a16:creationId xmlns:a16="http://schemas.microsoft.com/office/drawing/2014/main" id="{CEF4243D-0A62-3168-E525-46D61B258476}"/>
              </a:ext>
            </a:extLst>
          </p:cNvPr>
          <p:cNvSpPr/>
          <p:nvPr/>
        </p:nvSpPr>
        <p:spPr>
          <a:xfrm>
            <a:off x="6278880" y="3560064"/>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ServiceNow MCP → getIncident, addWorkNote, updateIncidentState.</a:t>
            </a:r>
            <a:endParaRPr lang="en-US" sz="1200" dirty="0">
              <a:latin typeface="Segoe UI (Body)"/>
            </a:endParaRPr>
          </a:p>
        </p:txBody>
      </p:sp>
      <p:sp>
        <p:nvSpPr>
          <p:cNvPr id="60" name="Shape 31">
            <a:extLst>
              <a:ext uri="{FF2B5EF4-FFF2-40B4-BE49-F238E27FC236}">
                <a16:creationId xmlns:a16="http://schemas.microsoft.com/office/drawing/2014/main" id="{66496955-824E-D839-522F-E287C86659F1}"/>
              </a:ext>
            </a:extLst>
          </p:cNvPr>
          <p:cNvSpPr/>
          <p:nvPr/>
        </p:nvSpPr>
        <p:spPr>
          <a:xfrm>
            <a:off x="731520" y="4072128"/>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61" name="Text 32">
            <a:extLst>
              <a:ext uri="{FF2B5EF4-FFF2-40B4-BE49-F238E27FC236}">
                <a16:creationId xmlns:a16="http://schemas.microsoft.com/office/drawing/2014/main" id="{142236AB-CFA6-34B6-74E3-B3B63E6A1C91}"/>
              </a:ext>
            </a:extLst>
          </p:cNvPr>
          <p:cNvSpPr/>
          <p:nvPr/>
        </p:nvSpPr>
        <p:spPr>
          <a:xfrm>
            <a:off x="731520" y="4072128"/>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3</a:t>
            </a:r>
            <a:endParaRPr lang="en-US" sz="1867" dirty="0">
              <a:latin typeface="Segoe UI (Body)"/>
            </a:endParaRPr>
          </a:p>
        </p:txBody>
      </p:sp>
      <p:sp>
        <p:nvSpPr>
          <p:cNvPr id="62" name="Text 33">
            <a:extLst>
              <a:ext uri="{FF2B5EF4-FFF2-40B4-BE49-F238E27FC236}">
                <a16:creationId xmlns:a16="http://schemas.microsoft.com/office/drawing/2014/main" id="{79BEC25F-39DC-D5D1-9DAC-A677F82ED857}"/>
              </a:ext>
            </a:extLst>
          </p:cNvPr>
          <p:cNvSpPr/>
          <p:nvPr/>
        </p:nvSpPr>
        <p:spPr>
          <a:xfrm>
            <a:off x="1341120" y="4035552"/>
            <a:ext cx="0" cy="0"/>
          </a:xfrm>
          <a:prstGeom prst="rect">
            <a:avLst/>
          </a:prstGeom>
          <a:noFill/>
          <a:ln/>
        </p:spPr>
        <p:txBody>
          <a:bodyPr wrap="square" rtlCol="0" anchor="ctr"/>
          <a:lstStyle/>
          <a:p>
            <a:r>
              <a:rPr lang="en-US" sz="133" dirty="0">
                <a:solidFill>
                  <a:srgbClr val="0B1020"/>
                </a:solidFill>
                <a:latin typeface="Segoe UI (Body)"/>
              </a:rPr>
              <a:t>Programar War Room</a:t>
            </a:r>
            <a:endParaRPr lang="en-US" sz="133" dirty="0">
              <a:latin typeface="Segoe UI (Body)"/>
            </a:endParaRPr>
          </a:p>
        </p:txBody>
      </p:sp>
      <p:sp>
        <p:nvSpPr>
          <p:cNvPr id="63" name="Shape 34">
            <a:extLst>
              <a:ext uri="{FF2B5EF4-FFF2-40B4-BE49-F238E27FC236}">
                <a16:creationId xmlns:a16="http://schemas.microsoft.com/office/drawing/2014/main" id="{9C15A296-F421-C27E-0874-E498E485DCA1}"/>
              </a:ext>
            </a:extLst>
          </p:cNvPr>
          <p:cNvSpPr/>
          <p:nvPr/>
        </p:nvSpPr>
        <p:spPr>
          <a:xfrm>
            <a:off x="1341120" y="3974592"/>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64" name="Shape 35">
            <a:extLst>
              <a:ext uri="{FF2B5EF4-FFF2-40B4-BE49-F238E27FC236}">
                <a16:creationId xmlns:a16="http://schemas.microsoft.com/office/drawing/2014/main" id="{93139FA7-8F9A-0346-E551-E4C79DCEA1CA}"/>
              </a:ext>
            </a:extLst>
          </p:cNvPr>
          <p:cNvSpPr/>
          <p:nvPr/>
        </p:nvSpPr>
        <p:spPr>
          <a:xfrm>
            <a:off x="1341120" y="3974592"/>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65" name="Text 36">
            <a:extLst>
              <a:ext uri="{FF2B5EF4-FFF2-40B4-BE49-F238E27FC236}">
                <a16:creationId xmlns:a16="http://schemas.microsoft.com/office/drawing/2014/main" id="{160298BF-7691-3AD0-3EAA-32BD1E3D775A}"/>
              </a:ext>
            </a:extLst>
          </p:cNvPr>
          <p:cNvSpPr/>
          <p:nvPr/>
        </p:nvSpPr>
        <p:spPr>
          <a:xfrm>
            <a:off x="1524000" y="4023360"/>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Programar War Room</a:t>
            </a:r>
            <a:endParaRPr lang="en-US" sz="1333" dirty="0">
              <a:latin typeface="Segoe UI (Body)"/>
            </a:endParaRPr>
          </a:p>
        </p:txBody>
      </p:sp>
      <p:sp>
        <p:nvSpPr>
          <p:cNvPr id="66" name="Text 37">
            <a:extLst>
              <a:ext uri="{FF2B5EF4-FFF2-40B4-BE49-F238E27FC236}">
                <a16:creationId xmlns:a16="http://schemas.microsoft.com/office/drawing/2014/main" id="{8AA31204-413E-5885-54CE-DB1200AA5B90}"/>
              </a:ext>
            </a:extLst>
          </p:cNvPr>
          <p:cNvSpPr/>
          <p:nvPr/>
        </p:nvSpPr>
        <p:spPr>
          <a:xfrm>
            <a:off x="1524000" y="4267200"/>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Sugiere horario; el usuario crea la reunión en Outlook/Teams.</a:t>
            </a:r>
            <a:endParaRPr lang="en-US" sz="1200" dirty="0">
              <a:latin typeface="Segoe UI (Body)"/>
            </a:endParaRPr>
          </a:p>
        </p:txBody>
      </p:sp>
      <p:sp>
        <p:nvSpPr>
          <p:cNvPr id="67" name="Shape 38">
            <a:extLst>
              <a:ext uri="{FF2B5EF4-FFF2-40B4-BE49-F238E27FC236}">
                <a16:creationId xmlns:a16="http://schemas.microsoft.com/office/drawing/2014/main" id="{BA91DC40-F900-0A9D-246B-86C5C23D9B77}"/>
              </a:ext>
            </a:extLst>
          </p:cNvPr>
          <p:cNvSpPr/>
          <p:nvPr/>
        </p:nvSpPr>
        <p:spPr>
          <a:xfrm>
            <a:off x="6096000" y="3974592"/>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68" name="Shape 39">
            <a:extLst>
              <a:ext uri="{FF2B5EF4-FFF2-40B4-BE49-F238E27FC236}">
                <a16:creationId xmlns:a16="http://schemas.microsoft.com/office/drawing/2014/main" id="{0B032663-AA9E-351A-92D0-C80DBFD73624}"/>
              </a:ext>
            </a:extLst>
          </p:cNvPr>
          <p:cNvSpPr/>
          <p:nvPr/>
        </p:nvSpPr>
        <p:spPr>
          <a:xfrm>
            <a:off x="6096000" y="3974592"/>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69" name="Text 40">
            <a:extLst>
              <a:ext uri="{FF2B5EF4-FFF2-40B4-BE49-F238E27FC236}">
                <a16:creationId xmlns:a16="http://schemas.microsoft.com/office/drawing/2014/main" id="{12E69699-D72A-F244-1291-807C96EC42AE}"/>
              </a:ext>
            </a:extLst>
          </p:cNvPr>
          <p:cNvSpPr/>
          <p:nvPr/>
        </p:nvSpPr>
        <p:spPr>
          <a:xfrm>
            <a:off x="6278880" y="4023360"/>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Programar War Room</a:t>
            </a:r>
            <a:endParaRPr lang="en-US" sz="1333" dirty="0">
              <a:latin typeface="Segoe UI (Body)"/>
            </a:endParaRPr>
          </a:p>
        </p:txBody>
      </p:sp>
      <p:sp>
        <p:nvSpPr>
          <p:cNvPr id="70" name="Text 41">
            <a:extLst>
              <a:ext uri="{FF2B5EF4-FFF2-40B4-BE49-F238E27FC236}">
                <a16:creationId xmlns:a16="http://schemas.microsoft.com/office/drawing/2014/main" id="{8889AA54-1EC5-16CB-5954-EA3DFA915840}"/>
              </a:ext>
            </a:extLst>
          </p:cNvPr>
          <p:cNvSpPr/>
          <p:nvPr/>
        </p:nvSpPr>
        <p:spPr>
          <a:xfrm>
            <a:off x="6278880" y="4267200"/>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Calendar → findMeetingTimes + createEvent con Teams link.</a:t>
            </a:r>
            <a:endParaRPr lang="en-US" sz="1200" dirty="0">
              <a:latin typeface="Segoe UI (Body)"/>
            </a:endParaRPr>
          </a:p>
        </p:txBody>
      </p:sp>
      <p:sp>
        <p:nvSpPr>
          <p:cNvPr id="71" name="Shape 42">
            <a:extLst>
              <a:ext uri="{FF2B5EF4-FFF2-40B4-BE49-F238E27FC236}">
                <a16:creationId xmlns:a16="http://schemas.microsoft.com/office/drawing/2014/main" id="{8D7691D7-63D9-4700-4CBC-E8BCAB4CC9BB}"/>
              </a:ext>
            </a:extLst>
          </p:cNvPr>
          <p:cNvSpPr/>
          <p:nvPr/>
        </p:nvSpPr>
        <p:spPr>
          <a:xfrm>
            <a:off x="731520" y="4779264"/>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72" name="Text 43">
            <a:extLst>
              <a:ext uri="{FF2B5EF4-FFF2-40B4-BE49-F238E27FC236}">
                <a16:creationId xmlns:a16="http://schemas.microsoft.com/office/drawing/2014/main" id="{1D5F1167-442F-C113-138A-82886221ADB3}"/>
              </a:ext>
            </a:extLst>
          </p:cNvPr>
          <p:cNvSpPr/>
          <p:nvPr/>
        </p:nvSpPr>
        <p:spPr>
          <a:xfrm>
            <a:off x="731520" y="4779264"/>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4</a:t>
            </a:r>
            <a:endParaRPr lang="en-US" sz="1867" dirty="0">
              <a:latin typeface="Segoe UI (Body)"/>
            </a:endParaRPr>
          </a:p>
        </p:txBody>
      </p:sp>
      <p:sp>
        <p:nvSpPr>
          <p:cNvPr id="73" name="Text 44">
            <a:extLst>
              <a:ext uri="{FF2B5EF4-FFF2-40B4-BE49-F238E27FC236}">
                <a16:creationId xmlns:a16="http://schemas.microsoft.com/office/drawing/2014/main" id="{857ABA3F-6536-FA00-4D71-088C1962D2FD}"/>
              </a:ext>
            </a:extLst>
          </p:cNvPr>
          <p:cNvSpPr/>
          <p:nvPr/>
        </p:nvSpPr>
        <p:spPr>
          <a:xfrm>
            <a:off x="1341120" y="4742688"/>
            <a:ext cx="0" cy="0"/>
          </a:xfrm>
          <a:prstGeom prst="rect">
            <a:avLst/>
          </a:prstGeom>
          <a:noFill/>
          <a:ln/>
        </p:spPr>
        <p:txBody>
          <a:bodyPr wrap="square" rtlCol="0" anchor="ctr"/>
          <a:lstStyle/>
          <a:p>
            <a:r>
              <a:rPr lang="en-US" sz="133" dirty="0">
                <a:solidFill>
                  <a:srgbClr val="0B1020"/>
                </a:solidFill>
                <a:latin typeface="Segoe UI (Body)"/>
              </a:rPr>
              <a:t>Buscar KB y enriquecer</a:t>
            </a:r>
            <a:endParaRPr lang="en-US" sz="133" dirty="0">
              <a:latin typeface="Segoe UI (Body)"/>
            </a:endParaRPr>
          </a:p>
        </p:txBody>
      </p:sp>
      <p:sp>
        <p:nvSpPr>
          <p:cNvPr id="74" name="Shape 45">
            <a:extLst>
              <a:ext uri="{FF2B5EF4-FFF2-40B4-BE49-F238E27FC236}">
                <a16:creationId xmlns:a16="http://schemas.microsoft.com/office/drawing/2014/main" id="{A2CCB93A-105B-AAFB-BEAD-C1686E15E186}"/>
              </a:ext>
            </a:extLst>
          </p:cNvPr>
          <p:cNvSpPr/>
          <p:nvPr/>
        </p:nvSpPr>
        <p:spPr>
          <a:xfrm>
            <a:off x="1341120" y="4681728"/>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75" name="Shape 46">
            <a:extLst>
              <a:ext uri="{FF2B5EF4-FFF2-40B4-BE49-F238E27FC236}">
                <a16:creationId xmlns:a16="http://schemas.microsoft.com/office/drawing/2014/main" id="{3AD48B07-F353-4754-7BD9-E307C7612AA3}"/>
              </a:ext>
            </a:extLst>
          </p:cNvPr>
          <p:cNvSpPr/>
          <p:nvPr/>
        </p:nvSpPr>
        <p:spPr>
          <a:xfrm>
            <a:off x="1341120" y="4681728"/>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76" name="Text 47">
            <a:extLst>
              <a:ext uri="{FF2B5EF4-FFF2-40B4-BE49-F238E27FC236}">
                <a16:creationId xmlns:a16="http://schemas.microsoft.com/office/drawing/2014/main" id="{58D2968F-A495-9A33-6F5E-52A382B0B0E0}"/>
              </a:ext>
            </a:extLst>
          </p:cNvPr>
          <p:cNvSpPr/>
          <p:nvPr/>
        </p:nvSpPr>
        <p:spPr>
          <a:xfrm>
            <a:off x="1524000" y="4730496"/>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Buscar KB y enriquecer</a:t>
            </a:r>
            <a:endParaRPr lang="en-US" sz="1333" dirty="0">
              <a:latin typeface="Segoe UI (Body)"/>
            </a:endParaRPr>
          </a:p>
        </p:txBody>
      </p:sp>
      <p:sp>
        <p:nvSpPr>
          <p:cNvPr id="77" name="Text 48">
            <a:extLst>
              <a:ext uri="{FF2B5EF4-FFF2-40B4-BE49-F238E27FC236}">
                <a16:creationId xmlns:a16="http://schemas.microsoft.com/office/drawing/2014/main" id="{E98DEE94-8F56-A3FE-3827-53C40452CD36}"/>
              </a:ext>
            </a:extLst>
          </p:cNvPr>
          <p:cNvSpPr/>
          <p:nvPr/>
        </p:nvSpPr>
        <p:spPr>
          <a:xfrm>
            <a:off x="1524000" y="4974336"/>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Búsqueda semántica en SharePoint/OneDrive desde Copilot Chat.</a:t>
            </a:r>
            <a:endParaRPr lang="en-US" sz="1200" dirty="0">
              <a:latin typeface="Segoe UI (Body)"/>
            </a:endParaRPr>
          </a:p>
        </p:txBody>
      </p:sp>
      <p:sp>
        <p:nvSpPr>
          <p:cNvPr id="78" name="Shape 49">
            <a:extLst>
              <a:ext uri="{FF2B5EF4-FFF2-40B4-BE49-F238E27FC236}">
                <a16:creationId xmlns:a16="http://schemas.microsoft.com/office/drawing/2014/main" id="{C85B464F-97E0-4BFC-4B97-586256696B50}"/>
              </a:ext>
            </a:extLst>
          </p:cNvPr>
          <p:cNvSpPr/>
          <p:nvPr/>
        </p:nvSpPr>
        <p:spPr>
          <a:xfrm>
            <a:off x="6096000" y="4681728"/>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79" name="Shape 50">
            <a:extLst>
              <a:ext uri="{FF2B5EF4-FFF2-40B4-BE49-F238E27FC236}">
                <a16:creationId xmlns:a16="http://schemas.microsoft.com/office/drawing/2014/main" id="{999AC7BA-496A-F528-B59A-9BCF1CBA708B}"/>
              </a:ext>
            </a:extLst>
          </p:cNvPr>
          <p:cNvSpPr/>
          <p:nvPr/>
        </p:nvSpPr>
        <p:spPr>
          <a:xfrm>
            <a:off x="6096000" y="4681728"/>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80" name="Text 51">
            <a:extLst>
              <a:ext uri="{FF2B5EF4-FFF2-40B4-BE49-F238E27FC236}">
                <a16:creationId xmlns:a16="http://schemas.microsoft.com/office/drawing/2014/main" id="{B9D41AD6-29AF-0134-FF5D-5D2939B2B543}"/>
              </a:ext>
            </a:extLst>
          </p:cNvPr>
          <p:cNvSpPr/>
          <p:nvPr/>
        </p:nvSpPr>
        <p:spPr>
          <a:xfrm>
            <a:off x="6278880" y="4730496"/>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Buscar KB y enriquecer</a:t>
            </a:r>
            <a:endParaRPr lang="en-US" sz="1333" dirty="0">
              <a:latin typeface="Segoe UI (Body)"/>
            </a:endParaRPr>
          </a:p>
        </p:txBody>
      </p:sp>
      <p:sp>
        <p:nvSpPr>
          <p:cNvPr id="81" name="Text 52">
            <a:extLst>
              <a:ext uri="{FF2B5EF4-FFF2-40B4-BE49-F238E27FC236}">
                <a16:creationId xmlns:a16="http://schemas.microsoft.com/office/drawing/2014/main" id="{2318967A-8363-226A-C51D-B39B64CEBDEB}"/>
              </a:ext>
            </a:extLst>
          </p:cNvPr>
          <p:cNvSpPr/>
          <p:nvPr/>
        </p:nvSpPr>
        <p:spPr>
          <a:xfrm>
            <a:off x="6278880" y="4974336"/>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Work IQ Copilot (mcp_M365Copilot) → mitigaciones + links al borrador.</a:t>
            </a:r>
            <a:endParaRPr lang="en-US" sz="1200" dirty="0">
              <a:latin typeface="Segoe UI (Body)"/>
            </a:endParaRPr>
          </a:p>
        </p:txBody>
      </p:sp>
      <p:sp>
        <p:nvSpPr>
          <p:cNvPr id="82" name="Shape 53">
            <a:extLst>
              <a:ext uri="{FF2B5EF4-FFF2-40B4-BE49-F238E27FC236}">
                <a16:creationId xmlns:a16="http://schemas.microsoft.com/office/drawing/2014/main" id="{AF05CD73-4B9E-1469-119C-C70E8A1A8922}"/>
              </a:ext>
            </a:extLst>
          </p:cNvPr>
          <p:cNvSpPr/>
          <p:nvPr/>
        </p:nvSpPr>
        <p:spPr>
          <a:xfrm>
            <a:off x="731520" y="5486400"/>
            <a:ext cx="512064" cy="512064"/>
          </a:xfrm>
          <a:prstGeom prst="ellipse">
            <a:avLst/>
          </a:prstGeom>
          <a:solidFill>
            <a:srgbClr val="161B2E"/>
          </a:solidFill>
          <a:ln w="12700">
            <a:solidFill>
              <a:srgbClr val="F472B6"/>
            </a:solidFill>
            <a:prstDash val="solid"/>
          </a:ln>
        </p:spPr>
        <p:txBody>
          <a:bodyPr/>
          <a:lstStyle/>
          <a:p>
            <a:endParaRPr lang="en-US" sz="2400">
              <a:latin typeface="Segoe UI (Body)"/>
            </a:endParaRPr>
          </a:p>
        </p:txBody>
      </p:sp>
      <p:sp>
        <p:nvSpPr>
          <p:cNvPr id="83" name="Text 54">
            <a:extLst>
              <a:ext uri="{FF2B5EF4-FFF2-40B4-BE49-F238E27FC236}">
                <a16:creationId xmlns:a16="http://schemas.microsoft.com/office/drawing/2014/main" id="{DD7AB0F0-8F3D-25B4-AA12-C571FDF4A5D7}"/>
              </a:ext>
            </a:extLst>
          </p:cNvPr>
          <p:cNvSpPr/>
          <p:nvPr/>
        </p:nvSpPr>
        <p:spPr>
          <a:xfrm>
            <a:off x="731520" y="5486400"/>
            <a:ext cx="512064" cy="512064"/>
          </a:xfrm>
          <a:prstGeom prst="rect">
            <a:avLst/>
          </a:prstGeom>
          <a:noFill/>
          <a:ln/>
        </p:spPr>
        <p:txBody>
          <a:bodyPr wrap="square" lIns="0" tIns="0" rIns="0" bIns="0" rtlCol="0" anchor="ctr"/>
          <a:lstStyle/>
          <a:p>
            <a:pPr algn="ctr"/>
            <a:r>
              <a:rPr lang="en-US" sz="1867" b="1" dirty="0">
                <a:solidFill>
                  <a:srgbClr val="F472B6"/>
                </a:solidFill>
                <a:latin typeface="Segoe UI (Body)"/>
                <a:ea typeface="Calibri" pitchFamily="34" charset="-122"/>
                <a:cs typeface="Calibri" pitchFamily="34" charset="-120"/>
              </a:rPr>
              <a:t>5</a:t>
            </a:r>
            <a:endParaRPr lang="en-US" sz="1867" dirty="0">
              <a:latin typeface="Segoe UI (Body)"/>
            </a:endParaRPr>
          </a:p>
        </p:txBody>
      </p:sp>
      <p:sp>
        <p:nvSpPr>
          <p:cNvPr id="84" name="Text 55">
            <a:extLst>
              <a:ext uri="{FF2B5EF4-FFF2-40B4-BE49-F238E27FC236}">
                <a16:creationId xmlns:a16="http://schemas.microsoft.com/office/drawing/2014/main" id="{0F4D84A8-6BE8-5C81-18AB-0A940BDC1573}"/>
              </a:ext>
            </a:extLst>
          </p:cNvPr>
          <p:cNvSpPr/>
          <p:nvPr/>
        </p:nvSpPr>
        <p:spPr>
          <a:xfrm>
            <a:off x="1341120" y="5449824"/>
            <a:ext cx="0" cy="0"/>
          </a:xfrm>
          <a:prstGeom prst="rect">
            <a:avLst/>
          </a:prstGeom>
          <a:noFill/>
          <a:ln/>
        </p:spPr>
        <p:txBody>
          <a:bodyPr wrap="square" rtlCol="0" anchor="ctr"/>
          <a:lstStyle/>
          <a:p>
            <a:r>
              <a:rPr lang="en-US" sz="133" dirty="0">
                <a:solidFill>
                  <a:srgbClr val="0B1020"/>
                </a:solidFill>
                <a:latin typeface="Segoe UI (Body)"/>
              </a:rPr>
              <a:t>Resumen final</a:t>
            </a:r>
            <a:endParaRPr lang="en-US" sz="133" dirty="0">
              <a:latin typeface="Segoe UI (Body)"/>
            </a:endParaRPr>
          </a:p>
        </p:txBody>
      </p:sp>
      <p:sp>
        <p:nvSpPr>
          <p:cNvPr id="85" name="Shape 56">
            <a:extLst>
              <a:ext uri="{FF2B5EF4-FFF2-40B4-BE49-F238E27FC236}">
                <a16:creationId xmlns:a16="http://schemas.microsoft.com/office/drawing/2014/main" id="{4044BC69-EB7C-2B3D-ED48-81EE9FA58958}"/>
              </a:ext>
            </a:extLst>
          </p:cNvPr>
          <p:cNvSpPr/>
          <p:nvPr/>
        </p:nvSpPr>
        <p:spPr>
          <a:xfrm>
            <a:off x="1341120" y="5388864"/>
            <a:ext cx="4632960" cy="633984"/>
          </a:xfrm>
          <a:prstGeom prst="rect">
            <a:avLst/>
          </a:prstGeom>
          <a:solidFill>
            <a:srgbClr val="161B2E"/>
          </a:solidFill>
          <a:ln w="5080">
            <a:solidFill>
              <a:srgbClr val="22D3EE"/>
            </a:solidFill>
            <a:prstDash val="solid"/>
          </a:ln>
        </p:spPr>
        <p:txBody>
          <a:bodyPr/>
          <a:lstStyle/>
          <a:p>
            <a:endParaRPr lang="en-US" sz="2400">
              <a:latin typeface="Segoe UI (Body)"/>
            </a:endParaRPr>
          </a:p>
        </p:txBody>
      </p:sp>
      <p:sp>
        <p:nvSpPr>
          <p:cNvPr id="86" name="Shape 57">
            <a:extLst>
              <a:ext uri="{FF2B5EF4-FFF2-40B4-BE49-F238E27FC236}">
                <a16:creationId xmlns:a16="http://schemas.microsoft.com/office/drawing/2014/main" id="{EB20167B-B594-D330-B7BC-C65F22A147BE}"/>
              </a:ext>
            </a:extLst>
          </p:cNvPr>
          <p:cNvSpPr/>
          <p:nvPr/>
        </p:nvSpPr>
        <p:spPr>
          <a:xfrm>
            <a:off x="1341120" y="5388864"/>
            <a:ext cx="73152" cy="633984"/>
          </a:xfrm>
          <a:prstGeom prst="rect">
            <a:avLst/>
          </a:prstGeom>
          <a:solidFill>
            <a:srgbClr val="22D3EE"/>
          </a:solidFill>
          <a:ln w="12700">
            <a:solidFill>
              <a:srgbClr val="22D3EE"/>
            </a:solidFill>
            <a:prstDash val="solid"/>
          </a:ln>
        </p:spPr>
        <p:txBody>
          <a:bodyPr/>
          <a:lstStyle/>
          <a:p>
            <a:endParaRPr lang="en-US" sz="2400">
              <a:latin typeface="Segoe UI (Body)"/>
            </a:endParaRPr>
          </a:p>
        </p:txBody>
      </p:sp>
      <p:sp>
        <p:nvSpPr>
          <p:cNvPr id="87" name="Text 58">
            <a:extLst>
              <a:ext uri="{FF2B5EF4-FFF2-40B4-BE49-F238E27FC236}">
                <a16:creationId xmlns:a16="http://schemas.microsoft.com/office/drawing/2014/main" id="{B3D91EF5-900C-107B-F149-384E6DB23BF5}"/>
              </a:ext>
            </a:extLst>
          </p:cNvPr>
          <p:cNvSpPr/>
          <p:nvPr/>
        </p:nvSpPr>
        <p:spPr>
          <a:xfrm>
            <a:off x="1524000" y="5437632"/>
            <a:ext cx="4389120" cy="268224"/>
          </a:xfrm>
          <a:prstGeom prst="rect">
            <a:avLst/>
          </a:prstGeom>
          <a:noFill/>
          <a:ln/>
        </p:spPr>
        <p:txBody>
          <a:bodyPr wrap="square" lIns="0" tIns="0" rIns="0" bIns="0" rtlCol="0" anchor="ctr"/>
          <a:lstStyle/>
          <a:p>
            <a:r>
              <a:rPr lang="en-US" sz="1333" b="1" dirty="0">
                <a:solidFill>
                  <a:srgbClr val="22D3EE"/>
                </a:solidFill>
                <a:latin typeface="Segoe UI (Body)"/>
                <a:ea typeface="Calibri" pitchFamily="34" charset="-122"/>
                <a:cs typeface="Calibri" pitchFamily="34" charset="-120"/>
              </a:rPr>
              <a:t>Resumen final</a:t>
            </a:r>
            <a:endParaRPr lang="en-US" sz="1333" dirty="0">
              <a:latin typeface="Segoe UI (Body)"/>
            </a:endParaRPr>
          </a:p>
        </p:txBody>
      </p:sp>
      <p:sp>
        <p:nvSpPr>
          <p:cNvPr id="88" name="Text 59">
            <a:extLst>
              <a:ext uri="{FF2B5EF4-FFF2-40B4-BE49-F238E27FC236}">
                <a16:creationId xmlns:a16="http://schemas.microsoft.com/office/drawing/2014/main" id="{56121E9C-4221-9BC3-99BE-A8F49CAC4E68}"/>
              </a:ext>
            </a:extLst>
          </p:cNvPr>
          <p:cNvSpPr/>
          <p:nvPr/>
        </p:nvSpPr>
        <p:spPr>
          <a:xfrm>
            <a:off x="1524000" y="5681472"/>
            <a:ext cx="438912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Pide a Copilot un resumen de las acciones realizadas.</a:t>
            </a:r>
            <a:endParaRPr lang="en-US" sz="1200" dirty="0">
              <a:latin typeface="Segoe UI (Body)"/>
            </a:endParaRPr>
          </a:p>
        </p:txBody>
      </p:sp>
      <p:sp>
        <p:nvSpPr>
          <p:cNvPr id="89" name="Shape 60">
            <a:extLst>
              <a:ext uri="{FF2B5EF4-FFF2-40B4-BE49-F238E27FC236}">
                <a16:creationId xmlns:a16="http://schemas.microsoft.com/office/drawing/2014/main" id="{18713558-24DC-C958-78D1-1BB41DFABC0B}"/>
              </a:ext>
            </a:extLst>
          </p:cNvPr>
          <p:cNvSpPr/>
          <p:nvPr/>
        </p:nvSpPr>
        <p:spPr>
          <a:xfrm>
            <a:off x="6096000" y="5388864"/>
            <a:ext cx="5242560" cy="633984"/>
          </a:xfrm>
          <a:prstGeom prst="rect">
            <a:avLst/>
          </a:prstGeom>
          <a:solidFill>
            <a:srgbClr val="161B2E"/>
          </a:solidFill>
          <a:ln w="5080">
            <a:solidFill>
              <a:srgbClr val="A78BFA"/>
            </a:solidFill>
            <a:prstDash val="solid"/>
          </a:ln>
        </p:spPr>
        <p:txBody>
          <a:bodyPr/>
          <a:lstStyle/>
          <a:p>
            <a:endParaRPr lang="en-US" sz="2400">
              <a:latin typeface="Segoe UI (Body)"/>
            </a:endParaRPr>
          </a:p>
        </p:txBody>
      </p:sp>
      <p:sp>
        <p:nvSpPr>
          <p:cNvPr id="90" name="Shape 61">
            <a:extLst>
              <a:ext uri="{FF2B5EF4-FFF2-40B4-BE49-F238E27FC236}">
                <a16:creationId xmlns:a16="http://schemas.microsoft.com/office/drawing/2014/main" id="{F8570E61-040C-9AEC-6CCC-796BC8CD4BAC}"/>
              </a:ext>
            </a:extLst>
          </p:cNvPr>
          <p:cNvSpPr/>
          <p:nvPr/>
        </p:nvSpPr>
        <p:spPr>
          <a:xfrm>
            <a:off x="6096000" y="5388864"/>
            <a:ext cx="73152" cy="633984"/>
          </a:xfrm>
          <a:prstGeom prst="rect">
            <a:avLst/>
          </a:prstGeom>
          <a:solidFill>
            <a:srgbClr val="A78BFA"/>
          </a:solidFill>
          <a:ln w="12700">
            <a:solidFill>
              <a:srgbClr val="A78BFA"/>
            </a:solidFill>
            <a:prstDash val="solid"/>
          </a:ln>
        </p:spPr>
        <p:txBody>
          <a:bodyPr/>
          <a:lstStyle/>
          <a:p>
            <a:endParaRPr lang="en-US" sz="2400">
              <a:latin typeface="Segoe UI (Body)"/>
            </a:endParaRPr>
          </a:p>
        </p:txBody>
      </p:sp>
      <p:sp>
        <p:nvSpPr>
          <p:cNvPr id="91" name="Text 62">
            <a:extLst>
              <a:ext uri="{FF2B5EF4-FFF2-40B4-BE49-F238E27FC236}">
                <a16:creationId xmlns:a16="http://schemas.microsoft.com/office/drawing/2014/main" id="{05D7D56C-CABC-37E6-90BF-1B6A11D40092}"/>
              </a:ext>
            </a:extLst>
          </p:cNvPr>
          <p:cNvSpPr/>
          <p:nvPr/>
        </p:nvSpPr>
        <p:spPr>
          <a:xfrm>
            <a:off x="6278880" y="5437632"/>
            <a:ext cx="4937760" cy="268224"/>
          </a:xfrm>
          <a:prstGeom prst="rect">
            <a:avLst/>
          </a:prstGeom>
          <a:noFill/>
          <a:ln/>
        </p:spPr>
        <p:txBody>
          <a:bodyPr wrap="square" lIns="0" tIns="0" rIns="0" bIns="0" rtlCol="0" anchor="ctr"/>
          <a:lstStyle/>
          <a:p>
            <a:r>
              <a:rPr lang="en-US" sz="1333" b="1" dirty="0">
                <a:solidFill>
                  <a:srgbClr val="A78BFA"/>
                </a:solidFill>
                <a:latin typeface="Segoe UI (Body)"/>
                <a:ea typeface="Calibri" pitchFamily="34" charset="-122"/>
                <a:cs typeface="Calibri" pitchFamily="34" charset="-120"/>
              </a:rPr>
              <a:t>Resumen final</a:t>
            </a:r>
            <a:endParaRPr lang="en-US" sz="1333" dirty="0">
              <a:latin typeface="Segoe UI (Body)"/>
            </a:endParaRPr>
          </a:p>
        </p:txBody>
      </p:sp>
      <p:sp>
        <p:nvSpPr>
          <p:cNvPr id="92" name="Text 63">
            <a:extLst>
              <a:ext uri="{FF2B5EF4-FFF2-40B4-BE49-F238E27FC236}">
                <a16:creationId xmlns:a16="http://schemas.microsoft.com/office/drawing/2014/main" id="{E39DD50F-3D8E-B41D-B8E3-1C42D6209768}"/>
              </a:ext>
            </a:extLst>
          </p:cNvPr>
          <p:cNvSpPr/>
          <p:nvPr/>
        </p:nvSpPr>
        <p:spPr>
          <a:xfrm>
            <a:off x="6278880" y="5681472"/>
            <a:ext cx="4937760" cy="365760"/>
          </a:xfrm>
          <a:prstGeom prst="rect">
            <a:avLst/>
          </a:prstGeom>
          <a:noFill/>
          <a:ln/>
        </p:spPr>
        <p:txBody>
          <a:bodyPr wrap="square" lIns="0" tIns="0" rIns="0" bIns="0" rtlCol="0" anchor="ctr"/>
          <a:lstStyle/>
          <a:p>
            <a:r>
              <a:rPr lang="en-US" sz="1200" dirty="0">
                <a:solidFill>
                  <a:srgbClr val="E5E7EB"/>
                </a:solidFill>
                <a:latin typeface="Segoe UI (Body)"/>
                <a:ea typeface="Calibri" pitchFamily="34" charset="-122"/>
                <a:cs typeface="Calibri" pitchFamily="34" charset="-120"/>
              </a:rPr>
              <a:t>Genera bullets para ServiceNow y confirma estado del borrador.</a:t>
            </a:r>
            <a:endParaRPr lang="en-US" sz="1200" dirty="0">
              <a:latin typeface="Segoe UI (Body)"/>
            </a:endParaRPr>
          </a:p>
        </p:txBody>
      </p:sp>
      <p:sp>
        <p:nvSpPr>
          <p:cNvPr id="93" name="Text 64">
            <a:extLst>
              <a:ext uri="{FF2B5EF4-FFF2-40B4-BE49-F238E27FC236}">
                <a16:creationId xmlns:a16="http://schemas.microsoft.com/office/drawing/2014/main" id="{13251CE1-C26E-B1CC-992A-C473AB5AD534}"/>
              </a:ext>
            </a:extLst>
          </p:cNvPr>
          <p:cNvSpPr/>
          <p:nvPr/>
        </p:nvSpPr>
        <p:spPr>
          <a:xfrm>
            <a:off x="731520" y="6156960"/>
            <a:ext cx="10607040" cy="243840"/>
          </a:xfrm>
          <a:prstGeom prst="rect">
            <a:avLst/>
          </a:prstGeom>
          <a:noFill/>
          <a:ln/>
        </p:spPr>
        <p:txBody>
          <a:bodyPr wrap="square" lIns="0" tIns="0" rIns="0" bIns="0" rtlCol="0" anchor="ctr"/>
          <a:lstStyle/>
          <a:p>
            <a:r>
              <a:rPr lang="en-US" sz="1333" b="1" dirty="0">
                <a:solidFill>
                  <a:srgbClr val="F472B6"/>
                </a:solidFill>
                <a:latin typeface="Segoe UI (Body)"/>
                <a:ea typeface="Calibri" pitchFamily="34" charset="-122"/>
                <a:cs typeface="Calibri" pitchFamily="34" charset="-120"/>
              </a:rPr>
              <a:t>▼  </a:t>
            </a:r>
            <a:r>
              <a:rPr lang="en-US" sz="1333" i="1" dirty="0">
                <a:solidFill>
                  <a:srgbClr val="94A3B8"/>
                </a:solidFill>
                <a:latin typeface="Segoe UI (Body)"/>
                <a:ea typeface="Calibri" pitchFamily="34" charset="-122"/>
                <a:cs typeface="Calibri" pitchFamily="34" charset="-120"/>
              </a:rPr>
              <a:t>Ambas superficies se apoyan en la misma capa de inteligencia: </a:t>
            </a:r>
            <a:r>
              <a:rPr lang="en-US" sz="1333" b="1" dirty="0">
                <a:solidFill>
                  <a:srgbClr val="F472B6"/>
                </a:solidFill>
                <a:latin typeface="Segoe UI (Body)"/>
                <a:ea typeface="Calibri" pitchFamily="34" charset="-122"/>
                <a:cs typeface="Calibri" pitchFamily="34" charset="-120"/>
              </a:rPr>
              <a:t>Work IQ (Datos · Contexto · Skills &amp; Tools)</a:t>
            </a:r>
            <a:endParaRPr lang="en-US" sz="1333" dirty="0">
              <a:latin typeface="Segoe UI (Body)"/>
            </a:endParaRPr>
          </a:p>
        </p:txBody>
      </p:sp>
      <p:pic>
        <p:nvPicPr>
          <p:cNvPr id="2" name="Picture Placeholder 3">
            <a:extLst>
              <a:ext uri="{FF2B5EF4-FFF2-40B4-BE49-F238E27FC236}">
                <a16:creationId xmlns:a16="http://schemas.microsoft.com/office/drawing/2014/main" id="{C701DCA0-2F94-6440-C707-6301154DE985}"/>
              </a:ext>
            </a:extLst>
          </p:cNvPr>
          <p:cNvPicPr>
            <a:picLocks noChangeAspect="1"/>
          </p:cNvPicPr>
          <p:nvPr/>
        </p:nvPicPr>
        <p:blipFill>
          <a:blip r:embed="rId4"/>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302749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69C87F-1476-42D1-465B-840209992A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CA196A3-76B2-9EF3-EC77-F65C1DD440F6}"/>
              </a:ext>
            </a:extLst>
          </p:cNvPr>
          <p:cNvSpPr>
            <a:spLocks noGrp="1"/>
          </p:cNvSpPr>
          <p:nvPr>
            <p:ph type="title"/>
          </p:nvPr>
        </p:nvSpPr>
        <p:spPr/>
        <p:txBody>
          <a:bodyPr/>
          <a:lstStyle/>
          <a:p>
            <a:r>
              <a:rPr lang="es-ES" dirty="0"/>
              <a:t>Work IQ en la práctica: Escenario de Demo</a:t>
            </a:r>
            <a:endParaRPr lang="en-US" dirty="0"/>
          </a:p>
        </p:txBody>
      </p:sp>
      <p:sp>
        <p:nvSpPr>
          <p:cNvPr id="2" name="Pentagon 32">
            <a:extLst>
              <a:ext uri="{FF2B5EF4-FFF2-40B4-BE49-F238E27FC236}">
                <a16:creationId xmlns:a16="http://schemas.microsoft.com/office/drawing/2014/main" id="{C1B53ECA-391E-4E95-A558-3E25C8232C67}"/>
              </a:ext>
            </a:extLst>
          </p:cNvPr>
          <p:cNvSpPr/>
          <p:nvPr/>
        </p:nvSpPr>
        <p:spPr>
          <a:xfrm>
            <a:off x="2575467" y="1972354"/>
            <a:ext cx="4621585" cy="859771"/>
          </a:xfrm>
          <a:prstGeom prst="homePlate">
            <a:avLst>
              <a:gd name="adj" fmla="val 41466"/>
            </a:avLst>
          </a:prstGeom>
          <a:solidFill>
            <a:srgbClr val="FE5335"/>
          </a:solidFill>
          <a:ln w="12700" cap="flat" cmpd="sng" algn="ctr">
            <a:noFill/>
            <a:prstDash val="solid"/>
            <a:miter lim="800000"/>
          </a:ln>
          <a:effectLst/>
        </p:spPr>
        <p:txBody>
          <a:bodyPr lIns="137160" rIns="2743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1">
                <a:ln>
                  <a:noFill/>
                </a:ln>
                <a:solidFill>
                  <a:srgbClr val="FFFFFF"/>
                </a:solidFill>
                <a:effectLst/>
                <a:uLnTx/>
                <a:uFillTx/>
                <a:latin typeface="Calibri" panose="020F0502020204030204"/>
                <a:ea typeface="+mn-ea"/>
                <a:cs typeface="+mn-cs"/>
              </a:rPr>
              <a:t>Read email threads and summarize content</a:t>
            </a:r>
          </a:p>
        </p:txBody>
      </p:sp>
      <p:sp>
        <p:nvSpPr>
          <p:cNvPr id="3" name="Rectangle 2">
            <a:extLst>
              <a:ext uri="{FF2B5EF4-FFF2-40B4-BE49-F238E27FC236}">
                <a16:creationId xmlns:a16="http://schemas.microsoft.com/office/drawing/2014/main" id="{D3575DEB-496F-6169-6834-B06DACF8E71D}"/>
              </a:ext>
            </a:extLst>
          </p:cNvPr>
          <p:cNvSpPr/>
          <p:nvPr/>
        </p:nvSpPr>
        <p:spPr>
          <a:xfrm>
            <a:off x="1045447" y="1640660"/>
            <a:ext cx="887455" cy="859771"/>
          </a:xfrm>
          <a:prstGeom prst="rect">
            <a:avLst/>
          </a:prstGeom>
          <a:solidFill>
            <a:srgbClr val="FE5335"/>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Calibri" panose="020F0502020204030204"/>
                <a:ea typeface="+mn-ea"/>
                <a:cs typeface="+mn-cs"/>
              </a:rPr>
              <a:t>01</a:t>
            </a:r>
          </a:p>
        </p:txBody>
      </p:sp>
      <p:sp>
        <p:nvSpPr>
          <p:cNvPr id="5" name="Parallelogram 4">
            <a:extLst>
              <a:ext uri="{FF2B5EF4-FFF2-40B4-BE49-F238E27FC236}">
                <a16:creationId xmlns:a16="http://schemas.microsoft.com/office/drawing/2014/main" id="{0535909A-3AD1-72FD-09FA-EFD2EA9916AA}"/>
              </a:ext>
            </a:extLst>
          </p:cNvPr>
          <p:cNvSpPr/>
          <p:nvPr/>
        </p:nvSpPr>
        <p:spPr>
          <a:xfrm rot="16200000">
            <a:off x="1658453" y="1915111"/>
            <a:ext cx="1191465" cy="642566"/>
          </a:xfrm>
          <a:prstGeom prst="parallelogram">
            <a:avLst>
              <a:gd name="adj" fmla="val 51619"/>
            </a:avLst>
          </a:prstGeom>
          <a:solidFill>
            <a:srgbClr val="F15F47">
              <a:lumMod val="75000"/>
            </a:srgbClr>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Pentagon 32">
            <a:extLst>
              <a:ext uri="{FF2B5EF4-FFF2-40B4-BE49-F238E27FC236}">
                <a16:creationId xmlns:a16="http://schemas.microsoft.com/office/drawing/2014/main" id="{65391B27-2F8C-0A64-6AAC-487737296953}"/>
              </a:ext>
            </a:extLst>
          </p:cNvPr>
          <p:cNvSpPr/>
          <p:nvPr/>
        </p:nvSpPr>
        <p:spPr>
          <a:xfrm>
            <a:off x="2575467" y="2947039"/>
            <a:ext cx="4621585" cy="859771"/>
          </a:xfrm>
          <a:prstGeom prst="homePlate">
            <a:avLst>
              <a:gd name="adj" fmla="val 41466"/>
            </a:avLst>
          </a:prstGeom>
          <a:solidFill>
            <a:srgbClr val="FBA91E"/>
          </a:solidFill>
          <a:ln w="12700" cap="flat" cmpd="sng" algn="ctr">
            <a:noFill/>
            <a:prstDash val="solid"/>
            <a:miter lim="800000"/>
          </a:ln>
          <a:effectLst/>
        </p:spPr>
        <p:txBody>
          <a:bodyPr lIns="137160" rIns="2743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noProof="1">
                <a:solidFill>
                  <a:srgbClr val="000000">
                    <a:lumMod val="85000"/>
                    <a:lumOff val="15000"/>
                  </a:srgbClr>
                </a:solidFill>
                <a:latin typeface="Calibri" panose="020F0502020204030204"/>
              </a:rPr>
              <a:t>Look up incident in ServiceNow. Summarize status, priority and assignee.</a:t>
            </a:r>
            <a:endParaRPr kumimoji="0" lang="en-US" b="0" i="0" u="none" strike="noStrike" kern="1200" cap="none" spc="0" normalizeH="0" baseline="0" noProof="1">
              <a:ln>
                <a:noFill/>
              </a:ln>
              <a:solidFill>
                <a:srgbClr val="000000">
                  <a:lumMod val="85000"/>
                  <a:lumOff val="15000"/>
                </a:srgbClr>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C426C22-6714-6469-E111-F81E68DC4249}"/>
              </a:ext>
            </a:extLst>
          </p:cNvPr>
          <p:cNvSpPr/>
          <p:nvPr/>
        </p:nvSpPr>
        <p:spPr>
          <a:xfrm>
            <a:off x="1045447" y="2615345"/>
            <a:ext cx="887455" cy="859771"/>
          </a:xfrm>
          <a:prstGeom prst="rect">
            <a:avLst/>
          </a:prstGeom>
          <a:solidFill>
            <a:srgbClr val="FBA91E"/>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lumMod val="85000"/>
                    <a:lumOff val="15000"/>
                  </a:srgbClr>
                </a:solidFill>
                <a:effectLst/>
                <a:uLnTx/>
                <a:uFillTx/>
                <a:latin typeface="Calibri" panose="020F0502020204030204"/>
                <a:ea typeface="+mn-ea"/>
                <a:cs typeface="+mn-cs"/>
              </a:rPr>
              <a:t>02</a:t>
            </a:r>
          </a:p>
        </p:txBody>
      </p:sp>
      <p:sp>
        <p:nvSpPr>
          <p:cNvPr id="9" name="Parallelogram 8">
            <a:extLst>
              <a:ext uri="{FF2B5EF4-FFF2-40B4-BE49-F238E27FC236}">
                <a16:creationId xmlns:a16="http://schemas.microsoft.com/office/drawing/2014/main" id="{9A67C193-8272-8C75-39C4-6CB967710F58}"/>
              </a:ext>
            </a:extLst>
          </p:cNvPr>
          <p:cNvSpPr/>
          <p:nvPr/>
        </p:nvSpPr>
        <p:spPr>
          <a:xfrm rot="16200000">
            <a:off x="1658453" y="2889796"/>
            <a:ext cx="1191465" cy="642566"/>
          </a:xfrm>
          <a:prstGeom prst="parallelogram">
            <a:avLst>
              <a:gd name="adj" fmla="val 51619"/>
            </a:avLst>
          </a:prstGeom>
          <a:solidFill>
            <a:srgbClr val="FBA91E">
              <a:lumMod val="75000"/>
            </a:srgbClr>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Pentagon 32">
            <a:extLst>
              <a:ext uri="{FF2B5EF4-FFF2-40B4-BE49-F238E27FC236}">
                <a16:creationId xmlns:a16="http://schemas.microsoft.com/office/drawing/2014/main" id="{587A3AE2-802F-9B3E-E606-FD2E24C505F8}"/>
              </a:ext>
            </a:extLst>
          </p:cNvPr>
          <p:cNvSpPr/>
          <p:nvPr/>
        </p:nvSpPr>
        <p:spPr>
          <a:xfrm>
            <a:off x="2575467" y="3921725"/>
            <a:ext cx="4621585" cy="859771"/>
          </a:xfrm>
          <a:prstGeom prst="homePlate">
            <a:avLst>
              <a:gd name="adj" fmla="val 41466"/>
            </a:avLst>
          </a:prstGeom>
          <a:solidFill>
            <a:srgbClr val="6EA56C"/>
          </a:solidFill>
          <a:ln w="12700" cap="flat" cmpd="sng" algn="ctr">
            <a:noFill/>
            <a:prstDash val="solid"/>
            <a:miter lim="800000"/>
          </a:ln>
          <a:effectLst/>
        </p:spPr>
        <p:txBody>
          <a:bodyPr lIns="137160" rIns="2743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1">
                <a:ln>
                  <a:noFill/>
                </a:ln>
                <a:solidFill>
                  <a:srgbClr val="FFFFFF"/>
                </a:solidFill>
                <a:effectLst/>
                <a:uLnTx/>
                <a:uFillTx/>
                <a:latin typeface="Calibri" panose="020F0502020204030204"/>
                <a:ea typeface="+mn-ea"/>
                <a:cs typeface="+mn-cs"/>
              </a:rPr>
              <a:t>Find a 30-minute slot with the team</a:t>
            </a:r>
          </a:p>
        </p:txBody>
      </p:sp>
      <p:sp>
        <p:nvSpPr>
          <p:cNvPr id="11" name="Rectangle 10">
            <a:extLst>
              <a:ext uri="{FF2B5EF4-FFF2-40B4-BE49-F238E27FC236}">
                <a16:creationId xmlns:a16="http://schemas.microsoft.com/office/drawing/2014/main" id="{105E4F4E-D3EB-F8A3-10BF-8CACBB4F95DC}"/>
              </a:ext>
            </a:extLst>
          </p:cNvPr>
          <p:cNvSpPr/>
          <p:nvPr/>
        </p:nvSpPr>
        <p:spPr>
          <a:xfrm>
            <a:off x="1045447" y="3590031"/>
            <a:ext cx="887455" cy="859771"/>
          </a:xfrm>
          <a:prstGeom prst="rect">
            <a:avLst/>
          </a:prstGeom>
          <a:solidFill>
            <a:srgbClr val="6EA56C"/>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Calibri" panose="020F0502020204030204"/>
                <a:ea typeface="+mn-ea"/>
                <a:cs typeface="+mn-cs"/>
              </a:rPr>
              <a:t>03</a:t>
            </a:r>
          </a:p>
        </p:txBody>
      </p:sp>
      <p:sp>
        <p:nvSpPr>
          <p:cNvPr id="12" name="Parallelogram 11">
            <a:extLst>
              <a:ext uri="{FF2B5EF4-FFF2-40B4-BE49-F238E27FC236}">
                <a16:creationId xmlns:a16="http://schemas.microsoft.com/office/drawing/2014/main" id="{C332EF0F-B850-4BE8-2B9C-E658CD1116B2}"/>
              </a:ext>
            </a:extLst>
          </p:cNvPr>
          <p:cNvSpPr/>
          <p:nvPr/>
        </p:nvSpPr>
        <p:spPr>
          <a:xfrm rot="16200000">
            <a:off x="1658453" y="3864481"/>
            <a:ext cx="1191465" cy="642566"/>
          </a:xfrm>
          <a:prstGeom prst="parallelogram">
            <a:avLst>
              <a:gd name="adj" fmla="val 51619"/>
            </a:avLst>
          </a:prstGeom>
          <a:solidFill>
            <a:srgbClr val="6EA56C">
              <a:lumMod val="75000"/>
            </a:srgbClr>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Pentagon 32">
            <a:extLst>
              <a:ext uri="{FF2B5EF4-FFF2-40B4-BE49-F238E27FC236}">
                <a16:creationId xmlns:a16="http://schemas.microsoft.com/office/drawing/2014/main" id="{3A58D7BA-4AF8-779A-02E8-D6530C119D28}"/>
              </a:ext>
            </a:extLst>
          </p:cNvPr>
          <p:cNvSpPr/>
          <p:nvPr/>
        </p:nvSpPr>
        <p:spPr>
          <a:xfrm>
            <a:off x="2575467" y="4896410"/>
            <a:ext cx="4621585" cy="859771"/>
          </a:xfrm>
          <a:prstGeom prst="homePlate">
            <a:avLst>
              <a:gd name="adj" fmla="val 41466"/>
            </a:avLst>
          </a:prstGeom>
          <a:solidFill>
            <a:srgbClr val="3AC6E1"/>
          </a:solidFill>
          <a:ln w="12700" cap="flat" cmpd="sng" algn="ctr">
            <a:noFill/>
            <a:prstDash val="solid"/>
            <a:miter lim="800000"/>
          </a:ln>
          <a:effectLst/>
        </p:spPr>
        <p:txBody>
          <a:bodyPr lIns="137160" rIns="2743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1">
                <a:ln>
                  <a:noFill/>
                </a:ln>
                <a:solidFill>
                  <a:srgbClr val="000000">
                    <a:lumMod val="85000"/>
                    <a:lumOff val="15000"/>
                  </a:srgbClr>
                </a:solidFill>
                <a:effectLst/>
                <a:uLnTx/>
                <a:uFillTx/>
                <a:latin typeface="Calibri" panose="020F0502020204030204"/>
                <a:ea typeface="+mn-ea"/>
                <a:cs typeface="+mn-cs"/>
              </a:rPr>
              <a:t>Search across M365 for any knowledge about the issue</a:t>
            </a:r>
          </a:p>
        </p:txBody>
      </p:sp>
      <p:sp>
        <p:nvSpPr>
          <p:cNvPr id="14" name="Rectangle 13">
            <a:extLst>
              <a:ext uri="{FF2B5EF4-FFF2-40B4-BE49-F238E27FC236}">
                <a16:creationId xmlns:a16="http://schemas.microsoft.com/office/drawing/2014/main" id="{4326222E-6BC1-5FB8-90DE-E6D192C0AD32}"/>
              </a:ext>
            </a:extLst>
          </p:cNvPr>
          <p:cNvSpPr/>
          <p:nvPr/>
        </p:nvSpPr>
        <p:spPr>
          <a:xfrm>
            <a:off x="1045447" y="4564715"/>
            <a:ext cx="887455" cy="859771"/>
          </a:xfrm>
          <a:prstGeom prst="rect">
            <a:avLst/>
          </a:prstGeom>
          <a:solidFill>
            <a:srgbClr val="3AC6E1"/>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lumMod val="85000"/>
                    <a:lumOff val="15000"/>
                  </a:srgbClr>
                </a:solidFill>
                <a:effectLst/>
                <a:uLnTx/>
                <a:uFillTx/>
                <a:latin typeface="Calibri" panose="020F0502020204030204"/>
                <a:ea typeface="+mn-ea"/>
                <a:cs typeface="+mn-cs"/>
              </a:rPr>
              <a:t>04</a:t>
            </a:r>
          </a:p>
        </p:txBody>
      </p:sp>
      <p:sp>
        <p:nvSpPr>
          <p:cNvPr id="15" name="Parallelogram 14">
            <a:extLst>
              <a:ext uri="{FF2B5EF4-FFF2-40B4-BE49-F238E27FC236}">
                <a16:creationId xmlns:a16="http://schemas.microsoft.com/office/drawing/2014/main" id="{8CB39780-5941-7B3E-DE5C-517D16DF586F}"/>
              </a:ext>
            </a:extLst>
          </p:cNvPr>
          <p:cNvSpPr/>
          <p:nvPr/>
        </p:nvSpPr>
        <p:spPr>
          <a:xfrm rot="16200000">
            <a:off x="1658453" y="4839166"/>
            <a:ext cx="1191465" cy="642566"/>
          </a:xfrm>
          <a:prstGeom prst="parallelogram">
            <a:avLst>
              <a:gd name="adj" fmla="val 51619"/>
            </a:avLst>
          </a:prstGeom>
          <a:solidFill>
            <a:srgbClr val="3AC6E1">
              <a:lumMod val="75000"/>
            </a:srgbClr>
          </a:solidFill>
          <a:ln w="12700" cap="flat" cmpd="sng" algn="ctr">
            <a:noFill/>
            <a:prstDash val="solid"/>
            <a:miter lim="800000"/>
          </a:ln>
          <a:effectLst/>
        </p:spPr>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A91325B4-671F-05E6-8229-0C0003EC3596}"/>
              </a:ext>
            </a:extLst>
          </p:cNvPr>
          <p:cNvPicPr>
            <a:picLocks noChangeAspect="1"/>
          </p:cNvPicPr>
          <p:nvPr/>
        </p:nvPicPr>
        <p:blipFill>
          <a:blip r:embed="rId3"/>
          <a:stretch>
            <a:fillRect/>
          </a:stretch>
        </p:blipFill>
        <p:spPr>
          <a:xfrm>
            <a:off x="7322305" y="2032749"/>
            <a:ext cx="2633265" cy="738979"/>
          </a:xfrm>
          <a:prstGeom prst="rect">
            <a:avLst/>
          </a:prstGeom>
        </p:spPr>
      </p:pic>
      <p:pic>
        <p:nvPicPr>
          <p:cNvPr id="17" name="Picture 16">
            <a:extLst>
              <a:ext uri="{FF2B5EF4-FFF2-40B4-BE49-F238E27FC236}">
                <a16:creationId xmlns:a16="http://schemas.microsoft.com/office/drawing/2014/main" id="{0FA6CA10-1396-5B53-4E40-4106B7876FA5}"/>
              </a:ext>
            </a:extLst>
          </p:cNvPr>
          <p:cNvPicPr>
            <a:picLocks noChangeAspect="1"/>
          </p:cNvPicPr>
          <p:nvPr/>
        </p:nvPicPr>
        <p:blipFill>
          <a:blip r:embed="rId4"/>
          <a:stretch>
            <a:fillRect/>
          </a:stretch>
        </p:blipFill>
        <p:spPr>
          <a:xfrm>
            <a:off x="7416416" y="4956081"/>
            <a:ext cx="2817741" cy="800100"/>
          </a:xfrm>
          <a:prstGeom prst="rect">
            <a:avLst/>
          </a:prstGeom>
        </p:spPr>
      </p:pic>
      <p:pic>
        <p:nvPicPr>
          <p:cNvPr id="18" name="Picture 17">
            <a:extLst>
              <a:ext uri="{FF2B5EF4-FFF2-40B4-BE49-F238E27FC236}">
                <a16:creationId xmlns:a16="http://schemas.microsoft.com/office/drawing/2014/main" id="{0D4FC91B-1429-DACC-2544-5E3221A34F3A}"/>
              </a:ext>
            </a:extLst>
          </p:cNvPr>
          <p:cNvPicPr>
            <a:picLocks noChangeAspect="1"/>
          </p:cNvPicPr>
          <p:nvPr/>
        </p:nvPicPr>
        <p:blipFill>
          <a:blip r:embed="rId5"/>
          <a:stretch>
            <a:fillRect/>
          </a:stretch>
        </p:blipFill>
        <p:spPr>
          <a:xfrm>
            <a:off x="7380113" y="3879544"/>
            <a:ext cx="2631908" cy="800100"/>
          </a:xfrm>
          <a:prstGeom prst="rect">
            <a:avLst/>
          </a:prstGeom>
        </p:spPr>
      </p:pic>
      <p:pic>
        <p:nvPicPr>
          <p:cNvPr id="19" name="Picture 18">
            <a:extLst>
              <a:ext uri="{FF2B5EF4-FFF2-40B4-BE49-F238E27FC236}">
                <a16:creationId xmlns:a16="http://schemas.microsoft.com/office/drawing/2014/main" id="{73911862-4C92-8D7F-DC10-C3AB57FD0075}"/>
              </a:ext>
            </a:extLst>
          </p:cNvPr>
          <p:cNvPicPr>
            <a:picLocks noChangeAspect="1"/>
          </p:cNvPicPr>
          <p:nvPr/>
        </p:nvPicPr>
        <p:blipFill>
          <a:blip r:embed="rId6"/>
          <a:stretch>
            <a:fillRect/>
          </a:stretch>
        </p:blipFill>
        <p:spPr>
          <a:xfrm>
            <a:off x="7380113" y="2968678"/>
            <a:ext cx="2517650" cy="800100"/>
          </a:xfrm>
          <a:prstGeom prst="rect">
            <a:avLst/>
          </a:prstGeom>
        </p:spPr>
      </p:pic>
      <p:sp>
        <p:nvSpPr>
          <p:cNvPr id="30" name="TextBox 29">
            <a:extLst>
              <a:ext uri="{FF2B5EF4-FFF2-40B4-BE49-F238E27FC236}">
                <a16:creationId xmlns:a16="http://schemas.microsoft.com/office/drawing/2014/main" id="{3719A5BC-E262-2A28-0AD4-A46A425F660A}"/>
              </a:ext>
            </a:extLst>
          </p:cNvPr>
          <p:cNvSpPr txBox="1"/>
          <p:nvPr/>
        </p:nvSpPr>
        <p:spPr>
          <a:xfrm>
            <a:off x="850766" y="985028"/>
            <a:ext cx="10820399" cy="369332"/>
          </a:xfrm>
          <a:prstGeom prst="rect">
            <a:avLst/>
          </a:prstGeom>
          <a:noFill/>
        </p:spPr>
        <p:txBody>
          <a:bodyPr wrap="square">
            <a:spAutoFit/>
          </a:bodyPr>
          <a:lstStyle/>
          <a:p>
            <a:r>
              <a:rPr lang="en-GB" b="1" dirty="0"/>
              <a:t>Incident Assistant Agent</a:t>
            </a:r>
            <a:endParaRPr lang="en-GB" dirty="0"/>
          </a:p>
        </p:txBody>
      </p:sp>
      <p:pic>
        <p:nvPicPr>
          <p:cNvPr id="31" name="Picture Placeholder 3">
            <a:extLst>
              <a:ext uri="{FF2B5EF4-FFF2-40B4-BE49-F238E27FC236}">
                <a16:creationId xmlns:a16="http://schemas.microsoft.com/office/drawing/2014/main" id="{841E5622-3371-0D50-0DF3-8B1EA79679A9}"/>
              </a:ext>
            </a:extLst>
          </p:cNvPr>
          <p:cNvPicPr>
            <a:picLocks noChangeAspect="1"/>
          </p:cNvPicPr>
          <p:nvPr/>
        </p:nvPicPr>
        <p:blipFill>
          <a:blip r:embed="rId7"/>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1065849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9569D-3107-1C20-7008-F013A21C3A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F77C6AB-11A2-DEFB-A1D9-61C2A7A12B82}"/>
              </a:ext>
            </a:extLst>
          </p:cNvPr>
          <p:cNvSpPr>
            <a:spLocks noGrp="1"/>
          </p:cNvSpPr>
          <p:nvPr>
            <p:ph type="body" sz="quarter" idx="4294967295"/>
          </p:nvPr>
        </p:nvSpPr>
        <p:spPr>
          <a:xfrm>
            <a:off x="3827463" y="1389063"/>
            <a:ext cx="8364537" cy="4017962"/>
          </a:xfrm>
        </p:spPr>
        <p:txBody>
          <a:bodyPr/>
          <a:lstStyle/>
          <a:p>
            <a:endParaRPr lang="en-US" sz="1800"/>
          </a:p>
          <a:p>
            <a:endParaRPr lang="en-US" sz="1800"/>
          </a:p>
        </p:txBody>
      </p:sp>
      <p:pic>
        <p:nvPicPr>
          <p:cNvPr id="8" name="Imagen 2">
            <a:extLst>
              <a:ext uri="{FF2B5EF4-FFF2-40B4-BE49-F238E27FC236}">
                <a16:creationId xmlns:a16="http://schemas.microsoft.com/office/drawing/2014/main" id="{99A989F7-93EC-283D-B979-A801BCADC3C1}"/>
              </a:ext>
            </a:extLst>
          </p:cNvPr>
          <p:cNvPicPr>
            <a:picLocks noChangeAspect="1"/>
          </p:cNvPicPr>
          <p:nvPr/>
        </p:nvPicPr>
        <p:blipFill rotWithShape="1">
          <a:blip r:embed="rId2">
            <a:extLst>
              <a:ext uri="{28A0092B-C50C-407E-A947-70E740481C1C}">
                <a14:useLocalDpi xmlns:a14="http://schemas.microsoft.com/office/drawing/2010/main" val="0"/>
              </a:ext>
            </a:extLst>
          </a:blip>
          <a:srcRect l="9271" b="6950"/>
          <a:stretch/>
        </p:blipFill>
        <p:spPr>
          <a:xfrm>
            <a:off x="8484899" y="371356"/>
            <a:ext cx="2901552" cy="2904591"/>
          </a:xfrm>
          <a:prstGeom prst="rect">
            <a:avLst/>
          </a:prstGeom>
        </p:spPr>
      </p:pic>
      <p:sp>
        <p:nvSpPr>
          <p:cNvPr id="9" name="Marcador de texto 4">
            <a:extLst>
              <a:ext uri="{FF2B5EF4-FFF2-40B4-BE49-F238E27FC236}">
                <a16:creationId xmlns:a16="http://schemas.microsoft.com/office/drawing/2014/main" id="{6EC8E692-CF7D-2DB3-C8BE-09374F559812}"/>
              </a:ext>
            </a:extLst>
          </p:cNvPr>
          <p:cNvSpPr txBox="1">
            <a:spLocks/>
          </p:cNvSpPr>
          <p:nvPr/>
        </p:nvSpPr>
        <p:spPr>
          <a:xfrm>
            <a:off x="5403809" y="3984892"/>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Demo #2: Work IQ </a:t>
            </a:r>
            <a:r>
              <a:rPr kumimoji="0" lang="en-US" sz="3600" b="1" i="0" u="none" strike="noStrike" kern="1200" cap="none" spc="0" normalizeH="0" baseline="0" noProof="0" dirty="0" err="1">
                <a:ln>
                  <a:noFill/>
                </a:ln>
                <a:solidFill>
                  <a:srgbClr val="FFFFFF"/>
                </a:solidFill>
                <a:effectLst/>
                <a:uLnTx/>
                <a:uFillTx/>
                <a:latin typeface="Segoe UI Light (Headings)y)"/>
                <a:ea typeface="+mn-ea"/>
                <a:cs typeface="Segoe UI Semibold" panose="020B0702040204020203" pitchFamily="34" charset="0"/>
              </a:rPr>
              <a:t>en</a:t>
            </a: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 </a:t>
            </a:r>
            <a:r>
              <a:rPr kumimoji="0" lang="en-US" sz="3600" b="1" i="0" u="none" strike="noStrike" kern="1200" cap="none" spc="0" normalizeH="0" baseline="0" noProof="0" dirty="0" err="1">
                <a:ln>
                  <a:noFill/>
                </a:ln>
                <a:solidFill>
                  <a:srgbClr val="FFFFFF"/>
                </a:solidFill>
                <a:effectLst/>
                <a:uLnTx/>
                <a:uFillTx/>
                <a:latin typeface="Segoe UI Light (Headings)y)"/>
                <a:ea typeface="+mn-ea"/>
                <a:cs typeface="Segoe UI Semibold" panose="020B0702040204020203" pitchFamily="34" charset="0"/>
              </a:rPr>
              <a:t>Agentes</a:t>
            </a:r>
            <a:r>
              <a:rPr lang="en-US" sz="3600" b="1" dirty="0">
                <a:solidFill>
                  <a:srgbClr val="FFFFFF"/>
                </a:solidFill>
                <a:latin typeface="Segoe UI Light (Headings)y)"/>
                <a:cs typeface="Segoe UI Semibold" panose="020B0702040204020203" pitchFamily="34" charset="0"/>
              </a:rPr>
              <a:t> de Copilot Studio</a:t>
            </a:r>
            <a:endPar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endParaRPr>
          </a:p>
        </p:txBody>
      </p:sp>
      <p:pic>
        <p:nvPicPr>
          <p:cNvPr id="10" name="Picture 18" descr="Minion clipart transparent background, Minion transparent background  Transparent FREE for download on WebStockReview 2021">
            <a:extLst>
              <a:ext uri="{FF2B5EF4-FFF2-40B4-BE49-F238E27FC236}">
                <a16:creationId xmlns:a16="http://schemas.microsoft.com/office/drawing/2014/main" id="{3A98A1DC-8783-AA28-9DC5-5C491DCB0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1356"/>
            <a:ext cx="5057590" cy="59194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Placeholder 3">
            <a:extLst>
              <a:ext uri="{FF2B5EF4-FFF2-40B4-BE49-F238E27FC236}">
                <a16:creationId xmlns:a16="http://schemas.microsoft.com/office/drawing/2014/main" id="{D5C12949-D980-8C84-8AEE-D688A74FBC3D}"/>
              </a:ext>
            </a:extLst>
          </p:cNvPr>
          <p:cNvPicPr>
            <a:picLocks noChangeAspect="1"/>
          </p:cNvPicPr>
          <p:nvPr/>
        </p:nvPicPr>
        <p:blipFill>
          <a:blip r:embed="rId4"/>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4251928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E0D8-BA1F-4267-6C25-AFD3C4F96250}"/>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F625879B-BAED-F054-8130-6BBB1CE6E834}"/>
              </a:ext>
            </a:extLst>
          </p:cNvPr>
          <p:cNvSpPr>
            <a:spLocks noGrp="1"/>
          </p:cNvSpPr>
          <p:nvPr>
            <p:ph type="title"/>
          </p:nvPr>
        </p:nvSpPr>
        <p:spPr>
          <a:xfrm>
            <a:off x="519248" y="228604"/>
            <a:ext cx="11151917" cy="747897"/>
          </a:xfrm>
        </p:spPr>
        <p:txBody>
          <a:bodyPr/>
          <a:lstStyle/>
          <a:p>
            <a:r>
              <a:rPr lang="es-ES" dirty="0"/>
              <a:t>Work IQ en la práctica: Servidores MCP usados en el Agente Personalizado</a:t>
            </a:r>
            <a:endParaRPr lang="en-US" dirty="0"/>
          </a:p>
        </p:txBody>
      </p:sp>
      <p:sp>
        <p:nvSpPr>
          <p:cNvPr id="2" name="Text 2">
            <a:extLst>
              <a:ext uri="{FF2B5EF4-FFF2-40B4-BE49-F238E27FC236}">
                <a16:creationId xmlns:a16="http://schemas.microsoft.com/office/drawing/2014/main" id="{2A3D2788-6632-94CC-7FE8-D0C9F40C9FDF}"/>
              </a:ext>
            </a:extLst>
          </p:cNvPr>
          <p:cNvSpPr/>
          <p:nvPr/>
        </p:nvSpPr>
        <p:spPr>
          <a:xfrm>
            <a:off x="726074" y="1243584"/>
            <a:ext cx="10972800" cy="365760"/>
          </a:xfrm>
          <a:prstGeom prst="rect">
            <a:avLst/>
          </a:prstGeom>
          <a:noFill/>
          <a:ln/>
        </p:spPr>
        <p:txBody>
          <a:bodyPr wrap="square" lIns="0" tIns="0" rIns="0" bIns="0" rtlCol="0" anchor="ctr"/>
          <a:lstStyle/>
          <a:p>
            <a:r>
              <a:rPr lang="en-US" sz="1467" i="1" dirty="0">
                <a:solidFill>
                  <a:srgbClr val="94A3B8"/>
                </a:solidFill>
                <a:latin typeface="Calibri" pitchFamily="34" charset="0"/>
                <a:ea typeface="Calibri" pitchFamily="34" charset="-122"/>
                <a:cs typeface="Calibri" pitchFamily="34" charset="-120"/>
              </a:rPr>
              <a:t>Cada herramienta del agente se invoca a través de un servidor MCP gobernado y auditable.</a:t>
            </a:r>
            <a:endParaRPr lang="en-US" sz="1467" dirty="0"/>
          </a:p>
        </p:txBody>
      </p:sp>
      <p:sp>
        <p:nvSpPr>
          <p:cNvPr id="3" name="Shape 3">
            <a:extLst>
              <a:ext uri="{FF2B5EF4-FFF2-40B4-BE49-F238E27FC236}">
                <a16:creationId xmlns:a16="http://schemas.microsoft.com/office/drawing/2014/main" id="{D3FA6623-09B4-6904-6A60-1B16D0ACED1F}"/>
              </a:ext>
            </a:extLst>
          </p:cNvPr>
          <p:cNvSpPr/>
          <p:nvPr/>
        </p:nvSpPr>
        <p:spPr>
          <a:xfrm>
            <a:off x="731520" y="1584960"/>
            <a:ext cx="5242560" cy="2255520"/>
          </a:xfrm>
          <a:prstGeom prst="rect">
            <a:avLst/>
          </a:prstGeom>
          <a:solidFill>
            <a:srgbClr val="161B2E"/>
          </a:solidFill>
          <a:ln w="12700">
            <a:solidFill>
              <a:srgbClr val="22D3EE"/>
            </a:solidFill>
            <a:prstDash val="solid"/>
          </a:ln>
        </p:spPr>
        <p:txBody>
          <a:bodyPr/>
          <a:lstStyle/>
          <a:p>
            <a:endParaRPr lang="en-US" sz="2400">
              <a:latin typeface="Segoe UI (Body)"/>
            </a:endParaRPr>
          </a:p>
        </p:txBody>
      </p:sp>
      <p:sp>
        <p:nvSpPr>
          <p:cNvPr id="5" name="Shape 4">
            <a:extLst>
              <a:ext uri="{FF2B5EF4-FFF2-40B4-BE49-F238E27FC236}">
                <a16:creationId xmlns:a16="http://schemas.microsoft.com/office/drawing/2014/main" id="{749BEAAA-5686-2672-C6E3-04B82F899BC7}"/>
              </a:ext>
            </a:extLst>
          </p:cNvPr>
          <p:cNvSpPr/>
          <p:nvPr/>
        </p:nvSpPr>
        <p:spPr>
          <a:xfrm>
            <a:off x="731520" y="1584960"/>
            <a:ext cx="5242560" cy="97536"/>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6" name="Image 0" descr="preencoded.png">
            <a:extLst>
              <a:ext uri="{FF2B5EF4-FFF2-40B4-BE49-F238E27FC236}">
                <a16:creationId xmlns:a16="http://schemas.microsoft.com/office/drawing/2014/main" id="{D9C9F31B-0B14-E671-B0ED-D0D86F1FEEC2}"/>
              </a:ext>
            </a:extLst>
          </p:cNvPr>
          <p:cNvPicPr>
            <a:picLocks noChangeAspect="1"/>
          </p:cNvPicPr>
          <p:nvPr/>
        </p:nvPicPr>
        <p:blipFill>
          <a:blip r:embed="rId2"/>
          <a:stretch>
            <a:fillRect/>
          </a:stretch>
        </p:blipFill>
        <p:spPr>
          <a:xfrm>
            <a:off x="950976" y="1853184"/>
            <a:ext cx="609600" cy="609600"/>
          </a:xfrm>
          <a:prstGeom prst="rect">
            <a:avLst/>
          </a:prstGeom>
        </p:spPr>
      </p:pic>
      <p:sp>
        <p:nvSpPr>
          <p:cNvPr id="27" name="Text 5">
            <a:extLst>
              <a:ext uri="{FF2B5EF4-FFF2-40B4-BE49-F238E27FC236}">
                <a16:creationId xmlns:a16="http://schemas.microsoft.com/office/drawing/2014/main" id="{CE3F915B-BCCF-2547-FF22-10D51D8747A6}"/>
              </a:ext>
            </a:extLst>
          </p:cNvPr>
          <p:cNvSpPr/>
          <p:nvPr/>
        </p:nvSpPr>
        <p:spPr>
          <a:xfrm>
            <a:off x="1706880" y="1828800"/>
            <a:ext cx="4084320" cy="390144"/>
          </a:xfrm>
          <a:prstGeom prst="rect">
            <a:avLst/>
          </a:prstGeom>
          <a:noFill/>
          <a:ln/>
        </p:spPr>
        <p:txBody>
          <a:bodyPr wrap="square" lIns="0" tIns="0" rIns="0" bIns="0" rtlCol="0" anchor="ctr"/>
          <a:lstStyle/>
          <a:p>
            <a:r>
              <a:rPr lang="en-US" sz="1867" b="1" dirty="0">
                <a:solidFill>
                  <a:srgbClr val="22D3EE"/>
                </a:solidFill>
                <a:latin typeface="Segoe UI (Body)"/>
                <a:ea typeface="Calibri" pitchFamily="34" charset="-122"/>
                <a:cs typeface="Calibri" pitchFamily="34" charset="-120"/>
              </a:rPr>
              <a:t>Work IQ Mail</a:t>
            </a:r>
            <a:endParaRPr lang="en-US" sz="1867" dirty="0">
              <a:latin typeface="Segoe UI (Body)"/>
            </a:endParaRPr>
          </a:p>
        </p:txBody>
      </p:sp>
      <p:sp>
        <p:nvSpPr>
          <p:cNvPr id="28" name="Text 6">
            <a:extLst>
              <a:ext uri="{FF2B5EF4-FFF2-40B4-BE49-F238E27FC236}">
                <a16:creationId xmlns:a16="http://schemas.microsoft.com/office/drawing/2014/main" id="{A6C62E0E-4339-EF52-07FA-042719FF37B0}"/>
              </a:ext>
            </a:extLst>
          </p:cNvPr>
          <p:cNvSpPr/>
          <p:nvPr/>
        </p:nvSpPr>
        <p:spPr>
          <a:xfrm>
            <a:off x="1706880" y="2218944"/>
            <a:ext cx="4084320" cy="268224"/>
          </a:xfrm>
          <a:prstGeom prst="rect">
            <a:avLst/>
          </a:prstGeom>
          <a:noFill/>
          <a:ln/>
        </p:spPr>
        <p:txBody>
          <a:bodyPr wrap="square" lIns="0" tIns="0" rIns="0" bIns="0" rtlCol="0" anchor="ctr"/>
          <a:lstStyle/>
          <a:p>
            <a:r>
              <a:rPr lang="en-US" sz="1200" i="1" dirty="0">
                <a:solidFill>
                  <a:srgbClr val="94A3B8"/>
                </a:solidFill>
                <a:latin typeface="Segoe UI (Body)"/>
                <a:ea typeface="Calibri" pitchFamily="34" charset="-122"/>
                <a:cs typeface="Calibri" pitchFamily="34" charset="-120"/>
              </a:rPr>
              <a:t>Microsoft · Work IQ MCP</a:t>
            </a:r>
            <a:endParaRPr lang="en-US" sz="1200" dirty="0">
              <a:latin typeface="Segoe UI (Body)"/>
            </a:endParaRPr>
          </a:p>
        </p:txBody>
      </p:sp>
      <p:sp>
        <p:nvSpPr>
          <p:cNvPr id="29" name="Shape 7">
            <a:extLst>
              <a:ext uri="{FF2B5EF4-FFF2-40B4-BE49-F238E27FC236}">
                <a16:creationId xmlns:a16="http://schemas.microsoft.com/office/drawing/2014/main" id="{65F0F399-8E44-4438-BB87-9280F46A5E25}"/>
              </a:ext>
            </a:extLst>
          </p:cNvPr>
          <p:cNvSpPr/>
          <p:nvPr/>
        </p:nvSpPr>
        <p:spPr>
          <a:xfrm>
            <a:off x="950976" y="2621280"/>
            <a:ext cx="1438656"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30" name="Text 8">
            <a:extLst>
              <a:ext uri="{FF2B5EF4-FFF2-40B4-BE49-F238E27FC236}">
                <a16:creationId xmlns:a16="http://schemas.microsoft.com/office/drawing/2014/main" id="{E8B8E385-490B-C9B7-9F2B-73DBB79BC177}"/>
              </a:ext>
            </a:extLst>
          </p:cNvPr>
          <p:cNvSpPr/>
          <p:nvPr/>
        </p:nvSpPr>
        <p:spPr>
          <a:xfrm>
            <a:off x="950976" y="2621280"/>
            <a:ext cx="1438656"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searchMessages</a:t>
            </a:r>
            <a:endParaRPr lang="en-US" sz="1200" dirty="0">
              <a:latin typeface="Segoe UI (Body)"/>
            </a:endParaRPr>
          </a:p>
        </p:txBody>
      </p:sp>
      <p:sp>
        <p:nvSpPr>
          <p:cNvPr id="31" name="Shape 9">
            <a:extLst>
              <a:ext uri="{FF2B5EF4-FFF2-40B4-BE49-F238E27FC236}">
                <a16:creationId xmlns:a16="http://schemas.microsoft.com/office/drawing/2014/main" id="{4D16975A-C59E-8585-9E10-D4D698E4483F}"/>
              </a:ext>
            </a:extLst>
          </p:cNvPr>
          <p:cNvSpPr/>
          <p:nvPr/>
        </p:nvSpPr>
        <p:spPr>
          <a:xfrm>
            <a:off x="2511552" y="2621280"/>
            <a:ext cx="1097280"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32" name="Text 10">
            <a:extLst>
              <a:ext uri="{FF2B5EF4-FFF2-40B4-BE49-F238E27FC236}">
                <a16:creationId xmlns:a16="http://schemas.microsoft.com/office/drawing/2014/main" id="{3345FB70-A760-B825-F6EA-72F7BA32917D}"/>
              </a:ext>
            </a:extLst>
          </p:cNvPr>
          <p:cNvSpPr/>
          <p:nvPr/>
        </p:nvSpPr>
        <p:spPr>
          <a:xfrm>
            <a:off x="2511552" y="2621280"/>
            <a:ext cx="1097280"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getMessage</a:t>
            </a:r>
            <a:endParaRPr lang="en-US" sz="1200" dirty="0">
              <a:latin typeface="Segoe UI (Body)"/>
            </a:endParaRPr>
          </a:p>
        </p:txBody>
      </p:sp>
      <p:sp>
        <p:nvSpPr>
          <p:cNvPr id="33" name="Shape 11">
            <a:extLst>
              <a:ext uri="{FF2B5EF4-FFF2-40B4-BE49-F238E27FC236}">
                <a16:creationId xmlns:a16="http://schemas.microsoft.com/office/drawing/2014/main" id="{DD880ABF-B760-F284-6B40-00FF1B391E18}"/>
              </a:ext>
            </a:extLst>
          </p:cNvPr>
          <p:cNvSpPr/>
          <p:nvPr/>
        </p:nvSpPr>
        <p:spPr>
          <a:xfrm>
            <a:off x="3730752" y="2621280"/>
            <a:ext cx="1182624"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34" name="Text 12">
            <a:extLst>
              <a:ext uri="{FF2B5EF4-FFF2-40B4-BE49-F238E27FC236}">
                <a16:creationId xmlns:a16="http://schemas.microsoft.com/office/drawing/2014/main" id="{CE5BE601-BA48-7B3E-BB70-1E97B64C072C}"/>
              </a:ext>
            </a:extLst>
          </p:cNvPr>
          <p:cNvSpPr/>
          <p:nvPr/>
        </p:nvSpPr>
        <p:spPr>
          <a:xfrm>
            <a:off x="3730752" y="2621280"/>
            <a:ext cx="118262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createDraft</a:t>
            </a:r>
            <a:endParaRPr lang="en-US" sz="1200" dirty="0">
              <a:latin typeface="Segoe UI (Body)"/>
            </a:endParaRPr>
          </a:p>
        </p:txBody>
      </p:sp>
      <p:sp>
        <p:nvSpPr>
          <p:cNvPr id="35" name="Text 13">
            <a:extLst>
              <a:ext uri="{FF2B5EF4-FFF2-40B4-BE49-F238E27FC236}">
                <a16:creationId xmlns:a16="http://schemas.microsoft.com/office/drawing/2014/main" id="{EEA903B9-A612-97F4-DBB7-62F3C3E4203B}"/>
              </a:ext>
            </a:extLst>
          </p:cNvPr>
          <p:cNvSpPr/>
          <p:nvPr/>
        </p:nvSpPr>
        <p:spPr>
          <a:xfrm>
            <a:off x="950976" y="3048000"/>
            <a:ext cx="4876800" cy="707136"/>
          </a:xfrm>
          <a:prstGeom prst="rect">
            <a:avLst/>
          </a:prstGeom>
          <a:noFill/>
          <a:ln/>
        </p:spPr>
        <p:txBody>
          <a:bodyPr wrap="square" lIns="0" tIns="0" rIns="0" bIns="0" rtlCol="0" anchor="ctr"/>
          <a:lstStyle/>
          <a:p>
            <a:r>
              <a:rPr lang="en-US" sz="1333" dirty="0">
                <a:solidFill>
                  <a:srgbClr val="E5E7EB"/>
                </a:solidFill>
                <a:latin typeface="Segoe UI (Body)"/>
                <a:ea typeface="Calibri" pitchFamily="34" charset="-122"/>
                <a:cs typeface="Calibri" pitchFamily="34" charset="-120"/>
              </a:rPr>
              <a:t>Localiza el hilo de Contoso en Outlook, lo resume y genera un borrador de respuesta sin enviarlo.</a:t>
            </a:r>
            <a:endParaRPr lang="en-US" sz="1333" dirty="0">
              <a:latin typeface="Segoe UI (Body)"/>
            </a:endParaRPr>
          </a:p>
        </p:txBody>
      </p:sp>
      <p:sp>
        <p:nvSpPr>
          <p:cNvPr id="36" name="Shape 14">
            <a:extLst>
              <a:ext uri="{FF2B5EF4-FFF2-40B4-BE49-F238E27FC236}">
                <a16:creationId xmlns:a16="http://schemas.microsoft.com/office/drawing/2014/main" id="{84715BE6-0F6F-41A6-AF17-6CA66EBD6FC8}"/>
              </a:ext>
            </a:extLst>
          </p:cNvPr>
          <p:cNvSpPr/>
          <p:nvPr/>
        </p:nvSpPr>
        <p:spPr>
          <a:xfrm>
            <a:off x="6096000" y="1584960"/>
            <a:ext cx="5242560" cy="2255520"/>
          </a:xfrm>
          <a:prstGeom prst="rect">
            <a:avLst/>
          </a:prstGeom>
          <a:solidFill>
            <a:srgbClr val="161B2E"/>
          </a:solidFill>
          <a:ln w="12700">
            <a:solidFill>
              <a:srgbClr val="A78BFA"/>
            </a:solidFill>
            <a:prstDash val="solid"/>
          </a:ln>
        </p:spPr>
        <p:txBody>
          <a:bodyPr/>
          <a:lstStyle/>
          <a:p>
            <a:endParaRPr lang="en-US" sz="2400">
              <a:latin typeface="Segoe UI (Body)"/>
            </a:endParaRPr>
          </a:p>
        </p:txBody>
      </p:sp>
      <p:sp>
        <p:nvSpPr>
          <p:cNvPr id="37" name="Shape 15">
            <a:extLst>
              <a:ext uri="{FF2B5EF4-FFF2-40B4-BE49-F238E27FC236}">
                <a16:creationId xmlns:a16="http://schemas.microsoft.com/office/drawing/2014/main" id="{5A3FB3A1-2BC8-1A04-9C01-D43C2DE69FF8}"/>
              </a:ext>
            </a:extLst>
          </p:cNvPr>
          <p:cNvSpPr/>
          <p:nvPr/>
        </p:nvSpPr>
        <p:spPr>
          <a:xfrm>
            <a:off x="6096000" y="1584960"/>
            <a:ext cx="5242560" cy="97536"/>
          </a:xfrm>
          <a:prstGeom prst="rect">
            <a:avLst/>
          </a:prstGeom>
          <a:solidFill>
            <a:srgbClr val="A78BFA"/>
          </a:solidFill>
          <a:ln w="12700">
            <a:solidFill>
              <a:srgbClr val="A78BFA"/>
            </a:solidFill>
            <a:prstDash val="solid"/>
          </a:ln>
        </p:spPr>
        <p:txBody>
          <a:bodyPr/>
          <a:lstStyle/>
          <a:p>
            <a:endParaRPr lang="en-US" sz="2400">
              <a:latin typeface="Segoe UI (Body)"/>
            </a:endParaRPr>
          </a:p>
        </p:txBody>
      </p:sp>
      <p:pic>
        <p:nvPicPr>
          <p:cNvPr id="38" name="Image 1" descr="preencoded.png">
            <a:extLst>
              <a:ext uri="{FF2B5EF4-FFF2-40B4-BE49-F238E27FC236}">
                <a16:creationId xmlns:a16="http://schemas.microsoft.com/office/drawing/2014/main" id="{6C03FE2B-A8DF-7520-5B9E-BC432EF53F75}"/>
              </a:ext>
            </a:extLst>
          </p:cNvPr>
          <p:cNvPicPr>
            <a:picLocks noChangeAspect="1"/>
          </p:cNvPicPr>
          <p:nvPr/>
        </p:nvPicPr>
        <p:blipFill>
          <a:blip r:embed="rId3"/>
          <a:stretch>
            <a:fillRect/>
          </a:stretch>
        </p:blipFill>
        <p:spPr>
          <a:xfrm>
            <a:off x="6315456" y="1853184"/>
            <a:ext cx="609600" cy="609600"/>
          </a:xfrm>
          <a:prstGeom prst="rect">
            <a:avLst/>
          </a:prstGeom>
        </p:spPr>
      </p:pic>
      <p:sp>
        <p:nvSpPr>
          <p:cNvPr id="39" name="Text 16">
            <a:extLst>
              <a:ext uri="{FF2B5EF4-FFF2-40B4-BE49-F238E27FC236}">
                <a16:creationId xmlns:a16="http://schemas.microsoft.com/office/drawing/2014/main" id="{8F1C03CB-8C82-575C-CAB7-A5CAFC1BB9D1}"/>
              </a:ext>
            </a:extLst>
          </p:cNvPr>
          <p:cNvSpPr/>
          <p:nvPr/>
        </p:nvSpPr>
        <p:spPr>
          <a:xfrm>
            <a:off x="7071360" y="1828800"/>
            <a:ext cx="4084320" cy="390144"/>
          </a:xfrm>
          <a:prstGeom prst="rect">
            <a:avLst/>
          </a:prstGeom>
          <a:noFill/>
          <a:ln/>
        </p:spPr>
        <p:txBody>
          <a:bodyPr wrap="square" lIns="0" tIns="0" rIns="0" bIns="0" rtlCol="0" anchor="ctr"/>
          <a:lstStyle/>
          <a:p>
            <a:r>
              <a:rPr lang="en-US" sz="1867" b="1" dirty="0">
                <a:solidFill>
                  <a:srgbClr val="A78BFA"/>
                </a:solidFill>
                <a:latin typeface="Segoe UI (Body)"/>
                <a:ea typeface="Calibri" pitchFamily="34" charset="-122"/>
                <a:cs typeface="Calibri" pitchFamily="34" charset="-120"/>
              </a:rPr>
              <a:t>Work IQ Calendar</a:t>
            </a:r>
            <a:endParaRPr lang="en-US" sz="1867" dirty="0">
              <a:latin typeface="Segoe UI (Body)"/>
            </a:endParaRPr>
          </a:p>
        </p:txBody>
      </p:sp>
      <p:sp>
        <p:nvSpPr>
          <p:cNvPr id="40" name="Text 17">
            <a:extLst>
              <a:ext uri="{FF2B5EF4-FFF2-40B4-BE49-F238E27FC236}">
                <a16:creationId xmlns:a16="http://schemas.microsoft.com/office/drawing/2014/main" id="{BE2E7387-2610-1B42-ED0C-3045F5488F56}"/>
              </a:ext>
            </a:extLst>
          </p:cNvPr>
          <p:cNvSpPr/>
          <p:nvPr/>
        </p:nvSpPr>
        <p:spPr>
          <a:xfrm>
            <a:off x="7071360" y="2218944"/>
            <a:ext cx="4084320" cy="268224"/>
          </a:xfrm>
          <a:prstGeom prst="rect">
            <a:avLst/>
          </a:prstGeom>
          <a:noFill/>
          <a:ln/>
        </p:spPr>
        <p:txBody>
          <a:bodyPr wrap="square" lIns="0" tIns="0" rIns="0" bIns="0" rtlCol="0" anchor="ctr"/>
          <a:lstStyle/>
          <a:p>
            <a:r>
              <a:rPr lang="en-US" sz="1200" i="1" dirty="0">
                <a:solidFill>
                  <a:srgbClr val="94A3B8"/>
                </a:solidFill>
                <a:latin typeface="Segoe UI (Body)"/>
                <a:ea typeface="Calibri" pitchFamily="34" charset="-122"/>
                <a:cs typeface="Calibri" pitchFamily="34" charset="-120"/>
              </a:rPr>
              <a:t>Microsoft · Work IQ MCP</a:t>
            </a:r>
            <a:endParaRPr lang="en-US" sz="1200" dirty="0">
              <a:latin typeface="Segoe UI (Body)"/>
            </a:endParaRPr>
          </a:p>
        </p:txBody>
      </p:sp>
      <p:sp>
        <p:nvSpPr>
          <p:cNvPr id="41" name="Shape 18">
            <a:extLst>
              <a:ext uri="{FF2B5EF4-FFF2-40B4-BE49-F238E27FC236}">
                <a16:creationId xmlns:a16="http://schemas.microsoft.com/office/drawing/2014/main" id="{398B3BE8-988D-6EF5-B508-B9DC0838F76F}"/>
              </a:ext>
            </a:extLst>
          </p:cNvPr>
          <p:cNvSpPr/>
          <p:nvPr/>
        </p:nvSpPr>
        <p:spPr>
          <a:xfrm>
            <a:off x="6315456" y="2621280"/>
            <a:ext cx="1609344" cy="316992"/>
          </a:xfrm>
          <a:prstGeom prst="roundRect">
            <a:avLst>
              <a:gd name="adj" fmla="val 38462"/>
            </a:avLst>
          </a:prstGeom>
          <a:solidFill>
            <a:srgbClr val="1F2540"/>
          </a:solidFill>
          <a:ln w="6350">
            <a:solidFill>
              <a:srgbClr val="A78BFA"/>
            </a:solidFill>
            <a:prstDash val="solid"/>
          </a:ln>
        </p:spPr>
        <p:txBody>
          <a:bodyPr/>
          <a:lstStyle/>
          <a:p>
            <a:endParaRPr lang="en-US" sz="2400">
              <a:latin typeface="Segoe UI (Body)"/>
            </a:endParaRPr>
          </a:p>
        </p:txBody>
      </p:sp>
      <p:sp>
        <p:nvSpPr>
          <p:cNvPr id="42" name="Text 19">
            <a:extLst>
              <a:ext uri="{FF2B5EF4-FFF2-40B4-BE49-F238E27FC236}">
                <a16:creationId xmlns:a16="http://schemas.microsoft.com/office/drawing/2014/main" id="{3646B85A-6354-D7C0-936A-EEDFCC07C35B}"/>
              </a:ext>
            </a:extLst>
          </p:cNvPr>
          <p:cNvSpPr/>
          <p:nvPr/>
        </p:nvSpPr>
        <p:spPr>
          <a:xfrm>
            <a:off x="6315456" y="2621280"/>
            <a:ext cx="160934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findMeetingTimes</a:t>
            </a:r>
            <a:endParaRPr lang="en-US" sz="1200" dirty="0">
              <a:latin typeface="Segoe UI (Body)"/>
            </a:endParaRPr>
          </a:p>
        </p:txBody>
      </p:sp>
      <p:sp>
        <p:nvSpPr>
          <p:cNvPr id="43" name="Shape 20">
            <a:extLst>
              <a:ext uri="{FF2B5EF4-FFF2-40B4-BE49-F238E27FC236}">
                <a16:creationId xmlns:a16="http://schemas.microsoft.com/office/drawing/2014/main" id="{5ED9BD71-093E-80F7-77E1-FA6E7E949D46}"/>
              </a:ext>
            </a:extLst>
          </p:cNvPr>
          <p:cNvSpPr/>
          <p:nvPr/>
        </p:nvSpPr>
        <p:spPr>
          <a:xfrm>
            <a:off x="8046720" y="2621280"/>
            <a:ext cx="1182624" cy="316992"/>
          </a:xfrm>
          <a:prstGeom prst="roundRect">
            <a:avLst>
              <a:gd name="adj" fmla="val 38462"/>
            </a:avLst>
          </a:prstGeom>
          <a:solidFill>
            <a:srgbClr val="1F2540"/>
          </a:solidFill>
          <a:ln w="6350">
            <a:solidFill>
              <a:srgbClr val="A78BFA"/>
            </a:solidFill>
            <a:prstDash val="solid"/>
          </a:ln>
        </p:spPr>
        <p:txBody>
          <a:bodyPr/>
          <a:lstStyle/>
          <a:p>
            <a:endParaRPr lang="en-US" sz="2400">
              <a:latin typeface="Segoe UI (Body)"/>
            </a:endParaRPr>
          </a:p>
        </p:txBody>
      </p:sp>
      <p:sp>
        <p:nvSpPr>
          <p:cNvPr id="44" name="Text 21">
            <a:extLst>
              <a:ext uri="{FF2B5EF4-FFF2-40B4-BE49-F238E27FC236}">
                <a16:creationId xmlns:a16="http://schemas.microsoft.com/office/drawing/2014/main" id="{C56D32B1-3591-465F-21B1-9C824D39BD75}"/>
              </a:ext>
            </a:extLst>
          </p:cNvPr>
          <p:cNvSpPr/>
          <p:nvPr/>
        </p:nvSpPr>
        <p:spPr>
          <a:xfrm>
            <a:off x="8046720" y="2621280"/>
            <a:ext cx="118262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createEvent</a:t>
            </a:r>
            <a:endParaRPr lang="en-US" sz="1200" dirty="0">
              <a:latin typeface="Segoe UI (Body)"/>
            </a:endParaRPr>
          </a:p>
        </p:txBody>
      </p:sp>
      <p:sp>
        <p:nvSpPr>
          <p:cNvPr id="45" name="Text 22">
            <a:extLst>
              <a:ext uri="{FF2B5EF4-FFF2-40B4-BE49-F238E27FC236}">
                <a16:creationId xmlns:a16="http://schemas.microsoft.com/office/drawing/2014/main" id="{71038C08-C0F9-708D-90C7-A14C20F9EE3A}"/>
              </a:ext>
            </a:extLst>
          </p:cNvPr>
          <p:cNvSpPr/>
          <p:nvPr/>
        </p:nvSpPr>
        <p:spPr>
          <a:xfrm>
            <a:off x="6315456" y="3048000"/>
            <a:ext cx="4876800" cy="707136"/>
          </a:xfrm>
          <a:prstGeom prst="rect">
            <a:avLst/>
          </a:prstGeom>
          <a:noFill/>
          <a:ln/>
        </p:spPr>
        <p:txBody>
          <a:bodyPr wrap="square" lIns="0" tIns="0" rIns="0" bIns="0" rtlCol="0" anchor="ctr"/>
          <a:lstStyle/>
          <a:p>
            <a:r>
              <a:rPr lang="en-US" sz="1333" dirty="0">
                <a:solidFill>
                  <a:srgbClr val="E5E7EB"/>
                </a:solidFill>
                <a:latin typeface="Segoe UI (Body)"/>
                <a:ea typeface="Calibri" pitchFamily="34" charset="-122"/>
                <a:cs typeface="Calibri" pitchFamily="34" charset="-120"/>
              </a:rPr>
              <a:t>Encuentra hueco común entre el equipo on-call y crea la War Room en Teams con el link del incidente.</a:t>
            </a:r>
            <a:endParaRPr lang="en-US" sz="1333" dirty="0">
              <a:latin typeface="Segoe UI (Body)"/>
            </a:endParaRPr>
          </a:p>
        </p:txBody>
      </p:sp>
      <p:sp>
        <p:nvSpPr>
          <p:cNvPr id="46" name="Shape 23">
            <a:extLst>
              <a:ext uri="{FF2B5EF4-FFF2-40B4-BE49-F238E27FC236}">
                <a16:creationId xmlns:a16="http://schemas.microsoft.com/office/drawing/2014/main" id="{F54EEADC-31F9-25E7-0A4D-B5C3B8F92581}"/>
              </a:ext>
            </a:extLst>
          </p:cNvPr>
          <p:cNvSpPr/>
          <p:nvPr/>
        </p:nvSpPr>
        <p:spPr>
          <a:xfrm>
            <a:off x="731520" y="4023360"/>
            <a:ext cx="5242560" cy="2255520"/>
          </a:xfrm>
          <a:prstGeom prst="rect">
            <a:avLst/>
          </a:prstGeom>
          <a:solidFill>
            <a:srgbClr val="161B2E"/>
          </a:solidFill>
          <a:ln w="12700">
            <a:solidFill>
              <a:srgbClr val="F472B6"/>
            </a:solidFill>
            <a:prstDash val="solid"/>
          </a:ln>
        </p:spPr>
        <p:txBody>
          <a:bodyPr/>
          <a:lstStyle/>
          <a:p>
            <a:endParaRPr lang="en-US" sz="2400">
              <a:latin typeface="Segoe UI (Body)"/>
            </a:endParaRPr>
          </a:p>
        </p:txBody>
      </p:sp>
      <p:sp>
        <p:nvSpPr>
          <p:cNvPr id="47" name="Shape 24">
            <a:extLst>
              <a:ext uri="{FF2B5EF4-FFF2-40B4-BE49-F238E27FC236}">
                <a16:creationId xmlns:a16="http://schemas.microsoft.com/office/drawing/2014/main" id="{8F817427-A835-176F-54FF-4BE13414BC69}"/>
              </a:ext>
            </a:extLst>
          </p:cNvPr>
          <p:cNvSpPr/>
          <p:nvPr/>
        </p:nvSpPr>
        <p:spPr>
          <a:xfrm>
            <a:off x="731520" y="4023360"/>
            <a:ext cx="5242560" cy="97536"/>
          </a:xfrm>
          <a:prstGeom prst="rect">
            <a:avLst/>
          </a:prstGeom>
          <a:solidFill>
            <a:srgbClr val="F472B6"/>
          </a:solidFill>
          <a:ln w="12700">
            <a:solidFill>
              <a:srgbClr val="F472B6"/>
            </a:solidFill>
            <a:prstDash val="solid"/>
          </a:ln>
        </p:spPr>
        <p:txBody>
          <a:bodyPr/>
          <a:lstStyle/>
          <a:p>
            <a:endParaRPr lang="en-US" sz="2400">
              <a:latin typeface="Segoe UI (Body)"/>
            </a:endParaRPr>
          </a:p>
        </p:txBody>
      </p:sp>
      <p:pic>
        <p:nvPicPr>
          <p:cNvPr id="48" name="Image 2" descr="preencoded.png">
            <a:extLst>
              <a:ext uri="{FF2B5EF4-FFF2-40B4-BE49-F238E27FC236}">
                <a16:creationId xmlns:a16="http://schemas.microsoft.com/office/drawing/2014/main" id="{B837A887-48CD-7285-297B-2749B2D46BF1}"/>
              </a:ext>
            </a:extLst>
          </p:cNvPr>
          <p:cNvPicPr>
            <a:picLocks noChangeAspect="1"/>
          </p:cNvPicPr>
          <p:nvPr/>
        </p:nvPicPr>
        <p:blipFill>
          <a:blip r:embed="rId4"/>
          <a:stretch>
            <a:fillRect/>
          </a:stretch>
        </p:blipFill>
        <p:spPr>
          <a:xfrm>
            <a:off x="950976" y="4291584"/>
            <a:ext cx="609600" cy="609600"/>
          </a:xfrm>
          <a:prstGeom prst="rect">
            <a:avLst/>
          </a:prstGeom>
        </p:spPr>
      </p:pic>
      <p:sp>
        <p:nvSpPr>
          <p:cNvPr id="49" name="Text 25">
            <a:extLst>
              <a:ext uri="{FF2B5EF4-FFF2-40B4-BE49-F238E27FC236}">
                <a16:creationId xmlns:a16="http://schemas.microsoft.com/office/drawing/2014/main" id="{1171D920-E594-C759-469C-846BF7C3EB3C}"/>
              </a:ext>
            </a:extLst>
          </p:cNvPr>
          <p:cNvSpPr/>
          <p:nvPr/>
        </p:nvSpPr>
        <p:spPr>
          <a:xfrm>
            <a:off x="1706880" y="4267200"/>
            <a:ext cx="4084320" cy="390144"/>
          </a:xfrm>
          <a:prstGeom prst="rect">
            <a:avLst/>
          </a:prstGeom>
          <a:noFill/>
          <a:ln/>
        </p:spPr>
        <p:txBody>
          <a:bodyPr wrap="square" lIns="0" tIns="0" rIns="0" bIns="0" rtlCol="0" anchor="ctr"/>
          <a:lstStyle/>
          <a:p>
            <a:r>
              <a:rPr lang="en-US" sz="1867" b="1" dirty="0">
                <a:solidFill>
                  <a:srgbClr val="F472B6"/>
                </a:solidFill>
                <a:latin typeface="Segoe UI (Body)"/>
                <a:ea typeface="Calibri" pitchFamily="34" charset="-122"/>
                <a:cs typeface="Calibri" pitchFamily="34" charset="-120"/>
              </a:rPr>
              <a:t>Work IQ Copilot (mcp_M365Copilot)</a:t>
            </a:r>
            <a:endParaRPr lang="en-US" sz="1867" dirty="0">
              <a:latin typeface="Segoe UI (Body)"/>
            </a:endParaRPr>
          </a:p>
        </p:txBody>
      </p:sp>
      <p:sp>
        <p:nvSpPr>
          <p:cNvPr id="94" name="Text 26">
            <a:extLst>
              <a:ext uri="{FF2B5EF4-FFF2-40B4-BE49-F238E27FC236}">
                <a16:creationId xmlns:a16="http://schemas.microsoft.com/office/drawing/2014/main" id="{9D93428D-0E57-9502-160A-D1C277BFBE42}"/>
              </a:ext>
            </a:extLst>
          </p:cNvPr>
          <p:cNvSpPr/>
          <p:nvPr/>
        </p:nvSpPr>
        <p:spPr>
          <a:xfrm>
            <a:off x="1706880" y="4657344"/>
            <a:ext cx="4084320" cy="268224"/>
          </a:xfrm>
          <a:prstGeom prst="rect">
            <a:avLst/>
          </a:prstGeom>
          <a:noFill/>
          <a:ln/>
        </p:spPr>
        <p:txBody>
          <a:bodyPr wrap="square" lIns="0" tIns="0" rIns="0" bIns="0" rtlCol="0" anchor="ctr"/>
          <a:lstStyle/>
          <a:p>
            <a:r>
              <a:rPr lang="en-US" sz="1200" i="1" dirty="0">
                <a:solidFill>
                  <a:srgbClr val="94A3B8"/>
                </a:solidFill>
                <a:latin typeface="Segoe UI (Body)"/>
                <a:ea typeface="Calibri" pitchFamily="34" charset="-122"/>
                <a:cs typeface="Calibri" pitchFamily="34" charset="-120"/>
              </a:rPr>
              <a:t>Microsoft · Work IQ MCP</a:t>
            </a:r>
            <a:endParaRPr lang="en-US" sz="1200" dirty="0">
              <a:latin typeface="Segoe UI (Body)"/>
            </a:endParaRPr>
          </a:p>
        </p:txBody>
      </p:sp>
      <p:sp>
        <p:nvSpPr>
          <p:cNvPr id="95" name="Shape 27">
            <a:extLst>
              <a:ext uri="{FF2B5EF4-FFF2-40B4-BE49-F238E27FC236}">
                <a16:creationId xmlns:a16="http://schemas.microsoft.com/office/drawing/2014/main" id="{2EB64966-DCD4-D9FE-C721-76B908670969}"/>
              </a:ext>
            </a:extLst>
          </p:cNvPr>
          <p:cNvSpPr/>
          <p:nvPr/>
        </p:nvSpPr>
        <p:spPr>
          <a:xfrm>
            <a:off x="950976" y="5059680"/>
            <a:ext cx="755904" cy="316992"/>
          </a:xfrm>
          <a:prstGeom prst="roundRect">
            <a:avLst>
              <a:gd name="adj" fmla="val 38462"/>
            </a:avLst>
          </a:prstGeom>
          <a:solidFill>
            <a:srgbClr val="1F2540"/>
          </a:solidFill>
          <a:ln w="6350">
            <a:solidFill>
              <a:srgbClr val="F472B6"/>
            </a:solidFill>
            <a:prstDash val="solid"/>
          </a:ln>
        </p:spPr>
        <p:txBody>
          <a:bodyPr/>
          <a:lstStyle/>
          <a:p>
            <a:endParaRPr lang="en-US" sz="2400">
              <a:latin typeface="Segoe UI (Body)"/>
            </a:endParaRPr>
          </a:p>
        </p:txBody>
      </p:sp>
      <p:sp>
        <p:nvSpPr>
          <p:cNvPr id="96" name="Text 28">
            <a:extLst>
              <a:ext uri="{FF2B5EF4-FFF2-40B4-BE49-F238E27FC236}">
                <a16:creationId xmlns:a16="http://schemas.microsoft.com/office/drawing/2014/main" id="{8FCC3775-6B22-9EF6-FDBE-151CDC3A2DC7}"/>
              </a:ext>
            </a:extLst>
          </p:cNvPr>
          <p:cNvSpPr/>
          <p:nvPr/>
        </p:nvSpPr>
        <p:spPr>
          <a:xfrm>
            <a:off x="950976" y="5059680"/>
            <a:ext cx="75590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search</a:t>
            </a:r>
            <a:endParaRPr lang="en-US" sz="1200" dirty="0">
              <a:latin typeface="Segoe UI (Body)"/>
            </a:endParaRPr>
          </a:p>
        </p:txBody>
      </p:sp>
      <p:sp>
        <p:nvSpPr>
          <p:cNvPr id="97" name="Shape 29">
            <a:extLst>
              <a:ext uri="{FF2B5EF4-FFF2-40B4-BE49-F238E27FC236}">
                <a16:creationId xmlns:a16="http://schemas.microsoft.com/office/drawing/2014/main" id="{E4BB7812-B95A-00B4-0125-5D55A0A9DBCE}"/>
              </a:ext>
            </a:extLst>
          </p:cNvPr>
          <p:cNvSpPr/>
          <p:nvPr/>
        </p:nvSpPr>
        <p:spPr>
          <a:xfrm>
            <a:off x="1828800" y="5059680"/>
            <a:ext cx="1694688" cy="316992"/>
          </a:xfrm>
          <a:prstGeom prst="roundRect">
            <a:avLst>
              <a:gd name="adj" fmla="val 38462"/>
            </a:avLst>
          </a:prstGeom>
          <a:solidFill>
            <a:srgbClr val="1F2540"/>
          </a:solidFill>
          <a:ln w="6350">
            <a:solidFill>
              <a:srgbClr val="F472B6"/>
            </a:solidFill>
            <a:prstDash val="solid"/>
          </a:ln>
        </p:spPr>
        <p:txBody>
          <a:bodyPr/>
          <a:lstStyle/>
          <a:p>
            <a:endParaRPr lang="en-US" sz="2400">
              <a:latin typeface="Segoe UI (Body)"/>
            </a:endParaRPr>
          </a:p>
        </p:txBody>
      </p:sp>
      <p:sp>
        <p:nvSpPr>
          <p:cNvPr id="98" name="Text 30">
            <a:extLst>
              <a:ext uri="{FF2B5EF4-FFF2-40B4-BE49-F238E27FC236}">
                <a16:creationId xmlns:a16="http://schemas.microsoft.com/office/drawing/2014/main" id="{A47E4AE1-EC7B-E9BF-AEFA-B0CF4102F552}"/>
              </a:ext>
            </a:extLst>
          </p:cNvPr>
          <p:cNvSpPr/>
          <p:nvPr/>
        </p:nvSpPr>
        <p:spPr>
          <a:xfrm>
            <a:off x="1828800" y="5059680"/>
            <a:ext cx="1694688"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retrieveDocuments</a:t>
            </a:r>
            <a:endParaRPr lang="en-US" sz="1200" dirty="0">
              <a:latin typeface="Segoe UI (Body)"/>
            </a:endParaRPr>
          </a:p>
        </p:txBody>
      </p:sp>
      <p:sp>
        <p:nvSpPr>
          <p:cNvPr id="99" name="Text 31">
            <a:extLst>
              <a:ext uri="{FF2B5EF4-FFF2-40B4-BE49-F238E27FC236}">
                <a16:creationId xmlns:a16="http://schemas.microsoft.com/office/drawing/2014/main" id="{407984C3-7F6C-93B9-CB81-33CFF458D23D}"/>
              </a:ext>
            </a:extLst>
          </p:cNvPr>
          <p:cNvSpPr/>
          <p:nvPr/>
        </p:nvSpPr>
        <p:spPr>
          <a:xfrm>
            <a:off x="950976" y="5486400"/>
            <a:ext cx="4876800" cy="707136"/>
          </a:xfrm>
          <a:prstGeom prst="rect">
            <a:avLst/>
          </a:prstGeom>
          <a:noFill/>
          <a:ln/>
        </p:spPr>
        <p:txBody>
          <a:bodyPr wrap="square" lIns="0" tIns="0" rIns="0" bIns="0" rtlCol="0" anchor="ctr"/>
          <a:lstStyle/>
          <a:p>
            <a:r>
              <a:rPr lang="en-US" sz="1333" dirty="0">
                <a:solidFill>
                  <a:srgbClr val="E5E7EB"/>
                </a:solidFill>
                <a:latin typeface="Segoe UI (Body)"/>
                <a:ea typeface="Calibri" pitchFamily="34" charset="-122"/>
                <a:cs typeface="Calibri" pitchFamily="34" charset="-120"/>
              </a:rPr>
              <a:t>Búsqueda semántica sobre SharePoint, OneDrive y correos para traer KBs y mitigaciones al borrador.</a:t>
            </a:r>
            <a:endParaRPr lang="en-US" sz="1333" dirty="0">
              <a:latin typeface="Segoe UI (Body)"/>
            </a:endParaRPr>
          </a:p>
        </p:txBody>
      </p:sp>
      <p:sp>
        <p:nvSpPr>
          <p:cNvPr id="100" name="Shape 32">
            <a:extLst>
              <a:ext uri="{FF2B5EF4-FFF2-40B4-BE49-F238E27FC236}">
                <a16:creationId xmlns:a16="http://schemas.microsoft.com/office/drawing/2014/main" id="{144A8307-6922-D00F-26F9-79F3AC18F1F4}"/>
              </a:ext>
            </a:extLst>
          </p:cNvPr>
          <p:cNvSpPr/>
          <p:nvPr/>
        </p:nvSpPr>
        <p:spPr>
          <a:xfrm>
            <a:off x="6096000" y="4023360"/>
            <a:ext cx="5242560" cy="2255520"/>
          </a:xfrm>
          <a:prstGeom prst="rect">
            <a:avLst/>
          </a:prstGeom>
          <a:solidFill>
            <a:srgbClr val="161B2E"/>
          </a:solidFill>
          <a:ln w="12700">
            <a:solidFill>
              <a:srgbClr val="22D3EE"/>
            </a:solidFill>
            <a:prstDash val="solid"/>
          </a:ln>
        </p:spPr>
        <p:txBody>
          <a:bodyPr/>
          <a:lstStyle/>
          <a:p>
            <a:endParaRPr lang="en-US" sz="2400">
              <a:latin typeface="Segoe UI (Body)"/>
            </a:endParaRPr>
          </a:p>
        </p:txBody>
      </p:sp>
      <p:sp>
        <p:nvSpPr>
          <p:cNvPr id="101" name="Shape 33">
            <a:extLst>
              <a:ext uri="{FF2B5EF4-FFF2-40B4-BE49-F238E27FC236}">
                <a16:creationId xmlns:a16="http://schemas.microsoft.com/office/drawing/2014/main" id="{1E735F49-9FA0-2FF9-458D-D00194004F8E}"/>
              </a:ext>
            </a:extLst>
          </p:cNvPr>
          <p:cNvSpPr/>
          <p:nvPr/>
        </p:nvSpPr>
        <p:spPr>
          <a:xfrm>
            <a:off x="6096000" y="4023360"/>
            <a:ext cx="5242560" cy="97536"/>
          </a:xfrm>
          <a:prstGeom prst="rect">
            <a:avLst/>
          </a:prstGeom>
          <a:solidFill>
            <a:srgbClr val="22D3EE"/>
          </a:solidFill>
          <a:ln w="12700">
            <a:solidFill>
              <a:srgbClr val="22D3EE"/>
            </a:solidFill>
            <a:prstDash val="solid"/>
          </a:ln>
        </p:spPr>
        <p:txBody>
          <a:bodyPr/>
          <a:lstStyle/>
          <a:p>
            <a:endParaRPr lang="en-US" sz="2400">
              <a:latin typeface="Segoe UI (Body)"/>
            </a:endParaRPr>
          </a:p>
        </p:txBody>
      </p:sp>
      <p:pic>
        <p:nvPicPr>
          <p:cNvPr id="102" name="Image 3" descr="preencoded.png">
            <a:extLst>
              <a:ext uri="{FF2B5EF4-FFF2-40B4-BE49-F238E27FC236}">
                <a16:creationId xmlns:a16="http://schemas.microsoft.com/office/drawing/2014/main" id="{5705381E-E424-16DB-8FF6-E7A58AE24056}"/>
              </a:ext>
            </a:extLst>
          </p:cNvPr>
          <p:cNvPicPr>
            <a:picLocks noChangeAspect="1"/>
          </p:cNvPicPr>
          <p:nvPr/>
        </p:nvPicPr>
        <p:blipFill>
          <a:blip r:embed="rId5"/>
          <a:stretch>
            <a:fillRect/>
          </a:stretch>
        </p:blipFill>
        <p:spPr>
          <a:xfrm>
            <a:off x="6315456" y="4291584"/>
            <a:ext cx="609600" cy="609600"/>
          </a:xfrm>
          <a:prstGeom prst="rect">
            <a:avLst/>
          </a:prstGeom>
        </p:spPr>
      </p:pic>
      <p:sp>
        <p:nvSpPr>
          <p:cNvPr id="103" name="Text 34">
            <a:extLst>
              <a:ext uri="{FF2B5EF4-FFF2-40B4-BE49-F238E27FC236}">
                <a16:creationId xmlns:a16="http://schemas.microsoft.com/office/drawing/2014/main" id="{020A8289-3A28-DF68-0569-C3642565C0C4}"/>
              </a:ext>
            </a:extLst>
          </p:cNvPr>
          <p:cNvSpPr/>
          <p:nvPr/>
        </p:nvSpPr>
        <p:spPr>
          <a:xfrm>
            <a:off x="7071360" y="4267200"/>
            <a:ext cx="4084320" cy="390144"/>
          </a:xfrm>
          <a:prstGeom prst="rect">
            <a:avLst/>
          </a:prstGeom>
          <a:noFill/>
          <a:ln/>
        </p:spPr>
        <p:txBody>
          <a:bodyPr wrap="square" lIns="0" tIns="0" rIns="0" bIns="0" rtlCol="0" anchor="ctr"/>
          <a:lstStyle/>
          <a:p>
            <a:r>
              <a:rPr lang="en-US" sz="1867" b="1" dirty="0">
                <a:solidFill>
                  <a:srgbClr val="22D3EE"/>
                </a:solidFill>
                <a:latin typeface="Segoe UI (Body)"/>
                <a:ea typeface="Calibri" pitchFamily="34" charset="-122"/>
                <a:cs typeface="Calibri" pitchFamily="34" charset="-120"/>
              </a:rPr>
              <a:t>ServiceNow MCP</a:t>
            </a:r>
            <a:endParaRPr lang="en-US" sz="1867" dirty="0">
              <a:latin typeface="Segoe UI (Body)"/>
            </a:endParaRPr>
          </a:p>
        </p:txBody>
      </p:sp>
      <p:sp>
        <p:nvSpPr>
          <p:cNvPr id="104" name="Text 35">
            <a:extLst>
              <a:ext uri="{FF2B5EF4-FFF2-40B4-BE49-F238E27FC236}">
                <a16:creationId xmlns:a16="http://schemas.microsoft.com/office/drawing/2014/main" id="{6FF907A0-55F5-5C48-9FD9-B5F3654DFC1E}"/>
              </a:ext>
            </a:extLst>
          </p:cNvPr>
          <p:cNvSpPr/>
          <p:nvPr/>
        </p:nvSpPr>
        <p:spPr>
          <a:xfrm>
            <a:off x="7071360" y="4657344"/>
            <a:ext cx="4084320" cy="268224"/>
          </a:xfrm>
          <a:prstGeom prst="rect">
            <a:avLst/>
          </a:prstGeom>
          <a:noFill/>
          <a:ln/>
        </p:spPr>
        <p:txBody>
          <a:bodyPr wrap="square" lIns="0" tIns="0" rIns="0" bIns="0" rtlCol="0" anchor="ctr"/>
          <a:lstStyle/>
          <a:p>
            <a:r>
              <a:rPr lang="en-US" sz="1200" i="1" dirty="0">
                <a:solidFill>
                  <a:srgbClr val="94A3B8"/>
                </a:solidFill>
                <a:latin typeface="Segoe UI (Body)"/>
                <a:ea typeface="Calibri" pitchFamily="34" charset="-122"/>
                <a:cs typeface="Calibri" pitchFamily="34" charset="-120"/>
              </a:rPr>
              <a:t>ServiceNow Now Assist · REST-wrapped</a:t>
            </a:r>
            <a:endParaRPr lang="en-US" sz="1200" dirty="0">
              <a:latin typeface="Segoe UI (Body)"/>
            </a:endParaRPr>
          </a:p>
        </p:txBody>
      </p:sp>
      <p:sp>
        <p:nvSpPr>
          <p:cNvPr id="105" name="Shape 36">
            <a:extLst>
              <a:ext uri="{FF2B5EF4-FFF2-40B4-BE49-F238E27FC236}">
                <a16:creationId xmlns:a16="http://schemas.microsoft.com/office/drawing/2014/main" id="{4BA8CA24-4514-9C58-DFBE-200F8EE7BF34}"/>
              </a:ext>
            </a:extLst>
          </p:cNvPr>
          <p:cNvSpPr/>
          <p:nvPr/>
        </p:nvSpPr>
        <p:spPr>
          <a:xfrm>
            <a:off x="6315456" y="5059680"/>
            <a:ext cx="1182624"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106" name="Text 37">
            <a:extLst>
              <a:ext uri="{FF2B5EF4-FFF2-40B4-BE49-F238E27FC236}">
                <a16:creationId xmlns:a16="http://schemas.microsoft.com/office/drawing/2014/main" id="{854390F0-D211-F9D0-4844-134906C98537}"/>
              </a:ext>
            </a:extLst>
          </p:cNvPr>
          <p:cNvSpPr/>
          <p:nvPr/>
        </p:nvSpPr>
        <p:spPr>
          <a:xfrm>
            <a:off x="6315456" y="5059680"/>
            <a:ext cx="118262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getIncident</a:t>
            </a:r>
            <a:endParaRPr lang="en-US" sz="1200" dirty="0">
              <a:latin typeface="Segoe UI (Body)"/>
            </a:endParaRPr>
          </a:p>
        </p:txBody>
      </p:sp>
      <p:sp>
        <p:nvSpPr>
          <p:cNvPr id="107" name="Shape 38">
            <a:extLst>
              <a:ext uri="{FF2B5EF4-FFF2-40B4-BE49-F238E27FC236}">
                <a16:creationId xmlns:a16="http://schemas.microsoft.com/office/drawing/2014/main" id="{2038214E-0F09-4412-0828-1B3C307EAAD4}"/>
              </a:ext>
            </a:extLst>
          </p:cNvPr>
          <p:cNvSpPr/>
          <p:nvPr/>
        </p:nvSpPr>
        <p:spPr>
          <a:xfrm>
            <a:off x="7620000" y="5059680"/>
            <a:ext cx="1182624"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108" name="Text 39">
            <a:extLst>
              <a:ext uri="{FF2B5EF4-FFF2-40B4-BE49-F238E27FC236}">
                <a16:creationId xmlns:a16="http://schemas.microsoft.com/office/drawing/2014/main" id="{0943AB23-0160-EB22-3385-33944C37F3D1}"/>
              </a:ext>
            </a:extLst>
          </p:cNvPr>
          <p:cNvSpPr/>
          <p:nvPr/>
        </p:nvSpPr>
        <p:spPr>
          <a:xfrm>
            <a:off x="7620000" y="5059680"/>
            <a:ext cx="1182624"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addWorkNote</a:t>
            </a:r>
            <a:endParaRPr lang="en-US" sz="1200" dirty="0">
              <a:latin typeface="Segoe UI (Body)"/>
            </a:endParaRPr>
          </a:p>
        </p:txBody>
      </p:sp>
      <p:sp>
        <p:nvSpPr>
          <p:cNvPr id="109" name="Shape 40">
            <a:extLst>
              <a:ext uri="{FF2B5EF4-FFF2-40B4-BE49-F238E27FC236}">
                <a16:creationId xmlns:a16="http://schemas.microsoft.com/office/drawing/2014/main" id="{28CF7A9B-901D-F960-6D8E-5E1C5885FEE1}"/>
              </a:ext>
            </a:extLst>
          </p:cNvPr>
          <p:cNvSpPr/>
          <p:nvPr/>
        </p:nvSpPr>
        <p:spPr>
          <a:xfrm>
            <a:off x="8924544" y="5059680"/>
            <a:ext cx="1865376" cy="316992"/>
          </a:xfrm>
          <a:prstGeom prst="roundRect">
            <a:avLst>
              <a:gd name="adj" fmla="val 38462"/>
            </a:avLst>
          </a:prstGeom>
          <a:solidFill>
            <a:srgbClr val="1F2540"/>
          </a:solidFill>
          <a:ln w="6350">
            <a:solidFill>
              <a:srgbClr val="22D3EE"/>
            </a:solidFill>
            <a:prstDash val="solid"/>
          </a:ln>
        </p:spPr>
        <p:txBody>
          <a:bodyPr/>
          <a:lstStyle/>
          <a:p>
            <a:endParaRPr lang="en-US" sz="2400">
              <a:latin typeface="Segoe UI (Body)"/>
            </a:endParaRPr>
          </a:p>
        </p:txBody>
      </p:sp>
      <p:sp>
        <p:nvSpPr>
          <p:cNvPr id="110" name="Text 41">
            <a:extLst>
              <a:ext uri="{FF2B5EF4-FFF2-40B4-BE49-F238E27FC236}">
                <a16:creationId xmlns:a16="http://schemas.microsoft.com/office/drawing/2014/main" id="{D148D5D6-EF05-CE72-FED5-A73DD1506A86}"/>
              </a:ext>
            </a:extLst>
          </p:cNvPr>
          <p:cNvSpPr/>
          <p:nvPr/>
        </p:nvSpPr>
        <p:spPr>
          <a:xfrm>
            <a:off x="8924544" y="5059680"/>
            <a:ext cx="1865376" cy="316992"/>
          </a:xfrm>
          <a:prstGeom prst="rect">
            <a:avLst/>
          </a:prstGeom>
          <a:noFill/>
          <a:ln/>
        </p:spPr>
        <p:txBody>
          <a:bodyPr wrap="square" lIns="0" tIns="0" rIns="0" bIns="0" rtlCol="0" anchor="ctr"/>
          <a:lstStyle/>
          <a:p>
            <a:pPr algn="ctr"/>
            <a:r>
              <a:rPr lang="en-US" sz="1200" dirty="0">
                <a:solidFill>
                  <a:srgbClr val="E5E7EB"/>
                </a:solidFill>
                <a:latin typeface="Segoe UI (Body)"/>
                <a:ea typeface="Consolas" pitchFamily="34" charset="-122"/>
                <a:cs typeface="Consolas" pitchFamily="34" charset="-120"/>
              </a:rPr>
              <a:t>updateIncidentState</a:t>
            </a:r>
            <a:endParaRPr lang="en-US" sz="1200" dirty="0">
              <a:latin typeface="Segoe UI (Body)"/>
            </a:endParaRPr>
          </a:p>
        </p:txBody>
      </p:sp>
      <p:sp>
        <p:nvSpPr>
          <p:cNvPr id="111" name="Text 42">
            <a:extLst>
              <a:ext uri="{FF2B5EF4-FFF2-40B4-BE49-F238E27FC236}">
                <a16:creationId xmlns:a16="http://schemas.microsoft.com/office/drawing/2014/main" id="{41A2ED54-8C86-CDA1-B20E-C13184CD0249}"/>
              </a:ext>
            </a:extLst>
          </p:cNvPr>
          <p:cNvSpPr/>
          <p:nvPr/>
        </p:nvSpPr>
        <p:spPr>
          <a:xfrm>
            <a:off x="6315456" y="5486400"/>
            <a:ext cx="4876800" cy="707136"/>
          </a:xfrm>
          <a:prstGeom prst="rect">
            <a:avLst/>
          </a:prstGeom>
          <a:noFill/>
          <a:ln/>
        </p:spPr>
        <p:txBody>
          <a:bodyPr wrap="square" lIns="0" tIns="0" rIns="0" bIns="0" rtlCol="0" anchor="ctr"/>
          <a:lstStyle/>
          <a:p>
            <a:r>
              <a:rPr lang="en-US" sz="1333" dirty="0">
                <a:solidFill>
                  <a:srgbClr val="E5E7EB"/>
                </a:solidFill>
                <a:latin typeface="Segoe UI (Body)"/>
                <a:ea typeface="Calibri" pitchFamily="34" charset="-122"/>
                <a:cs typeface="Calibri" pitchFamily="34" charset="-120"/>
              </a:rPr>
              <a:t>Lee el INC, añade una work note, y actualiza el estado a In Progress desde la misma conversación.</a:t>
            </a:r>
            <a:endParaRPr lang="en-US" sz="1333" dirty="0">
              <a:latin typeface="Segoe UI (Body)"/>
            </a:endParaRPr>
          </a:p>
        </p:txBody>
      </p:sp>
      <p:sp>
        <p:nvSpPr>
          <p:cNvPr id="112" name="Shape 43">
            <a:extLst>
              <a:ext uri="{FF2B5EF4-FFF2-40B4-BE49-F238E27FC236}">
                <a16:creationId xmlns:a16="http://schemas.microsoft.com/office/drawing/2014/main" id="{EA23E1EF-9920-BFD7-9330-C3A0045ABDBF}"/>
              </a:ext>
            </a:extLst>
          </p:cNvPr>
          <p:cNvSpPr/>
          <p:nvPr/>
        </p:nvSpPr>
        <p:spPr>
          <a:xfrm>
            <a:off x="731520" y="6096000"/>
            <a:ext cx="10607040" cy="268224"/>
          </a:xfrm>
          <a:prstGeom prst="rect">
            <a:avLst/>
          </a:prstGeom>
          <a:solidFill>
            <a:srgbClr val="1F2540"/>
          </a:solidFill>
          <a:ln w="5080">
            <a:solidFill>
              <a:srgbClr val="F472B6"/>
            </a:solidFill>
            <a:prstDash val="solid"/>
          </a:ln>
        </p:spPr>
        <p:txBody>
          <a:bodyPr/>
          <a:lstStyle/>
          <a:p>
            <a:endParaRPr lang="en-US" sz="2400">
              <a:latin typeface="Segoe UI (Body)"/>
            </a:endParaRPr>
          </a:p>
        </p:txBody>
      </p:sp>
      <p:sp>
        <p:nvSpPr>
          <p:cNvPr id="113" name="Text 44">
            <a:extLst>
              <a:ext uri="{FF2B5EF4-FFF2-40B4-BE49-F238E27FC236}">
                <a16:creationId xmlns:a16="http://schemas.microsoft.com/office/drawing/2014/main" id="{6456A57C-A973-3D44-0B66-1104A4DC9EC3}"/>
              </a:ext>
            </a:extLst>
          </p:cNvPr>
          <p:cNvSpPr/>
          <p:nvPr/>
        </p:nvSpPr>
        <p:spPr>
          <a:xfrm>
            <a:off x="914400" y="6096000"/>
            <a:ext cx="10363200" cy="268224"/>
          </a:xfrm>
          <a:prstGeom prst="rect">
            <a:avLst/>
          </a:prstGeom>
          <a:noFill/>
          <a:ln/>
        </p:spPr>
        <p:txBody>
          <a:bodyPr wrap="square" lIns="0" tIns="0" rIns="0" bIns="0" rtlCol="0" anchor="ctr"/>
          <a:lstStyle/>
          <a:p>
            <a:r>
              <a:rPr lang="en-US" sz="1200" b="1" kern="0" spc="267" dirty="0">
                <a:solidFill>
                  <a:srgbClr val="F472B6"/>
                </a:solidFill>
                <a:latin typeface="Segoe UI (Body)"/>
                <a:ea typeface="Consolas" pitchFamily="34" charset="-122"/>
                <a:cs typeface="Consolas" pitchFamily="34" charset="-120"/>
              </a:rPr>
              <a:t>GOVERNANCE  </a:t>
            </a:r>
            <a:r>
              <a:rPr lang="en-US" sz="1200" dirty="0">
                <a:solidFill>
                  <a:srgbClr val="E5E7EB"/>
                </a:solidFill>
                <a:latin typeface="Segoe UI (Body)"/>
                <a:ea typeface="Calibri" pitchFamily="34" charset="-122"/>
                <a:cs typeface="Calibri" pitchFamily="34" charset="-120"/>
              </a:rPr>
              <a:t>Todos los servidores se permiten/bloquean en Microsoft 365 admin center bajo Agent 365 (DLP, MIP, audit log).</a:t>
            </a:r>
            <a:endParaRPr lang="en-US" sz="1200" dirty="0">
              <a:latin typeface="Segoe UI (Body)"/>
            </a:endParaRPr>
          </a:p>
        </p:txBody>
      </p:sp>
      <p:pic>
        <p:nvPicPr>
          <p:cNvPr id="7" name="Picture Placeholder 3">
            <a:extLst>
              <a:ext uri="{FF2B5EF4-FFF2-40B4-BE49-F238E27FC236}">
                <a16:creationId xmlns:a16="http://schemas.microsoft.com/office/drawing/2014/main" id="{F9AC5E1C-B55B-DAC2-D332-DBC7F1BD9F50}"/>
              </a:ext>
            </a:extLst>
          </p:cNvPr>
          <p:cNvPicPr>
            <a:picLocks noChangeAspect="1"/>
          </p:cNvPicPr>
          <p:nvPr/>
        </p:nvPicPr>
        <p:blipFill>
          <a:blip r:embed="rId6"/>
          <a:srcRect t="312" b="312"/>
          <a:stretch/>
        </p:blipFill>
        <p:spPr>
          <a:xfrm>
            <a:off x="11370252" y="103914"/>
            <a:ext cx="644108" cy="640080"/>
          </a:xfrm>
          <a:prstGeom prst="ellipse">
            <a:avLst/>
          </a:prstGeom>
          <a:ln>
            <a:noFill/>
          </a:ln>
          <a:effectLst>
            <a:softEdge rad="112500"/>
          </a:effectLst>
        </p:spPr>
      </p:pic>
    </p:spTree>
    <p:extLst>
      <p:ext uri="{BB962C8B-B14F-4D97-AF65-F5344CB8AC3E}">
        <p14:creationId xmlns:p14="http://schemas.microsoft.com/office/powerpoint/2010/main" val="910310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0EDAB-EAF1-CB3B-FDA1-F49AE8F700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F3D05E-AA5E-B045-E82C-AB4BD874BB48}"/>
              </a:ext>
            </a:extLst>
          </p:cNvPr>
          <p:cNvSpPr>
            <a:spLocks noGrp="1"/>
          </p:cNvSpPr>
          <p:nvPr>
            <p:ph type="title"/>
          </p:nvPr>
        </p:nvSpPr>
        <p:spPr>
          <a:xfrm>
            <a:off x="978951" y="2927227"/>
            <a:ext cx="10240453" cy="997196"/>
          </a:xfrm>
        </p:spPr>
        <p:txBody>
          <a:bodyPr/>
          <a:lstStyle/>
          <a:p>
            <a:pPr algn="ctr"/>
            <a:r>
              <a:rPr lang="es-ES" sz="4800" b="1" dirty="0"/>
              <a:t>C</a:t>
            </a:r>
            <a:r>
              <a:rPr lang="en-US" sz="4800" b="1" dirty="0" err="1"/>
              <a:t>onclusiones</a:t>
            </a:r>
            <a:r>
              <a:rPr lang="en-US" sz="4800" b="1" dirty="0"/>
              <a:t> y </a:t>
            </a:r>
            <a:r>
              <a:rPr lang="en-US" sz="4800" b="1" dirty="0" err="1"/>
              <a:t>Referencias</a:t>
            </a:r>
            <a:endParaRPr lang="en-US" sz="4800" b="1" dirty="0"/>
          </a:p>
        </p:txBody>
      </p:sp>
      <p:sp>
        <p:nvSpPr>
          <p:cNvPr id="2" name="Text Placeholder 1">
            <a:extLst>
              <a:ext uri="{FF2B5EF4-FFF2-40B4-BE49-F238E27FC236}">
                <a16:creationId xmlns:a16="http://schemas.microsoft.com/office/drawing/2014/main" id="{F0E83B2E-4B4D-5FED-E7CA-8DC261B1983E}"/>
              </a:ext>
            </a:extLst>
          </p:cNvPr>
          <p:cNvSpPr>
            <a:spLocks noGrp="1"/>
          </p:cNvSpPr>
          <p:nvPr>
            <p:ph type="body" sz="quarter" idx="12"/>
          </p:nvPr>
        </p:nvSpPr>
        <p:spPr/>
        <p:txBody>
          <a:bodyPr/>
          <a:lstStyle/>
          <a:p>
            <a:endParaRPr lang="en-US" sz="1800" dirty="0"/>
          </a:p>
          <a:p>
            <a:endParaRPr lang="en-US" sz="1800" dirty="0"/>
          </a:p>
        </p:txBody>
      </p:sp>
    </p:spTree>
    <p:extLst>
      <p:ext uri="{BB962C8B-B14F-4D97-AF65-F5344CB8AC3E}">
        <p14:creationId xmlns:p14="http://schemas.microsoft.com/office/powerpoint/2010/main" val="3903441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07743-86E7-4AF3-6C46-FC3B9CF2FA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1C4F10-783E-676B-8E9C-93201A85E4EB}"/>
              </a:ext>
            </a:extLst>
          </p:cNvPr>
          <p:cNvSpPr>
            <a:spLocks noGrp="1"/>
          </p:cNvSpPr>
          <p:nvPr>
            <p:ph type="body" sz="quarter" idx="4294967295"/>
          </p:nvPr>
        </p:nvSpPr>
        <p:spPr>
          <a:xfrm>
            <a:off x="3827463" y="1389063"/>
            <a:ext cx="8364537" cy="4017962"/>
          </a:xfrm>
        </p:spPr>
        <p:txBody>
          <a:bodyPr/>
          <a:lstStyle/>
          <a:p>
            <a:endParaRPr lang="en-US" sz="1800" dirty="0"/>
          </a:p>
          <a:p>
            <a:endParaRPr lang="en-US" sz="1800" dirty="0"/>
          </a:p>
        </p:txBody>
      </p:sp>
      <p:sp>
        <p:nvSpPr>
          <p:cNvPr id="4" name="Title 5">
            <a:extLst>
              <a:ext uri="{FF2B5EF4-FFF2-40B4-BE49-F238E27FC236}">
                <a16:creationId xmlns:a16="http://schemas.microsoft.com/office/drawing/2014/main" id="{01A006DE-FC42-876E-34E2-0089F7B571A7}"/>
              </a:ext>
            </a:extLst>
          </p:cNvPr>
          <p:cNvSpPr>
            <a:spLocks noGrp="1"/>
          </p:cNvSpPr>
          <p:nvPr>
            <p:ph type="title"/>
          </p:nvPr>
        </p:nvSpPr>
        <p:spPr>
          <a:xfrm>
            <a:off x="519248" y="228604"/>
            <a:ext cx="11151917" cy="747897"/>
          </a:xfrm>
        </p:spPr>
        <p:txBody>
          <a:bodyPr/>
          <a:lstStyle/>
          <a:p>
            <a:r>
              <a:rPr lang="es-ES" dirty="0"/>
              <a:t>Conclusiones</a:t>
            </a:r>
            <a:endParaRPr lang="en-US" dirty="0"/>
          </a:p>
        </p:txBody>
      </p:sp>
      <p:sp>
        <p:nvSpPr>
          <p:cNvPr id="49" name="Shape 21">
            <a:extLst>
              <a:ext uri="{FF2B5EF4-FFF2-40B4-BE49-F238E27FC236}">
                <a16:creationId xmlns:a16="http://schemas.microsoft.com/office/drawing/2014/main" id="{C78BCDA1-3DF0-96FF-916F-05F30106AA96}"/>
              </a:ext>
            </a:extLst>
          </p:cNvPr>
          <p:cNvSpPr/>
          <p:nvPr/>
        </p:nvSpPr>
        <p:spPr>
          <a:xfrm>
            <a:off x="600363" y="6326909"/>
            <a:ext cx="10972800" cy="0"/>
          </a:xfrm>
          <a:prstGeom prst="line">
            <a:avLst/>
          </a:prstGeom>
          <a:noFill/>
          <a:ln w="9525">
            <a:solidFill>
              <a:srgbClr val="475569"/>
            </a:solidFill>
            <a:prstDash val="solid"/>
          </a:ln>
        </p:spPr>
        <p:txBody>
          <a:bodyPr/>
          <a:lstStyle/>
          <a:p>
            <a:pPr marL="0" marR="0" lvl="0" indent="0" algn="l" defTabSz="914363"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33333"/>
              </a:solidFill>
              <a:effectLst/>
              <a:uLnTx/>
              <a:uFillTx/>
              <a:latin typeface="Segoe UI"/>
              <a:ea typeface="+mn-ea"/>
              <a:cs typeface="+mn-cs"/>
            </a:endParaRPr>
          </a:p>
        </p:txBody>
      </p:sp>
      <p:sp>
        <p:nvSpPr>
          <p:cNvPr id="7" name="Shape 1">
            <a:extLst>
              <a:ext uri="{FF2B5EF4-FFF2-40B4-BE49-F238E27FC236}">
                <a16:creationId xmlns:a16="http://schemas.microsoft.com/office/drawing/2014/main" id="{D555ACFD-34B7-7736-54E4-8ACD8C21F5B3}"/>
              </a:ext>
            </a:extLst>
          </p:cNvPr>
          <p:cNvSpPr/>
          <p:nvPr/>
        </p:nvSpPr>
        <p:spPr>
          <a:xfrm>
            <a:off x="10363200" y="-1463040"/>
            <a:ext cx="3901440" cy="3901440"/>
          </a:xfrm>
          <a:prstGeom prst="ellipse">
            <a:avLst/>
          </a:prstGeom>
          <a:solidFill>
            <a:schemeClr val="tx1">
              <a:lumMod val="50000"/>
            </a:schemeClr>
          </a:solidFill>
          <a:ln w="9525">
            <a:solidFill>
              <a:srgbClr val="A78BFA">
                <a:alpha val="40000"/>
              </a:srgbClr>
            </a:solidFill>
            <a:prstDash val="solid"/>
          </a:ln>
        </p:spPr>
        <p:txBody>
          <a:bodyPr/>
          <a:lstStyle/>
          <a:p>
            <a:pPr defTabSz="1219170"/>
            <a:endParaRPr lang="en-US" sz="2400">
              <a:solidFill>
                <a:prstClr val="black"/>
              </a:solidFill>
              <a:latin typeface="Calibri" panose="020F0502020204030204"/>
            </a:endParaRPr>
          </a:p>
        </p:txBody>
      </p:sp>
      <p:sp>
        <p:nvSpPr>
          <p:cNvPr id="8" name="Text 3">
            <a:extLst>
              <a:ext uri="{FF2B5EF4-FFF2-40B4-BE49-F238E27FC236}">
                <a16:creationId xmlns:a16="http://schemas.microsoft.com/office/drawing/2014/main" id="{2636B6A3-A3A0-1B63-4930-472FE0E23F48}"/>
              </a:ext>
            </a:extLst>
          </p:cNvPr>
          <p:cNvSpPr/>
          <p:nvPr/>
        </p:nvSpPr>
        <p:spPr>
          <a:xfrm>
            <a:off x="731520" y="1280160"/>
            <a:ext cx="10195098" cy="2072640"/>
          </a:xfrm>
          <a:prstGeom prst="rect">
            <a:avLst/>
          </a:prstGeom>
          <a:noFill/>
          <a:ln/>
        </p:spPr>
        <p:txBody>
          <a:bodyPr wrap="square" lIns="0" tIns="0" rIns="0" bIns="0" rtlCol="0" anchor="ctr"/>
          <a:lstStyle/>
          <a:p>
            <a:pPr defTabSz="1219170"/>
            <a:r>
              <a:rPr lang="en-US" sz="4400" b="1" dirty="0">
                <a:solidFill>
                  <a:srgbClr val="E5E7EB"/>
                </a:solidFill>
                <a:latin typeface="Calibri" pitchFamily="34" charset="0"/>
                <a:ea typeface="Calibri" pitchFamily="34" charset="-122"/>
                <a:cs typeface="Calibri" pitchFamily="34" charset="-120"/>
              </a:rPr>
              <a:t>Work IQ es </a:t>
            </a:r>
            <a:r>
              <a:rPr lang="en-US" sz="4400" b="1" dirty="0" err="1">
                <a:solidFill>
                  <a:srgbClr val="E5E7EB"/>
                </a:solidFill>
                <a:latin typeface="Calibri" pitchFamily="34" charset="0"/>
                <a:ea typeface="Calibri" pitchFamily="34" charset="-122"/>
                <a:cs typeface="Calibri" pitchFamily="34" charset="-120"/>
              </a:rPr>
              <a:t>el</a:t>
            </a:r>
            <a:r>
              <a:rPr lang="en-US" sz="4400" b="1" dirty="0">
                <a:solidFill>
                  <a:srgbClr val="E5E7EB"/>
                </a:solidFill>
                <a:latin typeface="Calibri" pitchFamily="34" charset="0"/>
                <a:ea typeface="Calibri" pitchFamily="34" charset="-122"/>
                <a:cs typeface="Calibri" pitchFamily="34" charset="-120"/>
              </a:rPr>
              <a:t> </a:t>
            </a:r>
            <a:r>
              <a:rPr lang="en-US" sz="4400" b="1" dirty="0" err="1">
                <a:solidFill>
                  <a:srgbClr val="E5E7EB"/>
                </a:solidFill>
                <a:latin typeface="Calibri" pitchFamily="34" charset="0"/>
                <a:ea typeface="Calibri" pitchFamily="34" charset="-122"/>
                <a:cs typeface="Calibri" pitchFamily="34" charset="-120"/>
              </a:rPr>
              <a:t>cerebro</a:t>
            </a:r>
            <a:r>
              <a:rPr lang="en-US" sz="4400" b="1" dirty="0">
                <a:solidFill>
                  <a:srgbClr val="E5E7EB"/>
                </a:solidFill>
                <a:latin typeface="Calibri" pitchFamily="34" charset="0"/>
                <a:ea typeface="Calibri" pitchFamily="34" charset="-122"/>
                <a:cs typeface="Calibri" pitchFamily="34" charset="-120"/>
              </a:rPr>
              <a:t> </a:t>
            </a:r>
            <a:r>
              <a:rPr lang="en-US" sz="4400" b="1" dirty="0" err="1">
                <a:solidFill>
                  <a:srgbClr val="E5E7EB"/>
                </a:solidFill>
                <a:latin typeface="Calibri" pitchFamily="34" charset="0"/>
                <a:ea typeface="Calibri" pitchFamily="34" charset="-122"/>
                <a:cs typeface="Calibri" pitchFamily="34" charset="-120"/>
              </a:rPr>
              <a:t>detrás</a:t>
            </a:r>
            <a:r>
              <a:rPr lang="en-US" sz="4400" b="1" dirty="0">
                <a:solidFill>
                  <a:srgbClr val="E5E7EB"/>
                </a:solidFill>
                <a:latin typeface="Calibri" pitchFamily="34" charset="0"/>
                <a:ea typeface="Calibri" pitchFamily="34" charset="-122"/>
                <a:cs typeface="Calibri" pitchFamily="34" charset="-120"/>
              </a:rPr>
              <a:t> de Microsoft 365 Copilot y </a:t>
            </a:r>
            <a:r>
              <a:rPr lang="en-US" sz="4400" b="1" dirty="0" err="1">
                <a:solidFill>
                  <a:srgbClr val="E5E7EB"/>
                </a:solidFill>
                <a:latin typeface="Calibri" pitchFamily="34" charset="0"/>
                <a:ea typeface="Calibri" pitchFamily="34" charset="-122"/>
                <a:cs typeface="Calibri" pitchFamily="34" charset="-120"/>
              </a:rPr>
              <a:t>Agentes</a:t>
            </a:r>
            <a:r>
              <a:rPr lang="en-US" sz="4400" b="1" dirty="0">
                <a:solidFill>
                  <a:srgbClr val="E5E7EB"/>
                </a:solidFill>
                <a:latin typeface="Calibri" pitchFamily="34" charset="0"/>
                <a:ea typeface="Calibri" pitchFamily="34" charset="-122"/>
                <a:cs typeface="Calibri" pitchFamily="34" charset="-120"/>
              </a:rPr>
              <a:t> </a:t>
            </a:r>
            <a:r>
              <a:rPr lang="en-US" sz="4400" b="1" dirty="0" err="1">
                <a:solidFill>
                  <a:srgbClr val="E5E7EB"/>
                </a:solidFill>
                <a:latin typeface="Calibri" pitchFamily="34" charset="0"/>
                <a:ea typeface="Calibri" pitchFamily="34" charset="-122"/>
                <a:cs typeface="Calibri" pitchFamily="34" charset="-120"/>
              </a:rPr>
              <a:t>personalizados</a:t>
            </a:r>
            <a:endParaRPr lang="en-US" sz="4400" dirty="0">
              <a:solidFill>
                <a:prstClr val="black"/>
              </a:solidFill>
              <a:latin typeface="Calibri" panose="020F0502020204030204"/>
            </a:endParaRPr>
          </a:p>
        </p:txBody>
      </p:sp>
      <p:sp>
        <p:nvSpPr>
          <p:cNvPr id="9" name="Shape 4">
            <a:extLst>
              <a:ext uri="{FF2B5EF4-FFF2-40B4-BE49-F238E27FC236}">
                <a16:creationId xmlns:a16="http://schemas.microsoft.com/office/drawing/2014/main" id="{2189F376-0CD3-C594-654C-725C4B01C600}"/>
              </a:ext>
            </a:extLst>
          </p:cNvPr>
          <p:cNvSpPr/>
          <p:nvPr/>
        </p:nvSpPr>
        <p:spPr>
          <a:xfrm>
            <a:off x="731520" y="3683125"/>
            <a:ext cx="3474720" cy="2133600"/>
          </a:xfrm>
          <a:prstGeom prst="rect">
            <a:avLst/>
          </a:prstGeom>
          <a:solidFill>
            <a:srgbClr val="161B2E"/>
          </a:solidFill>
          <a:ln w="9525">
            <a:solidFill>
              <a:srgbClr val="22D3EE"/>
            </a:solidFill>
            <a:prstDash val="solid"/>
          </a:ln>
        </p:spPr>
        <p:txBody>
          <a:bodyPr/>
          <a:lstStyle/>
          <a:p>
            <a:pPr defTabSz="1219170"/>
            <a:endParaRPr lang="en-US" sz="2400">
              <a:solidFill>
                <a:prstClr val="black"/>
              </a:solidFill>
              <a:latin typeface="Segoe UI (Body)"/>
            </a:endParaRPr>
          </a:p>
        </p:txBody>
      </p:sp>
      <p:sp>
        <p:nvSpPr>
          <p:cNvPr id="10" name="Shape 5">
            <a:extLst>
              <a:ext uri="{FF2B5EF4-FFF2-40B4-BE49-F238E27FC236}">
                <a16:creationId xmlns:a16="http://schemas.microsoft.com/office/drawing/2014/main" id="{F864DB1B-B8FF-38EE-C69D-55413F6B6EA8}"/>
              </a:ext>
            </a:extLst>
          </p:cNvPr>
          <p:cNvSpPr/>
          <p:nvPr/>
        </p:nvSpPr>
        <p:spPr>
          <a:xfrm>
            <a:off x="731520" y="3683125"/>
            <a:ext cx="3474720" cy="73152"/>
          </a:xfrm>
          <a:prstGeom prst="rect">
            <a:avLst/>
          </a:prstGeom>
          <a:solidFill>
            <a:srgbClr val="22D3EE"/>
          </a:solidFill>
          <a:ln w="12700">
            <a:solidFill>
              <a:srgbClr val="22D3EE"/>
            </a:solidFill>
            <a:prstDash val="solid"/>
          </a:ln>
        </p:spPr>
        <p:txBody>
          <a:bodyPr/>
          <a:lstStyle/>
          <a:p>
            <a:pPr defTabSz="1219170"/>
            <a:endParaRPr lang="en-US" sz="2400">
              <a:solidFill>
                <a:prstClr val="black"/>
              </a:solidFill>
              <a:latin typeface="Segoe UI (Body)"/>
            </a:endParaRPr>
          </a:p>
        </p:txBody>
      </p:sp>
      <p:sp>
        <p:nvSpPr>
          <p:cNvPr id="11" name="Text 6">
            <a:extLst>
              <a:ext uri="{FF2B5EF4-FFF2-40B4-BE49-F238E27FC236}">
                <a16:creationId xmlns:a16="http://schemas.microsoft.com/office/drawing/2014/main" id="{C547E97E-173A-ED95-8B88-97F860BE42EA}"/>
              </a:ext>
            </a:extLst>
          </p:cNvPr>
          <p:cNvSpPr/>
          <p:nvPr/>
        </p:nvSpPr>
        <p:spPr>
          <a:xfrm>
            <a:off x="975360" y="3829429"/>
            <a:ext cx="3048000" cy="609600"/>
          </a:xfrm>
          <a:prstGeom prst="rect">
            <a:avLst/>
          </a:prstGeom>
          <a:noFill/>
          <a:ln/>
        </p:spPr>
        <p:txBody>
          <a:bodyPr wrap="square" lIns="0" tIns="0" rIns="0" bIns="0" rtlCol="0" anchor="ctr"/>
          <a:lstStyle/>
          <a:p>
            <a:pPr defTabSz="1219170"/>
            <a:r>
              <a:rPr lang="en-US" sz="1867" b="1" dirty="0">
                <a:solidFill>
                  <a:srgbClr val="22D3EE"/>
                </a:solidFill>
                <a:latin typeface="Segoe UI (Body)"/>
                <a:ea typeface="Calibri" pitchFamily="34" charset="-122"/>
                <a:cs typeface="Calibri" pitchFamily="34" charset="-120"/>
              </a:rPr>
              <a:t>Datos + Contexto + Skills</a:t>
            </a:r>
            <a:endParaRPr lang="en-US" sz="1867" dirty="0">
              <a:solidFill>
                <a:prstClr val="black"/>
              </a:solidFill>
              <a:latin typeface="Segoe UI (Body)"/>
            </a:endParaRPr>
          </a:p>
        </p:txBody>
      </p:sp>
      <p:sp>
        <p:nvSpPr>
          <p:cNvPr id="12" name="Text 7">
            <a:extLst>
              <a:ext uri="{FF2B5EF4-FFF2-40B4-BE49-F238E27FC236}">
                <a16:creationId xmlns:a16="http://schemas.microsoft.com/office/drawing/2014/main" id="{DB964E12-CD9E-E1D1-C329-06C8533FB314}"/>
              </a:ext>
            </a:extLst>
          </p:cNvPr>
          <p:cNvSpPr/>
          <p:nvPr/>
        </p:nvSpPr>
        <p:spPr>
          <a:xfrm>
            <a:off x="975360" y="4390261"/>
            <a:ext cx="3048000" cy="1280160"/>
          </a:xfrm>
          <a:prstGeom prst="rect">
            <a:avLst/>
          </a:prstGeom>
          <a:noFill/>
          <a:ln/>
        </p:spPr>
        <p:txBody>
          <a:bodyPr wrap="square" rtlCol="0" anchor="ctr"/>
          <a:lstStyle/>
          <a:p>
            <a:pPr defTabSz="1219170"/>
            <a:r>
              <a:rPr lang="en-US" sz="1467" dirty="0">
                <a:solidFill>
                  <a:srgbClr val="E5E7EB"/>
                </a:solidFill>
                <a:latin typeface="Segoe UI (Body)"/>
                <a:ea typeface="Calibri" pitchFamily="34" charset="-122"/>
                <a:cs typeface="Calibri" pitchFamily="34" charset="-120"/>
              </a:rPr>
              <a:t>Tres capas integradas que aterrizan a Copilot en la realidad de tu organización.</a:t>
            </a:r>
            <a:endParaRPr lang="en-US" sz="1467" dirty="0">
              <a:solidFill>
                <a:prstClr val="black"/>
              </a:solidFill>
              <a:latin typeface="Segoe UI (Body)"/>
            </a:endParaRPr>
          </a:p>
        </p:txBody>
      </p:sp>
      <p:sp>
        <p:nvSpPr>
          <p:cNvPr id="13" name="Shape 8">
            <a:extLst>
              <a:ext uri="{FF2B5EF4-FFF2-40B4-BE49-F238E27FC236}">
                <a16:creationId xmlns:a16="http://schemas.microsoft.com/office/drawing/2014/main" id="{42956188-725A-773B-0267-C0AD924D8D96}"/>
              </a:ext>
            </a:extLst>
          </p:cNvPr>
          <p:cNvSpPr/>
          <p:nvPr/>
        </p:nvSpPr>
        <p:spPr>
          <a:xfrm>
            <a:off x="4389120" y="3683125"/>
            <a:ext cx="3474720" cy="2133600"/>
          </a:xfrm>
          <a:prstGeom prst="rect">
            <a:avLst/>
          </a:prstGeom>
          <a:solidFill>
            <a:srgbClr val="161B2E"/>
          </a:solidFill>
          <a:ln w="9525">
            <a:solidFill>
              <a:srgbClr val="A78BFA"/>
            </a:solidFill>
            <a:prstDash val="solid"/>
          </a:ln>
        </p:spPr>
        <p:txBody>
          <a:bodyPr/>
          <a:lstStyle/>
          <a:p>
            <a:pPr defTabSz="1219170"/>
            <a:endParaRPr lang="en-US" sz="2400">
              <a:solidFill>
                <a:prstClr val="black"/>
              </a:solidFill>
              <a:latin typeface="Segoe UI (Body)"/>
            </a:endParaRPr>
          </a:p>
        </p:txBody>
      </p:sp>
      <p:sp>
        <p:nvSpPr>
          <p:cNvPr id="14" name="Shape 9">
            <a:extLst>
              <a:ext uri="{FF2B5EF4-FFF2-40B4-BE49-F238E27FC236}">
                <a16:creationId xmlns:a16="http://schemas.microsoft.com/office/drawing/2014/main" id="{5BDEA555-C93D-B2CF-5449-896B1EC54467}"/>
              </a:ext>
            </a:extLst>
          </p:cNvPr>
          <p:cNvSpPr/>
          <p:nvPr/>
        </p:nvSpPr>
        <p:spPr>
          <a:xfrm>
            <a:off x="4389120" y="3683125"/>
            <a:ext cx="3474720" cy="73152"/>
          </a:xfrm>
          <a:prstGeom prst="rect">
            <a:avLst/>
          </a:prstGeom>
          <a:solidFill>
            <a:srgbClr val="A78BFA"/>
          </a:solidFill>
          <a:ln w="12700">
            <a:solidFill>
              <a:srgbClr val="A78BFA"/>
            </a:solidFill>
            <a:prstDash val="solid"/>
          </a:ln>
        </p:spPr>
        <p:txBody>
          <a:bodyPr/>
          <a:lstStyle/>
          <a:p>
            <a:pPr defTabSz="1219170"/>
            <a:endParaRPr lang="en-US" sz="2400">
              <a:solidFill>
                <a:prstClr val="black"/>
              </a:solidFill>
              <a:latin typeface="Segoe UI (Body)"/>
            </a:endParaRPr>
          </a:p>
        </p:txBody>
      </p:sp>
      <p:sp>
        <p:nvSpPr>
          <p:cNvPr id="15" name="Text 10">
            <a:extLst>
              <a:ext uri="{FF2B5EF4-FFF2-40B4-BE49-F238E27FC236}">
                <a16:creationId xmlns:a16="http://schemas.microsoft.com/office/drawing/2014/main" id="{7F913DB8-0731-1958-E48A-7DA6A180E62D}"/>
              </a:ext>
            </a:extLst>
          </p:cNvPr>
          <p:cNvSpPr/>
          <p:nvPr/>
        </p:nvSpPr>
        <p:spPr>
          <a:xfrm>
            <a:off x="4632960" y="3829429"/>
            <a:ext cx="3048000" cy="609600"/>
          </a:xfrm>
          <a:prstGeom prst="rect">
            <a:avLst/>
          </a:prstGeom>
          <a:noFill/>
          <a:ln/>
        </p:spPr>
        <p:txBody>
          <a:bodyPr wrap="square" lIns="0" tIns="0" rIns="0" bIns="0" rtlCol="0" anchor="ctr"/>
          <a:lstStyle/>
          <a:p>
            <a:pPr defTabSz="1219170"/>
            <a:r>
              <a:rPr lang="en-US" sz="1867" b="1" dirty="0">
                <a:solidFill>
                  <a:srgbClr val="A78BFA"/>
                </a:solidFill>
                <a:latin typeface="Segoe UI (Body)"/>
                <a:ea typeface="Calibri" pitchFamily="34" charset="-122"/>
                <a:cs typeface="Calibri" pitchFamily="34" charset="-120"/>
              </a:rPr>
              <a:t>Seguro por diseño</a:t>
            </a:r>
            <a:endParaRPr lang="en-US" sz="1867" dirty="0">
              <a:solidFill>
                <a:prstClr val="black"/>
              </a:solidFill>
              <a:latin typeface="Segoe UI (Body)"/>
            </a:endParaRPr>
          </a:p>
        </p:txBody>
      </p:sp>
      <p:sp>
        <p:nvSpPr>
          <p:cNvPr id="16" name="Text 11">
            <a:extLst>
              <a:ext uri="{FF2B5EF4-FFF2-40B4-BE49-F238E27FC236}">
                <a16:creationId xmlns:a16="http://schemas.microsoft.com/office/drawing/2014/main" id="{3DDBFE4D-9054-06D5-1676-D8AE3B501947}"/>
              </a:ext>
            </a:extLst>
          </p:cNvPr>
          <p:cNvSpPr/>
          <p:nvPr/>
        </p:nvSpPr>
        <p:spPr>
          <a:xfrm>
            <a:off x="4632960" y="4390261"/>
            <a:ext cx="3048000" cy="1280160"/>
          </a:xfrm>
          <a:prstGeom prst="rect">
            <a:avLst/>
          </a:prstGeom>
          <a:noFill/>
          <a:ln/>
        </p:spPr>
        <p:txBody>
          <a:bodyPr wrap="square" rtlCol="0" anchor="ctr"/>
          <a:lstStyle/>
          <a:p>
            <a:pPr defTabSz="1219170"/>
            <a:r>
              <a:rPr lang="en-US" sz="1467" dirty="0">
                <a:solidFill>
                  <a:srgbClr val="E5E7EB"/>
                </a:solidFill>
                <a:latin typeface="Segoe UI (Body)"/>
                <a:ea typeface="Calibri" pitchFamily="34" charset="-122"/>
                <a:cs typeface="Calibri" pitchFamily="34" charset="-120"/>
              </a:rPr>
              <a:t>Permisos, sensitivity labels, DLP y EU Data Boundary respetados extremo a extremo.</a:t>
            </a:r>
            <a:endParaRPr lang="en-US" sz="1467" dirty="0">
              <a:solidFill>
                <a:prstClr val="black"/>
              </a:solidFill>
              <a:latin typeface="Segoe UI (Body)"/>
            </a:endParaRPr>
          </a:p>
        </p:txBody>
      </p:sp>
      <p:sp>
        <p:nvSpPr>
          <p:cNvPr id="17" name="Shape 12">
            <a:extLst>
              <a:ext uri="{FF2B5EF4-FFF2-40B4-BE49-F238E27FC236}">
                <a16:creationId xmlns:a16="http://schemas.microsoft.com/office/drawing/2014/main" id="{9A731081-F279-F766-6CD0-C8F92D17A869}"/>
              </a:ext>
            </a:extLst>
          </p:cNvPr>
          <p:cNvSpPr/>
          <p:nvPr/>
        </p:nvSpPr>
        <p:spPr>
          <a:xfrm>
            <a:off x="8046720" y="3683125"/>
            <a:ext cx="3474720" cy="2133600"/>
          </a:xfrm>
          <a:prstGeom prst="rect">
            <a:avLst/>
          </a:prstGeom>
          <a:solidFill>
            <a:srgbClr val="161B2E"/>
          </a:solidFill>
          <a:ln w="9525">
            <a:solidFill>
              <a:srgbClr val="F472B6"/>
            </a:solidFill>
            <a:prstDash val="solid"/>
          </a:ln>
        </p:spPr>
        <p:txBody>
          <a:bodyPr/>
          <a:lstStyle/>
          <a:p>
            <a:pPr defTabSz="1219170"/>
            <a:endParaRPr lang="en-US" sz="2400">
              <a:solidFill>
                <a:prstClr val="black"/>
              </a:solidFill>
              <a:latin typeface="Segoe UI (Body)"/>
            </a:endParaRPr>
          </a:p>
        </p:txBody>
      </p:sp>
      <p:sp>
        <p:nvSpPr>
          <p:cNvPr id="18" name="Shape 13">
            <a:extLst>
              <a:ext uri="{FF2B5EF4-FFF2-40B4-BE49-F238E27FC236}">
                <a16:creationId xmlns:a16="http://schemas.microsoft.com/office/drawing/2014/main" id="{579548CC-BD64-2DA6-BF19-EF08BE4F0C88}"/>
              </a:ext>
            </a:extLst>
          </p:cNvPr>
          <p:cNvSpPr/>
          <p:nvPr/>
        </p:nvSpPr>
        <p:spPr>
          <a:xfrm>
            <a:off x="8046720" y="3683125"/>
            <a:ext cx="3474720" cy="73152"/>
          </a:xfrm>
          <a:prstGeom prst="rect">
            <a:avLst/>
          </a:prstGeom>
          <a:solidFill>
            <a:srgbClr val="F472B6"/>
          </a:solidFill>
          <a:ln w="12700">
            <a:solidFill>
              <a:srgbClr val="F472B6"/>
            </a:solidFill>
            <a:prstDash val="solid"/>
          </a:ln>
        </p:spPr>
        <p:txBody>
          <a:bodyPr/>
          <a:lstStyle/>
          <a:p>
            <a:pPr defTabSz="1219170"/>
            <a:endParaRPr lang="en-US" sz="2400">
              <a:solidFill>
                <a:prstClr val="black"/>
              </a:solidFill>
              <a:latin typeface="Segoe UI (Body)"/>
            </a:endParaRPr>
          </a:p>
        </p:txBody>
      </p:sp>
      <p:sp>
        <p:nvSpPr>
          <p:cNvPr id="19" name="Text 14">
            <a:extLst>
              <a:ext uri="{FF2B5EF4-FFF2-40B4-BE49-F238E27FC236}">
                <a16:creationId xmlns:a16="http://schemas.microsoft.com/office/drawing/2014/main" id="{0FC22C0B-E337-F7CA-BD19-993F2669B95A}"/>
              </a:ext>
            </a:extLst>
          </p:cNvPr>
          <p:cNvSpPr/>
          <p:nvPr/>
        </p:nvSpPr>
        <p:spPr>
          <a:xfrm>
            <a:off x="8290560" y="3829429"/>
            <a:ext cx="3048000" cy="609600"/>
          </a:xfrm>
          <a:prstGeom prst="rect">
            <a:avLst/>
          </a:prstGeom>
          <a:noFill/>
          <a:ln/>
        </p:spPr>
        <p:txBody>
          <a:bodyPr wrap="square" lIns="0" tIns="0" rIns="0" bIns="0" rtlCol="0" anchor="ctr"/>
          <a:lstStyle/>
          <a:p>
            <a:pPr defTabSz="1219170"/>
            <a:r>
              <a:rPr lang="en-US" sz="1867" b="1" dirty="0">
                <a:solidFill>
                  <a:srgbClr val="F472B6"/>
                </a:solidFill>
                <a:latin typeface="Segoe UI (Body)"/>
                <a:ea typeface="Calibri" pitchFamily="34" charset="-122"/>
                <a:cs typeface="Calibri" pitchFamily="34" charset="-120"/>
              </a:rPr>
              <a:t>Extensible vía MCP</a:t>
            </a:r>
            <a:endParaRPr lang="en-US" sz="1867" dirty="0">
              <a:solidFill>
                <a:prstClr val="black"/>
              </a:solidFill>
              <a:latin typeface="Segoe UI (Body)"/>
            </a:endParaRPr>
          </a:p>
        </p:txBody>
      </p:sp>
      <p:sp>
        <p:nvSpPr>
          <p:cNvPr id="20" name="Text 15">
            <a:extLst>
              <a:ext uri="{FF2B5EF4-FFF2-40B4-BE49-F238E27FC236}">
                <a16:creationId xmlns:a16="http://schemas.microsoft.com/office/drawing/2014/main" id="{3D3C574D-945B-B9DA-201A-BD24A991208F}"/>
              </a:ext>
            </a:extLst>
          </p:cNvPr>
          <p:cNvSpPr/>
          <p:nvPr/>
        </p:nvSpPr>
        <p:spPr>
          <a:xfrm>
            <a:off x="8290560" y="4390261"/>
            <a:ext cx="3048000" cy="1280160"/>
          </a:xfrm>
          <a:prstGeom prst="rect">
            <a:avLst/>
          </a:prstGeom>
          <a:noFill/>
          <a:ln/>
        </p:spPr>
        <p:txBody>
          <a:bodyPr wrap="square" rtlCol="0" anchor="ctr"/>
          <a:lstStyle/>
          <a:p>
            <a:pPr defTabSz="1219170"/>
            <a:r>
              <a:rPr lang="en-US" sz="1467" dirty="0">
                <a:solidFill>
                  <a:srgbClr val="E5E7EB"/>
                </a:solidFill>
                <a:latin typeface="Segoe UI (Body)"/>
                <a:ea typeface="Calibri" pitchFamily="34" charset="-122"/>
                <a:cs typeface="Calibri" pitchFamily="34" charset="-120"/>
              </a:rPr>
              <a:t>Work IQ CLI y servidores MCP para construir agentes en Copilot Studio y Foundry.</a:t>
            </a:r>
            <a:endParaRPr lang="en-US" sz="1467" dirty="0">
              <a:solidFill>
                <a:prstClr val="black"/>
              </a:solidFill>
              <a:latin typeface="Segoe UI (Body)"/>
            </a:endParaRPr>
          </a:p>
        </p:txBody>
      </p:sp>
      <p:pic>
        <p:nvPicPr>
          <p:cNvPr id="3" name="Picture Placeholder 3" descr="A person smiling for a picture  AI-generated content may be incorrect.">
            <a:extLst>
              <a:ext uri="{FF2B5EF4-FFF2-40B4-BE49-F238E27FC236}">
                <a16:creationId xmlns:a16="http://schemas.microsoft.com/office/drawing/2014/main" id="{4A4ECCC5-5FDF-92A7-DDF2-75F7B8B21AE2}"/>
              </a:ext>
            </a:extLst>
          </p:cNvPr>
          <p:cNvPicPr>
            <a:picLocks noChangeAspect="1"/>
          </p:cNvPicPr>
          <p:nvPr/>
        </p:nvPicPr>
        <p:blipFill>
          <a:blip r:embed="rId2"/>
          <a:srcRect l="1123" r="1123"/>
          <a:stretch>
            <a:fillRect/>
          </a:stretch>
        </p:blipFill>
        <p:spPr>
          <a:xfrm>
            <a:off x="11370252" y="103914"/>
            <a:ext cx="640080" cy="636080"/>
          </a:xfrm>
          <a:prstGeom prst="ellipse">
            <a:avLst/>
          </a:prstGeom>
          <a:ln>
            <a:noFill/>
          </a:ln>
          <a:effectLst>
            <a:softEdge rad="112500"/>
          </a:effectLst>
        </p:spPr>
      </p:pic>
      <p:pic>
        <p:nvPicPr>
          <p:cNvPr id="5" name="Picture Placeholder 3">
            <a:extLst>
              <a:ext uri="{FF2B5EF4-FFF2-40B4-BE49-F238E27FC236}">
                <a16:creationId xmlns:a16="http://schemas.microsoft.com/office/drawing/2014/main" id="{ADD9DBB8-929F-2667-5010-CDED72E7D42A}"/>
              </a:ext>
            </a:extLst>
          </p:cNvPr>
          <p:cNvPicPr>
            <a:picLocks noChangeAspect="1"/>
          </p:cNvPicPr>
          <p:nvPr/>
        </p:nvPicPr>
        <p:blipFill>
          <a:blip r:embed="rId3"/>
          <a:srcRect t="312" b="312"/>
          <a:stretch/>
        </p:blipFill>
        <p:spPr>
          <a:xfrm>
            <a:off x="10709031" y="103914"/>
            <a:ext cx="644108" cy="640080"/>
          </a:xfrm>
          <a:prstGeom prst="ellipse">
            <a:avLst/>
          </a:prstGeom>
          <a:ln>
            <a:noFill/>
          </a:ln>
          <a:effectLst>
            <a:softEdge rad="112500"/>
          </a:effectLst>
        </p:spPr>
      </p:pic>
    </p:spTree>
    <p:extLst>
      <p:ext uri="{BB962C8B-B14F-4D97-AF65-F5344CB8AC3E}">
        <p14:creationId xmlns:p14="http://schemas.microsoft.com/office/powerpoint/2010/main" val="3150544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E151A-0E06-5AA9-71D9-40C9D186C5E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FE57897-8AA1-CAF3-C2A0-1297479F356C}"/>
              </a:ext>
            </a:extLst>
          </p:cNvPr>
          <p:cNvSpPr>
            <a:spLocks noGrp="1"/>
          </p:cNvSpPr>
          <p:nvPr>
            <p:ph type="body" sz="quarter" idx="10"/>
          </p:nvPr>
        </p:nvSpPr>
        <p:spPr/>
        <p:txBody>
          <a:bodyPr/>
          <a:lstStyle/>
          <a:p>
            <a:pPr marL="457200" indent="-457200">
              <a:buFont typeface="Arial" panose="020B0604020202020204" pitchFamily="34" charset="0"/>
              <a:buChar char="•"/>
            </a:pPr>
            <a:r>
              <a:rPr lang="en-US" sz="2400" dirty="0">
                <a:hlinkClick r:id="rId2"/>
              </a:rPr>
              <a:t>Work IQ overview | Microsoft Learn</a:t>
            </a:r>
            <a:endParaRPr lang="en-US" sz="2400" dirty="0"/>
          </a:p>
          <a:p>
            <a:pPr marL="457200" indent="-457200">
              <a:buFont typeface="Arial" panose="020B0604020202020204" pitchFamily="34" charset="0"/>
              <a:buChar char="•"/>
            </a:pPr>
            <a:r>
              <a:rPr lang="en-US" sz="2400" dirty="0">
                <a:hlinkClick r:id="rId3"/>
              </a:rPr>
              <a:t>A closer look at Work IQ | Microsoft Community Hub</a:t>
            </a:r>
            <a:endParaRPr lang="en-US" sz="2400" dirty="0">
              <a:hlinkClick r:id="rId4"/>
            </a:endParaRPr>
          </a:p>
          <a:p>
            <a:pPr marL="457200" indent="-457200">
              <a:buFont typeface="Arial" panose="020B0604020202020204" pitchFamily="34" charset="0"/>
              <a:buChar char="•"/>
            </a:pPr>
            <a:r>
              <a:rPr lang="en-US" sz="2400" dirty="0">
                <a:hlinkClick r:id="rId4"/>
              </a:rPr>
              <a:t>Work IQ | Data, Context, Skills &amp; Tools for Copilot and Your Agents | Microsoft Community Hub</a:t>
            </a:r>
            <a:endParaRPr lang="en-US" sz="2400" dirty="0"/>
          </a:p>
          <a:p>
            <a:pPr marL="457200" indent="-457200">
              <a:buFont typeface="Arial" panose="020B0604020202020204" pitchFamily="34" charset="0"/>
              <a:buChar char="•"/>
            </a:pPr>
            <a:r>
              <a:rPr lang="en-US" sz="2400" dirty="0">
                <a:hlinkClick r:id="rId5"/>
              </a:rPr>
              <a:t>Work IQ MCP overview (preview) - Microsoft Copilot Studio | Microsoft Learn</a:t>
            </a:r>
            <a:endParaRPr lang="en-US" sz="2400" dirty="0"/>
          </a:p>
          <a:p>
            <a:pPr marL="457200" indent="-457200">
              <a:buFont typeface="Arial" panose="020B0604020202020204" pitchFamily="34" charset="0"/>
              <a:buChar char="•"/>
            </a:pPr>
            <a:endParaRPr lang="en-US" sz="2400" dirty="0"/>
          </a:p>
        </p:txBody>
      </p:sp>
      <p:sp>
        <p:nvSpPr>
          <p:cNvPr id="6" name="Title 5">
            <a:extLst>
              <a:ext uri="{FF2B5EF4-FFF2-40B4-BE49-F238E27FC236}">
                <a16:creationId xmlns:a16="http://schemas.microsoft.com/office/drawing/2014/main" id="{229BF616-3C52-83D4-690A-86B8F666FE99}"/>
              </a:ext>
            </a:extLst>
          </p:cNvPr>
          <p:cNvSpPr>
            <a:spLocks noGrp="1"/>
          </p:cNvSpPr>
          <p:nvPr>
            <p:ph type="title"/>
          </p:nvPr>
        </p:nvSpPr>
        <p:spPr/>
        <p:txBody>
          <a:bodyPr/>
          <a:lstStyle/>
          <a:p>
            <a:r>
              <a:rPr lang="es-ES" dirty="0"/>
              <a:t>Referencias</a:t>
            </a:r>
            <a:endParaRPr lang="en-US" dirty="0"/>
          </a:p>
        </p:txBody>
      </p:sp>
    </p:spTree>
    <p:extLst>
      <p:ext uri="{BB962C8B-B14F-4D97-AF65-F5344CB8AC3E}">
        <p14:creationId xmlns:p14="http://schemas.microsoft.com/office/powerpoint/2010/main" val="1088381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ED79-ABBB-92CB-EEDC-144E0F1A1C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252F5B-BBEE-FEAD-17D1-AD84BE9D4435}"/>
              </a:ext>
            </a:extLst>
          </p:cNvPr>
          <p:cNvSpPr>
            <a:spLocks noGrp="1"/>
          </p:cNvSpPr>
          <p:nvPr>
            <p:ph type="body" sz="quarter" idx="4294967295"/>
          </p:nvPr>
        </p:nvSpPr>
        <p:spPr>
          <a:xfrm>
            <a:off x="3827463" y="1389063"/>
            <a:ext cx="8364537" cy="4017962"/>
          </a:xfrm>
        </p:spPr>
        <p:txBody>
          <a:bodyPr/>
          <a:lstStyle/>
          <a:p>
            <a:endParaRPr lang="en-US" sz="1800"/>
          </a:p>
          <a:p>
            <a:endParaRPr lang="en-US" sz="1800"/>
          </a:p>
        </p:txBody>
      </p:sp>
      <p:sp>
        <p:nvSpPr>
          <p:cNvPr id="3" name="Marcador de texto 4">
            <a:extLst>
              <a:ext uri="{FF2B5EF4-FFF2-40B4-BE49-F238E27FC236}">
                <a16:creationId xmlns:a16="http://schemas.microsoft.com/office/drawing/2014/main" id="{6D48C0E5-020E-3CFE-66B9-19AF51EDEB44}"/>
              </a:ext>
            </a:extLst>
          </p:cNvPr>
          <p:cNvSpPr txBox="1">
            <a:spLocks/>
          </p:cNvSpPr>
          <p:nvPr/>
        </p:nvSpPr>
        <p:spPr>
          <a:xfrm>
            <a:off x="270700" y="2135310"/>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a:t>
            </a:r>
            <a:r>
              <a:rPr kumimoji="0" lang="en-US" sz="3600" b="1" i="0" u="none" strike="noStrike" kern="1200" cap="none" spc="0" normalizeH="0" baseline="0" noProof="0" dirty="0" err="1">
                <a:ln>
                  <a:noFill/>
                </a:ln>
                <a:solidFill>
                  <a:srgbClr val="FFFFFF"/>
                </a:solidFill>
                <a:effectLst/>
                <a:uLnTx/>
                <a:uFillTx/>
                <a:latin typeface="Segoe UI Light (Headings)y)"/>
                <a:ea typeface="+mn-ea"/>
                <a:cs typeface="Segoe UI Semibold" panose="020B0702040204020203" pitchFamily="34" charset="0"/>
              </a:rPr>
              <a:t>Preguntas</a:t>
            </a:r>
            <a:r>
              <a:rPr kumimoji="0" lang="en-US" sz="3600" b="1" i="0" u="none" strike="noStrike" kern="1200" cap="none" spc="0" normalizeH="0" baseline="0" noProof="0" dirty="0">
                <a:ln>
                  <a:noFill/>
                </a:ln>
                <a:solidFill>
                  <a:srgbClr val="FFFFFF"/>
                </a:solidFill>
                <a:effectLst/>
                <a:uLnTx/>
                <a:uFillTx/>
                <a:latin typeface="Segoe UI Light (Headings)y)"/>
                <a:ea typeface="+mn-ea"/>
                <a:cs typeface="Segoe UI Semibold" panose="020B0702040204020203" pitchFamily="34" charset="0"/>
              </a:rPr>
              <a: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solidFill>
                <a:srgbClr val="FFFFFF"/>
              </a:solidFill>
              <a:effectLst/>
              <a:uLnTx/>
              <a:uFillTx/>
              <a:latin typeface="Segoe UI Light (Headings)y)"/>
              <a:ea typeface="+mn-ea"/>
              <a:cs typeface="+mn-cs"/>
            </a:endParaRPr>
          </a:p>
        </p:txBody>
      </p:sp>
      <p:pic>
        <p:nvPicPr>
          <p:cNvPr id="4" name="Picture 3" descr="Minion Rush – FAQs">
            <a:extLst>
              <a:ext uri="{FF2B5EF4-FFF2-40B4-BE49-F238E27FC236}">
                <a16:creationId xmlns:a16="http://schemas.microsoft.com/office/drawing/2014/main" id="{D2AB4010-97F6-317F-8BFD-5F5FED0092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5175" y="189427"/>
            <a:ext cx="5076825" cy="56864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Placeholder 3" descr="A person smiling for a picture  AI-generated content may be incorrect.">
            <a:extLst>
              <a:ext uri="{FF2B5EF4-FFF2-40B4-BE49-F238E27FC236}">
                <a16:creationId xmlns:a16="http://schemas.microsoft.com/office/drawing/2014/main" id="{13ADC1BF-80B6-D02F-4C3E-8CDB265232D7}"/>
              </a:ext>
            </a:extLst>
          </p:cNvPr>
          <p:cNvPicPr>
            <a:picLocks noChangeAspect="1"/>
          </p:cNvPicPr>
          <p:nvPr/>
        </p:nvPicPr>
        <p:blipFill>
          <a:blip r:embed="rId3"/>
          <a:srcRect l="1123" r="1123"/>
          <a:stretch>
            <a:fillRect/>
          </a:stretch>
        </p:blipFill>
        <p:spPr>
          <a:xfrm>
            <a:off x="11370252" y="103914"/>
            <a:ext cx="640080" cy="636080"/>
          </a:xfrm>
          <a:prstGeom prst="ellipse">
            <a:avLst/>
          </a:prstGeom>
          <a:ln>
            <a:noFill/>
          </a:ln>
          <a:effectLst>
            <a:softEdge rad="112500"/>
          </a:effectLst>
        </p:spPr>
      </p:pic>
      <p:pic>
        <p:nvPicPr>
          <p:cNvPr id="6" name="Picture Placeholder 3">
            <a:extLst>
              <a:ext uri="{FF2B5EF4-FFF2-40B4-BE49-F238E27FC236}">
                <a16:creationId xmlns:a16="http://schemas.microsoft.com/office/drawing/2014/main" id="{5CE88199-5631-B840-C2BF-A77467D750C3}"/>
              </a:ext>
            </a:extLst>
          </p:cNvPr>
          <p:cNvPicPr>
            <a:picLocks noChangeAspect="1"/>
          </p:cNvPicPr>
          <p:nvPr/>
        </p:nvPicPr>
        <p:blipFill>
          <a:blip r:embed="rId4"/>
          <a:srcRect t="312" b="312"/>
          <a:stretch/>
        </p:blipFill>
        <p:spPr>
          <a:xfrm>
            <a:off x="10709031" y="103914"/>
            <a:ext cx="644108" cy="640080"/>
          </a:xfrm>
          <a:prstGeom prst="ellipse">
            <a:avLst/>
          </a:prstGeom>
          <a:ln>
            <a:noFill/>
          </a:ln>
          <a:effectLst>
            <a:softEdge rad="112500"/>
          </a:effectLst>
        </p:spPr>
      </p:pic>
    </p:spTree>
    <p:extLst>
      <p:ext uri="{BB962C8B-B14F-4D97-AF65-F5344CB8AC3E}">
        <p14:creationId xmlns:p14="http://schemas.microsoft.com/office/powerpoint/2010/main" val="3670185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4D367-3302-061C-C6C6-32F63B4AAB1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EB8F6EE-26A6-4D34-A5D7-BB0D494A1B36}"/>
              </a:ext>
            </a:extLst>
          </p:cNvPr>
          <p:cNvSpPr>
            <a:spLocks noGrp="1"/>
          </p:cNvSpPr>
          <p:nvPr>
            <p:ph type="body" sz="quarter" idx="10"/>
          </p:nvPr>
        </p:nvSpPr>
        <p:spPr>
          <a:xfrm>
            <a:off x="519249" y="1447799"/>
            <a:ext cx="5843132" cy="1975926"/>
          </a:xfrm>
        </p:spPr>
        <p:txBody>
          <a:bodyPr/>
          <a:lstStyle/>
          <a:p>
            <a:pPr marL="457200" indent="-457200">
              <a:buFont typeface="Arial" panose="020B0604020202020204" pitchFamily="34" charset="0"/>
              <a:buChar char="•"/>
              <a:defRPr/>
            </a:pPr>
            <a:r>
              <a:rPr lang="es-ES" sz="2800" dirty="0"/>
              <a:t>La mejor forma de estar al día con los cambios en Microsoft 365:</a:t>
            </a:r>
          </a:p>
          <a:p>
            <a:pPr marL="977642" lvl="4" indent="-457200">
              <a:buFont typeface="Wingdings" panose="05000000000000000000" pitchFamily="2" charset="2"/>
              <a:buChar char="§"/>
              <a:defRPr/>
            </a:pPr>
            <a:r>
              <a:rPr lang="en-US" sz="2400" dirty="0">
                <a:cs typeface="Segoe UI" panose="020B0502040204020203" pitchFamily="34" charset="0"/>
                <a:hlinkClick r:id="rId2">
                  <a:extLst>
                    <a:ext uri="{A12FA001-AC4F-418D-AE19-62706E023703}">
                      <ahyp:hlinkClr xmlns:ahyp="http://schemas.microsoft.com/office/drawing/2018/hyperlinkcolor" val="tx"/>
                    </a:ext>
                  </a:extLst>
                </a:hlinkClick>
              </a:rPr>
              <a:t>https://o365itpros.gumroad.com/l/O365IT</a:t>
            </a:r>
            <a:r>
              <a:rPr lang="en-US" sz="2400" dirty="0">
                <a:cs typeface="Segoe UI" panose="020B0502040204020203" pitchFamily="34" charset="0"/>
              </a:rPr>
              <a:t>  </a:t>
            </a:r>
          </a:p>
        </p:txBody>
      </p:sp>
      <p:sp>
        <p:nvSpPr>
          <p:cNvPr id="6" name="Title 5">
            <a:extLst>
              <a:ext uri="{FF2B5EF4-FFF2-40B4-BE49-F238E27FC236}">
                <a16:creationId xmlns:a16="http://schemas.microsoft.com/office/drawing/2014/main" id="{3424FB99-E0DB-FC90-606D-B9991F780CD0}"/>
              </a:ext>
            </a:extLst>
          </p:cNvPr>
          <p:cNvSpPr>
            <a:spLocks noGrp="1"/>
          </p:cNvSpPr>
          <p:nvPr>
            <p:ph type="title"/>
          </p:nvPr>
        </p:nvSpPr>
        <p:spPr/>
        <p:txBody>
          <a:bodyPr/>
          <a:lstStyle/>
          <a:p>
            <a:r>
              <a:rPr lang="es-ES" dirty="0"/>
              <a:t>Office 365 </a:t>
            </a:r>
            <a:r>
              <a:rPr lang="es-ES" dirty="0" err="1"/>
              <a:t>for</a:t>
            </a:r>
            <a:r>
              <a:rPr lang="es-ES" dirty="0"/>
              <a:t> IT Pros</a:t>
            </a:r>
            <a:endParaRPr lang="en-US" dirty="0"/>
          </a:p>
        </p:txBody>
      </p:sp>
      <p:pic>
        <p:nvPicPr>
          <p:cNvPr id="2" name="Picture 1" descr="The Ultimate Guide to Microsoft 365 Cloud Productivity  AI-generated content may be incorrect.">
            <a:extLst>
              <a:ext uri="{FF2B5EF4-FFF2-40B4-BE49-F238E27FC236}">
                <a16:creationId xmlns:a16="http://schemas.microsoft.com/office/drawing/2014/main" id="{54AF3286-DCF0-3075-91B7-81A65FB12E1A}"/>
              </a:ext>
            </a:extLst>
          </p:cNvPr>
          <p:cNvPicPr>
            <a:picLocks noChangeAspect="1"/>
          </p:cNvPicPr>
          <p:nvPr/>
        </p:nvPicPr>
        <p:blipFill>
          <a:blip r:embed="rId3"/>
          <a:stretch>
            <a:fillRect/>
          </a:stretch>
        </p:blipFill>
        <p:spPr>
          <a:xfrm>
            <a:off x="7905217" y="409174"/>
            <a:ext cx="3691642" cy="52213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44048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6">
            <a:extLst>
              <a:ext uri="{FF2B5EF4-FFF2-40B4-BE49-F238E27FC236}">
                <a16:creationId xmlns:a16="http://schemas.microsoft.com/office/drawing/2014/main" id="{F863FBBF-592E-D948-84BD-F4C54B7A3A3A}"/>
              </a:ext>
            </a:extLst>
          </p:cNvPr>
          <p:cNvSpPr txBox="1">
            <a:spLocks/>
          </p:cNvSpPr>
          <p:nvPr/>
        </p:nvSpPr>
        <p:spPr>
          <a:xfrm>
            <a:off x="0" y="3668549"/>
            <a:ext cx="12192000" cy="2622184"/>
          </a:xfrm>
          <a:prstGeom prst="rect">
            <a:avLst/>
          </a:prstGeom>
          <a:solidFill>
            <a:srgbClr val="F2F2F2">
              <a:alpha val="75000"/>
            </a:srgbClr>
          </a:solidFill>
          <a:ln>
            <a:noFill/>
          </a:ln>
        </p:spPr>
        <p:txBody>
          <a:bodyPr vert="horz" wrap="square" lIns="137196" tIns="102897" rIns="137736" bIns="34299" rtlCol="0" anchor="ctr" anchorCtr="0">
            <a:normAutofit/>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defTabSz="685983"/>
            <a:endParaRPr lang="es-ES" sz="2800" dirty="0">
              <a:solidFill>
                <a:srgbClr val="0DA2C2"/>
              </a:solidFill>
              <a:latin typeface="Segoe UI Semibold" panose="020B0702040204020203" pitchFamily="34" charset="0"/>
              <a:ea typeface="+mj-ea"/>
              <a:cs typeface="Segoe UI Semibold" panose="020B0702040204020203" pitchFamily="34" charset="0"/>
            </a:endParaRPr>
          </a:p>
        </p:txBody>
      </p:sp>
      <p:sp>
        <p:nvSpPr>
          <p:cNvPr id="4" name="Title 8">
            <a:extLst>
              <a:ext uri="{FF2B5EF4-FFF2-40B4-BE49-F238E27FC236}">
                <a16:creationId xmlns:a16="http://schemas.microsoft.com/office/drawing/2014/main" id="{BA7261DF-65BA-3847-2F3A-EAED82CDE4C5}"/>
              </a:ext>
            </a:extLst>
          </p:cNvPr>
          <p:cNvSpPr txBox="1">
            <a:spLocks/>
          </p:cNvSpPr>
          <p:nvPr/>
        </p:nvSpPr>
        <p:spPr>
          <a:xfrm>
            <a:off x="2224882" y="3911600"/>
            <a:ext cx="7742236" cy="997196"/>
          </a:xfrm>
          <a:prstGeom prst="rect">
            <a:avLst/>
          </a:prstGeom>
        </p:spPr>
        <p:txBody>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algn="ctr"/>
            <a:r>
              <a:rPr lang="ca-ES" sz="9600" dirty="0" err="1">
                <a:solidFill>
                  <a:srgbClr val="0DA2C2"/>
                </a:solidFill>
                <a:latin typeface="Segoe UI Semibold" panose="020B0702040204020203" pitchFamily="34" charset="0"/>
                <a:cs typeface="Segoe UI Semibold" panose="020B0702040204020203" pitchFamily="34" charset="0"/>
              </a:rPr>
              <a:t>Thank</a:t>
            </a:r>
            <a:r>
              <a:rPr lang="ca-ES" sz="9600" dirty="0">
                <a:solidFill>
                  <a:srgbClr val="0DA2C2"/>
                </a:solidFill>
                <a:latin typeface="Segoe UI Semibold" panose="020B0702040204020203" pitchFamily="34" charset="0"/>
                <a:cs typeface="Segoe UI Semibold" panose="020B0702040204020203" pitchFamily="34" charset="0"/>
              </a:rPr>
              <a:t> </a:t>
            </a:r>
            <a:r>
              <a:rPr lang="ca-ES" sz="9600" dirty="0" err="1">
                <a:solidFill>
                  <a:srgbClr val="0DA2C2"/>
                </a:solidFill>
                <a:latin typeface="Segoe UI Semibold" panose="020B0702040204020203" pitchFamily="34" charset="0"/>
                <a:cs typeface="Segoe UI Semibold" panose="020B0702040204020203" pitchFamily="34" charset="0"/>
              </a:rPr>
              <a:t>you</a:t>
            </a:r>
            <a:r>
              <a:rPr lang="ca-ES" sz="9600" dirty="0">
                <a:solidFill>
                  <a:srgbClr val="0DA2C2"/>
                </a:solidFill>
                <a:latin typeface="Segoe UI Semibold" panose="020B0702040204020203" pitchFamily="34" charset="0"/>
                <a:cs typeface="Segoe UI Semibold" panose="020B0702040204020203" pitchFamily="34" charset="0"/>
              </a:rPr>
              <a:t>!</a:t>
            </a:r>
            <a:endParaRPr lang="es-ES" sz="9600" dirty="0">
              <a:solidFill>
                <a:srgbClr val="0DA2C2"/>
              </a:solidFill>
              <a:latin typeface="Segoe UI Semibold" panose="020B0702040204020203" pitchFamily="34" charset="0"/>
              <a:cs typeface="Segoe UI Semibold" panose="020B0702040204020203" pitchFamily="34" charset="0"/>
            </a:endParaRPr>
          </a:p>
        </p:txBody>
      </p:sp>
      <p:sp>
        <p:nvSpPr>
          <p:cNvPr id="6" name="Title 8">
            <a:extLst>
              <a:ext uri="{FF2B5EF4-FFF2-40B4-BE49-F238E27FC236}">
                <a16:creationId xmlns:a16="http://schemas.microsoft.com/office/drawing/2014/main" id="{EAAE5CF7-F258-5C62-3352-EEFF5A3A880C}"/>
              </a:ext>
            </a:extLst>
          </p:cNvPr>
          <p:cNvSpPr txBox="1">
            <a:spLocks/>
          </p:cNvSpPr>
          <p:nvPr/>
        </p:nvSpPr>
        <p:spPr>
          <a:xfrm>
            <a:off x="2309548" y="5402974"/>
            <a:ext cx="7742236" cy="997196"/>
          </a:xfrm>
          <a:prstGeom prst="rect">
            <a:avLst/>
          </a:prstGeom>
        </p:spPr>
        <p:txBody>
          <a:bodyPr/>
          <a:lstStyle>
            <a:lvl1pPr algn="l" defTabSz="685955" rtl="0" eaLnBrk="1" latinLnBrk="0" hangingPunct="1">
              <a:lnSpc>
                <a:spcPct val="90000"/>
              </a:lnSpc>
              <a:spcBef>
                <a:spcPct val="0"/>
              </a:spcBef>
              <a:buNone/>
              <a:defRPr lang="en-US" sz="4051" b="0" kern="1200" cap="none" spc="-75" baseline="0" dirty="0" smtClean="0">
                <a:ln w="3175">
                  <a:noFill/>
                </a:ln>
                <a:solidFill>
                  <a:srgbClr val="0071BC"/>
                </a:solidFill>
                <a:effectLst/>
                <a:latin typeface="+mj-lt"/>
                <a:ea typeface="+mn-ea"/>
                <a:cs typeface="Arial" charset="0"/>
              </a:defRPr>
            </a:lvl1pPr>
          </a:lstStyle>
          <a:p>
            <a:pPr algn="ctr"/>
            <a:r>
              <a:rPr lang="ca-ES" sz="4800" dirty="0" err="1">
                <a:solidFill>
                  <a:srgbClr val="0DA2C2"/>
                </a:solidFill>
                <a:latin typeface="Segoe UI Semibold" panose="020B0702040204020203" pitchFamily="34" charset="0"/>
                <a:cs typeface="Segoe UI Semibold" panose="020B0702040204020203" pitchFamily="34" charset="0"/>
              </a:rPr>
              <a:t>Questions</a:t>
            </a:r>
            <a:r>
              <a:rPr lang="ca-ES" sz="4800" dirty="0">
                <a:solidFill>
                  <a:srgbClr val="0DA2C2"/>
                </a:solidFill>
                <a:latin typeface="Segoe UI Semibold" panose="020B0702040204020203" pitchFamily="34" charset="0"/>
                <a:cs typeface="Segoe UI Semibold" panose="020B0702040204020203" pitchFamily="34" charset="0"/>
              </a:rPr>
              <a:t>?</a:t>
            </a:r>
            <a:endParaRPr lang="es-ES" sz="4800" dirty="0">
              <a:solidFill>
                <a:srgbClr val="0DA2C2"/>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322473099"/>
      </p:ext>
    </p:extLst>
  </p:cSld>
  <p:clrMapOvr>
    <a:masterClrMapping/>
  </p:clrMapOvr>
</p:sld>
</file>

<file path=ppt/theme/theme1.xml><?xml version="1.0" encoding="utf-8"?>
<a:theme xmlns:a="http://schemas.openxmlformats.org/drawingml/2006/main" name="5-30055_SharePoint Template 2012 - 16x9 - White Background">
  <a:themeElements>
    <a:clrScheme name="Custom 2">
      <a:dk1>
        <a:srgbClr val="333333"/>
      </a:dk1>
      <a:lt1>
        <a:srgbClr val="FFFFFF"/>
      </a:lt1>
      <a:dk2>
        <a:srgbClr val="91BCE3"/>
      </a:dk2>
      <a:lt2>
        <a:srgbClr val="393939"/>
      </a:lt2>
      <a:accent1>
        <a:srgbClr val="C8302D"/>
      </a:accent1>
      <a:accent2>
        <a:srgbClr val="FDCD15"/>
      </a:accent2>
      <a:accent3>
        <a:srgbClr val="1B61AE"/>
      </a:accent3>
      <a:accent4>
        <a:srgbClr val="548E37"/>
      </a:accent4>
      <a:accent5>
        <a:srgbClr val="E6E6E6"/>
      </a:accent5>
      <a:accent6>
        <a:srgbClr val="2E6CAF"/>
      </a:accent6>
      <a:hlink>
        <a:srgbClr val="2E6CAF"/>
      </a:hlink>
      <a:folHlink>
        <a:srgbClr val="2E6CA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SPSBCN18-Template.potx" id="{D93F9853-3490-490D-9401-9C48C227398D}" vid="{3A6E66D1-175B-4354-9CDC-FC044DA84F6D}"/>
    </a:ext>
  </a:extLst>
</a:theme>
</file>

<file path=ppt/theme/theme2.xml><?xml version="1.0" encoding="utf-8"?>
<a:theme xmlns:a="http://schemas.openxmlformats.org/drawingml/2006/main" name="1_5-30055_SharePoint Template 2012 - 16x9 - White Background">
  <a:themeElements>
    <a:clrScheme name="Custom 2">
      <a:dk1>
        <a:srgbClr val="333333"/>
      </a:dk1>
      <a:lt1>
        <a:srgbClr val="FFFFFF"/>
      </a:lt1>
      <a:dk2>
        <a:srgbClr val="91BCE3"/>
      </a:dk2>
      <a:lt2>
        <a:srgbClr val="393939"/>
      </a:lt2>
      <a:accent1>
        <a:srgbClr val="C8302D"/>
      </a:accent1>
      <a:accent2>
        <a:srgbClr val="FDCD15"/>
      </a:accent2>
      <a:accent3>
        <a:srgbClr val="1B61AE"/>
      </a:accent3>
      <a:accent4>
        <a:srgbClr val="548E37"/>
      </a:accent4>
      <a:accent5>
        <a:srgbClr val="E6E6E6"/>
      </a:accent5>
      <a:accent6>
        <a:srgbClr val="2E6CAF"/>
      </a:accent6>
      <a:hlink>
        <a:srgbClr val="2E6CAF"/>
      </a:hlink>
      <a:folHlink>
        <a:srgbClr val="2E6CA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SPSBCN18-Template.potx" id="{D93F9853-3490-490D-9401-9C48C227398D}" vid="{3A6E66D1-175B-4354-9CDC-FC044DA84F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520a496-9bbc-42e6-b563-20d57e63cd3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03CAA75118B1A74C870DDA809F025FF0" ma:contentTypeVersion="20" ma:contentTypeDescription="Crear nuevo documento." ma:contentTypeScope="" ma:versionID="ccaeb0385a0aa5f389b6f0dee89f3c67">
  <xsd:schema xmlns:xsd="http://www.w3.org/2001/XMLSchema" xmlns:xs="http://www.w3.org/2001/XMLSchema" xmlns:p="http://schemas.microsoft.com/office/2006/metadata/properties" xmlns:ns3="28107edc-7baf-48fc-b71e-89e13ddf6b0b" xmlns:ns4="9520a496-9bbc-42e6-b563-20d57e63cd32" targetNamespace="http://schemas.microsoft.com/office/2006/metadata/properties" ma:root="true" ma:fieldsID="7c0d3f1edc453d0213cafb7be9bb33b6" ns3:_="" ns4:_="">
    <xsd:import namespace="28107edc-7baf-48fc-b71e-89e13ddf6b0b"/>
    <xsd:import namespace="9520a496-9bbc-42e6-b563-20d57e63cd3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GenerationTime" minOccurs="0"/>
                <xsd:element ref="ns4:MediaServiceEventHashCode" minOccurs="0"/>
                <xsd:element ref="ns4:MediaServiceOCR"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element ref="ns4:TranslatedLang"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107edc-7baf-48fc-b71e-89e13ddf6b0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20a496-9bbc-42e6-b563-20d57e63cd3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TranslatedLang" ma:index="26" nillable="true" ma:displayName="Translated Language" ma:hidden="true" ma:internalName="TranslatedLang"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521726-F855-4E21-981C-7AED17A42AB4}">
  <ds:schemaRefs>
    <ds:schemaRef ds:uri="http://purl.org/dc/elements/1.1/"/>
    <ds:schemaRef ds:uri="http://schemas.openxmlformats.org/package/2006/metadata/core-properties"/>
    <ds:schemaRef ds:uri="http://schemas.microsoft.com/office/infopath/2007/PartnerControls"/>
    <ds:schemaRef ds:uri="http://schemas.microsoft.com/office/2006/metadata/properties"/>
    <ds:schemaRef ds:uri="28107edc-7baf-48fc-b71e-89e13ddf6b0b"/>
    <ds:schemaRef ds:uri="9520a496-9bbc-42e6-b563-20d57e63cd32"/>
    <ds:schemaRef ds:uri="http://www.w3.org/XML/1998/namespace"/>
    <ds:schemaRef ds:uri="http://schemas.microsoft.com/office/2006/documentManagement/types"/>
    <ds:schemaRef ds:uri="http://purl.org/dc/dcmitype/"/>
    <ds:schemaRef ds:uri="http://purl.org/dc/terms/"/>
  </ds:schemaRefs>
</ds:datastoreItem>
</file>

<file path=customXml/itemProps2.xml><?xml version="1.0" encoding="utf-8"?>
<ds:datastoreItem xmlns:ds="http://schemas.openxmlformats.org/officeDocument/2006/customXml" ds:itemID="{511B7A3C-C0D4-4597-8E5A-7342A0BBF280}">
  <ds:schemaRefs>
    <ds:schemaRef ds:uri="http://schemas.microsoft.com/sharepoint/v3/contenttype/forms"/>
  </ds:schemaRefs>
</ds:datastoreItem>
</file>

<file path=customXml/itemProps3.xml><?xml version="1.0" encoding="utf-8"?>
<ds:datastoreItem xmlns:ds="http://schemas.openxmlformats.org/officeDocument/2006/customXml" ds:itemID="{66091BC6-93AD-4504-8B30-3DA6862711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107edc-7baf-48fc-b71e-89e13ddf6b0b"/>
    <ds:schemaRef ds:uri="9520a496-9bbc-42e6-b563-20d57e63c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SPSBCN18-Template</Template>
  <TotalTime>647</TotalTime>
  <Words>4658</Words>
  <Application>Microsoft Office PowerPoint</Application>
  <PresentationFormat>Widescreen</PresentationFormat>
  <Paragraphs>357</Paragraphs>
  <Slides>29</Slides>
  <Notes>14</Notes>
  <HiddenSlides>4</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29</vt:i4>
      </vt:variant>
    </vt:vector>
  </HeadingPairs>
  <TitlesOfParts>
    <vt:vector size="44" baseType="lpstr">
      <vt:lpstr>Arial</vt:lpstr>
      <vt:lpstr>Calibri</vt:lpstr>
      <vt:lpstr>Roboto</vt:lpstr>
      <vt:lpstr>Segoe Sans Display Semibold</vt:lpstr>
      <vt:lpstr>Segoe UI</vt:lpstr>
      <vt:lpstr>Segoe UI (Body)</vt:lpstr>
      <vt:lpstr>Segoe UI Light</vt:lpstr>
      <vt:lpstr>Segoe UI Light (Headings)y)</vt:lpstr>
      <vt:lpstr>Segoe UI Semibold</vt:lpstr>
      <vt:lpstr>Segoe UI Semilight</vt:lpstr>
      <vt:lpstr>Segoe UI Variable Display</vt:lpstr>
      <vt:lpstr>TwitterChirp</vt:lpstr>
      <vt:lpstr>Wingdings</vt:lpstr>
      <vt:lpstr>5-30055_SharePoint Template 2012 - 16x9 - White Background</vt:lpstr>
      <vt:lpstr>1_5-30055_SharePoint Template 2012 - 16x9 - White Background</vt:lpstr>
      <vt:lpstr>PowerPoint Presentation</vt:lpstr>
      <vt:lpstr>PowerPoint Presentation</vt:lpstr>
      <vt:lpstr>PowerPoint Presentation</vt:lpstr>
      <vt:lpstr>PowerPoint Presentation</vt:lpstr>
      <vt:lpstr>Agenda</vt:lpstr>
      <vt:lpstr>¿Qué es Work IQ?</vt:lpstr>
      <vt:lpstr>PowerPoint Presentation</vt:lpstr>
      <vt:lpstr>Que es Work IQ</vt:lpstr>
      <vt:lpstr>¿Qué es Work IQ?</vt:lpstr>
      <vt:lpstr>¿Qué es Work IQ?</vt:lpstr>
      <vt:lpstr>¿Qué es Work IQ?</vt:lpstr>
      <vt:lpstr>Work IQ en Microsoft 365 Copilot</vt:lpstr>
      <vt:lpstr>Work IQ en la práctica: Escenarios y Casos de Uso</vt:lpstr>
      <vt:lpstr>Work IQ en la práctica: Word, Excel y Teams</vt:lpstr>
      <vt:lpstr>Work IQ en la práctica: Escenario de Demo (Outage en Contoso)</vt:lpstr>
      <vt:lpstr>PowerPoint Presentation</vt:lpstr>
      <vt:lpstr>Work IQ en Agentes de Copilot Studio</vt:lpstr>
      <vt:lpstr>Work IQ + Copilot Studio</vt:lpstr>
      <vt:lpstr>Work IQ + Copilot Studio: Work IQ Tools</vt:lpstr>
      <vt:lpstr>Work IQ en la práctica: Escenario de Demo (Outage en Contoso)</vt:lpstr>
      <vt:lpstr>Work IQ en la práctica: Escenario de Demo</vt:lpstr>
      <vt:lpstr>PowerPoint Presentation</vt:lpstr>
      <vt:lpstr>Work IQ en la práctica: Servidores MCP usados en el Agente Personalizado</vt:lpstr>
      <vt:lpstr>Conclusiones y Referencias</vt:lpstr>
      <vt:lpstr>Conclusiones</vt:lpstr>
      <vt:lpstr>Referencias</vt:lpstr>
      <vt:lpstr>PowerPoint Presentation</vt:lpstr>
      <vt:lpstr>Office 365 for IT Pros</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IQ - Llevando la inteligencia de Microsoft 365 Copilot a tus agentes personalizados - FChopoy JcGonzalez</dc:title>
  <dc:subject/>
  <dc:creator>Juan Carlos González Martín</dc:creator>
  <cp:keywords/>
  <dc:description/>
  <cp:lastModifiedBy>Juan Carlos González</cp:lastModifiedBy>
  <cp:revision>75</cp:revision>
  <dcterms:created xsi:type="dcterms:W3CDTF">2018-10-20T09:14:34Z</dcterms:created>
  <dcterms:modified xsi:type="dcterms:W3CDTF">2026-06-03T12:44:56Z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0x01010003CAA75118B1A74C870DDA809F025FF0</vt:lpwstr>
  </property>
  <property fmtid="{D5CDD505-2E9C-101B-9397-08002B2CF9AE}" pid="3" name="MSIP_Label_02b85b05-d019-4a7e-ae7d-804783b7a8f4_Enabled">
    <vt:lpwstr>true</vt:lpwstr>
  </property>
  <property fmtid="{D5CDD505-2E9C-101B-9397-08002B2CF9AE}" pid="4" name="MSIP_Label_02b85b05-d019-4a7e-ae7d-804783b7a8f4_SetDate">
    <vt:lpwstr>2021-10-28T20:17:14Z</vt:lpwstr>
  </property>
  <property fmtid="{D5CDD505-2E9C-101B-9397-08002B2CF9AE}" pid="5" name="MSIP_Label_02b85b05-d019-4a7e-ae7d-804783b7a8f4_Method">
    <vt:lpwstr>Standard</vt:lpwstr>
  </property>
  <property fmtid="{D5CDD505-2E9C-101B-9397-08002B2CF9AE}" pid="6" name="MSIP_Label_02b85b05-d019-4a7e-ae7d-804783b7a8f4_Name">
    <vt:lpwstr>Internal</vt:lpwstr>
  </property>
  <property fmtid="{D5CDD505-2E9C-101B-9397-08002B2CF9AE}" pid="7" name="MSIP_Label_02b85b05-d019-4a7e-ae7d-804783b7a8f4_SiteId">
    <vt:lpwstr>a6bbab92-053e-490b-bd7e-5cd03763b746</vt:lpwstr>
  </property>
  <property fmtid="{D5CDD505-2E9C-101B-9397-08002B2CF9AE}" pid="8" name="MSIP_Label_02b85b05-d019-4a7e-ae7d-804783b7a8f4_ActionId">
    <vt:lpwstr>b3c5a867-090b-4d8c-9369-bd12862d4c08</vt:lpwstr>
  </property>
  <property fmtid="{D5CDD505-2E9C-101B-9397-08002B2CF9AE}" pid="9" name="MSIP_Label_02b85b05-d019-4a7e-ae7d-804783b7a8f4_ContentBits">
    <vt:lpwstr>0</vt:lpwstr>
  </property>
  <property fmtid="{D5CDD505-2E9C-101B-9397-08002B2CF9AE}" pid="10" name="MediaServiceImageTags">
    <vt:lpwstr/>
  </property>
</Properties>
</file>